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handoutMasterIdLst>
    <p:handoutMasterId r:id="rId28"/>
  </p:handoutMasterIdLst>
  <p:sldIdLst>
    <p:sldId id="256" r:id="rId2"/>
    <p:sldId id="298" r:id="rId3"/>
    <p:sldId id="299" r:id="rId4"/>
    <p:sldId id="300" r:id="rId5"/>
    <p:sldId id="301" r:id="rId6"/>
    <p:sldId id="302" r:id="rId7"/>
    <p:sldId id="303" r:id="rId8"/>
    <p:sldId id="304" r:id="rId9"/>
    <p:sldId id="306" r:id="rId10"/>
    <p:sldId id="307" r:id="rId11"/>
    <p:sldId id="328" r:id="rId12"/>
    <p:sldId id="308" r:id="rId13"/>
    <p:sldId id="309" r:id="rId14"/>
    <p:sldId id="310" r:id="rId15"/>
    <p:sldId id="311" r:id="rId16"/>
    <p:sldId id="312" r:id="rId17"/>
    <p:sldId id="313" r:id="rId18"/>
    <p:sldId id="330" r:id="rId19"/>
    <p:sldId id="316" r:id="rId20"/>
    <p:sldId id="317" r:id="rId21"/>
    <p:sldId id="329" r:id="rId22"/>
    <p:sldId id="331" r:id="rId23"/>
    <p:sldId id="332" r:id="rId24"/>
    <p:sldId id="333" r:id="rId25"/>
    <p:sldId id="334" r:id="rId26"/>
  </p:sldIdLst>
  <p:sldSz cx="9144000" cy="6858000" type="screen4x3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146" autoAdjust="0"/>
    <p:restoredTop sz="94495" autoAdjust="0"/>
  </p:normalViewPr>
  <p:slideViewPr>
    <p:cSldViewPr>
      <p:cViewPr varScale="1">
        <p:scale>
          <a:sx n="84" d="100"/>
          <a:sy n="84" d="100"/>
        </p:scale>
        <p:origin x="184" y="6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4" d="100"/>
          <a:sy n="54" d="100"/>
        </p:scale>
        <p:origin x="-1812" y="-84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>
            <a:extLst>
              <a:ext uri="{FF2B5EF4-FFF2-40B4-BE49-F238E27FC236}">
                <a16:creationId xmlns:a16="http://schemas.microsoft.com/office/drawing/2014/main" id="{9D424B55-FDD6-B320-A2D0-C7DBE9EDD1F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3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8787" name="Rectangle 3">
            <a:extLst>
              <a:ext uri="{FF2B5EF4-FFF2-40B4-BE49-F238E27FC236}">
                <a16:creationId xmlns:a16="http://schemas.microsoft.com/office/drawing/2014/main" id="{7566F02F-FF0A-1010-8EC8-9203CC89A2B9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3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8788" name="Rectangle 4">
            <a:extLst>
              <a:ext uri="{FF2B5EF4-FFF2-40B4-BE49-F238E27FC236}">
                <a16:creationId xmlns:a16="http://schemas.microsoft.com/office/drawing/2014/main" id="{9730BD08-B322-5467-499F-8C0DDE3DC05B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3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8789" name="Rectangle 5">
            <a:extLst>
              <a:ext uri="{FF2B5EF4-FFF2-40B4-BE49-F238E27FC236}">
                <a16:creationId xmlns:a16="http://schemas.microsoft.com/office/drawing/2014/main" id="{E1FFB1D8-C5B2-8C63-5199-E8C8A690D7DD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/>
            </a:lvl1pPr>
          </a:lstStyle>
          <a:p>
            <a:pPr>
              <a:defRPr/>
            </a:pPr>
            <a:fld id="{F41C9400-9E79-8845-A23F-870A6FF3084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D4C34CCF-6C3E-27A1-D36D-5CF4CF92CC2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3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A8BCD4EC-C08A-3587-3BBE-29866DB160F3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3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12BC7416-EC01-149B-F648-EA379F53CE5F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41" name="Rectangle 5">
            <a:extLst>
              <a:ext uri="{FF2B5EF4-FFF2-40B4-BE49-F238E27FC236}">
                <a16:creationId xmlns:a16="http://schemas.microsoft.com/office/drawing/2014/main" id="{ADD5FBD8-E8D2-6956-0065-CC17428E83A7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1838" y="4560888"/>
            <a:ext cx="5851525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9942" name="Rectangle 6">
            <a:extLst>
              <a:ext uri="{FF2B5EF4-FFF2-40B4-BE49-F238E27FC236}">
                <a16:creationId xmlns:a16="http://schemas.microsoft.com/office/drawing/2014/main" id="{4DD621A3-30FF-284F-7FDF-27D87C24ECA5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3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9943" name="Rectangle 7">
            <a:extLst>
              <a:ext uri="{FF2B5EF4-FFF2-40B4-BE49-F238E27FC236}">
                <a16:creationId xmlns:a16="http://schemas.microsoft.com/office/drawing/2014/main" id="{DA85BC46-CF83-D009-8D69-19091EC470C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/>
            </a:lvl1pPr>
          </a:lstStyle>
          <a:p>
            <a:pPr>
              <a:defRPr/>
            </a:pPr>
            <a:fld id="{34EA74C6-78F0-834B-8596-0E26E049C5D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Image Placeholder 1">
            <a:extLst>
              <a:ext uri="{FF2B5EF4-FFF2-40B4-BE49-F238E27FC236}">
                <a16:creationId xmlns:a16="http://schemas.microsoft.com/office/drawing/2014/main" id="{EB392C35-B7AE-DE01-F436-D2237A643CF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6867" name="Notes Placeholder 2">
            <a:extLst>
              <a:ext uri="{FF2B5EF4-FFF2-40B4-BE49-F238E27FC236}">
                <a16:creationId xmlns:a16="http://schemas.microsoft.com/office/drawing/2014/main" id="{A43270A0-0B66-3FBF-FC24-EA5414C4D4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Example: calculate the maximum of a sequence.</a:t>
            </a:r>
          </a:p>
        </p:txBody>
      </p:sp>
      <p:sp>
        <p:nvSpPr>
          <p:cNvPr id="36868" name="Slide Number Placeholder 3">
            <a:extLst>
              <a:ext uri="{FF2B5EF4-FFF2-40B4-BE49-F238E27FC236}">
                <a16:creationId xmlns:a16="http://schemas.microsoft.com/office/drawing/2014/main" id="{088725E5-68E8-0A10-86D4-A5121BAC25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2FB97DB6-493F-C347-8CD5-64FED9304609}" type="slidenum">
              <a:rPr lang="en-US" altLang="en-US"/>
              <a:pPr eaLnBrk="1" hangingPunct="1"/>
              <a:t>3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Image Placeholder 1">
            <a:extLst>
              <a:ext uri="{FF2B5EF4-FFF2-40B4-BE49-F238E27FC236}">
                <a16:creationId xmlns:a16="http://schemas.microsoft.com/office/drawing/2014/main" id="{7A2812C0-BD7E-4FA8-E039-C5D6319F60D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7891" name="Notes Placeholder 2">
            <a:extLst>
              <a:ext uri="{FF2B5EF4-FFF2-40B4-BE49-F238E27FC236}">
                <a16:creationId xmlns:a16="http://schemas.microsoft.com/office/drawing/2014/main" id="{62EFC828-7576-62F1-B564-92EE4191CA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What if person A implements algorithm A and person B implements algorithm B for the same problem?</a:t>
            </a:r>
          </a:p>
        </p:txBody>
      </p:sp>
      <p:sp>
        <p:nvSpPr>
          <p:cNvPr id="37892" name="Slide Number Placeholder 3">
            <a:extLst>
              <a:ext uri="{FF2B5EF4-FFF2-40B4-BE49-F238E27FC236}">
                <a16:creationId xmlns:a16="http://schemas.microsoft.com/office/drawing/2014/main" id="{5E26E181-BF0B-EAFC-BDBA-245AF8B062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29D80489-011D-5B40-8621-76830928110D}" type="slidenum">
              <a:rPr lang="en-US" altLang="en-US"/>
              <a:pPr eaLnBrk="1" hangingPunct="1"/>
              <a:t>5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5910474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965944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950514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676400"/>
            <a:ext cx="38100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6400"/>
            <a:ext cx="38100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94074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161544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843069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7046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15851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88102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391195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52400"/>
            <a:ext cx="2057400" cy="5943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52400"/>
            <a:ext cx="6019800" cy="5943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061176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676400"/>
            <a:ext cx="3810000" cy="4419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6400"/>
            <a:ext cx="3810000" cy="4419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086780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7">
            <a:extLst>
              <a:ext uri="{FF2B5EF4-FFF2-40B4-BE49-F238E27FC236}">
                <a16:creationId xmlns:a16="http://schemas.microsoft.com/office/drawing/2014/main" id="{8F5C80C1-A0D8-5FAA-B12C-4F9538066A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52400"/>
            <a:ext cx="82296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8">
            <a:extLst>
              <a:ext uri="{FF2B5EF4-FFF2-40B4-BE49-F238E27FC236}">
                <a16:creationId xmlns:a16="http://schemas.microsoft.com/office/drawing/2014/main" id="{B53F8D2B-6C57-6F5D-5185-AB0721CCED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676400"/>
            <a:ext cx="7772400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9">
            <a:extLst>
              <a:ext uri="{FF2B5EF4-FFF2-40B4-BE49-F238E27FC236}">
                <a16:creationId xmlns:a16="http://schemas.microsoft.com/office/drawing/2014/main" id="{C9E72A30-FFE2-B994-15A8-33D556BC9B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6591300"/>
          </a:xfrm>
          <a:prstGeom prst="rect">
            <a:avLst/>
          </a:prstGeom>
          <a:noFill/>
          <a:ln w="38100" cmpd="dbl" algn="ctr">
            <a:solidFill>
              <a:srgbClr val="0000FF"/>
            </a:solidFill>
            <a:miter lim="800000"/>
            <a:headEnd/>
            <a:tailEnd/>
          </a:ln>
        </p:spPr>
        <p:txBody>
          <a:bodyPr wrap="none" anchor="ctr"/>
          <a:lstStyle>
            <a:lvl1pPr algn="ctr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ctr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ctr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ctr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ctr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/>
          </a:p>
        </p:txBody>
      </p:sp>
      <p:pic>
        <p:nvPicPr>
          <p:cNvPr id="1029" name="Picture 14" descr="logo-1">
            <a:extLst>
              <a:ext uri="{FF2B5EF4-FFF2-40B4-BE49-F238E27FC236}">
                <a16:creationId xmlns:a16="http://schemas.microsoft.com/office/drawing/2014/main" id="{5818D813-6BFE-4575-8BAE-7D99A20D2F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6619875"/>
            <a:ext cx="914400" cy="23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17946B1D-E213-37AA-490E-00E5D68212F8}"/>
              </a:ext>
            </a:extLst>
          </p:cNvPr>
          <p:cNvSpPr>
            <a:spLocks noGrp="1"/>
          </p:cNvSpPr>
          <p:nvPr userDrawn="1"/>
        </p:nvSpPr>
        <p:spPr bwMode="auto">
          <a:xfrm>
            <a:off x="1219200" y="6583363"/>
            <a:ext cx="7924800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en-US" sz="1100" dirty="0">
                <a:solidFill>
                  <a:schemeClr val="accent2"/>
                </a:solidFill>
              </a:rPr>
              <a:t>   Algorithm Design and Analysis (Spring 2024)                                       Lecture 0</a:t>
            </a:r>
            <a:r>
              <a:rPr lang="en-US" altLang="zh-CN" sz="1100" dirty="0">
                <a:solidFill>
                  <a:schemeClr val="accent2"/>
                </a:solidFill>
              </a:rPr>
              <a:t>2</a:t>
            </a:r>
            <a:r>
              <a:rPr lang="en-US" altLang="en-US" sz="1100" dirty="0">
                <a:solidFill>
                  <a:schemeClr val="accent2"/>
                </a:solidFill>
              </a:rPr>
              <a:t>                                     Slides </a:t>
            </a:r>
            <a:fld id="{A01062E9-AFFD-0847-B6F2-9211D799E93E}" type="slidenum">
              <a:rPr lang="en-US" altLang="en-US" sz="1100" smtClean="0">
                <a:solidFill>
                  <a:schemeClr val="accent2"/>
                </a:solidFill>
              </a:rPr>
              <a:pPr>
                <a:defRPr/>
              </a:pPr>
              <a:t>‹#›</a:t>
            </a:fld>
            <a:r>
              <a:rPr lang="en-US" altLang="en-US" sz="1100" dirty="0">
                <a:solidFill>
                  <a:schemeClr val="accent2"/>
                </a:solidFill>
              </a:rPr>
              <a:t>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00FF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00FF"/>
          </a:solidFill>
          <a:latin typeface="Comic Sans MS" pitchFamily="66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00FF"/>
          </a:solidFill>
          <a:latin typeface="Comic Sans MS" pitchFamily="66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00FF"/>
          </a:solidFill>
          <a:latin typeface="Comic Sans MS" pitchFamily="66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00FF"/>
          </a:solidFill>
          <a:latin typeface="Comic Sans MS" pitchFamily="66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2800" b="1">
          <a:solidFill>
            <a:srgbClr val="0000FF"/>
          </a:solidFill>
          <a:latin typeface="Comic Sans MS" pitchFamily="66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2800" b="1">
          <a:solidFill>
            <a:srgbClr val="0000FF"/>
          </a:solidFill>
          <a:latin typeface="Comic Sans MS" pitchFamily="66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2800" b="1">
          <a:solidFill>
            <a:srgbClr val="0000FF"/>
          </a:solidFill>
          <a:latin typeface="Comic Sans MS" pitchFamily="66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2800" b="1">
          <a:solidFill>
            <a:srgbClr val="0000FF"/>
          </a:solidFill>
          <a:latin typeface="Comic Sans MS" pitchFamily="66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Rectangle 2">
            <a:extLst>
              <a:ext uri="{FF2B5EF4-FFF2-40B4-BE49-F238E27FC236}">
                <a16:creationId xmlns:a16="http://schemas.microsoft.com/office/drawing/2014/main" id="{9D4A8C6A-2256-939F-C1B2-D030EC80192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304800" y="1066800"/>
            <a:ext cx="8534400" cy="1698625"/>
          </a:xfrm>
        </p:spPr>
        <p:txBody>
          <a:bodyPr/>
          <a:lstStyle/>
          <a:p>
            <a:pPr eaLnBrk="1" hangingPunct="1"/>
            <a:r>
              <a:rPr lang="en-US" altLang="en-US" sz="2000" dirty="0">
                <a:solidFill>
                  <a:srgbClr val="FF9900"/>
                </a:solidFill>
              </a:rPr>
              <a:t>CS-535: Algorithm Design and Analysis</a:t>
            </a: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r>
              <a:rPr lang="en-US" altLang="en-US" dirty="0"/>
              <a:t>Analysis of Algorithms: Methodologies</a:t>
            </a:r>
          </a:p>
        </p:txBody>
      </p:sp>
      <p:sp>
        <p:nvSpPr>
          <p:cNvPr id="4098" name="Rectangle 3">
            <a:extLst>
              <a:ext uri="{FF2B5EF4-FFF2-40B4-BE49-F238E27FC236}">
                <a16:creationId xmlns:a16="http://schemas.microsoft.com/office/drawing/2014/main" id="{D72AEFCD-B2A9-2767-7DDF-F2589DBB017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352800"/>
            <a:ext cx="6400800" cy="1981200"/>
          </a:xfrm>
        </p:spPr>
        <p:txBody>
          <a:bodyPr/>
          <a:lstStyle/>
          <a:p>
            <a:pPr eaLnBrk="1" hangingPunct="1"/>
            <a:r>
              <a:rPr lang="en-US" altLang="en-US" sz="2000" b="1" dirty="0">
                <a:solidFill>
                  <a:srgbClr val="0000FF"/>
                </a:solidFill>
              </a:rPr>
              <a:t>Prof.  Zane Yu</a:t>
            </a:r>
          </a:p>
          <a:p>
            <a:pPr eaLnBrk="1" hangingPunct="1"/>
            <a:r>
              <a:rPr lang="en-US" altLang="en-US" sz="1600" b="1" dirty="0">
                <a:solidFill>
                  <a:srgbClr val="0000FF"/>
                </a:solidFill>
              </a:rPr>
              <a:t>Department of Computer Science</a:t>
            </a:r>
          </a:p>
          <a:p>
            <a:pPr eaLnBrk="1" hangingPunct="1"/>
            <a:r>
              <a:rPr lang="en-US" altLang="en-US" sz="1600" b="1" dirty="0">
                <a:solidFill>
                  <a:srgbClr val="0000FF"/>
                </a:solidFill>
              </a:rPr>
              <a:t>University of Wisconsin, Milwaukee</a:t>
            </a:r>
          </a:p>
          <a:p>
            <a:pPr eaLnBrk="1" hangingPunct="1"/>
            <a:endParaRPr lang="en-US" altLang="en-US" sz="1600" b="1" dirty="0">
              <a:solidFill>
                <a:srgbClr val="0000FF"/>
              </a:solidFill>
            </a:endParaRPr>
          </a:p>
          <a:p>
            <a:pPr eaLnBrk="1" hangingPunct="1"/>
            <a:r>
              <a:rPr lang="en-US" altLang="en-US" sz="1600" b="1" dirty="0">
                <a:solidFill>
                  <a:srgbClr val="0000FF"/>
                </a:solidFill>
              </a:rPr>
              <a:t>January </a:t>
            </a:r>
            <a:r>
              <a:rPr lang="en-US" altLang="en-US" sz="1600" b="1" dirty="0">
                <a:solidFill>
                  <a:srgbClr val="0000FF"/>
                </a:solidFill>
                <a:ea typeface="SimSun" panose="02010600030101010101" pitchFamily="2" charset="-122"/>
              </a:rPr>
              <a:t>25</a:t>
            </a:r>
            <a:r>
              <a:rPr lang="en-US" altLang="en-US" sz="1600" b="1" dirty="0">
                <a:solidFill>
                  <a:srgbClr val="0000FF"/>
                </a:solidFill>
              </a:rPr>
              <a:t>, 202</a:t>
            </a:r>
            <a:r>
              <a:rPr lang="en-US" altLang="en-US" sz="1600" b="1" dirty="0">
                <a:solidFill>
                  <a:srgbClr val="0000FF"/>
                </a:solidFill>
                <a:ea typeface="SimSun" panose="02010600030101010101" pitchFamily="2" charset="-122"/>
              </a:rPr>
              <a:t>4</a:t>
            </a:r>
            <a:endParaRPr lang="en-US" altLang="en-US" sz="1600" b="1" dirty="0">
              <a:solidFill>
                <a:srgbClr val="0000FF"/>
              </a:solidFill>
            </a:endParaRPr>
          </a:p>
        </p:txBody>
      </p:sp>
      <p:sp>
        <p:nvSpPr>
          <p:cNvPr id="4099" name="TextBox 3">
            <a:extLst>
              <a:ext uri="{FF2B5EF4-FFF2-40B4-BE49-F238E27FC236}">
                <a16:creationId xmlns:a16="http://schemas.microsoft.com/office/drawing/2014/main" id="{4A63734D-64F6-F052-8B9C-9088C3F6F2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5638800"/>
            <a:ext cx="8610600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/>
              <a:t>Readings: Chapter 1.1, 1.2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4E9D5D26-856C-273C-C409-7B4F576642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914400"/>
          </a:xfrm>
        </p:spPr>
        <p:txBody>
          <a:bodyPr/>
          <a:lstStyle/>
          <a:p>
            <a:pPr eaLnBrk="1" hangingPunct="1"/>
            <a:r>
              <a:rPr lang="en-US" altLang="en-US"/>
              <a:t>Some Definitions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9A7DAC92-AB00-2853-C814-E75AE9E31A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2000" y="1066800"/>
            <a:ext cx="7696200" cy="5410200"/>
          </a:xfrm>
        </p:spPr>
        <p:txBody>
          <a:bodyPr/>
          <a:lstStyle/>
          <a:p>
            <a:pPr eaLnBrk="1" hangingPunct="1"/>
            <a:r>
              <a:rPr lang="en-US" altLang="en-US" sz="2200"/>
              <a:t>An </a:t>
            </a:r>
            <a:r>
              <a:rPr lang="en-US" altLang="en-US" sz="2200">
                <a:solidFill>
                  <a:srgbClr val="FF6600"/>
                </a:solidFill>
              </a:rPr>
              <a:t>algorithm</a:t>
            </a:r>
            <a:r>
              <a:rPr lang="en-US" altLang="en-US" sz="2200"/>
              <a:t> is a </a:t>
            </a:r>
            <a:r>
              <a:rPr lang="en-US" altLang="en-US" sz="2200" u="sng"/>
              <a:t>step-by-step</a:t>
            </a:r>
            <a:r>
              <a:rPr lang="en-US" altLang="en-US" sz="2200"/>
              <a:t> procedure for solving a problem in a </a:t>
            </a:r>
            <a:r>
              <a:rPr lang="en-US" altLang="en-US" sz="2200" u="sng"/>
              <a:t>finite</a:t>
            </a:r>
            <a:r>
              <a:rPr lang="en-US" altLang="en-US" sz="2200"/>
              <a:t> amount of time</a:t>
            </a:r>
          </a:p>
          <a:p>
            <a:pPr lvl="1" eaLnBrk="1" hangingPunct="1"/>
            <a:endParaRPr lang="en-US" altLang="en-US" sz="2200"/>
          </a:p>
          <a:p>
            <a:pPr eaLnBrk="1" hangingPunct="1"/>
            <a:r>
              <a:rPr lang="en-US" altLang="en-US" sz="2200"/>
              <a:t>A </a:t>
            </a:r>
            <a:r>
              <a:rPr lang="en-US" altLang="en-US" sz="2200">
                <a:solidFill>
                  <a:srgbClr val="FF6600"/>
                </a:solidFill>
              </a:rPr>
              <a:t>data structure</a:t>
            </a:r>
            <a:r>
              <a:rPr lang="en-US" altLang="en-US" sz="2200"/>
              <a:t> is a systematic way of </a:t>
            </a:r>
            <a:r>
              <a:rPr lang="en-US" altLang="en-US" sz="2200" u="sng"/>
              <a:t>organizing</a:t>
            </a:r>
            <a:r>
              <a:rPr lang="en-US" altLang="en-US" sz="2200"/>
              <a:t> and </a:t>
            </a:r>
            <a:r>
              <a:rPr lang="en-US" altLang="en-US" sz="2200" u="sng"/>
              <a:t>accessing</a:t>
            </a:r>
            <a:r>
              <a:rPr lang="en-US" altLang="en-US" sz="2200"/>
              <a:t> data required in an algorithm</a:t>
            </a:r>
          </a:p>
          <a:p>
            <a:pPr lvl="1" eaLnBrk="1" hangingPunct="1"/>
            <a:endParaRPr lang="en-US" altLang="en-US" sz="2200"/>
          </a:p>
          <a:p>
            <a:pPr eaLnBrk="1" hangingPunct="1"/>
            <a:r>
              <a:rPr lang="en-US" altLang="en-US" sz="2200"/>
              <a:t>Different algorithms for the same problem</a:t>
            </a:r>
          </a:p>
          <a:p>
            <a:pPr lvl="1" eaLnBrk="1" hangingPunct="1"/>
            <a:r>
              <a:rPr lang="en-US" altLang="en-US" sz="1800" i="1"/>
              <a:t>Example</a:t>
            </a:r>
            <a:r>
              <a:rPr lang="en-US" altLang="en-US" sz="1800"/>
              <a:t>: Finding the maximum of an array </a:t>
            </a:r>
          </a:p>
          <a:p>
            <a:pPr eaLnBrk="1" hangingPunct="1">
              <a:buFontTx/>
              <a:buNone/>
            </a:pPr>
            <a:endParaRPr lang="en-US" altLang="en-US" sz="1800"/>
          </a:p>
          <a:p>
            <a:pPr eaLnBrk="1" hangingPunct="1"/>
            <a:r>
              <a:rPr lang="en-US" altLang="en-US" sz="2200"/>
              <a:t>Analysis of</a:t>
            </a:r>
            <a:r>
              <a:rPr lang="en-US" altLang="en-US" sz="2200">
                <a:solidFill>
                  <a:srgbClr val="FF6600"/>
                </a:solidFill>
              </a:rPr>
              <a:t> </a:t>
            </a:r>
            <a:r>
              <a:rPr lang="en-US" altLang="en-US" sz="2200"/>
              <a:t>algorithm: </a:t>
            </a:r>
            <a:r>
              <a:rPr lang="en-US" altLang="en-US" sz="2200">
                <a:solidFill>
                  <a:srgbClr val="FF6600"/>
                </a:solidFill>
              </a:rPr>
              <a:t>good</a:t>
            </a:r>
            <a:r>
              <a:rPr lang="en-US" altLang="en-US" sz="2200"/>
              <a:t> vs. </a:t>
            </a:r>
            <a:r>
              <a:rPr lang="en-US" altLang="en-US" sz="2200">
                <a:solidFill>
                  <a:srgbClr val="FF6600"/>
                </a:solidFill>
              </a:rPr>
              <a:t>bad</a:t>
            </a:r>
            <a:r>
              <a:rPr lang="en-US" altLang="en-US" sz="2200"/>
              <a:t> algorithms</a:t>
            </a:r>
          </a:p>
          <a:p>
            <a:pPr lvl="1" eaLnBrk="1" hangingPunct="1"/>
            <a:r>
              <a:rPr lang="en-US" altLang="en-US" sz="1800" b="1"/>
              <a:t>Running time</a:t>
            </a:r>
          </a:p>
          <a:p>
            <a:pPr lvl="1" eaLnBrk="1" hangingPunct="1"/>
            <a:r>
              <a:rPr lang="en-US" altLang="en-US" sz="1800"/>
              <a:t>Memory space</a:t>
            </a:r>
          </a:p>
          <a:p>
            <a:pPr lvl="1" eaLnBrk="1" hangingPunct="1"/>
            <a:r>
              <a:rPr lang="en-US" altLang="en-US" sz="1800"/>
              <a:t>Robustness (stability)</a:t>
            </a:r>
          </a:p>
          <a:p>
            <a:pPr lvl="1" eaLnBrk="1" hangingPunct="1"/>
            <a:r>
              <a:rPr lang="en-US" altLang="en-US" sz="1800"/>
              <a:t>Complexity</a:t>
            </a:r>
          </a:p>
          <a:p>
            <a:pPr lvl="1" eaLnBrk="1" hangingPunct="1"/>
            <a:r>
              <a:rPr lang="en-US" altLang="en-US" sz="1800"/>
              <a:t>….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>
            <a:extLst>
              <a:ext uri="{FF2B5EF4-FFF2-40B4-BE49-F238E27FC236}">
                <a16:creationId xmlns:a16="http://schemas.microsoft.com/office/drawing/2014/main" id="{B1C587C8-8C19-0168-9CF4-882EB8E60C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762000"/>
          </a:xfrm>
        </p:spPr>
        <p:txBody>
          <a:bodyPr/>
          <a:lstStyle/>
          <a:p>
            <a:pPr eaLnBrk="1" hangingPunct="1"/>
            <a:r>
              <a:rPr lang="en-US" altLang="en-US" dirty="0"/>
              <a:t>Running Time</a:t>
            </a:r>
          </a:p>
        </p:txBody>
      </p:sp>
      <p:sp>
        <p:nvSpPr>
          <p:cNvPr id="1028" name="Rectangle 3">
            <a:extLst>
              <a:ext uri="{FF2B5EF4-FFF2-40B4-BE49-F238E27FC236}">
                <a16:creationId xmlns:a16="http://schemas.microsoft.com/office/drawing/2014/main" id="{89B5E564-08E1-FB40-CAEB-33671F7BC3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066800"/>
            <a:ext cx="4572000" cy="5257800"/>
          </a:xfrm>
        </p:spPr>
        <p:txBody>
          <a:bodyPr/>
          <a:lstStyle/>
          <a:p>
            <a:pPr eaLnBrk="1" hangingPunct="1"/>
            <a:r>
              <a:rPr lang="en-US" altLang="en-US" sz="2000" dirty="0"/>
              <a:t>An algorithm transforms inputs into outputs. </a:t>
            </a:r>
          </a:p>
          <a:p>
            <a:pPr eaLnBrk="1" hangingPunct="1"/>
            <a:endParaRPr lang="en-US" altLang="en-US" sz="1200" dirty="0"/>
          </a:p>
          <a:p>
            <a:pPr eaLnBrk="1" hangingPunct="1"/>
            <a:r>
              <a:rPr lang="en-US" altLang="en-US" sz="2000" dirty="0"/>
              <a:t>The running time of an algorithm typically grows with the input size. Even with the same input size, the running time can be different</a:t>
            </a:r>
          </a:p>
          <a:p>
            <a:pPr eaLnBrk="1" hangingPunct="1"/>
            <a:endParaRPr lang="en-US" altLang="en-US" sz="1200" dirty="0"/>
          </a:p>
          <a:p>
            <a:pPr eaLnBrk="1" hangingPunct="1"/>
            <a:r>
              <a:rPr lang="en-US" sz="2000" dirty="0">
                <a:solidFill>
                  <a:srgbClr val="C00000"/>
                </a:solidFill>
                <a:effectLst/>
              </a:rPr>
              <a:t>Our big goal is to design algorithms that scale well (or efficient algorithms)</a:t>
            </a:r>
            <a:endParaRPr lang="en-US" altLang="en-US" sz="2000" dirty="0">
              <a:solidFill>
                <a:srgbClr val="C00000"/>
              </a:solidFill>
            </a:endParaRPr>
          </a:p>
          <a:p>
            <a:pPr eaLnBrk="1" hangingPunct="1"/>
            <a:endParaRPr lang="en-US" altLang="en-US" sz="1200" dirty="0"/>
          </a:p>
          <a:p>
            <a:pPr eaLnBrk="1" hangingPunct="1"/>
            <a:r>
              <a:rPr lang="en-US" altLang="en-US" sz="2000" dirty="0"/>
              <a:t>We often consider the worst-case running time.</a:t>
            </a:r>
          </a:p>
          <a:p>
            <a:pPr lvl="1" eaLnBrk="1" hangingPunct="1"/>
            <a:r>
              <a:rPr lang="en-US" altLang="en-US" sz="1800" dirty="0"/>
              <a:t>Easier to analyze</a:t>
            </a:r>
          </a:p>
          <a:p>
            <a:pPr lvl="1" eaLnBrk="1" hangingPunct="1"/>
            <a:r>
              <a:rPr lang="en-US" altLang="en-US" sz="1800" dirty="0"/>
              <a:t>Crucial to some applications as games, finance and robotics</a:t>
            </a:r>
            <a:endParaRPr lang="en-US" altLang="en-US" sz="1600" dirty="0"/>
          </a:p>
        </p:txBody>
      </p:sp>
      <p:graphicFrame>
        <p:nvGraphicFramePr>
          <p:cNvPr id="1026" name="Object 4">
            <a:extLst>
              <a:ext uri="{FF2B5EF4-FFF2-40B4-BE49-F238E27FC236}">
                <a16:creationId xmlns:a16="http://schemas.microsoft.com/office/drawing/2014/main" id="{9BB5D1F5-6704-B65A-B38A-CA3948216B5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29200" y="1666875"/>
          <a:ext cx="3943350" cy="420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3" imgW="3949700" imgH="4216400" progId="MSGraph.Chart.8">
                  <p:embed followColorScheme="full"/>
                </p:oleObj>
              </mc:Choice>
              <mc:Fallback>
                <p:oleObj name="Chart" r:id="rId3" imgW="3949700" imgH="4216400" progId="MSGraph.Chart.8">
                  <p:embed followColorScheme="full"/>
                  <p:pic>
                    <p:nvPicPr>
                      <p:cNvPr id="1026" name="Object 4">
                        <a:extLst>
                          <a:ext uri="{FF2B5EF4-FFF2-40B4-BE49-F238E27FC236}">
                            <a16:creationId xmlns:a16="http://schemas.microsoft.com/office/drawing/2014/main" id="{9BB5D1F5-6704-B65A-B38A-CA3948216B5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1666875"/>
                        <a:ext cx="3943350" cy="420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4">
            <a:extLst>
              <a:ext uri="{FF2B5EF4-FFF2-40B4-BE49-F238E27FC236}">
                <a16:creationId xmlns:a16="http://schemas.microsoft.com/office/drawing/2014/main" id="{0FC2F7E4-6FC4-C05C-9D6A-0E17EB00E0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228600"/>
            <a:ext cx="7772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b="1">
                <a:solidFill>
                  <a:srgbClr val="0000FF"/>
                </a:solidFill>
                <a:latin typeface="Comic Sans MS" panose="030F0902030302020204" pitchFamily="66" charset="0"/>
              </a:rPr>
              <a:t>Estimation of Running Time</a:t>
            </a:r>
          </a:p>
        </p:txBody>
      </p:sp>
      <p:sp>
        <p:nvSpPr>
          <p:cNvPr id="2052" name="Rectangle 5" descr="Rectangle: Click to edit Master text styles&#13;&#10;Second level&#13;&#10;Third level&#13;&#10;Fourth level&#13;&#10;Fifth level">
            <a:extLst>
              <a:ext uri="{FF2B5EF4-FFF2-40B4-BE49-F238E27FC236}">
                <a16:creationId xmlns:a16="http://schemas.microsoft.com/office/drawing/2014/main" id="{306DE050-8D78-B3FB-4809-460426ABC4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447800"/>
            <a:ext cx="43434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US" altLang="en-US" sz="2200">
                <a:solidFill>
                  <a:srgbClr val="C00000"/>
                </a:solidFill>
              </a:rPr>
              <a:t>    Experimental approach:</a:t>
            </a: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endParaRPr lang="en-US" altLang="en-US" sz="2000"/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altLang="en-US" sz="2000"/>
              <a:t>Write a program implementing the algorithm</a:t>
            </a: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endParaRPr lang="en-US" altLang="en-US" sz="2000"/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altLang="en-US" sz="2000"/>
              <a:t>Run the program with inputs of varying sizes</a:t>
            </a: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endParaRPr lang="en-US" altLang="en-US" sz="2000"/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altLang="en-US" sz="2000"/>
              <a:t>Use a method to get an accurate measure of the actual running time</a:t>
            </a: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endParaRPr lang="en-US" altLang="en-US" sz="2000"/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r>
              <a:rPr lang="en-US" altLang="en-US" sz="2000"/>
              <a:t>Plot the results</a:t>
            </a:r>
          </a:p>
        </p:txBody>
      </p:sp>
      <p:graphicFrame>
        <p:nvGraphicFramePr>
          <p:cNvPr id="2050" name="Object 6">
            <a:extLst>
              <a:ext uri="{FF2B5EF4-FFF2-40B4-BE49-F238E27FC236}">
                <a16:creationId xmlns:a16="http://schemas.microsoft.com/office/drawing/2014/main" id="{4C214B28-F259-D623-B222-A6A7C050236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48200" y="1600200"/>
          <a:ext cx="4429125" cy="464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2" imgW="4445000" imgH="4660900" progId="MSGraph.Chart.8">
                  <p:embed followColorScheme="full"/>
                </p:oleObj>
              </mc:Choice>
              <mc:Fallback>
                <p:oleObj name="Chart" r:id="rId2" imgW="4445000" imgH="4660900" progId="MSGraph.Chart.8">
                  <p:embed followColorScheme="full"/>
                  <p:pic>
                    <p:nvPicPr>
                      <p:cNvPr id="2050" name="Object 6">
                        <a:extLst>
                          <a:ext uri="{FF2B5EF4-FFF2-40B4-BE49-F238E27FC236}">
                            <a16:creationId xmlns:a16="http://schemas.microsoft.com/office/drawing/2014/main" id="{4C214B28-F259-D623-B222-A6A7C050236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1600200"/>
                        <a:ext cx="4429125" cy="464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OleChart spid="205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4">
            <a:extLst>
              <a:ext uri="{FF2B5EF4-FFF2-40B4-BE49-F238E27FC236}">
                <a16:creationId xmlns:a16="http://schemas.microsoft.com/office/drawing/2014/main" id="{C2C683DF-2738-5887-5671-8336CADF87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609600"/>
          </a:xfrm>
          <a:noFill/>
        </p:spPr>
        <p:txBody>
          <a:bodyPr anchor="b"/>
          <a:lstStyle/>
          <a:p>
            <a:pPr eaLnBrk="1" hangingPunct="1"/>
            <a:r>
              <a:rPr lang="en-US" altLang="en-US"/>
              <a:t>Limitations of Experimental Approach</a:t>
            </a:r>
          </a:p>
        </p:txBody>
      </p:sp>
      <p:sp>
        <p:nvSpPr>
          <p:cNvPr id="22531" name="Rectangle 5" descr="Rectangle: Click to edit Master text styles&#13;&#10;Second level&#13;&#10;Third level&#13;&#10;Fourth level&#13;&#10;Fifth level">
            <a:extLst>
              <a:ext uri="{FF2B5EF4-FFF2-40B4-BE49-F238E27FC236}">
                <a16:creationId xmlns:a16="http://schemas.microsoft.com/office/drawing/2014/main" id="{64778D0D-209B-D430-628D-D66901A99DA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1295400"/>
            <a:ext cx="7315200" cy="5105400"/>
          </a:xfrm>
          <a:noFill/>
        </p:spPr>
        <p:txBody>
          <a:bodyPr/>
          <a:lstStyle/>
          <a:p>
            <a:pPr eaLnBrk="1" hangingPunct="1"/>
            <a:r>
              <a:rPr lang="en-US" altLang="en-US" sz="2200">
                <a:solidFill>
                  <a:srgbClr val="C00000"/>
                </a:solidFill>
              </a:rPr>
              <a:t>It is necessary to implement the algorithm, which may be difficult and time consuming. </a:t>
            </a:r>
            <a:r>
              <a:rPr lang="en-US" altLang="en-US" sz="2200"/>
              <a:t>If you have several algorithms to choose for a specific problem, you’ll need to know the implementations of all of them.</a:t>
            </a:r>
          </a:p>
          <a:p>
            <a:pPr eaLnBrk="1" hangingPunct="1"/>
            <a:endParaRPr lang="en-US" altLang="en-US" sz="2200"/>
          </a:p>
          <a:p>
            <a:pPr eaLnBrk="1" hangingPunct="1"/>
            <a:r>
              <a:rPr lang="en-US" altLang="en-US" sz="2200"/>
              <a:t>Even if you have all the implementations available, in order to compare two algorithms, </a:t>
            </a:r>
            <a:r>
              <a:rPr lang="en-US" altLang="en-US" sz="2200">
                <a:solidFill>
                  <a:srgbClr val="C00000"/>
                </a:solidFill>
              </a:rPr>
              <a:t>the same hardware and software environments must be used</a:t>
            </a:r>
            <a:r>
              <a:rPr lang="en-US" altLang="en-US" sz="2200"/>
              <a:t>. </a:t>
            </a:r>
          </a:p>
          <a:p>
            <a:pPr eaLnBrk="1" hangingPunct="1"/>
            <a:endParaRPr lang="en-US" altLang="en-US" sz="2200"/>
          </a:p>
          <a:p>
            <a:pPr eaLnBrk="1" hangingPunct="1"/>
            <a:r>
              <a:rPr lang="en-US" altLang="en-US" sz="2200">
                <a:solidFill>
                  <a:srgbClr val="C00000"/>
                </a:solidFill>
              </a:rPr>
              <a:t>Experiments can be done only on a limited number of test inputs</a:t>
            </a:r>
            <a:r>
              <a:rPr lang="en-US" altLang="en-US" sz="2200"/>
              <a:t>. Results may not accurately indicate the running time on other inputs not included in the experiment. </a:t>
            </a:r>
          </a:p>
          <a:p>
            <a:pPr eaLnBrk="1" hangingPunct="1"/>
            <a:endParaRPr lang="en-US" altLang="en-US" sz="2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4">
            <a:extLst>
              <a:ext uri="{FF2B5EF4-FFF2-40B4-BE49-F238E27FC236}">
                <a16:creationId xmlns:a16="http://schemas.microsoft.com/office/drawing/2014/main" id="{DAF59758-35F5-219A-93B2-2F0EB45239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152400"/>
            <a:ext cx="7772400" cy="609600"/>
          </a:xfrm>
          <a:noFill/>
        </p:spPr>
        <p:txBody>
          <a:bodyPr anchor="b"/>
          <a:lstStyle/>
          <a:p>
            <a:pPr eaLnBrk="1" hangingPunct="1"/>
            <a:r>
              <a:rPr lang="en-US" altLang="en-US"/>
              <a:t>Theoretical Analysis</a:t>
            </a:r>
          </a:p>
        </p:txBody>
      </p:sp>
      <p:sp>
        <p:nvSpPr>
          <p:cNvPr id="23555" name="Rectangle 5" descr="Rectangle: Click to edit Master text styles&#13;&#10;Second level&#13;&#10;Third level&#13;&#10;Fourth level&#13;&#10;Fifth level">
            <a:extLst>
              <a:ext uri="{FF2B5EF4-FFF2-40B4-BE49-F238E27FC236}">
                <a16:creationId xmlns:a16="http://schemas.microsoft.com/office/drawing/2014/main" id="{F5FC3CAE-35D5-6F36-55D7-A9C847ECB4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2000" y="1066800"/>
            <a:ext cx="7620000" cy="5334000"/>
          </a:xfrm>
          <a:noFill/>
        </p:spPr>
        <p:txBody>
          <a:bodyPr/>
          <a:lstStyle/>
          <a:p>
            <a:pPr eaLnBrk="1" hangingPunct="1"/>
            <a:r>
              <a:rPr lang="en-US" altLang="en-US" sz="2200" dirty="0"/>
              <a:t>Uses a high-level description of the algorithm instead of an implementation</a:t>
            </a:r>
          </a:p>
          <a:p>
            <a:pPr eaLnBrk="1" hangingPunct="1"/>
            <a:endParaRPr lang="en-US" altLang="en-US" sz="1400" dirty="0"/>
          </a:p>
          <a:p>
            <a:pPr eaLnBrk="1" hangingPunct="1"/>
            <a:r>
              <a:rPr lang="en-US" altLang="en-US" sz="2200" dirty="0"/>
              <a:t>Takes into account all possible inputs</a:t>
            </a:r>
          </a:p>
          <a:p>
            <a:pPr eaLnBrk="1" hangingPunct="1"/>
            <a:endParaRPr lang="en-US" altLang="en-US" sz="1400" dirty="0"/>
          </a:p>
          <a:p>
            <a:pPr eaLnBrk="1" hangingPunct="1"/>
            <a:r>
              <a:rPr lang="en-US" altLang="en-US" sz="2200" dirty="0"/>
              <a:t>Allows us to evaluate the speed of an algorithm independent of the hardware/software environment</a:t>
            </a:r>
          </a:p>
          <a:p>
            <a:pPr eaLnBrk="1" hangingPunct="1"/>
            <a:endParaRPr lang="en-US" altLang="en-US" sz="1400" dirty="0"/>
          </a:p>
          <a:p>
            <a:pPr eaLnBrk="1" hangingPunct="1"/>
            <a:r>
              <a:rPr lang="en-US" altLang="en-US" sz="2200" dirty="0"/>
              <a:t>Characterizes running time as a function of the input size, such as </a:t>
            </a:r>
            <a:r>
              <a:rPr lang="en-US" altLang="en-US" sz="2200" i="1" dirty="0">
                <a:solidFill>
                  <a:srgbClr val="FF6600"/>
                </a:solidFill>
              </a:rPr>
              <a:t>f(n)</a:t>
            </a:r>
            <a:r>
              <a:rPr lang="en-US" altLang="en-US" sz="2200" i="1" dirty="0"/>
              <a:t>.</a:t>
            </a:r>
          </a:p>
          <a:p>
            <a:pPr eaLnBrk="1" hangingPunct="1"/>
            <a:endParaRPr lang="en-US" altLang="en-US" sz="1600" i="1" dirty="0"/>
          </a:p>
          <a:p>
            <a:pPr eaLnBrk="1" hangingPunct="1">
              <a:buFontTx/>
              <a:buNone/>
            </a:pPr>
            <a:r>
              <a:rPr lang="en-US" altLang="en-US" sz="2000" i="1" dirty="0"/>
              <a:t>	</a:t>
            </a:r>
            <a:r>
              <a:rPr lang="en-US" altLang="en-US" sz="1800" b="1" i="1" dirty="0"/>
              <a:t>Example 1:</a:t>
            </a:r>
            <a:r>
              <a:rPr lang="en-US" altLang="en-US" sz="1800" i="1" dirty="0"/>
              <a:t> </a:t>
            </a:r>
            <a:r>
              <a:rPr lang="en-US" altLang="en-US" sz="1800" dirty="0"/>
              <a:t>Algorithm A running in time proportional to </a:t>
            </a:r>
            <a:r>
              <a:rPr lang="en-US" altLang="en-US" sz="1800" i="1" dirty="0">
                <a:solidFill>
                  <a:srgbClr val="FF6600"/>
                </a:solidFill>
              </a:rPr>
              <a:t>n</a:t>
            </a:r>
            <a:r>
              <a:rPr lang="en-US" altLang="en-US" sz="1800" dirty="0"/>
              <a:t> means that the running time of A on any input of size </a:t>
            </a:r>
            <a:r>
              <a:rPr lang="en-US" altLang="en-US" sz="1800" i="1" dirty="0">
                <a:solidFill>
                  <a:srgbClr val="FF6600"/>
                </a:solidFill>
              </a:rPr>
              <a:t>n</a:t>
            </a:r>
            <a:r>
              <a:rPr lang="en-US" altLang="en-US" sz="1800" dirty="0"/>
              <a:t> is </a:t>
            </a:r>
            <a:r>
              <a:rPr lang="en-US" altLang="en-US" sz="1800" i="1" dirty="0" err="1">
                <a:solidFill>
                  <a:srgbClr val="FF6600"/>
                </a:solidFill>
              </a:rPr>
              <a:t>cn</a:t>
            </a:r>
            <a:r>
              <a:rPr lang="en-US" altLang="en-US" sz="1800" dirty="0"/>
              <a:t>, where </a:t>
            </a:r>
            <a:r>
              <a:rPr lang="en-US" altLang="en-US" sz="1800" i="1" dirty="0">
                <a:solidFill>
                  <a:srgbClr val="FF6600"/>
                </a:solidFill>
              </a:rPr>
              <a:t>c</a:t>
            </a:r>
            <a:r>
              <a:rPr lang="en-US" altLang="en-US" sz="1800" dirty="0"/>
              <a:t> a constant.</a:t>
            </a:r>
          </a:p>
          <a:p>
            <a:pPr eaLnBrk="1" hangingPunct="1">
              <a:buFontTx/>
              <a:buNone/>
            </a:pPr>
            <a:endParaRPr lang="en-US" altLang="en-US" sz="1200" dirty="0"/>
          </a:p>
          <a:p>
            <a:pPr eaLnBrk="1" hangingPunct="1">
              <a:buFontTx/>
              <a:buNone/>
            </a:pPr>
            <a:r>
              <a:rPr lang="en-US" altLang="en-US" sz="1800" dirty="0"/>
              <a:t>	</a:t>
            </a:r>
            <a:r>
              <a:rPr lang="en-US" altLang="en-US" sz="1800" b="1" i="1" dirty="0"/>
              <a:t>Example 2</a:t>
            </a:r>
            <a:r>
              <a:rPr lang="en-US" altLang="en-US" sz="1800" dirty="0"/>
              <a:t>: If A runs in time proportional to </a:t>
            </a:r>
            <a:r>
              <a:rPr lang="en-US" altLang="en-US" sz="1800" dirty="0">
                <a:solidFill>
                  <a:srgbClr val="FF6600"/>
                </a:solidFill>
              </a:rPr>
              <a:t>n</a:t>
            </a:r>
            <a:r>
              <a:rPr lang="en-US" altLang="en-US" sz="1800" dirty="0"/>
              <a:t> and B runs in time proportional to </a:t>
            </a:r>
            <a:r>
              <a:rPr lang="en-US" altLang="en-US" sz="1800" dirty="0">
                <a:solidFill>
                  <a:srgbClr val="FF6600"/>
                </a:solidFill>
              </a:rPr>
              <a:t>n</a:t>
            </a:r>
            <a:r>
              <a:rPr lang="en-US" altLang="en-US" sz="1800" baseline="30000" dirty="0">
                <a:solidFill>
                  <a:srgbClr val="FF6600"/>
                </a:solidFill>
              </a:rPr>
              <a:t>2</a:t>
            </a:r>
            <a:r>
              <a:rPr lang="en-US" altLang="en-US" sz="1800" dirty="0"/>
              <a:t>, then A is preferred.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10">
            <a:extLst>
              <a:ext uri="{FF2B5EF4-FFF2-40B4-BE49-F238E27FC236}">
                <a16:creationId xmlns:a16="http://schemas.microsoft.com/office/drawing/2014/main" id="{52274F2B-FDAA-4CC9-D8BB-A5A47EAC5A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152400"/>
            <a:ext cx="7772400" cy="609600"/>
          </a:xfrm>
          <a:noFill/>
        </p:spPr>
        <p:txBody>
          <a:bodyPr anchor="b"/>
          <a:lstStyle/>
          <a:p>
            <a:pPr eaLnBrk="1" hangingPunct="1"/>
            <a:r>
              <a:rPr lang="en-US" altLang="en-US"/>
              <a:t>Pseudocode</a:t>
            </a:r>
          </a:p>
        </p:txBody>
      </p:sp>
      <p:sp>
        <p:nvSpPr>
          <p:cNvPr id="24579" name="Rectangle 11" descr="Rectangle: Click to edit Master text styles&#13;&#10;Second level&#13;&#10;Third level&#13;&#10;Fourth level&#13;&#10;Fifth level">
            <a:extLst>
              <a:ext uri="{FF2B5EF4-FFF2-40B4-BE49-F238E27FC236}">
                <a16:creationId xmlns:a16="http://schemas.microsoft.com/office/drawing/2014/main" id="{CC4E1D9E-701E-69F7-3F42-08A26A39CE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1447800"/>
            <a:ext cx="4267200" cy="4648200"/>
          </a:xfrm>
          <a:noFill/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200"/>
              <a:t>High-level description of an algorithm</a:t>
            </a:r>
          </a:p>
          <a:p>
            <a:pPr eaLnBrk="1" hangingPunct="1">
              <a:lnSpc>
                <a:spcPct val="90000"/>
              </a:lnSpc>
            </a:pPr>
            <a:endParaRPr lang="en-US" altLang="en-US" sz="2200"/>
          </a:p>
          <a:p>
            <a:pPr eaLnBrk="1" hangingPunct="1">
              <a:lnSpc>
                <a:spcPct val="90000"/>
              </a:lnSpc>
            </a:pPr>
            <a:r>
              <a:rPr lang="en-US" altLang="en-US" sz="2200"/>
              <a:t>More structured than English words</a:t>
            </a:r>
          </a:p>
          <a:p>
            <a:pPr eaLnBrk="1" hangingPunct="1">
              <a:lnSpc>
                <a:spcPct val="90000"/>
              </a:lnSpc>
            </a:pPr>
            <a:endParaRPr lang="en-US" altLang="en-US" sz="2200"/>
          </a:p>
          <a:p>
            <a:pPr eaLnBrk="1" hangingPunct="1">
              <a:lnSpc>
                <a:spcPct val="90000"/>
              </a:lnSpc>
            </a:pPr>
            <a:r>
              <a:rPr lang="en-US" altLang="en-US" sz="2200"/>
              <a:t>Less detailed and more readable than a program</a:t>
            </a:r>
          </a:p>
          <a:p>
            <a:pPr eaLnBrk="1" hangingPunct="1">
              <a:lnSpc>
                <a:spcPct val="90000"/>
              </a:lnSpc>
            </a:pPr>
            <a:endParaRPr lang="en-US" altLang="en-US" sz="2200"/>
          </a:p>
          <a:p>
            <a:pPr eaLnBrk="1" hangingPunct="1">
              <a:lnSpc>
                <a:spcPct val="90000"/>
              </a:lnSpc>
            </a:pPr>
            <a:r>
              <a:rPr lang="en-US" altLang="en-US" sz="2200"/>
              <a:t>Preferred notation for describing algorithms</a:t>
            </a:r>
          </a:p>
          <a:p>
            <a:pPr eaLnBrk="1" hangingPunct="1">
              <a:lnSpc>
                <a:spcPct val="90000"/>
              </a:lnSpc>
            </a:pPr>
            <a:endParaRPr lang="en-US" altLang="en-US" sz="2200"/>
          </a:p>
          <a:p>
            <a:pPr eaLnBrk="1" hangingPunct="1">
              <a:lnSpc>
                <a:spcPct val="90000"/>
              </a:lnSpc>
            </a:pPr>
            <a:r>
              <a:rPr lang="en-US" altLang="en-US" sz="2200"/>
              <a:t>Hides program design issues</a:t>
            </a:r>
          </a:p>
        </p:txBody>
      </p:sp>
      <p:sp>
        <p:nvSpPr>
          <p:cNvPr id="24580" name="Text Box 14">
            <a:extLst>
              <a:ext uri="{FF2B5EF4-FFF2-40B4-BE49-F238E27FC236}">
                <a16:creationId xmlns:a16="http://schemas.microsoft.com/office/drawing/2014/main" id="{CE92CC6F-6C46-AC64-8770-2934DB7696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9200" y="2668588"/>
            <a:ext cx="3733800" cy="2436812"/>
          </a:xfrm>
          <a:prstGeom prst="rect">
            <a:avLst/>
          </a:prstGeom>
          <a:noFill/>
          <a:ln w="9525">
            <a:solidFill>
              <a:srgbClr val="57705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defTabSz="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defTabSz="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defTabSz="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defTabSz="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defTabSz="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Algorithm</a:t>
            </a:r>
            <a:r>
              <a:rPr lang="en-US" altLang="en-US">
                <a:solidFill>
                  <a:srgbClr val="40458C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b="1" i="1">
                <a:solidFill>
                  <a:srgbClr val="BE2D00"/>
                </a:solidFill>
                <a:latin typeface="Times New Roman" panose="02020603050405020304" pitchFamily="18" charset="0"/>
              </a:rPr>
              <a:t>arrayMax</a:t>
            </a:r>
            <a:r>
              <a:rPr lang="en-US" altLang="en-US">
                <a:solidFill>
                  <a:srgbClr val="BE2D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b="1" i="1">
                <a:solidFill>
                  <a:srgbClr val="BE2D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en-US">
                <a:solidFill>
                  <a:srgbClr val="BE2D00"/>
                </a:solidFill>
                <a:latin typeface="Times New Roman" panose="02020603050405020304" pitchFamily="18" charset="0"/>
              </a:rPr>
              <a:t>, </a:t>
            </a:r>
            <a:r>
              <a:rPr lang="en-US" altLang="en-US" b="1" i="1">
                <a:solidFill>
                  <a:srgbClr val="BE2D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en-US">
                <a:solidFill>
                  <a:srgbClr val="BE2D00"/>
                </a:solidFill>
                <a:latin typeface="Times New Roman" panose="02020603050405020304" pitchFamily="18" charset="0"/>
              </a:rPr>
              <a:t>)</a:t>
            </a:r>
          </a:p>
          <a:p>
            <a:pPr algn="l" eaLnBrk="1" hangingPunct="1"/>
            <a:r>
              <a:rPr lang="en-US" altLang="en-US" b="1">
                <a:solidFill>
                  <a:srgbClr val="BE2D00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Input</a:t>
            </a:r>
            <a:r>
              <a:rPr lang="en-US" altLang="en-US">
                <a:solidFill>
                  <a:srgbClr val="40458C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>
                <a:solidFill>
                  <a:srgbClr val="577052"/>
                </a:solidFill>
                <a:latin typeface="Times New Roman" panose="02020603050405020304" pitchFamily="18" charset="0"/>
              </a:rPr>
              <a:t>array </a:t>
            </a:r>
            <a:r>
              <a:rPr lang="en-US" altLang="en-US" b="1" i="1">
                <a:solidFill>
                  <a:srgbClr val="577052"/>
                </a:solidFill>
                <a:latin typeface="Times New Roman" panose="02020603050405020304" pitchFamily="18" charset="0"/>
              </a:rPr>
              <a:t>A</a:t>
            </a:r>
            <a:r>
              <a:rPr lang="en-US" altLang="en-US">
                <a:solidFill>
                  <a:srgbClr val="577052"/>
                </a:solidFill>
                <a:latin typeface="Times New Roman" panose="02020603050405020304" pitchFamily="18" charset="0"/>
              </a:rPr>
              <a:t> of </a:t>
            </a:r>
            <a:r>
              <a:rPr lang="en-US" altLang="en-US" b="1" i="1">
                <a:solidFill>
                  <a:srgbClr val="577052"/>
                </a:solidFill>
                <a:latin typeface="Times New Roman" panose="02020603050405020304" pitchFamily="18" charset="0"/>
              </a:rPr>
              <a:t>n</a:t>
            </a:r>
            <a:r>
              <a:rPr lang="en-US" altLang="en-US">
                <a:solidFill>
                  <a:srgbClr val="577052"/>
                </a:solidFill>
                <a:latin typeface="Times New Roman" panose="02020603050405020304" pitchFamily="18" charset="0"/>
              </a:rPr>
              <a:t> integers</a:t>
            </a:r>
          </a:p>
          <a:p>
            <a:pPr algn="l" eaLnBrk="1" hangingPunct="1"/>
            <a:r>
              <a:rPr lang="en-US" altLang="en-US" b="1">
                <a:solidFill>
                  <a:srgbClr val="BE2D00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Output</a:t>
            </a:r>
            <a:r>
              <a:rPr lang="en-US" altLang="en-US">
                <a:solidFill>
                  <a:srgbClr val="40458C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>
                <a:solidFill>
                  <a:srgbClr val="577052"/>
                </a:solidFill>
                <a:latin typeface="Times New Roman" panose="02020603050405020304" pitchFamily="18" charset="0"/>
              </a:rPr>
              <a:t>maximum element of </a:t>
            </a:r>
            <a:r>
              <a:rPr lang="en-US" altLang="en-US" b="1" i="1">
                <a:solidFill>
                  <a:srgbClr val="577052"/>
                </a:solidFill>
                <a:latin typeface="Times New Roman" panose="02020603050405020304" pitchFamily="18" charset="0"/>
              </a:rPr>
              <a:t>A</a:t>
            </a:r>
          </a:p>
          <a:p>
            <a:pPr algn="l" eaLnBrk="1" hangingPunct="1">
              <a:spcBef>
                <a:spcPct val="50000"/>
              </a:spcBef>
            </a:pPr>
            <a:r>
              <a:rPr lang="en-US" altLang="en-US">
                <a:solidFill>
                  <a:srgbClr val="BE2D00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b="1" i="1">
                <a:solidFill>
                  <a:srgbClr val="577052"/>
                </a:solidFill>
                <a:latin typeface="Times New Roman" panose="02020603050405020304" pitchFamily="18" charset="0"/>
              </a:rPr>
              <a:t>currentMax</a:t>
            </a:r>
            <a:r>
              <a:rPr lang="en-US" altLang="en-US">
                <a:solidFill>
                  <a:srgbClr val="BE2D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</a:t>
            </a:r>
            <a:r>
              <a:rPr lang="en-US" altLang="en-US">
                <a:solidFill>
                  <a:srgbClr val="BE2D00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b="1" i="1">
                <a:solidFill>
                  <a:srgbClr val="577052"/>
                </a:solidFill>
                <a:latin typeface="Times New Roman" panose="02020603050405020304" pitchFamily="18" charset="0"/>
                <a:sym typeface="Symbol" pitchFamily="2" charset="2"/>
              </a:rPr>
              <a:t>A</a:t>
            </a:r>
            <a:r>
              <a:rPr lang="en-US" altLang="en-US">
                <a:solidFill>
                  <a:srgbClr val="577052"/>
                </a:solidFill>
                <a:latin typeface="Times New Roman" panose="02020603050405020304" pitchFamily="18" charset="0"/>
                <a:sym typeface="Symbol" pitchFamily="2" charset="2"/>
              </a:rPr>
              <a:t>[0]</a:t>
            </a:r>
            <a:endParaRPr lang="en-US" altLang="en-US">
              <a:solidFill>
                <a:srgbClr val="577052"/>
              </a:solidFill>
              <a:latin typeface="Times New Roman" panose="02020603050405020304" pitchFamily="18" charset="0"/>
            </a:endParaRPr>
          </a:p>
          <a:p>
            <a:pPr algn="l" eaLnBrk="1" hangingPunct="1"/>
            <a:r>
              <a:rPr lang="en-US" altLang="en-US">
                <a:solidFill>
                  <a:srgbClr val="40458C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for</a:t>
            </a:r>
            <a:r>
              <a:rPr lang="en-US" altLang="en-US">
                <a:solidFill>
                  <a:srgbClr val="40458C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b="1" i="1">
                <a:solidFill>
                  <a:srgbClr val="577052"/>
                </a:solidFill>
                <a:latin typeface="Times New Roman" panose="02020603050405020304" pitchFamily="18" charset="0"/>
              </a:rPr>
              <a:t>i</a:t>
            </a:r>
            <a:r>
              <a:rPr lang="en-US" altLang="en-US">
                <a:solidFill>
                  <a:srgbClr val="BE2D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</a:t>
            </a:r>
            <a:r>
              <a:rPr lang="en-US" altLang="en-US">
                <a:solidFill>
                  <a:srgbClr val="BE2D00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>
                <a:solidFill>
                  <a:srgbClr val="577052"/>
                </a:solidFill>
                <a:latin typeface="Times New Roman" panose="02020603050405020304" pitchFamily="18" charset="0"/>
                <a:sym typeface="Symbol" pitchFamily="2" charset="2"/>
              </a:rPr>
              <a:t>1</a:t>
            </a:r>
            <a:r>
              <a:rPr lang="en-US" altLang="en-US">
                <a:solidFill>
                  <a:srgbClr val="40458C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to</a:t>
            </a:r>
            <a:r>
              <a:rPr lang="en-US" altLang="en-US">
                <a:solidFill>
                  <a:srgbClr val="40458C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b="1" i="1">
                <a:solidFill>
                  <a:srgbClr val="577052"/>
                </a:solidFill>
                <a:latin typeface="Times New Roman" panose="02020603050405020304" pitchFamily="18" charset="0"/>
                <a:sym typeface="Symbol" pitchFamily="2" charset="2"/>
              </a:rPr>
              <a:t>n</a:t>
            </a:r>
            <a:r>
              <a:rPr lang="en-US" altLang="en-US">
                <a:solidFill>
                  <a:srgbClr val="577052"/>
                </a:solidFill>
                <a:latin typeface="Times New Roman" panose="02020603050405020304" pitchFamily="18" charset="0"/>
                <a:sym typeface="Symbol" pitchFamily="2" charset="2"/>
              </a:rPr>
              <a:t>  1</a:t>
            </a:r>
            <a:r>
              <a:rPr lang="en-US" altLang="en-US">
                <a:solidFill>
                  <a:srgbClr val="40458C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do</a:t>
            </a:r>
          </a:p>
          <a:p>
            <a:pPr algn="l" eaLnBrk="1" hangingPunct="1"/>
            <a:r>
              <a:rPr lang="en-US" altLang="en-US">
                <a:solidFill>
                  <a:srgbClr val="40458C"/>
                </a:solidFill>
                <a:latin typeface="Times New Roman" panose="02020603050405020304" pitchFamily="18" charset="0"/>
                <a:sym typeface="Symbol" pitchFamily="2" charset="2"/>
              </a:rPr>
              <a:t>		</a:t>
            </a: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if</a:t>
            </a:r>
            <a:r>
              <a:rPr lang="en-US" altLang="en-US">
                <a:solidFill>
                  <a:srgbClr val="40458C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b="1" i="1">
                <a:solidFill>
                  <a:srgbClr val="577052"/>
                </a:solidFill>
                <a:latin typeface="Times New Roman" panose="02020603050405020304" pitchFamily="18" charset="0"/>
                <a:sym typeface="Symbol" pitchFamily="2" charset="2"/>
              </a:rPr>
              <a:t>A</a:t>
            </a:r>
            <a:r>
              <a:rPr lang="en-US" altLang="en-US">
                <a:solidFill>
                  <a:srgbClr val="577052"/>
                </a:solidFill>
                <a:latin typeface="Times New Roman" panose="02020603050405020304" pitchFamily="18" charset="0"/>
                <a:sym typeface="Symbol" pitchFamily="2" charset="2"/>
              </a:rPr>
              <a:t>[</a:t>
            </a:r>
            <a:r>
              <a:rPr lang="en-US" altLang="en-US" i="1">
                <a:solidFill>
                  <a:srgbClr val="577052"/>
                </a:solidFill>
                <a:latin typeface="Times New Roman" panose="02020603050405020304" pitchFamily="18" charset="0"/>
                <a:sym typeface="Symbol" pitchFamily="2" charset="2"/>
              </a:rPr>
              <a:t>i</a:t>
            </a:r>
            <a:r>
              <a:rPr lang="en-US" altLang="en-US">
                <a:solidFill>
                  <a:srgbClr val="577052"/>
                </a:solidFill>
                <a:latin typeface="Times New Roman" panose="02020603050405020304" pitchFamily="18" charset="0"/>
                <a:sym typeface="Symbol" pitchFamily="2" charset="2"/>
              </a:rPr>
              <a:t>]  </a:t>
            </a:r>
            <a:r>
              <a:rPr lang="en-US" altLang="en-US" b="1" i="1">
                <a:solidFill>
                  <a:srgbClr val="577052"/>
                </a:solidFill>
                <a:latin typeface="Times New Roman" panose="02020603050405020304" pitchFamily="18" charset="0"/>
                <a:sym typeface="Symbol" pitchFamily="2" charset="2"/>
              </a:rPr>
              <a:t>currentMax</a:t>
            </a:r>
            <a:r>
              <a:rPr lang="en-US" altLang="en-US">
                <a:solidFill>
                  <a:srgbClr val="40458C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then</a:t>
            </a:r>
          </a:p>
          <a:p>
            <a:pPr algn="l" eaLnBrk="1" hangingPunct="1"/>
            <a:r>
              <a:rPr lang="en-US" altLang="en-US">
                <a:solidFill>
                  <a:srgbClr val="40458C"/>
                </a:solidFill>
                <a:latin typeface="Times New Roman" panose="02020603050405020304" pitchFamily="18" charset="0"/>
                <a:sym typeface="Symbol" pitchFamily="2" charset="2"/>
              </a:rPr>
              <a:t>			</a:t>
            </a:r>
            <a:r>
              <a:rPr lang="en-US" altLang="en-US" b="1" i="1">
                <a:solidFill>
                  <a:srgbClr val="577052"/>
                </a:solidFill>
                <a:latin typeface="Times New Roman" panose="02020603050405020304" pitchFamily="18" charset="0"/>
                <a:sym typeface="Symbol" pitchFamily="2" charset="2"/>
              </a:rPr>
              <a:t>currentMax</a:t>
            </a:r>
            <a:r>
              <a:rPr lang="en-US" altLang="en-US">
                <a:solidFill>
                  <a:srgbClr val="BE2D00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</a:t>
            </a:r>
            <a:r>
              <a:rPr lang="en-US" altLang="en-US">
                <a:solidFill>
                  <a:srgbClr val="57705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b="1" i="1">
                <a:solidFill>
                  <a:srgbClr val="577052"/>
                </a:solidFill>
                <a:latin typeface="Times New Roman" panose="02020603050405020304" pitchFamily="18" charset="0"/>
                <a:sym typeface="Symbol" pitchFamily="2" charset="2"/>
              </a:rPr>
              <a:t>A</a:t>
            </a:r>
            <a:r>
              <a:rPr lang="en-US" altLang="en-US">
                <a:solidFill>
                  <a:srgbClr val="577052"/>
                </a:solidFill>
                <a:latin typeface="Times New Roman" panose="02020603050405020304" pitchFamily="18" charset="0"/>
                <a:sym typeface="Symbol" pitchFamily="2" charset="2"/>
              </a:rPr>
              <a:t>[</a:t>
            </a:r>
            <a:r>
              <a:rPr lang="en-US" altLang="en-US" b="1" i="1">
                <a:solidFill>
                  <a:srgbClr val="577052"/>
                </a:solidFill>
                <a:latin typeface="Times New Roman" panose="02020603050405020304" pitchFamily="18" charset="0"/>
                <a:sym typeface="Symbol" pitchFamily="2" charset="2"/>
              </a:rPr>
              <a:t>i</a:t>
            </a:r>
            <a:r>
              <a:rPr lang="en-US" altLang="en-US">
                <a:solidFill>
                  <a:srgbClr val="577052"/>
                </a:solidFill>
                <a:latin typeface="Times New Roman" panose="02020603050405020304" pitchFamily="18" charset="0"/>
                <a:sym typeface="Symbol" pitchFamily="2" charset="2"/>
              </a:rPr>
              <a:t>]</a:t>
            </a:r>
          </a:p>
          <a:p>
            <a:pPr algn="l" eaLnBrk="1" hangingPunct="1"/>
            <a:r>
              <a:rPr lang="en-US" altLang="en-US">
                <a:solidFill>
                  <a:srgbClr val="40458C"/>
                </a:solidFill>
                <a:latin typeface="Times New Roman" panose="02020603050405020304" pitchFamily="18" charset="0"/>
                <a:sym typeface="Symbol" pitchFamily="2" charset="2"/>
              </a:rPr>
              <a:t>	</a:t>
            </a: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return</a:t>
            </a:r>
            <a:r>
              <a:rPr lang="en-US" altLang="en-US">
                <a:solidFill>
                  <a:srgbClr val="40458C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b="1" i="1">
                <a:solidFill>
                  <a:srgbClr val="577052"/>
                </a:solidFill>
                <a:latin typeface="Times New Roman" panose="02020603050405020304" pitchFamily="18" charset="0"/>
                <a:sym typeface="Symbol" pitchFamily="2" charset="2"/>
              </a:rPr>
              <a:t>currentMax</a:t>
            </a:r>
            <a:r>
              <a:rPr lang="en-US" altLang="en-US">
                <a:solidFill>
                  <a:srgbClr val="40458C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endParaRPr lang="en-US" altLang="en-US">
              <a:solidFill>
                <a:srgbClr val="40458C"/>
              </a:solidFill>
              <a:latin typeface="Times New Roman" panose="02020603050405020304" pitchFamily="18" charset="0"/>
            </a:endParaRPr>
          </a:p>
        </p:txBody>
      </p:sp>
      <p:sp>
        <p:nvSpPr>
          <p:cNvPr id="24581" name="Text Box 15">
            <a:extLst>
              <a:ext uri="{FF2B5EF4-FFF2-40B4-BE49-F238E27FC236}">
                <a16:creationId xmlns:a16="http://schemas.microsoft.com/office/drawing/2014/main" id="{666F84A7-88AD-F72D-B481-7CC10A6F20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5400" y="1595438"/>
            <a:ext cx="3581400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en-US" sz="2000">
                <a:solidFill>
                  <a:srgbClr val="40458C"/>
                </a:solidFill>
                <a:latin typeface="Tahoma" panose="020B0604030504040204" pitchFamily="34" charset="0"/>
              </a:rPr>
              <a:t>Example of Pseudocode: </a:t>
            </a:r>
          </a:p>
          <a:p>
            <a:pPr algn="l" eaLnBrk="1" hangingPunct="1">
              <a:spcBef>
                <a:spcPct val="50000"/>
              </a:spcBef>
            </a:pPr>
            <a:r>
              <a:rPr lang="en-US" altLang="en-US" sz="2000" i="1">
                <a:solidFill>
                  <a:srgbClr val="40458C"/>
                </a:solidFill>
                <a:latin typeface="Tahoma" panose="020B0604030504040204" pitchFamily="34" charset="0"/>
              </a:rPr>
              <a:t>Find max element of an array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458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45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45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245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45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45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458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2458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2458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245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45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80" grpId="0" build="allAtOnce" animBg="1"/>
      <p:bldP spid="24581" grpId="0" build="allAtOnce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EF7E74BC-6A7F-A13C-FEF7-D6E859ECE9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685800"/>
          </a:xfrm>
        </p:spPr>
        <p:txBody>
          <a:bodyPr/>
          <a:lstStyle/>
          <a:p>
            <a:pPr eaLnBrk="1" hangingPunct="1"/>
            <a:r>
              <a:rPr lang="en-US" altLang="en-US"/>
              <a:t>Pseudocode Details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86BD6881-E686-B13C-413E-DB618F66AFB2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676400"/>
            <a:ext cx="4267200" cy="4419600"/>
          </a:xfrm>
        </p:spPr>
        <p:txBody>
          <a:bodyPr/>
          <a:lstStyle/>
          <a:p>
            <a:pPr eaLnBrk="1" hangingPunct="1"/>
            <a:r>
              <a:rPr lang="en-US" altLang="en-US" sz="2200"/>
              <a:t>Method declaration</a:t>
            </a:r>
          </a:p>
          <a:p>
            <a:pPr lvl="1" eaLnBrk="1" hangingPunct="1">
              <a:buFontTx/>
              <a:buNone/>
            </a:pPr>
            <a:r>
              <a:rPr lang="en-US" altLang="en-US" sz="1800">
                <a:solidFill>
                  <a:srgbClr val="0000FF"/>
                </a:solidFill>
                <a:latin typeface="Times New Roman" panose="02020603050405020304" pitchFamily="18" charset="0"/>
              </a:rPr>
              <a:t>Algorithm </a:t>
            </a:r>
            <a:r>
              <a:rPr lang="en-US" altLang="en-US" sz="1800" i="1">
                <a:solidFill>
                  <a:srgbClr val="0000FF"/>
                </a:solidFill>
                <a:latin typeface="Times New Roman" panose="02020603050405020304" pitchFamily="18" charset="0"/>
              </a:rPr>
              <a:t>method</a:t>
            </a:r>
            <a:r>
              <a:rPr lang="en-US" altLang="en-US" sz="1800">
                <a:solidFill>
                  <a:srgbClr val="0000FF"/>
                </a:solidFill>
                <a:latin typeface="Times New Roman" panose="02020603050405020304" pitchFamily="18" charset="0"/>
              </a:rPr>
              <a:t> (</a:t>
            </a:r>
            <a:r>
              <a:rPr lang="en-US" altLang="en-US" sz="1800" i="1">
                <a:solidFill>
                  <a:srgbClr val="0000FF"/>
                </a:solidFill>
                <a:latin typeface="Times New Roman" panose="02020603050405020304" pitchFamily="18" charset="0"/>
              </a:rPr>
              <a:t>arg</a:t>
            </a:r>
            <a:r>
              <a:rPr lang="en-US" altLang="en-US" sz="1800">
                <a:solidFill>
                  <a:srgbClr val="0000FF"/>
                </a:solidFill>
                <a:latin typeface="Times New Roman" panose="02020603050405020304" pitchFamily="18" charset="0"/>
              </a:rPr>
              <a:t> [, </a:t>
            </a:r>
            <a:r>
              <a:rPr lang="en-US" altLang="en-US" sz="1800" i="1">
                <a:solidFill>
                  <a:srgbClr val="0000FF"/>
                </a:solidFill>
                <a:latin typeface="Times New Roman" panose="02020603050405020304" pitchFamily="18" charset="0"/>
              </a:rPr>
              <a:t>arg</a:t>
            </a:r>
            <a:r>
              <a:rPr lang="en-US" altLang="en-US" sz="1800">
                <a:solidFill>
                  <a:srgbClr val="0000FF"/>
                </a:solidFill>
                <a:latin typeface="Times New Roman" panose="02020603050405020304" pitchFamily="18" charset="0"/>
              </a:rPr>
              <a:t>…])</a:t>
            </a:r>
          </a:p>
          <a:p>
            <a:pPr lvl="1" eaLnBrk="1" hangingPunct="1">
              <a:buFontTx/>
              <a:buNone/>
            </a:pPr>
            <a:r>
              <a:rPr lang="en-US" altLang="en-US" sz="1800">
                <a:solidFill>
                  <a:srgbClr val="0000FF"/>
                </a:solidFill>
                <a:latin typeface="Times New Roman" panose="02020603050405020304" pitchFamily="18" charset="0"/>
              </a:rPr>
              <a:t>	Input …</a:t>
            </a:r>
          </a:p>
          <a:p>
            <a:pPr lvl="1" eaLnBrk="1" hangingPunct="1">
              <a:buFontTx/>
              <a:buNone/>
            </a:pPr>
            <a:r>
              <a:rPr lang="en-US" altLang="en-US" sz="1800">
                <a:solidFill>
                  <a:srgbClr val="0000FF"/>
                </a:solidFill>
                <a:latin typeface="Times New Roman" panose="02020603050405020304" pitchFamily="18" charset="0"/>
              </a:rPr>
              <a:t>	Output …</a:t>
            </a:r>
          </a:p>
          <a:p>
            <a:pPr lvl="1" eaLnBrk="1" hangingPunct="1">
              <a:buFontTx/>
              <a:buNone/>
            </a:pPr>
            <a:endParaRPr lang="en-US" altLang="en-US" sz="180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en-US" sz="2200"/>
              <a:t>Control flow</a:t>
            </a:r>
          </a:p>
          <a:p>
            <a:pPr lvl="1" eaLnBrk="1" hangingPunct="1"/>
            <a:r>
              <a:rPr lang="en-US" altLang="en-US" sz="1800">
                <a:solidFill>
                  <a:srgbClr val="0000FF"/>
                </a:solidFill>
              </a:rPr>
              <a:t>if … then … [else …]</a:t>
            </a:r>
          </a:p>
          <a:p>
            <a:pPr lvl="1" eaLnBrk="1" hangingPunct="1"/>
            <a:r>
              <a:rPr lang="en-US" altLang="en-US" sz="1800">
                <a:solidFill>
                  <a:srgbClr val="0000FF"/>
                </a:solidFill>
              </a:rPr>
              <a:t>while … do …</a:t>
            </a:r>
          </a:p>
          <a:p>
            <a:pPr lvl="1" eaLnBrk="1" hangingPunct="1"/>
            <a:r>
              <a:rPr lang="en-US" altLang="en-US" sz="1800">
                <a:solidFill>
                  <a:srgbClr val="0000FF"/>
                </a:solidFill>
              </a:rPr>
              <a:t>repeat … until …</a:t>
            </a:r>
          </a:p>
          <a:p>
            <a:pPr lvl="1" eaLnBrk="1" hangingPunct="1"/>
            <a:r>
              <a:rPr lang="en-US" altLang="en-US" sz="1800">
                <a:solidFill>
                  <a:srgbClr val="0000FF"/>
                </a:solidFill>
              </a:rPr>
              <a:t>for … do …</a:t>
            </a:r>
          </a:p>
          <a:p>
            <a:pPr lvl="1" eaLnBrk="1" hangingPunct="1"/>
            <a:r>
              <a:rPr lang="en-US" altLang="en-US" sz="1800">
                <a:solidFill>
                  <a:srgbClr val="0000FF"/>
                </a:solidFill>
              </a:rPr>
              <a:t>Indentation replaces braces</a:t>
            </a:r>
          </a:p>
          <a:p>
            <a:pPr lvl="1" eaLnBrk="1" hangingPunct="1"/>
            <a:endParaRPr lang="en-US" altLang="en-US" sz="1600">
              <a:solidFill>
                <a:srgbClr val="0000FF"/>
              </a:solidFill>
            </a:endParaRPr>
          </a:p>
        </p:txBody>
      </p:sp>
      <p:sp>
        <p:nvSpPr>
          <p:cNvPr id="25604" name="Rectangle 4">
            <a:extLst>
              <a:ext uri="{FF2B5EF4-FFF2-40B4-BE49-F238E27FC236}">
                <a16:creationId xmlns:a16="http://schemas.microsoft.com/office/drawing/2014/main" id="{9DA98C26-0BD6-44F3-C2F1-75228AB96FF4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4648200" y="1676400"/>
            <a:ext cx="3657600" cy="433705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200"/>
              <a:t>Method call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z="1800" b="1" i="1">
                <a:solidFill>
                  <a:srgbClr val="0000FF"/>
                </a:solidFill>
                <a:latin typeface="Times New Roman" panose="02020603050405020304" pitchFamily="18" charset="0"/>
              </a:rPr>
              <a:t>object.method </a:t>
            </a:r>
            <a:r>
              <a:rPr lang="en-US" altLang="en-US" sz="1800">
                <a:solidFill>
                  <a:srgbClr val="0000FF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latin typeface="Times New Roman" panose="02020603050405020304" pitchFamily="18" charset="0"/>
              </a:rPr>
              <a:t>arg</a:t>
            </a:r>
            <a:r>
              <a:rPr lang="en-US" altLang="en-US" sz="1800">
                <a:latin typeface="Times New Roman" panose="02020603050405020304" pitchFamily="18" charset="0"/>
              </a:rPr>
              <a:t>s</a:t>
            </a:r>
            <a:r>
              <a:rPr lang="en-US" altLang="en-US" sz="1800">
                <a:solidFill>
                  <a:srgbClr val="0000FF"/>
                </a:solidFill>
                <a:latin typeface="Times New Roman" panose="02020603050405020304" pitchFamily="18" charset="0"/>
              </a:rPr>
              <a:t>)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endParaRPr lang="en-US" altLang="en-US" sz="160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2200"/>
              <a:t>Return value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US" sz="1800" b="1">
                <a:solidFill>
                  <a:srgbClr val="0000FF"/>
                </a:solidFill>
                <a:latin typeface="Times New Roman" panose="02020603050405020304" pitchFamily="18" charset="0"/>
              </a:rPr>
              <a:t>return</a:t>
            </a:r>
            <a:r>
              <a:rPr lang="en-US" altLang="en-US" sz="180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 b="1" i="1">
                <a:latin typeface="Times New Roman" panose="02020603050405020304" pitchFamily="18" charset="0"/>
              </a:rPr>
              <a:t>expression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endParaRPr lang="en-US" altLang="en-US" sz="1600" b="1" i="1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2200"/>
              <a:t>Expressions</a:t>
            </a:r>
          </a:p>
          <a:p>
            <a:pPr lvl="1" eaLnBrk="1" hangingPunct="1">
              <a:lnSpc>
                <a:spcPct val="90000"/>
              </a:lnSpc>
              <a:buClr>
                <a:srgbClr val="000000"/>
              </a:buClr>
              <a:buFont typeface="Symbol" pitchFamily="2" charset="2"/>
              <a:buChar char="¬"/>
            </a:pPr>
            <a:r>
              <a:rPr lang="en-US" altLang="en-US" sz="1800">
                <a:sym typeface="Symbol" pitchFamily="2" charset="2"/>
              </a:rPr>
              <a:t>Assignment</a:t>
            </a:r>
            <a:br>
              <a:rPr lang="en-US" altLang="en-US" sz="1800">
                <a:sym typeface="Symbol" pitchFamily="2" charset="2"/>
              </a:rPr>
            </a:br>
            <a:r>
              <a:rPr lang="en-US" altLang="en-US" sz="1800">
                <a:sym typeface="Symbol" pitchFamily="2" charset="2"/>
              </a:rPr>
              <a:t>(like </a:t>
            </a:r>
            <a:r>
              <a:rPr lang="en-US" altLang="en-US" sz="1800">
                <a:cs typeface="Tahoma" panose="020B0604030504040204" pitchFamily="34" charset="0"/>
                <a:sym typeface="Symbol" pitchFamily="2" charset="2"/>
              </a:rPr>
              <a:t> </a:t>
            </a:r>
            <a:r>
              <a:rPr lang="en-US" altLang="en-US" sz="1800">
                <a:sym typeface="Symbol" pitchFamily="2" charset="2"/>
              </a:rPr>
              <a:t>in C)</a:t>
            </a:r>
          </a:p>
          <a:p>
            <a:pPr lvl="1" eaLnBrk="1" hangingPunct="1">
              <a:lnSpc>
                <a:spcPct val="90000"/>
              </a:lnSpc>
              <a:buClr>
                <a:srgbClr val="000000"/>
              </a:buClr>
              <a:buFont typeface="Symbol" pitchFamily="2" charset="2"/>
              <a:buChar char="="/>
            </a:pPr>
            <a:r>
              <a:rPr lang="en-US" altLang="en-US" sz="1800">
                <a:sym typeface="Symbol" pitchFamily="2" charset="2"/>
              </a:rPr>
              <a:t>Equality testing</a:t>
            </a:r>
            <a:br>
              <a:rPr lang="en-US" altLang="en-US" sz="1800">
                <a:sym typeface="Symbol" pitchFamily="2" charset="2"/>
              </a:rPr>
            </a:br>
            <a:r>
              <a:rPr lang="en-US" altLang="en-US" sz="1800">
                <a:sym typeface="Symbol" pitchFamily="2" charset="2"/>
              </a:rPr>
              <a:t>(like </a:t>
            </a:r>
            <a:r>
              <a:rPr lang="en-US" altLang="en-US" sz="1800">
                <a:cs typeface="Tahoma" panose="020B0604030504040204" pitchFamily="34" charset="0"/>
                <a:sym typeface="Symbol" pitchFamily="2" charset="2"/>
              </a:rPr>
              <a:t> in C)</a:t>
            </a:r>
          </a:p>
          <a:p>
            <a:pPr lvl="1" eaLnBrk="1" hangingPunct="1">
              <a:lnSpc>
                <a:spcPct val="90000"/>
              </a:lnSpc>
              <a:buClr>
                <a:srgbClr val="000000"/>
              </a:buClr>
              <a:buFont typeface="Symbol" pitchFamily="2" charset="2"/>
              <a:buNone/>
            </a:pPr>
            <a:r>
              <a:rPr lang="en-US" altLang="en-US" sz="1800" b="1" i="1">
                <a:solidFill>
                  <a:schemeClr val="accent2"/>
                </a:solidFill>
                <a:latin typeface="Times New Roman" panose="02020603050405020304" pitchFamily="18" charset="0"/>
                <a:cs typeface="Tahoma" panose="020B0604030504040204" pitchFamily="34" charset="0"/>
                <a:sym typeface="Symbol" pitchFamily="2" charset="2"/>
              </a:rPr>
              <a:t>n</a:t>
            </a:r>
            <a:r>
              <a:rPr lang="en-US" altLang="en-US" sz="1800" baseline="30000">
                <a:solidFill>
                  <a:schemeClr val="accent2"/>
                </a:solidFill>
                <a:latin typeface="Times New Roman" panose="02020603050405020304" pitchFamily="18" charset="0"/>
                <a:cs typeface="Tahoma" panose="020B0604030504040204" pitchFamily="34" charset="0"/>
                <a:sym typeface="Symbol" pitchFamily="2" charset="2"/>
              </a:rPr>
              <a:t>2	</a:t>
            </a:r>
            <a:r>
              <a:rPr lang="en-US" altLang="en-US" sz="1800">
                <a:cs typeface="Tahoma" panose="020B0604030504040204" pitchFamily="34" charset="0"/>
                <a:sym typeface="Symbol" pitchFamily="2" charset="2"/>
              </a:rPr>
              <a:t>Superscripts and other mathematical formatting allowed</a:t>
            </a:r>
            <a:endParaRPr lang="en-US" altLang="en-US" sz="1800" baseline="30000">
              <a:cs typeface="Tahoma" panose="020B0604030504040204" pitchFamily="34" charset="0"/>
              <a:sym typeface="Symbol" pitchFamily="2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n-US" sz="1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7427A844-8709-F847-9D1B-0F1C0A7890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838200"/>
          </a:xfrm>
        </p:spPr>
        <p:txBody>
          <a:bodyPr/>
          <a:lstStyle/>
          <a:p>
            <a:pPr eaLnBrk="1" hangingPunct="1"/>
            <a:r>
              <a:rPr lang="en-US" altLang="en-US"/>
              <a:t>Primitive Operations</a:t>
            </a:r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13602999-3842-5F44-3BF2-DF3C90D57859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219200"/>
            <a:ext cx="3962400" cy="3352800"/>
          </a:xfrm>
        </p:spPr>
        <p:txBody>
          <a:bodyPr/>
          <a:lstStyle/>
          <a:p>
            <a:pPr eaLnBrk="1" hangingPunct="1"/>
            <a:r>
              <a:rPr lang="en-US" altLang="en-US" sz="2200" dirty="0"/>
              <a:t>Basic computations performed by an algorithm</a:t>
            </a:r>
          </a:p>
          <a:p>
            <a:pPr eaLnBrk="1" hangingPunct="1"/>
            <a:endParaRPr lang="en-US" altLang="en-US" sz="2200" dirty="0"/>
          </a:p>
          <a:p>
            <a:pPr eaLnBrk="1" hangingPunct="1"/>
            <a:r>
              <a:rPr lang="en-US" altLang="en-US" sz="2200" dirty="0"/>
              <a:t>Identifiable in pseudocode</a:t>
            </a:r>
          </a:p>
          <a:p>
            <a:pPr eaLnBrk="1" hangingPunct="1"/>
            <a:endParaRPr lang="en-US" altLang="en-US" sz="2200" dirty="0"/>
          </a:p>
          <a:p>
            <a:pPr eaLnBrk="1" hangingPunct="1"/>
            <a:r>
              <a:rPr lang="en-US" altLang="en-US" sz="2200" dirty="0"/>
              <a:t>Largely independent from the programming language or hardware environment</a:t>
            </a:r>
          </a:p>
          <a:p>
            <a:pPr eaLnBrk="1" hangingPunct="1"/>
            <a:endParaRPr lang="en-US" altLang="en-US" sz="1800" dirty="0"/>
          </a:p>
        </p:txBody>
      </p:sp>
      <p:sp>
        <p:nvSpPr>
          <p:cNvPr id="26628" name="Rectangle 4">
            <a:extLst>
              <a:ext uri="{FF2B5EF4-FFF2-40B4-BE49-F238E27FC236}">
                <a16:creationId xmlns:a16="http://schemas.microsoft.com/office/drawing/2014/main" id="{D15ABA05-4762-2E03-21F0-ACEA5FFEF92B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4648200" y="1219200"/>
            <a:ext cx="4038600" cy="4191000"/>
          </a:xfrm>
        </p:spPr>
        <p:txBody>
          <a:bodyPr/>
          <a:lstStyle/>
          <a:p>
            <a:pPr eaLnBrk="1" hangingPunct="1"/>
            <a:r>
              <a:rPr lang="en-US" altLang="en-US" sz="2200"/>
              <a:t>Examples:</a:t>
            </a:r>
          </a:p>
          <a:p>
            <a:pPr lvl="1" eaLnBrk="1" hangingPunct="1"/>
            <a:r>
              <a:rPr lang="en-US" altLang="en-US" sz="1800"/>
              <a:t>Evaluating an expression (e.g., addition, subtraction, etc.)</a:t>
            </a:r>
          </a:p>
          <a:p>
            <a:pPr lvl="1" eaLnBrk="1" hangingPunct="1"/>
            <a:endParaRPr lang="en-US" altLang="en-US" sz="1200"/>
          </a:p>
          <a:p>
            <a:pPr lvl="1" eaLnBrk="1" hangingPunct="1"/>
            <a:r>
              <a:rPr lang="en-US" altLang="en-US" sz="1800"/>
              <a:t>Assigning a value to a variable</a:t>
            </a:r>
          </a:p>
          <a:p>
            <a:pPr lvl="1" eaLnBrk="1" hangingPunct="1"/>
            <a:endParaRPr lang="en-US" altLang="en-US" sz="1200"/>
          </a:p>
          <a:p>
            <a:pPr lvl="1" eaLnBrk="1" hangingPunct="1"/>
            <a:r>
              <a:rPr lang="en-US" altLang="en-US" sz="1800"/>
              <a:t>Comparing two numbers</a:t>
            </a:r>
          </a:p>
          <a:p>
            <a:pPr lvl="1" eaLnBrk="1" hangingPunct="1"/>
            <a:endParaRPr lang="en-US" altLang="en-US" sz="1200"/>
          </a:p>
          <a:p>
            <a:pPr lvl="1" eaLnBrk="1" hangingPunct="1"/>
            <a:r>
              <a:rPr lang="en-US" altLang="en-US" sz="1800"/>
              <a:t>Indexing into an array</a:t>
            </a:r>
          </a:p>
          <a:p>
            <a:pPr lvl="1" eaLnBrk="1" hangingPunct="1"/>
            <a:endParaRPr lang="en-US" altLang="en-US" sz="1200"/>
          </a:p>
          <a:p>
            <a:pPr lvl="1" eaLnBrk="1" hangingPunct="1"/>
            <a:r>
              <a:rPr lang="en-US" altLang="en-US" sz="1800"/>
              <a:t>Calling a method</a:t>
            </a:r>
          </a:p>
          <a:p>
            <a:pPr lvl="1" eaLnBrk="1" hangingPunct="1"/>
            <a:endParaRPr lang="en-US" altLang="en-US" sz="1200"/>
          </a:p>
          <a:p>
            <a:pPr lvl="1" eaLnBrk="1" hangingPunct="1"/>
            <a:r>
              <a:rPr lang="en-US" altLang="en-US" sz="1800"/>
              <a:t>Returning from a method</a:t>
            </a:r>
          </a:p>
        </p:txBody>
      </p:sp>
      <p:sp>
        <p:nvSpPr>
          <p:cNvPr id="26629" name="Text Box 6">
            <a:extLst>
              <a:ext uri="{FF2B5EF4-FFF2-40B4-BE49-F238E27FC236}">
                <a16:creationId xmlns:a16="http://schemas.microsoft.com/office/drawing/2014/main" id="{F6F232A0-AD9F-7C8F-0891-09C18C33E7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5410200"/>
            <a:ext cx="8229600" cy="861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000" dirty="0">
                <a:solidFill>
                  <a:srgbClr val="C00000"/>
                </a:solidFill>
              </a:rPr>
              <a:t>The idea: 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sz="2000" dirty="0"/>
              <a:t>Count the number of primitive operations, to estimate the running time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2BC0689D-DCA4-EBD4-C679-D640248CC0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152400"/>
            <a:ext cx="7924800" cy="762000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Counting Primitive Operations: Iterative Algorithms</a:t>
            </a:r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CA2DABF6-E12D-1348-39BF-E5755045F23F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533400" y="1219200"/>
            <a:ext cx="8077200" cy="990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200"/>
              <a:t>By inspecting the pseudocode, we can determine the </a:t>
            </a:r>
            <a:r>
              <a:rPr lang="en-US" altLang="en-US" sz="2200">
                <a:solidFill>
                  <a:srgbClr val="C00000"/>
                </a:solidFill>
              </a:rPr>
              <a:t>maximum number of primitive operations </a:t>
            </a:r>
            <a:r>
              <a:rPr lang="en-US" altLang="en-US" sz="2200"/>
              <a:t>executed by an algorithm</a:t>
            </a:r>
            <a:r>
              <a:rPr lang="en-US" altLang="en-US" sz="2200">
                <a:solidFill>
                  <a:srgbClr val="C00000"/>
                </a:solidFill>
              </a:rPr>
              <a:t>, as a function of the input size</a:t>
            </a:r>
          </a:p>
        </p:txBody>
      </p:sp>
      <p:sp>
        <p:nvSpPr>
          <p:cNvPr id="28676" name="Rectangle 4">
            <a:extLst>
              <a:ext uri="{FF2B5EF4-FFF2-40B4-BE49-F238E27FC236}">
                <a16:creationId xmlns:a16="http://schemas.microsoft.com/office/drawing/2014/main" id="{45CEFA29-8A56-1ADC-A861-0A0F84B47FB5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990600" y="2743200"/>
            <a:ext cx="7010400" cy="3276600"/>
          </a:xfrm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Algorithm</a:t>
            </a:r>
            <a:r>
              <a:rPr lang="en-US" altLang="en-US" sz="1800" dirty="0">
                <a:latin typeface="Times New Roman" panose="02020603050405020304" pitchFamily="18" charset="0"/>
              </a:rPr>
              <a:t> </a:t>
            </a:r>
            <a:r>
              <a:rPr lang="en-US" altLang="en-US" sz="1800" b="1" i="1" dirty="0" err="1">
                <a:solidFill>
                  <a:schemeClr val="tx2"/>
                </a:solidFill>
                <a:latin typeface="Times New Roman" panose="02020603050405020304" pitchFamily="18" charset="0"/>
              </a:rPr>
              <a:t>arrayMax</a:t>
            </a:r>
            <a:r>
              <a:rPr lang="en-US" altLang="en-US" sz="1800" dirty="0">
                <a:solidFill>
                  <a:schemeClr val="tx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18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A</a:t>
            </a:r>
            <a:r>
              <a:rPr lang="en-US" altLang="en-US" sz="1800" dirty="0">
                <a:solidFill>
                  <a:schemeClr val="tx2"/>
                </a:solidFill>
                <a:latin typeface="Times New Roman" panose="02020603050405020304" pitchFamily="18" charset="0"/>
              </a:rPr>
              <a:t>, </a:t>
            </a:r>
            <a:r>
              <a:rPr lang="en-US" altLang="en-US" sz="18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n</a:t>
            </a:r>
            <a:r>
              <a:rPr lang="en-US" altLang="en-US" sz="1800" dirty="0">
                <a:solidFill>
                  <a:schemeClr val="tx2"/>
                </a:solidFill>
                <a:latin typeface="Times New Roman" panose="02020603050405020304" pitchFamily="18" charset="0"/>
              </a:rPr>
              <a:t>)</a:t>
            </a:r>
          </a:p>
          <a:p>
            <a:pPr eaLnBrk="1" hangingPunct="1">
              <a:lnSpc>
                <a:spcPct val="0"/>
              </a:lnSpc>
              <a:spcBef>
                <a:spcPct val="0"/>
              </a:spcBef>
              <a:buFontTx/>
              <a:buNone/>
            </a:pPr>
            <a:r>
              <a:rPr lang="en-US" altLang="en-US" sz="1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1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				</a:t>
            </a:r>
            <a:r>
              <a:rPr lang="en-US" altLang="en-US" sz="1800" b="1" i="1" dirty="0">
                <a:solidFill>
                  <a:schemeClr val="accent2"/>
                </a:solidFill>
                <a:latin typeface="Times New Roman" panose="02020603050405020304" pitchFamily="18" charset="0"/>
              </a:rPr>
              <a:t>	     </a:t>
            </a:r>
            <a:r>
              <a:rPr lang="en-US" altLang="en-US" sz="1800" dirty="0"/>
              <a:t># operations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solidFill>
                  <a:schemeClr val="tx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1800" b="1" i="1" dirty="0" err="1">
                <a:solidFill>
                  <a:schemeClr val="accent2"/>
                </a:solidFill>
                <a:latin typeface="Times New Roman" panose="02020603050405020304" pitchFamily="18" charset="0"/>
              </a:rPr>
              <a:t>currentMax</a:t>
            </a:r>
            <a:r>
              <a:rPr lang="en-US" altLang="en-US" sz="1800" dirty="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 dirty="0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</a:t>
            </a:r>
            <a:r>
              <a:rPr lang="en-US" altLang="en-US" sz="1800" dirty="0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sz="1800" b="1" i="1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A</a:t>
            </a:r>
            <a:r>
              <a:rPr lang="en-US" altLang="en-US" sz="1800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[0]			     </a:t>
            </a:r>
            <a:r>
              <a:rPr lang="en-US" altLang="en-US" sz="1800" dirty="0">
                <a:latin typeface="Times New Roman" panose="02020603050405020304" pitchFamily="18" charset="0"/>
                <a:sym typeface="Symbol" pitchFamily="2" charset="2"/>
              </a:rPr>
              <a:t>2</a:t>
            </a:r>
            <a:endParaRPr lang="en-US" altLang="en-US" sz="1800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Times New Roman" panose="02020603050405020304" pitchFamily="18" charset="0"/>
              </a:rPr>
              <a:t>	</a:t>
            </a:r>
            <a:r>
              <a:rPr lang="en-US" altLang="en-US" sz="1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for</a:t>
            </a:r>
            <a:r>
              <a:rPr lang="en-US" altLang="en-US" sz="1800" dirty="0">
                <a:latin typeface="Times New Roman" panose="02020603050405020304" pitchFamily="18" charset="0"/>
              </a:rPr>
              <a:t> </a:t>
            </a:r>
            <a:r>
              <a:rPr lang="en-US" altLang="en-US" sz="1800" b="1" i="1" dirty="0" err="1">
                <a:solidFill>
                  <a:schemeClr val="accent2"/>
                </a:solidFill>
                <a:latin typeface="Times New Roman" panose="02020603050405020304" pitchFamily="18" charset="0"/>
              </a:rPr>
              <a:t>i</a:t>
            </a:r>
            <a:r>
              <a:rPr lang="en-US" altLang="en-US" sz="1800" dirty="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800" dirty="0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</a:t>
            </a:r>
            <a:r>
              <a:rPr lang="en-US" altLang="en-US" sz="1800" dirty="0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sz="1800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1</a:t>
            </a:r>
            <a:r>
              <a:rPr lang="en-US" altLang="en-US" sz="1800" dirty="0"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sz="1800" b="1" dirty="0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to</a:t>
            </a:r>
            <a:r>
              <a:rPr lang="en-US" altLang="en-US" sz="1800" dirty="0"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sz="1800" b="1" i="1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n</a:t>
            </a:r>
            <a:r>
              <a:rPr lang="en-US" altLang="en-US" sz="1800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sz="1800" dirty="0">
                <a:solidFill>
                  <a:schemeClr val="accent2"/>
                </a:solidFill>
                <a:latin typeface="Symbol" pitchFamily="2" charset="2"/>
                <a:sym typeface="Symbol" pitchFamily="2" charset="2"/>
              </a:rPr>
              <a:t></a:t>
            </a:r>
            <a:r>
              <a:rPr lang="en-US" altLang="en-US" sz="1800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 1</a:t>
            </a:r>
            <a:r>
              <a:rPr lang="en-US" altLang="en-US" sz="1800" dirty="0"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sz="1800" b="1" dirty="0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do			     </a:t>
            </a:r>
            <a:r>
              <a:rPr lang="en-US" altLang="en-US" sz="1800" b="1" i="1" dirty="0">
                <a:latin typeface="Times New Roman" panose="02020603050405020304" pitchFamily="18" charset="0"/>
                <a:sym typeface="Symbol" pitchFamily="2" charset="2"/>
              </a:rPr>
              <a:t>n+</a:t>
            </a:r>
            <a:r>
              <a:rPr lang="en-US" altLang="en-US" sz="1800" dirty="0">
                <a:latin typeface="Times New Roman" panose="02020603050405020304" pitchFamily="18" charset="0"/>
                <a:sym typeface="Symbol" pitchFamily="2" charset="2"/>
              </a:rPr>
              <a:t>1</a:t>
            </a:r>
            <a:r>
              <a:rPr lang="en-US" altLang="en-US" sz="1800" b="1" i="1" dirty="0">
                <a:latin typeface="Times New Roman" panose="02020603050405020304" pitchFamily="18" charset="0"/>
                <a:sym typeface="Symbol" pitchFamily="2" charset="2"/>
              </a:rPr>
              <a:t>   </a:t>
            </a:r>
            <a:r>
              <a:rPr lang="en-US" altLang="en-US" sz="1800" dirty="0">
                <a:solidFill>
                  <a:srgbClr val="FF6600"/>
                </a:solidFill>
                <a:latin typeface="Times New Roman" panose="02020603050405020304" pitchFamily="18" charset="0"/>
                <a:sym typeface="Symbol" pitchFamily="2" charset="2"/>
              </a:rPr>
              <a:t>(if </a:t>
            </a:r>
            <a:r>
              <a:rPr lang="en-US" altLang="en-US" sz="1800" dirty="0" err="1">
                <a:solidFill>
                  <a:srgbClr val="FF6600"/>
                </a:solidFill>
                <a:latin typeface="Times New Roman" panose="02020603050405020304" pitchFamily="18" charset="0"/>
                <a:sym typeface="Symbol" pitchFamily="2" charset="2"/>
              </a:rPr>
              <a:t>i</a:t>
            </a:r>
            <a:r>
              <a:rPr lang="en-US" altLang="en-US" sz="1800" dirty="0">
                <a:solidFill>
                  <a:srgbClr val="FF6600"/>
                </a:solidFill>
                <a:latin typeface="Times New Roman" panose="02020603050405020304" pitchFamily="18" charset="0"/>
                <a:sym typeface="Symbol" pitchFamily="2" charset="2"/>
              </a:rPr>
              <a:t> &lt; n?)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Times New Roman" panose="02020603050405020304" pitchFamily="18" charset="0"/>
                <a:sym typeface="Symbol" pitchFamily="2" charset="2"/>
              </a:rPr>
              <a:t>		</a:t>
            </a:r>
            <a:r>
              <a:rPr lang="en-US" altLang="en-US" sz="1800" b="1" dirty="0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if</a:t>
            </a:r>
            <a:r>
              <a:rPr lang="en-US" altLang="en-US" sz="1800" dirty="0"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sz="1800" b="1" i="1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A</a:t>
            </a:r>
            <a:r>
              <a:rPr lang="en-US" altLang="en-US" sz="1800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[</a:t>
            </a:r>
            <a:r>
              <a:rPr lang="en-US" altLang="en-US" sz="1800" i="1" dirty="0" err="1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i</a:t>
            </a:r>
            <a:r>
              <a:rPr lang="en-US" altLang="en-US" sz="1800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]  </a:t>
            </a:r>
            <a:r>
              <a:rPr lang="en-US" altLang="en-US" sz="1800" b="1" i="1" dirty="0" err="1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currentMax</a:t>
            </a:r>
            <a:r>
              <a:rPr lang="en-US" altLang="en-US" sz="1800" dirty="0"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sz="1800" b="1" dirty="0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then		     </a:t>
            </a:r>
            <a:r>
              <a:rPr lang="en-US" altLang="en-US" sz="1800" dirty="0">
                <a:latin typeface="Times New Roman" panose="02020603050405020304" pitchFamily="18" charset="0"/>
                <a:sym typeface="Symbol" pitchFamily="2" charset="2"/>
              </a:rPr>
              <a:t>2(</a:t>
            </a:r>
            <a:r>
              <a:rPr lang="en-US" altLang="en-US" sz="1800" b="1" i="1" dirty="0">
                <a:latin typeface="Times New Roman" panose="02020603050405020304" pitchFamily="18" charset="0"/>
                <a:sym typeface="Symbol" pitchFamily="2" charset="2"/>
              </a:rPr>
              <a:t>n</a:t>
            </a:r>
            <a:r>
              <a:rPr lang="en-US" altLang="en-US" sz="1800" dirty="0"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sz="1800" dirty="0">
                <a:latin typeface="Symbol" pitchFamily="2" charset="2"/>
                <a:sym typeface="Symbol" pitchFamily="2" charset="2"/>
              </a:rPr>
              <a:t></a:t>
            </a:r>
            <a:r>
              <a:rPr lang="en-US" altLang="en-US" sz="1800" dirty="0">
                <a:latin typeface="Times New Roman" panose="02020603050405020304" pitchFamily="18" charset="0"/>
                <a:sym typeface="Symbol" pitchFamily="2" charset="2"/>
              </a:rPr>
              <a:t> 1)</a:t>
            </a:r>
            <a:endParaRPr lang="en-US" altLang="en-US" sz="1800" b="1" dirty="0">
              <a:latin typeface="Times New Roman" panose="02020603050405020304" pitchFamily="18" charset="0"/>
              <a:sym typeface="Symbol" pitchFamily="2" charset="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Times New Roman" panose="02020603050405020304" pitchFamily="18" charset="0"/>
                <a:sym typeface="Symbol" pitchFamily="2" charset="2"/>
              </a:rPr>
              <a:t>			</a:t>
            </a:r>
            <a:r>
              <a:rPr lang="en-US" altLang="en-US" sz="1800" b="1" i="1" dirty="0" err="1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currentMax</a:t>
            </a:r>
            <a:r>
              <a:rPr lang="en-US" altLang="en-US" sz="1800" dirty="0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sz="1800" dirty="0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</a:t>
            </a:r>
            <a:r>
              <a:rPr lang="en-US" altLang="en-US" sz="1800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sz="1800" b="1" i="1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A</a:t>
            </a:r>
            <a:r>
              <a:rPr lang="en-US" altLang="en-US" sz="1800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[</a:t>
            </a:r>
            <a:r>
              <a:rPr lang="en-US" altLang="en-US" sz="1800" b="1" i="1" dirty="0" err="1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i</a:t>
            </a:r>
            <a:r>
              <a:rPr lang="en-US" altLang="en-US" sz="1800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]	     </a:t>
            </a:r>
            <a:r>
              <a:rPr lang="en-US" altLang="en-US" sz="1800" dirty="0">
                <a:latin typeface="Times New Roman" panose="02020603050405020304" pitchFamily="18" charset="0"/>
                <a:sym typeface="Symbol" pitchFamily="2" charset="2"/>
              </a:rPr>
              <a:t>2(</a:t>
            </a:r>
            <a:r>
              <a:rPr lang="en-US" altLang="en-US" sz="1800" b="1" i="1" dirty="0">
                <a:latin typeface="Times New Roman" panose="02020603050405020304" pitchFamily="18" charset="0"/>
                <a:sym typeface="Symbol" pitchFamily="2" charset="2"/>
              </a:rPr>
              <a:t>n</a:t>
            </a:r>
            <a:r>
              <a:rPr lang="en-US" altLang="en-US" sz="1800" dirty="0"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sz="1800" dirty="0">
                <a:latin typeface="Symbol" pitchFamily="2" charset="2"/>
                <a:sym typeface="Symbol" pitchFamily="2" charset="2"/>
              </a:rPr>
              <a:t></a:t>
            </a:r>
            <a:r>
              <a:rPr lang="en-US" altLang="en-US" sz="1800" dirty="0">
                <a:latin typeface="Times New Roman" panose="02020603050405020304" pitchFamily="18" charset="0"/>
                <a:sym typeface="Symbol" pitchFamily="2" charset="2"/>
              </a:rPr>
              <a:t> 1) </a:t>
            </a:r>
            <a:r>
              <a:rPr lang="en-US" altLang="en-US" sz="1800" dirty="0">
                <a:solidFill>
                  <a:srgbClr val="FF6600"/>
                </a:solidFill>
                <a:latin typeface="Times New Roman" panose="02020603050405020304" pitchFamily="18" charset="0"/>
                <a:sym typeface="Symbol" pitchFamily="2" charset="2"/>
              </a:rPr>
              <a:t>(Y/N?)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Times New Roman" panose="02020603050405020304" pitchFamily="18" charset="0"/>
                <a:sym typeface="Symbol" pitchFamily="2" charset="2"/>
              </a:rPr>
              <a:t>	{ increment counter </a:t>
            </a:r>
            <a:r>
              <a:rPr lang="en-US" altLang="en-US" sz="1800" b="1" i="1" dirty="0" err="1">
                <a:latin typeface="Times New Roman" panose="02020603050405020304" pitchFamily="18" charset="0"/>
                <a:sym typeface="Symbol" pitchFamily="2" charset="2"/>
              </a:rPr>
              <a:t>i</a:t>
            </a:r>
            <a:r>
              <a:rPr lang="en-US" altLang="en-US" sz="1800" dirty="0">
                <a:latin typeface="Times New Roman" panose="02020603050405020304" pitchFamily="18" charset="0"/>
                <a:sym typeface="Symbol" pitchFamily="2" charset="2"/>
              </a:rPr>
              <a:t> }			     2(</a:t>
            </a:r>
            <a:r>
              <a:rPr lang="en-US" altLang="en-US" sz="1800" b="1" i="1" dirty="0">
                <a:latin typeface="Times New Roman" panose="02020603050405020304" pitchFamily="18" charset="0"/>
                <a:sym typeface="Symbol" pitchFamily="2" charset="2"/>
              </a:rPr>
              <a:t>n</a:t>
            </a:r>
            <a:r>
              <a:rPr lang="en-US" altLang="en-US" sz="1800" dirty="0"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sz="1800" dirty="0">
                <a:latin typeface="Symbol" pitchFamily="2" charset="2"/>
                <a:sym typeface="Symbol" pitchFamily="2" charset="2"/>
              </a:rPr>
              <a:t></a:t>
            </a:r>
            <a:r>
              <a:rPr lang="en-US" altLang="en-US" sz="1800" dirty="0">
                <a:latin typeface="Times New Roman" panose="02020603050405020304" pitchFamily="18" charset="0"/>
                <a:sym typeface="Symbol" pitchFamily="2" charset="2"/>
              </a:rPr>
              <a:t> 1)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 dirty="0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	return</a:t>
            </a:r>
            <a:r>
              <a:rPr lang="en-US" altLang="en-US" sz="1800" dirty="0"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sz="1800" b="1" i="1" dirty="0" err="1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currentMax</a:t>
            </a:r>
            <a:r>
              <a:rPr lang="en-US" altLang="en-US" sz="1800" b="1" i="1" dirty="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			     </a:t>
            </a:r>
            <a:r>
              <a:rPr lang="en-US" altLang="en-US" sz="1800" dirty="0">
                <a:latin typeface="Times New Roman" panose="02020603050405020304" pitchFamily="18" charset="0"/>
                <a:sym typeface="Symbol" pitchFamily="2" charset="2"/>
              </a:rPr>
              <a:t>1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Times New Roman" panose="02020603050405020304" pitchFamily="18" charset="0"/>
                <a:sym typeface="Symbol" pitchFamily="2" charset="2"/>
              </a:rPr>
              <a:t>					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Times New Roman" panose="02020603050405020304" pitchFamily="18" charset="0"/>
                <a:sym typeface="Symbol" pitchFamily="2" charset="2"/>
              </a:rPr>
              <a:t>					at least:         5n  </a:t>
            </a:r>
            <a:r>
              <a:rPr lang="en-US" altLang="en-US" sz="1800" dirty="0">
                <a:solidFill>
                  <a:srgbClr val="FF6600"/>
                </a:solidFill>
                <a:latin typeface="Times New Roman" panose="02020603050405020304" pitchFamily="18" charset="0"/>
                <a:sym typeface="Symbol" pitchFamily="2" charset="2"/>
              </a:rPr>
              <a:t>(N)</a:t>
            </a:r>
            <a:endParaRPr lang="en-US" altLang="en-US" sz="1800" dirty="0">
              <a:latin typeface="Times New Roman" panose="02020603050405020304" pitchFamily="18" charset="0"/>
              <a:sym typeface="Symbol" pitchFamily="2" charset="2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en-US" sz="1800" dirty="0">
                <a:latin typeface="Times New Roman" panose="02020603050405020304" pitchFamily="18" charset="0"/>
                <a:sym typeface="Symbol" pitchFamily="2" charset="2"/>
              </a:rPr>
              <a:t>					at most:	     7</a:t>
            </a:r>
            <a:r>
              <a:rPr lang="en-US" altLang="en-US" sz="1800" b="1" i="1" dirty="0">
                <a:latin typeface="Times New Roman" panose="02020603050405020304" pitchFamily="18" charset="0"/>
                <a:sym typeface="Symbol" pitchFamily="2" charset="2"/>
              </a:rPr>
              <a:t>n</a:t>
            </a:r>
            <a:r>
              <a:rPr lang="en-US" altLang="en-US" sz="1800" dirty="0">
                <a:latin typeface="Times New Roman" panose="02020603050405020304" pitchFamily="18" charset="0"/>
                <a:sym typeface="Symbol" pitchFamily="2" charset="2"/>
              </a:rPr>
              <a:t>  2   </a:t>
            </a:r>
            <a:r>
              <a:rPr lang="en-US" altLang="en-US" sz="1800" dirty="0">
                <a:solidFill>
                  <a:srgbClr val="FF6600"/>
                </a:solidFill>
                <a:latin typeface="Times New Roman" panose="02020603050405020304" pitchFamily="18" charset="0"/>
                <a:sym typeface="Symbol" pitchFamily="2" charset="2"/>
              </a:rPr>
              <a:t>(Y)</a:t>
            </a:r>
            <a:endParaRPr lang="en-US" altLang="en-US" sz="1800" dirty="0">
              <a:latin typeface="Times New Roman" panose="02020603050405020304" pitchFamily="18" charset="0"/>
              <a:sym typeface="Symbol" pitchFamily="2" charset="2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endParaRPr lang="en-US" altLang="en-US" sz="1800" dirty="0">
              <a:latin typeface="Times New Roman" panose="02020603050405020304" pitchFamily="18" charset="0"/>
              <a:sym typeface="Symbol" pitchFamily="2" charset="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15E0D297-64D8-A032-30F7-4704E58252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152400"/>
            <a:ext cx="8001000" cy="762000"/>
          </a:xfrm>
        </p:spPr>
        <p:txBody>
          <a:bodyPr/>
          <a:lstStyle/>
          <a:p>
            <a:pPr eaLnBrk="1" hangingPunct="1"/>
            <a:r>
              <a:rPr lang="en-US" altLang="en-US" sz="2400"/>
              <a:t>Counting Primitive Operations: Recursive Algorithms</a:t>
            </a:r>
          </a:p>
        </p:txBody>
      </p:sp>
      <p:sp>
        <p:nvSpPr>
          <p:cNvPr id="29699" name="Rectangle 4">
            <a:extLst>
              <a:ext uri="{FF2B5EF4-FFF2-40B4-BE49-F238E27FC236}">
                <a16:creationId xmlns:a16="http://schemas.microsoft.com/office/drawing/2014/main" id="{06AB725E-4452-D983-E43B-FB95D63873E8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762000" y="2743200"/>
            <a:ext cx="7620000" cy="3581400"/>
          </a:xfrm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2000" b="1">
                <a:solidFill>
                  <a:srgbClr val="000000"/>
                </a:solidFill>
                <a:latin typeface="Times New Roman" panose="02020603050405020304" pitchFamily="18" charset="0"/>
              </a:rPr>
              <a:t>Algorithm</a:t>
            </a:r>
            <a:r>
              <a:rPr lang="en-US" altLang="en-US" sz="2000">
                <a:latin typeface="Times New Roman" panose="02020603050405020304" pitchFamily="18" charset="0"/>
              </a:rPr>
              <a:t> </a:t>
            </a:r>
            <a:r>
              <a:rPr lang="en-US" altLang="en-US" sz="2000" b="1" i="1">
                <a:latin typeface="Times New Roman" panose="02020603050405020304" pitchFamily="18" charset="0"/>
                <a:sym typeface="Symbol" pitchFamily="2" charset="2"/>
              </a:rPr>
              <a:t>recursive</a:t>
            </a:r>
            <a:r>
              <a:rPr lang="en-US" altLang="en-US" sz="2000" b="1" i="1">
                <a:latin typeface="Times New Roman" panose="02020603050405020304" pitchFamily="18" charset="0"/>
              </a:rPr>
              <a:t>Max</a:t>
            </a:r>
            <a:r>
              <a:rPr lang="en-US" altLang="en-US" sz="2000">
                <a:latin typeface="Times New Roman" panose="02020603050405020304" pitchFamily="18" charset="0"/>
              </a:rPr>
              <a:t>(</a:t>
            </a:r>
            <a:r>
              <a:rPr lang="en-US" altLang="en-US" sz="2000" b="1" i="1">
                <a:latin typeface="Times New Roman" panose="02020603050405020304" pitchFamily="18" charset="0"/>
              </a:rPr>
              <a:t>A</a:t>
            </a:r>
            <a:r>
              <a:rPr lang="en-US" altLang="en-US" sz="2000">
                <a:solidFill>
                  <a:schemeClr val="tx2"/>
                </a:solidFill>
                <a:latin typeface="Times New Roman" panose="02020603050405020304" pitchFamily="18" charset="0"/>
              </a:rPr>
              <a:t>, </a:t>
            </a:r>
            <a:r>
              <a:rPr lang="en-US" altLang="en-US" sz="2000" b="1" i="1">
                <a:solidFill>
                  <a:schemeClr val="tx2"/>
                </a:solidFill>
                <a:latin typeface="Times New Roman" panose="02020603050405020304" pitchFamily="18" charset="0"/>
              </a:rPr>
              <a:t>n</a:t>
            </a:r>
            <a:r>
              <a:rPr lang="en-US" altLang="en-US" sz="2000">
                <a:solidFill>
                  <a:schemeClr val="tx2"/>
                </a:solidFill>
                <a:latin typeface="Times New Roman" panose="02020603050405020304" pitchFamily="18" charset="0"/>
              </a:rPr>
              <a:t>)</a:t>
            </a:r>
          </a:p>
          <a:p>
            <a:pPr eaLnBrk="1" hangingPunct="1">
              <a:lnSpc>
                <a:spcPct val="0"/>
              </a:lnSpc>
              <a:spcBef>
                <a:spcPct val="0"/>
              </a:spcBef>
              <a:buFontTx/>
              <a:buNone/>
            </a:pPr>
            <a:r>
              <a:rPr lang="en-US" altLang="en-US" sz="2000" b="1">
                <a:solidFill>
                  <a:schemeClr val="tx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2000" b="1">
                <a:solidFill>
                  <a:srgbClr val="000000"/>
                </a:solidFill>
                <a:latin typeface="Times New Roman" panose="02020603050405020304" pitchFamily="18" charset="0"/>
              </a:rPr>
              <a:t>				</a:t>
            </a:r>
            <a:r>
              <a:rPr lang="en-US" altLang="en-US" sz="20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	     </a:t>
            </a:r>
            <a:r>
              <a:rPr lang="en-US" altLang="en-US" sz="2000"/>
              <a:t># operations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chemeClr val="tx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2000" b="1">
                <a:solidFill>
                  <a:schemeClr val="tx2"/>
                </a:solidFill>
                <a:latin typeface="Times New Roman" panose="02020603050405020304" pitchFamily="18" charset="0"/>
              </a:rPr>
              <a:t>if</a:t>
            </a:r>
            <a:r>
              <a:rPr lang="en-US" altLang="en-US" sz="2000">
                <a:solidFill>
                  <a:schemeClr val="tx2"/>
                </a:solidFill>
                <a:latin typeface="Times New Roman" panose="02020603050405020304" pitchFamily="18" charset="0"/>
              </a:rPr>
              <a:t> n = 1 </a:t>
            </a:r>
            <a:r>
              <a:rPr lang="en-US" altLang="en-US" sz="2000" b="1">
                <a:solidFill>
                  <a:schemeClr val="tx2"/>
                </a:solidFill>
                <a:latin typeface="Times New Roman" panose="02020603050405020304" pitchFamily="18" charset="0"/>
              </a:rPr>
              <a:t>then</a:t>
            </a: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			     	     </a:t>
            </a:r>
            <a:r>
              <a:rPr lang="en-US" altLang="en-US" sz="2000">
                <a:latin typeface="Times New Roman" panose="02020603050405020304" pitchFamily="18" charset="0"/>
                <a:sym typeface="Symbol" pitchFamily="2" charset="2"/>
              </a:rPr>
              <a:t>1</a:t>
            </a:r>
            <a:endParaRPr lang="en-US" altLang="en-US" sz="200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	    return A[0]</a:t>
            </a:r>
            <a:r>
              <a:rPr lang="en-US" altLang="en-US" sz="2000">
                <a:latin typeface="Times New Roman" panose="02020603050405020304" pitchFamily="18" charset="0"/>
                <a:sym typeface="Symbol" pitchFamily="2" charset="2"/>
              </a:rPr>
              <a:t>			     	     2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2000" b="1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	return</a:t>
            </a:r>
            <a:r>
              <a:rPr lang="en-US" altLang="en-US" sz="2000"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sz="2000" b="1" i="1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max{recursiveMax(A,n-1),A[n-1]}   </a:t>
            </a:r>
            <a:r>
              <a:rPr lang="en-US" altLang="en-US" sz="2000">
                <a:latin typeface="Times New Roman" panose="02020603050405020304" pitchFamily="18" charset="0"/>
                <a:sym typeface="Symbol" pitchFamily="2" charset="2"/>
              </a:rPr>
              <a:t>6 + 1 (the </a:t>
            </a:r>
            <a:r>
              <a:rPr lang="en-US" altLang="en-US" sz="2000" b="1">
                <a:latin typeface="Times New Roman" panose="02020603050405020304" pitchFamily="18" charset="0"/>
                <a:sym typeface="Symbol" pitchFamily="2" charset="2"/>
              </a:rPr>
              <a:t>if</a:t>
            </a:r>
            <a:r>
              <a:rPr lang="en-US" altLang="en-US" sz="2000">
                <a:latin typeface="Times New Roman" panose="02020603050405020304" pitchFamily="18" charset="0"/>
                <a:sym typeface="Symbol" pitchFamily="2" charset="2"/>
              </a:rPr>
              <a:t> above)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  <a:sym typeface="Symbol" pitchFamily="2" charset="2"/>
              </a:rPr>
              <a:t>					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  <a:sym typeface="Symbol" pitchFamily="2" charset="2"/>
              </a:rPr>
              <a:t>					base (n=1):  3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  <a:sym typeface="Symbol" pitchFamily="2" charset="2"/>
              </a:rPr>
              <a:t>					recursive:    T(n) = T(n-1) + 7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endParaRPr lang="en-US" altLang="en-US" sz="2000">
              <a:latin typeface="Times New Roman" panose="02020603050405020304" pitchFamily="18" charset="0"/>
              <a:sym typeface="Symbol" pitchFamily="2" charset="2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  <a:sym typeface="Symbol" pitchFamily="2" charset="2"/>
              </a:rPr>
              <a:t>                                                          </a:t>
            </a:r>
            <a:r>
              <a:rPr lang="en-US" altLang="en-US" sz="2000">
                <a:solidFill>
                  <a:srgbClr val="FF0066"/>
                </a:solidFill>
                <a:latin typeface="Times New Roman" panose="02020603050405020304" pitchFamily="18" charset="0"/>
                <a:sym typeface="Symbol" pitchFamily="2" charset="2"/>
              </a:rPr>
              <a:t>Total:          T(n) = 7n - 4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AA267813-0CB5-C6F6-8FF4-961C1F1563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219200"/>
            <a:ext cx="80772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algn="l">
              <a:lnSpc>
                <a:spcPct val="90000"/>
              </a:lnSpc>
              <a:spcBef>
                <a:spcPct val="20000"/>
              </a:spcBef>
              <a:buFontTx/>
              <a:buChar char="•"/>
              <a:defRPr/>
            </a:pPr>
            <a:r>
              <a:rPr lang="en-US" sz="2200" kern="0">
                <a:latin typeface="+mn-lt"/>
                <a:cs typeface="+mn-cs"/>
              </a:rPr>
              <a:t>By inspecting the pseudocode, we can determine the </a:t>
            </a:r>
            <a:r>
              <a:rPr lang="en-US" sz="2200" kern="0">
                <a:solidFill>
                  <a:srgbClr val="C00000"/>
                </a:solidFill>
                <a:latin typeface="+mn-lt"/>
                <a:cs typeface="+mn-cs"/>
              </a:rPr>
              <a:t>maximum number of primitive operations </a:t>
            </a:r>
            <a:r>
              <a:rPr lang="en-US" sz="2200" kern="0">
                <a:latin typeface="+mn-lt"/>
                <a:cs typeface="+mn-cs"/>
              </a:rPr>
              <a:t>executed by an algorithm</a:t>
            </a:r>
            <a:r>
              <a:rPr lang="en-US" sz="2200" kern="0">
                <a:solidFill>
                  <a:srgbClr val="C00000"/>
                </a:solidFill>
                <a:latin typeface="+mn-lt"/>
                <a:cs typeface="+mn-cs"/>
              </a:rPr>
              <a:t>, as a function of the input size</a:t>
            </a:r>
            <a:endParaRPr lang="en-US" sz="2200" kern="0" dirty="0">
              <a:solidFill>
                <a:srgbClr val="C00000"/>
              </a:solidFill>
              <a:latin typeface="+mn-lt"/>
              <a:cs typeface="+mn-c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91513DE3-B444-BF78-2F5F-CDDF4B131A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685800"/>
          </a:xfrm>
        </p:spPr>
        <p:txBody>
          <a:bodyPr/>
          <a:lstStyle/>
          <a:p>
            <a:pPr eaLnBrk="1" hangingPunct="1"/>
            <a:r>
              <a:rPr lang="en-US" altLang="en-US"/>
              <a:t>Estimating Running Time</a:t>
            </a:r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277030FD-84A9-9651-F4FE-43BB1B9EBCA9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09600" y="1752600"/>
            <a:ext cx="8001000" cy="4648200"/>
          </a:xfrm>
        </p:spPr>
        <p:txBody>
          <a:bodyPr/>
          <a:lstStyle/>
          <a:p>
            <a:pPr eaLnBrk="1" hangingPunct="1"/>
            <a:r>
              <a:rPr lang="en-US" altLang="en-US" sz="2200"/>
              <a:t>Algorithm </a:t>
            </a:r>
            <a:r>
              <a:rPr lang="en-US" altLang="en-US" sz="2200" b="1" i="1">
                <a:latin typeface="Times New Roman" panose="02020603050405020304" pitchFamily="18" charset="0"/>
              </a:rPr>
              <a:t>arrayMax</a:t>
            </a:r>
            <a:r>
              <a:rPr lang="en-US" altLang="en-US" sz="2200"/>
              <a:t> executes </a:t>
            </a:r>
            <a:r>
              <a:rPr lang="en-US" altLang="en-US" sz="2200">
                <a:latin typeface="Times New Roman" panose="02020603050405020304" pitchFamily="18" charset="0"/>
                <a:sym typeface="Symbol" pitchFamily="2" charset="2"/>
              </a:rPr>
              <a:t>7</a:t>
            </a:r>
            <a:r>
              <a:rPr lang="en-US" altLang="en-US" sz="2200" b="1" i="1">
                <a:latin typeface="Times New Roman" panose="02020603050405020304" pitchFamily="18" charset="0"/>
                <a:sym typeface="Symbol" pitchFamily="2" charset="2"/>
              </a:rPr>
              <a:t>n</a:t>
            </a:r>
            <a:r>
              <a:rPr lang="en-US" altLang="en-US" sz="2200"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sz="2200">
                <a:latin typeface="Symbol" pitchFamily="2" charset="2"/>
                <a:sym typeface="Symbol" pitchFamily="2" charset="2"/>
              </a:rPr>
              <a:t></a:t>
            </a:r>
            <a:r>
              <a:rPr lang="en-US" altLang="en-US" sz="2200">
                <a:latin typeface="Times New Roman" panose="02020603050405020304" pitchFamily="18" charset="0"/>
                <a:sym typeface="Symbol" pitchFamily="2" charset="2"/>
              </a:rPr>
              <a:t> 2 </a:t>
            </a:r>
            <a:r>
              <a:rPr lang="en-US" altLang="en-US" sz="2200"/>
              <a:t>primitive operations in the worst case.  Define:</a:t>
            </a:r>
          </a:p>
          <a:p>
            <a:pPr lvl="1" eaLnBrk="1" hangingPunct="1">
              <a:buFont typeface="Times New Roman" panose="02020603050405020304" pitchFamily="18" charset="0"/>
              <a:buNone/>
            </a:pPr>
            <a:r>
              <a:rPr lang="en-US" altLang="en-US" sz="1800" b="1" i="1">
                <a:latin typeface="Times New Roman" panose="02020603050405020304" pitchFamily="18" charset="0"/>
              </a:rPr>
              <a:t>a</a:t>
            </a:r>
            <a:r>
              <a:rPr lang="en-US" altLang="en-US" sz="1800"/>
              <a:t>	= Actual time taken by the fastest primitive operation</a:t>
            </a:r>
          </a:p>
          <a:p>
            <a:pPr lvl="1" eaLnBrk="1" hangingPunct="1">
              <a:buFontTx/>
              <a:buNone/>
            </a:pPr>
            <a:r>
              <a:rPr lang="en-US" altLang="en-US" sz="1800" b="1" i="1">
                <a:latin typeface="Times New Roman" panose="02020603050405020304" pitchFamily="18" charset="0"/>
              </a:rPr>
              <a:t>b</a:t>
            </a:r>
            <a:r>
              <a:rPr lang="en-US" altLang="en-US" sz="1800"/>
              <a:t> 	= Actual time taken by the slowest primitive operation</a:t>
            </a:r>
          </a:p>
          <a:p>
            <a:pPr lvl="1" eaLnBrk="1" hangingPunct="1">
              <a:buFontTx/>
              <a:buNone/>
            </a:pPr>
            <a:endParaRPr lang="en-US" altLang="en-US" sz="1800"/>
          </a:p>
          <a:p>
            <a:pPr eaLnBrk="1" hangingPunct="1"/>
            <a:r>
              <a:rPr lang="en-US" altLang="en-US" sz="2200"/>
              <a:t>Let </a:t>
            </a:r>
            <a:r>
              <a:rPr lang="en-US" altLang="en-US" sz="2200" b="1" i="1">
                <a:latin typeface="Times New Roman" panose="02020603050405020304" pitchFamily="18" charset="0"/>
                <a:sym typeface="Symbol" pitchFamily="2" charset="2"/>
              </a:rPr>
              <a:t>T</a:t>
            </a:r>
            <a:r>
              <a:rPr lang="en-US" altLang="en-US" sz="2200">
                <a:latin typeface="Times New Roman" panose="02020603050405020304" pitchFamily="18" charset="0"/>
                <a:sym typeface="Symbol" pitchFamily="2" charset="2"/>
              </a:rPr>
              <a:t>(</a:t>
            </a:r>
            <a:r>
              <a:rPr lang="en-US" altLang="en-US" sz="2200" b="1" i="1">
                <a:latin typeface="Times New Roman" panose="02020603050405020304" pitchFamily="18" charset="0"/>
                <a:sym typeface="Symbol" pitchFamily="2" charset="2"/>
              </a:rPr>
              <a:t>n</a:t>
            </a:r>
            <a:r>
              <a:rPr lang="en-US" altLang="en-US" sz="2200">
                <a:latin typeface="Times New Roman" panose="02020603050405020304" pitchFamily="18" charset="0"/>
                <a:sym typeface="Symbol" pitchFamily="2" charset="2"/>
              </a:rPr>
              <a:t>)</a:t>
            </a:r>
            <a:r>
              <a:rPr lang="en-US" altLang="en-US" sz="2200"/>
              <a:t> be worst-case time of </a:t>
            </a:r>
            <a:r>
              <a:rPr lang="en-US" altLang="en-US" sz="2200" b="1" i="1">
                <a:latin typeface="Times New Roman" panose="02020603050405020304" pitchFamily="18" charset="0"/>
              </a:rPr>
              <a:t>arrayMax.</a:t>
            </a:r>
            <a:r>
              <a:rPr lang="en-US" altLang="en-US" sz="2200" b="1">
                <a:latin typeface="Times New Roman" panose="02020603050405020304" pitchFamily="18" charset="0"/>
              </a:rPr>
              <a:t> </a:t>
            </a:r>
            <a:r>
              <a:rPr lang="en-US" altLang="en-US" sz="2200"/>
              <a:t>Then</a:t>
            </a:r>
            <a:br>
              <a:rPr lang="en-US" altLang="en-US" sz="2000"/>
            </a:br>
            <a:r>
              <a:rPr lang="en-US" altLang="en-US" sz="2000"/>
              <a:t>		</a:t>
            </a:r>
            <a:r>
              <a:rPr lang="en-US" altLang="en-US" sz="2000" b="1" i="1">
                <a:latin typeface="Times New Roman" panose="02020603050405020304" pitchFamily="18" charset="0"/>
                <a:sym typeface="Symbol" pitchFamily="2" charset="2"/>
              </a:rPr>
              <a:t>a </a:t>
            </a:r>
            <a:r>
              <a:rPr lang="en-US" altLang="en-US" sz="2000">
                <a:latin typeface="Times New Roman" panose="02020603050405020304" pitchFamily="18" charset="0"/>
                <a:sym typeface="Symbol" pitchFamily="2" charset="2"/>
              </a:rPr>
              <a:t>(7</a:t>
            </a:r>
            <a:r>
              <a:rPr lang="en-US" altLang="en-US" sz="2000" b="1" i="1">
                <a:latin typeface="Times New Roman" panose="02020603050405020304" pitchFamily="18" charset="0"/>
                <a:sym typeface="Symbol" pitchFamily="2" charset="2"/>
              </a:rPr>
              <a:t>n</a:t>
            </a:r>
            <a:r>
              <a:rPr lang="en-US" altLang="en-US" sz="2000"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sz="2000">
                <a:latin typeface="Symbol" pitchFamily="2" charset="2"/>
                <a:sym typeface="Symbol" pitchFamily="2" charset="2"/>
              </a:rPr>
              <a:t></a:t>
            </a:r>
            <a:r>
              <a:rPr lang="en-US" altLang="en-US" sz="2000">
                <a:latin typeface="Times New Roman" panose="02020603050405020304" pitchFamily="18" charset="0"/>
                <a:sym typeface="Symbol" pitchFamily="2" charset="2"/>
              </a:rPr>
              <a:t> 2) </a:t>
            </a:r>
            <a:r>
              <a:rPr lang="en-US" altLang="en-US" sz="2000">
                <a:latin typeface="Symbol" pitchFamily="2" charset="2"/>
                <a:sym typeface="Symbol" pitchFamily="2" charset="2"/>
              </a:rPr>
              <a:t></a:t>
            </a:r>
            <a:r>
              <a:rPr lang="en-US" altLang="en-US" sz="2000"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sz="2000" b="1" i="1">
                <a:latin typeface="Times New Roman" panose="02020603050405020304" pitchFamily="18" charset="0"/>
                <a:sym typeface="Symbol" pitchFamily="2" charset="2"/>
              </a:rPr>
              <a:t>T</a:t>
            </a:r>
            <a:r>
              <a:rPr lang="en-US" altLang="en-US" sz="2000">
                <a:latin typeface="Times New Roman" panose="02020603050405020304" pitchFamily="18" charset="0"/>
                <a:sym typeface="Symbol" pitchFamily="2" charset="2"/>
              </a:rPr>
              <a:t>(</a:t>
            </a:r>
            <a:r>
              <a:rPr lang="en-US" altLang="en-US" sz="2000" b="1" i="1">
                <a:latin typeface="Times New Roman" panose="02020603050405020304" pitchFamily="18" charset="0"/>
                <a:sym typeface="Symbol" pitchFamily="2" charset="2"/>
              </a:rPr>
              <a:t>n</a:t>
            </a:r>
            <a:r>
              <a:rPr lang="en-US" altLang="en-US" sz="2000">
                <a:latin typeface="Times New Roman" panose="02020603050405020304" pitchFamily="18" charset="0"/>
                <a:sym typeface="Symbol" pitchFamily="2" charset="2"/>
              </a:rPr>
              <a:t>)</a:t>
            </a:r>
            <a:r>
              <a:rPr lang="en-US" altLang="en-US" sz="2000"/>
              <a:t> </a:t>
            </a:r>
            <a:r>
              <a:rPr lang="en-US" altLang="en-US" sz="2000">
                <a:latin typeface="Symbol" pitchFamily="2" charset="2"/>
                <a:sym typeface="Symbol" pitchFamily="2" charset="2"/>
              </a:rPr>
              <a:t></a:t>
            </a:r>
            <a:r>
              <a:rPr lang="en-US" altLang="en-US" sz="2000"/>
              <a:t> </a:t>
            </a:r>
            <a:r>
              <a:rPr lang="en-US" altLang="en-US" sz="2000" b="1" i="1">
                <a:latin typeface="Times New Roman" panose="02020603050405020304" pitchFamily="18" charset="0"/>
                <a:sym typeface="Symbol" pitchFamily="2" charset="2"/>
              </a:rPr>
              <a:t>b</a:t>
            </a:r>
            <a:r>
              <a:rPr lang="en-US" altLang="en-US" sz="2000">
                <a:latin typeface="Times New Roman" panose="02020603050405020304" pitchFamily="18" charset="0"/>
                <a:sym typeface="Symbol" pitchFamily="2" charset="2"/>
              </a:rPr>
              <a:t>(7</a:t>
            </a:r>
            <a:r>
              <a:rPr lang="en-US" altLang="en-US" sz="2000" b="1" i="1">
                <a:latin typeface="Times New Roman" panose="02020603050405020304" pitchFamily="18" charset="0"/>
                <a:sym typeface="Symbol" pitchFamily="2" charset="2"/>
              </a:rPr>
              <a:t>n</a:t>
            </a:r>
            <a:r>
              <a:rPr lang="en-US" altLang="en-US" sz="2000"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sz="2000">
                <a:latin typeface="Symbol" pitchFamily="2" charset="2"/>
                <a:sym typeface="Symbol" pitchFamily="2" charset="2"/>
              </a:rPr>
              <a:t></a:t>
            </a:r>
            <a:r>
              <a:rPr lang="en-US" altLang="en-US" sz="2000">
                <a:latin typeface="Times New Roman" panose="02020603050405020304" pitchFamily="18" charset="0"/>
                <a:sym typeface="Symbol" pitchFamily="2" charset="2"/>
              </a:rPr>
              <a:t> 2)</a:t>
            </a:r>
          </a:p>
          <a:p>
            <a:pPr eaLnBrk="1" hangingPunct="1"/>
            <a:endParaRPr lang="en-US" altLang="en-US" sz="2000">
              <a:latin typeface="Times New Roman" panose="02020603050405020304" pitchFamily="18" charset="0"/>
              <a:sym typeface="Symbol" pitchFamily="2" charset="2"/>
            </a:endParaRPr>
          </a:p>
          <a:p>
            <a:pPr eaLnBrk="1" hangingPunct="1"/>
            <a:r>
              <a:rPr lang="en-US" altLang="en-US" sz="2200"/>
              <a:t>Hence, the running time </a:t>
            </a:r>
            <a:r>
              <a:rPr lang="en-US" altLang="en-US" sz="2200" b="1" i="1">
                <a:latin typeface="Times New Roman" panose="02020603050405020304" pitchFamily="18" charset="0"/>
                <a:sym typeface="Symbol" pitchFamily="2" charset="2"/>
              </a:rPr>
              <a:t>T</a:t>
            </a:r>
            <a:r>
              <a:rPr lang="en-US" altLang="en-US" sz="2200">
                <a:latin typeface="Times New Roman" panose="02020603050405020304" pitchFamily="18" charset="0"/>
                <a:sym typeface="Symbol" pitchFamily="2" charset="2"/>
              </a:rPr>
              <a:t>(</a:t>
            </a:r>
            <a:r>
              <a:rPr lang="en-US" altLang="en-US" sz="2200" b="1" i="1">
                <a:latin typeface="Times New Roman" panose="02020603050405020304" pitchFamily="18" charset="0"/>
                <a:sym typeface="Symbol" pitchFamily="2" charset="2"/>
              </a:rPr>
              <a:t>n</a:t>
            </a:r>
            <a:r>
              <a:rPr lang="en-US" altLang="en-US" sz="2200">
                <a:latin typeface="Times New Roman" panose="02020603050405020304" pitchFamily="18" charset="0"/>
                <a:sym typeface="Symbol" pitchFamily="2" charset="2"/>
              </a:rPr>
              <a:t>)</a:t>
            </a:r>
            <a:r>
              <a:rPr lang="en-US" altLang="en-US" sz="2200"/>
              <a:t> is bounded by two linear functions</a:t>
            </a:r>
            <a:endParaRPr lang="en-US" altLang="en-US" sz="2200">
              <a:sym typeface="Symbol" pitchFamily="2" charset="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521AB556-0471-3409-17A3-7DEABF2128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Growth Rate of Running Time</a:t>
            </a:r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8D8D21D0-7227-A190-E80D-F3A537C16D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905000"/>
            <a:ext cx="7620000" cy="3048000"/>
          </a:xfrm>
        </p:spPr>
        <p:txBody>
          <a:bodyPr/>
          <a:lstStyle/>
          <a:p>
            <a:pPr eaLnBrk="1" hangingPunct="1"/>
            <a:r>
              <a:rPr lang="en-US" altLang="en-US" sz="2200"/>
              <a:t>Changing the hardware/software environments </a:t>
            </a:r>
          </a:p>
          <a:p>
            <a:pPr lvl="1" eaLnBrk="1" hangingPunct="1"/>
            <a:r>
              <a:rPr lang="en-US" altLang="en-US" sz="1800"/>
              <a:t>Affects </a:t>
            </a:r>
            <a:r>
              <a:rPr lang="en-US" altLang="en-US" sz="1800" b="1" i="1">
                <a:latin typeface="Times New Roman" panose="02020603050405020304" pitchFamily="18" charset="0"/>
                <a:sym typeface="Symbol" pitchFamily="2" charset="2"/>
              </a:rPr>
              <a:t>T</a:t>
            </a:r>
            <a:r>
              <a:rPr lang="en-US" altLang="en-US" sz="1800">
                <a:latin typeface="Times New Roman" panose="02020603050405020304" pitchFamily="18" charset="0"/>
                <a:sym typeface="Symbol" pitchFamily="2" charset="2"/>
              </a:rPr>
              <a:t>(</a:t>
            </a:r>
            <a:r>
              <a:rPr lang="en-US" altLang="en-US" sz="1800" b="1" i="1">
                <a:latin typeface="Times New Roman" panose="02020603050405020304" pitchFamily="18" charset="0"/>
                <a:sym typeface="Symbol" pitchFamily="2" charset="2"/>
              </a:rPr>
              <a:t>n</a:t>
            </a:r>
            <a:r>
              <a:rPr lang="en-US" altLang="en-US" sz="1800">
                <a:latin typeface="Times New Roman" panose="02020603050405020304" pitchFamily="18" charset="0"/>
                <a:sym typeface="Symbol" pitchFamily="2" charset="2"/>
              </a:rPr>
              <a:t>)</a:t>
            </a:r>
            <a:r>
              <a:rPr lang="en-US" altLang="en-US" sz="1800"/>
              <a:t> by a constant factor, but</a:t>
            </a:r>
          </a:p>
          <a:p>
            <a:pPr lvl="1" eaLnBrk="1" hangingPunct="1"/>
            <a:r>
              <a:rPr lang="en-US" altLang="en-US" sz="1800"/>
              <a:t>Does not alter the growth rate of </a:t>
            </a:r>
            <a:r>
              <a:rPr lang="en-US" altLang="en-US" sz="1800" b="1" i="1">
                <a:latin typeface="Times New Roman" panose="02020603050405020304" pitchFamily="18" charset="0"/>
                <a:sym typeface="Symbol" pitchFamily="2" charset="2"/>
              </a:rPr>
              <a:t>T</a:t>
            </a:r>
            <a:r>
              <a:rPr lang="en-US" altLang="en-US" sz="1800">
                <a:latin typeface="Times New Roman" panose="02020603050405020304" pitchFamily="18" charset="0"/>
                <a:sym typeface="Symbol" pitchFamily="2" charset="2"/>
              </a:rPr>
              <a:t>(</a:t>
            </a:r>
            <a:r>
              <a:rPr lang="en-US" altLang="en-US" sz="1800" b="1" i="1">
                <a:latin typeface="Times New Roman" panose="02020603050405020304" pitchFamily="18" charset="0"/>
                <a:sym typeface="Symbol" pitchFamily="2" charset="2"/>
              </a:rPr>
              <a:t>n</a:t>
            </a:r>
            <a:r>
              <a:rPr lang="en-US" altLang="en-US" sz="1800">
                <a:latin typeface="Times New Roman" panose="02020603050405020304" pitchFamily="18" charset="0"/>
                <a:sym typeface="Symbol" pitchFamily="2" charset="2"/>
              </a:rPr>
              <a:t>)</a:t>
            </a:r>
          </a:p>
          <a:p>
            <a:pPr lvl="1" eaLnBrk="1" hangingPunct="1"/>
            <a:endParaRPr lang="en-US" altLang="en-US" sz="1800"/>
          </a:p>
          <a:p>
            <a:pPr eaLnBrk="1" hangingPunct="1"/>
            <a:r>
              <a:rPr lang="en-US" altLang="en-US" sz="2200"/>
              <a:t>The </a:t>
            </a:r>
            <a:r>
              <a:rPr lang="en-US" altLang="en-US" sz="2200">
                <a:solidFill>
                  <a:srgbClr val="C00000"/>
                </a:solidFill>
              </a:rPr>
              <a:t>linear growth rate </a:t>
            </a:r>
            <a:r>
              <a:rPr lang="en-US" altLang="en-US" sz="2200"/>
              <a:t>of the running time </a:t>
            </a:r>
            <a:r>
              <a:rPr lang="en-US" altLang="en-US" sz="2200" b="1" i="1">
                <a:latin typeface="Times New Roman" panose="02020603050405020304" pitchFamily="18" charset="0"/>
                <a:sym typeface="Symbol" pitchFamily="2" charset="2"/>
              </a:rPr>
              <a:t>T</a:t>
            </a:r>
            <a:r>
              <a:rPr lang="en-US" altLang="en-US" sz="2200">
                <a:latin typeface="Times New Roman" panose="02020603050405020304" pitchFamily="18" charset="0"/>
                <a:sym typeface="Symbol" pitchFamily="2" charset="2"/>
              </a:rPr>
              <a:t>(</a:t>
            </a:r>
            <a:r>
              <a:rPr lang="en-US" altLang="en-US" sz="2200" b="1" i="1">
                <a:latin typeface="Times New Roman" panose="02020603050405020304" pitchFamily="18" charset="0"/>
                <a:sym typeface="Symbol" pitchFamily="2" charset="2"/>
              </a:rPr>
              <a:t>n</a:t>
            </a:r>
            <a:r>
              <a:rPr lang="en-US" altLang="en-US" sz="2200">
                <a:latin typeface="Times New Roman" panose="02020603050405020304" pitchFamily="18" charset="0"/>
                <a:sym typeface="Symbol" pitchFamily="2" charset="2"/>
              </a:rPr>
              <a:t>)</a:t>
            </a:r>
            <a:r>
              <a:rPr lang="en-US" altLang="en-US" sz="2200"/>
              <a:t> is an intrinsic property of algorithm </a:t>
            </a:r>
            <a:r>
              <a:rPr lang="en-US" altLang="en-US" sz="2200" b="1" i="1">
                <a:latin typeface="Times New Roman" panose="02020603050405020304" pitchFamily="18" charset="0"/>
              </a:rPr>
              <a:t>arrayMax</a:t>
            </a:r>
            <a:endParaRPr lang="en-US" altLang="en-US" sz="22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4">
            <a:extLst>
              <a:ext uri="{FF2B5EF4-FFF2-40B4-BE49-F238E27FC236}">
                <a16:creationId xmlns:a16="http://schemas.microsoft.com/office/drawing/2014/main" id="{C6D7ECC0-57FB-7541-B2B9-3355A84A2E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228600"/>
            <a:ext cx="7772400" cy="685800"/>
          </a:xfrm>
          <a:noFill/>
        </p:spPr>
        <p:txBody>
          <a:bodyPr anchor="b"/>
          <a:lstStyle/>
          <a:p>
            <a:pPr eaLnBrk="1" hangingPunct="1"/>
            <a:r>
              <a:rPr lang="en-US" altLang="en-US"/>
              <a:t>Growth Rates</a:t>
            </a:r>
          </a:p>
        </p:txBody>
      </p:sp>
      <p:sp>
        <p:nvSpPr>
          <p:cNvPr id="3076" name="Rectangle 5" descr="Rectangle: Click to edit Master text styles&#13;&#10;Second level&#13;&#10;Third level&#13;&#10;Fourth level&#13;&#10;Fifth level">
            <a:extLst>
              <a:ext uri="{FF2B5EF4-FFF2-40B4-BE49-F238E27FC236}">
                <a16:creationId xmlns:a16="http://schemas.microsoft.com/office/drawing/2014/main" id="{CB0AB0F5-16A8-79BB-D829-0E128DD5E2FE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228600" y="1524000"/>
            <a:ext cx="3733800" cy="4419600"/>
          </a:xfrm>
          <a:noFill/>
        </p:spPr>
        <p:txBody>
          <a:bodyPr/>
          <a:lstStyle/>
          <a:p>
            <a:pPr eaLnBrk="1" hangingPunct="1"/>
            <a:r>
              <a:rPr lang="en-US" altLang="en-US" sz="2200"/>
              <a:t>Growth rates of functions:</a:t>
            </a:r>
          </a:p>
          <a:p>
            <a:pPr lvl="1" eaLnBrk="1" hangingPunct="1"/>
            <a:r>
              <a:rPr lang="en-US" altLang="en-US"/>
              <a:t>Linear </a:t>
            </a:r>
            <a:r>
              <a:rPr lang="en-US" altLang="en-US">
                <a:sym typeface="Symbol" pitchFamily="2" charset="2"/>
              </a:rPr>
              <a:t> </a:t>
            </a:r>
            <a:r>
              <a:rPr lang="en-US" altLang="en-US" b="1" i="1">
                <a:latin typeface="Times New Roman" panose="02020603050405020304" pitchFamily="18" charset="0"/>
                <a:sym typeface="Symbol" pitchFamily="2" charset="2"/>
              </a:rPr>
              <a:t>n</a:t>
            </a:r>
          </a:p>
          <a:p>
            <a:pPr lvl="1" eaLnBrk="1" hangingPunct="1"/>
            <a:r>
              <a:rPr lang="en-US" altLang="en-US"/>
              <a:t>Quadratic </a:t>
            </a:r>
            <a:r>
              <a:rPr lang="en-US" altLang="en-US">
                <a:sym typeface="Symbol" pitchFamily="2" charset="2"/>
              </a:rPr>
              <a:t> </a:t>
            </a:r>
            <a:r>
              <a:rPr lang="en-US" altLang="en-US" b="1" i="1">
                <a:latin typeface="Times New Roman" panose="02020603050405020304" pitchFamily="18" charset="0"/>
                <a:sym typeface="Symbol" pitchFamily="2" charset="2"/>
              </a:rPr>
              <a:t>n</a:t>
            </a:r>
            <a:r>
              <a:rPr lang="en-US" altLang="en-US" baseline="30000">
                <a:latin typeface="Times New Roman" panose="02020603050405020304" pitchFamily="18" charset="0"/>
                <a:sym typeface="Symbol" pitchFamily="2" charset="2"/>
              </a:rPr>
              <a:t>2</a:t>
            </a:r>
          </a:p>
          <a:p>
            <a:pPr lvl="1" eaLnBrk="1" hangingPunct="1"/>
            <a:r>
              <a:rPr lang="en-US" altLang="en-US"/>
              <a:t>Cubic </a:t>
            </a:r>
            <a:r>
              <a:rPr lang="en-US" altLang="en-US">
                <a:sym typeface="Symbol" pitchFamily="2" charset="2"/>
              </a:rPr>
              <a:t> </a:t>
            </a:r>
            <a:r>
              <a:rPr lang="en-US" altLang="en-US" b="1" i="1">
                <a:latin typeface="Times New Roman" panose="02020603050405020304" pitchFamily="18" charset="0"/>
                <a:sym typeface="Symbol" pitchFamily="2" charset="2"/>
              </a:rPr>
              <a:t>n</a:t>
            </a:r>
            <a:r>
              <a:rPr lang="en-US" altLang="en-US" baseline="30000">
                <a:latin typeface="Times New Roman" panose="02020603050405020304" pitchFamily="18" charset="0"/>
                <a:sym typeface="Symbol" pitchFamily="2" charset="2"/>
              </a:rPr>
              <a:t>3</a:t>
            </a:r>
          </a:p>
          <a:p>
            <a:pPr lvl="1" eaLnBrk="1" hangingPunct="1"/>
            <a:endParaRPr lang="en-US" altLang="en-US" sz="1600" b="1" baseline="30000">
              <a:latin typeface="Times New Roman" panose="02020603050405020304" pitchFamily="18" charset="0"/>
            </a:endParaRPr>
          </a:p>
          <a:p>
            <a:pPr lvl="1" eaLnBrk="1" hangingPunct="1"/>
            <a:endParaRPr lang="en-US" altLang="en-US" sz="1600" b="1" baseline="30000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en-US" sz="2200"/>
              <a:t>In a log-log chart, the slope of the line corresponds to the growth rate of the function</a:t>
            </a:r>
          </a:p>
          <a:p>
            <a:pPr eaLnBrk="1" hangingPunct="1"/>
            <a:endParaRPr lang="en-US" altLang="en-US" sz="1800"/>
          </a:p>
        </p:txBody>
      </p:sp>
      <p:graphicFrame>
        <p:nvGraphicFramePr>
          <p:cNvPr id="3074" name="Object 6">
            <a:extLst>
              <a:ext uri="{FF2B5EF4-FFF2-40B4-BE49-F238E27FC236}">
                <a16:creationId xmlns:a16="http://schemas.microsoft.com/office/drawing/2014/main" id="{81CC0E09-9217-4F19-C1A8-B25408D6550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33825" y="1447800"/>
          <a:ext cx="5133975" cy="471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2" imgW="29184600" imgH="15875000" progId="Excel.Chart.8">
                  <p:embed followColorScheme="full"/>
                </p:oleObj>
              </mc:Choice>
              <mc:Fallback>
                <p:oleObj name="Chart" r:id="rId2" imgW="29184600" imgH="15875000" progId="Excel.Chart.8">
                  <p:embed followColorScheme="full"/>
                  <p:pic>
                    <p:nvPicPr>
                      <p:cNvPr id="3074" name="Object 6">
                        <a:extLst>
                          <a:ext uri="{FF2B5EF4-FFF2-40B4-BE49-F238E27FC236}">
                            <a16:creationId xmlns:a16="http://schemas.microsoft.com/office/drawing/2014/main" id="{81CC0E09-9217-4F19-C1A8-B25408D6550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33825" y="1447800"/>
                        <a:ext cx="5133975" cy="4714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98" name="Object 4">
            <a:extLst>
              <a:ext uri="{FF2B5EF4-FFF2-40B4-BE49-F238E27FC236}">
                <a16:creationId xmlns:a16="http://schemas.microsoft.com/office/drawing/2014/main" id="{8008ECAB-885C-FF5B-26D5-456831A363C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81400" y="1524000"/>
          <a:ext cx="5305425" cy="447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2" imgW="27012900" imgH="14693900" progId="Excel.Chart.8">
                  <p:embed followColorScheme="full"/>
                </p:oleObj>
              </mc:Choice>
              <mc:Fallback>
                <p:oleObj name="Chart" r:id="rId2" imgW="27012900" imgH="14693900" progId="Excel.Chart.8">
                  <p:embed followColorScheme="full"/>
                  <p:pic>
                    <p:nvPicPr>
                      <p:cNvPr id="4098" name="Object 4">
                        <a:extLst>
                          <a:ext uri="{FF2B5EF4-FFF2-40B4-BE49-F238E27FC236}">
                            <a16:creationId xmlns:a16="http://schemas.microsoft.com/office/drawing/2014/main" id="{8008ECAB-885C-FF5B-26D5-456831A363C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1524000"/>
                        <a:ext cx="5305425" cy="4476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9" name="Rectangle 5">
            <a:extLst>
              <a:ext uri="{FF2B5EF4-FFF2-40B4-BE49-F238E27FC236}">
                <a16:creationId xmlns:a16="http://schemas.microsoft.com/office/drawing/2014/main" id="{32C1A671-0840-1E93-D965-BACF5CA1FE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685800"/>
          </a:xfrm>
          <a:noFill/>
        </p:spPr>
        <p:txBody>
          <a:bodyPr anchor="b"/>
          <a:lstStyle/>
          <a:p>
            <a:pPr eaLnBrk="1" hangingPunct="1"/>
            <a:r>
              <a:rPr lang="en-US" altLang="en-US"/>
              <a:t>Constant Factors</a:t>
            </a:r>
          </a:p>
        </p:txBody>
      </p:sp>
      <p:sp>
        <p:nvSpPr>
          <p:cNvPr id="4100" name="Rectangle 6" descr="Rectangle: Click to edit Master text styles&#13;&#10;Second level&#13;&#10;Third level&#13;&#10;Fourth level&#13;&#10;Fifth level">
            <a:extLst>
              <a:ext uri="{FF2B5EF4-FFF2-40B4-BE49-F238E27FC236}">
                <a16:creationId xmlns:a16="http://schemas.microsoft.com/office/drawing/2014/main" id="{25C61520-874A-F9E1-DFF2-A224B5AD5B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905000"/>
            <a:ext cx="3048000" cy="3505200"/>
          </a:xfrm>
          <a:noFill/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200"/>
              <a:t>The growth rate is not affected by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1800"/>
              <a:t>constant factors or 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1800"/>
              <a:t>lower-order terms</a:t>
            </a:r>
          </a:p>
          <a:p>
            <a:pPr lvl="1" eaLnBrk="1" hangingPunct="1">
              <a:lnSpc>
                <a:spcPct val="80000"/>
              </a:lnSpc>
              <a:buFontTx/>
              <a:buNone/>
            </a:pPr>
            <a:br>
              <a:rPr lang="en-US" altLang="en-US" sz="1800"/>
            </a:br>
            <a:endParaRPr lang="en-US" altLang="en-US" sz="1800"/>
          </a:p>
          <a:p>
            <a:pPr lvl="1" eaLnBrk="1" hangingPunct="1">
              <a:lnSpc>
                <a:spcPct val="80000"/>
              </a:lnSpc>
            </a:pPr>
            <a:endParaRPr lang="en-US" altLang="en-US" sz="1800"/>
          </a:p>
          <a:p>
            <a:pPr eaLnBrk="1" hangingPunct="1">
              <a:lnSpc>
                <a:spcPct val="80000"/>
              </a:lnSpc>
            </a:pPr>
            <a:r>
              <a:rPr lang="en-US" altLang="en-US" sz="2200"/>
              <a:t>Examples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1800">
                <a:sym typeface="Symbol" pitchFamily="2" charset="2"/>
              </a:rPr>
              <a:t>102</a:t>
            </a:r>
            <a:r>
              <a:rPr lang="en-US" altLang="en-US" sz="1800" b="1" i="1">
                <a:sym typeface="Symbol" pitchFamily="2" charset="2"/>
              </a:rPr>
              <a:t>n</a:t>
            </a:r>
            <a:r>
              <a:rPr lang="en-US" altLang="en-US" sz="1800" b="1">
                <a:sym typeface="Symbol" pitchFamily="2" charset="2"/>
              </a:rPr>
              <a:t> + </a:t>
            </a:r>
            <a:r>
              <a:rPr lang="en-US" altLang="en-US" sz="1800">
                <a:sym typeface="Symbol" pitchFamily="2" charset="2"/>
              </a:rPr>
              <a:t>105 </a:t>
            </a:r>
            <a:r>
              <a:rPr lang="en-US" altLang="en-US" sz="1800"/>
              <a:t>is a linear function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1800">
                <a:sym typeface="Symbol" pitchFamily="2" charset="2"/>
              </a:rPr>
              <a:t>105</a:t>
            </a:r>
            <a:r>
              <a:rPr lang="en-US" altLang="en-US" sz="1800" b="1" i="1">
                <a:sym typeface="Symbol" pitchFamily="2" charset="2"/>
              </a:rPr>
              <a:t>n</a:t>
            </a:r>
            <a:r>
              <a:rPr lang="en-US" altLang="en-US" sz="1800" baseline="30000">
                <a:sym typeface="Symbol" pitchFamily="2" charset="2"/>
              </a:rPr>
              <a:t>2</a:t>
            </a:r>
            <a:r>
              <a:rPr lang="en-US" altLang="en-US" sz="1800">
                <a:sym typeface="Symbol" pitchFamily="2" charset="2"/>
              </a:rPr>
              <a:t> </a:t>
            </a:r>
            <a:r>
              <a:rPr lang="en-US" altLang="en-US" sz="1800" b="1">
                <a:sym typeface="Symbol" pitchFamily="2" charset="2"/>
              </a:rPr>
              <a:t>+</a:t>
            </a:r>
            <a:r>
              <a:rPr lang="en-US" altLang="en-US" sz="1800">
                <a:sym typeface="Symbol" pitchFamily="2" charset="2"/>
              </a:rPr>
              <a:t> 108</a:t>
            </a:r>
            <a:r>
              <a:rPr lang="en-US" altLang="en-US" sz="1800" b="1" i="1">
                <a:sym typeface="Symbol" pitchFamily="2" charset="2"/>
              </a:rPr>
              <a:t>n</a:t>
            </a:r>
            <a:r>
              <a:rPr lang="en-US" altLang="en-US" sz="1800">
                <a:sym typeface="Symbol" pitchFamily="2" charset="2"/>
              </a:rPr>
              <a:t> </a:t>
            </a:r>
            <a:r>
              <a:rPr lang="en-US" altLang="en-US" sz="1800"/>
              <a:t>is a quadratic function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22" name="Object 4">
            <a:extLst>
              <a:ext uri="{FF2B5EF4-FFF2-40B4-BE49-F238E27FC236}">
                <a16:creationId xmlns:a16="http://schemas.microsoft.com/office/drawing/2014/main" id="{86EFEC2D-F2F2-D5EF-825B-E0445D3A788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19525" y="1447800"/>
          <a:ext cx="5324475" cy="428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2" imgW="31203900" imgH="16967200" progId="Excel.Chart.8">
                  <p:embed followColorScheme="full"/>
                </p:oleObj>
              </mc:Choice>
              <mc:Fallback>
                <p:oleObj name="Chart" r:id="rId2" imgW="31203900" imgH="16967200" progId="Excel.Chart.8">
                  <p:embed followColorScheme="full"/>
                  <p:pic>
                    <p:nvPicPr>
                      <p:cNvPr id="5122" name="Object 4">
                        <a:extLst>
                          <a:ext uri="{FF2B5EF4-FFF2-40B4-BE49-F238E27FC236}">
                            <a16:creationId xmlns:a16="http://schemas.microsoft.com/office/drawing/2014/main" id="{86EFEC2D-F2F2-D5EF-825B-E0445D3A788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9525" y="1447800"/>
                        <a:ext cx="5324475" cy="428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3" name="Rectangle 5">
            <a:extLst>
              <a:ext uri="{FF2B5EF4-FFF2-40B4-BE49-F238E27FC236}">
                <a16:creationId xmlns:a16="http://schemas.microsoft.com/office/drawing/2014/main" id="{EB897365-0B01-6FC7-8B93-60A8B8372F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228600"/>
            <a:ext cx="7772400" cy="609600"/>
          </a:xfrm>
          <a:noFill/>
        </p:spPr>
        <p:txBody>
          <a:bodyPr anchor="b"/>
          <a:lstStyle/>
          <a:p>
            <a:pPr eaLnBrk="1" hangingPunct="1"/>
            <a:r>
              <a:rPr lang="en-US" altLang="en-US"/>
              <a:t>Big-Oh Notation</a:t>
            </a:r>
          </a:p>
        </p:txBody>
      </p:sp>
      <p:sp>
        <p:nvSpPr>
          <p:cNvPr id="5124" name="Rectangle 6" descr="Rectangle: Click to edit Master text styles&#13;&#10;Second level&#13;&#10;Third level&#13;&#10;Fourth level&#13;&#10;Fifth level">
            <a:extLst>
              <a:ext uri="{FF2B5EF4-FFF2-40B4-BE49-F238E27FC236}">
                <a16:creationId xmlns:a16="http://schemas.microsoft.com/office/drawing/2014/main" id="{6F6CD84C-531A-B80B-195F-BE95F5DD75D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371600"/>
            <a:ext cx="3733800" cy="4876800"/>
          </a:xfrm>
          <a:noFill/>
        </p:spPr>
        <p:txBody>
          <a:bodyPr/>
          <a:lstStyle/>
          <a:p>
            <a:pPr eaLnBrk="1" hangingPunct="1"/>
            <a:r>
              <a:rPr lang="en-US" altLang="en-US" sz="2000" dirty="0"/>
              <a:t>Given functions </a:t>
            </a:r>
            <a:r>
              <a:rPr lang="en-US" altLang="en-US" sz="2000" i="1" dirty="0">
                <a:solidFill>
                  <a:srgbClr val="FF6600"/>
                </a:solidFill>
                <a:sym typeface="Symbol" pitchFamily="2" charset="2"/>
              </a:rPr>
              <a:t>f</a:t>
            </a:r>
            <a:r>
              <a:rPr lang="en-US" altLang="en-US" sz="2000" dirty="0">
                <a:solidFill>
                  <a:srgbClr val="FF6600"/>
                </a:solidFill>
                <a:sym typeface="Symbol" pitchFamily="2" charset="2"/>
              </a:rPr>
              <a:t>(</a:t>
            </a:r>
            <a:r>
              <a:rPr lang="en-US" altLang="en-US" sz="2000" i="1" dirty="0">
                <a:solidFill>
                  <a:srgbClr val="FF6600"/>
                </a:solidFill>
                <a:sym typeface="Symbol" pitchFamily="2" charset="2"/>
              </a:rPr>
              <a:t>n</a:t>
            </a:r>
            <a:r>
              <a:rPr lang="en-US" altLang="en-US" sz="2000" dirty="0">
                <a:solidFill>
                  <a:srgbClr val="FF6600"/>
                </a:solidFill>
                <a:sym typeface="Symbol" pitchFamily="2" charset="2"/>
              </a:rPr>
              <a:t>)</a:t>
            </a:r>
            <a:r>
              <a:rPr lang="en-US" altLang="en-US" sz="2000" dirty="0">
                <a:sym typeface="Symbol" pitchFamily="2" charset="2"/>
              </a:rPr>
              <a:t> </a:t>
            </a:r>
            <a:r>
              <a:rPr lang="en-US" altLang="en-US" sz="2000" dirty="0"/>
              <a:t>and </a:t>
            </a:r>
            <a:r>
              <a:rPr lang="en-US" altLang="en-US" sz="2000" i="1" dirty="0">
                <a:solidFill>
                  <a:srgbClr val="FF6600"/>
                </a:solidFill>
                <a:sym typeface="Symbol" pitchFamily="2" charset="2"/>
              </a:rPr>
              <a:t>g</a:t>
            </a:r>
            <a:r>
              <a:rPr lang="en-US" altLang="en-US" sz="2000" dirty="0">
                <a:solidFill>
                  <a:srgbClr val="FF6600"/>
                </a:solidFill>
                <a:sym typeface="Symbol" pitchFamily="2" charset="2"/>
              </a:rPr>
              <a:t>(</a:t>
            </a:r>
            <a:r>
              <a:rPr lang="en-US" altLang="en-US" sz="2000" i="1" dirty="0">
                <a:solidFill>
                  <a:srgbClr val="FF6600"/>
                </a:solidFill>
                <a:sym typeface="Symbol" pitchFamily="2" charset="2"/>
              </a:rPr>
              <a:t>n</a:t>
            </a:r>
            <a:r>
              <a:rPr lang="en-US" altLang="en-US" sz="2000" dirty="0">
                <a:solidFill>
                  <a:srgbClr val="FF6600"/>
                </a:solidFill>
                <a:sym typeface="Symbol" pitchFamily="2" charset="2"/>
              </a:rPr>
              <a:t>)</a:t>
            </a:r>
            <a:r>
              <a:rPr lang="en-US" altLang="en-US" sz="2000" dirty="0">
                <a:sym typeface="Symbol" pitchFamily="2" charset="2"/>
              </a:rPr>
              <a:t>, </a:t>
            </a:r>
            <a:r>
              <a:rPr lang="en-US" altLang="en-US" sz="2000" dirty="0"/>
              <a:t>we say that </a:t>
            </a:r>
            <a:r>
              <a:rPr lang="en-US" altLang="en-US" sz="2000" i="1" dirty="0">
                <a:solidFill>
                  <a:srgbClr val="FF6600"/>
                </a:solidFill>
                <a:sym typeface="Symbol" pitchFamily="2" charset="2"/>
              </a:rPr>
              <a:t>f</a:t>
            </a:r>
            <a:r>
              <a:rPr lang="en-US" altLang="en-US" sz="2000" dirty="0">
                <a:solidFill>
                  <a:srgbClr val="FF6600"/>
                </a:solidFill>
                <a:sym typeface="Symbol" pitchFamily="2" charset="2"/>
              </a:rPr>
              <a:t>(</a:t>
            </a:r>
            <a:r>
              <a:rPr lang="en-US" altLang="en-US" sz="2000" i="1" dirty="0">
                <a:solidFill>
                  <a:srgbClr val="FF6600"/>
                </a:solidFill>
                <a:sym typeface="Symbol" pitchFamily="2" charset="2"/>
              </a:rPr>
              <a:t>n</a:t>
            </a:r>
            <a:r>
              <a:rPr lang="en-US" altLang="en-US" sz="2000" dirty="0">
                <a:solidFill>
                  <a:srgbClr val="FF6600"/>
                </a:solidFill>
                <a:sym typeface="Symbol" pitchFamily="2" charset="2"/>
              </a:rPr>
              <a:t>)</a:t>
            </a:r>
            <a:r>
              <a:rPr lang="en-US" altLang="en-US" sz="2000" dirty="0">
                <a:sym typeface="Symbol" pitchFamily="2" charset="2"/>
              </a:rPr>
              <a:t> </a:t>
            </a:r>
            <a:r>
              <a:rPr lang="en-US" altLang="en-US" sz="2000" dirty="0"/>
              <a:t>is </a:t>
            </a:r>
            <a:r>
              <a:rPr lang="en-US" altLang="en-US" sz="2000" i="1" dirty="0">
                <a:solidFill>
                  <a:srgbClr val="FF6600"/>
                </a:solidFill>
                <a:sym typeface="Symbol" pitchFamily="2" charset="2"/>
              </a:rPr>
              <a:t>O</a:t>
            </a:r>
            <a:r>
              <a:rPr lang="en-US" altLang="en-US" sz="2000" dirty="0">
                <a:solidFill>
                  <a:srgbClr val="FF6600"/>
                </a:solidFill>
                <a:sym typeface="Symbol" pitchFamily="2" charset="2"/>
              </a:rPr>
              <a:t>(</a:t>
            </a:r>
            <a:r>
              <a:rPr lang="en-US" altLang="en-US" sz="2000" i="1" dirty="0">
                <a:solidFill>
                  <a:srgbClr val="FF6600"/>
                </a:solidFill>
                <a:sym typeface="Symbol" pitchFamily="2" charset="2"/>
              </a:rPr>
              <a:t>g</a:t>
            </a:r>
            <a:r>
              <a:rPr lang="en-US" altLang="en-US" sz="2000" dirty="0">
                <a:solidFill>
                  <a:srgbClr val="FF6600"/>
                </a:solidFill>
                <a:sym typeface="Symbol" pitchFamily="2" charset="2"/>
              </a:rPr>
              <a:t>(</a:t>
            </a:r>
            <a:r>
              <a:rPr lang="en-US" altLang="en-US" sz="2000" i="1" dirty="0">
                <a:solidFill>
                  <a:srgbClr val="FF6600"/>
                </a:solidFill>
                <a:sym typeface="Symbol" pitchFamily="2" charset="2"/>
              </a:rPr>
              <a:t>n</a:t>
            </a:r>
            <a:r>
              <a:rPr lang="en-US" altLang="en-US" sz="2000" dirty="0">
                <a:solidFill>
                  <a:srgbClr val="FF6600"/>
                </a:solidFill>
                <a:sym typeface="Symbol" pitchFamily="2" charset="2"/>
              </a:rPr>
              <a:t>))</a:t>
            </a:r>
            <a:r>
              <a:rPr lang="en-US" altLang="en-US" sz="2000" dirty="0">
                <a:sym typeface="Symbol" pitchFamily="2" charset="2"/>
              </a:rPr>
              <a:t> </a:t>
            </a:r>
            <a:r>
              <a:rPr lang="en-US" altLang="en-US" sz="2000" dirty="0"/>
              <a:t>if there are positive constants </a:t>
            </a:r>
            <a:r>
              <a:rPr lang="en-US" altLang="en-US" sz="2000" i="1" dirty="0">
                <a:solidFill>
                  <a:srgbClr val="FF6600"/>
                </a:solidFill>
                <a:sym typeface="Symbol" pitchFamily="2" charset="2"/>
              </a:rPr>
              <a:t>c</a:t>
            </a:r>
            <a:r>
              <a:rPr lang="en-US" altLang="en-US" sz="2000" dirty="0">
                <a:solidFill>
                  <a:srgbClr val="FF6600"/>
                </a:solidFill>
              </a:rPr>
              <a:t> </a:t>
            </a:r>
            <a:r>
              <a:rPr lang="en-US" altLang="en-US" sz="2000" dirty="0"/>
              <a:t>and </a:t>
            </a:r>
            <a:r>
              <a:rPr lang="en-US" altLang="en-US" sz="2000" i="1" dirty="0">
                <a:solidFill>
                  <a:srgbClr val="FF6600"/>
                </a:solidFill>
                <a:sym typeface="Symbol" pitchFamily="2" charset="2"/>
              </a:rPr>
              <a:t>n</a:t>
            </a:r>
            <a:r>
              <a:rPr lang="en-US" altLang="en-US" sz="2000" baseline="-25000" dirty="0">
                <a:solidFill>
                  <a:srgbClr val="FF6600"/>
                </a:solidFill>
                <a:sym typeface="Symbol" pitchFamily="2" charset="2"/>
              </a:rPr>
              <a:t>0</a:t>
            </a:r>
            <a:r>
              <a:rPr lang="en-US" altLang="en-US" sz="2000" dirty="0"/>
              <a:t> such that:</a:t>
            </a:r>
          </a:p>
          <a:p>
            <a:pPr eaLnBrk="1" hangingPunct="1">
              <a:buFontTx/>
              <a:buNone/>
            </a:pPr>
            <a:r>
              <a:rPr lang="en-US" altLang="en-US" sz="2000" i="1" dirty="0">
                <a:sym typeface="Symbol" pitchFamily="2" charset="2"/>
              </a:rPr>
              <a:t>	f</a:t>
            </a:r>
            <a:r>
              <a:rPr lang="en-US" altLang="en-US" sz="2000" dirty="0">
                <a:sym typeface="Symbol" pitchFamily="2" charset="2"/>
              </a:rPr>
              <a:t>(</a:t>
            </a:r>
            <a:r>
              <a:rPr lang="en-US" altLang="en-US" sz="2000" i="1" dirty="0">
                <a:sym typeface="Symbol" pitchFamily="2" charset="2"/>
              </a:rPr>
              <a:t>n</a:t>
            </a:r>
            <a:r>
              <a:rPr lang="en-US" altLang="en-US" sz="2000" dirty="0">
                <a:sym typeface="Symbol" pitchFamily="2" charset="2"/>
              </a:rPr>
              <a:t>)</a:t>
            </a:r>
            <a:r>
              <a:rPr lang="en-US" altLang="en-US" sz="2000" dirty="0"/>
              <a:t> </a:t>
            </a:r>
            <a:r>
              <a:rPr lang="en-US" altLang="en-US" sz="2000" dirty="0">
                <a:sym typeface="Symbol" pitchFamily="2" charset="2"/>
              </a:rPr>
              <a:t></a:t>
            </a:r>
            <a:r>
              <a:rPr lang="en-US" altLang="en-US" sz="2000" dirty="0"/>
              <a:t> </a:t>
            </a:r>
            <a:r>
              <a:rPr lang="en-US" altLang="en-US" sz="2000" i="1" dirty="0">
                <a:sym typeface="Symbol" pitchFamily="2" charset="2"/>
              </a:rPr>
              <a:t>cg</a:t>
            </a:r>
            <a:r>
              <a:rPr lang="en-US" altLang="en-US" sz="2000" dirty="0">
                <a:sym typeface="Symbol" pitchFamily="2" charset="2"/>
              </a:rPr>
              <a:t>(</a:t>
            </a:r>
            <a:r>
              <a:rPr lang="en-US" altLang="en-US" sz="2000" i="1" dirty="0">
                <a:sym typeface="Symbol" pitchFamily="2" charset="2"/>
              </a:rPr>
              <a:t>n</a:t>
            </a:r>
            <a:r>
              <a:rPr lang="en-US" altLang="en-US" sz="2000" dirty="0">
                <a:sym typeface="Symbol" pitchFamily="2" charset="2"/>
              </a:rPr>
              <a:t>)  </a:t>
            </a:r>
            <a:r>
              <a:rPr lang="en-US" altLang="en-US" sz="2000" dirty="0"/>
              <a:t>for </a:t>
            </a:r>
            <a:r>
              <a:rPr lang="en-US" altLang="en-US" sz="2000" i="1" dirty="0">
                <a:sym typeface="Symbol" pitchFamily="2" charset="2"/>
              </a:rPr>
              <a:t>n </a:t>
            </a:r>
            <a:r>
              <a:rPr lang="en-US" altLang="en-US" sz="2000" dirty="0">
                <a:sym typeface="Symbol" pitchFamily="2" charset="2"/>
              </a:rPr>
              <a:t></a:t>
            </a:r>
            <a:r>
              <a:rPr lang="en-US" altLang="en-US" sz="2000" dirty="0"/>
              <a:t> </a:t>
            </a:r>
            <a:r>
              <a:rPr lang="en-US" altLang="en-US" sz="2000" i="1" dirty="0">
                <a:sym typeface="Symbol" pitchFamily="2" charset="2"/>
              </a:rPr>
              <a:t>n</a:t>
            </a:r>
            <a:r>
              <a:rPr lang="en-US" altLang="en-US" sz="2000" baseline="-25000" dirty="0">
                <a:sym typeface="Symbol" pitchFamily="2" charset="2"/>
              </a:rPr>
              <a:t>0</a:t>
            </a:r>
          </a:p>
          <a:p>
            <a:pPr eaLnBrk="1" hangingPunct="1"/>
            <a:endParaRPr lang="en-US" altLang="en-US" sz="2000" dirty="0">
              <a:sym typeface="Symbol" pitchFamily="2" charset="2"/>
            </a:endParaRPr>
          </a:p>
          <a:p>
            <a:pPr eaLnBrk="1" hangingPunct="1"/>
            <a:r>
              <a:rPr lang="en-US" altLang="en-US" sz="2000" dirty="0"/>
              <a:t>Example: </a:t>
            </a:r>
            <a:r>
              <a:rPr lang="en-US" altLang="en-US" sz="2000" dirty="0">
                <a:sym typeface="Symbol" pitchFamily="2" charset="2"/>
              </a:rPr>
              <a:t>2</a:t>
            </a:r>
            <a:r>
              <a:rPr lang="en-US" altLang="en-US" sz="2000" i="1" dirty="0">
                <a:sym typeface="Symbol" pitchFamily="2" charset="2"/>
              </a:rPr>
              <a:t>n</a:t>
            </a:r>
            <a:r>
              <a:rPr lang="en-US" altLang="en-US" sz="2000" dirty="0">
                <a:sym typeface="Symbol" pitchFamily="2" charset="2"/>
              </a:rPr>
              <a:t> + 10 is </a:t>
            </a:r>
            <a:r>
              <a:rPr lang="en-US" altLang="en-US" sz="2000" i="1" dirty="0">
                <a:sym typeface="Symbol" pitchFamily="2" charset="2"/>
              </a:rPr>
              <a:t>O</a:t>
            </a:r>
            <a:r>
              <a:rPr lang="en-US" altLang="en-US" sz="2000" dirty="0">
                <a:sym typeface="Symbol" pitchFamily="2" charset="2"/>
              </a:rPr>
              <a:t>(</a:t>
            </a:r>
            <a:r>
              <a:rPr lang="en-US" altLang="en-US" sz="2000" i="1" dirty="0">
                <a:sym typeface="Symbol" pitchFamily="2" charset="2"/>
              </a:rPr>
              <a:t>n</a:t>
            </a:r>
            <a:r>
              <a:rPr lang="en-US" altLang="en-US" sz="2000" dirty="0">
                <a:sym typeface="Symbol" pitchFamily="2" charset="2"/>
              </a:rPr>
              <a:t>)</a:t>
            </a:r>
          </a:p>
          <a:p>
            <a:pPr lvl="1" eaLnBrk="1" hangingPunct="1"/>
            <a:r>
              <a:rPr lang="en-US" altLang="en-US" dirty="0">
                <a:sym typeface="Symbol" pitchFamily="2" charset="2"/>
              </a:rPr>
              <a:t>2</a:t>
            </a:r>
            <a:r>
              <a:rPr lang="en-US" altLang="en-US" i="1" dirty="0">
                <a:sym typeface="Symbol" pitchFamily="2" charset="2"/>
              </a:rPr>
              <a:t>n</a:t>
            </a:r>
            <a:r>
              <a:rPr lang="en-US" altLang="en-US" dirty="0">
                <a:sym typeface="Symbol" pitchFamily="2" charset="2"/>
              </a:rPr>
              <a:t> + 10</a:t>
            </a:r>
            <a:r>
              <a:rPr lang="en-US" altLang="en-US" i="1" dirty="0">
                <a:sym typeface="Symbol" pitchFamily="2" charset="2"/>
              </a:rPr>
              <a:t> </a:t>
            </a:r>
            <a:r>
              <a:rPr lang="en-US" altLang="en-US" dirty="0">
                <a:sym typeface="Symbol" pitchFamily="2" charset="2"/>
              </a:rPr>
              <a:t></a:t>
            </a:r>
            <a:r>
              <a:rPr lang="en-US" altLang="en-US" dirty="0"/>
              <a:t> </a:t>
            </a:r>
            <a:r>
              <a:rPr lang="en-US" altLang="en-US" i="1" dirty="0" err="1">
                <a:sym typeface="Symbol" pitchFamily="2" charset="2"/>
              </a:rPr>
              <a:t>cn</a:t>
            </a:r>
            <a:endParaRPr lang="en-US" altLang="en-US" i="1" dirty="0">
              <a:sym typeface="Symbol" pitchFamily="2" charset="2"/>
            </a:endParaRPr>
          </a:p>
          <a:p>
            <a:pPr lvl="1" eaLnBrk="1" hangingPunct="1"/>
            <a:r>
              <a:rPr lang="en-US" altLang="en-US" dirty="0">
                <a:sym typeface="Symbol" pitchFamily="2" charset="2"/>
              </a:rPr>
              <a:t>(</a:t>
            </a:r>
            <a:r>
              <a:rPr lang="en-US" altLang="en-US" i="1" dirty="0">
                <a:sym typeface="Symbol" pitchFamily="2" charset="2"/>
              </a:rPr>
              <a:t>c</a:t>
            </a:r>
            <a:r>
              <a:rPr lang="en-US" altLang="en-US" dirty="0">
                <a:sym typeface="Symbol" pitchFamily="2" charset="2"/>
              </a:rPr>
              <a:t>  2) </a:t>
            </a:r>
            <a:r>
              <a:rPr lang="en-US" altLang="en-US" i="1" dirty="0">
                <a:sym typeface="Symbol" pitchFamily="2" charset="2"/>
              </a:rPr>
              <a:t>n </a:t>
            </a:r>
            <a:r>
              <a:rPr lang="en-US" altLang="en-US" dirty="0">
                <a:sym typeface="Symbol" pitchFamily="2" charset="2"/>
              </a:rPr>
              <a:t> 10</a:t>
            </a:r>
          </a:p>
          <a:p>
            <a:pPr lvl="1" eaLnBrk="1" hangingPunct="1"/>
            <a:r>
              <a:rPr lang="en-US" altLang="en-US" i="1" dirty="0">
                <a:sym typeface="Symbol" pitchFamily="2" charset="2"/>
              </a:rPr>
              <a:t>n </a:t>
            </a:r>
            <a:r>
              <a:rPr lang="en-US" altLang="en-US" dirty="0">
                <a:sym typeface="Symbol" pitchFamily="2" charset="2"/>
              </a:rPr>
              <a:t> 10/(</a:t>
            </a:r>
            <a:r>
              <a:rPr lang="en-US" altLang="en-US" i="1" dirty="0">
                <a:sym typeface="Symbol" pitchFamily="2" charset="2"/>
              </a:rPr>
              <a:t>c</a:t>
            </a:r>
            <a:r>
              <a:rPr lang="en-US" altLang="en-US" dirty="0">
                <a:sym typeface="Symbol" pitchFamily="2" charset="2"/>
              </a:rPr>
              <a:t>  2)</a:t>
            </a:r>
          </a:p>
          <a:p>
            <a:pPr lvl="1" eaLnBrk="1" hangingPunct="1"/>
            <a:r>
              <a:rPr lang="en-US" altLang="en-US" dirty="0"/>
              <a:t>Pick </a:t>
            </a:r>
            <a:r>
              <a:rPr lang="en-US" altLang="en-US" i="1" dirty="0">
                <a:sym typeface="Symbol" pitchFamily="2" charset="2"/>
              </a:rPr>
              <a:t>c </a:t>
            </a:r>
            <a:r>
              <a:rPr lang="en-US" altLang="en-US" dirty="0">
                <a:sym typeface="Symbol" pitchFamily="2" charset="2"/>
              </a:rPr>
              <a:t>= 3 </a:t>
            </a:r>
            <a:r>
              <a:rPr lang="en-US" altLang="en-US" dirty="0"/>
              <a:t>and </a:t>
            </a:r>
            <a:r>
              <a:rPr lang="en-US" altLang="en-US" i="1" dirty="0">
                <a:sym typeface="Symbol" pitchFamily="2" charset="2"/>
              </a:rPr>
              <a:t>n</a:t>
            </a:r>
            <a:r>
              <a:rPr lang="en-US" altLang="en-US" baseline="-25000" dirty="0">
                <a:sym typeface="Symbol" pitchFamily="2" charset="2"/>
              </a:rPr>
              <a:t>0</a:t>
            </a:r>
            <a:r>
              <a:rPr lang="en-US" altLang="en-US" dirty="0">
                <a:sym typeface="Symbol" pitchFamily="2" charset="2"/>
              </a:rPr>
              <a:t> = 10</a:t>
            </a:r>
          </a:p>
          <a:p>
            <a:pPr lvl="1" eaLnBrk="1" hangingPunct="1"/>
            <a:r>
              <a:rPr lang="en-US" altLang="en-US" dirty="0">
                <a:sym typeface="Symbol" pitchFamily="2" charset="2"/>
              </a:rPr>
              <a:t>Or pick c = 4 and </a:t>
            </a:r>
            <a:r>
              <a:rPr lang="en-US" altLang="en-US" i="1" dirty="0">
                <a:sym typeface="Symbol" pitchFamily="2" charset="2"/>
              </a:rPr>
              <a:t>n</a:t>
            </a:r>
            <a:r>
              <a:rPr lang="en-US" altLang="en-US" baseline="-25000" dirty="0">
                <a:sym typeface="Symbol" pitchFamily="2" charset="2"/>
              </a:rPr>
              <a:t>0</a:t>
            </a:r>
            <a:r>
              <a:rPr lang="en-US" altLang="en-US" dirty="0">
                <a:sym typeface="Symbol" pitchFamily="2" charset="2"/>
              </a:rPr>
              <a:t> = 5</a:t>
            </a:r>
            <a:endParaRPr lang="en-US" altLang="en-US" dirty="0"/>
          </a:p>
          <a:p>
            <a:pPr eaLnBrk="1" hangingPunct="1"/>
            <a:endParaRPr lang="en-US" alt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46" name="Object 4">
            <a:extLst>
              <a:ext uri="{FF2B5EF4-FFF2-40B4-BE49-F238E27FC236}">
                <a16:creationId xmlns:a16="http://schemas.microsoft.com/office/drawing/2014/main" id="{BA2B8C81-163C-FA13-E24F-D8AEDD67FDF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10000" y="1562100"/>
          <a:ext cx="5153025" cy="4619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2" imgW="29667200" imgH="16129000" progId="Excel.Chart.8">
                  <p:embed followColorScheme="full"/>
                </p:oleObj>
              </mc:Choice>
              <mc:Fallback>
                <p:oleObj name="Chart" r:id="rId2" imgW="29667200" imgH="16129000" progId="Excel.Chart.8">
                  <p:embed followColorScheme="full"/>
                  <p:pic>
                    <p:nvPicPr>
                      <p:cNvPr id="6146" name="Object 4">
                        <a:extLst>
                          <a:ext uri="{FF2B5EF4-FFF2-40B4-BE49-F238E27FC236}">
                            <a16:creationId xmlns:a16="http://schemas.microsoft.com/office/drawing/2014/main" id="{BA2B8C81-163C-FA13-E24F-D8AEDD67FDF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1562100"/>
                        <a:ext cx="5153025" cy="4619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7" name="Rectangle 5">
            <a:extLst>
              <a:ext uri="{FF2B5EF4-FFF2-40B4-BE49-F238E27FC236}">
                <a16:creationId xmlns:a16="http://schemas.microsoft.com/office/drawing/2014/main" id="{5D2C717C-17EE-4812-35A8-A058B89025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228600"/>
            <a:ext cx="7772400" cy="685800"/>
          </a:xfrm>
          <a:noFill/>
        </p:spPr>
        <p:txBody>
          <a:bodyPr anchor="b"/>
          <a:lstStyle/>
          <a:p>
            <a:pPr eaLnBrk="1" hangingPunct="1"/>
            <a:r>
              <a:rPr lang="en-US" altLang="en-US"/>
              <a:t>Big-Oh Example</a:t>
            </a:r>
          </a:p>
        </p:txBody>
      </p:sp>
      <p:sp>
        <p:nvSpPr>
          <p:cNvPr id="6148" name="Rectangle 6" descr="Rectangle: Click to edit Master text styles&#13;&#10;Second level&#13;&#10;Third level&#13;&#10;Fourth level&#13;&#10;Fifth level">
            <a:extLst>
              <a:ext uri="{FF2B5EF4-FFF2-40B4-BE49-F238E27FC236}">
                <a16:creationId xmlns:a16="http://schemas.microsoft.com/office/drawing/2014/main" id="{5487B468-5D1E-34F1-4F85-79CE548890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905000"/>
            <a:ext cx="3581400" cy="3657600"/>
          </a:xfrm>
          <a:noFill/>
        </p:spPr>
        <p:txBody>
          <a:bodyPr/>
          <a:lstStyle/>
          <a:p>
            <a:pPr eaLnBrk="1" hangingPunct="1"/>
            <a:r>
              <a:rPr lang="en-US" altLang="en-US" sz="2200"/>
              <a:t>Example: </a:t>
            </a:r>
          </a:p>
          <a:p>
            <a:pPr eaLnBrk="1" hangingPunct="1">
              <a:buFontTx/>
              <a:buNone/>
            </a:pPr>
            <a:r>
              <a:rPr lang="en-US" altLang="en-US" sz="1800"/>
              <a:t>	the function </a:t>
            </a:r>
            <a:r>
              <a:rPr lang="en-US" altLang="en-US" sz="1800" i="1">
                <a:sym typeface="Symbol" pitchFamily="2" charset="2"/>
              </a:rPr>
              <a:t>n</a:t>
            </a:r>
            <a:r>
              <a:rPr lang="en-US" altLang="en-US" sz="1800" baseline="30000">
                <a:sym typeface="Symbol" pitchFamily="2" charset="2"/>
              </a:rPr>
              <a:t>2</a:t>
            </a:r>
            <a:r>
              <a:rPr lang="en-US" altLang="en-US" sz="1800">
                <a:sym typeface="Symbol" pitchFamily="2" charset="2"/>
              </a:rPr>
              <a:t> is not </a:t>
            </a:r>
            <a:r>
              <a:rPr lang="en-US" altLang="en-US" sz="1800" i="1">
                <a:sym typeface="Symbol" pitchFamily="2" charset="2"/>
              </a:rPr>
              <a:t>O</a:t>
            </a:r>
            <a:r>
              <a:rPr lang="en-US" altLang="en-US" sz="1800">
                <a:sym typeface="Symbol" pitchFamily="2" charset="2"/>
              </a:rPr>
              <a:t>(</a:t>
            </a:r>
            <a:r>
              <a:rPr lang="en-US" altLang="en-US" sz="1800" i="1">
                <a:sym typeface="Symbol" pitchFamily="2" charset="2"/>
              </a:rPr>
              <a:t>n</a:t>
            </a:r>
            <a:r>
              <a:rPr lang="en-US" altLang="en-US" sz="1800">
                <a:sym typeface="Symbol" pitchFamily="2" charset="2"/>
              </a:rPr>
              <a:t>)</a:t>
            </a:r>
          </a:p>
          <a:p>
            <a:pPr lvl="1" eaLnBrk="1" hangingPunct="1"/>
            <a:r>
              <a:rPr lang="en-US" altLang="en-US" i="1">
                <a:sym typeface="Symbol" pitchFamily="2" charset="2"/>
              </a:rPr>
              <a:t>n</a:t>
            </a:r>
            <a:r>
              <a:rPr lang="en-US" altLang="en-US" baseline="30000">
                <a:sym typeface="Symbol" pitchFamily="2" charset="2"/>
              </a:rPr>
              <a:t>2</a:t>
            </a:r>
            <a:r>
              <a:rPr lang="en-US" altLang="en-US" i="1">
                <a:sym typeface="Symbol" pitchFamily="2" charset="2"/>
              </a:rPr>
              <a:t> </a:t>
            </a:r>
            <a:r>
              <a:rPr lang="en-US" altLang="en-US">
                <a:sym typeface="Symbol" pitchFamily="2" charset="2"/>
              </a:rPr>
              <a:t></a:t>
            </a:r>
            <a:r>
              <a:rPr lang="en-US" altLang="en-US"/>
              <a:t> </a:t>
            </a:r>
            <a:r>
              <a:rPr lang="en-US" altLang="en-US" i="1">
                <a:sym typeface="Symbol" pitchFamily="2" charset="2"/>
              </a:rPr>
              <a:t>cn</a:t>
            </a:r>
          </a:p>
          <a:p>
            <a:pPr lvl="1" eaLnBrk="1" hangingPunct="1"/>
            <a:r>
              <a:rPr lang="en-US" altLang="en-US" i="1">
                <a:sym typeface="Symbol" pitchFamily="2" charset="2"/>
              </a:rPr>
              <a:t>n </a:t>
            </a:r>
            <a:r>
              <a:rPr lang="en-US" altLang="en-US">
                <a:sym typeface="Symbol" pitchFamily="2" charset="2"/>
              </a:rPr>
              <a:t></a:t>
            </a:r>
            <a:r>
              <a:rPr lang="en-US" altLang="en-US"/>
              <a:t> </a:t>
            </a:r>
            <a:r>
              <a:rPr lang="en-US" altLang="en-US" i="1">
                <a:sym typeface="Symbol" pitchFamily="2" charset="2"/>
              </a:rPr>
              <a:t>c</a:t>
            </a:r>
            <a:endParaRPr lang="en-US" altLang="en-US">
              <a:sym typeface="Symbol" pitchFamily="2" charset="2"/>
            </a:endParaRPr>
          </a:p>
          <a:p>
            <a:pPr lvl="1" eaLnBrk="1" hangingPunct="1"/>
            <a:r>
              <a:rPr lang="en-US" altLang="en-US"/>
              <a:t>The above inequality cannot be satisfied since </a:t>
            </a:r>
            <a:r>
              <a:rPr lang="en-US" altLang="en-US" b="1" i="1">
                <a:sym typeface="Symbol" pitchFamily="2" charset="2"/>
              </a:rPr>
              <a:t>c</a:t>
            </a:r>
            <a:r>
              <a:rPr lang="en-US" altLang="en-US"/>
              <a:t> must be a constant </a:t>
            </a:r>
          </a:p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802956-32A0-81C5-942B-DC7A9D5C3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5">
            <a:extLst>
              <a:ext uri="{FF2B5EF4-FFF2-40B4-BE49-F238E27FC236}">
                <a16:creationId xmlns:a16="http://schemas.microsoft.com/office/drawing/2014/main" id="{5E06BE6C-AFC2-B403-D14A-EA92BD71AA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228600"/>
            <a:ext cx="7772400" cy="685800"/>
          </a:xfrm>
          <a:noFill/>
        </p:spPr>
        <p:txBody>
          <a:bodyPr anchor="b"/>
          <a:lstStyle/>
          <a:p>
            <a:pPr eaLnBrk="1" hangingPunct="1"/>
            <a:r>
              <a:rPr lang="en-US" altLang="en-US" dirty="0"/>
              <a:t>Big-Oh Example (on your own)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04D0286-620C-33A9-42B2-F2284DD1F2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447800"/>
            <a:ext cx="7772400" cy="4419600"/>
          </a:xfrm>
        </p:spPr>
        <p:txBody>
          <a:bodyPr/>
          <a:lstStyle/>
          <a:p>
            <a:r>
              <a:rPr lang="en-US" dirty="0">
                <a:effectLst/>
              </a:rPr>
              <a:t>Show that 1000n is O(2</a:t>
            </a:r>
            <a:r>
              <a:rPr lang="en-US" baseline="30000" dirty="0">
                <a:effectLst/>
              </a:rPr>
              <a:t>n</a:t>
            </a:r>
            <a:r>
              <a:rPr lang="en-US" dirty="0">
                <a:effectLst/>
              </a:rPr>
              <a:t>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sz="2200" dirty="0">
                <a:solidFill>
                  <a:srgbClr val="F44747"/>
                </a:solidFill>
                <a:effectLst/>
                <a:latin typeface="Caveat"/>
              </a:rPr>
              <a:t>      </a:t>
            </a:r>
            <a:r>
              <a:rPr lang="en-US" sz="2200" dirty="0">
                <a:solidFill>
                  <a:srgbClr val="C00000"/>
                </a:solidFill>
                <a:effectLst/>
                <a:latin typeface="Caveat"/>
              </a:rPr>
              <a:t>But when n = 14, 1000n = 14,000 while 2 = 16,384. </a:t>
            </a:r>
            <a:endParaRPr lang="en-US" sz="2200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US" sz="2200" dirty="0">
                <a:solidFill>
                  <a:srgbClr val="C00000"/>
                </a:solidFill>
                <a:latin typeface="Caveat"/>
              </a:rPr>
              <a:t>      </a:t>
            </a:r>
            <a:r>
              <a:rPr lang="en-US" sz="2200" dirty="0">
                <a:solidFill>
                  <a:srgbClr val="C00000"/>
                </a:solidFill>
                <a:effectLst/>
                <a:latin typeface="Caveat"/>
              </a:rPr>
              <a:t>So, when c = ____ and n0 = ____, we have:</a:t>
            </a:r>
            <a:endParaRPr lang="en-US" sz="2200" dirty="0">
              <a:solidFill>
                <a:srgbClr val="C00000"/>
              </a:solidFill>
              <a:latin typeface="Caveat"/>
            </a:endParaRPr>
          </a:p>
          <a:p>
            <a:pPr marL="0" indent="0">
              <a:buNone/>
            </a:pPr>
            <a:r>
              <a:rPr lang="en-US" altLang="en-US" sz="2400" i="1" dirty="0">
                <a:solidFill>
                  <a:srgbClr val="C00000"/>
                </a:solidFill>
                <a:sym typeface="Symbol" pitchFamily="2" charset="2"/>
              </a:rPr>
              <a:t>   	1000n</a:t>
            </a:r>
            <a:r>
              <a:rPr lang="en-US" altLang="en-US" sz="2400" dirty="0">
                <a:solidFill>
                  <a:srgbClr val="C00000"/>
                </a:solidFill>
              </a:rPr>
              <a:t> </a:t>
            </a:r>
            <a:r>
              <a:rPr lang="en-US" altLang="en-US" sz="2400" dirty="0">
                <a:solidFill>
                  <a:srgbClr val="C00000"/>
                </a:solidFill>
                <a:sym typeface="Symbol" pitchFamily="2" charset="2"/>
              </a:rPr>
              <a:t></a:t>
            </a:r>
            <a:r>
              <a:rPr lang="en-US" altLang="en-US" sz="2400" dirty="0">
                <a:solidFill>
                  <a:srgbClr val="C00000"/>
                </a:solidFill>
              </a:rPr>
              <a:t> </a:t>
            </a:r>
            <a:r>
              <a:rPr lang="en-US" altLang="en-US" sz="2400" i="1" dirty="0">
                <a:solidFill>
                  <a:srgbClr val="C00000"/>
                </a:solidFill>
                <a:sym typeface="Symbol" pitchFamily="2" charset="2"/>
              </a:rPr>
              <a:t>c</a:t>
            </a:r>
            <a:r>
              <a:rPr lang="en-US" dirty="0">
                <a:solidFill>
                  <a:srgbClr val="C00000"/>
                </a:solidFill>
                <a:effectLst/>
              </a:rPr>
              <a:t> 2</a:t>
            </a:r>
            <a:r>
              <a:rPr lang="en-US" baseline="30000" dirty="0">
                <a:solidFill>
                  <a:srgbClr val="C00000"/>
                </a:solidFill>
                <a:effectLst/>
              </a:rPr>
              <a:t>n</a:t>
            </a:r>
            <a:r>
              <a:rPr lang="en-US" altLang="en-US" sz="2400" dirty="0">
                <a:solidFill>
                  <a:srgbClr val="C00000"/>
                </a:solidFill>
                <a:sym typeface="Symbol" pitchFamily="2" charset="2"/>
              </a:rPr>
              <a:t>  </a:t>
            </a:r>
            <a:r>
              <a:rPr lang="en-US" altLang="en-US" sz="2400" dirty="0">
                <a:solidFill>
                  <a:srgbClr val="C00000"/>
                </a:solidFill>
              </a:rPr>
              <a:t>for </a:t>
            </a:r>
            <a:r>
              <a:rPr lang="en-US" altLang="en-US" sz="2400" i="1" dirty="0">
                <a:solidFill>
                  <a:srgbClr val="C00000"/>
                </a:solidFill>
                <a:sym typeface="Symbol" pitchFamily="2" charset="2"/>
              </a:rPr>
              <a:t>n </a:t>
            </a:r>
            <a:r>
              <a:rPr lang="en-US" altLang="en-US" sz="2400" dirty="0">
                <a:solidFill>
                  <a:srgbClr val="C00000"/>
                </a:solidFill>
                <a:sym typeface="Symbol" pitchFamily="2" charset="2"/>
              </a:rPr>
              <a:t></a:t>
            </a:r>
            <a:r>
              <a:rPr lang="en-US" altLang="en-US" sz="2400" dirty="0">
                <a:solidFill>
                  <a:srgbClr val="C00000"/>
                </a:solidFill>
              </a:rPr>
              <a:t> </a:t>
            </a:r>
            <a:r>
              <a:rPr lang="en-US" altLang="en-US" sz="2400" i="1" dirty="0">
                <a:solidFill>
                  <a:srgbClr val="C00000"/>
                </a:solidFill>
                <a:sym typeface="Symbol" pitchFamily="2" charset="2"/>
              </a:rPr>
              <a:t>n</a:t>
            </a:r>
            <a:r>
              <a:rPr lang="en-US" altLang="en-US" sz="2400" baseline="-25000" dirty="0">
                <a:solidFill>
                  <a:srgbClr val="C00000"/>
                </a:solidFill>
                <a:sym typeface="Symbol" pitchFamily="2" charset="2"/>
              </a:rPr>
              <a:t>0</a:t>
            </a:r>
            <a:r>
              <a:rPr lang="en-US" sz="2200" dirty="0">
                <a:solidFill>
                  <a:srgbClr val="C00000"/>
                </a:solidFill>
                <a:effectLst/>
                <a:latin typeface="Caveat"/>
              </a:rPr>
              <a:t> </a:t>
            </a:r>
            <a:endParaRPr lang="en-US" sz="2200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B92DDCF-6B32-8608-E6DA-868CE1CB5E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209800"/>
            <a:ext cx="7772400" cy="1717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17219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11A635A0-9E56-C8F5-2536-C62182CE31E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685800"/>
          </a:xfrm>
        </p:spPr>
        <p:txBody>
          <a:bodyPr/>
          <a:lstStyle/>
          <a:p>
            <a:pPr eaLnBrk="1" hangingPunct="1"/>
            <a:r>
              <a:rPr lang="en-US" altLang="en-US"/>
              <a:t>Big-Oh and Growth Rate</a:t>
            </a:r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3820D1F5-74C3-E785-C085-28C0DA2A99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371600"/>
            <a:ext cx="8001000" cy="2209800"/>
          </a:xfrm>
        </p:spPr>
        <p:txBody>
          <a:bodyPr/>
          <a:lstStyle/>
          <a:p>
            <a:pPr eaLnBrk="1" hangingPunct="1"/>
            <a:r>
              <a:rPr lang="en-US" altLang="en-US" sz="2000"/>
              <a:t>The big-Oh notation gives an upper bound on the growth rate of a function</a:t>
            </a:r>
          </a:p>
          <a:p>
            <a:pPr eaLnBrk="1" hangingPunct="1"/>
            <a:r>
              <a:rPr lang="en-US" altLang="en-US" sz="2000"/>
              <a:t>The statement “</a:t>
            </a:r>
            <a:r>
              <a:rPr lang="en-US" altLang="en-US" sz="2000" b="1" i="1">
                <a:latin typeface="Times New Roman" panose="02020603050405020304" pitchFamily="18" charset="0"/>
                <a:sym typeface="Symbol" pitchFamily="2" charset="2"/>
              </a:rPr>
              <a:t>f</a:t>
            </a:r>
            <a:r>
              <a:rPr lang="en-US" altLang="en-US" sz="2000">
                <a:latin typeface="Times New Roman" panose="02020603050405020304" pitchFamily="18" charset="0"/>
                <a:sym typeface="Symbol" pitchFamily="2" charset="2"/>
              </a:rPr>
              <a:t>(</a:t>
            </a:r>
            <a:r>
              <a:rPr lang="en-US" altLang="en-US" sz="2000" b="1" i="1">
                <a:latin typeface="Times New Roman" panose="02020603050405020304" pitchFamily="18" charset="0"/>
                <a:sym typeface="Symbol" pitchFamily="2" charset="2"/>
              </a:rPr>
              <a:t>n</a:t>
            </a:r>
            <a:r>
              <a:rPr lang="en-US" altLang="en-US" sz="2000">
                <a:latin typeface="Times New Roman" panose="02020603050405020304" pitchFamily="18" charset="0"/>
                <a:sym typeface="Symbol" pitchFamily="2" charset="2"/>
              </a:rPr>
              <a:t>) </a:t>
            </a:r>
            <a:r>
              <a:rPr lang="en-US" altLang="en-US" sz="2000"/>
              <a:t>is </a:t>
            </a:r>
            <a:r>
              <a:rPr lang="en-US" altLang="en-US" sz="2000" b="1" i="1">
                <a:latin typeface="Times New Roman" panose="02020603050405020304" pitchFamily="18" charset="0"/>
                <a:sym typeface="Symbol" pitchFamily="2" charset="2"/>
              </a:rPr>
              <a:t>O</a:t>
            </a:r>
            <a:r>
              <a:rPr lang="en-US" altLang="en-US" sz="2000">
                <a:latin typeface="Times New Roman" panose="02020603050405020304" pitchFamily="18" charset="0"/>
                <a:sym typeface="Symbol" pitchFamily="2" charset="2"/>
              </a:rPr>
              <a:t>(</a:t>
            </a:r>
            <a:r>
              <a:rPr lang="en-US" altLang="en-US" sz="2000" b="1" i="1">
                <a:latin typeface="Times New Roman" panose="02020603050405020304" pitchFamily="18" charset="0"/>
                <a:sym typeface="Symbol" pitchFamily="2" charset="2"/>
              </a:rPr>
              <a:t>g</a:t>
            </a:r>
            <a:r>
              <a:rPr lang="en-US" altLang="en-US" sz="2000">
                <a:latin typeface="Times New Roman" panose="02020603050405020304" pitchFamily="18" charset="0"/>
                <a:sym typeface="Symbol" pitchFamily="2" charset="2"/>
              </a:rPr>
              <a:t>(</a:t>
            </a:r>
            <a:r>
              <a:rPr lang="en-US" altLang="en-US" sz="2000" b="1" i="1">
                <a:latin typeface="Times New Roman" panose="02020603050405020304" pitchFamily="18" charset="0"/>
                <a:sym typeface="Symbol" pitchFamily="2" charset="2"/>
              </a:rPr>
              <a:t>n</a:t>
            </a:r>
            <a:r>
              <a:rPr lang="en-US" altLang="en-US" sz="2000">
                <a:latin typeface="Times New Roman" panose="02020603050405020304" pitchFamily="18" charset="0"/>
                <a:sym typeface="Symbol" pitchFamily="2" charset="2"/>
              </a:rPr>
              <a:t>))</a:t>
            </a:r>
            <a:r>
              <a:rPr lang="en-US" altLang="en-US" sz="2000"/>
              <a:t>” means that the growth rate of </a:t>
            </a:r>
            <a:r>
              <a:rPr lang="en-US" altLang="en-US" sz="2000" b="1" i="1">
                <a:latin typeface="Times New Roman" panose="02020603050405020304" pitchFamily="18" charset="0"/>
                <a:sym typeface="Symbol" pitchFamily="2" charset="2"/>
              </a:rPr>
              <a:t>f</a:t>
            </a:r>
            <a:r>
              <a:rPr lang="en-US" altLang="en-US" sz="2000">
                <a:latin typeface="Times New Roman" panose="02020603050405020304" pitchFamily="18" charset="0"/>
                <a:sym typeface="Symbol" pitchFamily="2" charset="2"/>
              </a:rPr>
              <a:t>(</a:t>
            </a:r>
            <a:r>
              <a:rPr lang="en-US" altLang="en-US" sz="2000" b="1" i="1">
                <a:latin typeface="Times New Roman" panose="02020603050405020304" pitchFamily="18" charset="0"/>
                <a:sym typeface="Symbol" pitchFamily="2" charset="2"/>
              </a:rPr>
              <a:t>n</a:t>
            </a:r>
            <a:r>
              <a:rPr lang="en-US" altLang="en-US" sz="2000">
                <a:latin typeface="Times New Roman" panose="02020603050405020304" pitchFamily="18" charset="0"/>
                <a:sym typeface="Symbol" pitchFamily="2" charset="2"/>
              </a:rPr>
              <a:t>) </a:t>
            </a:r>
            <a:r>
              <a:rPr lang="en-US" altLang="en-US" sz="2000"/>
              <a:t>is no more than the growth rate of </a:t>
            </a:r>
            <a:r>
              <a:rPr lang="en-US" altLang="en-US" sz="2000" b="1" i="1">
                <a:latin typeface="Times New Roman" panose="02020603050405020304" pitchFamily="18" charset="0"/>
                <a:sym typeface="Symbol" pitchFamily="2" charset="2"/>
              </a:rPr>
              <a:t>g</a:t>
            </a:r>
            <a:r>
              <a:rPr lang="en-US" altLang="en-US" sz="2000">
                <a:latin typeface="Times New Roman" panose="02020603050405020304" pitchFamily="18" charset="0"/>
                <a:sym typeface="Symbol" pitchFamily="2" charset="2"/>
              </a:rPr>
              <a:t>(</a:t>
            </a:r>
            <a:r>
              <a:rPr lang="en-US" altLang="en-US" sz="2000" b="1" i="1">
                <a:latin typeface="Times New Roman" panose="02020603050405020304" pitchFamily="18" charset="0"/>
                <a:sym typeface="Symbol" pitchFamily="2" charset="2"/>
              </a:rPr>
              <a:t>n</a:t>
            </a:r>
            <a:r>
              <a:rPr lang="en-US" altLang="en-US" sz="2000">
                <a:latin typeface="Times New Roman" panose="02020603050405020304" pitchFamily="18" charset="0"/>
                <a:sym typeface="Symbol" pitchFamily="2" charset="2"/>
              </a:rPr>
              <a:t>)</a:t>
            </a:r>
          </a:p>
          <a:p>
            <a:pPr eaLnBrk="1" hangingPunct="1"/>
            <a:r>
              <a:rPr lang="en-US" altLang="en-US" sz="2000"/>
              <a:t>We can use the big-Oh notation to rank functions according to their growth rate</a:t>
            </a:r>
          </a:p>
        </p:txBody>
      </p:sp>
      <p:graphicFrame>
        <p:nvGraphicFramePr>
          <p:cNvPr id="140292" name="Group 4">
            <a:extLst>
              <a:ext uri="{FF2B5EF4-FFF2-40B4-BE49-F238E27FC236}">
                <a16:creationId xmlns:a16="http://schemas.microsoft.com/office/drawing/2014/main" id="{45209B76-FA90-ADC4-BD8F-44ADBB38360E}"/>
              </a:ext>
            </a:extLst>
          </p:cNvPr>
          <p:cNvGraphicFramePr>
            <a:graphicFrameLocks noGrp="1"/>
          </p:cNvGraphicFramePr>
          <p:nvPr/>
        </p:nvGraphicFramePr>
        <p:xfrm>
          <a:off x="914400" y="3962400"/>
          <a:ext cx="7239000" cy="1890714"/>
        </p:xfrm>
        <a:graphic>
          <a:graphicData uri="http://schemas.openxmlformats.org/drawingml/2006/table">
            <a:tbl>
              <a:tblPr/>
              <a:tblGrid>
                <a:gridCol w="2578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987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621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38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  <a:sym typeface="Symbol" pitchFamily="18" charset="2"/>
                        </a:rPr>
                        <a:t>f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  <a:sym typeface="Symbol" pitchFamily="18" charset="2"/>
                        </a:rPr>
                        <a:t>(</a:t>
                      </a: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  <a:sym typeface="Symbol" pitchFamily="18" charset="2"/>
                        </a:rPr>
                        <a:t>n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  <a:sym typeface="Symbol" pitchFamily="18" charset="2"/>
                        </a:rPr>
                        <a:t>) 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is </a:t>
                      </a: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  <a:sym typeface="Symbol" pitchFamily="18" charset="2"/>
                        </a:rPr>
                        <a:t>O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  <a:sym typeface="Symbol" pitchFamily="18" charset="2"/>
                        </a:rPr>
                        <a:t>(</a:t>
                      </a: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  <a:sym typeface="Symbol" pitchFamily="18" charset="2"/>
                        </a:rPr>
                        <a:t>g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  <a:sym typeface="Symbol" pitchFamily="18" charset="2"/>
                        </a:rPr>
                        <a:t>(</a:t>
                      </a: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  <a:sym typeface="Symbol" pitchFamily="18" charset="2"/>
                        </a:rPr>
                        <a:t>n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  <a:sym typeface="Symbol" pitchFamily="18" charset="2"/>
                        </a:rPr>
                        <a:t>))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  <a:sym typeface="Symbol" pitchFamily="18" charset="2"/>
                        </a:rPr>
                        <a:t>g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  <a:sym typeface="Symbol" pitchFamily="18" charset="2"/>
                        </a:rPr>
                        <a:t>(</a:t>
                      </a: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  <a:sym typeface="Symbol" pitchFamily="18" charset="2"/>
                        </a:rPr>
                        <a:t>n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  <a:sym typeface="Symbol" pitchFamily="18" charset="2"/>
                        </a:rPr>
                        <a:t>) 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is </a:t>
                      </a: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  <a:sym typeface="Symbol" pitchFamily="18" charset="2"/>
                        </a:rPr>
                        <a:t>O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  <a:sym typeface="Symbol" pitchFamily="18" charset="2"/>
                        </a:rPr>
                        <a:t>(</a:t>
                      </a: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  <a:sym typeface="Symbol" pitchFamily="18" charset="2"/>
                        </a:rPr>
                        <a:t>f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  <a:sym typeface="Symbol" pitchFamily="18" charset="2"/>
                        </a:rPr>
                        <a:t>(</a:t>
                      </a: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  <a:sym typeface="Symbol" pitchFamily="18" charset="2"/>
                        </a:rPr>
                        <a:t>n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  <a:sym typeface="Symbol" pitchFamily="18" charset="2"/>
                        </a:rPr>
                        <a:t>))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56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  <a:sym typeface="Symbol" pitchFamily="18" charset="2"/>
                        </a:rPr>
                        <a:t>g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  <a:sym typeface="Symbol" pitchFamily="18" charset="2"/>
                        </a:rPr>
                        <a:t>(</a:t>
                      </a: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  <a:sym typeface="Symbol" pitchFamily="18" charset="2"/>
                        </a:rPr>
                        <a:t>n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  <a:sym typeface="Symbol" pitchFamily="18" charset="2"/>
                        </a:rPr>
                        <a:t>) 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grows more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Arial" charset="0"/>
                        <a:sym typeface="Symbol" pitchFamily="18" charset="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cs typeface="Arial" charset="0"/>
                          <a:sym typeface="Wingdings" pitchFamily="2" charset="2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cs typeface="Arial" charset="0"/>
                          <a:sym typeface="Wingdings" pitchFamily="2" charset="2"/>
                        </a:rPr>
                        <a:t>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56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  <a:sym typeface="Symbol" pitchFamily="18" charset="2"/>
                        </a:rPr>
                        <a:t>f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  <a:sym typeface="Symbol" pitchFamily="18" charset="2"/>
                        </a:rPr>
                        <a:t>(</a:t>
                      </a:r>
                      <a:r>
                        <a:rPr kumimoji="0" lang="en-US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  <a:sym typeface="Symbol" pitchFamily="18" charset="2"/>
                        </a:rPr>
                        <a:t>n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Arial" charset="0"/>
                          <a:sym typeface="Symbol" pitchFamily="18" charset="2"/>
                        </a:rPr>
                        <a:t>) 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grows more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cs typeface="Arial" charset="0"/>
                          <a:sym typeface="Wingdings" pitchFamily="2" charset="2"/>
                        </a:rPr>
                        <a:t>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cs typeface="Arial" charset="0"/>
                          <a:sym typeface="Wingdings" pitchFamily="2" charset="2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56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Same growth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cs typeface="Arial" charset="0"/>
                          <a:sym typeface="Wingdings" pitchFamily="2" charset="2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cs typeface="Arial" charset="0"/>
                          <a:sym typeface="Wingdings" pitchFamily="2" charset="2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2795" name="Text Box 27">
            <a:extLst>
              <a:ext uri="{FF2B5EF4-FFF2-40B4-BE49-F238E27FC236}">
                <a16:creationId xmlns:a16="http://schemas.microsoft.com/office/drawing/2014/main" id="{706D274E-70A5-B053-71A6-2BA2C6B959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0" y="6096000"/>
            <a:ext cx="21336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600" i="1">
                <a:solidFill>
                  <a:srgbClr val="FF6600"/>
                </a:solidFill>
              </a:rPr>
              <a:t>Examples …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6EC8AB4D-07BD-0EB2-E516-6284A43043D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90800" y="152400"/>
            <a:ext cx="4194175" cy="914400"/>
          </a:xfrm>
        </p:spPr>
        <p:txBody>
          <a:bodyPr/>
          <a:lstStyle/>
          <a:p>
            <a:pPr eaLnBrk="1" hangingPunct="1"/>
            <a:r>
              <a:rPr lang="en-US" altLang="en-US"/>
              <a:t>Big-Oh Rules</a:t>
            </a:r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2E73B4D1-8C81-FD22-6C04-8051204F61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1447800"/>
            <a:ext cx="8077200" cy="4648200"/>
          </a:xfrm>
        </p:spPr>
        <p:txBody>
          <a:bodyPr/>
          <a:lstStyle/>
          <a:p>
            <a:pPr eaLnBrk="1" hangingPunct="1">
              <a:tabLst>
                <a:tab pos="1028700" algn="l"/>
              </a:tabLst>
            </a:pPr>
            <a:r>
              <a:rPr lang="en-US" altLang="en-US" sz="2200"/>
              <a:t>In general, the following growth rate applies:</a:t>
            </a:r>
          </a:p>
          <a:p>
            <a:pPr eaLnBrk="1" hangingPunct="1">
              <a:buFontTx/>
              <a:buNone/>
              <a:tabLst>
                <a:tab pos="1028700" algn="l"/>
              </a:tabLst>
            </a:pPr>
            <a:r>
              <a:rPr lang="en-US" altLang="en-US" sz="1600"/>
              <a:t>	O(1)  O(log</a:t>
            </a:r>
            <a:r>
              <a:rPr lang="en-US" altLang="en-US" sz="1600" i="1"/>
              <a:t>n</a:t>
            </a:r>
            <a:r>
              <a:rPr lang="en-US" altLang="en-US" sz="1600"/>
              <a:t>)  O(log</a:t>
            </a:r>
            <a:r>
              <a:rPr lang="en-US" altLang="en-US" sz="1600" baseline="30000"/>
              <a:t>2</a:t>
            </a:r>
            <a:r>
              <a:rPr lang="en-US" altLang="en-US" sz="1600"/>
              <a:t>n)  O(sqrt(n))  O(</a:t>
            </a:r>
            <a:r>
              <a:rPr lang="en-US" altLang="en-US" sz="1600" i="1"/>
              <a:t>n</a:t>
            </a:r>
            <a:r>
              <a:rPr lang="en-US" altLang="en-US" sz="1600"/>
              <a:t>)  O(nlogn)  O(</a:t>
            </a:r>
            <a:r>
              <a:rPr lang="en-US" altLang="en-US" sz="1600" i="1"/>
              <a:t>n</a:t>
            </a:r>
            <a:r>
              <a:rPr lang="en-US" altLang="en-US" sz="1600" i="1" baseline="30000"/>
              <a:t>2</a:t>
            </a:r>
            <a:r>
              <a:rPr lang="en-US" altLang="en-US" sz="1600"/>
              <a:t>)  O(</a:t>
            </a:r>
            <a:r>
              <a:rPr lang="en-US" altLang="en-US" sz="1600" i="1"/>
              <a:t>n</a:t>
            </a:r>
            <a:r>
              <a:rPr lang="en-US" altLang="en-US" sz="1600" i="1" baseline="30000"/>
              <a:t>k</a:t>
            </a:r>
            <a:r>
              <a:rPr lang="en-US" altLang="en-US" sz="1600"/>
              <a:t>) (</a:t>
            </a:r>
            <a:r>
              <a:rPr lang="en-US" altLang="en-US" sz="1600" i="1"/>
              <a:t>k</a:t>
            </a:r>
            <a:r>
              <a:rPr lang="en-US" altLang="en-US" sz="1600"/>
              <a:t>&gt;=2)  O(</a:t>
            </a:r>
            <a:r>
              <a:rPr lang="en-US" altLang="en-US" sz="1600" i="1"/>
              <a:t>a</a:t>
            </a:r>
            <a:r>
              <a:rPr lang="en-US" altLang="en-US" sz="1600" i="1" baseline="30000"/>
              <a:t>n</a:t>
            </a:r>
            <a:r>
              <a:rPr lang="en-US" altLang="en-US" sz="1600"/>
              <a:t>) (</a:t>
            </a:r>
            <a:r>
              <a:rPr lang="en-US" altLang="en-US" sz="1600" i="1"/>
              <a:t>a</a:t>
            </a:r>
            <a:r>
              <a:rPr lang="en-US" altLang="en-US" sz="1600"/>
              <a:t>&gt;1)</a:t>
            </a:r>
          </a:p>
          <a:p>
            <a:pPr eaLnBrk="1" hangingPunct="1">
              <a:tabLst>
                <a:tab pos="1028700" algn="l"/>
              </a:tabLst>
            </a:pPr>
            <a:endParaRPr lang="en-US" altLang="en-US" sz="1600"/>
          </a:p>
          <a:p>
            <a:pPr eaLnBrk="1" hangingPunct="1">
              <a:tabLst>
                <a:tab pos="1028700" algn="l"/>
              </a:tabLst>
            </a:pPr>
            <a:r>
              <a:rPr lang="en-US" altLang="en-US" sz="2200"/>
              <a:t>If </a:t>
            </a:r>
            <a:r>
              <a:rPr lang="en-US" altLang="en-US" sz="2200" b="1" i="1">
                <a:latin typeface="Times New Roman" panose="02020603050405020304" pitchFamily="18" charset="0"/>
                <a:sym typeface="Symbol" pitchFamily="2" charset="2"/>
              </a:rPr>
              <a:t>f</a:t>
            </a:r>
            <a:r>
              <a:rPr lang="en-US" altLang="en-US" sz="2200">
                <a:latin typeface="Times New Roman" panose="02020603050405020304" pitchFamily="18" charset="0"/>
                <a:sym typeface="Symbol" pitchFamily="2" charset="2"/>
              </a:rPr>
              <a:t>(</a:t>
            </a:r>
            <a:r>
              <a:rPr lang="en-US" altLang="en-US" sz="2200" b="1" i="1">
                <a:latin typeface="Times New Roman" panose="02020603050405020304" pitchFamily="18" charset="0"/>
                <a:sym typeface="Symbol" pitchFamily="2" charset="2"/>
              </a:rPr>
              <a:t>n</a:t>
            </a:r>
            <a:r>
              <a:rPr lang="en-US" altLang="en-US" sz="2200">
                <a:latin typeface="Times New Roman" panose="02020603050405020304" pitchFamily="18" charset="0"/>
                <a:sym typeface="Symbol" pitchFamily="2" charset="2"/>
              </a:rPr>
              <a:t>)</a:t>
            </a:r>
            <a:r>
              <a:rPr lang="en-US" altLang="en-US" sz="2200"/>
              <a:t> is a polynomial of degree </a:t>
            </a:r>
            <a:r>
              <a:rPr lang="en-US" altLang="en-US" sz="2200" b="1" i="1">
                <a:latin typeface="Times New Roman" panose="02020603050405020304" pitchFamily="18" charset="0"/>
                <a:sym typeface="Symbol" pitchFamily="2" charset="2"/>
              </a:rPr>
              <a:t>d</a:t>
            </a:r>
            <a:r>
              <a:rPr lang="en-US" altLang="en-US" sz="2200"/>
              <a:t>, then </a:t>
            </a:r>
            <a:r>
              <a:rPr lang="en-US" altLang="en-US" sz="2200" b="1" i="1">
                <a:latin typeface="Times New Roman" panose="02020603050405020304" pitchFamily="18" charset="0"/>
                <a:sym typeface="Symbol" pitchFamily="2" charset="2"/>
              </a:rPr>
              <a:t>f</a:t>
            </a:r>
            <a:r>
              <a:rPr lang="en-US" altLang="en-US" sz="2200">
                <a:latin typeface="Times New Roman" panose="02020603050405020304" pitchFamily="18" charset="0"/>
                <a:sym typeface="Symbol" pitchFamily="2" charset="2"/>
              </a:rPr>
              <a:t>(</a:t>
            </a:r>
            <a:r>
              <a:rPr lang="en-US" altLang="en-US" sz="2200" b="1" i="1">
                <a:latin typeface="Times New Roman" panose="02020603050405020304" pitchFamily="18" charset="0"/>
                <a:sym typeface="Symbol" pitchFamily="2" charset="2"/>
              </a:rPr>
              <a:t>n</a:t>
            </a:r>
            <a:r>
              <a:rPr lang="en-US" altLang="en-US" sz="2200">
                <a:latin typeface="Times New Roman" panose="02020603050405020304" pitchFamily="18" charset="0"/>
                <a:sym typeface="Symbol" pitchFamily="2" charset="2"/>
              </a:rPr>
              <a:t>)</a:t>
            </a:r>
            <a:r>
              <a:rPr lang="en-US" altLang="en-US" sz="2200"/>
              <a:t> is </a:t>
            </a:r>
            <a:r>
              <a:rPr lang="en-US" altLang="en-US" sz="2200" b="1" i="1">
                <a:latin typeface="Times New Roman" panose="02020603050405020304" pitchFamily="18" charset="0"/>
                <a:sym typeface="Symbol" pitchFamily="2" charset="2"/>
              </a:rPr>
              <a:t>O</a:t>
            </a:r>
            <a:r>
              <a:rPr lang="en-US" altLang="en-US" sz="2200">
                <a:latin typeface="Times New Roman" panose="02020603050405020304" pitchFamily="18" charset="0"/>
                <a:sym typeface="Symbol" pitchFamily="2" charset="2"/>
              </a:rPr>
              <a:t>(</a:t>
            </a:r>
            <a:r>
              <a:rPr lang="en-US" altLang="en-US" sz="2200" b="1" i="1">
                <a:latin typeface="Times New Roman" panose="02020603050405020304" pitchFamily="18" charset="0"/>
                <a:sym typeface="Symbol" pitchFamily="2" charset="2"/>
              </a:rPr>
              <a:t>n</a:t>
            </a:r>
            <a:r>
              <a:rPr lang="en-US" altLang="en-US" sz="2200" b="1" i="1" baseline="30000">
                <a:latin typeface="Times New Roman" panose="02020603050405020304" pitchFamily="18" charset="0"/>
                <a:sym typeface="Symbol" pitchFamily="2" charset="2"/>
              </a:rPr>
              <a:t>d</a:t>
            </a:r>
            <a:r>
              <a:rPr lang="en-US" altLang="en-US" sz="2200">
                <a:latin typeface="Times New Roman" panose="02020603050405020304" pitchFamily="18" charset="0"/>
                <a:sym typeface="Symbol" pitchFamily="2" charset="2"/>
              </a:rPr>
              <a:t>)</a:t>
            </a:r>
            <a:r>
              <a:rPr lang="en-US" altLang="en-US" sz="2200"/>
              <a:t>, i.e.,</a:t>
            </a:r>
          </a:p>
          <a:p>
            <a:pPr marL="1028700" lvl="1" eaLnBrk="1" hangingPunct="1">
              <a:buFont typeface="Wingdings" pitchFamily="2" charset="2"/>
              <a:buAutoNum type="arabicPeriod"/>
              <a:tabLst>
                <a:tab pos="1028700" algn="l"/>
              </a:tabLst>
            </a:pPr>
            <a:r>
              <a:rPr lang="en-US" altLang="en-US" sz="1800"/>
              <a:t>Drop lower-order terms</a:t>
            </a:r>
          </a:p>
          <a:p>
            <a:pPr marL="1028700" lvl="1" eaLnBrk="1" hangingPunct="1">
              <a:buFont typeface="Wingdings" pitchFamily="2" charset="2"/>
              <a:buAutoNum type="arabicPeriod"/>
              <a:tabLst>
                <a:tab pos="1028700" algn="l"/>
              </a:tabLst>
            </a:pPr>
            <a:r>
              <a:rPr lang="en-US" altLang="en-US" sz="1800"/>
              <a:t>Drop constant factors</a:t>
            </a:r>
          </a:p>
          <a:p>
            <a:pPr marL="1028700" lvl="1" eaLnBrk="1" hangingPunct="1">
              <a:buFont typeface="Wingdings" pitchFamily="2" charset="2"/>
              <a:buNone/>
              <a:tabLst>
                <a:tab pos="1028700" algn="l"/>
              </a:tabLst>
            </a:pPr>
            <a:endParaRPr lang="en-US" altLang="en-US" sz="1800"/>
          </a:p>
          <a:p>
            <a:pPr eaLnBrk="1" hangingPunct="1">
              <a:tabLst>
                <a:tab pos="1028700" algn="l"/>
              </a:tabLst>
            </a:pPr>
            <a:r>
              <a:rPr lang="en-US" altLang="en-US" sz="2200"/>
              <a:t>Use the smallest possible class of functions</a:t>
            </a:r>
          </a:p>
          <a:p>
            <a:pPr marL="1028700" lvl="1" eaLnBrk="1" hangingPunct="1">
              <a:tabLst>
                <a:tab pos="1028700" algn="l"/>
              </a:tabLst>
            </a:pPr>
            <a:r>
              <a:rPr lang="en-US" altLang="en-US" sz="1800"/>
              <a:t>Say “</a:t>
            </a:r>
            <a:r>
              <a:rPr lang="en-US" altLang="en-US" sz="1800">
                <a:latin typeface="Times New Roman" panose="02020603050405020304" pitchFamily="18" charset="0"/>
                <a:sym typeface="Symbol" pitchFamily="2" charset="2"/>
              </a:rPr>
              <a:t>2</a:t>
            </a:r>
            <a:r>
              <a:rPr lang="en-US" altLang="en-US" sz="1800" b="1" i="1">
                <a:latin typeface="Times New Roman" panose="02020603050405020304" pitchFamily="18" charset="0"/>
                <a:sym typeface="Symbol" pitchFamily="2" charset="2"/>
              </a:rPr>
              <a:t>n</a:t>
            </a:r>
            <a:r>
              <a:rPr lang="en-US" altLang="en-US" sz="1800">
                <a:sym typeface="Symbol" pitchFamily="2" charset="2"/>
              </a:rPr>
              <a:t> is </a:t>
            </a:r>
            <a:r>
              <a:rPr lang="en-US" altLang="en-US" sz="1800" b="1" i="1">
                <a:latin typeface="Times New Roman" panose="02020603050405020304" pitchFamily="18" charset="0"/>
                <a:sym typeface="Symbol" pitchFamily="2" charset="2"/>
              </a:rPr>
              <a:t>O</a:t>
            </a:r>
            <a:r>
              <a:rPr lang="en-US" altLang="en-US" sz="1800">
                <a:latin typeface="Times New Roman" panose="02020603050405020304" pitchFamily="18" charset="0"/>
                <a:sym typeface="Symbol" pitchFamily="2" charset="2"/>
              </a:rPr>
              <a:t>(</a:t>
            </a:r>
            <a:r>
              <a:rPr lang="en-US" altLang="en-US" sz="1800" b="1" i="1">
                <a:latin typeface="Times New Roman" panose="02020603050405020304" pitchFamily="18" charset="0"/>
                <a:sym typeface="Symbol" pitchFamily="2" charset="2"/>
              </a:rPr>
              <a:t>n</a:t>
            </a:r>
            <a:r>
              <a:rPr lang="en-US" altLang="en-US" sz="1800">
                <a:latin typeface="Times New Roman" panose="02020603050405020304" pitchFamily="18" charset="0"/>
                <a:sym typeface="Symbol" pitchFamily="2" charset="2"/>
              </a:rPr>
              <a:t>)</a:t>
            </a:r>
            <a:r>
              <a:rPr lang="en-US" altLang="en-US" sz="1800">
                <a:sym typeface="Symbol" pitchFamily="2" charset="2"/>
              </a:rPr>
              <a:t>”</a:t>
            </a:r>
            <a:r>
              <a:rPr lang="en-US" altLang="en-US" sz="1800"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sz="1800"/>
              <a:t>instead of “</a:t>
            </a:r>
            <a:r>
              <a:rPr lang="en-US" altLang="en-US" sz="1800">
                <a:latin typeface="Times New Roman" panose="02020603050405020304" pitchFamily="18" charset="0"/>
                <a:sym typeface="Symbol" pitchFamily="2" charset="2"/>
              </a:rPr>
              <a:t>2</a:t>
            </a:r>
            <a:r>
              <a:rPr lang="en-US" altLang="en-US" sz="1800" b="1" i="1">
                <a:latin typeface="Times New Roman" panose="02020603050405020304" pitchFamily="18" charset="0"/>
                <a:sym typeface="Symbol" pitchFamily="2" charset="2"/>
              </a:rPr>
              <a:t>n</a:t>
            </a:r>
            <a:r>
              <a:rPr lang="en-US" altLang="en-US" sz="1800">
                <a:sym typeface="Symbol" pitchFamily="2" charset="2"/>
              </a:rPr>
              <a:t> is </a:t>
            </a:r>
            <a:r>
              <a:rPr lang="en-US" altLang="en-US" sz="1800" b="1" i="1">
                <a:latin typeface="Times New Roman" panose="02020603050405020304" pitchFamily="18" charset="0"/>
                <a:sym typeface="Symbol" pitchFamily="2" charset="2"/>
              </a:rPr>
              <a:t>O</a:t>
            </a:r>
            <a:r>
              <a:rPr lang="en-US" altLang="en-US" sz="1800">
                <a:latin typeface="Times New Roman" panose="02020603050405020304" pitchFamily="18" charset="0"/>
                <a:sym typeface="Symbol" pitchFamily="2" charset="2"/>
              </a:rPr>
              <a:t>(</a:t>
            </a:r>
            <a:r>
              <a:rPr lang="en-US" altLang="en-US" sz="1800" b="1" i="1">
                <a:latin typeface="Times New Roman" panose="02020603050405020304" pitchFamily="18" charset="0"/>
                <a:sym typeface="Symbol" pitchFamily="2" charset="2"/>
              </a:rPr>
              <a:t>n</a:t>
            </a:r>
            <a:r>
              <a:rPr lang="en-US" altLang="en-US" sz="1800" baseline="30000">
                <a:latin typeface="Times New Roman" panose="02020603050405020304" pitchFamily="18" charset="0"/>
                <a:sym typeface="Symbol" pitchFamily="2" charset="2"/>
              </a:rPr>
              <a:t>2</a:t>
            </a:r>
            <a:r>
              <a:rPr lang="en-US" altLang="en-US" sz="1800">
                <a:latin typeface="Times New Roman" panose="02020603050405020304" pitchFamily="18" charset="0"/>
                <a:sym typeface="Symbol" pitchFamily="2" charset="2"/>
              </a:rPr>
              <a:t>)</a:t>
            </a:r>
            <a:r>
              <a:rPr lang="en-US" altLang="en-US" sz="1800">
                <a:sym typeface="Symbol" pitchFamily="2" charset="2"/>
              </a:rPr>
              <a:t>”</a:t>
            </a:r>
          </a:p>
          <a:p>
            <a:pPr marL="1028700" lvl="1" eaLnBrk="1" hangingPunct="1">
              <a:tabLst>
                <a:tab pos="1028700" algn="l"/>
              </a:tabLst>
            </a:pPr>
            <a:endParaRPr lang="en-US" altLang="en-US" sz="1800">
              <a:sym typeface="Symbol" pitchFamily="2" charset="2"/>
            </a:endParaRPr>
          </a:p>
          <a:p>
            <a:pPr eaLnBrk="1" hangingPunct="1">
              <a:tabLst>
                <a:tab pos="1028700" algn="l"/>
              </a:tabLst>
            </a:pPr>
            <a:r>
              <a:rPr lang="en-US" altLang="en-US" sz="2200">
                <a:sym typeface="Symbol" pitchFamily="2" charset="2"/>
              </a:rPr>
              <a:t>Use the simplest expression of the class</a:t>
            </a:r>
          </a:p>
          <a:p>
            <a:pPr marL="1028700" lvl="1" eaLnBrk="1" hangingPunct="1">
              <a:tabLst>
                <a:tab pos="1028700" algn="l"/>
              </a:tabLst>
            </a:pPr>
            <a:r>
              <a:rPr lang="en-US" altLang="en-US" sz="1800"/>
              <a:t>Say “</a:t>
            </a:r>
            <a:r>
              <a:rPr lang="en-US" altLang="en-US" sz="1800">
                <a:latin typeface="Times New Roman" panose="02020603050405020304" pitchFamily="18" charset="0"/>
                <a:sym typeface="Symbol" pitchFamily="2" charset="2"/>
              </a:rPr>
              <a:t>3</a:t>
            </a:r>
            <a:r>
              <a:rPr lang="en-US" altLang="en-US" sz="1800" b="1" i="1">
                <a:latin typeface="Times New Roman" panose="02020603050405020304" pitchFamily="18" charset="0"/>
                <a:sym typeface="Symbol" pitchFamily="2" charset="2"/>
              </a:rPr>
              <a:t>n</a:t>
            </a:r>
            <a:r>
              <a:rPr lang="en-US" altLang="en-US" sz="1800" b="1"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sz="1800">
                <a:latin typeface="Symbol" pitchFamily="2" charset="2"/>
                <a:sym typeface="Symbol" pitchFamily="2" charset="2"/>
              </a:rPr>
              <a:t>+</a:t>
            </a:r>
            <a:r>
              <a:rPr lang="en-US" altLang="en-US" sz="1800" b="1"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sz="1800">
                <a:latin typeface="Times New Roman" panose="02020603050405020304" pitchFamily="18" charset="0"/>
                <a:sym typeface="Symbol" pitchFamily="2" charset="2"/>
              </a:rPr>
              <a:t>5</a:t>
            </a:r>
            <a:r>
              <a:rPr lang="en-US" altLang="en-US" sz="1800">
                <a:sym typeface="Symbol" pitchFamily="2" charset="2"/>
              </a:rPr>
              <a:t> is </a:t>
            </a:r>
            <a:r>
              <a:rPr lang="en-US" altLang="en-US" sz="1800" b="1" i="1">
                <a:latin typeface="Times New Roman" panose="02020603050405020304" pitchFamily="18" charset="0"/>
                <a:sym typeface="Symbol" pitchFamily="2" charset="2"/>
              </a:rPr>
              <a:t>O</a:t>
            </a:r>
            <a:r>
              <a:rPr lang="en-US" altLang="en-US" sz="1800">
                <a:latin typeface="Times New Roman" panose="02020603050405020304" pitchFamily="18" charset="0"/>
                <a:sym typeface="Symbol" pitchFamily="2" charset="2"/>
              </a:rPr>
              <a:t>(</a:t>
            </a:r>
            <a:r>
              <a:rPr lang="en-US" altLang="en-US" sz="1800" b="1" i="1">
                <a:latin typeface="Times New Roman" panose="02020603050405020304" pitchFamily="18" charset="0"/>
                <a:sym typeface="Symbol" pitchFamily="2" charset="2"/>
              </a:rPr>
              <a:t>n</a:t>
            </a:r>
            <a:r>
              <a:rPr lang="en-US" altLang="en-US" sz="1800">
                <a:latin typeface="Times New Roman" panose="02020603050405020304" pitchFamily="18" charset="0"/>
                <a:sym typeface="Symbol" pitchFamily="2" charset="2"/>
              </a:rPr>
              <a:t>)</a:t>
            </a:r>
            <a:r>
              <a:rPr lang="en-US" altLang="en-US" sz="1800">
                <a:sym typeface="Symbol" pitchFamily="2" charset="2"/>
              </a:rPr>
              <a:t>”</a:t>
            </a:r>
            <a:r>
              <a:rPr lang="en-US" altLang="en-US" sz="1800"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sz="1800"/>
              <a:t>instead of “</a:t>
            </a:r>
            <a:r>
              <a:rPr lang="en-US" altLang="en-US" sz="1800">
                <a:latin typeface="Times New Roman" panose="02020603050405020304" pitchFamily="18" charset="0"/>
                <a:sym typeface="Symbol" pitchFamily="2" charset="2"/>
              </a:rPr>
              <a:t>3</a:t>
            </a:r>
            <a:r>
              <a:rPr lang="en-US" altLang="en-US" sz="1800" b="1" i="1">
                <a:latin typeface="Times New Roman" panose="02020603050405020304" pitchFamily="18" charset="0"/>
                <a:sym typeface="Symbol" pitchFamily="2" charset="2"/>
              </a:rPr>
              <a:t>n</a:t>
            </a:r>
            <a:r>
              <a:rPr lang="en-US" altLang="en-US" sz="1800" b="1"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sz="1800">
                <a:latin typeface="Symbol" pitchFamily="2" charset="2"/>
                <a:sym typeface="Symbol" pitchFamily="2" charset="2"/>
              </a:rPr>
              <a:t>+</a:t>
            </a:r>
            <a:r>
              <a:rPr lang="en-US" altLang="en-US" sz="1800" b="1"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sz="1800">
                <a:latin typeface="Times New Roman" panose="02020603050405020304" pitchFamily="18" charset="0"/>
                <a:sym typeface="Symbol" pitchFamily="2" charset="2"/>
              </a:rPr>
              <a:t>5</a:t>
            </a:r>
            <a:r>
              <a:rPr lang="en-US" altLang="en-US" sz="1800">
                <a:sym typeface="Symbol" pitchFamily="2" charset="2"/>
              </a:rPr>
              <a:t> is </a:t>
            </a:r>
            <a:r>
              <a:rPr lang="en-US" altLang="en-US" sz="1800" b="1" i="1">
                <a:latin typeface="Times New Roman" panose="02020603050405020304" pitchFamily="18" charset="0"/>
                <a:sym typeface="Symbol" pitchFamily="2" charset="2"/>
              </a:rPr>
              <a:t>O</a:t>
            </a:r>
            <a:r>
              <a:rPr lang="en-US" altLang="en-US" sz="1800">
                <a:latin typeface="Times New Roman" panose="02020603050405020304" pitchFamily="18" charset="0"/>
                <a:sym typeface="Symbol" pitchFamily="2" charset="2"/>
              </a:rPr>
              <a:t>(3</a:t>
            </a:r>
            <a:r>
              <a:rPr lang="en-US" altLang="en-US" sz="1800" b="1" i="1">
                <a:latin typeface="Times New Roman" panose="02020603050405020304" pitchFamily="18" charset="0"/>
                <a:sym typeface="Symbol" pitchFamily="2" charset="2"/>
              </a:rPr>
              <a:t>n</a:t>
            </a:r>
            <a:r>
              <a:rPr lang="en-US" altLang="en-US" sz="1800">
                <a:latin typeface="Times New Roman" panose="02020603050405020304" pitchFamily="18" charset="0"/>
                <a:sym typeface="Symbol" pitchFamily="2" charset="2"/>
              </a:rPr>
              <a:t>)</a:t>
            </a:r>
            <a:r>
              <a:rPr lang="en-US" altLang="en-US" sz="1800">
                <a:sym typeface="Symbol" pitchFamily="2" charset="2"/>
              </a:rPr>
              <a:t>”</a:t>
            </a:r>
          </a:p>
        </p:txBody>
      </p:sp>
      <p:sp>
        <p:nvSpPr>
          <p:cNvPr id="33796" name="Line 5">
            <a:extLst>
              <a:ext uri="{FF2B5EF4-FFF2-40B4-BE49-F238E27FC236}">
                <a16:creationId xmlns:a16="http://schemas.microsoft.com/office/drawing/2014/main" id="{05CE768B-59EF-3F12-D61A-EE00D0CB17E3}"/>
              </a:ext>
            </a:extLst>
          </p:cNvPr>
          <p:cNvSpPr>
            <a:spLocks noChangeShapeType="1"/>
          </p:cNvSpPr>
          <p:nvPr/>
        </p:nvSpPr>
        <p:spPr bwMode="auto">
          <a:xfrm>
            <a:off x="990600" y="2209800"/>
            <a:ext cx="7467600" cy="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F967B393-D215-44B1-2870-1E026AC746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533400"/>
          </a:xfrm>
        </p:spPr>
        <p:txBody>
          <a:bodyPr/>
          <a:lstStyle/>
          <a:p>
            <a:pPr eaLnBrk="1" hangingPunct="1"/>
            <a:r>
              <a:rPr lang="en-US" altLang="en-US"/>
              <a:t>Some Other Useful Rules </a:t>
            </a:r>
          </a:p>
        </p:txBody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0880B906-73F7-AD31-DAD4-0A5BA18799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371600"/>
            <a:ext cx="7772400" cy="4114800"/>
          </a:xfrm>
        </p:spPr>
        <p:txBody>
          <a:bodyPr/>
          <a:lstStyle/>
          <a:p>
            <a:pPr eaLnBrk="1" hangingPunct="1"/>
            <a:r>
              <a:rPr lang="en-US" altLang="en-US" sz="2000"/>
              <a:t>If d(n) is O(f(n)), then a*d(n) is O(f(n)) for any constant a&gt;0.</a:t>
            </a:r>
          </a:p>
          <a:p>
            <a:pPr eaLnBrk="1" hangingPunct="1"/>
            <a:endParaRPr lang="en-US" altLang="en-US" sz="2000"/>
          </a:p>
          <a:p>
            <a:pPr eaLnBrk="1" hangingPunct="1"/>
            <a:r>
              <a:rPr lang="en-US" altLang="en-US" sz="2000"/>
              <a:t>If d(n) is O(f(n)) and e(n) is O(g(n)), then d(n)+e(n) is O(f(n)+g(n)).</a:t>
            </a:r>
          </a:p>
          <a:p>
            <a:pPr eaLnBrk="1" hangingPunct="1"/>
            <a:endParaRPr lang="en-US" altLang="en-US" sz="2000"/>
          </a:p>
          <a:p>
            <a:pPr eaLnBrk="1" hangingPunct="1"/>
            <a:r>
              <a:rPr lang="en-US" altLang="en-US" sz="2000"/>
              <a:t>If d(n) is O(f(n)) and e(n) is O(g(n)), then d(n)*e(n) is O(f(n)*g(n)).</a:t>
            </a:r>
          </a:p>
          <a:p>
            <a:pPr eaLnBrk="1" hangingPunct="1"/>
            <a:endParaRPr lang="en-US" altLang="en-US" sz="2000"/>
          </a:p>
          <a:p>
            <a:pPr eaLnBrk="1" hangingPunct="1"/>
            <a:r>
              <a:rPr lang="en-US" altLang="en-US" sz="2000"/>
              <a:t>If d(n) is O(f(n)) and f(n) is O(g(n)), then d(n) is O(g(n))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D6B12-54B2-5404-2E53-D0B8EBC17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C61336-DDBC-423C-9EC6-4D092723EF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5776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35857-FC1F-6A9C-1CC9-B7AD49F62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Quiz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32DF50-C18F-7579-06F4-A97377CA5F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194484"/>
                </a:solidFill>
                <a:effectLst/>
              </a:rPr>
              <a:t>Show that 8n</a:t>
            </a:r>
            <a:r>
              <a:rPr lang="en-US" baseline="30000" dirty="0">
                <a:solidFill>
                  <a:srgbClr val="194484"/>
                </a:solidFill>
                <a:effectLst/>
              </a:rPr>
              <a:t>5</a:t>
            </a:r>
            <a:r>
              <a:rPr lang="en-US" dirty="0">
                <a:solidFill>
                  <a:srgbClr val="194484"/>
                </a:solidFill>
                <a:effectLst/>
              </a:rPr>
              <a:t> + 32n</a:t>
            </a:r>
            <a:r>
              <a:rPr lang="en-US" baseline="30000" dirty="0">
                <a:solidFill>
                  <a:srgbClr val="194484"/>
                </a:solidFill>
                <a:effectLst/>
              </a:rPr>
              <a:t>4</a:t>
            </a:r>
            <a:r>
              <a:rPr lang="en-US" dirty="0">
                <a:solidFill>
                  <a:srgbClr val="194484"/>
                </a:solidFill>
                <a:effectLst/>
              </a:rPr>
              <a:t> + 1000 is O(n</a:t>
            </a:r>
            <a:r>
              <a:rPr lang="en-US" baseline="30000" dirty="0">
                <a:solidFill>
                  <a:srgbClr val="194484"/>
                </a:solidFill>
                <a:effectLst/>
              </a:rPr>
              <a:t>5</a:t>
            </a:r>
            <a:r>
              <a:rPr lang="en-US" dirty="0">
                <a:solidFill>
                  <a:srgbClr val="194484"/>
                </a:solidFill>
                <a:effectLst/>
              </a:rPr>
              <a:t>). </a:t>
            </a:r>
            <a:endParaRPr lang="en-US" dirty="0"/>
          </a:p>
          <a:p>
            <a:pPr marL="0" indent="0">
              <a:buNone/>
            </a:pPr>
            <a:r>
              <a:rPr lang="en-US" sz="1800" dirty="0">
                <a:solidFill>
                  <a:srgbClr val="F44747"/>
                </a:solidFill>
                <a:effectLst/>
              </a:rPr>
              <a:t>	</a:t>
            </a:r>
            <a:r>
              <a:rPr lang="en-US" sz="2200" dirty="0">
                <a:solidFill>
                  <a:srgbClr val="C00000"/>
                </a:solidFill>
                <a:effectLst/>
              </a:rPr>
              <a:t>That is, find n0 ≥ 1 and c &gt; 0 so that</a:t>
            </a:r>
            <a:br>
              <a:rPr lang="en-US" sz="2200" dirty="0">
                <a:solidFill>
                  <a:srgbClr val="C00000"/>
                </a:solidFill>
                <a:effectLst/>
              </a:rPr>
            </a:br>
            <a:r>
              <a:rPr lang="en-US" sz="2200" dirty="0">
                <a:solidFill>
                  <a:srgbClr val="C00000"/>
                </a:solidFill>
                <a:effectLst/>
              </a:rPr>
              <a:t>	 8n</a:t>
            </a:r>
            <a:r>
              <a:rPr lang="en-US" sz="2200" baseline="30000" dirty="0">
                <a:solidFill>
                  <a:srgbClr val="C00000"/>
                </a:solidFill>
                <a:effectLst/>
              </a:rPr>
              <a:t>5</a:t>
            </a:r>
            <a:r>
              <a:rPr lang="en-US" sz="2200" dirty="0">
                <a:solidFill>
                  <a:srgbClr val="C00000"/>
                </a:solidFill>
                <a:effectLst/>
              </a:rPr>
              <a:t> + 32n</a:t>
            </a:r>
            <a:r>
              <a:rPr lang="en-US" sz="2200" baseline="30000" dirty="0">
                <a:solidFill>
                  <a:srgbClr val="C00000"/>
                </a:solidFill>
                <a:effectLst/>
              </a:rPr>
              <a:t>4</a:t>
            </a:r>
            <a:r>
              <a:rPr lang="en-US" sz="2200" dirty="0">
                <a:solidFill>
                  <a:srgbClr val="C00000"/>
                </a:solidFill>
                <a:effectLst/>
              </a:rPr>
              <a:t> + 1000 ≤ c n</a:t>
            </a:r>
            <a:r>
              <a:rPr lang="en-US" sz="2200" baseline="30000" dirty="0">
                <a:solidFill>
                  <a:srgbClr val="C00000"/>
                </a:solidFill>
                <a:effectLst/>
              </a:rPr>
              <a:t>5</a:t>
            </a:r>
            <a:r>
              <a:rPr lang="en-US" sz="2200" dirty="0">
                <a:solidFill>
                  <a:srgbClr val="C00000"/>
                </a:solidFill>
                <a:effectLst/>
              </a:rPr>
              <a:t> when n ≥ n0 . </a:t>
            </a:r>
            <a:endParaRPr lang="en-US" sz="2200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93899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D1A22-615E-829C-D38A-E2922A85F2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Quiz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1D78E6-F0A2-4721-DB4F-8B53EBEAA9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194484"/>
                </a:solidFill>
                <a:effectLst/>
              </a:rPr>
              <a:t>Show that 8n</a:t>
            </a:r>
            <a:r>
              <a:rPr lang="en-US" baseline="30000" dirty="0">
                <a:solidFill>
                  <a:srgbClr val="194484"/>
                </a:solidFill>
                <a:effectLst/>
              </a:rPr>
              <a:t>5</a:t>
            </a:r>
            <a:r>
              <a:rPr lang="en-US" dirty="0">
                <a:solidFill>
                  <a:srgbClr val="194484"/>
                </a:solidFill>
                <a:effectLst/>
              </a:rPr>
              <a:t> + 32n</a:t>
            </a:r>
            <a:r>
              <a:rPr lang="en-US" baseline="30000" dirty="0">
                <a:solidFill>
                  <a:srgbClr val="194484"/>
                </a:solidFill>
                <a:effectLst/>
              </a:rPr>
              <a:t>4</a:t>
            </a:r>
            <a:r>
              <a:rPr lang="en-US" dirty="0">
                <a:solidFill>
                  <a:srgbClr val="194484"/>
                </a:solidFill>
                <a:effectLst/>
              </a:rPr>
              <a:t> + 1000 is </a:t>
            </a:r>
            <a:r>
              <a:rPr lang="el-GR" dirty="0">
                <a:solidFill>
                  <a:srgbClr val="194484"/>
                </a:solidFill>
                <a:effectLst/>
              </a:rPr>
              <a:t>Θ(</a:t>
            </a:r>
            <a:r>
              <a:rPr lang="en-US" dirty="0">
                <a:solidFill>
                  <a:srgbClr val="194484"/>
                </a:solidFill>
                <a:effectLst/>
              </a:rPr>
              <a:t>n</a:t>
            </a:r>
            <a:r>
              <a:rPr lang="en-US" baseline="30000" dirty="0">
                <a:solidFill>
                  <a:srgbClr val="194484"/>
                </a:solidFill>
                <a:effectLst/>
              </a:rPr>
              <a:t>5</a:t>
            </a:r>
            <a:r>
              <a:rPr lang="en-US" dirty="0">
                <a:solidFill>
                  <a:srgbClr val="194484"/>
                </a:solidFill>
                <a:effectLst/>
              </a:rPr>
              <a:t>). 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</a:rPr>
              <a:t>	(1) </a:t>
            </a:r>
            <a:r>
              <a:rPr lang="en-US" dirty="0">
                <a:solidFill>
                  <a:srgbClr val="C00000"/>
                </a:solidFill>
                <a:effectLst/>
              </a:rPr>
              <a:t>Show that 8n</a:t>
            </a:r>
            <a:r>
              <a:rPr lang="en-US" baseline="30000" dirty="0">
                <a:solidFill>
                  <a:srgbClr val="C00000"/>
                </a:solidFill>
                <a:effectLst/>
              </a:rPr>
              <a:t>5</a:t>
            </a:r>
            <a:r>
              <a:rPr lang="en-US" dirty="0">
                <a:solidFill>
                  <a:srgbClr val="C00000"/>
                </a:solidFill>
                <a:effectLst/>
              </a:rPr>
              <a:t> + 32n</a:t>
            </a:r>
            <a:r>
              <a:rPr lang="en-US" baseline="30000" dirty="0">
                <a:solidFill>
                  <a:srgbClr val="C00000"/>
                </a:solidFill>
                <a:effectLst/>
              </a:rPr>
              <a:t>4</a:t>
            </a:r>
            <a:r>
              <a:rPr lang="en-US" dirty="0">
                <a:solidFill>
                  <a:srgbClr val="C00000"/>
                </a:solidFill>
                <a:effectLst/>
              </a:rPr>
              <a:t> + 1000 is O(n</a:t>
            </a:r>
            <a:r>
              <a:rPr lang="en-US" baseline="30000" dirty="0">
                <a:solidFill>
                  <a:srgbClr val="C00000"/>
                </a:solidFill>
                <a:effectLst/>
              </a:rPr>
              <a:t>5</a:t>
            </a:r>
            <a:r>
              <a:rPr lang="en-US" dirty="0">
                <a:solidFill>
                  <a:srgbClr val="C00000"/>
                </a:solidFill>
                <a:effectLst/>
              </a:rPr>
              <a:t>). </a:t>
            </a:r>
            <a:endParaRPr lang="en-US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</a:rPr>
              <a:t>	(2) </a:t>
            </a:r>
            <a:r>
              <a:rPr lang="en-US" dirty="0">
                <a:solidFill>
                  <a:srgbClr val="C00000"/>
                </a:solidFill>
                <a:effectLst/>
              </a:rPr>
              <a:t>Show that 8n</a:t>
            </a:r>
            <a:r>
              <a:rPr lang="en-US" baseline="30000" dirty="0">
                <a:solidFill>
                  <a:srgbClr val="C00000"/>
                </a:solidFill>
                <a:effectLst/>
              </a:rPr>
              <a:t>5</a:t>
            </a:r>
            <a:r>
              <a:rPr lang="en-US" dirty="0">
                <a:solidFill>
                  <a:srgbClr val="C00000"/>
                </a:solidFill>
                <a:effectLst/>
              </a:rPr>
              <a:t> + 32n</a:t>
            </a:r>
            <a:r>
              <a:rPr lang="en-US" baseline="30000" dirty="0">
                <a:solidFill>
                  <a:srgbClr val="C00000"/>
                </a:solidFill>
                <a:effectLst/>
              </a:rPr>
              <a:t>4</a:t>
            </a:r>
            <a:r>
              <a:rPr lang="en-US" dirty="0">
                <a:solidFill>
                  <a:srgbClr val="C00000"/>
                </a:solidFill>
                <a:effectLst/>
              </a:rPr>
              <a:t> + 1000 is </a:t>
            </a:r>
            <a:r>
              <a:rPr lang="el-GR" dirty="0">
                <a:solidFill>
                  <a:srgbClr val="C00000"/>
                </a:solidFill>
                <a:effectLst/>
              </a:rPr>
              <a:t>Ω(</a:t>
            </a:r>
            <a:r>
              <a:rPr lang="en-US" dirty="0">
                <a:solidFill>
                  <a:srgbClr val="C00000"/>
                </a:solidFill>
                <a:effectLst/>
              </a:rPr>
              <a:t>n</a:t>
            </a:r>
            <a:r>
              <a:rPr lang="en-US" baseline="30000" dirty="0">
                <a:solidFill>
                  <a:srgbClr val="C00000"/>
                </a:solidFill>
                <a:effectLst/>
              </a:rPr>
              <a:t>5</a:t>
            </a:r>
            <a:r>
              <a:rPr lang="en-US" dirty="0">
                <a:solidFill>
                  <a:srgbClr val="C00000"/>
                </a:solidFill>
                <a:effectLst/>
              </a:rPr>
              <a:t>). </a:t>
            </a:r>
            <a:endParaRPr lang="en-US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11090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AF84C-8990-CB38-A306-E5C71FFC4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Quiz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FD8E55-7A23-294D-9735-30117DA557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194484"/>
                </a:solidFill>
                <a:effectLst/>
              </a:rPr>
              <a:t>For a positive integer n, let f(n) = 1 + 2 + 3 + ... + n, </a:t>
            </a:r>
            <a:r>
              <a:rPr lang="en-US" dirty="0">
                <a:solidFill>
                  <a:srgbClr val="C00000"/>
                </a:solidFill>
                <a:effectLst/>
              </a:rPr>
              <a:t>	What is f(n) equal to? </a:t>
            </a:r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</a:rPr>
              <a:t>	</a:t>
            </a:r>
            <a:r>
              <a:rPr lang="en-US" dirty="0">
                <a:solidFill>
                  <a:srgbClr val="C00000"/>
                </a:solidFill>
                <a:effectLst/>
              </a:rPr>
              <a:t>How fast does it grow? </a:t>
            </a:r>
            <a:endParaRPr lang="en-US" dirty="0">
              <a:solidFill>
                <a:srgbClr val="C00000"/>
              </a:solidFill>
            </a:endParaRPr>
          </a:p>
          <a:p>
            <a:endParaRPr lang="en-US" dirty="0"/>
          </a:p>
          <a:p>
            <a:endParaRPr lang="en-US" dirty="0"/>
          </a:p>
          <a:p>
            <a:r>
              <a:rPr lang="en-US" dirty="0">
                <a:solidFill>
                  <a:srgbClr val="194484"/>
                </a:solidFill>
                <a:effectLst/>
              </a:rPr>
              <a:t>Let a &gt; 0 be a constant. For a positive integer n, define g(n) = 1 + a + a</a:t>
            </a:r>
            <a:r>
              <a:rPr lang="en-US" baseline="30000" dirty="0">
                <a:solidFill>
                  <a:srgbClr val="194484"/>
                </a:solidFill>
                <a:effectLst/>
              </a:rPr>
              <a:t>2</a:t>
            </a:r>
            <a:r>
              <a:rPr lang="en-US" dirty="0">
                <a:solidFill>
                  <a:srgbClr val="194484"/>
                </a:solidFill>
                <a:effectLst/>
              </a:rPr>
              <a:t> + a</a:t>
            </a:r>
            <a:r>
              <a:rPr lang="en-US" baseline="30000" dirty="0">
                <a:solidFill>
                  <a:srgbClr val="194484"/>
                </a:solidFill>
                <a:effectLst/>
              </a:rPr>
              <a:t>3</a:t>
            </a:r>
            <a:r>
              <a:rPr lang="en-US" dirty="0">
                <a:solidFill>
                  <a:srgbClr val="194484"/>
                </a:solidFill>
                <a:effectLst/>
              </a:rPr>
              <a:t>+ ... + a</a:t>
            </a:r>
            <a:r>
              <a:rPr lang="en-US" baseline="30000" dirty="0">
                <a:solidFill>
                  <a:srgbClr val="194484"/>
                </a:solidFill>
                <a:effectLst/>
              </a:rPr>
              <a:t>n</a:t>
            </a:r>
            <a:r>
              <a:rPr lang="en-US" dirty="0">
                <a:solidFill>
                  <a:srgbClr val="194484"/>
                </a:solidFill>
                <a:effectLst/>
              </a:rPr>
              <a:t>.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solidFill>
                  <a:srgbClr val="C00000"/>
                </a:solidFill>
                <a:effectLst/>
              </a:rPr>
              <a:t>What is g(n) equal to? </a:t>
            </a:r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</a:rPr>
              <a:t>	</a:t>
            </a:r>
            <a:r>
              <a:rPr lang="en-US" dirty="0">
                <a:solidFill>
                  <a:srgbClr val="C00000"/>
                </a:solidFill>
                <a:effectLst/>
              </a:rPr>
              <a:t>How fast does it grow? </a:t>
            </a:r>
            <a:endParaRPr lang="en-US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2130188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Comic Sans MS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8575" cap="flat" cmpd="sng" algn="ctr">
          <a:solidFill>
            <a:srgbClr val="FF0066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8575" cap="flat" cmpd="sng" algn="ctr">
          <a:solidFill>
            <a:srgbClr val="FF0066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5139</TotalTime>
  <Words>2008</Words>
  <Application>Microsoft Macintosh PowerPoint</Application>
  <PresentationFormat>On-screen Show (4:3)</PresentationFormat>
  <Paragraphs>261</Paragraphs>
  <Slides>25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5" baseType="lpstr">
      <vt:lpstr>Caveat</vt:lpstr>
      <vt:lpstr>SimSun</vt:lpstr>
      <vt:lpstr>Arial</vt:lpstr>
      <vt:lpstr>Comic Sans MS</vt:lpstr>
      <vt:lpstr>Symbol</vt:lpstr>
      <vt:lpstr>Tahoma</vt:lpstr>
      <vt:lpstr>Times New Roman</vt:lpstr>
      <vt:lpstr>Wingdings</vt:lpstr>
      <vt:lpstr>Default Design</vt:lpstr>
      <vt:lpstr>Chart</vt:lpstr>
      <vt:lpstr>CS-535: Algorithm Design and Analysis   Analysis of Algorithms: Methodologies</vt:lpstr>
      <vt:lpstr>Some Definitions</vt:lpstr>
      <vt:lpstr>Running Time</vt:lpstr>
      <vt:lpstr>PowerPoint Presentation</vt:lpstr>
      <vt:lpstr>Limitations of Experimental Approach</vt:lpstr>
      <vt:lpstr>Theoretical Analysis</vt:lpstr>
      <vt:lpstr>Pseudocode</vt:lpstr>
      <vt:lpstr>Pseudocode Details</vt:lpstr>
      <vt:lpstr>Primitive Operations</vt:lpstr>
      <vt:lpstr>Counting Primitive Operations: Iterative Algorithms</vt:lpstr>
      <vt:lpstr>Counting Primitive Operations: Recursive Algorithms</vt:lpstr>
      <vt:lpstr>Estimating Running Time</vt:lpstr>
      <vt:lpstr>Growth Rate of Running Time</vt:lpstr>
      <vt:lpstr>Growth Rates</vt:lpstr>
      <vt:lpstr>Constant Factors</vt:lpstr>
      <vt:lpstr>Big-Oh Notation</vt:lpstr>
      <vt:lpstr>Big-Oh Example</vt:lpstr>
      <vt:lpstr>Big-Oh Example (on your own)</vt:lpstr>
      <vt:lpstr>Big-Oh and Growth Rate</vt:lpstr>
      <vt:lpstr>Big-Oh Rules</vt:lpstr>
      <vt:lpstr>Some Other Useful Rules </vt:lpstr>
      <vt:lpstr>More</vt:lpstr>
      <vt:lpstr>Quiz</vt:lpstr>
      <vt:lpstr>Quiz</vt:lpstr>
      <vt:lpstr>Quiz</vt:lpstr>
    </vt:vector>
  </TitlesOfParts>
  <Company>UT-Austin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Mesh Generation</dc:title>
  <dc:creator>Yu</dc:creator>
  <cp:lastModifiedBy>Zane Yu</cp:lastModifiedBy>
  <cp:revision>1048</cp:revision>
  <cp:lastPrinted>2024-01-23T18:25:21Z</cp:lastPrinted>
  <dcterms:created xsi:type="dcterms:W3CDTF">2006-12-14T06:02:28Z</dcterms:created>
  <dcterms:modified xsi:type="dcterms:W3CDTF">2024-03-07T04:29:42Z</dcterms:modified>
</cp:coreProperties>
</file>