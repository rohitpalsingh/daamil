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1" autoAdjust="0"/>
    <p:restoredTop sz="94580" autoAdjust="0"/>
  </p:normalViewPr>
  <p:slideViewPr>
    <p:cSldViewPr>
      <p:cViewPr varScale="1">
        <p:scale>
          <a:sx n="107" d="100"/>
          <a:sy n="107" d="100"/>
        </p:scale>
        <p:origin x="177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60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E6787EC3-A0E3-FC79-9C55-D53B0E1216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0674B023-24E6-5456-33FC-64CD08B6240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96550A1F-99AD-553C-8EB0-DE716B39DB5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91ED55B9-62AE-8907-7499-D68B0EB250C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352EBDEE-8BE6-3B4F-BD7E-D2D9A8B026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168667C-6954-D0FD-B0C1-C814E837C2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7598353-6921-D532-1DC2-3C0D8DC9C1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D51BC824-946D-A81D-8D7D-63736EBA97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88321F67-3E84-C94F-CF8C-1B980B8C25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F2276817-5260-7C71-715A-AD8FB6FD3E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802B9169-040F-034D-2C1F-CED87F55D5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A6ED3CB-46AC-9F40-B4A7-C2080BB6337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8190C386-9F21-07AB-C747-287C9662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832AA04-432C-4344-A2BB-3F6A72CDE608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FF2B945-7BF4-2F8E-A92F-EF4DE966B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131499D9-A2F0-7361-3BBD-7F7062B6A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B5FE7-60BE-928F-3C86-4650D5A9B3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418805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16B83-D2B1-3C48-8A4C-7D7C161855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24379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DD45A-29DC-CC13-7B5B-356237B96D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59584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6F609-DB95-142E-016D-95F258E5CB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5402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94061A-4CB9-EEF8-3767-78D96C713E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9747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41E4E5-22A8-57C0-AE5D-6BB39C8E33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39415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D85694-3733-691E-4C3B-8A6F0AAD4E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45199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912A0-E623-F9E8-51B8-4C0B626501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666220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5E28-6157-856C-A8EE-146DB0D6CA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73182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92450-0B4E-FEC5-822F-CFB99D8166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9540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23C26-E80A-B92C-1671-582647B0CE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45467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8B16E3DC-2139-EC27-03B7-60B1735D0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1E0E47C7-8E57-D6D5-CD83-1DFF75880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BAFE9D9-1200-7A32-A670-B42CA765B7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24FE0D8C-239F-2D45-C66F-4A15308412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0D0ADAD-B184-59A2-0C37-C003CC3C9606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8                                     Slides </a:t>
            </a:r>
            <a:fld id="{51FFA9CD-48EB-594B-B19D-9706906BEE4E}" type="slidenum">
              <a:rPr lang="en-US" altLang="en-US" sz="1100">
                <a:solidFill>
                  <a:schemeClr val="accent2"/>
                </a:solidFill>
              </a:rPr>
              <a:pPr algn="l"/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FEC4CA1-86F9-0975-D631-59711208EC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Ordered Dictionaries and Binary Search Trees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8AA57F2-E44B-FF12-03EF-96000AC8E8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February 15,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1B2508ED-6C6A-CECF-9284-04AA79F51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3.1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A3E7FFB-D354-C8C7-3526-0B59CF1E7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Ordered Dictionaries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E945DBA-FACD-2CD6-5C07-1963C5D21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 sz="2000"/>
              <a:t>Operations for unordered dictionaries:</a:t>
            </a:r>
          </a:p>
          <a:p>
            <a:pPr lvl="1" eaLnBrk="1" hangingPunct="1"/>
            <a:r>
              <a:rPr lang="en-US" altLang="en-US"/>
              <a:t>findElement(k), insertItem(k,e), removeElement(k)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Ordered dictionaries:</a:t>
            </a:r>
          </a:p>
          <a:p>
            <a:pPr eaLnBrk="1" hangingPunct="1"/>
            <a:r>
              <a:rPr lang="en-US" altLang="en-US" sz="2000"/>
              <a:t>Keys are assumed to come from a </a:t>
            </a:r>
            <a:r>
              <a:rPr lang="en-US" altLang="en-US" sz="2000">
                <a:solidFill>
                  <a:srgbClr val="FF0066"/>
                </a:solidFill>
              </a:rPr>
              <a:t>total order</a:t>
            </a:r>
            <a:r>
              <a:rPr lang="en-US" altLang="en-US" sz="2000"/>
              <a:t>.</a:t>
            </a:r>
          </a:p>
          <a:p>
            <a:pPr eaLnBrk="1" hangingPunct="1"/>
            <a:r>
              <a:rPr lang="en-US" altLang="en-US" sz="2000"/>
              <a:t>New operations: 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closestKeyBefore</a:t>
            </a:r>
            <a:r>
              <a:rPr lang="en-US" altLang="en-US" sz="1800"/>
              <a:t>(k): return key of item with largest key &lt;= k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closestElemBefore</a:t>
            </a:r>
            <a:r>
              <a:rPr lang="en-US" altLang="en-US" sz="1800"/>
              <a:t>(k): return element of item with largest key &lt;= k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closestKeyAfter</a:t>
            </a:r>
            <a:r>
              <a:rPr lang="en-US" altLang="en-US" sz="1800"/>
              <a:t>(k): return key of item with smallest key &gt;= k</a:t>
            </a:r>
          </a:p>
          <a:p>
            <a:pPr lvl="1" eaLnBrk="1" hangingPunct="1"/>
            <a:r>
              <a:rPr lang="en-US" altLang="en-US" sz="1800">
                <a:solidFill>
                  <a:srgbClr val="FF0066"/>
                </a:solidFill>
              </a:rPr>
              <a:t>closestElemAfter</a:t>
            </a:r>
            <a:r>
              <a:rPr lang="en-US" altLang="en-US" sz="1800"/>
              <a:t>(k): return element of item with smallest key &gt;= k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23007FC6-A41C-5CB7-FF5D-FBAAFD23E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286000"/>
            <a:ext cx="2819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400"/>
              <a:t>Reflexive property:</a:t>
            </a:r>
            <a:br>
              <a:rPr lang="en-US" altLang="en-US" sz="1400"/>
            </a:b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x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400"/>
              <a:t>Antisymmetric property:</a:t>
            </a:r>
            <a:br>
              <a:rPr lang="en-US" altLang="en-US" sz="1400"/>
            </a:b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y</a:t>
            </a:r>
            <a:r>
              <a:rPr lang="en-US" altLang="en-US" sz="1400"/>
              <a:t> </a:t>
            </a:r>
            <a:r>
              <a:rPr lang="en-US" altLang="en-US" sz="1400">
                <a:sym typeface="Symbol" pitchFamily="2" charset="2"/>
              </a:rPr>
              <a:t>&amp;</a:t>
            </a:r>
            <a:r>
              <a:rPr lang="en-US" altLang="en-US" sz="1400"/>
              <a:t> </a:t>
            </a:r>
            <a:r>
              <a:rPr lang="en-US" altLang="en-US" sz="1400" b="1" i="1">
                <a:latin typeface="Times New Roman" panose="02020603050405020304" pitchFamily="18" charset="0"/>
              </a:rPr>
              <a:t>y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x </a:t>
            </a:r>
            <a:r>
              <a:rPr lang="en-US" altLang="en-US" sz="1400">
                <a:sym typeface="Symbol" pitchFamily="2" charset="2"/>
              </a:rPr>
              <a:t> </a:t>
            </a: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 sz="1400" b="1" i="1">
                <a:latin typeface="Times New Roman" panose="02020603050405020304" pitchFamily="18" charset="0"/>
              </a:rPr>
              <a:t> y</a:t>
            </a:r>
            <a:endParaRPr lang="en-US" altLang="en-US" sz="1400"/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400"/>
              <a:t>Transitive property:</a:t>
            </a:r>
            <a:br>
              <a:rPr lang="en-US" altLang="en-US" sz="1400"/>
            </a:br>
            <a:r>
              <a:rPr lang="en-US" altLang="en-US" sz="1400"/>
              <a:t> </a:t>
            </a: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y</a:t>
            </a:r>
            <a:r>
              <a:rPr lang="en-US" altLang="en-US" sz="1400"/>
              <a:t> </a:t>
            </a:r>
            <a:r>
              <a:rPr lang="en-US" altLang="en-US" sz="1400">
                <a:sym typeface="Symbol" pitchFamily="2" charset="2"/>
              </a:rPr>
              <a:t>&amp;</a:t>
            </a:r>
            <a:r>
              <a:rPr lang="en-US" altLang="en-US" sz="1400"/>
              <a:t> </a:t>
            </a:r>
            <a:r>
              <a:rPr lang="en-US" altLang="en-US" sz="1400" b="1" i="1">
                <a:latin typeface="Times New Roman" panose="02020603050405020304" pitchFamily="18" charset="0"/>
              </a:rPr>
              <a:t>y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z </a:t>
            </a:r>
            <a:r>
              <a:rPr lang="en-US" altLang="en-US" sz="1400">
                <a:sym typeface="Symbol" pitchFamily="2" charset="2"/>
              </a:rPr>
              <a:t> </a:t>
            </a:r>
            <a:r>
              <a:rPr lang="en-US" altLang="en-US" sz="1400" b="1" i="1">
                <a:latin typeface="Times New Roman" panose="02020603050405020304" pitchFamily="18" charset="0"/>
              </a:rPr>
              <a:t>x </a:t>
            </a:r>
            <a:r>
              <a:rPr lang="en-US" altLang="en-US" sz="14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400" b="1" i="1">
                <a:latin typeface="Times New Roman" panose="02020603050405020304" pitchFamily="18" charset="0"/>
              </a:rPr>
              <a:t> z</a:t>
            </a:r>
          </a:p>
        </p:txBody>
      </p:sp>
      <p:sp>
        <p:nvSpPr>
          <p:cNvPr id="14341" name="Line 6">
            <a:extLst>
              <a:ext uri="{FF2B5EF4-FFF2-40B4-BE49-F238E27FC236}">
                <a16:creationId xmlns:a16="http://schemas.microsoft.com/office/drawing/2014/main" id="{0D1B470E-2503-85C2-83F5-420314F9CD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895600"/>
            <a:ext cx="762000" cy="6096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E996ACF-EA0C-7E67-AFA6-366633022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Lookup Table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0B884C1-F6A1-CC4F-0BFE-31781053EB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143000"/>
            <a:ext cx="7620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lookup table is a dictionary implemented by means of a 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We store the items of the dictionary in an </a:t>
            </a:r>
            <a:r>
              <a:rPr lang="en-US" altLang="en-US" sz="1800" dirty="0">
                <a:solidFill>
                  <a:srgbClr val="C00000"/>
                </a:solidFill>
              </a:rPr>
              <a:t>array-based</a:t>
            </a:r>
            <a:r>
              <a:rPr lang="en-US" altLang="en-US" sz="1800" dirty="0"/>
              <a:t> sequence, sorted by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We use an external comparator for the keys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>
                <a:solidFill>
                  <a:srgbClr val="FF0066"/>
                </a:solidFill>
              </a:rPr>
              <a:t>findElement</a:t>
            </a:r>
            <a:r>
              <a:rPr lang="en-US" altLang="en-US" sz="1800" dirty="0"/>
              <a:t>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>
                <a:solidFill>
                  <a:srgbClr val="FF0066"/>
                </a:solidFill>
              </a:rPr>
              <a:t>insertItem</a:t>
            </a:r>
            <a:r>
              <a:rPr lang="en-US" altLang="en-US" sz="1800" dirty="0"/>
              <a:t>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 since we have to shift items to make room for the new item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>
                <a:solidFill>
                  <a:srgbClr val="FF0066"/>
                </a:solidFill>
              </a:rPr>
              <a:t>removeElement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take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 since we have to shift items to compact the items after the removal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lookup table is effective only for dictionaries of small size or for dictionaries on which searches are the most common operations, while insertions and removals are rarely performed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60E7DE1-9027-A932-C4ED-A5A2F0597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Binary Search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6F2DD1F-95B1-E663-E720-859EEEE4A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447800"/>
          </a:xfrm>
        </p:spPr>
        <p:txBody>
          <a:bodyPr/>
          <a:lstStyle/>
          <a:p>
            <a:pPr eaLnBrk="1" hangingPunct="1"/>
            <a:r>
              <a:rPr lang="en-US" altLang="en-US" sz="2000"/>
              <a:t>Binary search performs operation </a:t>
            </a:r>
            <a:r>
              <a:rPr lang="en-US" altLang="en-US" sz="2000">
                <a:solidFill>
                  <a:srgbClr val="FF0066"/>
                </a:solidFill>
              </a:rPr>
              <a:t>findElement</a:t>
            </a:r>
            <a:r>
              <a:rPr lang="en-US" altLang="en-US" sz="2000"/>
              <a:t>(k) on a dictionary implemented by means of an </a:t>
            </a:r>
            <a:r>
              <a:rPr lang="en-US" altLang="en-US" sz="2000" i="1"/>
              <a:t>array-based sequence</a:t>
            </a:r>
            <a:r>
              <a:rPr lang="en-US" altLang="en-US" sz="2000"/>
              <a:t>, sorted by key</a:t>
            </a:r>
          </a:p>
          <a:p>
            <a:pPr lvl="1" eaLnBrk="1" hangingPunct="1"/>
            <a:r>
              <a:rPr lang="en-US" altLang="en-US" sz="1800"/>
              <a:t>at each step, the number of candidate items is halved</a:t>
            </a:r>
          </a:p>
          <a:p>
            <a:pPr lvl="1" eaLnBrk="1" hangingPunct="1"/>
            <a:r>
              <a:rPr lang="en-US" altLang="en-US" sz="1800"/>
              <a:t>terminates after O(log n) steps</a:t>
            </a:r>
          </a:p>
          <a:p>
            <a:pPr lvl="1" eaLnBrk="1" hangingPunct="1">
              <a:buFontTx/>
              <a:buNone/>
            </a:pPr>
            <a:endParaRPr lang="en-US" altLang="en-US" sz="1600"/>
          </a:p>
        </p:txBody>
      </p:sp>
      <p:sp>
        <p:nvSpPr>
          <p:cNvPr id="16388" name="Text Box 71">
            <a:extLst>
              <a:ext uri="{FF2B5EF4-FFF2-40B4-BE49-F238E27FC236}">
                <a16:creationId xmlns:a16="http://schemas.microsoft.com/office/drawing/2014/main" id="{B3C8444C-40FB-6E8D-4071-A27060B76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743200"/>
            <a:ext cx="5715000" cy="3381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575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BinarySearch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(S,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low, high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	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low &gt; high </a:t>
            </a:r>
            <a:r>
              <a:rPr lang="en-US" altLang="en-US" b="1" dirty="0">
                <a:latin typeface="Times New Roman" panose="02020603050405020304" pitchFamily="18" charset="0"/>
              </a:rPr>
              <a:t>then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return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NO_SUCH_KEY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mid ← </a:t>
            </a:r>
            <a:r>
              <a:rPr lang="en-US" altLang="en-US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floor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((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low+high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)/2)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</a:rPr>
              <a:t>if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k = key(mid) </a:t>
            </a:r>
            <a:r>
              <a:rPr lang="en-US" altLang="en-US" b="1" dirty="0">
                <a:latin typeface="Times New Roman" panose="02020603050405020304" pitchFamily="18" charset="0"/>
              </a:rPr>
              <a:t>then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dirty="0">
                <a:latin typeface="Times New Roman" panose="02020603050405020304" pitchFamily="18" charset="0"/>
              </a:rPr>
              <a:t>return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elem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(mid)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</a:rPr>
              <a:t>else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 if </a:t>
            </a:r>
            <a:r>
              <a:rPr lang="en-US" altLang="en-US" dirty="0">
                <a:solidFill>
                  <a:schemeClr val="accent2"/>
                </a:solidFill>
              </a:rPr>
              <a:t>k &lt; key(mid) </a:t>
            </a:r>
            <a:r>
              <a:rPr lang="en-US" altLang="en-US" b="1" dirty="0"/>
              <a:t>then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	</a:t>
            </a:r>
            <a:r>
              <a:rPr lang="en-US" altLang="en-US" b="1" dirty="0"/>
              <a:t>return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</a:rPr>
              <a:t>BinarySearch</a:t>
            </a:r>
            <a:r>
              <a:rPr lang="en-US" altLang="en-US" dirty="0">
                <a:solidFill>
                  <a:schemeClr val="accent2"/>
                </a:solidFill>
              </a:rPr>
              <a:t>(S,k,low,mid-1)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</a:t>
            </a:r>
            <a:r>
              <a:rPr lang="en-US" altLang="en-US" b="1" dirty="0"/>
              <a:t>else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	</a:t>
            </a:r>
            <a:r>
              <a:rPr lang="en-US" altLang="en-US" b="1" dirty="0"/>
              <a:t>return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</a:rPr>
              <a:t>BinarySearch</a:t>
            </a:r>
            <a:r>
              <a:rPr lang="en-US" altLang="en-US" dirty="0">
                <a:solidFill>
                  <a:schemeClr val="accent2"/>
                </a:solidFill>
              </a:rPr>
              <a:t>(S,k,mid+1,high)</a:t>
            </a:r>
          </a:p>
        </p:txBody>
      </p:sp>
      <p:sp>
        <p:nvSpPr>
          <p:cNvPr id="16389" name="Text Box 72">
            <a:extLst>
              <a:ext uri="{FF2B5EF4-FFF2-40B4-BE49-F238E27FC236}">
                <a16:creationId xmlns:a16="http://schemas.microsoft.com/office/drawing/2014/main" id="{1D1BA6EA-A676-D153-000F-767D230C6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172200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66"/>
                </a:solidFill>
              </a:rPr>
              <a:t>Call BinarySearch(S,k,0,n-1)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BD258C8-B526-B9FC-27C9-B3B067617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Binary Search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B3F90DE-101A-F1DF-2295-FA121E16D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14400"/>
            <a:ext cx="7677150" cy="2819400"/>
          </a:xfrm>
        </p:spPr>
        <p:txBody>
          <a:bodyPr/>
          <a:lstStyle/>
          <a:p>
            <a:pPr eaLnBrk="1" hangingPunct="1"/>
            <a:r>
              <a:rPr lang="en-US" altLang="en-US" sz="2000"/>
              <a:t>Binary search performs operation </a:t>
            </a:r>
            <a:r>
              <a:rPr lang="en-US" altLang="en-US" sz="2000">
                <a:solidFill>
                  <a:srgbClr val="FF0066"/>
                </a:solidFill>
              </a:rPr>
              <a:t>findElement</a:t>
            </a:r>
            <a:r>
              <a:rPr lang="en-US" altLang="en-US" sz="2000"/>
              <a:t>(k) on a dictionary implemented by means of an </a:t>
            </a:r>
            <a:r>
              <a:rPr lang="en-US" altLang="en-US" sz="2000" i="1"/>
              <a:t>array-based sequence</a:t>
            </a:r>
            <a:r>
              <a:rPr lang="en-US" altLang="en-US" sz="2000"/>
              <a:t>, sorted by key</a:t>
            </a:r>
          </a:p>
          <a:p>
            <a:pPr lvl="1" eaLnBrk="1" hangingPunct="1"/>
            <a:r>
              <a:rPr lang="en-US" altLang="en-US" sz="1800"/>
              <a:t>at each step, the number of candidate items is halved</a:t>
            </a:r>
          </a:p>
          <a:p>
            <a:pPr lvl="1" eaLnBrk="1" hangingPunct="1"/>
            <a:r>
              <a:rPr lang="en-US" altLang="en-US" sz="1800"/>
              <a:t>terminates after O(log n) steps</a:t>
            </a:r>
          </a:p>
          <a:p>
            <a:pPr lvl="1" eaLnBrk="1" hangingPunct="1"/>
            <a:endParaRPr lang="en-US" altLang="en-US" sz="1200"/>
          </a:p>
          <a:p>
            <a:pPr eaLnBrk="1" hangingPunct="1"/>
            <a:r>
              <a:rPr lang="en-US" altLang="en-US" sz="2000"/>
              <a:t>Example: </a:t>
            </a:r>
            <a:r>
              <a:rPr lang="en-US" altLang="en-US" sz="2000">
                <a:solidFill>
                  <a:schemeClr val="tx2"/>
                </a:solidFill>
              </a:rPr>
              <a:t>findElement</a:t>
            </a:r>
            <a:r>
              <a:rPr lang="en-US" altLang="en-US" sz="2000"/>
              <a:t>(7)</a:t>
            </a:r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4B5EDA7F-628B-1A1D-CB58-3E2F456D8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191000"/>
            <a:ext cx="6991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Oval 5">
            <a:extLst>
              <a:ext uri="{FF2B5EF4-FFF2-40B4-BE49-F238E27FC236}">
                <a16:creationId xmlns:a16="http://schemas.microsoft.com/office/drawing/2014/main" id="{B280C880-2B71-B94B-C147-98EA84368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14" name="Oval 6">
            <a:extLst>
              <a:ext uri="{FF2B5EF4-FFF2-40B4-BE49-F238E27FC236}">
                <a16:creationId xmlns:a16="http://schemas.microsoft.com/office/drawing/2014/main" id="{0B205C02-82C6-4D61-2CBC-BC6228956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15" name="Oval 7">
            <a:extLst>
              <a:ext uri="{FF2B5EF4-FFF2-40B4-BE49-F238E27FC236}">
                <a16:creationId xmlns:a16="http://schemas.microsoft.com/office/drawing/2014/main" id="{4DB96D5F-43A4-4EB6-DD13-E4D3FB32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16" name="Oval 8">
            <a:extLst>
              <a:ext uri="{FF2B5EF4-FFF2-40B4-BE49-F238E27FC236}">
                <a16:creationId xmlns:a16="http://schemas.microsoft.com/office/drawing/2014/main" id="{A8D8090D-D49D-73F1-B631-D39B7D352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17" name="Oval 9">
            <a:extLst>
              <a:ext uri="{FF2B5EF4-FFF2-40B4-BE49-F238E27FC236}">
                <a16:creationId xmlns:a16="http://schemas.microsoft.com/office/drawing/2014/main" id="{E4871F86-2C90-4E4E-BF3D-C23CD1049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18" name="Oval 10">
            <a:extLst>
              <a:ext uri="{FF2B5EF4-FFF2-40B4-BE49-F238E27FC236}">
                <a16:creationId xmlns:a16="http://schemas.microsoft.com/office/drawing/2014/main" id="{2314B12D-8CE7-2733-29B0-35B10209D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40386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19" name="Oval 11">
            <a:extLst>
              <a:ext uri="{FF2B5EF4-FFF2-40B4-BE49-F238E27FC236}">
                <a16:creationId xmlns:a16="http://schemas.microsoft.com/office/drawing/2014/main" id="{8CA8CC19-74CE-8775-E7C5-669F8DC2A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20" name="Oval 12">
            <a:extLst>
              <a:ext uri="{FF2B5EF4-FFF2-40B4-BE49-F238E27FC236}">
                <a16:creationId xmlns:a16="http://schemas.microsoft.com/office/drawing/2014/main" id="{9824960B-FD0C-EDE1-32B8-C094B4044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21" name="Oval 13">
            <a:extLst>
              <a:ext uri="{FF2B5EF4-FFF2-40B4-BE49-F238E27FC236}">
                <a16:creationId xmlns:a16="http://schemas.microsoft.com/office/drawing/2014/main" id="{A156DC60-0142-58BA-AAB0-06C4EC800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22" name="Oval 14">
            <a:extLst>
              <a:ext uri="{FF2B5EF4-FFF2-40B4-BE49-F238E27FC236}">
                <a16:creationId xmlns:a16="http://schemas.microsoft.com/office/drawing/2014/main" id="{C13909E3-71CE-BBE6-7749-FE6D663A5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23" name="Oval 15">
            <a:extLst>
              <a:ext uri="{FF2B5EF4-FFF2-40B4-BE49-F238E27FC236}">
                <a16:creationId xmlns:a16="http://schemas.microsoft.com/office/drawing/2014/main" id="{B95972CA-72AF-341D-982F-D1E09CF0B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24" name="Oval 16">
            <a:extLst>
              <a:ext uri="{FF2B5EF4-FFF2-40B4-BE49-F238E27FC236}">
                <a16:creationId xmlns:a16="http://schemas.microsoft.com/office/drawing/2014/main" id="{05DA828B-FE5B-BBFC-1E39-98D309D8E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25" name="Line 17">
            <a:extLst>
              <a:ext uri="{FF2B5EF4-FFF2-40B4-BE49-F238E27FC236}">
                <a16:creationId xmlns:a16="http://schemas.microsoft.com/office/drawing/2014/main" id="{F8FEA1C5-C49B-4DCC-C7CB-602F16EF1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800600"/>
            <a:ext cx="7143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Oval 18">
            <a:extLst>
              <a:ext uri="{FF2B5EF4-FFF2-40B4-BE49-F238E27FC236}">
                <a16:creationId xmlns:a16="http://schemas.microsoft.com/office/drawing/2014/main" id="{EEB81496-006C-05EB-E4AB-994F1C270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27" name="Oval 19">
            <a:extLst>
              <a:ext uri="{FF2B5EF4-FFF2-40B4-BE49-F238E27FC236}">
                <a16:creationId xmlns:a16="http://schemas.microsoft.com/office/drawing/2014/main" id="{A6CE8B7F-096C-C9D2-D62D-7EC7396A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6482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28" name="Oval 20">
            <a:extLst>
              <a:ext uri="{FF2B5EF4-FFF2-40B4-BE49-F238E27FC236}">
                <a16:creationId xmlns:a16="http://schemas.microsoft.com/office/drawing/2014/main" id="{C0798F67-A850-568B-FF3F-6461BCAB5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29" name="Oval 21">
            <a:extLst>
              <a:ext uri="{FF2B5EF4-FFF2-40B4-BE49-F238E27FC236}">
                <a16:creationId xmlns:a16="http://schemas.microsoft.com/office/drawing/2014/main" id="{B9BAFBBB-A445-8F56-D6EB-D5D63492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30" name="Oval 22">
            <a:extLst>
              <a:ext uri="{FF2B5EF4-FFF2-40B4-BE49-F238E27FC236}">
                <a16:creationId xmlns:a16="http://schemas.microsoft.com/office/drawing/2014/main" id="{4B4416BA-F387-FFFF-7E23-8ED352987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31" name="Oval 23">
            <a:extLst>
              <a:ext uri="{FF2B5EF4-FFF2-40B4-BE49-F238E27FC236}">
                <a16:creationId xmlns:a16="http://schemas.microsoft.com/office/drawing/2014/main" id="{F0D1C211-CA86-0C08-D74D-8530913B1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32" name="Oval 24">
            <a:extLst>
              <a:ext uri="{FF2B5EF4-FFF2-40B4-BE49-F238E27FC236}">
                <a16:creationId xmlns:a16="http://schemas.microsoft.com/office/drawing/2014/main" id="{A7218F08-FF30-60BE-A280-7947B9FF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33" name="Oval 25">
            <a:extLst>
              <a:ext uri="{FF2B5EF4-FFF2-40B4-BE49-F238E27FC236}">
                <a16:creationId xmlns:a16="http://schemas.microsoft.com/office/drawing/2014/main" id="{521AA598-161F-61C5-7352-9567E67B9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34" name="Oval 26">
            <a:extLst>
              <a:ext uri="{FF2B5EF4-FFF2-40B4-BE49-F238E27FC236}">
                <a16:creationId xmlns:a16="http://schemas.microsoft.com/office/drawing/2014/main" id="{E1F53CCB-D18D-1161-E29F-D3F9F68DB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35" name="Oval 27">
            <a:extLst>
              <a:ext uri="{FF2B5EF4-FFF2-40B4-BE49-F238E27FC236}">
                <a16:creationId xmlns:a16="http://schemas.microsoft.com/office/drawing/2014/main" id="{FC4661F3-EE1D-1F96-44B1-FFE44F5F1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36" name="Oval 28">
            <a:extLst>
              <a:ext uri="{FF2B5EF4-FFF2-40B4-BE49-F238E27FC236}">
                <a16:creationId xmlns:a16="http://schemas.microsoft.com/office/drawing/2014/main" id="{242ED1EF-3468-E2D5-9F82-C25CD2610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37" name="Oval 29">
            <a:extLst>
              <a:ext uri="{FF2B5EF4-FFF2-40B4-BE49-F238E27FC236}">
                <a16:creationId xmlns:a16="http://schemas.microsoft.com/office/drawing/2014/main" id="{A757BEF0-7EE3-12CA-CBF3-EB2E7FCAD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0" y="46482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38" name="Line 30">
            <a:extLst>
              <a:ext uri="{FF2B5EF4-FFF2-40B4-BE49-F238E27FC236}">
                <a16:creationId xmlns:a16="http://schemas.microsoft.com/office/drawing/2014/main" id="{6735B59E-F312-4CF8-170B-965504FC1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410200"/>
            <a:ext cx="7067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Oval 31">
            <a:extLst>
              <a:ext uri="{FF2B5EF4-FFF2-40B4-BE49-F238E27FC236}">
                <a16:creationId xmlns:a16="http://schemas.microsoft.com/office/drawing/2014/main" id="{0B33553C-E4F7-97AE-C971-D9621090B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40" name="Oval 32">
            <a:extLst>
              <a:ext uri="{FF2B5EF4-FFF2-40B4-BE49-F238E27FC236}">
                <a16:creationId xmlns:a16="http://schemas.microsoft.com/office/drawing/2014/main" id="{B785264D-EEDE-0361-B7D9-14EA854FB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41" name="Oval 33">
            <a:extLst>
              <a:ext uri="{FF2B5EF4-FFF2-40B4-BE49-F238E27FC236}">
                <a16:creationId xmlns:a16="http://schemas.microsoft.com/office/drawing/2014/main" id="{BB8B33D9-D077-E0A7-B1D4-82438BFA8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5257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42" name="Oval 34">
            <a:extLst>
              <a:ext uri="{FF2B5EF4-FFF2-40B4-BE49-F238E27FC236}">
                <a16:creationId xmlns:a16="http://schemas.microsoft.com/office/drawing/2014/main" id="{9186EE05-7F78-D847-5C21-4276D4449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52578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43" name="Oval 35">
            <a:extLst>
              <a:ext uri="{FF2B5EF4-FFF2-40B4-BE49-F238E27FC236}">
                <a16:creationId xmlns:a16="http://schemas.microsoft.com/office/drawing/2014/main" id="{22E8CE60-1602-F167-B795-A6372CA3F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5257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44" name="Oval 36">
            <a:extLst>
              <a:ext uri="{FF2B5EF4-FFF2-40B4-BE49-F238E27FC236}">
                <a16:creationId xmlns:a16="http://schemas.microsoft.com/office/drawing/2014/main" id="{3F3046CD-26E1-A812-1178-C42AD807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45" name="Oval 37">
            <a:extLst>
              <a:ext uri="{FF2B5EF4-FFF2-40B4-BE49-F238E27FC236}">
                <a16:creationId xmlns:a16="http://schemas.microsoft.com/office/drawing/2014/main" id="{88CAA789-728F-3A81-E6DB-5048A64C2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46" name="Oval 38">
            <a:extLst>
              <a:ext uri="{FF2B5EF4-FFF2-40B4-BE49-F238E27FC236}">
                <a16:creationId xmlns:a16="http://schemas.microsoft.com/office/drawing/2014/main" id="{64BB3CCA-8B9B-BC7D-FDB9-974A71037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47" name="Oval 39">
            <a:extLst>
              <a:ext uri="{FF2B5EF4-FFF2-40B4-BE49-F238E27FC236}">
                <a16:creationId xmlns:a16="http://schemas.microsoft.com/office/drawing/2014/main" id="{77D9DE57-DCA1-2346-0FD1-7F48466AB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48" name="Oval 40">
            <a:extLst>
              <a:ext uri="{FF2B5EF4-FFF2-40B4-BE49-F238E27FC236}">
                <a16:creationId xmlns:a16="http://schemas.microsoft.com/office/drawing/2014/main" id="{2CD77A50-7B34-36F7-84D0-F153ED49E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49" name="Oval 41">
            <a:extLst>
              <a:ext uri="{FF2B5EF4-FFF2-40B4-BE49-F238E27FC236}">
                <a16:creationId xmlns:a16="http://schemas.microsoft.com/office/drawing/2014/main" id="{D45D2626-A230-752A-5F76-B47DF7F2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50" name="Oval 42">
            <a:extLst>
              <a:ext uri="{FF2B5EF4-FFF2-40B4-BE49-F238E27FC236}">
                <a16:creationId xmlns:a16="http://schemas.microsoft.com/office/drawing/2014/main" id="{C0F8314F-B864-66C3-764D-DFD228AFC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51" name="Line 43">
            <a:extLst>
              <a:ext uri="{FF2B5EF4-FFF2-40B4-BE49-F238E27FC236}">
                <a16:creationId xmlns:a16="http://schemas.microsoft.com/office/drawing/2014/main" id="{579338AC-5A7C-1102-0845-E08A41B50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019800"/>
            <a:ext cx="6991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2" name="Oval 44">
            <a:extLst>
              <a:ext uri="{FF2B5EF4-FFF2-40B4-BE49-F238E27FC236}">
                <a16:creationId xmlns:a16="http://schemas.microsoft.com/office/drawing/2014/main" id="{E756B31E-3A7C-0524-25C0-97AFABDFC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53" name="Oval 45">
            <a:extLst>
              <a:ext uri="{FF2B5EF4-FFF2-40B4-BE49-F238E27FC236}">
                <a16:creationId xmlns:a16="http://schemas.microsoft.com/office/drawing/2014/main" id="{33F5BAB0-9D14-81C9-F30E-94F114FCB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54" name="Oval 46">
            <a:extLst>
              <a:ext uri="{FF2B5EF4-FFF2-40B4-BE49-F238E27FC236}">
                <a16:creationId xmlns:a16="http://schemas.microsoft.com/office/drawing/2014/main" id="{22F7C1CF-524F-C25C-4CA0-F7E0D6B54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55" name="Oval 47">
            <a:extLst>
              <a:ext uri="{FF2B5EF4-FFF2-40B4-BE49-F238E27FC236}">
                <a16:creationId xmlns:a16="http://schemas.microsoft.com/office/drawing/2014/main" id="{A9310117-FDC4-A736-2AB4-FC9A29904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56" name="Oval 48">
            <a:extLst>
              <a:ext uri="{FF2B5EF4-FFF2-40B4-BE49-F238E27FC236}">
                <a16:creationId xmlns:a16="http://schemas.microsoft.com/office/drawing/2014/main" id="{73AA502B-56F5-F384-0306-6264E180B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5867400"/>
            <a:ext cx="304800" cy="304800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57" name="Oval 49">
            <a:extLst>
              <a:ext uri="{FF2B5EF4-FFF2-40B4-BE49-F238E27FC236}">
                <a16:creationId xmlns:a16="http://schemas.microsoft.com/office/drawing/2014/main" id="{76F800A5-17CC-4654-7C71-C00757E7B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58" name="Oval 50">
            <a:extLst>
              <a:ext uri="{FF2B5EF4-FFF2-40B4-BE49-F238E27FC236}">
                <a16:creationId xmlns:a16="http://schemas.microsoft.com/office/drawing/2014/main" id="{42AEEE26-9B3D-2BB0-099E-7238863EF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59" name="Oval 51">
            <a:extLst>
              <a:ext uri="{FF2B5EF4-FFF2-40B4-BE49-F238E27FC236}">
                <a16:creationId xmlns:a16="http://schemas.microsoft.com/office/drawing/2014/main" id="{90373B8E-76D4-E2C2-0C83-473192AB0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9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60" name="Oval 52">
            <a:extLst>
              <a:ext uri="{FF2B5EF4-FFF2-40B4-BE49-F238E27FC236}">
                <a16:creationId xmlns:a16="http://schemas.microsoft.com/office/drawing/2014/main" id="{7B8BC4BA-9BF1-86F1-CB28-AED7E7424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61" name="Oval 53">
            <a:extLst>
              <a:ext uri="{FF2B5EF4-FFF2-40B4-BE49-F238E27FC236}">
                <a16:creationId xmlns:a16="http://schemas.microsoft.com/office/drawing/2014/main" id="{C172E242-26CA-6716-19AA-B4F75941A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17462" name="Oval 54">
            <a:extLst>
              <a:ext uri="{FF2B5EF4-FFF2-40B4-BE49-F238E27FC236}">
                <a16:creationId xmlns:a16="http://schemas.microsoft.com/office/drawing/2014/main" id="{7189BD90-244A-953F-5D66-03D262C0E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63" name="Oval 55">
            <a:extLst>
              <a:ext uri="{FF2B5EF4-FFF2-40B4-BE49-F238E27FC236}">
                <a16:creationId xmlns:a16="http://schemas.microsoft.com/office/drawing/2014/main" id="{E0B8110D-BCC3-1A50-BFD5-36AB3AD1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0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64" name="Oval 56">
            <a:extLst>
              <a:ext uri="{FF2B5EF4-FFF2-40B4-BE49-F238E27FC236}">
                <a16:creationId xmlns:a16="http://schemas.microsoft.com/office/drawing/2014/main" id="{53A9997F-ACB6-5B9D-256E-DC0636530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038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5" name="Oval 57">
            <a:extLst>
              <a:ext uri="{FF2B5EF4-FFF2-40B4-BE49-F238E27FC236}">
                <a16:creationId xmlns:a16="http://schemas.microsoft.com/office/drawing/2014/main" id="{CD1C9EDE-3B35-F516-90FD-DC01D4A90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8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6" name="Oval 58">
            <a:extLst>
              <a:ext uri="{FF2B5EF4-FFF2-40B4-BE49-F238E27FC236}">
                <a16:creationId xmlns:a16="http://schemas.microsoft.com/office/drawing/2014/main" id="{136A25FE-B3EA-A404-04F2-5EA1AB0C0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578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7" name="Oval 59">
            <a:extLst>
              <a:ext uri="{FF2B5EF4-FFF2-40B4-BE49-F238E27FC236}">
                <a16:creationId xmlns:a16="http://schemas.microsoft.com/office/drawing/2014/main" id="{2D8F4AAA-9466-09D5-FF21-E9A36A6D4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5867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68" name="Text Box 60">
            <a:extLst>
              <a:ext uri="{FF2B5EF4-FFF2-40B4-BE49-F238E27FC236}">
                <a16:creationId xmlns:a16="http://schemas.microsoft.com/office/drawing/2014/main" id="{1A5FB31C-5016-74CE-11AD-5E22CC976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4284663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7469" name="Text Box 61">
            <a:extLst>
              <a:ext uri="{FF2B5EF4-FFF2-40B4-BE49-F238E27FC236}">
                <a16:creationId xmlns:a16="http://schemas.microsoft.com/office/drawing/2014/main" id="{0558D527-3EFA-CADC-7D47-203FB2D52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286250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7470" name="Text Box 62">
            <a:extLst>
              <a:ext uri="{FF2B5EF4-FFF2-40B4-BE49-F238E27FC236}">
                <a16:creationId xmlns:a16="http://schemas.microsoft.com/office/drawing/2014/main" id="{8FE9DE47-A9FA-FE6F-F9E3-B0FDA071A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28466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471" name="Text Box 63">
            <a:extLst>
              <a:ext uri="{FF2B5EF4-FFF2-40B4-BE49-F238E27FC236}">
                <a16:creationId xmlns:a16="http://schemas.microsoft.com/office/drawing/2014/main" id="{675B73E3-FDD8-8D37-751D-92A443C8C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4905375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7472" name="Text Box 64">
            <a:extLst>
              <a:ext uri="{FF2B5EF4-FFF2-40B4-BE49-F238E27FC236}">
                <a16:creationId xmlns:a16="http://schemas.microsoft.com/office/drawing/2014/main" id="{42A2352E-9F53-DBC2-095F-0243697DA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906963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7473" name="Text Box 65">
            <a:extLst>
              <a:ext uri="{FF2B5EF4-FFF2-40B4-BE49-F238E27FC236}">
                <a16:creationId xmlns:a16="http://schemas.microsoft.com/office/drawing/2014/main" id="{74459062-FA5F-3251-A67F-CE4FD788C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490537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474" name="Text Box 66">
            <a:extLst>
              <a:ext uri="{FF2B5EF4-FFF2-40B4-BE49-F238E27FC236}">
                <a16:creationId xmlns:a16="http://schemas.microsoft.com/office/drawing/2014/main" id="{1C746E5F-0631-EEE2-3964-0E2F2BA05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5526088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7475" name="Text Box 67">
            <a:extLst>
              <a:ext uri="{FF2B5EF4-FFF2-40B4-BE49-F238E27FC236}">
                <a16:creationId xmlns:a16="http://schemas.microsoft.com/office/drawing/2014/main" id="{3E9FE388-A73F-D4B8-1DC6-81B30E29F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527675"/>
            <a:ext cx="241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7476" name="Text Box 68">
            <a:extLst>
              <a:ext uri="{FF2B5EF4-FFF2-40B4-BE49-F238E27FC236}">
                <a16:creationId xmlns:a16="http://schemas.microsoft.com/office/drawing/2014/main" id="{BDEDF615-761F-1AD4-26D1-05F95D8A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5526088"/>
            <a:ext cx="304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477" name="Text Box 69">
            <a:extLst>
              <a:ext uri="{FF2B5EF4-FFF2-40B4-BE49-F238E27FC236}">
                <a16:creationId xmlns:a16="http://schemas.microsoft.com/office/drawing/2014/main" id="{2D28066B-4688-067E-89BD-A1267AF02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6142038"/>
            <a:ext cx="785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latin typeface="Times New Roman" panose="02020603050405020304" pitchFamily="18" charset="0"/>
              </a:rPr>
              <a:t>l</a:t>
            </a:r>
            <a:r>
              <a:rPr lang="en-US" altLang="en-US" sz="1600">
                <a:latin typeface="Symbol" pitchFamily="2" charset="2"/>
              </a:rPr>
              <a:t>=</a:t>
            </a:r>
            <a:r>
              <a:rPr lang="en-US" altLang="en-US" sz="1600" b="1" i="1">
                <a:latin typeface="Times New Roman" panose="02020603050405020304" pitchFamily="18" charset="0"/>
              </a:rPr>
              <a:t>m </a:t>
            </a:r>
            <a:r>
              <a:rPr lang="en-US" altLang="en-US" sz="1600">
                <a:latin typeface="Symbol" pitchFamily="2" charset="2"/>
              </a:rPr>
              <a:t>=</a:t>
            </a:r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BF77F99-70A4-AA4E-4B67-B6453DE0E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Lookup Table with Binary Search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EA3B57D-EB8B-9C5D-3591-48C874A4F8F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219200"/>
            <a:ext cx="76200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lookup table is a dictionary implemented by means of a 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store the items of the dictionary in an array-based sequence, sorted by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use an external comparator for the keys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FF0066"/>
                </a:solidFill>
              </a:rPr>
              <a:t>findElement</a:t>
            </a:r>
            <a:r>
              <a:rPr lang="en-US" altLang="en-US" sz="1800"/>
              <a:t> takes </a:t>
            </a:r>
            <a:r>
              <a:rPr lang="en-US" altLang="en-US" sz="1800" b="1" i="1">
                <a:solidFill>
                  <a:srgbClr val="FF0066"/>
                </a:solidFill>
              </a:rPr>
              <a:t>O</a:t>
            </a:r>
            <a:r>
              <a:rPr lang="en-US" altLang="en-US" sz="1800" b="1">
                <a:solidFill>
                  <a:srgbClr val="FF0066"/>
                </a:solidFill>
              </a:rPr>
              <a:t>(log </a:t>
            </a:r>
            <a:r>
              <a:rPr lang="en-US" altLang="en-US" sz="1800" b="1" i="1">
                <a:solidFill>
                  <a:srgbClr val="FF0066"/>
                </a:solidFill>
              </a:rPr>
              <a:t>n</a:t>
            </a:r>
            <a:r>
              <a:rPr lang="en-US" altLang="en-US" sz="1800" b="1">
                <a:solidFill>
                  <a:srgbClr val="FF0066"/>
                </a:solidFill>
              </a:rPr>
              <a:t>)</a:t>
            </a:r>
            <a:r>
              <a:rPr lang="en-US" altLang="en-US" sz="1800">
                <a:solidFill>
                  <a:srgbClr val="FF0066"/>
                </a:solidFill>
              </a:rPr>
              <a:t> time, </a:t>
            </a:r>
            <a:r>
              <a:rPr lang="en-US" altLang="en-US" sz="1800"/>
              <a:t>using</a:t>
            </a:r>
            <a:r>
              <a:rPr lang="en-US" altLang="en-US" sz="1800">
                <a:solidFill>
                  <a:srgbClr val="FF0066"/>
                </a:solidFill>
              </a:rPr>
              <a:t> binary search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FF0066"/>
                </a:solidFill>
              </a:rPr>
              <a:t>insertItem</a:t>
            </a:r>
            <a:r>
              <a:rPr lang="en-US" altLang="en-US" sz="1800"/>
              <a:t>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since in the worst case we have to shift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items to make room for the new item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FF0066"/>
                </a:solidFill>
              </a:rPr>
              <a:t>removeElement</a:t>
            </a:r>
            <a:r>
              <a:rPr lang="en-US" altLang="en-US" sz="1800">
                <a:solidFill>
                  <a:schemeClr val="tx2"/>
                </a:solidFill>
              </a:rPr>
              <a:t> </a:t>
            </a:r>
            <a:r>
              <a:rPr lang="en-US" altLang="en-US" sz="1800"/>
              <a:t>take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since in the worst case we have to shift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items to compact the items after the removal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lookup table is effective only for dictionaries of small size or for dictionaries on which searches are the most common operations, while insertions and removals are rarely performed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1AE6075-87BE-5F60-0E90-9BF0E634A1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5438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Binary Search Tree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B8D5235-2BCC-8BBC-A1AA-BC18B58FC5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38100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binary search tree is a binary tree storing keys (or key-element pairs) at its internal nodes and satisfying the following property: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, and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be three nodes such that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is in the left </a:t>
            </a:r>
            <a:r>
              <a:rPr lang="en-US" altLang="en-US" sz="1800">
                <a:solidFill>
                  <a:srgbClr val="FF0066"/>
                </a:solidFill>
              </a:rPr>
              <a:t>subtree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is in the right </a:t>
            </a:r>
            <a:r>
              <a:rPr lang="en-US" altLang="en-US" sz="1800">
                <a:solidFill>
                  <a:srgbClr val="FF0066"/>
                </a:solidFill>
              </a:rPr>
              <a:t>subtree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. We have </a:t>
            </a:r>
            <a:br>
              <a:rPr lang="en-US" altLang="en-US" sz="1800"/>
            </a:b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External nodes do not store items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0C0B35E9-48B5-1872-04A4-9AA053944BA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447800"/>
            <a:ext cx="3810000" cy="1600200"/>
          </a:xfrm>
        </p:spPr>
        <p:txBody>
          <a:bodyPr/>
          <a:lstStyle/>
          <a:p>
            <a:pPr eaLnBrk="1" hangingPunct="1"/>
            <a:r>
              <a:rPr lang="en-US" altLang="en-US" sz="2000"/>
              <a:t>An </a:t>
            </a:r>
            <a:r>
              <a:rPr lang="en-US" altLang="en-US" sz="2000">
                <a:solidFill>
                  <a:srgbClr val="FF0066"/>
                </a:solidFill>
              </a:rPr>
              <a:t>inorder traversal</a:t>
            </a:r>
            <a:r>
              <a:rPr lang="en-US" altLang="en-US" sz="2000"/>
              <a:t> of a binary search trees visits the keys in increasing order</a:t>
            </a:r>
          </a:p>
        </p:txBody>
      </p:sp>
      <p:grpSp>
        <p:nvGrpSpPr>
          <p:cNvPr id="19461" name="Group 5">
            <a:extLst>
              <a:ext uri="{FF2B5EF4-FFF2-40B4-BE49-F238E27FC236}">
                <a16:creationId xmlns:a16="http://schemas.microsoft.com/office/drawing/2014/main" id="{547761B7-5B05-A0BE-0AC5-D91EB4A1AD1E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657600"/>
            <a:ext cx="3962400" cy="1812925"/>
            <a:chOff x="2953" y="2544"/>
            <a:chExt cx="2496" cy="1142"/>
          </a:xfrm>
        </p:grpSpPr>
        <p:sp>
          <p:nvSpPr>
            <p:cNvPr id="19462" name="Oval 6">
              <a:extLst>
                <a:ext uri="{FF2B5EF4-FFF2-40B4-BE49-F238E27FC236}">
                  <a16:creationId xmlns:a16="http://schemas.microsoft.com/office/drawing/2014/main" id="{5E3D8F8E-D7AB-9575-EB5A-88A9A58CC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544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19463" name="Oval 7">
              <a:extLst>
                <a:ext uri="{FF2B5EF4-FFF2-40B4-BE49-F238E27FC236}">
                  <a16:creationId xmlns:a16="http://schemas.microsoft.com/office/drawing/2014/main" id="{335C709B-71F4-E293-455C-85DD1A7BA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9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19464" name="Oval 8">
              <a:extLst>
                <a:ext uri="{FF2B5EF4-FFF2-40B4-BE49-F238E27FC236}">
                  <a16:creationId xmlns:a16="http://schemas.microsoft.com/office/drawing/2014/main" id="{CFC43E89-4901-F65E-4A58-11E5B0247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19465" name="Oval 9">
              <a:extLst>
                <a:ext uri="{FF2B5EF4-FFF2-40B4-BE49-F238E27FC236}">
                  <a16:creationId xmlns:a16="http://schemas.microsoft.com/office/drawing/2014/main" id="{B5350F49-2F05-5D92-9CEA-D024269D8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4</a:t>
              </a:r>
            </a:p>
          </p:txBody>
        </p:sp>
        <p:sp>
          <p:nvSpPr>
            <p:cNvPr id="19466" name="Rectangle 10">
              <a:extLst>
                <a:ext uri="{FF2B5EF4-FFF2-40B4-BE49-F238E27FC236}">
                  <a16:creationId xmlns:a16="http://schemas.microsoft.com/office/drawing/2014/main" id="{9579DEA6-30C4-A4E7-0719-7F34D453C8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4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67" name="Rectangle 11">
              <a:extLst>
                <a:ext uri="{FF2B5EF4-FFF2-40B4-BE49-F238E27FC236}">
                  <a16:creationId xmlns:a16="http://schemas.microsoft.com/office/drawing/2014/main" id="{A24C59C7-BFA1-7EAC-6BB9-9F88EC6C3E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63" y="354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68" name="Rectangle 12">
              <a:extLst>
                <a:ext uri="{FF2B5EF4-FFF2-40B4-BE49-F238E27FC236}">
                  <a16:creationId xmlns:a16="http://schemas.microsoft.com/office/drawing/2014/main" id="{476769DE-712A-480F-5CD9-F9417FE34C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04" y="3206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19469" name="AutoShape 13">
              <a:extLst>
                <a:ext uri="{FF2B5EF4-FFF2-40B4-BE49-F238E27FC236}">
                  <a16:creationId xmlns:a16="http://schemas.microsoft.com/office/drawing/2014/main" id="{F3BDCC88-4AB8-59D7-5FDC-0BC8E29D59C8}"/>
                </a:ext>
              </a:extLst>
            </p:cNvPr>
            <p:cNvCxnSpPr>
              <a:cxnSpLocks noChangeShapeType="1"/>
              <a:stCxn id="19462" idx="3"/>
              <a:endCxn id="19464" idx="7"/>
            </p:cNvCxnSpPr>
            <p:nvPr/>
          </p:nvCxnSpPr>
          <p:spPr bwMode="auto">
            <a:xfrm flipH="1">
              <a:off x="3652" y="2721"/>
              <a:ext cx="458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0" name="AutoShape 14">
              <a:extLst>
                <a:ext uri="{FF2B5EF4-FFF2-40B4-BE49-F238E27FC236}">
                  <a16:creationId xmlns:a16="http://schemas.microsoft.com/office/drawing/2014/main" id="{6849EE51-85AC-759B-0FEF-6EF2BE7BF029}"/>
                </a:ext>
              </a:extLst>
            </p:cNvPr>
            <p:cNvCxnSpPr>
              <a:cxnSpLocks noChangeShapeType="1"/>
              <a:stCxn id="19463" idx="1"/>
              <a:endCxn id="19462" idx="5"/>
            </p:cNvCxnSpPr>
            <p:nvPr/>
          </p:nvCxnSpPr>
          <p:spPr bwMode="auto">
            <a:xfrm flipH="1" flipV="1">
              <a:off x="4252" y="2722"/>
              <a:ext cx="746" cy="16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1" name="AutoShape 15">
              <a:extLst>
                <a:ext uri="{FF2B5EF4-FFF2-40B4-BE49-F238E27FC236}">
                  <a16:creationId xmlns:a16="http://schemas.microsoft.com/office/drawing/2014/main" id="{6E820EBF-94C2-DD18-EB30-0412086C4A38}"/>
                </a:ext>
              </a:extLst>
            </p:cNvPr>
            <p:cNvCxnSpPr>
              <a:cxnSpLocks noChangeShapeType="1"/>
              <a:stCxn id="19468" idx="0"/>
              <a:endCxn id="19463" idx="5"/>
            </p:cNvCxnSpPr>
            <p:nvPr/>
          </p:nvCxnSpPr>
          <p:spPr bwMode="auto">
            <a:xfrm flipH="1" flipV="1">
              <a:off x="5141" y="3044"/>
              <a:ext cx="236" cy="15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2" name="AutoShape 16">
              <a:extLst>
                <a:ext uri="{FF2B5EF4-FFF2-40B4-BE49-F238E27FC236}">
                  <a16:creationId xmlns:a16="http://schemas.microsoft.com/office/drawing/2014/main" id="{FD4C1F43-AC22-E693-C318-D27121D9EC23}"/>
                </a:ext>
              </a:extLst>
            </p:cNvPr>
            <p:cNvCxnSpPr>
              <a:cxnSpLocks noChangeShapeType="1"/>
              <a:stCxn id="19482" idx="7"/>
              <a:endCxn id="19463" idx="3"/>
            </p:cNvCxnSpPr>
            <p:nvPr/>
          </p:nvCxnSpPr>
          <p:spPr bwMode="auto">
            <a:xfrm flipV="1">
              <a:off x="4830" y="3044"/>
              <a:ext cx="168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3" name="AutoShape 17">
              <a:extLst>
                <a:ext uri="{FF2B5EF4-FFF2-40B4-BE49-F238E27FC236}">
                  <a16:creationId xmlns:a16="http://schemas.microsoft.com/office/drawing/2014/main" id="{F50282DA-8C53-F8C0-7BB3-670143649EF1}"/>
                </a:ext>
              </a:extLst>
            </p:cNvPr>
            <p:cNvCxnSpPr>
              <a:cxnSpLocks noChangeShapeType="1"/>
              <a:stCxn id="19467" idx="0"/>
              <a:endCxn id="19465" idx="5"/>
            </p:cNvCxnSpPr>
            <p:nvPr/>
          </p:nvCxnSpPr>
          <p:spPr bwMode="auto">
            <a:xfrm flipH="1" flipV="1">
              <a:off x="4022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4" name="AutoShape 18">
              <a:extLst>
                <a:ext uri="{FF2B5EF4-FFF2-40B4-BE49-F238E27FC236}">
                  <a16:creationId xmlns:a16="http://schemas.microsoft.com/office/drawing/2014/main" id="{E6A00C40-50CB-60A9-D172-96A4B3D6532B}"/>
                </a:ext>
              </a:extLst>
            </p:cNvPr>
            <p:cNvCxnSpPr>
              <a:cxnSpLocks noChangeShapeType="1"/>
              <a:stCxn id="19466" idx="0"/>
              <a:endCxn id="19465" idx="3"/>
            </p:cNvCxnSpPr>
            <p:nvPr/>
          </p:nvCxnSpPr>
          <p:spPr bwMode="auto">
            <a:xfrm flipV="1">
              <a:off x="3767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5" name="AutoShape 19">
              <a:extLst>
                <a:ext uri="{FF2B5EF4-FFF2-40B4-BE49-F238E27FC236}">
                  <a16:creationId xmlns:a16="http://schemas.microsoft.com/office/drawing/2014/main" id="{E1F775BD-57DC-2904-1E44-9A0FF5923A86}"/>
                </a:ext>
              </a:extLst>
            </p:cNvPr>
            <p:cNvCxnSpPr>
              <a:cxnSpLocks noChangeShapeType="1"/>
              <a:stCxn id="19477" idx="7"/>
              <a:endCxn id="19464" idx="3"/>
            </p:cNvCxnSpPr>
            <p:nvPr/>
          </p:nvCxnSpPr>
          <p:spPr bwMode="auto">
            <a:xfrm flipV="1">
              <a:off x="3282" y="3044"/>
              <a:ext cx="227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6" name="AutoShape 20">
              <a:extLst>
                <a:ext uri="{FF2B5EF4-FFF2-40B4-BE49-F238E27FC236}">
                  <a16:creationId xmlns:a16="http://schemas.microsoft.com/office/drawing/2014/main" id="{F94F60A5-58D0-E930-C29E-EA0CA783E04C}"/>
                </a:ext>
              </a:extLst>
            </p:cNvPr>
            <p:cNvCxnSpPr>
              <a:cxnSpLocks noChangeShapeType="1"/>
              <a:stCxn id="19465" idx="1"/>
              <a:endCxn id="19464" idx="5"/>
            </p:cNvCxnSpPr>
            <p:nvPr/>
          </p:nvCxnSpPr>
          <p:spPr bwMode="auto">
            <a:xfrm flipH="1" flipV="1">
              <a:off x="3652" y="3044"/>
              <a:ext cx="228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77" name="Oval 21">
              <a:extLst>
                <a:ext uri="{FF2B5EF4-FFF2-40B4-BE49-F238E27FC236}">
                  <a16:creationId xmlns:a16="http://schemas.microsoft.com/office/drawing/2014/main" id="{F1654CFF-277A-AB32-4588-414C1F8DA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317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1</a:t>
              </a:r>
            </a:p>
          </p:txBody>
        </p:sp>
        <p:sp>
          <p:nvSpPr>
            <p:cNvPr id="19478" name="Rectangle 22">
              <a:extLst>
                <a:ext uri="{FF2B5EF4-FFF2-40B4-BE49-F238E27FC236}">
                  <a16:creationId xmlns:a16="http://schemas.microsoft.com/office/drawing/2014/main" id="{E66A4415-6815-24F5-ADF7-1EC3994924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3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79" name="Rectangle 23">
              <a:extLst>
                <a:ext uri="{FF2B5EF4-FFF2-40B4-BE49-F238E27FC236}">
                  <a16:creationId xmlns:a16="http://schemas.microsoft.com/office/drawing/2014/main" id="{95E839C9-7ED2-64BF-0874-74D31BBB64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3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19480" name="AutoShape 24">
              <a:extLst>
                <a:ext uri="{FF2B5EF4-FFF2-40B4-BE49-F238E27FC236}">
                  <a16:creationId xmlns:a16="http://schemas.microsoft.com/office/drawing/2014/main" id="{B6843DC5-F4EC-C9F6-BEBF-2F6354D7D333}"/>
                </a:ext>
              </a:extLst>
            </p:cNvPr>
            <p:cNvCxnSpPr>
              <a:cxnSpLocks noChangeShapeType="1"/>
              <a:stCxn id="19479" idx="0"/>
              <a:endCxn id="19477" idx="5"/>
            </p:cNvCxnSpPr>
            <p:nvPr/>
          </p:nvCxnSpPr>
          <p:spPr bwMode="auto">
            <a:xfrm flipH="1" flipV="1">
              <a:off x="3282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1" name="AutoShape 25">
              <a:extLst>
                <a:ext uri="{FF2B5EF4-FFF2-40B4-BE49-F238E27FC236}">
                  <a16:creationId xmlns:a16="http://schemas.microsoft.com/office/drawing/2014/main" id="{02C144E4-6D6C-11A5-3D58-62049D3C7BF3}"/>
                </a:ext>
              </a:extLst>
            </p:cNvPr>
            <p:cNvCxnSpPr>
              <a:cxnSpLocks noChangeShapeType="1"/>
              <a:stCxn id="19478" idx="0"/>
              <a:endCxn id="19477" idx="3"/>
            </p:cNvCxnSpPr>
            <p:nvPr/>
          </p:nvCxnSpPr>
          <p:spPr bwMode="auto">
            <a:xfrm flipV="1">
              <a:off x="3026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82" name="Oval 26">
              <a:extLst>
                <a:ext uri="{FF2B5EF4-FFF2-40B4-BE49-F238E27FC236}">
                  <a16:creationId xmlns:a16="http://schemas.microsoft.com/office/drawing/2014/main" id="{CB8734CD-3D7B-52BC-60CF-5ADB19BED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8</a:t>
              </a:r>
            </a:p>
          </p:txBody>
        </p:sp>
        <p:sp>
          <p:nvSpPr>
            <p:cNvPr id="19483" name="Rectangle 27">
              <a:extLst>
                <a:ext uri="{FF2B5EF4-FFF2-40B4-BE49-F238E27FC236}">
                  <a16:creationId xmlns:a16="http://schemas.microsoft.com/office/drawing/2014/main" id="{389F22D3-DD2D-A56A-3F7C-04ADDB4C7D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02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19484" name="Rectangle 28">
              <a:extLst>
                <a:ext uri="{FF2B5EF4-FFF2-40B4-BE49-F238E27FC236}">
                  <a16:creationId xmlns:a16="http://schemas.microsoft.com/office/drawing/2014/main" id="{F34C869D-97C3-FB5F-BBC9-E909DA85A5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1" y="354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19485" name="AutoShape 29">
              <a:extLst>
                <a:ext uri="{FF2B5EF4-FFF2-40B4-BE49-F238E27FC236}">
                  <a16:creationId xmlns:a16="http://schemas.microsoft.com/office/drawing/2014/main" id="{92D79317-4503-0839-2DAB-22C103B49EE9}"/>
                </a:ext>
              </a:extLst>
            </p:cNvPr>
            <p:cNvCxnSpPr>
              <a:cxnSpLocks noChangeShapeType="1"/>
              <a:stCxn id="19484" idx="0"/>
              <a:endCxn id="19482" idx="5"/>
            </p:cNvCxnSpPr>
            <p:nvPr/>
          </p:nvCxnSpPr>
          <p:spPr bwMode="auto">
            <a:xfrm flipH="1" flipV="1">
              <a:off x="4830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6" name="AutoShape 30">
              <a:extLst>
                <a:ext uri="{FF2B5EF4-FFF2-40B4-BE49-F238E27FC236}">
                  <a16:creationId xmlns:a16="http://schemas.microsoft.com/office/drawing/2014/main" id="{73A9AE70-E2CC-CACA-4757-7CB392874952}"/>
                </a:ext>
              </a:extLst>
            </p:cNvPr>
            <p:cNvCxnSpPr>
              <a:cxnSpLocks noChangeShapeType="1"/>
              <a:stCxn id="19483" idx="0"/>
              <a:endCxn id="19482" idx="3"/>
            </p:cNvCxnSpPr>
            <p:nvPr/>
          </p:nvCxnSpPr>
          <p:spPr bwMode="auto">
            <a:xfrm flipV="1">
              <a:off x="4575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D2507FC-8547-58B0-52B9-5B9BB1959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Search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594B3F8-B40F-B354-1A32-907D7C97A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3505200" cy="4876800"/>
          </a:xfrm>
        </p:spPr>
        <p:txBody>
          <a:bodyPr/>
          <a:lstStyle/>
          <a:p>
            <a:pPr eaLnBrk="1" hangingPunct="1"/>
            <a:r>
              <a:rPr lang="en-US" altLang="en-US" sz="2000"/>
              <a:t>To search for a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, we trace a downward path starting at the root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The next node visited depends on the outcome of the comparison of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with the key of the current node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If we reach a leaf, the key is not found and we return NO_SUCH_KEY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Example: </a:t>
            </a:r>
            <a:r>
              <a:rPr lang="en-US" altLang="en-US" sz="2000">
                <a:solidFill>
                  <a:schemeClr val="tx2"/>
                </a:solidFill>
              </a:rPr>
              <a:t>findElement</a:t>
            </a:r>
            <a:r>
              <a:rPr lang="en-US" altLang="en-US" sz="2000"/>
              <a:t>(</a:t>
            </a:r>
            <a:r>
              <a:rPr lang="en-US" altLang="en-US" sz="2000">
                <a:sym typeface="Symbol" pitchFamily="2" charset="2"/>
              </a:rPr>
              <a:t>4</a:t>
            </a:r>
            <a:r>
              <a:rPr lang="en-US" altLang="en-US" sz="2000"/>
              <a:t>)</a:t>
            </a:r>
          </a:p>
          <a:p>
            <a:pPr lvl="2" eaLnBrk="1" hangingPunct="1">
              <a:buFontTx/>
              <a:buNone/>
            </a:pPr>
            <a:r>
              <a:rPr lang="en-US" altLang="en-US" sz="2000"/>
              <a:t>       findElement(3) ?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ACF3505A-0BAA-EB45-EA26-B1A692FD4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295400"/>
            <a:ext cx="4648200" cy="27749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575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findElement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 v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	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T.isExternal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	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NO_SUCH_KEY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key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findElement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T.leftChild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key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{ </a:t>
            </a:r>
            <a:r>
              <a:rPr lang="en-US" altLang="en-US" b="1" i="1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hlink"/>
                </a:solidFill>
                <a:latin typeface="Symbol" pitchFamily="2" charset="2"/>
                <a:sym typeface="Symbol" pitchFamily="2" charset="2"/>
              </a:rPr>
              <a:t>&gt;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hlink"/>
                </a:solidFill>
                <a:latin typeface="Times New Roman" panose="02020603050405020304" pitchFamily="18" charset="0"/>
              </a:rPr>
              <a:t>key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) 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findElement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T.rightChild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20485" name="Oval 5">
            <a:extLst>
              <a:ext uri="{FF2B5EF4-FFF2-40B4-BE49-F238E27FC236}">
                <a16:creationId xmlns:a16="http://schemas.microsoft.com/office/drawing/2014/main" id="{F619BDC3-4DD4-BE80-8863-83EFE4F54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4435475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0486" name="Oval 6">
            <a:extLst>
              <a:ext uri="{FF2B5EF4-FFF2-40B4-BE49-F238E27FC236}">
                <a16:creationId xmlns:a16="http://schemas.microsoft.com/office/drawing/2014/main" id="{6AE1799E-34EE-DFB9-27C7-127C6EBD5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946650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0487" name="Oval 7">
            <a:extLst>
              <a:ext uri="{FF2B5EF4-FFF2-40B4-BE49-F238E27FC236}">
                <a16:creationId xmlns:a16="http://schemas.microsoft.com/office/drawing/2014/main" id="{2642690A-B433-4844-952E-096B9192A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213" y="4946650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0488" name="Oval 8">
            <a:extLst>
              <a:ext uri="{FF2B5EF4-FFF2-40B4-BE49-F238E27FC236}">
                <a16:creationId xmlns:a16="http://schemas.microsoft.com/office/drawing/2014/main" id="{B350D7AB-5414-5392-1DA1-80CF9EDA7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588" y="544195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45EC028E-941A-837D-23C7-2BD23A57D2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76938" y="601821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D6F7EFBE-CFF1-36F3-30BF-F80886776A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2725" y="601821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491" name="Rectangle 11">
            <a:extLst>
              <a:ext uri="{FF2B5EF4-FFF2-40B4-BE49-F238E27FC236}">
                <a16:creationId xmlns:a16="http://schemas.microsoft.com/office/drawing/2014/main" id="{6D4B64F8-5744-A35D-6E49-FC0421F3A5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2813" y="5486400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0492" name="AutoShape 12">
            <a:extLst>
              <a:ext uri="{FF2B5EF4-FFF2-40B4-BE49-F238E27FC236}">
                <a16:creationId xmlns:a16="http://schemas.microsoft.com/office/drawing/2014/main" id="{8F2CC487-7795-0778-F9B7-785536DB5D2D}"/>
              </a:ext>
            </a:extLst>
          </p:cNvPr>
          <p:cNvCxnSpPr>
            <a:cxnSpLocks noChangeShapeType="1"/>
            <a:stCxn id="20485" idx="3"/>
            <a:endCxn id="20487" idx="7"/>
          </p:cNvCxnSpPr>
          <p:nvPr/>
        </p:nvCxnSpPr>
        <p:spPr bwMode="auto">
          <a:xfrm flipH="1">
            <a:off x="5910263" y="4737100"/>
            <a:ext cx="727075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3">
            <a:extLst>
              <a:ext uri="{FF2B5EF4-FFF2-40B4-BE49-F238E27FC236}">
                <a16:creationId xmlns:a16="http://schemas.microsoft.com/office/drawing/2014/main" id="{FE70D2BE-3FF2-5BDA-5373-208D152F4A9D}"/>
              </a:ext>
            </a:extLst>
          </p:cNvPr>
          <p:cNvCxnSpPr>
            <a:cxnSpLocks noChangeShapeType="1"/>
            <a:stCxn id="20486" idx="1"/>
            <a:endCxn id="20485" idx="5"/>
          </p:cNvCxnSpPr>
          <p:nvPr/>
        </p:nvCxnSpPr>
        <p:spPr bwMode="auto">
          <a:xfrm flipH="1" flipV="1">
            <a:off x="6862763" y="4737100"/>
            <a:ext cx="11842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4">
            <a:extLst>
              <a:ext uri="{FF2B5EF4-FFF2-40B4-BE49-F238E27FC236}">
                <a16:creationId xmlns:a16="http://schemas.microsoft.com/office/drawing/2014/main" id="{24662E29-79FB-C6BB-926A-3CB64634E37F}"/>
              </a:ext>
            </a:extLst>
          </p:cNvPr>
          <p:cNvCxnSpPr>
            <a:cxnSpLocks noChangeShapeType="1"/>
            <a:stCxn id="20491" idx="0"/>
            <a:endCxn id="20486" idx="5"/>
          </p:cNvCxnSpPr>
          <p:nvPr/>
        </p:nvCxnSpPr>
        <p:spPr bwMode="auto">
          <a:xfrm flipH="1" flipV="1">
            <a:off x="8274050" y="5229225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5">
            <a:extLst>
              <a:ext uri="{FF2B5EF4-FFF2-40B4-BE49-F238E27FC236}">
                <a16:creationId xmlns:a16="http://schemas.microsoft.com/office/drawing/2014/main" id="{D43CDCA6-AA3E-0A29-3930-C5B43A3FB9A6}"/>
              </a:ext>
            </a:extLst>
          </p:cNvPr>
          <p:cNvCxnSpPr>
            <a:cxnSpLocks noChangeShapeType="1"/>
            <a:stCxn id="20505" idx="7"/>
            <a:endCxn id="20486" idx="3"/>
          </p:cNvCxnSpPr>
          <p:nvPr/>
        </p:nvCxnSpPr>
        <p:spPr bwMode="auto">
          <a:xfrm flipV="1">
            <a:off x="7816850" y="5229225"/>
            <a:ext cx="230188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6">
            <a:extLst>
              <a:ext uri="{FF2B5EF4-FFF2-40B4-BE49-F238E27FC236}">
                <a16:creationId xmlns:a16="http://schemas.microsoft.com/office/drawing/2014/main" id="{594F236F-72C6-A892-863E-3CCC3005E8F3}"/>
              </a:ext>
            </a:extLst>
          </p:cNvPr>
          <p:cNvCxnSpPr>
            <a:cxnSpLocks noChangeShapeType="1"/>
            <a:stCxn id="20490" idx="0"/>
            <a:endCxn id="20488" idx="5"/>
          </p:cNvCxnSpPr>
          <p:nvPr/>
        </p:nvCxnSpPr>
        <p:spPr bwMode="auto">
          <a:xfrm flipH="1" flipV="1">
            <a:off x="6497638" y="5743575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7">
            <a:extLst>
              <a:ext uri="{FF2B5EF4-FFF2-40B4-BE49-F238E27FC236}">
                <a16:creationId xmlns:a16="http://schemas.microsoft.com/office/drawing/2014/main" id="{B2B94B76-788D-954F-7A05-5AA5674B862A}"/>
              </a:ext>
            </a:extLst>
          </p:cNvPr>
          <p:cNvCxnSpPr>
            <a:cxnSpLocks noChangeShapeType="1"/>
            <a:stCxn id="20489" idx="0"/>
            <a:endCxn id="20488" idx="3"/>
          </p:cNvCxnSpPr>
          <p:nvPr/>
        </p:nvCxnSpPr>
        <p:spPr bwMode="auto">
          <a:xfrm flipV="1">
            <a:off x="6092825" y="5743575"/>
            <a:ext cx="179388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8">
            <a:extLst>
              <a:ext uri="{FF2B5EF4-FFF2-40B4-BE49-F238E27FC236}">
                <a16:creationId xmlns:a16="http://schemas.microsoft.com/office/drawing/2014/main" id="{BFA0E8C7-B081-7C5D-2211-57ECA5800ECA}"/>
              </a:ext>
            </a:extLst>
          </p:cNvPr>
          <p:cNvCxnSpPr>
            <a:cxnSpLocks noChangeShapeType="1"/>
            <a:stCxn id="20500" idx="7"/>
            <a:endCxn id="20487" idx="3"/>
          </p:cNvCxnSpPr>
          <p:nvPr/>
        </p:nvCxnSpPr>
        <p:spPr bwMode="auto">
          <a:xfrm flipV="1">
            <a:off x="5322888" y="5248275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19">
            <a:extLst>
              <a:ext uri="{FF2B5EF4-FFF2-40B4-BE49-F238E27FC236}">
                <a16:creationId xmlns:a16="http://schemas.microsoft.com/office/drawing/2014/main" id="{D1F3390A-6305-10A5-A05A-FB61A66F3C46}"/>
              </a:ext>
            </a:extLst>
          </p:cNvPr>
          <p:cNvCxnSpPr>
            <a:cxnSpLocks noChangeShapeType="1"/>
            <a:stCxn id="20488" idx="1"/>
            <a:endCxn id="20487" idx="5"/>
          </p:cNvCxnSpPr>
          <p:nvPr/>
        </p:nvCxnSpPr>
        <p:spPr bwMode="auto">
          <a:xfrm flipH="1" flipV="1">
            <a:off x="5910263" y="5248275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0" name="Oval 20">
            <a:extLst>
              <a:ext uri="{FF2B5EF4-FFF2-40B4-BE49-F238E27FC236}">
                <a16:creationId xmlns:a16="http://schemas.microsoft.com/office/drawing/2014/main" id="{01A56BD4-E9A4-B976-BB4F-1C0B853F5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5441950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0501" name="Rectangle 21">
            <a:extLst>
              <a:ext uri="{FF2B5EF4-FFF2-40B4-BE49-F238E27FC236}">
                <a16:creationId xmlns:a16="http://schemas.microsoft.com/office/drawing/2014/main" id="{9786AB0B-9478-28B0-1A78-6D2908869A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60182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2" name="Rectangle 22">
            <a:extLst>
              <a:ext uri="{FF2B5EF4-FFF2-40B4-BE49-F238E27FC236}">
                <a16:creationId xmlns:a16="http://schemas.microsoft.com/office/drawing/2014/main" id="{1062CC54-0863-6FAC-632A-6612214640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7975" y="60182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0503" name="AutoShape 23">
            <a:extLst>
              <a:ext uri="{FF2B5EF4-FFF2-40B4-BE49-F238E27FC236}">
                <a16:creationId xmlns:a16="http://schemas.microsoft.com/office/drawing/2014/main" id="{E7DC89CB-8B9F-8876-FA6B-B163D96C49AE}"/>
              </a:ext>
            </a:extLst>
          </p:cNvPr>
          <p:cNvCxnSpPr>
            <a:cxnSpLocks noChangeShapeType="1"/>
            <a:stCxn id="20502" idx="0"/>
            <a:endCxn id="20500" idx="5"/>
          </p:cNvCxnSpPr>
          <p:nvPr/>
        </p:nvCxnSpPr>
        <p:spPr bwMode="auto">
          <a:xfrm flipH="1" flipV="1">
            <a:off x="5322888" y="5724525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4" name="AutoShape 24">
            <a:extLst>
              <a:ext uri="{FF2B5EF4-FFF2-40B4-BE49-F238E27FC236}">
                <a16:creationId xmlns:a16="http://schemas.microsoft.com/office/drawing/2014/main" id="{D2C2C4CB-BF1B-8D56-F0B6-0CACF5C6D657}"/>
              </a:ext>
            </a:extLst>
          </p:cNvPr>
          <p:cNvCxnSpPr>
            <a:cxnSpLocks noChangeShapeType="1"/>
            <a:stCxn id="20501" idx="0"/>
            <a:endCxn id="20500" idx="3"/>
          </p:cNvCxnSpPr>
          <p:nvPr/>
        </p:nvCxnSpPr>
        <p:spPr bwMode="auto">
          <a:xfrm flipV="1">
            <a:off x="4916488" y="5724525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5" name="Oval 25">
            <a:extLst>
              <a:ext uri="{FF2B5EF4-FFF2-40B4-BE49-F238E27FC236}">
                <a16:creationId xmlns:a16="http://schemas.microsoft.com/office/drawing/2014/main" id="{4990B943-7095-BDB7-3AF0-9E5FEA76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4260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0506" name="Rectangle 26">
            <a:extLst>
              <a:ext uri="{FF2B5EF4-FFF2-40B4-BE49-F238E27FC236}">
                <a16:creationId xmlns:a16="http://schemas.microsoft.com/office/drawing/2014/main" id="{F6081EA6-07AD-1F4F-E929-D7233CBE12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59638" y="601821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7" name="Rectangle 27">
            <a:extLst>
              <a:ext uri="{FF2B5EF4-FFF2-40B4-BE49-F238E27FC236}">
                <a16:creationId xmlns:a16="http://schemas.microsoft.com/office/drawing/2014/main" id="{E4E72A2F-B8E6-F29B-0E8F-FE748EB720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45425" y="601821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0508" name="AutoShape 28">
            <a:extLst>
              <a:ext uri="{FF2B5EF4-FFF2-40B4-BE49-F238E27FC236}">
                <a16:creationId xmlns:a16="http://schemas.microsoft.com/office/drawing/2014/main" id="{4A550286-89BE-3FCD-6423-E3A6D97514E9}"/>
              </a:ext>
            </a:extLst>
          </p:cNvPr>
          <p:cNvCxnSpPr>
            <a:cxnSpLocks noChangeShapeType="1"/>
            <a:stCxn id="20507" idx="0"/>
            <a:endCxn id="20505" idx="5"/>
          </p:cNvCxnSpPr>
          <p:nvPr/>
        </p:nvCxnSpPr>
        <p:spPr bwMode="auto">
          <a:xfrm flipH="1" flipV="1">
            <a:off x="7816850" y="5708650"/>
            <a:ext cx="144463" cy="3000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9" name="AutoShape 29">
            <a:extLst>
              <a:ext uri="{FF2B5EF4-FFF2-40B4-BE49-F238E27FC236}">
                <a16:creationId xmlns:a16="http://schemas.microsoft.com/office/drawing/2014/main" id="{4B41B888-EE7A-06C9-4F81-C96DDCE40AE1}"/>
              </a:ext>
            </a:extLst>
          </p:cNvPr>
          <p:cNvCxnSpPr>
            <a:cxnSpLocks noChangeShapeType="1"/>
            <a:stCxn id="20506" idx="0"/>
            <a:endCxn id="20505" idx="3"/>
          </p:cNvCxnSpPr>
          <p:nvPr/>
        </p:nvCxnSpPr>
        <p:spPr bwMode="auto">
          <a:xfrm flipV="1">
            <a:off x="7375525" y="5708650"/>
            <a:ext cx="215900" cy="3000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0" name="Text Box 30">
            <a:extLst>
              <a:ext uri="{FF2B5EF4-FFF2-40B4-BE49-F238E27FC236}">
                <a16:creationId xmlns:a16="http://schemas.microsoft.com/office/drawing/2014/main" id="{DE1AFD8E-6618-DD07-47E3-D4E978C1A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850" y="4467225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&lt;</a:t>
            </a:r>
          </a:p>
        </p:txBody>
      </p:sp>
      <p:sp>
        <p:nvSpPr>
          <p:cNvPr id="20511" name="Text Box 31">
            <a:extLst>
              <a:ext uri="{FF2B5EF4-FFF2-40B4-BE49-F238E27FC236}">
                <a16:creationId xmlns:a16="http://schemas.microsoft.com/office/drawing/2014/main" id="{81B251EA-E2AB-7C30-AE07-B72D89C45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850" y="5000625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0512" name="Text Box 32">
            <a:extLst>
              <a:ext uri="{FF2B5EF4-FFF2-40B4-BE49-F238E27FC236}">
                <a16:creationId xmlns:a16="http://schemas.microsoft.com/office/drawing/2014/main" id="{88D2B660-7F23-C8D9-2B43-122C5BEB3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394325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5E87902-8D89-247E-9D78-B88E79B1F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9D53183-7FAF-CFE4-1AF5-1C2C35A17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4114800" cy="5410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To perform operation </a:t>
            </a:r>
            <a:r>
              <a:rPr lang="en-US" altLang="en-US" sz="2000" dirty="0" err="1">
                <a:solidFill>
                  <a:srgbClr val="FF0066"/>
                </a:solidFill>
              </a:rPr>
              <a:t>insertItem</a:t>
            </a:r>
            <a:r>
              <a:rPr lang="en-US" altLang="en-US" sz="2000" dirty="0"/>
              <a:t>(k, o), we search for key k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Assume k is not already in the tree, and let w be the leaf reached by the search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We insert k at node w and expand w into an internal node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2000" dirty="0"/>
              <a:t>Example: insert 5</a:t>
            </a:r>
            <a:endParaRPr lang="en-US" altLang="en-US" sz="1600" dirty="0"/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2000" dirty="0"/>
              <a:t>What if k is already in the tree?</a:t>
            </a:r>
          </a:p>
          <a:p>
            <a:pPr lvl="1" eaLnBrk="1" hangingPunct="1"/>
            <a:r>
              <a:rPr lang="en-US" altLang="en-US" sz="1800" dirty="0"/>
              <a:t>Search in the right subtree of k for the next available external node following k.</a:t>
            </a:r>
          </a:p>
          <a:p>
            <a:pPr lvl="1" eaLnBrk="1" hangingPunct="1"/>
            <a:r>
              <a:rPr lang="en-US" altLang="en-US" sz="1800" dirty="0"/>
              <a:t>Example: insert 6</a:t>
            </a:r>
          </a:p>
        </p:txBody>
      </p:sp>
      <p:sp>
        <p:nvSpPr>
          <p:cNvPr id="21508" name="Oval 4">
            <a:extLst>
              <a:ext uri="{FF2B5EF4-FFF2-40B4-BE49-F238E27FC236}">
                <a16:creationId xmlns:a16="http://schemas.microsoft.com/office/drawing/2014/main" id="{A66154E4-C7C3-F96B-6012-D4135E752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38" y="3810000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1509" name="Oval 5">
            <a:extLst>
              <a:ext uri="{FF2B5EF4-FFF2-40B4-BE49-F238E27FC236}">
                <a16:creationId xmlns:a16="http://schemas.microsoft.com/office/drawing/2014/main" id="{9B6DAB12-850E-6572-88A7-9047B518D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3211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1510" name="Oval 6">
            <a:extLst>
              <a:ext uri="{FF2B5EF4-FFF2-40B4-BE49-F238E27FC236}">
                <a16:creationId xmlns:a16="http://schemas.microsoft.com/office/drawing/2014/main" id="{4FE50B0B-A86C-A544-0F33-073C9E392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43211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1511" name="Oval 7">
            <a:extLst>
              <a:ext uri="{FF2B5EF4-FFF2-40B4-BE49-F238E27FC236}">
                <a16:creationId xmlns:a16="http://schemas.microsoft.com/office/drawing/2014/main" id="{442FA49C-9269-D739-B4C8-6DA2B1BA2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48164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D01ABC38-625D-F773-3EC6-CF7113251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84850" y="53927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904084F4-10C9-7400-5CDE-536A8CE50C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2813" y="486092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14" name="AutoShape 10">
            <a:extLst>
              <a:ext uri="{FF2B5EF4-FFF2-40B4-BE49-F238E27FC236}">
                <a16:creationId xmlns:a16="http://schemas.microsoft.com/office/drawing/2014/main" id="{C0C2A74D-AD26-8DF9-5B53-3D141550B670}"/>
              </a:ext>
            </a:extLst>
          </p:cNvPr>
          <p:cNvCxnSpPr>
            <a:cxnSpLocks noChangeShapeType="1"/>
            <a:stCxn id="21508" idx="3"/>
            <a:endCxn id="21510" idx="7"/>
          </p:cNvCxnSpPr>
          <p:nvPr/>
        </p:nvCxnSpPr>
        <p:spPr bwMode="auto">
          <a:xfrm flipH="1">
            <a:off x="5718175" y="4092575"/>
            <a:ext cx="1131888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5" name="AutoShape 11">
            <a:extLst>
              <a:ext uri="{FF2B5EF4-FFF2-40B4-BE49-F238E27FC236}">
                <a16:creationId xmlns:a16="http://schemas.microsoft.com/office/drawing/2014/main" id="{637C5742-0D49-A9FB-CFF3-5003B65F022E}"/>
              </a:ext>
            </a:extLst>
          </p:cNvPr>
          <p:cNvCxnSpPr>
            <a:cxnSpLocks noChangeShapeType="1"/>
            <a:stCxn id="21509" idx="1"/>
            <a:endCxn id="21508" idx="5"/>
          </p:cNvCxnSpPr>
          <p:nvPr/>
        </p:nvCxnSpPr>
        <p:spPr bwMode="auto">
          <a:xfrm flipH="1" flipV="1">
            <a:off x="7075488" y="4092575"/>
            <a:ext cx="971550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2">
            <a:extLst>
              <a:ext uri="{FF2B5EF4-FFF2-40B4-BE49-F238E27FC236}">
                <a16:creationId xmlns:a16="http://schemas.microsoft.com/office/drawing/2014/main" id="{6DC2B269-8B45-A293-2BEF-B9009E1DE108}"/>
              </a:ext>
            </a:extLst>
          </p:cNvPr>
          <p:cNvCxnSpPr>
            <a:cxnSpLocks noChangeShapeType="1"/>
            <a:stCxn id="21513" idx="0"/>
            <a:endCxn id="21509" idx="5"/>
          </p:cNvCxnSpPr>
          <p:nvPr/>
        </p:nvCxnSpPr>
        <p:spPr bwMode="auto">
          <a:xfrm flipH="1" flipV="1">
            <a:off x="8274050" y="46037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3">
            <a:extLst>
              <a:ext uri="{FF2B5EF4-FFF2-40B4-BE49-F238E27FC236}">
                <a16:creationId xmlns:a16="http://schemas.microsoft.com/office/drawing/2014/main" id="{8C56AD91-C737-E65B-84AF-EAB27F4F5ACC}"/>
              </a:ext>
            </a:extLst>
          </p:cNvPr>
          <p:cNvCxnSpPr>
            <a:cxnSpLocks noChangeShapeType="1"/>
            <a:stCxn id="21527" idx="7"/>
            <a:endCxn id="21509" idx="3"/>
          </p:cNvCxnSpPr>
          <p:nvPr/>
        </p:nvCxnSpPr>
        <p:spPr bwMode="auto">
          <a:xfrm flipV="1">
            <a:off x="7780338" y="4603750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4">
            <a:extLst>
              <a:ext uri="{FF2B5EF4-FFF2-40B4-BE49-F238E27FC236}">
                <a16:creationId xmlns:a16="http://schemas.microsoft.com/office/drawing/2014/main" id="{54A7D64B-5ADE-BD27-91C3-C1421671AEF2}"/>
              </a:ext>
            </a:extLst>
          </p:cNvPr>
          <p:cNvCxnSpPr>
            <a:cxnSpLocks noChangeShapeType="1"/>
            <a:stCxn id="21557" idx="1"/>
            <a:endCxn id="21511" idx="5"/>
          </p:cNvCxnSpPr>
          <p:nvPr/>
        </p:nvCxnSpPr>
        <p:spPr bwMode="auto">
          <a:xfrm flipH="1" flipV="1">
            <a:off x="6305550" y="5099050"/>
            <a:ext cx="198438" cy="254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5">
            <a:extLst>
              <a:ext uri="{FF2B5EF4-FFF2-40B4-BE49-F238E27FC236}">
                <a16:creationId xmlns:a16="http://schemas.microsoft.com/office/drawing/2014/main" id="{8771AD5C-44AE-F11A-7B04-0BB799865FC2}"/>
              </a:ext>
            </a:extLst>
          </p:cNvPr>
          <p:cNvCxnSpPr>
            <a:cxnSpLocks noChangeShapeType="1"/>
            <a:stCxn id="21512" idx="0"/>
            <a:endCxn id="21511" idx="3"/>
          </p:cNvCxnSpPr>
          <p:nvPr/>
        </p:nvCxnSpPr>
        <p:spPr bwMode="auto">
          <a:xfrm flipV="1">
            <a:off x="5900738" y="50990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6">
            <a:extLst>
              <a:ext uri="{FF2B5EF4-FFF2-40B4-BE49-F238E27FC236}">
                <a16:creationId xmlns:a16="http://schemas.microsoft.com/office/drawing/2014/main" id="{08FA7F1D-9C68-6793-9573-F9DF4CABC7C0}"/>
              </a:ext>
            </a:extLst>
          </p:cNvPr>
          <p:cNvCxnSpPr>
            <a:cxnSpLocks noChangeShapeType="1"/>
            <a:stCxn id="21522" idx="7"/>
            <a:endCxn id="21510" idx="3"/>
          </p:cNvCxnSpPr>
          <p:nvPr/>
        </p:nvCxnSpPr>
        <p:spPr bwMode="auto">
          <a:xfrm flipV="1">
            <a:off x="5130800" y="4603750"/>
            <a:ext cx="360363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7">
            <a:extLst>
              <a:ext uri="{FF2B5EF4-FFF2-40B4-BE49-F238E27FC236}">
                <a16:creationId xmlns:a16="http://schemas.microsoft.com/office/drawing/2014/main" id="{24D88905-C7E8-A7D5-F01A-A8901D551CFE}"/>
              </a:ext>
            </a:extLst>
          </p:cNvPr>
          <p:cNvCxnSpPr>
            <a:cxnSpLocks noChangeShapeType="1"/>
            <a:stCxn id="21511" idx="1"/>
            <a:endCxn id="21510" idx="5"/>
          </p:cNvCxnSpPr>
          <p:nvPr/>
        </p:nvCxnSpPr>
        <p:spPr bwMode="auto">
          <a:xfrm flipH="1" flipV="1">
            <a:off x="5718175" y="4603750"/>
            <a:ext cx="36195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2" name="Oval 18">
            <a:extLst>
              <a:ext uri="{FF2B5EF4-FFF2-40B4-BE49-F238E27FC236}">
                <a16:creationId xmlns:a16="http://schemas.microsoft.com/office/drawing/2014/main" id="{A66B418A-700C-5320-2B62-A8E71E018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48164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532A971E-D783-2A83-5BB4-13CEF9E962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8513" y="53927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24" name="Rectangle 20">
            <a:extLst>
              <a:ext uri="{FF2B5EF4-FFF2-40B4-BE49-F238E27FC236}">
                <a16:creationId xmlns:a16="http://schemas.microsoft.com/office/drawing/2014/main" id="{83EBC0FD-909C-47BF-5212-A21514EE2D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95888" y="53927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25" name="AutoShape 21">
            <a:extLst>
              <a:ext uri="{FF2B5EF4-FFF2-40B4-BE49-F238E27FC236}">
                <a16:creationId xmlns:a16="http://schemas.microsoft.com/office/drawing/2014/main" id="{9AF9BEE4-1F58-C9A1-A95F-69B7E1756993}"/>
              </a:ext>
            </a:extLst>
          </p:cNvPr>
          <p:cNvCxnSpPr>
            <a:cxnSpLocks noChangeShapeType="1"/>
            <a:stCxn id="21524" idx="0"/>
            <a:endCxn id="21522" idx="5"/>
          </p:cNvCxnSpPr>
          <p:nvPr/>
        </p:nvCxnSpPr>
        <p:spPr bwMode="auto">
          <a:xfrm flipH="1" flipV="1">
            <a:off x="5130800" y="50990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22">
            <a:extLst>
              <a:ext uri="{FF2B5EF4-FFF2-40B4-BE49-F238E27FC236}">
                <a16:creationId xmlns:a16="http://schemas.microsoft.com/office/drawing/2014/main" id="{2C0E5212-2DDA-50BF-3F2F-9605B569AEB6}"/>
              </a:ext>
            </a:extLst>
          </p:cNvPr>
          <p:cNvCxnSpPr>
            <a:cxnSpLocks noChangeShapeType="1"/>
            <a:stCxn id="21523" idx="0"/>
            <a:endCxn id="21522" idx="3"/>
          </p:cNvCxnSpPr>
          <p:nvPr/>
        </p:nvCxnSpPr>
        <p:spPr bwMode="auto">
          <a:xfrm flipV="1">
            <a:off x="4724400" y="50990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7" name="Oval 23">
            <a:extLst>
              <a:ext uri="{FF2B5EF4-FFF2-40B4-BE49-F238E27FC236}">
                <a16:creationId xmlns:a16="http://schemas.microsoft.com/office/drawing/2014/main" id="{928B7171-9BB1-E698-8A7F-3544C2B26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8" y="48164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1528" name="Rectangle 24">
            <a:extLst>
              <a:ext uri="{FF2B5EF4-FFF2-40B4-BE49-F238E27FC236}">
                <a16:creationId xmlns:a16="http://schemas.microsoft.com/office/drawing/2014/main" id="{B527D393-4463-14E0-E3D7-354AC667A1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59638" y="53927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29" name="Rectangle 25">
            <a:extLst>
              <a:ext uri="{FF2B5EF4-FFF2-40B4-BE49-F238E27FC236}">
                <a16:creationId xmlns:a16="http://schemas.microsoft.com/office/drawing/2014/main" id="{F97D1594-5B98-33AD-7B96-1B38F1FF13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45425" y="53927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30" name="AutoShape 26">
            <a:extLst>
              <a:ext uri="{FF2B5EF4-FFF2-40B4-BE49-F238E27FC236}">
                <a16:creationId xmlns:a16="http://schemas.microsoft.com/office/drawing/2014/main" id="{69F68CF0-70CD-56EF-7D46-76D5CF28CD90}"/>
              </a:ext>
            </a:extLst>
          </p:cNvPr>
          <p:cNvCxnSpPr>
            <a:cxnSpLocks noChangeShapeType="1"/>
            <a:stCxn id="21529" idx="0"/>
            <a:endCxn id="21527" idx="5"/>
          </p:cNvCxnSpPr>
          <p:nvPr/>
        </p:nvCxnSpPr>
        <p:spPr bwMode="auto">
          <a:xfrm flipH="1" flipV="1">
            <a:off x="7780338" y="50990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7">
            <a:extLst>
              <a:ext uri="{FF2B5EF4-FFF2-40B4-BE49-F238E27FC236}">
                <a16:creationId xmlns:a16="http://schemas.microsoft.com/office/drawing/2014/main" id="{C8168B91-3243-FF19-D7F5-18F14AB9BD6B}"/>
              </a:ext>
            </a:extLst>
          </p:cNvPr>
          <p:cNvCxnSpPr>
            <a:cxnSpLocks noChangeShapeType="1"/>
            <a:stCxn id="21528" idx="0"/>
            <a:endCxn id="21527" idx="3"/>
          </p:cNvCxnSpPr>
          <p:nvPr/>
        </p:nvCxnSpPr>
        <p:spPr bwMode="auto">
          <a:xfrm flipV="1">
            <a:off x="7375525" y="50990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2" name="Oval 28">
            <a:extLst>
              <a:ext uri="{FF2B5EF4-FFF2-40B4-BE49-F238E27FC236}">
                <a16:creationId xmlns:a16="http://schemas.microsoft.com/office/drawing/2014/main" id="{187861FA-CC2A-99A0-BCDF-531EC9932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1295400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1533" name="Oval 29">
            <a:extLst>
              <a:ext uri="{FF2B5EF4-FFF2-40B4-BE49-F238E27FC236}">
                <a16:creationId xmlns:a16="http://schemas.microsoft.com/office/drawing/2014/main" id="{03C5DE6D-F134-7453-AFF9-668B0E601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8065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1534" name="Oval 30">
            <a:extLst>
              <a:ext uri="{FF2B5EF4-FFF2-40B4-BE49-F238E27FC236}">
                <a16:creationId xmlns:a16="http://schemas.microsoft.com/office/drawing/2014/main" id="{97FF5489-B641-5314-089F-FE6683F3A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213" y="1806575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1535" name="Oval 31">
            <a:extLst>
              <a:ext uri="{FF2B5EF4-FFF2-40B4-BE49-F238E27FC236}">
                <a16:creationId xmlns:a16="http://schemas.microsoft.com/office/drawing/2014/main" id="{EE8AEED1-33F6-5F12-27DB-6C76B68F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588" y="2301875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1536" name="Rectangle 32">
            <a:extLst>
              <a:ext uri="{FF2B5EF4-FFF2-40B4-BE49-F238E27FC236}">
                <a16:creationId xmlns:a16="http://schemas.microsoft.com/office/drawing/2014/main" id="{B27BEF39-8C7D-0801-F56D-8ACEC48A7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76938" y="28781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37" name="Rectangle 33">
            <a:extLst>
              <a:ext uri="{FF2B5EF4-FFF2-40B4-BE49-F238E27FC236}">
                <a16:creationId xmlns:a16="http://schemas.microsoft.com/office/drawing/2014/main" id="{4CD33711-7201-EC65-D08D-66804EC26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2725" y="2878138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1538" name="Rectangle 34">
            <a:extLst>
              <a:ext uri="{FF2B5EF4-FFF2-40B4-BE49-F238E27FC236}">
                <a16:creationId xmlns:a16="http://schemas.microsoft.com/office/drawing/2014/main" id="{CFC61FF7-CFE9-9458-05C9-A646E83F7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2813" y="234632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39" name="AutoShape 35">
            <a:extLst>
              <a:ext uri="{FF2B5EF4-FFF2-40B4-BE49-F238E27FC236}">
                <a16:creationId xmlns:a16="http://schemas.microsoft.com/office/drawing/2014/main" id="{A7AB22C7-47A4-B643-CF8C-53D03EB69B20}"/>
              </a:ext>
            </a:extLst>
          </p:cNvPr>
          <p:cNvCxnSpPr>
            <a:cxnSpLocks noChangeShapeType="1"/>
            <a:stCxn id="21532" idx="3"/>
            <a:endCxn id="21534" idx="7"/>
          </p:cNvCxnSpPr>
          <p:nvPr/>
        </p:nvCxnSpPr>
        <p:spPr bwMode="auto">
          <a:xfrm flipH="1">
            <a:off x="5910263" y="1597025"/>
            <a:ext cx="727075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0" name="AutoShape 36">
            <a:extLst>
              <a:ext uri="{FF2B5EF4-FFF2-40B4-BE49-F238E27FC236}">
                <a16:creationId xmlns:a16="http://schemas.microsoft.com/office/drawing/2014/main" id="{A25ED1CD-B893-4DC5-7468-CC2EAE61A9D5}"/>
              </a:ext>
            </a:extLst>
          </p:cNvPr>
          <p:cNvCxnSpPr>
            <a:cxnSpLocks noChangeShapeType="1"/>
            <a:stCxn id="21533" idx="1"/>
            <a:endCxn id="21532" idx="5"/>
          </p:cNvCxnSpPr>
          <p:nvPr/>
        </p:nvCxnSpPr>
        <p:spPr bwMode="auto">
          <a:xfrm flipH="1" flipV="1">
            <a:off x="6862763" y="1597025"/>
            <a:ext cx="11842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1" name="AutoShape 37">
            <a:extLst>
              <a:ext uri="{FF2B5EF4-FFF2-40B4-BE49-F238E27FC236}">
                <a16:creationId xmlns:a16="http://schemas.microsoft.com/office/drawing/2014/main" id="{06BA177C-BFE2-C815-AA46-7AAB7B039011}"/>
              </a:ext>
            </a:extLst>
          </p:cNvPr>
          <p:cNvCxnSpPr>
            <a:cxnSpLocks noChangeShapeType="1"/>
            <a:stCxn id="21538" idx="0"/>
            <a:endCxn id="21533" idx="5"/>
          </p:cNvCxnSpPr>
          <p:nvPr/>
        </p:nvCxnSpPr>
        <p:spPr bwMode="auto">
          <a:xfrm flipH="1" flipV="1">
            <a:off x="8274050" y="20891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2" name="AutoShape 38">
            <a:extLst>
              <a:ext uri="{FF2B5EF4-FFF2-40B4-BE49-F238E27FC236}">
                <a16:creationId xmlns:a16="http://schemas.microsoft.com/office/drawing/2014/main" id="{AF6B23BB-AEFB-C504-CBA7-56AC78CDC6AF}"/>
              </a:ext>
            </a:extLst>
          </p:cNvPr>
          <p:cNvCxnSpPr>
            <a:cxnSpLocks noChangeShapeType="1"/>
            <a:stCxn id="21552" idx="7"/>
            <a:endCxn id="21533" idx="3"/>
          </p:cNvCxnSpPr>
          <p:nvPr/>
        </p:nvCxnSpPr>
        <p:spPr bwMode="auto">
          <a:xfrm flipV="1">
            <a:off x="7780338" y="2089150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3" name="AutoShape 39">
            <a:extLst>
              <a:ext uri="{FF2B5EF4-FFF2-40B4-BE49-F238E27FC236}">
                <a16:creationId xmlns:a16="http://schemas.microsoft.com/office/drawing/2014/main" id="{F299AC26-81B5-E271-199C-461EDCC20B9C}"/>
              </a:ext>
            </a:extLst>
          </p:cNvPr>
          <p:cNvCxnSpPr>
            <a:cxnSpLocks noChangeShapeType="1"/>
            <a:stCxn id="21537" idx="0"/>
            <a:endCxn id="21535" idx="5"/>
          </p:cNvCxnSpPr>
          <p:nvPr/>
        </p:nvCxnSpPr>
        <p:spPr bwMode="auto">
          <a:xfrm flipH="1" flipV="1">
            <a:off x="6497638" y="2603500"/>
            <a:ext cx="180975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4" name="AutoShape 40">
            <a:extLst>
              <a:ext uri="{FF2B5EF4-FFF2-40B4-BE49-F238E27FC236}">
                <a16:creationId xmlns:a16="http://schemas.microsoft.com/office/drawing/2014/main" id="{483CBDAD-3B6B-1163-A4B0-9366C882588B}"/>
              </a:ext>
            </a:extLst>
          </p:cNvPr>
          <p:cNvCxnSpPr>
            <a:cxnSpLocks noChangeShapeType="1"/>
            <a:stCxn id="21536" idx="0"/>
            <a:endCxn id="21535" idx="3"/>
          </p:cNvCxnSpPr>
          <p:nvPr/>
        </p:nvCxnSpPr>
        <p:spPr bwMode="auto">
          <a:xfrm flipV="1">
            <a:off x="6092825" y="2603500"/>
            <a:ext cx="179388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5" name="AutoShape 41">
            <a:extLst>
              <a:ext uri="{FF2B5EF4-FFF2-40B4-BE49-F238E27FC236}">
                <a16:creationId xmlns:a16="http://schemas.microsoft.com/office/drawing/2014/main" id="{9DC162A0-7103-9646-CB80-A685FE8F4BFE}"/>
              </a:ext>
            </a:extLst>
          </p:cNvPr>
          <p:cNvCxnSpPr>
            <a:cxnSpLocks noChangeShapeType="1"/>
            <a:stCxn id="21547" idx="7"/>
            <a:endCxn id="21534" idx="3"/>
          </p:cNvCxnSpPr>
          <p:nvPr/>
        </p:nvCxnSpPr>
        <p:spPr bwMode="auto">
          <a:xfrm flipV="1">
            <a:off x="5322888" y="2108200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6" name="AutoShape 42">
            <a:extLst>
              <a:ext uri="{FF2B5EF4-FFF2-40B4-BE49-F238E27FC236}">
                <a16:creationId xmlns:a16="http://schemas.microsoft.com/office/drawing/2014/main" id="{83599AD6-2FE5-9051-A3FB-ABBE85D363A5}"/>
              </a:ext>
            </a:extLst>
          </p:cNvPr>
          <p:cNvCxnSpPr>
            <a:cxnSpLocks noChangeShapeType="1"/>
            <a:stCxn id="21535" idx="1"/>
            <a:endCxn id="21534" idx="5"/>
          </p:cNvCxnSpPr>
          <p:nvPr/>
        </p:nvCxnSpPr>
        <p:spPr bwMode="auto">
          <a:xfrm flipH="1" flipV="1">
            <a:off x="5910263" y="2108200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47" name="Oval 43">
            <a:extLst>
              <a:ext uri="{FF2B5EF4-FFF2-40B4-BE49-F238E27FC236}">
                <a16:creationId xmlns:a16="http://schemas.microsoft.com/office/drawing/2014/main" id="{518E9782-B3BD-52FD-67E0-1F1DF9071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23018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1548" name="Rectangle 44">
            <a:extLst>
              <a:ext uri="{FF2B5EF4-FFF2-40B4-BE49-F238E27FC236}">
                <a16:creationId xmlns:a16="http://schemas.microsoft.com/office/drawing/2014/main" id="{63589F02-98A4-C825-1B93-32F6B15E7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28781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49" name="Rectangle 45">
            <a:extLst>
              <a:ext uri="{FF2B5EF4-FFF2-40B4-BE49-F238E27FC236}">
                <a16:creationId xmlns:a16="http://schemas.microsoft.com/office/drawing/2014/main" id="{BB40841E-54AA-E3FE-89F8-67189EB38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7975" y="28781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50" name="AutoShape 46">
            <a:extLst>
              <a:ext uri="{FF2B5EF4-FFF2-40B4-BE49-F238E27FC236}">
                <a16:creationId xmlns:a16="http://schemas.microsoft.com/office/drawing/2014/main" id="{3923CCBE-C3E1-E7A9-9FC7-5E772CADC3FC}"/>
              </a:ext>
            </a:extLst>
          </p:cNvPr>
          <p:cNvCxnSpPr>
            <a:cxnSpLocks noChangeShapeType="1"/>
            <a:stCxn id="21549" idx="0"/>
            <a:endCxn id="21547" idx="5"/>
          </p:cNvCxnSpPr>
          <p:nvPr/>
        </p:nvCxnSpPr>
        <p:spPr bwMode="auto">
          <a:xfrm flipH="1" flipV="1">
            <a:off x="5322888" y="25844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1" name="AutoShape 47">
            <a:extLst>
              <a:ext uri="{FF2B5EF4-FFF2-40B4-BE49-F238E27FC236}">
                <a16:creationId xmlns:a16="http://schemas.microsoft.com/office/drawing/2014/main" id="{4E91FD4B-85EA-3A66-2C36-399D6E62BB3E}"/>
              </a:ext>
            </a:extLst>
          </p:cNvPr>
          <p:cNvCxnSpPr>
            <a:cxnSpLocks noChangeShapeType="1"/>
            <a:stCxn id="21548" idx="0"/>
            <a:endCxn id="21547" idx="3"/>
          </p:cNvCxnSpPr>
          <p:nvPr/>
        </p:nvCxnSpPr>
        <p:spPr bwMode="auto">
          <a:xfrm flipV="1">
            <a:off x="4916488" y="25844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2" name="Oval 48">
            <a:extLst>
              <a:ext uri="{FF2B5EF4-FFF2-40B4-BE49-F238E27FC236}">
                <a16:creationId xmlns:a16="http://schemas.microsoft.com/office/drawing/2014/main" id="{77D2FA9A-D4B2-F6BA-FE53-4898D572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8" y="23018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1553" name="Rectangle 49">
            <a:extLst>
              <a:ext uri="{FF2B5EF4-FFF2-40B4-BE49-F238E27FC236}">
                <a16:creationId xmlns:a16="http://schemas.microsoft.com/office/drawing/2014/main" id="{604B2BF7-AFED-E7A0-5473-343622C9CE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59638" y="28781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54" name="Rectangle 50">
            <a:extLst>
              <a:ext uri="{FF2B5EF4-FFF2-40B4-BE49-F238E27FC236}">
                <a16:creationId xmlns:a16="http://schemas.microsoft.com/office/drawing/2014/main" id="{EE0489C0-30DE-117F-1530-EF51C3AA44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45425" y="28781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1555" name="AutoShape 51">
            <a:extLst>
              <a:ext uri="{FF2B5EF4-FFF2-40B4-BE49-F238E27FC236}">
                <a16:creationId xmlns:a16="http://schemas.microsoft.com/office/drawing/2014/main" id="{C4370F46-AA5F-001E-7483-FC1944BDC517}"/>
              </a:ext>
            </a:extLst>
          </p:cNvPr>
          <p:cNvCxnSpPr>
            <a:cxnSpLocks noChangeShapeType="1"/>
            <a:stCxn id="21554" idx="0"/>
            <a:endCxn id="21552" idx="5"/>
          </p:cNvCxnSpPr>
          <p:nvPr/>
        </p:nvCxnSpPr>
        <p:spPr bwMode="auto">
          <a:xfrm flipH="1" flipV="1">
            <a:off x="7780338" y="25844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6" name="AutoShape 52">
            <a:extLst>
              <a:ext uri="{FF2B5EF4-FFF2-40B4-BE49-F238E27FC236}">
                <a16:creationId xmlns:a16="http://schemas.microsoft.com/office/drawing/2014/main" id="{EA0A6D0D-E629-D25C-6C74-0C0B45385671}"/>
              </a:ext>
            </a:extLst>
          </p:cNvPr>
          <p:cNvCxnSpPr>
            <a:cxnSpLocks noChangeShapeType="1"/>
            <a:stCxn id="21553" idx="0"/>
            <a:endCxn id="21552" idx="3"/>
          </p:cNvCxnSpPr>
          <p:nvPr/>
        </p:nvCxnSpPr>
        <p:spPr bwMode="auto">
          <a:xfrm flipV="1">
            <a:off x="7375525" y="25844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7" name="Oval 53">
            <a:extLst>
              <a:ext uri="{FF2B5EF4-FFF2-40B4-BE49-F238E27FC236}">
                <a16:creationId xmlns:a16="http://schemas.microsoft.com/office/drawing/2014/main" id="{87D03689-24E5-CCDA-8D09-9FA688567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533400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1558" name="Rectangle 54">
            <a:extLst>
              <a:ext uri="{FF2B5EF4-FFF2-40B4-BE49-F238E27FC236}">
                <a16:creationId xmlns:a16="http://schemas.microsoft.com/office/drawing/2014/main" id="{532051D4-0E3A-4703-09A3-462595985F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08713" y="5910263"/>
            <a:ext cx="230187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1559" name="Rectangle 55">
            <a:extLst>
              <a:ext uri="{FF2B5EF4-FFF2-40B4-BE49-F238E27FC236}">
                <a16:creationId xmlns:a16="http://schemas.microsoft.com/office/drawing/2014/main" id="{AAA4DBD6-8C3F-7A7B-C1F3-45170DB992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94500" y="5910263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cxnSp>
        <p:nvCxnSpPr>
          <p:cNvPr id="21560" name="AutoShape 56">
            <a:extLst>
              <a:ext uri="{FF2B5EF4-FFF2-40B4-BE49-F238E27FC236}">
                <a16:creationId xmlns:a16="http://schemas.microsoft.com/office/drawing/2014/main" id="{D8531F3E-B930-618A-7E38-AEE588EA05B7}"/>
              </a:ext>
            </a:extLst>
          </p:cNvPr>
          <p:cNvCxnSpPr>
            <a:cxnSpLocks noChangeShapeType="1"/>
            <a:stCxn id="21559" idx="0"/>
            <a:endCxn id="21557" idx="5"/>
          </p:cNvCxnSpPr>
          <p:nvPr/>
        </p:nvCxnSpPr>
        <p:spPr bwMode="auto">
          <a:xfrm flipH="1" flipV="1">
            <a:off x="6729413" y="5635625"/>
            <a:ext cx="180975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1" name="AutoShape 57">
            <a:extLst>
              <a:ext uri="{FF2B5EF4-FFF2-40B4-BE49-F238E27FC236}">
                <a16:creationId xmlns:a16="http://schemas.microsoft.com/office/drawing/2014/main" id="{5FA8F264-BEC8-EA45-9AEA-A3C9F4C5542B}"/>
              </a:ext>
            </a:extLst>
          </p:cNvPr>
          <p:cNvCxnSpPr>
            <a:cxnSpLocks noChangeShapeType="1"/>
            <a:stCxn id="21558" idx="0"/>
            <a:endCxn id="21557" idx="3"/>
          </p:cNvCxnSpPr>
          <p:nvPr/>
        </p:nvCxnSpPr>
        <p:spPr bwMode="auto">
          <a:xfrm flipV="1">
            <a:off x="6324600" y="5635625"/>
            <a:ext cx="179388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2" name="Text Box 58">
            <a:extLst>
              <a:ext uri="{FF2B5EF4-FFF2-40B4-BE49-F238E27FC236}">
                <a16:creationId xmlns:a16="http://schemas.microsoft.com/office/drawing/2014/main" id="{3BAB7F5C-7B6C-426E-E621-6A6B4392D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838" y="1352550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&lt;</a:t>
            </a:r>
          </a:p>
        </p:txBody>
      </p:sp>
      <p:sp>
        <p:nvSpPr>
          <p:cNvPr id="21563" name="Text Box 59">
            <a:extLst>
              <a:ext uri="{FF2B5EF4-FFF2-40B4-BE49-F238E27FC236}">
                <a16:creationId xmlns:a16="http://schemas.microsoft.com/office/drawing/2014/main" id="{158949CB-1455-E4E6-5B3B-49E1F8FD7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838" y="1885950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1564" name="Text Box 60">
            <a:extLst>
              <a:ext uri="{FF2B5EF4-FFF2-40B4-BE49-F238E27FC236}">
                <a16:creationId xmlns:a16="http://schemas.microsoft.com/office/drawing/2014/main" id="{9EB6DA4C-F166-DD3F-01B8-43F361F8C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663" y="2438400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1565" name="Text Box 61">
            <a:extLst>
              <a:ext uri="{FF2B5EF4-FFF2-40B4-BE49-F238E27FC236}">
                <a16:creationId xmlns:a16="http://schemas.microsoft.com/office/drawing/2014/main" id="{4B8C1C7D-AA3C-0D72-348E-73AD49EC8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638" y="3048000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  <p:sp>
        <p:nvSpPr>
          <p:cNvPr id="21566" name="Text Box 62">
            <a:extLst>
              <a:ext uri="{FF2B5EF4-FFF2-40B4-BE49-F238E27FC236}">
                <a16:creationId xmlns:a16="http://schemas.microsoft.com/office/drawing/2014/main" id="{A1CA0869-AA18-9C2E-94B9-C1A2DEA1B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13" y="5029200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53600C8-B46A-D1A0-1C79-BB2AAA554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F0A05EA-B10D-66DE-E5D8-D3908B830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3733800" cy="4876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To perform operation </a:t>
            </a:r>
            <a:r>
              <a:rPr lang="en-US" altLang="en-US" sz="2000" dirty="0" err="1">
                <a:solidFill>
                  <a:srgbClr val="FF0066"/>
                </a:solidFill>
              </a:rPr>
              <a:t>removeElement</a:t>
            </a:r>
            <a:r>
              <a:rPr lang="en-US" altLang="en-US" sz="2000" dirty="0">
                <a:solidFill>
                  <a:srgbClr val="FF0066"/>
                </a:solidFill>
              </a:rPr>
              <a:t>(</a:t>
            </a:r>
            <a:r>
              <a:rPr lang="en-US" altLang="en-US" sz="2000" b="1" i="1" dirty="0">
                <a:solidFill>
                  <a:srgbClr val="FF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FF0066"/>
                </a:solidFill>
              </a:rPr>
              <a:t>)</a:t>
            </a:r>
            <a:r>
              <a:rPr lang="en-US" altLang="en-US" sz="2000" dirty="0"/>
              <a:t>, we search for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</a:p>
          <a:p>
            <a:pPr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Assume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is in the tree, and let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be the node storing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</a:p>
          <a:p>
            <a:pPr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If node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has an </a:t>
            </a:r>
            <a:r>
              <a:rPr lang="en-US" altLang="en-US" sz="2000" dirty="0">
                <a:solidFill>
                  <a:srgbClr val="FF0066"/>
                </a:solidFill>
              </a:rPr>
              <a:t>external</a:t>
            </a:r>
            <a:r>
              <a:rPr lang="en-US" altLang="en-US" sz="2000" dirty="0"/>
              <a:t> child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2000" dirty="0"/>
              <a:t>, we remove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2000" dirty="0"/>
              <a:t> from the tree with operation </a:t>
            </a:r>
            <a:r>
              <a:rPr lang="en-US" altLang="en-US" sz="2000" dirty="0" err="1">
                <a:solidFill>
                  <a:schemeClr val="tx2"/>
                </a:solidFill>
              </a:rPr>
              <a:t>removeAboveExternal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2000" dirty="0"/>
              <a:t>)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Example: remove 4</a:t>
            </a:r>
          </a:p>
        </p:txBody>
      </p:sp>
      <p:sp>
        <p:nvSpPr>
          <p:cNvPr id="22532" name="Oval 4">
            <a:extLst>
              <a:ext uri="{FF2B5EF4-FFF2-40B4-BE49-F238E27FC236}">
                <a16:creationId xmlns:a16="http://schemas.microsoft.com/office/drawing/2014/main" id="{F9BA256C-7363-D9BE-E457-E6361042C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371600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A8F369BE-2550-523A-44D1-6C21E6C0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363" y="18827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6D1DB9D4-3BC2-B217-F3C1-A6CC0159F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488" y="1882775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F9E13C63-CA80-50DE-3106-BAD022237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378075"/>
            <a:ext cx="320675" cy="320675"/>
          </a:xfrm>
          <a:prstGeom prst="ellipse">
            <a:avLst/>
          </a:prstGeom>
          <a:solidFill>
            <a:srgbClr val="FF6600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8B4667DA-B605-AB09-EE1C-E8F20215A9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4213" y="2954338"/>
            <a:ext cx="230187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3F1BFAEC-C693-9D80-4220-15A7F0B851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12175" y="2422525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38" name="AutoShape 10">
            <a:extLst>
              <a:ext uri="{FF2B5EF4-FFF2-40B4-BE49-F238E27FC236}">
                <a16:creationId xmlns:a16="http://schemas.microsoft.com/office/drawing/2014/main" id="{C29372D1-6FF4-9968-E517-D4BF459A8103}"/>
              </a:ext>
            </a:extLst>
          </p:cNvPr>
          <p:cNvCxnSpPr>
            <a:cxnSpLocks noChangeShapeType="1"/>
            <a:stCxn id="22532" idx="3"/>
            <a:endCxn id="22534" idx="7"/>
          </p:cNvCxnSpPr>
          <p:nvPr/>
        </p:nvCxnSpPr>
        <p:spPr bwMode="auto">
          <a:xfrm flipH="1">
            <a:off x="5697538" y="1673225"/>
            <a:ext cx="1131887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9" name="AutoShape 11">
            <a:extLst>
              <a:ext uri="{FF2B5EF4-FFF2-40B4-BE49-F238E27FC236}">
                <a16:creationId xmlns:a16="http://schemas.microsoft.com/office/drawing/2014/main" id="{62A13383-B7BA-BE03-0570-6B0554595CE8}"/>
              </a:ext>
            </a:extLst>
          </p:cNvPr>
          <p:cNvCxnSpPr>
            <a:cxnSpLocks noChangeShapeType="1"/>
            <a:stCxn id="22533" idx="1"/>
            <a:endCxn id="22532" idx="5"/>
          </p:cNvCxnSpPr>
          <p:nvPr/>
        </p:nvCxnSpPr>
        <p:spPr bwMode="auto">
          <a:xfrm flipH="1" flipV="1">
            <a:off x="7054850" y="1673225"/>
            <a:ext cx="9715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0" name="AutoShape 12">
            <a:extLst>
              <a:ext uri="{FF2B5EF4-FFF2-40B4-BE49-F238E27FC236}">
                <a16:creationId xmlns:a16="http://schemas.microsoft.com/office/drawing/2014/main" id="{46EF85A8-8546-54E0-39A7-59AF2EE32EEE}"/>
              </a:ext>
            </a:extLst>
          </p:cNvPr>
          <p:cNvCxnSpPr>
            <a:cxnSpLocks noChangeShapeType="1"/>
            <a:stCxn id="22537" idx="0"/>
            <a:endCxn id="22533" idx="5"/>
          </p:cNvCxnSpPr>
          <p:nvPr/>
        </p:nvCxnSpPr>
        <p:spPr bwMode="auto">
          <a:xfrm flipH="1" flipV="1">
            <a:off x="8253413" y="21653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3">
            <a:extLst>
              <a:ext uri="{FF2B5EF4-FFF2-40B4-BE49-F238E27FC236}">
                <a16:creationId xmlns:a16="http://schemas.microsoft.com/office/drawing/2014/main" id="{B306573C-7007-55CF-CA93-12FD2929B604}"/>
              </a:ext>
            </a:extLst>
          </p:cNvPr>
          <p:cNvCxnSpPr>
            <a:cxnSpLocks noChangeShapeType="1"/>
            <a:stCxn id="22551" idx="7"/>
            <a:endCxn id="22533" idx="3"/>
          </p:cNvCxnSpPr>
          <p:nvPr/>
        </p:nvCxnSpPr>
        <p:spPr bwMode="auto">
          <a:xfrm flipV="1">
            <a:off x="7759700" y="2165350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2" name="AutoShape 14">
            <a:extLst>
              <a:ext uri="{FF2B5EF4-FFF2-40B4-BE49-F238E27FC236}">
                <a16:creationId xmlns:a16="http://schemas.microsoft.com/office/drawing/2014/main" id="{231A833C-4D72-3F01-8735-5D6E4F55F788}"/>
              </a:ext>
            </a:extLst>
          </p:cNvPr>
          <p:cNvCxnSpPr>
            <a:cxnSpLocks noChangeShapeType="1"/>
            <a:stCxn id="22556" idx="1"/>
            <a:endCxn id="22535" idx="5"/>
          </p:cNvCxnSpPr>
          <p:nvPr/>
        </p:nvCxnSpPr>
        <p:spPr bwMode="auto">
          <a:xfrm flipH="1" flipV="1">
            <a:off x="6284913" y="2679700"/>
            <a:ext cx="198437" cy="23495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3" name="AutoShape 15">
            <a:extLst>
              <a:ext uri="{FF2B5EF4-FFF2-40B4-BE49-F238E27FC236}">
                <a16:creationId xmlns:a16="http://schemas.microsoft.com/office/drawing/2014/main" id="{07DA90E9-87E2-F7B8-5D01-E80B53273C14}"/>
              </a:ext>
            </a:extLst>
          </p:cNvPr>
          <p:cNvCxnSpPr>
            <a:cxnSpLocks noChangeShapeType="1"/>
            <a:stCxn id="22536" idx="0"/>
            <a:endCxn id="22535" idx="3"/>
          </p:cNvCxnSpPr>
          <p:nvPr/>
        </p:nvCxnSpPr>
        <p:spPr bwMode="auto">
          <a:xfrm flipV="1">
            <a:off x="5880100" y="2679700"/>
            <a:ext cx="179388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AutoShape 16">
            <a:extLst>
              <a:ext uri="{FF2B5EF4-FFF2-40B4-BE49-F238E27FC236}">
                <a16:creationId xmlns:a16="http://schemas.microsoft.com/office/drawing/2014/main" id="{1F8F43AB-5D7B-FB05-DB04-8ED3163A67E1}"/>
              </a:ext>
            </a:extLst>
          </p:cNvPr>
          <p:cNvCxnSpPr>
            <a:cxnSpLocks noChangeShapeType="1"/>
            <a:stCxn id="22546" idx="7"/>
            <a:endCxn id="22534" idx="3"/>
          </p:cNvCxnSpPr>
          <p:nvPr/>
        </p:nvCxnSpPr>
        <p:spPr bwMode="auto">
          <a:xfrm flipV="1">
            <a:off x="5110163" y="2184400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5" name="AutoShape 17">
            <a:extLst>
              <a:ext uri="{FF2B5EF4-FFF2-40B4-BE49-F238E27FC236}">
                <a16:creationId xmlns:a16="http://schemas.microsoft.com/office/drawing/2014/main" id="{071D6211-6F69-6948-0A6A-175EB9E7ADA6}"/>
              </a:ext>
            </a:extLst>
          </p:cNvPr>
          <p:cNvCxnSpPr>
            <a:cxnSpLocks noChangeShapeType="1"/>
            <a:stCxn id="22535" idx="1"/>
            <a:endCxn id="22534" idx="5"/>
          </p:cNvCxnSpPr>
          <p:nvPr/>
        </p:nvCxnSpPr>
        <p:spPr bwMode="auto">
          <a:xfrm flipH="1" flipV="1">
            <a:off x="5697538" y="2184400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6" name="Oval 18">
            <a:extLst>
              <a:ext uri="{FF2B5EF4-FFF2-40B4-BE49-F238E27FC236}">
                <a16:creationId xmlns:a16="http://schemas.microsoft.com/office/drawing/2014/main" id="{AD2F227F-C154-99F7-FD0F-7FE3C2544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23780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2547" name="Rectangle 19">
            <a:extLst>
              <a:ext uri="{FF2B5EF4-FFF2-40B4-BE49-F238E27FC236}">
                <a16:creationId xmlns:a16="http://schemas.microsoft.com/office/drawing/2014/main" id="{89F12A9B-E757-A9AE-E906-ED96DA99CF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87875" y="29543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48" name="Rectangle 20">
            <a:extLst>
              <a:ext uri="{FF2B5EF4-FFF2-40B4-BE49-F238E27FC236}">
                <a16:creationId xmlns:a16="http://schemas.microsoft.com/office/drawing/2014/main" id="{B389634E-B1A2-390D-7D79-327CCC51B1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75250" y="29543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49" name="AutoShape 21">
            <a:extLst>
              <a:ext uri="{FF2B5EF4-FFF2-40B4-BE49-F238E27FC236}">
                <a16:creationId xmlns:a16="http://schemas.microsoft.com/office/drawing/2014/main" id="{C3FCC957-D7EF-ED1A-4B87-980D8F53FB2B}"/>
              </a:ext>
            </a:extLst>
          </p:cNvPr>
          <p:cNvCxnSpPr>
            <a:cxnSpLocks noChangeShapeType="1"/>
            <a:stCxn id="22548" idx="0"/>
            <a:endCxn id="22546" idx="5"/>
          </p:cNvCxnSpPr>
          <p:nvPr/>
        </p:nvCxnSpPr>
        <p:spPr bwMode="auto">
          <a:xfrm flipH="1" flipV="1">
            <a:off x="5110163" y="26606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22">
            <a:extLst>
              <a:ext uri="{FF2B5EF4-FFF2-40B4-BE49-F238E27FC236}">
                <a16:creationId xmlns:a16="http://schemas.microsoft.com/office/drawing/2014/main" id="{E0F3500C-60C8-2526-7065-93A30C9B0BAF}"/>
              </a:ext>
            </a:extLst>
          </p:cNvPr>
          <p:cNvCxnSpPr>
            <a:cxnSpLocks noChangeShapeType="1"/>
            <a:stCxn id="22547" idx="0"/>
            <a:endCxn id="22546" idx="3"/>
          </p:cNvCxnSpPr>
          <p:nvPr/>
        </p:nvCxnSpPr>
        <p:spPr bwMode="auto">
          <a:xfrm flipV="1">
            <a:off x="4703763" y="26606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1" name="Oval 23">
            <a:extLst>
              <a:ext uri="{FF2B5EF4-FFF2-40B4-BE49-F238E27FC236}">
                <a16:creationId xmlns:a16="http://schemas.microsoft.com/office/drawing/2014/main" id="{6D9C35F0-141D-22E6-8AEB-74264C23F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650" y="23780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2552" name="Rectangle 24">
            <a:extLst>
              <a:ext uri="{FF2B5EF4-FFF2-40B4-BE49-F238E27FC236}">
                <a16:creationId xmlns:a16="http://schemas.microsoft.com/office/drawing/2014/main" id="{ADA6F597-279F-EF08-DC1D-FD94666F00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9000" y="29543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53" name="Rectangle 25">
            <a:extLst>
              <a:ext uri="{FF2B5EF4-FFF2-40B4-BE49-F238E27FC236}">
                <a16:creationId xmlns:a16="http://schemas.microsoft.com/office/drawing/2014/main" id="{8ECEEE84-9C91-A166-A77D-B2DBC298B3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24788" y="29543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54" name="AutoShape 26">
            <a:extLst>
              <a:ext uri="{FF2B5EF4-FFF2-40B4-BE49-F238E27FC236}">
                <a16:creationId xmlns:a16="http://schemas.microsoft.com/office/drawing/2014/main" id="{82851CE4-79E3-6E81-1527-039718C62E1D}"/>
              </a:ext>
            </a:extLst>
          </p:cNvPr>
          <p:cNvCxnSpPr>
            <a:cxnSpLocks noChangeShapeType="1"/>
            <a:stCxn id="22553" idx="0"/>
            <a:endCxn id="22551" idx="5"/>
          </p:cNvCxnSpPr>
          <p:nvPr/>
        </p:nvCxnSpPr>
        <p:spPr bwMode="auto">
          <a:xfrm flipH="1" flipV="1">
            <a:off x="7759700" y="26606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7">
            <a:extLst>
              <a:ext uri="{FF2B5EF4-FFF2-40B4-BE49-F238E27FC236}">
                <a16:creationId xmlns:a16="http://schemas.microsoft.com/office/drawing/2014/main" id="{A145F945-0C5C-2F75-A6F7-F239AEA5BAE5}"/>
              </a:ext>
            </a:extLst>
          </p:cNvPr>
          <p:cNvCxnSpPr>
            <a:cxnSpLocks noChangeShapeType="1"/>
            <a:stCxn id="22552" idx="0"/>
            <a:endCxn id="22551" idx="3"/>
          </p:cNvCxnSpPr>
          <p:nvPr/>
        </p:nvCxnSpPr>
        <p:spPr bwMode="auto">
          <a:xfrm flipV="1">
            <a:off x="7354888" y="26606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6" name="Oval 28">
            <a:extLst>
              <a:ext uri="{FF2B5EF4-FFF2-40B4-BE49-F238E27FC236}">
                <a16:creationId xmlns:a16="http://schemas.microsoft.com/office/drawing/2014/main" id="{584E5C2C-F853-0EE7-6B47-96716E4F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725" y="289560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2557" name="Rectangle 29">
            <a:extLst>
              <a:ext uri="{FF2B5EF4-FFF2-40B4-BE49-F238E27FC236}">
                <a16:creationId xmlns:a16="http://schemas.microsoft.com/office/drawing/2014/main" id="{884E0F48-1538-BEE7-C53A-6BE48F2C2F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88075" y="34718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58" name="Rectangle 30">
            <a:extLst>
              <a:ext uri="{FF2B5EF4-FFF2-40B4-BE49-F238E27FC236}">
                <a16:creationId xmlns:a16="http://schemas.microsoft.com/office/drawing/2014/main" id="{AA05EF9A-8E13-48BF-E02E-F4F4B1E7ED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73863" y="347186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59" name="AutoShape 31">
            <a:extLst>
              <a:ext uri="{FF2B5EF4-FFF2-40B4-BE49-F238E27FC236}">
                <a16:creationId xmlns:a16="http://schemas.microsoft.com/office/drawing/2014/main" id="{3B37F6DE-CC27-7290-9811-A460DAA87D21}"/>
              </a:ext>
            </a:extLst>
          </p:cNvPr>
          <p:cNvCxnSpPr>
            <a:cxnSpLocks noChangeShapeType="1"/>
            <a:stCxn id="22558" idx="0"/>
            <a:endCxn id="22556" idx="5"/>
          </p:cNvCxnSpPr>
          <p:nvPr/>
        </p:nvCxnSpPr>
        <p:spPr bwMode="auto">
          <a:xfrm flipH="1" flipV="1">
            <a:off x="6708775" y="3197225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0" name="AutoShape 32">
            <a:extLst>
              <a:ext uri="{FF2B5EF4-FFF2-40B4-BE49-F238E27FC236}">
                <a16:creationId xmlns:a16="http://schemas.microsoft.com/office/drawing/2014/main" id="{1E1A8638-F494-9249-0521-FA3224C073CB}"/>
              </a:ext>
            </a:extLst>
          </p:cNvPr>
          <p:cNvCxnSpPr>
            <a:cxnSpLocks noChangeShapeType="1"/>
            <a:stCxn id="22557" idx="0"/>
            <a:endCxn id="22556" idx="3"/>
          </p:cNvCxnSpPr>
          <p:nvPr/>
        </p:nvCxnSpPr>
        <p:spPr bwMode="auto">
          <a:xfrm flipV="1">
            <a:off x="6303963" y="3197225"/>
            <a:ext cx="1793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61" name="Text Box 33">
            <a:extLst>
              <a:ext uri="{FF2B5EF4-FFF2-40B4-BE49-F238E27FC236}">
                <a16:creationId xmlns:a16="http://schemas.microsoft.com/office/drawing/2014/main" id="{06DE81D5-69C1-C8D6-4DBA-F5D8B2D72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270125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v</a:t>
            </a:r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FEB8D89F-ACBB-B83E-1861-E6D2AF03B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588" y="2590800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  <p:sp>
        <p:nvSpPr>
          <p:cNvPr id="22563" name="Oval 35">
            <a:extLst>
              <a:ext uri="{FF2B5EF4-FFF2-40B4-BE49-F238E27FC236}">
                <a16:creationId xmlns:a16="http://schemas.microsoft.com/office/drawing/2014/main" id="{9B1A5291-2213-1FDC-5BA7-1E84DDBD3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251325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2564" name="Oval 36">
            <a:extLst>
              <a:ext uri="{FF2B5EF4-FFF2-40B4-BE49-F238E27FC236}">
                <a16:creationId xmlns:a16="http://schemas.microsoft.com/office/drawing/2014/main" id="{CD481BDE-1F37-180C-1D3F-32151A853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488" y="4762500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2565" name="Oval 37">
            <a:extLst>
              <a:ext uri="{FF2B5EF4-FFF2-40B4-BE49-F238E27FC236}">
                <a16:creationId xmlns:a16="http://schemas.microsoft.com/office/drawing/2014/main" id="{E1C9B96D-1DB2-9A09-E1C3-39B5C5E2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700" y="4762500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2566" name="Oval 38">
            <a:extLst>
              <a:ext uri="{FF2B5EF4-FFF2-40B4-BE49-F238E27FC236}">
                <a16:creationId xmlns:a16="http://schemas.microsoft.com/office/drawing/2014/main" id="{6753FB2C-8B19-25A3-1327-4C889D93C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075" y="525780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2567" name="Rectangle 39">
            <a:extLst>
              <a:ext uri="{FF2B5EF4-FFF2-40B4-BE49-F238E27FC236}">
                <a16:creationId xmlns:a16="http://schemas.microsoft.com/office/drawing/2014/main" id="{98F21AAC-A9EB-C170-495E-9D9E84B618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0425" y="58340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68" name="Rectangle 40">
            <a:extLst>
              <a:ext uri="{FF2B5EF4-FFF2-40B4-BE49-F238E27FC236}">
                <a16:creationId xmlns:a16="http://schemas.microsoft.com/office/drawing/2014/main" id="{A8C69684-2BE2-AE4C-AA2E-6A46BA8183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583406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69" name="Rectangle 41">
            <a:extLst>
              <a:ext uri="{FF2B5EF4-FFF2-40B4-BE49-F238E27FC236}">
                <a16:creationId xmlns:a16="http://schemas.microsoft.com/office/drawing/2014/main" id="{A1027469-4460-9622-25CD-04FF27B6D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96300" y="5302250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70" name="AutoShape 42">
            <a:extLst>
              <a:ext uri="{FF2B5EF4-FFF2-40B4-BE49-F238E27FC236}">
                <a16:creationId xmlns:a16="http://schemas.microsoft.com/office/drawing/2014/main" id="{362990AC-9F67-B997-90D9-A2F951CB3055}"/>
              </a:ext>
            </a:extLst>
          </p:cNvPr>
          <p:cNvCxnSpPr>
            <a:cxnSpLocks noChangeShapeType="1"/>
            <a:stCxn id="22563" idx="3"/>
            <a:endCxn id="22565" idx="7"/>
          </p:cNvCxnSpPr>
          <p:nvPr/>
        </p:nvCxnSpPr>
        <p:spPr bwMode="auto">
          <a:xfrm flipH="1">
            <a:off x="5873750" y="4533900"/>
            <a:ext cx="7270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1" name="AutoShape 43">
            <a:extLst>
              <a:ext uri="{FF2B5EF4-FFF2-40B4-BE49-F238E27FC236}">
                <a16:creationId xmlns:a16="http://schemas.microsoft.com/office/drawing/2014/main" id="{3005C84F-DF76-23FA-566F-A270D8AA83AF}"/>
              </a:ext>
            </a:extLst>
          </p:cNvPr>
          <p:cNvCxnSpPr>
            <a:cxnSpLocks noChangeShapeType="1"/>
            <a:stCxn id="22564" idx="1"/>
            <a:endCxn id="22563" idx="5"/>
          </p:cNvCxnSpPr>
          <p:nvPr/>
        </p:nvCxnSpPr>
        <p:spPr bwMode="auto">
          <a:xfrm flipH="1" flipV="1">
            <a:off x="6826250" y="4533900"/>
            <a:ext cx="1184275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2" name="AutoShape 44">
            <a:extLst>
              <a:ext uri="{FF2B5EF4-FFF2-40B4-BE49-F238E27FC236}">
                <a16:creationId xmlns:a16="http://schemas.microsoft.com/office/drawing/2014/main" id="{DEA8F5A8-3B9E-B6EE-21F8-17307C3B1CF8}"/>
              </a:ext>
            </a:extLst>
          </p:cNvPr>
          <p:cNvCxnSpPr>
            <a:cxnSpLocks noChangeShapeType="1"/>
            <a:stCxn id="22569" idx="0"/>
            <a:endCxn id="22564" idx="5"/>
          </p:cNvCxnSpPr>
          <p:nvPr/>
        </p:nvCxnSpPr>
        <p:spPr bwMode="auto">
          <a:xfrm flipH="1" flipV="1">
            <a:off x="8237538" y="5045075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3" name="AutoShape 45">
            <a:extLst>
              <a:ext uri="{FF2B5EF4-FFF2-40B4-BE49-F238E27FC236}">
                <a16:creationId xmlns:a16="http://schemas.microsoft.com/office/drawing/2014/main" id="{4473A230-1AA0-F2BF-F7B7-F38751A846FC}"/>
              </a:ext>
            </a:extLst>
          </p:cNvPr>
          <p:cNvCxnSpPr>
            <a:cxnSpLocks noChangeShapeType="1"/>
            <a:stCxn id="22583" idx="7"/>
            <a:endCxn id="22564" idx="3"/>
          </p:cNvCxnSpPr>
          <p:nvPr/>
        </p:nvCxnSpPr>
        <p:spPr bwMode="auto">
          <a:xfrm flipV="1">
            <a:off x="7743825" y="5045075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4" name="AutoShape 46">
            <a:extLst>
              <a:ext uri="{FF2B5EF4-FFF2-40B4-BE49-F238E27FC236}">
                <a16:creationId xmlns:a16="http://schemas.microsoft.com/office/drawing/2014/main" id="{11899AC0-A3B0-ECFA-93D5-5D26F9AA4E4F}"/>
              </a:ext>
            </a:extLst>
          </p:cNvPr>
          <p:cNvCxnSpPr>
            <a:cxnSpLocks noChangeShapeType="1"/>
            <a:stCxn id="22568" idx="0"/>
            <a:endCxn id="22566" idx="5"/>
          </p:cNvCxnSpPr>
          <p:nvPr/>
        </p:nvCxnSpPr>
        <p:spPr bwMode="auto">
          <a:xfrm flipH="1" flipV="1">
            <a:off x="6461125" y="5559425"/>
            <a:ext cx="207963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5" name="AutoShape 47">
            <a:extLst>
              <a:ext uri="{FF2B5EF4-FFF2-40B4-BE49-F238E27FC236}">
                <a16:creationId xmlns:a16="http://schemas.microsoft.com/office/drawing/2014/main" id="{9C091473-7E0A-9A13-DA78-F2921C977F1A}"/>
              </a:ext>
            </a:extLst>
          </p:cNvPr>
          <p:cNvCxnSpPr>
            <a:cxnSpLocks noChangeShapeType="1"/>
            <a:stCxn id="22567" idx="0"/>
            <a:endCxn id="22566" idx="3"/>
          </p:cNvCxnSpPr>
          <p:nvPr/>
        </p:nvCxnSpPr>
        <p:spPr bwMode="auto">
          <a:xfrm flipV="1">
            <a:off x="6056313" y="5559425"/>
            <a:ext cx="1793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6" name="AutoShape 48">
            <a:extLst>
              <a:ext uri="{FF2B5EF4-FFF2-40B4-BE49-F238E27FC236}">
                <a16:creationId xmlns:a16="http://schemas.microsoft.com/office/drawing/2014/main" id="{AC72FA18-A750-3D2A-1FD5-E2A16C9C1559}"/>
              </a:ext>
            </a:extLst>
          </p:cNvPr>
          <p:cNvCxnSpPr>
            <a:cxnSpLocks noChangeShapeType="1"/>
            <a:stCxn id="22578" idx="7"/>
            <a:endCxn id="22565" idx="3"/>
          </p:cNvCxnSpPr>
          <p:nvPr/>
        </p:nvCxnSpPr>
        <p:spPr bwMode="auto">
          <a:xfrm flipV="1">
            <a:off x="5286375" y="5064125"/>
            <a:ext cx="360363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7" name="AutoShape 49">
            <a:extLst>
              <a:ext uri="{FF2B5EF4-FFF2-40B4-BE49-F238E27FC236}">
                <a16:creationId xmlns:a16="http://schemas.microsoft.com/office/drawing/2014/main" id="{06D34405-5660-8960-B6AD-0E93A30B998D}"/>
              </a:ext>
            </a:extLst>
          </p:cNvPr>
          <p:cNvCxnSpPr>
            <a:cxnSpLocks noChangeShapeType="1"/>
            <a:stCxn id="22566" idx="1"/>
            <a:endCxn id="22565" idx="5"/>
          </p:cNvCxnSpPr>
          <p:nvPr/>
        </p:nvCxnSpPr>
        <p:spPr bwMode="auto">
          <a:xfrm flipH="1" flipV="1">
            <a:off x="5873750" y="5064125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78" name="Oval 50">
            <a:extLst>
              <a:ext uri="{FF2B5EF4-FFF2-40B4-BE49-F238E27FC236}">
                <a16:creationId xmlns:a16="http://schemas.microsoft.com/office/drawing/2014/main" id="{AF791AD1-94A5-07A6-A1CB-970425CAA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325" y="5257800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2579" name="Rectangle 51">
            <a:extLst>
              <a:ext uri="{FF2B5EF4-FFF2-40B4-BE49-F238E27FC236}">
                <a16:creationId xmlns:a16="http://schemas.microsoft.com/office/drawing/2014/main" id="{F30955DE-F1FE-BC49-5D07-431E1B20E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64088" y="58340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80" name="Rectangle 52">
            <a:extLst>
              <a:ext uri="{FF2B5EF4-FFF2-40B4-BE49-F238E27FC236}">
                <a16:creationId xmlns:a16="http://schemas.microsoft.com/office/drawing/2014/main" id="{E619CB4C-9F73-356F-1B10-E568FAFC85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1463" y="58340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81" name="AutoShape 53">
            <a:extLst>
              <a:ext uri="{FF2B5EF4-FFF2-40B4-BE49-F238E27FC236}">
                <a16:creationId xmlns:a16="http://schemas.microsoft.com/office/drawing/2014/main" id="{FA866D47-53C2-7064-FC85-CD46B2428F20}"/>
              </a:ext>
            </a:extLst>
          </p:cNvPr>
          <p:cNvCxnSpPr>
            <a:cxnSpLocks noChangeShapeType="1"/>
            <a:stCxn id="22580" idx="0"/>
            <a:endCxn id="22578" idx="5"/>
          </p:cNvCxnSpPr>
          <p:nvPr/>
        </p:nvCxnSpPr>
        <p:spPr bwMode="auto">
          <a:xfrm flipH="1" flipV="1">
            <a:off x="5286375" y="5540375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2" name="AutoShape 54">
            <a:extLst>
              <a:ext uri="{FF2B5EF4-FFF2-40B4-BE49-F238E27FC236}">
                <a16:creationId xmlns:a16="http://schemas.microsoft.com/office/drawing/2014/main" id="{7D542D98-C74C-0B57-BC69-B3E5D97FA4C5}"/>
              </a:ext>
            </a:extLst>
          </p:cNvPr>
          <p:cNvCxnSpPr>
            <a:cxnSpLocks noChangeShapeType="1"/>
            <a:stCxn id="22579" idx="0"/>
            <a:endCxn id="22578" idx="3"/>
          </p:cNvCxnSpPr>
          <p:nvPr/>
        </p:nvCxnSpPr>
        <p:spPr bwMode="auto">
          <a:xfrm flipV="1">
            <a:off x="4879975" y="5540375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3" name="Oval 55">
            <a:extLst>
              <a:ext uri="{FF2B5EF4-FFF2-40B4-BE49-F238E27FC236}">
                <a16:creationId xmlns:a16="http://schemas.microsoft.com/office/drawing/2014/main" id="{E028268E-8E93-A382-01BB-E0963B866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775" y="5257800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2584" name="Rectangle 56">
            <a:extLst>
              <a:ext uri="{FF2B5EF4-FFF2-40B4-BE49-F238E27FC236}">
                <a16:creationId xmlns:a16="http://schemas.microsoft.com/office/drawing/2014/main" id="{24A49CBD-851F-F000-DD84-ECAD0B697D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23125" y="58340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2585" name="Rectangle 57">
            <a:extLst>
              <a:ext uri="{FF2B5EF4-FFF2-40B4-BE49-F238E27FC236}">
                <a16:creationId xmlns:a16="http://schemas.microsoft.com/office/drawing/2014/main" id="{E35DC50A-88C5-22B1-9D98-637E7B517D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08913" y="583406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2586" name="AutoShape 58">
            <a:extLst>
              <a:ext uri="{FF2B5EF4-FFF2-40B4-BE49-F238E27FC236}">
                <a16:creationId xmlns:a16="http://schemas.microsoft.com/office/drawing/2014/main" id="{6D1C681E-E0E4-E756-FA47-83CE1F83B789}"/>
              </a:ext>
            </a:extLst>
          </p:cNvPr>
          <p:cNvCxnSpPr>
            <a:cxnSpLocks noChangeShapeType="1"/>
            <a:stCxn id="22585" idx="0"/>
            <a:endCxn id="22583" idx="5"/>
          </p:cNvCxnSpPr>
          <p:nvPr/>
        </p:nvCxnSpPr>
        <p:spPr bwMode="auto">
          <a:xfrm flipH="1" flipV="1">
            <a:off x="7743825" y="5540375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7" name="AutoShape 59">
            <a:extLst>
              <a:ext uri="{FF2B5EF4-FFF2-40B4-BE49-F238E27FC236}">
                <a16:creationId xmlns:a16="http://schemas.microsoft.com/office/drawing/2014/main" id="{9105C9E2-6409-61F1-3ECF-8B6FC495881E}"/>
              </a:ext>
            </a:extLst>
          </p:cNvPr>
          <p:cNvCxnSpPr>
            <a:cxnSpLocks noChangeShapeType="1"/>
            <a:stCxn id="22584" idx="0"/>
            <a:endCxn id="22583" idx="3"/>
          </p:cNvCxnSpPr>
          <p:nvPr/>
        </p:nvCxnSpPr>
        <p:spPr bwMode="auto">
          <a:xfrm flipV="1">
            <a:off x="7339013" y="5540375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8" name="Text Box 60">
            <a:extLst>
              <a:ext uri="{FF2B5EF4-FFF2-40B4-BE49-F238E27FC236}">
                <a16:creationId xmlns:a16="http://schemas.microsoft.com/office/drawing/2014/main" id="{B300DD64-44C5-CC52-A72D-3D980A58A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431925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&lt;</a:t>
            </a:r>
          </a:p>
        </p:txBody>
      </p:sp>
      <p:sp>
        <p:nvSpPr>
          <p:cNvPr id="22589" name="Text Box 61">
            <a:extLst>
              <a:ext uri="{FF2B5EF4-FFF2-40B4-BE49-F238E27FC236}">
                <a16:creationId xmlns:a16="http://schemas.microsoft.com/office/drawing/2014/main" id="{00B23377-6B2C-B27E-E901-E300059D4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965325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&gt;</a:t>
            </a:r>
          </a:p>
        </p:txBody>
      </p:sp>
      <p:sp>
        <p:nvSpPr>
          <p:cNvPr id="22590" name="AutoShape 62">
            <a:extLst>
              <a:ext uri="{FF2B5EF4-FFF2-40B4-BE49-F238E27FC236}">
                <a16:creationId xmlns:a16="http://schemas.microsoft.com/office/drawing/2014/main" id="{D12ABC83-558F-A199-C6AF-5FA4D54147EB}"/>
              </a:ext>
            </a:extLst>
          </p:cNvPr>
          <p:cNvSpPr>
            <a:spLocks noChangeArrowheads="1"/>
          </p:cNvSpPr>
          <p:nvPr/>
        </p:nvSpPr>
        <p:spPr bwMode="auto">
          <a:xfrm rot="18601582" flipH="1">
            <a:off x="5442744" y="2439194"/>
            <a:ext cx="1217613" cy="612775"/>
          </a:xfrm>
          <a:prstGeom prst="roundRect">
            <a:avLst>
              <a:gd name="adj" fmla="val 29167"/>
            </a:avLst>
          </a:prstGeom>
          <a:noFill/>
          <a:ln w="1270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63C3207-B2E8-7821-4ED1-57673A54C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62F0F96-F899-D23E-D062-D6955CC00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3886200" cy="4953000"/>
          </a:xfrm>
        </p:spPr>
        <p:txBody>
          <a:bodyPr/>
          <a:lstStyle/>
          <a:p>
            <a:pPr eaLnBrk="1" hangingPunct="1"/>
            <a:r>
              <a:rPr lang="en-US" altLang="en-US" sz="2000"/>
              <a:t>We consider the case where the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to be removed is stored at a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whose children are </a:t>
            </a:r>
            <a:r>
              <a:rPr lang="en-US" altLang="en-US" sz="2000">
                <a:solidFill>
                  <a:srgbClr val="FF0000"/>
                </a:solidFill>
              </a:rPr>
              <a:t>both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FF0066"/>
                </a:solidFill>
              </a:rPr>
              <a:t>internal</a:t>
            </a:r>
          </a:p>
          <a:p>
            <a:pPr lvl="1" eaLnBrk="1" hangingPunct="1"/>
            <a:r>
              <a:rPr lang="en-US" altLang="en-US" sz="1800"/>
              <a:t>we find the internal node </a:t>
            </a:r>
            <a:r>
              <a:rPr lang="en-US" altLang="en-US" sz="1800" b="1" i="1">
                <a:latin typeface="Times New Roman" panose="02020603050405020304" pitchFamily="18" charset="0"/>
              </a:rPr>
              <a:t>w </a:t>
            </a:r>
            <a:r>
              <a:rPr lang="en-US" altLang="en-US" sz="1800"/>
              <a:t>that follows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in an </a:t>
            </a:r>
            <a:r>
              <a:rPr lang="en-US" altLang="en-US" sz="1800">
                <a:solidFill>
                  <a:srgbClr val="FF0066"/>
                </a:solidFill>
              </a:rPr>
              <a:t>inorder</a:t>
            </a:r>
            <a:r>
              <a:rPr lang="en-US" altLang="en-US" sz="1800"/>
              <a:t> traversal (the left-most internal node in the right sub-tree of v)</a:t>
            </a:r>
          </a:p>
          <a:p>
            <a:pPr lvl="1" eaLnBrk="1" hangingPunct="1"/>
            <a:r>
              <a:rPr lang="en-US" altLang="en-US" sz="1800"/>
              <a:t>we copy </a:t>
            </a: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into 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we remove node </a:t>
            </a:r>
            <a:r>
              <a:rPr lang="en-US" altLang="en-US" sz="1800" b="1" i="1">
                <a:latin typeface="Times New Roman" panose="02020603050405020304" pitchFamily="18" charset="0"/>
              </a:rPr>
              <a:t>w </a:t>
            </a:r>
            <a:r>
              <a:rPr lang="en-US" altLang="en-US" sz="1800"/>
              <a:t>and its left child </a:t>
            </a:r>
            <a:r>
              <a:rPr lang="en-US" altLang="en-US" sz="1800" b="1" i="1">
                <a:latin typeface="Times New Roman" panose="02020603050405020304" pitchFamily="18" charset="0"/>
              </a:rPr>
              <a:t>z </a:t>
            </a:r>
            <a:r>
              <a:rPr lang="en-US" altLang="en-US" sz="1800"/>
              <a:t>(which must be a leaf) by means of operation </a:t>
            </a:r>
            <a:r>
              <a:rPr lang="en-US" altLang="en-US" sz="1800">
                <a:solidFill>
                  <a:schemeClr val="tx2"/>
                </a:solidFill>
              </a:rPr>
              <a:t>removeAboveExternal</a:t>
            </a:r>
            <a:r>
              <a:rPr lang="en-US" altLang="en-US" sz="1800"/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/>
              <a:t>)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2000"/>
              <a:t>Example: remove 3</a:t>
            </a:r>
          </a:p>
          <a:p>
            <a:pPr eaLnBrk="1" hangingPunct="1"/>
            <a:endParaRPr lang="en-US" altLang="en-US" sz="1800"/>
          </a:p>
        </p:txBody>
      </p:sp>
      <p:sp>
        <p:nvSpPr>
          <p:cNvPr id="23556" name="Oval 4">
            <a:extLst>
              <a:ext uri="{FF2B5EF4-FFF2-40B4-BE49-F238E27FC236}">
                <a16:creationId xmlns:a16="http://schemas.microsoft.com/office/drawing/2014/main" id="{7EE977CC-356C-1581-A088-5FECD091F83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48400" y="1601788"/>
            <a:ext cx="320675" cy="319087"/>
          </a:xfrm>
          <a:prstGeom prst="ellipse">
            <a:avLst/>
          </a:prstGeom>
          <a:solidFill>
            <a:srgbClr val="FF6600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3</a:t>
            </a: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8BD3C9CA-7A89-CAA9-9736-BEC3A146115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57800" y="1219200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A73C5899-3317-BA6E-6B3E-FB109AB3700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586663" y="1981200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60BB2673-6756-1E01-672A-219CFBC1B05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97700" y="2454275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7DE18423-F497-5A56-BD23-5BAB60A34FB4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7335838" y="30019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61" name="AutoShape 9">
            <a:extLst>
              <a:ext uri="{FF2B5EF4-FFF2-40B4-BE49-F238E27FC236}">
                <a16:creationId xmlns:a16="http://schemas.microsoft.com/office/drawing/2014/main" id="{DA72C0EE-AA43-83A9-1C55-E1DEA783D63C}"/>
              </a:ext>
            </a:extLst>
          </p:cNvPr>
          <p:cNvCxnSpPr>
            <a:cxnSpLocks noChangeShapeType="1"/>
            <a:stCxn id="23556" idx="3"/>
            <a:endCxn id="23558" idx="7"/>
          </p:cNvCxnSpPr>
          <p:nvPr/>
        </p:nvCxnSpPr>
        <p:spPr bwMode="auto">
          <a:xfrm>
            <a:off x="6521450" y="1901825"/>
            <a:ext cx="1112838" cy="9683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AutoShape 10">
            <a:extLst>
              <a:ext uri="{FF2B5EF4-FFF2-40B4-BE49-F238E27FC236}">
                <a16:creationId xmlns:a16="http://schemas.microsoft.com/office/drawing/2014/main" id="{CA8DFEB2-60FE-82ED-2000-08D8E05F9E62}"/>
              </a:ext>
            </a:extLst>
          </p:cNvPr>
          <p:cNvCxnSpPr>
            <a:cxnSpLocks noChangeShapeType="1"/>
            <a:stCxn id="23557" idx="3"/>
            <a:endCxn id="23556" idx="7"/>
          </p:cNvCxnSpPr>
          <p:nvPr/>
        </p:nvCxnSpPr>
        <p:spPr bwMode="auto">
          <a:xfrm>
            <a:off x="5530850" y="1520825"/>
            <a:ext cx="763588" cy="984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AutoShape 11">
            <a:extLst>
              <a:ext uri="{FF2B5EF4-FFF2-40B4-BE49-F238E27FC236}">
                <a16:creationId xmlns:a16="http://schemas.microsoft.com/office/drawing/2014/main" id="{52237699-9D08-C488-455E-21F345D0FA87}"/>
              </a:ext>
            </a:extLst>
          </p:cNvPr>
          <p:cNvCxnSpPr>
            <a:cxnSpLocks noChangeShapeType="1"/>
            <a:stCxn id="23586" idx="0"/>
            <a:endCxn id="23557" idx="5"/>
          </p:cNvCxnSpPr>
          <p:nvPr/>
        </p:nvCxnSpPr>
        <p:spPr bwMode="auto">
          <a:xfrm flipV="1">
            <a:off x="4840288" y="1520825"/>
            <a:ext cx="465137" cy="1158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AutoShape 12">
            <a:extLst>
              <a:ext uri="{FF2B5EF4-FFF2-40B4-BE49-F238E27FC236}">
                <a16:creationId xmlns:a16="http://schemas.microsoft.com/office/drawing/2014/main" id="{389AED8A-CAB8-E5D5-B505-7C6E9E76661B}"/>
              </a:ext>
            </a:extLst>
          </p:cNvPr>
          <p:cNvCxnSpPr>
            <a:cxnSpLocks noChangeShapeType="1"/>
            <a:stCxn id="23573" idx="1"/>
            <a:endCxn id="23559" idx="5"/>
          </p:cNvCxnSpPr>
          <p:nvPr/>
        </p:nvCxnSpPr>
        <p:spPr bwMode="auto">
          <a:xfrm flipV="1">
            <a:off x="6846888" y="2755900"/>
            <a:ext cx="196850" cy="20478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13">
            <a:extLst>
              <a:ext uri="{FF2B5EF4-FFF2-40B4-BE49-F238E27FC236}">
                <a16:creationId xmlns:a16="http://schemas.microsoft.com/office/drawing/2014/main" id="{71F6E43F-B668-05FC-804B-2CA28DEFDF71}"/>
              </a:ext>
            </a:extLst>
          </p:cNvPr>
          <p:cNvCxnSpPr>
            <a:cxnSpLocks noChangeShapeType="1"/>
            <a:stCxn id="23560" idx="0"/>
            <a:endCxn id="23559" idx="3"/>
          </p:cNvCxnSpPr>
          <p:nvPr/>
        </p:nvCxnSpPr>
        <p:spPr bwMode="auto">
          <a:xfrm flipH="1" flipV="1">
            <a:off x="7270750" y="2755900"/>
            <a:ext cx="180975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AutoShape 14">
            <a:extLst>
              <a:ext uri="{FF2B5EF4-FFF2-40B4-BE49-F238E27FC236}">
                <a16:creationId xmlns:a16="http://schemas.microsoft.com/office/drawing/2014/main" id="{12E10FDF-D298-227E-9D9E-A3FB87A4EA49}"/>
              </a:ext>
            </a:extLst>
          </p:cNvPr>
          <p:cNvCxnSpPr>
            <a:cxnSpLocks noChangeShapeType="1"/>
            <a:stCxn id="23568" idx="7"/>
            <a:endCxn id="23558" idx="3"/>
          </p:cNvCxnSpPr>
          <p:nvPr/>
        </p:nvCxnSpPr>
        <p:spPr bwMode="auto">
          <a:xfrm flipH="1" flipV="1">
            <a:off x="7859713" y="2282825"/>
            <a:ext cx="361950" cy="207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7" name="AutoShape 15">
            <a:extLst>
              <a:ext uri="{FF2B5EF4-FFF2-40B4-BE49-F238E27FC236}">
                <a16:creationId xmlns:a16="http://schemas.microsoft.com/office/drawing/2014/main" id="{923D6FE4-5F7C-E8E7-8CB6-CFDB896E42B7}"/>
              </a:ext>
            </a:extLst>
          </p:cNvPr>
          <p:cNvCxnSpPr>
            <a:cxnSpLocks noChangeShapeType="1"/>
            <a:stCxn id="23559" idx="1"/>
            <a:endCxn id="23558" idx="5"/>
          </p:cNvCxnSpPr>
          <p:nvPr/>
        </p:nvCxnSpPr>
        <p:spPr bwMode="auto">
          <a:xfrm flipV="1">
            <a:off x="7270750" y="2282825"/>
            <a:ext cx="363538" cy="18891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8" name="Oval 16">
            <a:extLst>
              <a:ext uri="{FF2B5EF4-FFF2-40B4-BE49-F238E27FC236}">
                <a16:creationId xmlns:a16="http://schemas.microsoft.com/office/drawing/2014/main" id="{04F7A4D6-E280-453B-4F15-1AA08121E9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174038" y="24542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3569" name="Rectangle 17">
            <a:extLst>
              <a:ext uri="{FF2B5EF4-FFF2-40B4-BE49-F238E27FC236}">
                <a16:creationId xmlns:a16="http://schemas.microsoft.com/office/drawing/2014/main" id="{D4577C59-67A7-D5EB-DEA5-66E42E1F4062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512175" y="30019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570" name="Rectangle 18">
            <a:extLst>
              <a:ext uri="{FF2B5EF4-FFF2-40B4-BE49-F238E27FC236}">
                <a16:creationId xmlns:a16="http://schemas.microsoft.com/office/drawing/2014/main" id="{D11B7D22-A5FF-8563-3B87-4E094F347730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7924800" y="30019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71" name="AutoShape 19">
            <a:extLst>
              <a:ext uri="{FF2B5EF4-FFF2-40B4-BE49-F238E27FC236}">
                <a16:creationId xmlns:a16="http://schemas.microsoft.com/office/drawing/2014/main" id="{7F29601B-1167-F91B-CC85-8190575FACED}"/>
              </a:ext>
            </a:extLst>
          </p:cNvPr>
          <p:cNvCxnSpPr>
            <a:cxnSpLocks noChangeShapeType="1"/>
            <a:stCxn id="23570" idx="0"/>
            <a:endCxn id="23568" idx="5"/>
          </p:cNvCxnSpPr>
          <p:nvPr/>
        </p:nvCxnSpPr>
        <p:spPr bwMode="auto">
          <a:xfrm flipV="1">
            <a:off x="8040688" y="2736850"/>
            <a:ext cx="18097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AutoShape 20">
            <a:extLst>
              <a:ext uri="{FF2B5EF4-FFF2-40B4-BE49-F238E27FC236}">
                <a16:creationId xmlns:a16="http://schemas.microsoft.com/office/drawing/2014/main" id="{FFE99298-4309-D9D9-CB77-85F20600162D}"/>
              </a:ext>
            </a:extLst>
          </p:cNvPr>
          <p:cNvCxnSpPr>
            <a:cxnSpLocks noChangeShapeType="1"/>
            <a:stCxn id="23569" idx="0"/>
            <a:endCxn id="23568" idx="3"/>
          </p:cNvCxnSpPr>
          <p:nvPr/>
        </p:nvCxnSpPr>
        <p:spPr bwMode="auto">
          <a:xfrm flipH="1" flipV="1">
            <a:off x="8447088" y="2736850"/>
            <a:ext cx="18097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3" name="Oval 21">
            <a:extLst>
              <a:ext uri="{FF2B5EF4-FFF2-40B4-BE49-F238E27FC236}">
                <a16:creationId xmlns:a16="http://schemas.microsoft.com/office/drawing/2014/main" id="{2B38B2D5-B6E0-978B-91D9-5E388E8D98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73838" y="2943225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3574" name="Rectangle 22">
            <a:extLst>
              <a:ext uri="{FF2B5EF4-FFF2-40B4-BE49-F238E27FC236}">
                <a16:creationId xmlns:a16="http://schemas.microsoft.com/office/drawing/2014/main" id="{C5919E86-9931-3372-885B-13D4AD2AA83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911975" y="351948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575" name="Rectangle 23">
            <a:extLst>
              <a:ext uri="{FF2B5EF4-FFF2-40B4-BE49-F238E27FC236}">
                <a16:creationId xmlns:a16="http://schemas.microsoft.com/office/drawing/2014/main" id="{13C9466E-DC34-038E-838D-864AFFF34CAE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324600" y="3519488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76" name="AutoShape 24">
            <a:extLst>
              <a:ext uri="{FF2B5EF4-FFF2-40B4-BE49-F238E27FC236}">
                <a16:creationId xmlns:a16="http://schemas.microsoft.com/office/drawing/2014/main" id="{BFAC98EC-C733-3C22-8118-04D2B5BDBAD2}"/>
              </a:ext>
            </a:extLst>
          </p:cNvPr>
          <p:cNvCxnSpPr>
            <a:cxnSpLocks noChangeShapeType="1"/>
            <a:stCxn id="23575" idx="0"/>
            <a:endCxn id="23573" idx="5"/>
          </p:cNvCxnSpPr>
          <p:nvPr/>
        </p:nvCxnSpPr>
        <p:spPr bwMode="auto">
          <a:xfrm flipV="1">
            <a:off x="6440488" y="3244850"/>
            <a:ext cx="179387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7" name="AutoShape 25">
            <a:extLst>
              <a:ext uri="{FF2B5EF4-FFF2-40B4-BE49-F238E27FC236}">
                <a16:creationId xmlns:a16="http://schemas.microsoft.com/office/drawing/2014/main" id="{2FA6F607-C503-57EB-FC90-81567E3D30E2}"/>
              </a:ext>
            </a:extLst>
          </p:cNvPr>
          <p:cNvCxnSpPr>
            <a:cxnSpLocks noChangeShapeType="1"/>
            <a:stCxn id="23574" idx="0"/>
            <a:endCxn id="23573" idx="3"/>
          </p:cNvCxnSpPr>
          <p:nvPr/>
        </p:nvCxnSpPr>
        <p:spPr bwMode="auto">
          <a:xfrm flipH="1" flipV="1">
            <a:off x="6846888" y="3244850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8" name="Text Box 26">
            <a:extLst>
              <a:ext uri="{FF2B5EF4-FFF2-40B4-BE49-F238E27FC236}">
                <a16:creationId xmlns:a16="http://schemas.microsoft.com/office/drawing/2014/main" id="{E19054C2-9A5F-5CDD-C49B-9DADDD0A0E8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477000" y="1311275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v</a:t>
            </a:r>
          </a:p>
        </p:txBody>
      </p:sp>
      <p:sp>
        <p:nvSpPr>
          <p:cNvPr id="23579" name="Text Box 27">
            <a:extLst>
              <a:ext uri="{FF2B5EF4-FFF2-40B4-BE49-F238E27FC236}">
                <a16:creationId xmlns:a16="http://schemas.microsoft.com/office/drawing/2014/main" id="{4CFA005E-B7BA-311D-3BF2-6B8B14217D2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286500" y="270827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w</a:t>
            </a:r>
          </a:p>
        </p:txBody>
      </p:sp>
      <p:sp>
        <p:nvSpPr>
          <p:cNvPr id="23580" name="Text Box 28">
            <a:extLst>
              <a:ext uri="{FF2B5EF4-FFF2-40B4-BE49-F238E27FC236}">
                <a16:creationId xmlns:a16="http://schemas.microsoft.com/office/drawing/2014/main" id="{B814C6C7-34F1-4BC0-3790-B4B3BD99820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032500" y="3216275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z</a:t>
            </a:r>
          </a:p>
        </p:txBody>
      </p:sp>
      <p:sp>
        <p:nvSpPr>
          <p:cNvPr id="23581" name="Oval 29">
            <a:extLst>
              <a:ext uri="{FF2B5EF4-FFF2-40B4-BE49-F238E27FC236}">
                <a16:creationId xmlns:a16="http://schemas.microsoft.com/office/drawing/2014/main" id="{EE209BD9-25EF-65A7-2060-1FD79C1E92B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486400" y="1981200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3582" name="Rectangle 30">
            <a:extLst>
              <a:ext uri="{FF2B5EF4-FFF2-40B4-BE49-F238E27FC236}">
                <a16:creationId xmlns:a16="http://schemas.microsoft.com/office/drawing/2014/main" id="{3E394A43-EDEA-17CA-1478-D9D6A8E59CB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859463" y="2498725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583" name="Rectangle 31">
            <a:extLst>
              <a:ext uri="{FF2B5EF4-FFF2-40B4-BE49-F238E27FC236}">
                <a16:creationId xmlns:a16="http://schemas.microsoft.com/office/drawing/2014/main" id="{51960D4E-0099-5777-814C-2F5EBF0594A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202238" y="2498725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84" name="AutoShape 32">
            <a:extLst>
              <a:ext uri="{FF2B5EF4-FFF2-40B4-BE49-F238E27FC236}">
                <a16:creationId xmlns:a16="http://schemas.microsoft.com/office/drawing/2014/main" id="{BCB6611B-96C0-E9EC-4D6B-9865F164CDB3}"/>
              </a:ext>
            </a:extLst>
          </p:cNvPr>
          <p:cNvCxnSpPr>
            <a:cxnSpLocks noChangeShapeType="1"/>
            <a:stCxn id="23583" idx="0"/>
            <a:endCxn id="23581" idx="5"/>
          </p:cNvCxnSpPr>
          <p:nvPr/>
        </p:nvCxnSpPr>
        <p:spPr bwMode="auto">
          <a:xfrm flipV="1">
            <a:off x="5318125" y="2282825"/>
            <a:ext cx="2159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85" name="AutoShape 33">
            <a:extLst>
              <a:ext uri="{FF2B5EF4-FFF2-40B4-BE49-F238E27FC236}">
                <a16:creationId xmlns:a16="http://schemas.microsoft.com/office/drawing/2014/main" id="{0518493A-576D-E6DA-9E3E-B54E1A138D68}"/>
              </a:ext>
            </a:extLst>
          </p:cNvPr>
          <p:cNvCxnSpPr>
            <a:cxnSpLocks noChangeShapeType="1"/>
            <a:stCxn id="23582" idx="0"/>
            <a:endCxn id="23581" idx="3"/>
          </p:cNvCxnSpPr>
          <p:nvPr/>
        </p:nvCxnSpPr>
        <p:spPr bwMode="auto">
          <a:xfrm flipH="1" flipV="1">
            <a:off x="5759450" y="2282825"/>
            <a:ext cx="2159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6" name="Rectangle 34">
            <a:extLst>
              <a:ext uri="{FF2B5EF4-FFF2-40B4-BE49-F238E27FC236}">
                <a16:creationId xmlns:a16="http://schemas.microsoft.com/office/drawing/2014/main" id="{893C378A-277F-01D3-A791-4F198FE3E261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4724400" y="16462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87" name="AutoShape 35">
            <a:extLst>
              <a:ext uri="{FF2B5EF4-FFF2-40B4-BE49-F238E27FC236}">
                <a16:creationId xmlns:a16="http://schemas.microsoft.com/office/drawing/2014/main" id="{B69434F2-1D1B-EB43-5BC2-3BA62B563D49}"/>
              </a:ext>
            </a:extLst>
          </p:cNvPr>
          <p:cNvCxnSpPr>
            <a:cxnSpLocks noChangeShapeType="1"/>
            <a:stCxn id="23581" idx="1"/>
            <a:endCxn id="23556" idx="5"/>
          </p:cNvCxnSpPr>
          <p:nvPr/>
        </p:nvCxnSpPr>
        <p:spPr bwMode="auto">
          <a:xfrm flipV="1">
            <a:off x="5759450" y="1901825"/>
            <a:ext cx="534988" cy="9683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8" name="Oval 36">
            <a:extLst>
              <a:ext uri="{FF2B5EF4-FFF2-40B4-BE49-F238E27FC236}">
                <a16:creationId xmlns:a16="http://schemas.microsoft.com/office/drawing/2014/main" id="{1193A3F7-31A7-C991-8B41-B28E6661B43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24600" y="4725988"/>
            <a:ext cx="320675" cy="319087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3589" name="Oval 37">
            <a:extLst>
              <a:ext uri="{FF2B5EF4-FFF2-40B4-BE49-F238E27FC236}">
                <a16:creationId xmlns:a16="http://schemas.microsoft.com/office/drawing/2014/main" id="{85D2350B-1C55-8F80-EEF3-CE297BAE67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34000" y="4343400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3590" name="Oval 38">
            <a:extLst>
              <a:ext uri="{FF2B5EF4-FFF2-40B4-BE49-F238E27FC236}">
                <a16:creationId xmlns:a16="http://schemas.microsoft.com/office/drawing/2014/main" id="{A160358D-2633-C0DA-0AAF-582E175463E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62863" y="5075238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23591" name="Oval 39">
            <a:extLst>
              <a:ext uri="{FF2B5EF4-FFF2-40B4-BE49-F238E27FC236}">
                <a16:creationId xmlns:a16="http://schemas.microsoft.com/office/drawing/2014/main" id="{9565903F-22A5-9F42-575C-F987150AEE0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73900" y="5548313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3592" name="Rectangle 40">
            <a:extLst>
              <a:ext uri="{FF2B5EF4-FFF2-40B4-BE49-F238E27FC236}">
                <a16:creationId xmlns:a16="http://schemas.microsoft.com/office/drawing/2014/main" id="{82CEE8E2-0CBC-B2CE-D66B-A30B35812DB2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7412038" y="6096000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593" name="AutoShape 41">
            <a:extLst>
              <a:ext uri="{FF2B5EF4-FFF2-40B4-BE49-F238E27FC236}">
                <a16:creationId xmlns:a16="http://schemas.microsoft.com/office/drawing/2014/main" id="{2B31980B-1195-D63F-8B06-EBB20D33BF58}"/>
              </a:ext>
            </a:extLst>
          </p:cNvPr>
          <p:cNvCxnSpPr>
            <a:cxnSpLocks noChangeShapeType="1"/>
            <a:stCxn id="23588" idx="3"/>
            <a:endCxn id="23590" idx="7"/>
          </p:cNvCxnSpPr>
          <p:nvPr/>
        </p:nvCxnSpPr>
        <p:spPr bwMode="auto">
          <a:xfrm>
            <a:off x="6597650" y="5026025"/>
            <a:ext cx="1112838" cy="85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4" name="AutoShape 42">
            <a:extLst>
              <a:ext uri="{FF2B5EF4-FFF2-40B4-BE49-F238E27FC236}">
                <a16:creationId xmlns:a16="http://schemas.microsoft.com/office/drawing/2014/main" id="{2F0F4D29-F025-6947-8791-F92F15238FB7}"/>
              </a:ext>
            </a:extLst>
          </p:cNvPr>
          <p:cNvCxnSpPr>
            <a:cxnSpLocks noChangeShapeType="1"/>
            <a:stCxn id="23589" idx="3"/>
            <a:endCxn id="23588" idx="7"/>
          </p:cNvCxnSpPr>
          <p:nvPr/>
        </p:nvCxnSpPr>
        <p:spPr bwMode="auto">
          <a:xfrm>
            <a:off x="5607050" y="4625975"/>
            <a:ext cx="763588" cy="117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5" name="AutoShape 43">
            <a:extLst>
              <a:ext uri="{FF2B5EF4-FFF2-40B4-BE49-F238E27FC236}">
                <a16:creationId xmlns:a16="http://schemas.microsoft.com/office/drawing/2014/main" id="{D011221C-B3E6-6991-0768-77790209FA72}"/>
              </a:ext>
            </a:extLst>
          </p:cNvPr>
          <p:cNvCxnSpPr>
            <a:cxnSpLocks noChangeShapeType="1"/>
            <a:stCxn id="23612" idx="0"/>
            <a:endCxn id="23589" idx="5"/>
          </p:cNvCxnSpPr>
          <p:nvPr/>
        </p:nvCxnSpPr>
        <p:spPr bwMode="auto">
          <a:xfrm flipV="1">
            <a:off x="4916488" y="4625975"/>
            <a:ext cx="465137" cy="134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6" name="AutoShape 44">
            <a:extLst>
              <a:ext uri="{FF2B5EF4-FFF2-40B4-BE49-F238E27FC236}">
                <a16:creationId xmlns:a16="http://schemas.microsoft.com/office/drawing/2014/main" id="{F7037670-C3AF-4BB3-4ECB-7A32B1FD2761}"/>
              </a:ext>
            </a:extLst>
          </p:cNvPr>
          <p:cNvCxnSpPr>
            <a:cxnSpLocks noChangeShapeType="1"/>
            <a:stCxn id="23605" idx="0"/>
            <a:endCxn id="23591" idx="5"/>
          </p:cNvCxnSpPr>
          <p:nvPr/>
        </p:nvCxnSpPr>
        <p:spPr bwMode="auto">
          <a:xfrm flipV="1">
            <a:off x="6875463" y="5849938"/>
            <a:ext cx="244475" cy="223837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7" name="AutoShape 45">
            <a:extLst>
              <a:ext uri="{FF2B5EF4-FFF2-40B4-BE49-F238E27FC236}">
                <a16:creationId xmlns:a16="http://schemas.microsoft.com/office/drawing/2014/main" id="{8DE5BEBC-CF12-CA57-EBE6-C63C1C3B0A25}"/>
              </a:ext>
            </a:extLst>
          </p:cNvPr>
          <p:cNvCxnSpPr>
            <a:cxnSpLocks noChangeShapeType="1"/>
            <a:stCxn id="23592" idx="0"/>
            <a:endCxn id="23591" idx="3"/>
          </p:cNvCxnSpPr>
          <p:nvPr/>
        </p:nvCxnSpPr>
        <p:spPr bwMode="auto">
          <a:xfrm flipH="1" flipV="1">
            <a:off x="7346950" y="5849938"/>
            <a:ext cx="180975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8" name="AutoShape 46">
            <a:extLst>
              <a:ext uri="{FF2B5EF4-FFF2-40B4-BE49-F238E27FC236}">
                <a16:creationId xmlns:a16="http://schemas.microsoft.com/office/drawing/2014/main" id="{B8DD4B05-4F5A-881A-3667-53A8B17C8E0A}"/>
              </a:ext>
            </a:extLst>
          </p:cNvPr>
          <p:cNvCxnSpPr>
            <a:cxnSpLocks noChangeShapeType="1"/>
            <a:stCxn id="23600" idx="7"/>
            <a:endCxn id="23590" idx="3"/>
          </p:cNvCxnSpPr>
          <p:nvPr/>
        </p:nvCxnSpPr>
        <p:spPr bwMode="auto">
          <a:xfrm flipH="1" flipV="1">
            <a:off x="7935913" y="5357813"/>
            <a:ext cx="361950" cy="2270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9" name="AutoShape 47">
            <a:extLst>
              <a:ext uri="{FF2B5EF4-FFF2-40B4-BE49-F238E27FC236}">
                <a16:creationId xmlns:a16="http://schemas.microsoft.com/office/drawing/2014/main" id="{1AC06DA3-4FD7-F11A-FB11-71C3716BD4B6}"/>
              </a:ext>
            </a:extLst>
          </p:cNvPr>
          <p:cNvCxnSpPr>
            <a:cxnSpLocks noChangeShapeType="1"/>
            <a:stCxn id="23591" idx="1"/>
            <a:endCxn id="23590" idx="5"/>
          </p:cNvCxnSpPr>
          <p:nvPr/>
        </p:nvCxnSpPr>
        <p:spPr bwMode="auto">
          <a:xfrm flipV="1">
            <a:off x="7346950" y="5357813"/>
            <a:ext cx="363538" cy="207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00" name="Oval 48">
            <a:extLst>
              <a:ext uri="{FF2B5EF4-FFF2-40B4-BE49-F238E27FC236}">
                <a16:creationId xmlns:a16="http://schemas.microsoft.com/office/drawing/2014/main" id="{E92B1020-619E-07B8-9DB3-0B4D62BD46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250238" y="5548313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3601" name="Rectangle 49">
            <a:extLst>
              <a:ext uri="{FF2B5EF4-FFF2-40B4-BE49-F238E27FC236}">
                <a16:creationId xmlns:a16="http://schemas.microsoft.com/office/drawing/2014/main" id="{C7D9F198-D650-351D-B4F5-50057DEF6022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588375" y="6096000"/>
            <a:ext cx="230188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602" name="Rectangle 50">
            <a:extLst>
              <a:ext uri="{FF2B5EF4-FFF2-40B4-BE49-F238E27FC236}">
                <a16:creationId xmlns:a16="http://schemas.microsoft.com/office/drawing/2014/main" id="{6D9C83F7-7F47-C650-7E00-B6CB31FA12F0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8001000" y="6096000"/>
            <a:ext cx="230188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603" name="AutoShape 51">
            <a:extLst>
              <a:ext uri="{FF2B5EF4-FFF2-40B4-BE49-F238E27FC236}">
                <a16:creationId xmlns:a16="http://schemas.microsoft.com/office/drawing/2014/main" id="{504AC5FF-855B-E331-F486-02BD36CDBB2A}"/>
              </a:ext>
            </a:extLst>
          </p:cNvPr>
          <p:cNvCxnSpPr>
            <a:cxnSpLocks noChangeShapeType="1"/>
            <a:stCxn id="23602" idx="0"/>
            <a:endCxn id="23600" idx="5"/>
          </p:cNvCxnSpPr>
          <p:nvPr/>
        </p:nvCxnSpPr>
        <p:spPr bwMode="auto">
          <a:xfrm flipV="1">
            <a:off x="8116888" y="5830888"/>
            <a:ext cx="180975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4" name="AutoShape 52">
            <a:extLst>
              <a:ext uri="{FF2B5EF4-FFF2-40B4-BE49-F238E27FC236}">
                <a16:creationId xmlns:a16="http://schemas.microsoft.com/office/drawing/2014/main" id="{0A73BCA3-7C0B-8BA3-F5E9-6C1FAACF5931}"/>
              </a:ext>
            </a:extLst>
          </p:cNvPr>
          <p:cNvCxnSpPr>
            <a:cxnSpLocks noChangeShapeType="1"/>
            <a:stCxn id="23601" idx="0"/>
            <a:endCxn id="23600" idx="3"/>
          </p:cNvCxnSpPr>
          <p:nvPr/>
        </p:nvCxnSpPr>
        <p:spPr bwMode="auto">
          <a:xfrm flipH="1" flipV="1">
            <a:off x="8523288" y="5830888"/>
            <a:ext cx="180975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05" name="Rectangle 53">
            <a:extLst>
              <a:ext uri="{FF2B5EF4-FFF2-40B4-BE49-F238E27FC236}">
                <a16:creationId xmlns:a16="http://schemas.microsoft.com/office/drawing/2014/main" id="{59D4726B-1B9C-728E-3534-4B0F67C9F9EC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759575" y="6102350"/>
            <a:ext cx="231775" cy="230188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606" name="Text Box 54">
            <a:extLst>
              <a:ext uri="{FF2B5EF4-FFF2-40B4-BE49-F238E27FC236}">
                <a16:creationId xmlns:a16="http://schemas.microsoft.com/office/drawing/2014/main" id="{6DC9156C-1659-952A-A15C-14B0125E3A3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553200" y="4419600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v</a:t>
            </a:r>
          </a:p>
        </p:txBody>
      </p:sp>
      <p:sp>
        <p:nvSpPr>
          <p:cNvPr id="23607" name="Oval 55">
            <a:extLst>
              <a:ext uri="{FF2B5EF4-FFF2-40B4-BE49-F238E27FC236}">
                <a16:creationId xmlns:a16="http://schemas.microsoft.com/office/drawing/2014/main" id="{136950D8-BBA6-5FF0-E2A6-8D60A769CE1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62600" y="5075238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3608" name="Rectangle 56">
            <a:extLst>
              <a:ext uri="{FF2B5EF4-FFF2-40B4-BE49-F238E27FC236}">
                <a16:creationId xmlns:a16="http://schemas.microsoft.com/office/drawing/2014/main" id="{1B6CDBB1-850D-9BB6-8259-3F533393CC9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935663" y="55927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609" name="Rectangle 57">
            <a:extLst>
              <a:ext uri="{FF2B5EF4-FFF2-40B4-BE49-F238E27FC236}">
                <a16:creationId xmlns:a16="http://schemas.microsoft.com/office/drawing/2014/main" id="{114917F5-7B32-6800-03F7-C207866A542D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278438" y="55927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610" name="AutoShape 58">
            <a:extLst>
              <a:ext uri="{FF2B5EF4-FFF2-40B4-BE49-F238E27FC236}">
                <a16:creationId xmlns:a16="http://schemas.microsoft.com/office/drawing/2014/main" id="{62804EBE-8286-3F7B-84ED-CF3CB385F09E}"/>
              </a:ext>
            </a:extLst>
          </p:cNvPr>
          <p:cNvCxnSpPr>
            <a:cxnSpLocks noChangeShapeType="1"/>
            <a:stCxn id="23609" idx="0"/>
            <a:endCxn id="23607" idx="5"/>
          </p:cNvCxnSpPr>
          <p:nvPr/>
        </p:nvCxnSpPr>
        <p:spPr bwMode="auto">
          <a:xfrm flipV="1">
            <a:off x="5394325" y="5357813"/>
            <a:ext cx="21590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1" name="AutoShape 59">
            <a:extLst>
              <a:ext uri="{FF2B5EF4-FFF2-40B4-BE49-F238E27FC236}">
                <a16:creationId xmlns:a16="http://schemas.microsoft.com/office/drawing/2014/main" id="{2ED62BDC-118F-0B9B-38A3-4F3C8297ABA9}"/>
              </a:ext>
            </a:extLst>
          </p:cNvPr>
          <p:cNvCxnSpPr>
            <a:cxnSpLocks noChangeShapeType="1"/>
            <a:stCxn id="23608" idx="0"/>
            <a:endCxn id="23607" idx="3"/>
          </p:cNvCxnSpPr>
          <p:nvPr/>
        </p:nvCxnSpPr>
        <p:spPr bwMode="auto">
          <a:xfrm flipH="1" flipV="1">
            <a:off x="5835650" y="5357813"/>
            <a:ext cx="21590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2" name="Rectangle 60">
            <a:extLst>
              <a:ext uri="{FF2B5EF4-FFF2-40B4-BE49-F238E27FC236}">
                <a16:creationId xmlns:a16="http://schemas.microsoft.com/office/drawing/2014/main" id="{1CEBD1D7-59F2-D2E7-E2A0-2F80E0A18F9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4800600" y="47704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3613" name="AutoShape 61">
            <a:extLst>
              <a:ext uri="{FF2B5EF4-FFF2-40B4-BE49-F238E27FC236}">
                <a16:creationId xmlns:a16="http://schemas.microsoft.com/office/drawing/2014/main" id="{02DF9176-484C-2DF8-3752-4BB9CE91E466}"/>
              </a:ext>
            </a:extLst>
          </p:cNvPr>
          <p:cNvCxnSpPr>
            <a:cxnSpLocks noChangeShapeType="1"/>
            <a:stCxn id="23607" idx="1"/>
            <a:endCxn id="23588" idx="5"/>
          </p:cNvCxnSpPr>
          <p:nvPr/>
        </p:nvCxnSpPr>
        <p:spPr bwMode="auto">
          <a:xfrm flipV="1">
            <a:off x="5835650" y="5026025"/>
            <a:ext cx="534988" cy="85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4" name="AutoShape 62">
            <a:extLst>
              <a:ext uri="{FF2B5EF4-FFF2-40B4-BE49-F238E27FC236}">
                <a16:creationId xmlns:a16="http://schemas.microsoft.com/office/drawing/2014/main" id="{E8E25E5B-4BA6-62B9-819C-3BA87D36E39D}"/>
              </a:ext>
            </a:extLst>
          </p:cNvPr>
          <p:cNvSpPr>
            <a:spLocks noChangeArrowheads="1"/>
          </p:cNvSpPr>
          <p:nvPr/>
        </p:nvSpPr>
        <p:spPr bwMode="auto">
          <a:xfrm rot="18050680" flipH="1">
            <a:off x="5938044" y="2934494"/>
            <a:ext cx="1103312" cy="736600"/>
          </a:xfrm>
          <a:prstGeom prst="roundRect">
            <a:avLst>
              <a:gd name="adj" fmla="val 29167"/>
            </a:avLst>
          </a:prstGeom>
          <a:noFill/>
          <a:ln w="1270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A42087B-0631-208E-0213-4A93E9CC8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Performance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99A2875-86D2-0A03-6BC4-4B4F2CDB7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4114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Consider a dictionary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implemented by means of a binary search tree of </a:t>
            </a:r>
            <a:r>
              <a:rPr lang="en-US" altLang="en-US" sz="2000">
                <a:solidFill>
                  <a:srgbClr val="FF0066"/>
                </a:solidFill>
              </a:rPr>
              <a:t>height 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h</a:t>
            </a:r>
            <a:endParaRPr lang="en-US" altLang="en-US" sz="2000">
              <a:solidFill>
                <a:srgbClr val="FF0066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space used is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methods </a:t>
            </a:r>
            <a:r>
              <a:rPr lang="en-US" altLang="en-US" sz="1800">
                <a:solidFill>
                  <a:schemeClr val="tx2"/>
                </a:solidFill>
              </a:rPr>
              <a:t>findElement 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chemeClr val="tx2"/>
                </a:solidFill>
              </a:rPr>
              <a:t>removeElement</a:t>
            </a:r>
            <a:r>
              <a:rPr lang="en-US" altLang="en-US" sz="1800"/>
              <a:t> take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h</a:t>
            </a:r>
            <a:r>
              <a:rPr lang="en-US" altLang="en-US" sz="2000"/>
              <a:t>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in the worst case and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in the best case</a:t>
            </a:r>
          </a:p>
        </p:txBody>
      </p:sp>
      <p:grpSp>
        <p:nvGrpSpPr>
          <p:cNvPr id="24580" name="Group 4">
            <a:extLst>
              <a:ext uri="{FF2B5EF4-FFF2-40B4-BE49-F238E27FC236}">
                <a16:creationId xmlns:a16="http://schemas.microsoft.com/office/drawing/2014/main" id="{B5126516-8A71-3F98-0856-2CD4B1ECD18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447800"/>
            <a:ext cx="3067050" cy="2120900"/>
            <a:chOff x="2938" y="960"/>
            <a:chExt cx="2258" cy="1562"/>
          </a:xfrm>
        </p:grpSpPr>
        <p:sp>
          <p:nvSpPr>
            <p:cNvPr id="24612" name="Oval 5">
              <a:extLst>
                <a:ext uri="{FF2B5EF4-FFF2-40B4-BE49-F238E27FC236}">
                  <a16:creationId xmlns:a16="http://schemas.microsoft.com/office/drawing/2014/main" id="{259857A5-A2CE-DA8B-AFF2-FF492A1540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cxnSp>
          <p:nvCxnSpPr>
            <p:cNvPr id="24613" name="AutoShape 6">
              <a:extLst>
                <a:ext uri="{FF2B5EF4-FFF2-40B4-BE49-F238E27FC236}">
                  <a16:creationId xmlns:a16="http://schemas.microsoft.com/office/drawing/2014/main" id="{B6648877-C5C4-FB25-529D-D4CA779AE2EA}"/>
                </a:ext>
              </a:extLst>
            </p:cNvPr>
            <p:cNvCxnSpPr>
              <a:cxnSpLocks noChangeShapeType="1"/>
              <a:stCxn id="24630" idx="3"/>
              <a:endCxn id="24632" idx="7"/>
            </p:cNvCxnSpPr>
            <p:nvPr/>
          </p:nvCxnSpPr>
          <p:spPr bwMode="auto">
            <a:xfrm>
              <a:off x="3714" y="1420"/>
              <a:ext cx="281" cy="13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4" name="AutoShape 7">
              <a:extLst>
                <a:ext uri="{FF2B5EF4-FFF2-40B4-BE49-F238E27FC236}">
                  <a16:creationId xmlns:a16="http://schemas.microsoft.com/office/drawing/2014/main" id="{2887B9EB-0945-838B-D614-C6D1710575B5}"/>
                </a:ext>
              </a:extLst>
            </p:cNvPr>
            <p:cNvCxnSpPr>
              <a:cxnSpLocks noChangeShapeType="1"/>
              <a:stCxn id="24612" idx="3"/>
              <a:endCxn id="24630" idx="7"/>
            </p:cNvCxnSpPr>
            <p:nvPr/>
          </p:nvCxnSpPr>
          <p:spPr bwMode="auto">
            <a:xfrm>
              <a:off x="3292" y="1138"/>
              <a:ext cx="279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5" name="AutoShape 8">
              <a:extLst>
                <a:ext uri="{FF2B5EF4-FFF2-40B4-BE49-F238E27FC236}">
                  <a16:creationId xmlns:a16="http://schemas.microsoft.com/office/drawing/2014/main" id="{D18C82E5-39E0-CE49-8931-51D6B2F926BD}"/>
                </a:ext>
              </a:extLst>
            </p:cNvPr>
            <p:cNvCxnSpPr>
              <a:cxnSpLocks noChangeShapeType="1"/>
              <a:stCxn id="24631" idx="0"/>
              <a:endCxn id="24612" idx="5"/>
            </p:cNvCxnSpPr>
            <p:nvPr/>
          </p:nvCxnSpPr>
          <p:spPr bwMode="auto">
            <a:xfrm flipV="1">
              <a:off x="3011" y="1138"/>
              <a:ext cx="139" cy="12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6" name="AutoShape 9">
              <a:extLst>
                <a:ext uri="{FF2B5EF4-FFF2-40B4-BE49-F238E27FC236}">
                  <a16:creationId xmlns:a16="http://schemas.microsoft.com/office/drawing/2014/main" id="{F27BEBA1-D6F0-6649-4EC6-2EF1FA0B7BE3}"/>
                </a:ext>
              </a:extLst>
            </p:cNvPr>
            <p:cNvCxnSpPr>
              <a:cxnSpLocks noChangeShapeType="1"/>
              <a:stCxn id="24637" idx="7"/>
              <a:endCxn id="24628" idx="3"/>
            </p:cNvCxnSpPr>
            <p:nvPr/>
          </p:nvCxnSpPr>
          <p:spPr bwMode="auto">
            <a:xfrm flipH="1" flipV="1">
              <a:off x="4559" y="1988"/>
              <a:ext cx="281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7" name="AutoShape 10">
              <a:extLst>
                <a:ext uri="{FF2B5EF4-FFF2-40B4-BE49-F238E27FC236}">
                  <a16:creationId xmlns:a16="http://schemas.microsoft.com/office/drawing/2014/main" id="{BB8D8BD6-8149-57E8-486E-AE7FF510415F}"/>
                </a:ext>
              </a:extLst>
            </p:cNvPr>
            <p:cNvCxnSpPr>
              <a:cxnSpLocks noChangeShapeType="1"/>
              <a:stCxn id="24636" idx="0"/>
              <a:endCxn id="24628" idx="5"/>
            </p:cNvCxnSpPr>
            <p:nvPr/>
          </p:nvCxnSpPr>
          <p:spPr bwMode="auto">
            <a:xfrm flipV="1">
              <a:off x="4277" y="1988"/>
              <a:ext cx="139" cy="14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8" name="AutoShape 11">
              <a:extLst>
                <a:ext uri="{FF2B5EF4-FFF2-40B4-BE49-F238E27FC236}">
                  <a16:creationId xmlns:a16="http://schemas.microsoft.com/office/drawing/2014/main" id="{1A977AEA-5C1F-86D9-BA41-333AFB80F1A2}"/>
                </a:ext>
              </a:extLst>
            </p:cNvPr>
            <p:cNvCxnSpPr>
              <a:cxnSpLocks noChangeShapeType="1"/>
              <a:stCxn id="24629" idx="0"/>
              <a:endCxn id="24632" idx="5"/>
            </p:cNvCxnSpPr>
            <p:nvPr/>
          </p:nvCxnSpPr>
          <p:spPr bwMode="auto">
            <a:xfrm flipV="1">
              <a:off x="3855" y="1705"/>
              <a:ext cx="140" cy="1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9" name="AutoShape 12">
              <a:extLst>
                <a:ext uri="{FF2B5EF4-FFF2-40B4-BE49-F238E27FC236}">
                  <a16:creationId xmlns:a16="http://schemas.microsoft.com/office/drawing/2014/main" id="{221B20F8-CE73-BC04-EE7A-66234ECE2B7C}"/>
                </a:ext>
              </a:extLst>
            </p:cNvPr>
            <p:cNvCxnSpPr>
              <a:cxnSpLocks noChangeShapeType="1"/>
              <a:stCxn id="24628" idx="7"/>
              <a:endCxn id="24632" idx="3"/>
            </p:cNvCxnSpPr>
            <p:nvPr/>
          </p:nvCxnSpPr>
          <p:spPr bwMode="auto">
            <a:xfrm flipH="1" flipV="1">
              <a:off x="4137" y="1705"/>
              <a:ext cx="279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20" name="Group 13">
              <a:extLst>
                <a:ext uri="{FF2B5EF4-FFF2-40B4-BE49-F238E27FC236}">
                  <a16:creationId xmlns:a16="http://schemas.microsoft.com/office/drawing/2014/main" id="{9E69B79D-AFD0-807A-7C20-A98C83213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4" y="2093"/>
              <a:ext cx="809" cy="202"/>
              <a:chOff x="4214" y="2496"/>
              <a:chExt cx="809" cy="202"/>
            </a:xfrm>
          </p:grpSpPr>
          <p:sp>
            <p:nvSpPr>
              <p:cNvPr id="24636" name="Rectangle 14">
                <a:extLst>
                  <a:ext uri="{FF2B5EF4-FFF2-40B4-BE49-F238E27FC236}">
                    <a16:creationId xmlns:a16="http://schemas.microsoft.com/office/drawing/2014/main" id="{84F591C6-FDAD-D2A9-A452-84A5139AC1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4214" y="2544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4637" name="Oval 15">
                <a:extLst>
                  <a:ext uri="{FF2B5EF4-FFF2-40B4-BE49-F238E27FC236}">
                    <a16:creationId xmlns:a16="http://schemas.microsoft.com/office/drawing/2014/main" id="{CD61856A-2870-AE26-4904-3EAC53F0A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821" y="2496"/>
                <a:ext cx="202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</p:grpSp>
        <p:grpSp>
          <p:nvGrpSpPr>
            <p:cNvPr id="24621" name="Group 16">
              <a:extLst>
                <a:ext uri="{FF2B5EF4-FFF2-40B4-BE49-F238E27FC236}">
                  <a16:creationId xmlns:a16="http://schemas.microsoft.com/office/drawing/2014/main" id="{5C3F61ED-16FF-D651-235C-DEA7DDA307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7" y="2377"/>
              <a:ext cx="569" cy="145"/>
              <a:chOff x="4637" y="2859"/>
              <a:chExt cx="569" cy="145"/>
            </a:xfrm>
          </p:grpSpPr>
          <p:sp>
            <p:nvSpPr>
              <p:cNvPr id="24634" name="Rectangle 17">
                <a:extLst>
                  <a:ext uri="{FF2B5EF4-FFF2-40B4-BE49-F238E27FC236}">
                    <a16:creationId xmlns:a16="http://schemas.microsoft.com/office/drawing/2014/main" id="{3B056491-E17D-3314-6337-0A3B7840B2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5061" y="2859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4635" name="Rectangle 18">
                <a:extLst>
                  <a:ext uri="{FF2B5EF4-FFF2-40B4-BE49-F238E27FC236}">
                    <a16:creationId xmlns:a16="http://schemas.microsoft.com/office/drawing/2014/main" id="{26086BE2-4D68-B78F-733B-D5AB890232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4637" y="2859"/>
                <a:ext cx="146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24622" name="AutoShape 19">
              <a:extLst>
                <a:ext uri="{FF2B5EF4-FFF2-40B4-BE49-F238E27FC236}">
                  <a16:creationId xmlns:a16="http://schemas.microsoft.com/office/drawing/2014/main" id="{FC787132-33F3-0E0D-BC76-73727109A818}"/>
                </a:ext>
              </a:extLst>
            </p:cNvPr>
            <p:cNvCxnSpPr>
              <a:cxnSpLocks noChangeShapeType="1"/>
              <a:stCxn id="24635" idx="0"/>
              <a:endCxn id="24637" idx="5"/>
            </p:cNvCxnSpPr>
            <p:nvPr/>
          </p:nvCxnSpPr>
          <p:spPr bwMode="auto">
            <a:xfrm flipV="1">
              <a:off x="4700" y="2271"/>
              <a:ext cx="140" cy="1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3" name="AutoShape 20">
              <a:extLst>
                <a:ext uri="{FF2B5EF4-FFF2-40B4-BE49-F238E27FC236}">
                  <a16:creationId xmlns:a16="http://schemas.microsoft.com/office/drawing/2014/main" id="{EF3DD678-64F9-F454-FEFA-C191169DBE56}"/>
                </a:ext>
              </a:extLst>
            </p:cNvPr>
            <p:cNvCxnSpPr>
              <a:cxnSpLocks noChangeShapeType="1"/>
              <a:stCxn id="24634" idx="0"/>
              <a:endCxn id="24637" idx="3"/>
            </p:cNvCxnSpPr>
            <p:nvPr/>
          </p:nvCxnSpPr>
          <p:spPr bwMode="auto">
            <a:xfrm flipH="1" flipV="1">
              <a:off x="4983" y="2271"/>
              <a:ext cx="141" cy="1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24" name="Group 21">
              <a:extLst>
                <a:ext uri="{FF2B5EF4-FFF2-40B4-BE49-F238E27FC236}">
                  <a16:creationId xmlns:a16="http://schemas.microsoft.com/office/drawing/2014/main" id="{A9A6FBE6-55F6-2A7A-0A93-475B87667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" y="1525"/>
              <a:ext cx="807" cy="204"/>
              <a:chOff x="3369" y="1920"/>
              <a:chExt cx="807" cy="204"/>
            </a:xfrm>
          </p:grpSpPr>
          <p:sp>
            <p:nvSpPr>
              <p:cNvPr id="24632" name="Oval 22">
                <a:extLst>
                  <a:ext uri="{FF2B5EF4-FFF2-40B4-BE49-F238E27FC236}">
                    <a16:creationId xmlns:a16="http://schemas.microsoft.com/office/drawing/2014/main" id="{C677AAA9-758E-F3E9-883C-19EC65126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975" y="1922"/>
                <a:ext cx="201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  <p:sp>
            <p:nvSpPr>
              <p:cNvPr id="24633" name="Rectangle 23">
                <a:extLst>
                  <a:ext uri="{FF2B5EF4-FFF2-40B4-BE49-F238E27FC236}">
                    <a16:creationId xmlns:a16="http://schemas.microsoft.com/office/drawing/2014/main" id="{F9832067-174D-D445-4C19-1F85E35C27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3369" y="1920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4625" name="Group 24">
              <a:extLst>
                <a:ext uri="{FF2B5EF4-FFF2-40B4-BE49-F238E27FC236}">
                  <a16:creationId xmlns:a16="http://schemas.microsoft.com/office/drawing/2014/main" id="{8C9EE30D-3A18-8310-99B3-0551D7B7AD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8" y="1243"/>
              <a:ext cx="806" cy="201"/>
              <a:chOff x="2948" y="1683"/>
              <a:chExt cx="806" cy="201"/>
            </a:xfrm>
          </p:grpSpPr>
          <p:sp>
            <p:nvSpPr>
              <p:cNvPr id="24630" name="Oval 25">
                <a:extLst>
                  <a:ext uri="{FF2B5EF4-FFF2-40B4-BE49-F238E27FC236}">
                    <a16:creationId xmlns:a16="http://schemas.microsoft.com/office/drawing/2014/main" id="{C94279D8-B810-AAD0-5418-453CFCE9F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552" y="1683"/>
                <a:ext cx="202" cy="20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  <p:sp>
            <p:nvSpPr>
              <p:cNvPr id="24631" name="Rectangle 26">
                <a:extLst>
                  <a:ext uri="{FF2B5EF4-FFF2-40B4-BE49-F238E27FC236}">
                    <a16:creationId xmlns:a16="http://schemas.microsoft.com/office/drawing/2014/main" id="{316F8320-0605-1F18-7056-1D57009B3A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2948" y="1711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24626" name="AutoShape 27">
              <a:extLst>
                <a:ext uri="{FF2B5EF4-FFF2-40B4-BE49-F238E27FC236}">
                  <a16:creationId xmlns:a16="http://schemas.microsoft.com/office/drawing/2014/main" id="{CDBB97B6-2FD5-483B-C49C-C4A4BD7BCD49}"/>
                </a:ext>
              </a:extLst>
            </p:cNvPr>
            <p:cNvCxnSpPr>
              <a:cxnSpLocks noChangeShapeType="1"/>
              <a:stCxn id="24633" idx="0"/>
              <a:endCxn id="24630" idx="5"/>
            </p:cNvCxnSpPr>
            <p:nvPr/>
          </p:nvCxnSpPr>
          <p:spPr bwMode="auto">
            <a:xfrm flipV="1">
              <a:off x="3432" y="1420"/>
              <a:ext cx="139" cy="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27" name="Group 28">
              <a:extLst>
                <a:ext uri="{FF2B5EF4-FFF2-40B4-BE49-F238E27FC236}">
                  <a16:creationId xmlns:a16="http://schemas.microsoft.com/office/drawing/2014/main" id="{40299E00-59E5-2DAD-B119-160F60703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2" y="1810"/>
              <a:ext cx="807" cy="202"/>
              <a:chOff x="3792" y="2220"/>
              <a:chExt cx="807" cy="202"/>
            </a:xfrm>
          </p:grpSpPr>
          <p:sp>
            <p:nvSpPr>
              <p:cNvPr id="24628" name="Oval 29">
                <a:extLst>
                  <a:ext uri="{FF2B5EF4-FFF2-40B4-BE49-F238E27FC236}">
                    <a16:creationId xmlns:a16="http://schemas.microsoft.com/office/drawing/2014/main" id="{FF6105DF-C913-B6EC-09B1-64440B54A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397" y="2220"/>
                <a:ext cx="202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imes New Roman" panose="02020603050405020304" pitchFamily="18" charset="0"/>
                  <a:sym typeface="Symbol" pitchFamily="2" charset="2"/>
                </a:endParaRPr>
              </a:p>
            </p:txBody>
          </p:sp>
          <p:sp>
            <p:nvSpPr>
              <p:cNvPr id="24629" name="Rectangle 30">
                <a:extLst>
                  <a:ext uri="{FF2B5EF4-FFF2-40B4-BE49-F238E27FC236}">
                    <a16:creationId xmlns:a16="http://schemas.microsoft.com/office/drawing/2014/main" id="{F121B97D-ABF6-6A06-3C1E-ABA1CB0F8A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H="1">
                <a:off x="3792" y="2256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4581" name="Oval 31">
            <a:extLst>
              <a:ext uri="{FF2B5EF4-FFF2-40B4-BE49-F238E27FC236}">
                <a16:creationId xmlns:a16="http://schemas.microsoft.com/office/drawing/2014/main" id="{66723851-CFFB-27DA-D2D8-B238BC58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4191000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solidFill>
                <a:schemeClr val="tx2"/>
              </a:solidFill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24582" name="AutoShape 32">
            <a:extLst>
              <a:ext uri="{FF2B5EF4-FFF2-40B4-BE49-F238E27FC236}">
                <a16:creationId xmlns:a16="http://schemas.microsoft.com/office/drawing/2014/main" id="{2F8170BC-9F35-87D0-AB6F-CAE1676E6DD3}"/>
              </a:ext>
            </a:extLst>
          </p:cNvPr>
          <p:cNvCxnSpPr>
            <a:cxnSpLocks noChangeShapeType="1"/>
            <a:stCxn id="24581" idx="3"/>
            <a:endCxn id="24584" idx="7"/>
          </p:cNvCxnSpPr>
          <p:nvPr/>
        </p:nvCxnSpPr>
        <p:spPr bwMode="auto">
          <a:xfrm flipH="1">
            <a:off x="5932488" y="4443413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3" name="AutoShape 33">
            <a:extLst>
              <a:ext uri="{FF2B5EF4-FFF2-40B4-BE49-F238E27FC236}">
                <a16:creationId xmlns:a16="http://schemas.microsoft.com/office/drawing/2014/main" id="{0E283C0B-224E-B3E4-376F-746DA7B9BC13}"/>
              </a:ext>
            </a:extLst>
          </p:cNvPr>
          <p:cNvCxnSpPr>
            <a:cxnSpLocks noChangeShapeType="1"/>
            <a:stCxn id="24597" idx="1"/>
            <a:endCxn id="24581" idx="5"/>
          </p:cNvCxnSpPr>
          <p:nvPr/>
        </p:nvCxnSpPr>
        <p:spPr bwMode="auto">
          <a:xfrm flipH="1" flipV="1">
            <a:off x="6992938" y="4443413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4" name="Oval 34">
            <a:extLst>
              <a:ext uri="{FF2B5EF4-FFF2-40B4-BE49-F238E27FC236}">
                <a16:creationId xmlns:a16="http://schemas.microsoft.com/office/drawing/2014/main" id="{F818C317-2BDC-E60F-81CA-37601C175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464661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85" name="Oval 35">
            <a:extLst>
              <a:ext uri="{FF2B5EF4-FFF2-40B4-BE49-F238E27FC236}">
                <a16:creationId xmlns:a16="http://schemas.microsoft.com/office/drawing/2014/main" id="{F32F86EA-C8FF-8EE5-9BD6-9C99977DF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8" y="5102225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86" name="Rectangle 36">
            <a:extLst>
              <a:ext uri="{FF2B5EF4-FFF2-40B4-BE49-F238E27FC236}">
                <a16:creationId xmlns:a16="http://schemas.microsoft.com/office/drawing/2014/main" id="{063D8FBA-D3F7-0234-48F3-A4341936A6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2813" y="5614988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587" name="Rectangle 37">
            <a:extLst>
              <a:ext uri="{FF2B5EF4-FFF2-40B4-BE49-F238E27FC236}">
                <a16:creationId xmlns:a16="http://schemas.microsoft.com/office/drawing/2014/main" id="{033EAD20-156F-64CA-F882-43B016EFDB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13513" y="5614988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588" name="AutoShape 38">
            <a:extLst>
              <a:ext uri="{FF2B5EF4-FFF2-40B4-BE49-F238E27FC236}">
                <a16:creationId xmlns:a16="http://schemas.microsoft.com/office/drawing/2014/main" id="{010C58F1-C802-A193-9053-DA7F611C80D1}"/>
              </a:ext>
            </a:extLst>
          </p:cNvPr>
          <p:cNvCxnSpPr>
            <a:cxnSpLocks noChangeShapeType="1"/>
            <a:stCxn id="24587" idx="0"/>
            <a:endCxn id="24585" idx="5"/>
          </p:cNvCxnSpPr>
          <p:nvPr/>
        </p:nvCxnSpPr>
        <p:spPr bwMode="auto">
          <a:xfrm flipH="1" flipV="1">
            <a:off x="6456363" y="53562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39">
            <a:extLst>
              <a:ext uri="{FF2B5EF4-FFF2-40B4-BE49-F238E27FC236}">
                <a16:creationId xmlns:a16="http://schemas.microsoft.com/office/drawing/2014/main" id="{30A8581E-9C31-80F4-2C00-B9F7A5138356}"/>
              </a:ext>
            </a:extLst>
          </p:cNvPr>
          <p:cNvCxnSpPr>
            <a:cxnSpLocks noChangeShapeType="1"/>
            <a:stCxn id="24586" idx="0"/>
            <a:endCxn id="24585" idx="3"/>
          </p:cNvCxnSpPr>
          <p:nvPr/>
        </p:nvCxnSpPr>
        <p:spPr bwMode="auto">
          <a:xfrm flipV="1">
            <a:off x="6096000" y="5356225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0" name="AutoShape 40">
            <a:extLst>
              <a:ext uri="{FF2B5EF4-FFF2-40B4-BE49-F238E27FC236}">
                <a16:creationId xmlns:a16="http://schemas.microsoft.com/office/drawing/2014/main" id="{D06EC257-B9F7-483F-DFEF-BDC7D0AABB0D}"/>
              </a:ext>
            </a:extLst>
          </p:cNvPr>
          <p:cNvCxnSpPr>
            <a:cxnSpLocks noChangeShapeType="1"/>
            <a:stCxn id="24592" idx="7"/>
            <a:endCxn id="24584" idx="3"/>
          </p:cNvCxnSpPr>
          <p:nvPr/>
        </p:nvCxnSpPr>
        <p:spPr bwMode="auto">
          <a:xfrm flipV="1">
            <a:off x="5410200" y="49006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AutoShape 41">
            <a:extLst>
              <a:ext uri="{FF2B5EF4-FFF2-40B4-BE49-F238E27FC236}">
                <a16:creationId xmlns:a16="http://schemas.microsoft.com/office/drawing/2014/main" id="{D4F87A9A-88A9-BAEF-DD17-899B214C748F}"/>
              </a:ext>
            </a:extLst>
          </p:cNvPr>
          <p:cNvCxnSpPr>
            <a:cxnSpLocks noChangeShapeType="1"/>
            <a:stCxn id="24585" idx="1"/>
            <a:endCxn id="24584" idx="5"/>
          </p:cNvCxnSpPr>
          <p:nvPr/>
        </p:nvCxnSpPr>
        <p:spPr bwMode="auto">
          <a:xfrm flipH="1" flipV="1">
            <a:off x="5932488" y="49006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2" name="Oval 42">
            <a:extLst>
              <a:ext uri="{FF2B5EF4-FFF2-40B4-BE49-F238E27FC236}">
                <a16:creationId xmlns:a16="http://schemas.microsoft.com/office/drawing/2014/main" id="{E4574483-0371-113E-DB23-0324B5BD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5102225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93" name="Rectangle 43">
            <a:extLst>
              <a:ext uri="{FF2B5EF4-FFF2-40B4-BE49-F238E27FC236}">
                <a16:creationId xmlns:a16="http://schemas.microsoft.com/office/drawing/2014/main" id="{593E76F8-800F-B72C-4AE3-FF28E7901F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5063" y="5614988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594" name="Rectangle 44">
            <a:extLst>
              <a:ext uri="{FF2B5EF4-FFF2-40B4-BE49-F238E27FC236}">
                <a16:creationId xmlns:a16="http://schemas.microsoft.com/office/drawing/2014/main" id="{930F3B58-8807-56DF-149B-13BAD239C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67350" y="5614988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595" name="AutoShape 45">
            <a:extLst>
              <a:ext uri="{FF2B5EF4-FFF2-40B4-BE49-F238E27FC236}">
                <a16:creationId xmlns:a16="http://schemas.microsoft.com/office/drawing/2014/main" id="{C7725856-4C43-2A01-2510-5364B88453A2}"/>
              </a:ext>
            </a:extLst>
          </p:cNvPr>
          <p:cNvCxnSpPr>
            <a:cxnSpLocks noChangeShapeType="1"/>
            <a:stCxn id="24594" idx="0"/>
            <a:endCxn id="24592" idx="5"/>
          </p:cNvCxnSpPr>
          <p:nvPr/>
        </p:nvCxnSpPr>
        <p:spPr bwMode="auto">
          <a:xfrm flipH="1" flipV="1">
            <a:off x="5410200" y="5356225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AutoShape 46">
            <a:extLst>
              <a:ext uri="{FF2B5EF4-FFF2-40B4-BE49-F238E27FC236}">
                <a16:creationId xmlns:a16="http://schemas.microsoft.com/office/drawing/2014/main" id="{D4C516FD-CD90-756C-F2C3-14D2ED81EEDD}"/>
              </a:ext>
            </a:extLst>
          </p:cNvPr>
          <p:cNvCxnSpPr>
            <a:cxnSpLocks noChangeShapeType="1"/>
            <a:stCxn id="24593" idx="0"/>
            <a:endCxn id="24592" idx="3"/>
          </p:cNvCxnSpPr>
          <p:nvPr/>
        </p:nvCxnSpPr>
        <p:spPr bwMode="auto">
          <a:xfrm flipV="1">
            <a:off x="5048250" y="5356225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7" name="Oval 47">
            <a:extLst>
              <a:ext uri="{FF2B5EF4-FFF2-40B4-BE49-F238E27FC236}">
                <a16:creationId xmlns:a16="http://schemas.microsoft.com/office/drawing/2014/main" id="{7E0DEBB7-087B-783B-0744-3D0116DB5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913" y="464820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98" name="Oval 48">
            <a:extLst>
              <a:ext uri="{FF2B5EF4-FFF2-40B4-BE49-F238E27FC236}">
                <a16:creationId xmlns:a16="http://schemas.microsoft.com/office/drawing/2014/main" id="{77914B99-1E21-F7F3-D2FD-27B77401F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510381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599" name="Rectangle 49">
            <a:extLst>
              <a:ext uri="{FF2B5EF4-FFF2-40B4-BE49-F238E27FC236}">
                <a16:creationId xmlns:a16="http://schemas.microsoft.com/office/drawing/2014/main" id="{196AA8B5-7784-5684-D1F7-1545786763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12125" y="561657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600" name="Rectangle 50">
            <a:extLst>
              <a:ext uri="{FF2B5EF4-FFF2-40B4-BE49-F238E27FC236}">
                <a16:creationId xmlns:a16="http://schemas.microsoft.com/office/drawing/2014/main" id="{CF35201C-B248-26C7-2119-09C871AC59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32825" y="561657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601" name="AutoShape 51">
            <a:extLst>
              <a:ext uri="{FF2B5EF4-FFF2-40B4-BE49-F238E27FC236}">
                <a16:creationId xmlns:a16="http://schemas.microsoft.com/office/drawing/2014/main" id="{793E6B95-36FB-D64F-862D-E77286695EB6}"/>
              </a:ext>
            </a:extLst>
          </p:cNvPr>
          <p:cNvCxnSpPr>
            <a:cxnSpLocks noChangeShapeType="1"/>
            <a:stCxn id="24600" idx="0"/>
            <a:endCxn id="24598" idx="5"/>
          </p:cNvCxnSpPr>
          <p:nvPr/>
        </p:nvCxnSpPr>
        <p:spPr bwMode="auto">
          <a:xfrm flipH="1" flipV="1">
            <a:off x="8575675" y="535781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AutoShape 52">
            <a:extLst>
              <a:ext uri="{FF2B5EF4-FFF2-40B4-BE49-F238E27FC236}">
                <a16:creationId xmlns:a16="http://schemas.microsoft.com/office/drawing/2014/main" id="{D9702992-964C-11C6-EE45-044C41EAD439}"/>
              </a:ext>
            </a:extLst>
          </p:cNvPr>
          <p:cNvCxnSpPr>
            <a:cxnSpLocks noChangeShapeType="1"/>
            <a:stCxn id="24599" idx="0"/>
            <a:endCxn id="24598" idx="3"/>
          </p:cNvCxnSpPr>
          <p:nvPr/>
        </p:nvCxnSpPr>
        <p:spPr bwMode="auto">
          <a:xfrm flipV="1">
            <a:off x="8215313" y="5357813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3" name="AutoShape 53">
            <a:extLst>
              <a:ext uri="{FF2B5EF4-FFF2-40B4-BE49-F238E27FC236}">
                <a16:creationId xmlns:a16="http://schemas.microsoft.com/office/drawing/2014/main" id="{A8215759-8D83-ED16-8C37-FC428140E6DE}"/>
              </a:ext>
            </a:extLst>
          </p:cNvPr>
          <p:cNvCxnSpPr>
            <a:cxnSpLocks noChangeShapeType="1"/>
            <a:stCxn id="24605" idx="7"/>
            <a:endCxn id="24597" idx="3"/>
          </p:cNvCxnSpPr>
          <p:nvPr/>
        </p:nvCxnSpPr>
        <p:spPr bwMode="auto">
          <a:xfrm flipV="1">
            <a:off x="7529513" y="490220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4" name="AutoShape 54">
            <a:extLst>
              <a:ext uri="{FF2B5EF4-FFF2-40B4-BE49-F238E27FC236}">
                <a16:creationId xmlns:a16="http://schemas.microsoft.com/office/drawing/2014/main" id="{3352EEE4-690C-0D8D-BFA1-15DF7C558B9A}"/>
              </a:ext>
            </a:extLst>
          </p:cNvPr>
          <p:cNvCxnSpPr>
            <a:cxnSpLocks noChangeShapeType="1"/>
            <a:stCxn id="24598" idx="1"/>
            <a:endCxn id="24597" idx="5"/>
          </p:cNvCxnSpPr>
          <p:nvPr/>
        </p:nvCxnSpPr>
        <p:spPr bwMode="auto">
          <a:xfrm flipH="1" flipV="1">
            <a:off x="8051800" y="490220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5" name="Oval 55">
            <a:extLst>
              <a:ext uri="{FF2B5EF4-FFF2-40B4-BE49-F238E27FC236}">
                <a16:creationId xmlns:a16="http://schemas.microsoft.com/office/drawing/2014/main" id="{BE8A0424-CD62-937A-3C29-50ABF7895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510381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4606" name="Rectangle 56">
            <a:extLst>
              <a:ext uri="{FF2B5EF4-FFF2-40B4-BE49-F238E27FC236}">
                <a16:creationId xmlns:a16="http://schemas.microsoft.com/office/drawing/2014/main" id="{16C0E2D7-DDB3-F93B-C5AA-E1C253A1C4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64375" y="561657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24607" name="Rectangle 57">
            <a:extLst>
              <a:ext uri="{FF2B5EF4-FFF2-40B4-BE49-F238E27FC236}">
                <a16:creationId xmlns:a16="http://schemas.microsoft.com/office/drawing/2014/main" id="{B424869D-FAFD-8D80-0891-F76D084DC7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6663" y="561657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24608" name="AutoShape 58">
            <a:extLst>
              <a:ext uri="{FF2B5EF4-FFF2-40B4-BE49-F238E27FC236}">
                <a16:creationId xmlns:a16="http://schemas.microsoft.com/office/drawing/2014/main" id="{79588A6B-2A6E-4256-AC5D-30DB9EE54464}"/>
              </a:ext>
            </a:extLst>
          </p:cNvPr>
          <p:cNvCxnSpPr>
            <a:cxnSpLocks noChangeShapeType="1"/>
            <a:stCxn id="24607" idx="0"/>
            <a:endCxn id="24605" idx="5"/>
          </p:cNvCxnSpPr>
          <p:nvPr/>
        </p:nvCxnSpPr>
        <p:spPr bwMode="auto">
          <a:xfrm flipH="1" flipV="1">
            <a:off x="7529513" y="535781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9" name="AutoShape 59">
            <a:extLst>
              <a:ext uri="{FF2B5EF4-FFF2-40B4-BE49-F238E27FC236}">
                <a16:creationId xmlns:a16="http://schemas.microsoft.com/office/drawing/2014/main" id="{2B5A2E21-92C4-DD2B-62CB-3D50DDE08BF1}"/>
              </a:ext>
            </a:extLst>
          </p:cNvPr>
          <p:cNvCxnSpPr>
            <a:cxnSpLocks noChangeShapeType="1"/>
            <a:stCxn id="24606" idx="0"/>
            <a:endCxn id="24605" idx="3"/>
          </p:cNvCxnSpPr>
          <p:nvPr/>
        </p:nvCxnSpPr>
        <p:spPr bwMode="auto">
          <a:xfrm flipV="1">
            <a:off x="7167563" y="535781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10" name="Text Box 60">
            <a:extLst>
              <a:ext uri="{FF2B5EF4-FFF2-40B4-BE49-F238E27FC236}">
                <a16:creationId xmlns:a16="http://schemas.microsoft.com/office/drawing/2014/main" id="{C8718670-6D27-F345-9430-0CCDC9140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6764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/>
              <a:t>(Worst case)</a:t>
            </a:r>
          </a:p>
        </p:txBody>
      </p:sp>
      <p:sp>
        <p:nvSpPr>
          <p:cNvPr id="24611" name="Rectangle 61">
            <a:extLst>
              <a:ext uri="{FF2B5EF4-FFF2-40B4-BE49-F238E27FC236}">
                <a16:creationId xmlns:a16="http://schemas.microsoft.com/office/drawing/2014/main" id="{43AEDADA-8132-C88B-97CE-91A77E113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1263" y="6019800"/>
            <a:ext cx="1339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(Best case)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</TotalTime>
  <Words>1278</Words>
  <Application>Microsoft Macintosh PowerPoint</Application>
  <PresentationFormat>On-screen Show (4:3)</PresentationFormat>
  <Paragraphs>256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Comic Sans MS</vt:lpstr>
      <vt:lpstr>Symbol</vt:lpstr>
      <vt:lpstr>Tahoma</vt:lpstr>
      <vt:lpstr>Times New Roman</vt:lpstr>
      <vt:lpstr>Wingdings</vt:lpstr>
      <vt:lpstr>Default Design</vt:lpstr>
      <vt:lpstr>CS535: Algorithm Design and Analysis   Ordered Dictionaries and Binary Search Trees</vt:lpstr>
      <vt:lpstr>Ordered Dictionaries</vt:lpstr>
      <vt:lpstr>Lookup Table</vt:lpstr>
      <vt:lpstr>Binary Search</vt:lpstr>
      <vt:lpstr>Binary Search</vt:lpstr>
      <vt:lpstr>Lookup Table with Binary Search</vt:lpstr>
      <vt:lpstr>Binary Search Tree</vt:lpstr>
      <vt:lpstr>Search</vt:lpstr>
      <vt:lpstr>Insertion</vt:lpstr>
      <vt:lpstr>Deletion</vt:lpstr>
      <vt:lpstr>Deletion</vt:lpstr>
      <vt:lpstr>Performance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Zeyun Yu</cp:lastModifiedBy>
  <cp:revision>612</cp:revision>
  <dcterms:created xsi:type="dcterms:W3CDTF">2006-12-14T06:02:28Z</dcterms:created>
  <dcterms:modified xsi:type="dcterms:W3CDTF">2024-02-15T15:32:44Z</dcterms:modified>
</cp:coreProperties>
</file>