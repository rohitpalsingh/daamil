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26" r:id="rId2"/>
    <p:sldId id="256" r:id="rId3"/>
    <p:sldId id="300" r:id="rId4"/>
    <p:sldId id="301" r:id="rId5"/>
    <p:sldId id="302" r:id="rId6"/>
    <p:sldId id="303" r:id="rId7"/>
    <p:sldId id="322" r:id="rId8"/>
    <p:sldId id="321" r:id="rId9"/>
    <p:sldId id="304" r:id="rId10"/>
    <p:sldId id="305" r:id="rId11"/>
    <p:sldId id="309" r:id="rId12"/>
    <p:sldId id="306" r:id="rId13"/>
    <p:sldId id="307" r:id="rId14"/>
    <p:sldId id="308" r:id="rId15"/>
    <p:sldId id="323" r:id="rId16"/>
    <p:sldId id="310" r:id="rId17"/>
    <p:sldId id="311" r:id="rId18"/>
    <p:sldId id="312" r:id="rId19"/>
    <p:sldId id="313" r:id="rId20"/>
    <p:sldId id="320" r:id="rId21"/>
    <p:sldId id="316" r:id="rId22"/>
    <p:sldId id="317" r:id="rId23"/>
    <p:sldId id="325" r:id="rId24"/>
    <p:sldId id="324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843" autoAdjust="0"/>
    <p:restoredTop sz="95872" autoAdjust="0"/>
  </p:normalViewPr>
  <p:slideViewPr>
    <p:cSldViewPr>
      <p:cViewPr varScale="1">
        <p:scale>
          <a:sx n="113" d="100"/>
          <a:sy n="113" d="100"/>
        </p:scale>
        <p:origin x="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24CFAAB-CB23-BEE8-89B5-EC9FF345C7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6F0DD014-0FA3-4CB6-1533-69FF369D82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D59E7ACA-F804-FBAA-6827-E98342CD51D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EFCE6891-DF1D-10C7-3DF5-C0FCD9633D1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95FA0693-D46E-F74B-A2AF-1E4E75D557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5D2983C-B847-F3E9-FAEF-55E3321978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AAC7FCC-19C4-CA51-A9AA-ACD16C9D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C75E626-EA3C-87EB-1EB8-409890DCA4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8FA58B7-4E2F-B709-C3E0-710934B2B60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D5169CEC-EF8D-B10C-C7A4-CE2AE7DAA5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523B7A5B-F6DA-E679-FF53-05F4108B5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202480D-61AF-BF42-87C0-95CACE9E9C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02480D-61AF-BF42-87C0-95CACE9E9CF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58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5605F-3CDA-C397-952F-696ACF1594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49410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FF0E4-E1B6-CC6D-D719-AC5878E65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02058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D885A-CA2D-9A5C-7535-0038F0A411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53180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9857-834E-FD1D-E6A7-37773529C9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81832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91442B-84E7-6062-F727-3C3E404D56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8753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93666-8EBE-0AD5-7072-FCC9AD0C7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49800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00087F-0E22-AB7C-91E2-DFB523A98E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64065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50F08-69B1-6E4C-5F9B-31F8ADCD1E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72928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0ADC4-FF6F-0035-9561-1A311F3E1D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69478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3839F-C1E7-8C41-852E-B84FBF6C0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73967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AE94A-18DA-BA69-17F8-7FFEA45E1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71134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81588D0E-40D0-88EB-48B1-911D677CC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DA23C212-87EE-3FF4-5FD5-9730283F8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CD8CD099-4E9C-3920-47D4-18CBB31D4A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A9618446-D77F-F95E-14F7-3EA05226DC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E4C6D53-B7F6-C8BC-A6E5-F661CC63DDDA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5                                     Slides </a:t>
            </a:r>
            <a:fld id="{2F5BC309-C839-0342-BED2-29E45491A5AD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359E-F431-4B2E-1B5C-AABCCE4D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FD933A4-9B6B-D1D9-E8C7-A403E1631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Quiz #2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E6D5B5D-9DEC-327F-61FB-C9F6CC652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000"/>
              <a:t>True</a:t>
            </a:r>
            <a:r>
              <a:rPr lang="en-US" altLang="en-US" sz="2000" dirty="0"/>
              <a:t>/False questions: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</a:rPr>
              <a:t>12n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+6n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</a:t>
            </a:r>
            <a:r>
              <a:rPr lang="en-US" altLang="en-US" dirty="0">
                <a:latin typeface="Times New Roman" panose="02020603050405020304" pitchFamily="18" charset="0"/>
              </a:rPr>
              <a:t>(n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</a:rPr>
              <a:t>12n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+6n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</a:rPr>
              <a:t>12n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+6n is </a:t>
            </a:r>
            <a:r>
              <a:rPr lang="el-GR" altLang="en-US" sz="2000" dirty="0">
                <a:sym typeface="Symbol" pitchFamily="2" charset="2"/>
              </a:rPr>
              <a:t>Θ</a:t>
            </a:r>
            <a:r>
              <a:rPr lang="en-US" altLang="en-US" dirty="0">
                <a:latin typeface="Times New Roman" panose="02020603050405020304" pitchFamily="18" charset="0"/>
              </a:rPr>
              <a:t>(n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</a:rPr>
              <a:t>12n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+6n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</a:rPr>
              <a:t>12n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+6n is </a:t>
            </a:r>
            <a:r>
              <a:rPr lang="en-US" altLang="en-US" sz="2000" b="1" dirty="0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dirty="0">
                <a:latin typeface="Times New Roman" panose="02020603050405020304" pitchFamily="18" charset="0"/>
              </a:rPr>
              <a:t>(n</a:t>
            </a:r>
            <a:r>
              <a:rPr lang="en-US" altLang="en-US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  <a:endParaRPr lang="en-US" altLang="en-US" sz="1600" dirty="0"/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With growable array-based stack data structure, what is the </a:t>
            </a:r>
            <a:r>
              <a:rPr lang="en-US" altLang="en-US" sz="2000" dirty="0">
                <a:solidFill>
                  <a:srgbClr val="C00000"/>
                </a:solidFill>
              </a:rPr>
              <a:t>amortized time </a:t>
            </a:r>
            <a:r>
              <a:rPr lang="en-US" altLang="en-US" sz="2000" dirty="0"/>
              <a:t>of a push operator if we </a:t>
            </a:r>
            <a:r>
              <a:rPr lang="en-US" altLang="en-US" sz="2000" dirty="0">
                <a:solidFill>
                  <a:srgbClr val="C00000"/>
                </a:solidFill>
              </a:rPr>
              <a:t>triple</a:t>
            </a:r>
            <a:r>
              <a:rPr lang="en-US" altLang="en-US" sz="2000" dirty="0"/>
              <a:t> the size of the array whenever the array gets full? Please briefly justify.</a:t>
            </a:r>
          </a:p>
        </p:txBody>
      </p:sp>
    </p:spTree>
    <p:extLst>
      <p:ext uri="{BB962C8B-B14F-4D97-AF65-F5344CB8AC3E}">
        <p14:creationId xmlns:p14="http://schemas.microsoft.com/office/powerpoint/2010/main" val="192269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228B1D1-0A94-6E23-1A6A-D15D7C19D1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Trees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CDD19650-4181-4487-1AA3-C1BBC41E17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>
                <a:solidFill>
                  <a:srgbClr val="0000FF"/>
                </a:solidFill>
              </a:rPr>
              <a:t>Prof.  Zane Yu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February 6,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0840BCC-D19A-A039-3A6F-A84FBFCB0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53C1C53-E446-9BAE-AD59-1DB2B194A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What is a Tree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C652C35E-CFE0-33FE-D3E9-479BB46B1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3200400" cy="4876800"/>
          </a:xfrm>
        </p:spPr>
        <p:txBody>
          <a:bodyPr/>
          <a:lstStyle/>
          <a:p>
            <a:pPr eaLnBrk="1" hangingPunct="1"/>
            <a:r>
              <a:rPr lang="en-US" altLang="en-US" sz="2000"/>
              <a:t>In computer science, a tree is an abstract model of a hierarchical structure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 tree consists of nodes with a parent-child relation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Applications:</a:t>
            </a:r>
          </a:p>
          <a:p>
            <a:pPr lvl="1" eaLnBrk="1" hangingPunct="1"/>
            <a:r>
              <a:rPr lang="en-US" altLang="en-US" sz="1800"/>
              <a:t>Organization charts</a:t>
            </a:r>
          </a:p>
          <a:p>
            <a:pPr lvl="1" eaLnBrk="1" hangingPunct="1"/>
            <a:r>
              <a:rPr lang="en-US" altLang="en-US" sz="1800"/>
              <a:t>File systems</a:t>
            </a:r>
          </a:p>
          <a:p>
            <a:pPr lvl="1" eaLnBrk="1" hangingPunct="1"/>
            <a:r>
              <a:rPr lang="en-US" altLang="en-US" sz="1800"/>
              <a:t>Programming environments</a:t>
            </a:r>
          </a:p>
        </p:txBody>
      </p: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20E54C78-733D-B73C-EC42-6C255D1F617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981200"/>
            <a:ext cx="5240338" cy="3132138"/>
            <a:chOff x="2180" y="957"/>
            <a:chExt cx="3301" cy="1973"/>
          </a:xfrm>
        </p:grpSpPr>
        <p:sp>
          <p:nvSpPr>
            <p:cNvPr id="16388" name="AutoShape 5">
              <a:extLst>
                <a:ext uri="{FF2B5EF4-FFF2-40B4-BE49-F238E27FC236}">
                  <a16:creationId xmlns:a16="http://schemas.microsoft.com/office/drawing/2014/main" id="{03010099-086D-D0C9-68BE-A48A080CB3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36" y="957"/>
              <a:ext cx="673" cy="24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Company</a:t>
              </a:r>
            </a:p>
          </p:txBody>
        </p:sp>
        <p:sp>
          <p:nvSpPr>
            <p:cNvPr id="16389" name="AutoShape 6">
              <a:extLst>
                <a:ext uri="{FF2B5EF4-FFF2-40B4-BE49-F238E27FC236}">
                  <a16:creationId xmlns:a16="http://schemas.microsoft.com/office/drawing/2014/main" id="{ECF3C945-A7B3-C858-2B29-E49E9BBD5F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Sales</a:t>
              </a:r>
            </a:p>
          </p:txBody>
        </p:sp>
        <p:sp>
          <p:nvSpPr>
            <p:cNvPr id="16390" name="AutoShape 7">
              <a:extLst>
                <a:ext uri="{FF2B5EF4-FFF2-40B4-BE49-F238E27FC236}">
                  <a16:creationId xmlns:a16="http://schemas.microsoft.com/office/drawing/2014/main" id="{2970B499-75A4-E720-A31D-EC3ED22848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R&amp;D</a:t>
              </a:r>
            </a:p>
          </p:txBody>
        </p:sp>
        <p:sp>
          <p:nvSpPr>
            <p:cNvPr id="16391" name="AutoShape 8">
              <a:extLst>
                <a:ext uri="{FF2B5EF4-FFF2-40B4-BE49-F238E27FC236}">
                  <a16:creationId xmlns:a16="http://schemas.microsoft.com/office/drawing/2014/main" id="{2717E74C-00E4-32DF-7969-5D35359E96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Manufacturing</a:t>
              </a:r>
            </a:p>
          </p:txBody>
        </p:sp>
        <p:sp>
          <p:nvSpPr>
            <p:cNvPr id="16392" name="AutoShape 9">
              <a:extLst>
                <a:ext uri="{FF2B5EF4-FFF2-40B4-BE49-F238E27FC236}">
                  <a16:creationId xmlns:a16="http://schemas.microsoft.com/office/drawing/2014/main" id="{B238C483-1A90-E33C-0BF6-BE3F19822A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Laptops</a:t>
              </a:r>
            </a:p>
          </p:txBody>
        </p:sp>
        <p:sp>
          <p:nvSpPr>
            <p:cNvPr id="16393" name="AutoShape 10">
              <a:extLst>
                <a:ext uri="{FF2B5EF4-FFF2-40B4-BE49-F238E27FC236}">
                  <a16:creationId xmlns:a16="http://schemas.microsoft.com/office/drawing/2014/main" id="{B12F5115-AC25-F2B1-6D15-86E66336F1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Desktops</a:t>
              </a:r>
            </a:p>
          </p:txBody>
        </p:sp>
        <p:sp>
          <p:nvSpPr>
            <p:cNvPr id="16394" name="AutoShape 11">
              <a:extLst>
                <a:ext uri="{FF2B5EF4-FFF2-40B4-BE49-F238E27FC236}">
                  <a16:creationId xmlns:a16="http://schemas.microsoft.com/office/drawing/2014/main" id="{244C90EE-7651-ECDB-524B-01FD617732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US</a:t>
              </a:r>
            </a:p>
          </p:txBody>
        </p:sp>
        <p:sp>
          <p:nvSpPr>
            <p:cNvPr id="16395" name="AutoShape 12">
              <a:extLst>
                <a:ext uri="{FF2B5EF4-FFF2-40B4-BE49-F238E27FC236}">
                  <a16:creationId xmlns:a16="http://schemas.microsoft.com/office/drawing/2014/main" id="{ECAD4108-BD54-F4C8-52DC-1BCBA5693A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International</a:t>
              </a:r>
            </a:p>
          </p:txBody>
        </p:sp>
        <p:cxnSp>
          <p:nvCxnSpPr>
            <p:cNvPr id="16396" name="AutoShape 13">
              <a:extLst>
                <a:ext uri="{FF2B5EF4-FFF2-40B4-BE49-F238E27FC236}">
                  <a16:creationId xmlns:a16="http://schemas.microsoft.com/office/drawing/2014/main" id="{2B5FD91F-9CAF-BA00-8C5B-E8E9BDDACF91}"/>
                </a:ext>
              </a:extLst>
            </p:cNvPr>
            <p:cNvCxnSpPr>
              <a:cxnSpLocks noChangeShapeType="1"/>
              <a:stCxn id="16388" idx="2"/>
              <a:endCxn id="16389" idx="0"/>
            </p:cNvCxnSpPr>
            <p:nvPr/>
          </p:nvCxnSpPr>
          <p:spPr bwMode="auto">
            <a:xfrm flipH="1">
              <a:off x="2823" y="1205"/>
              <a:ext cx="1051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7" name="AutoShape 14">
              <a:extLst>
                <a:ext uri="{FF2B5EF4-FFF2-40B4-BE49-F238E27FC236}">
                  <a16:creationId xmlns:a16="http://schemas.microsoft.com/office/drawing/2014/main" id="{8F408133-6C7F-F866-4BC4-A4163AF4EC50}"/>
                </a:ext>
              </a:extLst>
            </p:cNvPr>
            <p:cNvCxnSpPr>
              <a:cxnSpLocks noChangeShapeType="1"/>
              <a:stCxn id="16388" idx="2"/>
              <a:endCxn id="16391" idx="0"/>
            </p:cNvCxnSpPr>
            <p:nvPr/>
          </p:nvCxnSpPr>
          <p:spPr bwMode="auto">
            <a:xfrm>
              <a:off x="3874" y="1205"/>
              <a:ext cx="581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8" name="AutoShape 15">
              <a:extLst>
                <a:ext uri="{FF2B5EF4-FFF2-40B4-BE49-F238E27FC236}">
                  <a16:creationId xmlns:a16="http://schemas.microsoft.com/office/drawing/2014/main" id="{F9784366-0F88-1E2E-C891-AE0E3869E38A}"/>
                </a:ext>
              </a:extLst>
            </p:cNvPr>
            <p:cNvCxnSpPr>
              <a:cxnSpLocks noChangeShapeType="1"/>
              <a:stCxn id="16388" idx="2"/>
              <a:endCxn id="16390" idx="0"/>
            </p:cNvCxnSpPr>
            <p:nvPr/>
          </p:nvCxnSpPr>
          <p:spPr bwMode="auto">
            <a:xfrm>
              <a:off x="3874" y="1205"/>
              <a:ext cx="1409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9" name="AutoShape 16">
              <a:extLst>
                <a:ext uri="{FF2B5EF4-FFF2-40B4-BE49-F238E27FC236}">
                  <a16:creationId xmlns:a16="http://schemas.microsoft.com/office/drawing/2014/main" id="{90F5B5D8-8B61-DDF3-4D57-F7C36D20BF52}"/>
                </a:ext>
              </a:extLst>
            </p:cNvPr>
            <p:cNvCxnSpPr>
              <a:cxnSpLocks noChangeShapeType="1"/>
              <a:stCxn id="16391" idx="2"/>
              <a:endCxn id="16393" idx="0"/>
            </p:cNvCxnSpPr>
            <p:nvPr/>
          </p:nvCxnSpPr>
          <p:spPr bwMode="auto">
            <a:xfrm>
              <a:off x="4455" y="1781"/>
              <a:ext cx="389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0" name="AutoShape 17">
              <a:extLst>
                <a:ext uri="{FF2B5EF4-FFF2-40B4-BE49-F238E27FC236}">
                  <a16:creationId xmlns:a16="http://schemas.microsoft.com/office/drawing/2014/main" id="{8AEAF7E1-0986-9EA9-FDEF-5A32DC2EFF2B}"/>
                </a:ext>
              </a:extLst>
            </p:cNvPr>
            <p:cNvCxnSpPr>
              <a:cxnSpLocks noChangeShapeType="1"/>
              <a:stCxn id="16391" idx="2"/>
              <a:endCxn id="16392" idx="0"/>
            </p:cNvCxnSpPr>
            <p:nvPr/>
          </p:nvCxnSpPr>
          <p:spPr bwMode="auto">
            <a:xfrm flipH="1">
              <a:off x="4083" y="1781"/>
              <a:ext cx="372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1" name="AutoShape 18">
              <a:extLst>
                <a:ext uri="{FF2B5EF4-FFF2-40B4-BE49-F238E27FC236}">
                  <a16:creationId xmlns:a16="http://schemas.microsoft.com/office/drawing/2014/main" id="{20C882A3-8622-4A86-8821-4CA1C9BAFA3C}"/>
                </a:ext>
              </a:extLst>
            </p:cNvPr>
            <p:cNvCxnSpPr>
              <a:cxnSpLocks noChangeShapeType="1"/>
              <a:stCxn id="16389" idx="2"/>
              <a:endCxn id="16395" idx="0"/>
            </p:cNvCxnSpPr>
            <p:nvPr/>
          </p:nvCxnSpPr>
          <p:spPr bwMode="auto">
            <a:xfrm>
              <a:off x="2823" y="1781"/>
              <a:ext cx="395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2" name="AutoShape 19">
              <a:extLst>
                <a:ext uri="{FF2B5EF4-FFF2-40B4-BE49-F238E27FC236}">
                  <a16:creationId xmlns:a16="http://schemas.microsoft.com/office/drawing/2014/main" id="{4C87CCC8-60CC-34ED-465C-6036B8B2174A}"/>
                </a:ext>
              </a:extLst>
            </p:cNvPr>
            <p:cNvCxnSpPr>
              <a:cxnSpLocks noChangeShapeType="1"/>
              <a:stCxn id="16389" idx="2"/>
              <a:endCxn id="16394" idx="0"/>
            </p:cNvCxnSpPr>
            <p:nvPr/>
          </p:nvCxnSpPr>
          <p:spPr bwMode="auto">
            <a:xfrm flipH="1">
              <a:off x="2500" y="1781"/>
              <a:ext cx="323" cy="32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3" name="AutoShape 20">
              <a:extLst>
                <a:ext uri="{FF2B5EF4-FFF2-40B4-BE49-F238E27FC236}">
                  <a16:creationId xmlns:a16="http://schemas.microsoft.com/office/drawing/2014/main" id="{CB792349-9C84-6D7F-0108-4877D5EA32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Europe</a:t>
              </a:r>
            </a:p>
          </p:txBody>
        </p:sp>
        <p:sp>
          <p:nvSpPr>
            <p:cNvPr id="16404" name="AutoShape 21">
              <a:extLst>
                <a:ext uri="{FF2B5EF4-FFF2-40B4-BE49-F238E27FC236}">
                  <a16:creationId xmlns:a16="http://schemas.microsoft.com/office/drawing/2014/main" id="{E8FFC938-4AE5-0110-E836-07E2988BC3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Asia</a:t>
              </a:r>
            </a:p>
          </p:txBody>
        </p:sp>
        <p:cxnSp>
          <p:nvCxnSpPr>
            <p:cNvPr id="16405" name="AutoShape 22">
              <a:extLst>
                <a:ext uri="{FF2B5EF4-FFF2-40B4-BE49-F238E27FC236}">
                  <a16:creationId xmlns:a16="http://schemas.microsoft.com/office/drawing/2014/main" id="{3DC627D0-A1BD-ADF7-C287-759AE892C2A3}"/>
                </a:ext>
              </a:extLst>
            </p:cNvPr>
            <p:cNvCxnSpPr>
              <a:cxnSpLocks noChangeShapeType="1"/>
              <a:stCxn id="16395" idx="2"/>
              <a:endCxn id="16404" idx="0"/>
            </p:cNvCxnSpPr>
            <p:nvPr/>
          </p:nvCxnSpPr>
          <p:spPr bwMode="auto">
            <a:xfrm flipH="1">
              <a:off x="3210" y="2357"/>
              <a:ext cx="8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6" name="AutoShape 23">
              <a:extLst>
                <a:ext uri="{FF2B5EF4-FFF2-40B4-BE49-F238E27FC236}">
                  <a16:creationId xmlns:a16="http://schemas.microsoft.com/office/drawing/2014/main" id="{8DFF18E2-5D82-5C45-9C72-2EC108E716AB}"/>
                </a:ext>
              </a:extLst>
            </p:cNvPr>
            <p:cNvCxnSpPr>
              <a:cxnSpLocks noChangeShapeType="1"/>
              <a:stCxn id="16395" idx="2"/>
              <a:endCxn id="16403" idx="0"/>
            </p:cNvCxnSpPr>
            <p:nvPr/>
          </p:nvCxnSpPr>
          <p:spPr bwMode="auto">
            <a:xfrm flipH="1">
              <a:off x="2454" y="2357"/>
              <a:ext cx="764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7" name="AutoShape 24">
              <a:extLst>
                <a:ext uri="{FF2B5EF4-FFF2-40B4-BE49-F238E27FC236}">
                  <a16:creationId xmlns:a16="http://schemas.microsoft.com/office/drawing/2014/main" id="{2AC9C7F9-FACD-A9FD-9DFB-67E950079C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Canada</a:t>
              </a:r>
            </a:p>
          </p:txBody>
        </p:sp>
        <p:cxnSp>
          <p:nvCxnSpPr>
            <p:cNvPr id="16408" name="AutoShape 25">
              <a:extLst>
                <a:ext uri="{FF2B5EF4-FFF2-40B4-BE49-F238E27FC236}">
                  <a16:creationId xmlns:a16="http://schemas.microsoft.com/office/drawing/2014/main" id="{1D30F0C3-41A6-1F9E-A770-D738ED703FFB}"/>
                </a:ext>
              </a:extLst>
            </p:cNvPr>
            <p:cNvCxnSpPr>
              <a:cxnSpLocks noChangeShapeType="1"/>
              <a:stCxn id="16395" idx="2"/>
              <a:endCxn id="16407" idx="0"/>
            </p:cNvCxnSpPr>
            <p:nvPr/>
          </p:nvCxnSpPr>
          <p:spPr bwMode="auto">
            <a:xfrm>
              <a:off x="3218" y="2357"/>
              <a:ext cx="765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AutoShape 2">
            <a:extLst>
              <a:ext uri="{FF2B5EF4-FFF2-40B4-BE49-F238E27FC236}">
                <a16:creationId xmlns:a16="http://schemas.microsoft.com/office/drawing/2014/main" id="{0894BFA0-D8DC-AEB3-BAA3-6CF4E2A58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3190875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2651760" bIns="0" anchor="b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subtree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7B6572B8-241A-9EE0-EDFB-AC36D09E8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Tree Terminology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55071F5-DEF2-2F93-2330-5C0931CFB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41148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Root</a:t>
            </a:r>
            <a:r>
              <a:rPr lang="en-US" altLang="en-US" sz="1800"/>
              <a:t>: node without parent (A)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Internal node</a:t>
            </a:r>
            <a:r>
              <a:rPr lang="en-US" altLang="en-US" sz="1800"/>
              <a:t>: node with at least one child (A, B, C, F)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External node</a:t>
            </a:r>
            <a:r>
              <a:rPr lang="en-US" altLang="en-US" sz="1800"/>
              <a:t> (a.k.a. leaf ): node without children (E, I, J, K, G, H, D)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Ancestors</a:t>
            </a:r>
            <a:r>
              <a:rPr lang="en-US" altLang="en-US" sz="1800"/>
              <a:t> of a node: parent, grandparent, grand-grandparent, etc.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Depth</a:t>
            </a:r>
            <a:r>
              <a:rPr lang="en-US" altLang="en-US" sz="1800"/>
              <a:t> of a node: number of ancestors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Height</a:t>
            </a:r>
            <a:r>
              <a:rPr lang="en-US" altLang="en-US" sz="1800"/>
              <a:t> of a tree: maximum depth of any node (3)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Descendant</a:t>
            </a:r>
            <a:r>
              <a:rPr lang="en-US" altLang="en-US" sz="1800"/>
              <a:t> of a node: child, grandchild, grand-grandchild, etc.</a:t>
            </a:r>
          </a:p>
        </p:txBody>
      </p:sp>
      <p:grpSp>
        <p:nvGrpSpPr>
          <p:cNvPr id="17412" name="Group 5">
            <a:extLst>
              <a:ext uri="{FF2B5EF4-FFF2-40B4-BE49-F238E27FC236}">
                <a16:creationId xmlns:a16="http://schemas.microsoft.com/office/drawing/2014/main" id="{B22A40AD-3730-97E4-70C5-C2F707D0C919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671763"/>
            <a:ext cx="3708400" cy="3116262"/>
            <a:chOff x="3135" y="1253"/>
            <a:chExt cx="2336" cy="1963"/>
          </a:xfrm>
        </p:grpSpPr>
        <p:sp>
          <p:nvSpPr>
            <p:cNvPr id="17414" name="AutoShape 6">
              <a:extLst>
                <a:ext uri="{FF2B5EF4-FFF2-40B4-BE49-F238E27FC236}">
                  <a16:creationId xmlns:a16="http://schemas.microsoft.com/office/drawing/2014/main" id="{6B3938DB-9D82-F28E-D256-AF930322D7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17" y="1253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7415" name="AutoShape 7">
              <a:extLst>
                <a:ext uri="{FF2B5EF4-FFF2-40B4-BE49-F238E27FC236}">
                  <a16:creationId xmlns:a16="http://schemas.microsoft.com/office/drawing/2014/main" id="{1579CA18-C72D-573F-C7AC-8D29FD080E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5" y="1829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7416" name="AutoShape 8">
              <a:extLst>
                <a:ext uri="{FF2B5EF4-FFF2-40B4-BE49-F238E27FC236}">
                  <a16:creationId xmlns:a16="http://schemas.microsoft.com/office/drawing/2014/main" id="{EDB4F0FF-26F5-F0A2-8040-FD7D8BB89A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47" y="1828"/>
              <a:ext cx="224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7417" name="AutoShape 9">
              <a:extLst>
                <a:ext uri="{FF2B5EF4-FFF2-40B4-BE49-F238E27FC236}">
                  <a16:creationId xmlns:a16="http://schemas.microsoft.com/office/drawing/2014/main" id="{2961B910-937F-FF14-5573-8F6AB55DAD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5" y="1829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7418" name="AutoShape 10">
              <a:extLst>
                <a:ext uri="{FF2B5EF4-FFF2-40B4-BE49-F238E27FC236}">
                  <a16:creationId xmlns:a16="http://schemas.microsoft.com/office/drawing/2014/main" id="{974E4DEC-9B5F-E613-7E7C-54F37C6745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94" y="2404"/>
              <a:ext cx="222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17419" name="AutoShape 11">
              <a:extLst>
                <a:ext uri="{FF2B5EF4-FFF2-40B4-BE49-F238E27FC236}">
                  <a16:creationId xmlns:a16="http://schemas.microsoft.com/office/drawing/2014/main" id="{81B8A088-02FF-19C2-012F-7290760415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7" y="2404"/>
              <a:ext cx="223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17420" name="AutoShape 12">
              <a:extLst>
                <a:ext uri="{FF2B5EF4-FFF2-40B4-BE49-F238E27FC236}">
                  <a16:creationId xmlns:a16="http://schemas.microsoft.com/office/drawing/2014/main" id="{3A191B18-626C-2149-C3AB-A3BD716058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35" y="2404"/>
              <a:ext cx="208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7421" name="AutoShape 13">
              <a:extLst>
                <a:ext uri="{FF2B5EF4-FFF2-40B4-BE49-F238E27FC236}">
                  <a16:creationId xmlns:a16="http://schemas.microsoft.com/office/drawing/2014/main" id="{15DA69E6-3A15-36A7-9CD4-D85033BCCA3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9" y="2405"/>
              <a:ext cx="202" cy="23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F</a:t>
              </a:r>
            </a:p>
          </p:txBody>
        </p:sp>
        <p:cxnSp>
          <p:nvCxnSpPr>
            <p:cNvPr id="17422" name="AutoShape 14">
              <a:extLst>
                <a:ext uri="{FF2B5EF4-FFF2-40B4-BE49-F238E27FC236}">
                  <a16:creationId xmlns:a16="http://schemas.microsoft.com/office/drawing/2014/main" id="{6637A408-A21D-093A-CC5A-AA4A71CCF932}"/>
                </a:ext>
              </a:extLst>
            </p:cNvPr>
            <p:cNvCxnSpPr>
              <a:cxnSpLocks noChangeShapeType="1"/>
              <a:stCxn id="17414" idx="2"/>
              <a:endCxn id="17415" idx="0"/>
            </p:cNvCxnSpPr>
            <p:nvPr/>
          </p:nvCxnSpPr>
          <p:spPr bwMode="auto">
            <a:xfrm flipH="1">
              <a:off x="3491" y="1494"/>
              <a:ext cx="833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3" name="AutoShape 15">
              <a:extLst>
                <a:ext uri="{FF2B5EF4-FFF2-40B4-BE49-F238E27FC236}">
                  <a16:creationId xmlns:a16="http://schemas.microsoft.com/office/drawing/2014/main" id="{0CA680ED-024D-3667-9D45-2655FF9FEA6A}"/>
                </a:ext>
              </a:extLst>
            </p:cNvPr>
            <p:cNvCxnSpPr>
              <a:cxnSpLocks noChangeShapeType="1"/>
              <a:stCxn id="17414" idx="2"/>
              <a:endCxn id="17417" idx="0"/>
            </p:cNvCxnSpPr>
            <p:nvPr/>
          </p:nvCxnSpPr>
          <p:spPr bwMode="auto">
            <a:xfrm>
              <a:off x="4324" y="1494"/>
              <a:ext cx="538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4" name="AutoShape 16">
              <a:extLst>
                <a:ext uri="{FF2B5EF4-FFF2-40B4-BE49-F238E27FC236}">
                  <a16:creationId xmlns:a16="http://schemas.microsoft.com/office/drawing/2014/main" id="{9EA7436C-3210-E4D4-1987-813EE6F9F102}"/>
                </a:ext>
              </a:extLst>
            </p:cNvPr>
            <p:cNvCxnSpPr>
              <a:cxnSpLocks noChangeShapeType="1"/>
              <a:stCxn id="17414" idx="2"/>
              <a:endCxn id="17416" idx="0"/>
            </p:cNvCxnSpPr>
            <p:nvPr/>
          </p:nvCxnSpPr>
          <p:spPr bwMode="auto">
            <a:xfrm>
              <a:off x="4324" y="1494"/>
              <a:ext cx="1036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5" name="AutoShape 17">
              <a:extLst>
                <a:ext uri="{FF2B5EF4-FFF2-40B4-BE49-F238E27FC236}">
                  <a16:creationId xmlns:a16="http://schemas.microsoft.com/office/drawing/2014/main" id="{B38E18BF-2089-6BF7-027D-E15BA2678E2F}"/>
                </a:ext>
              </a:extLst>
            </p:cNvPr>
            <p:cNvCxnSpPr>
              <a:cxnSpLocks noChangeShapeType="1"/>
              <a:stCxn id="17417" idx="2"/>
              <a:endCxn id="17419" idx="0"/>
            </p:cNvCxnSpPr>
            <p:nvPr/>
          </p:nvCxnSpPr>
          <p:spPr bwMode="auto">
            <a:xfrm>
              <a:off x="4862" y="2071"/>
              <a:ext cx="257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6" name="AutoShape 18">
              <a:extLst>
                <a:ext uri="{FF2B5EF4-FFF2-40B4-BE49-F238E27FC236}">
                  <a16:creationId xmlns:a16="http://schemas.microsoft.com/office/drawing/2014/main" id="{4C5603D8-100A-5E82-7082-EB26A566CA5F}"/>
                </a:ext>
              </a:extLst>
            </p:cNvPr>
            <p:cNvCxnSpPr>
              <a:cxnSpLocks noChangeShapeType="1"/>
              <a:stCxn id="17417" idx="2"/>
              <a:endCxn id="17418" idx="0"/>
            </p:cNvCxnSpPr>
            <p:nvPr/>
          </p:nvCxnSpPr>
          <p:spPr bwMode="auto">
            <a:xfrm flipH="1">
              <a:off x="4606" y="2071"/>
              <a:ext cx="256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7" name="AutoShape 19">
              <a:extLst>
                <a:ext uri="{FF2B5EF4-FFF2-40B4-BE49-F238E27FC236}">
                  <a16:creationId xmlns:a16="http://schemas.microsoft.com/office/drawing/2014/main" id="{D03D5720-FC67-2602-386D-886BF99458ED}"/>
                </a:ext>
              </a:extLst>
            </p:cNvPr>
            <p:cNvCxnSpPr>
              <a:cxnSpLocks noChangeShapeType="1"/>
              <a:stCxn id="17415" idx="2"/>
              <a:endCxn id="17421" idx="0"/>
            </p:cNvCxnSpPr>
            <p:nvPr/>
          </p:nvCxnSpPr>
          <p:spPr bwMode="auto">
            <a:xfrm>
              <a:off x="3491" y="2070"/>
              <a:ext cx="250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8" name="AutoShape 20">
              <a:extLst>
                <a:ext uri="{FF2B5EF4-FFF2-40B4-BE49-F238E27FC236}">
                  <a16:creationId xmlns:a16="http://schemas.microsoft.com/office/drawing/2014/main" id="{75A6486B-2B85-3B54-F218-5BC4098BABD8}"/>
                </a:ext>
              </a:extLst>
            </p:cNvPr>
            <p:cNvCxnSpPr>
              <a:cxnSpLocks noChangeShapeType="1"/>
              <a:stCxn id="17415" idx="2"/>
              <a:endCxn id="17420" idx="0"/>
            </p:cNvCxnSpPr>
            <p:nvPr/>
          </p:nvCxnSpPr>
          <p:spPr bwMode="auto">
            <a:xfrm flipH="1">
              <a:off x="3239" y="2070"/>
              <a:ext cx="252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9" name="AutoShape 21">
              <a:extLst>
                <a:ext uri="{FF2B5EF4-FFF2-40B4-BE49-F238E27FC236}">
                  <a16:creationId xmlns:a16="http://schemas.microsoft.com/office/drawing/2014/main" id="{DD602E9E-7837-6764-1705-8608B9740B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9" y="2985"/>
              <a:ext cx="181" cy="22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17430" name="AutoShape 22">
              <a:extLst>
                <a:ext uri="{FF2B5EF4-FFF2-40B4-BE49-F238E27FC236}">
                  <a16:creationId xmlns:a16="http://schemas.microsoft.com/office/drawing/2014/main" id="{870A7EAA-D1A3-8903-29C3-94356068E0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5" y="2985"/>
              <a:ext cx="187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J</a:t>
              </a:r>
            </a:p>
          </p:txBody>
        </p:sp>
        <p:cxnSp>
          <p:nvCxnSpPr>
            <p:cNvPr id="17431" name="AutoShape 23">
              <a:extLst>
                <a:ext uri="{FF2B5EF4-FFF2-40B4-BE49-F238E27FC236}">
                  <a16:creationId xmlns:a16="http://schemas.microsoft.com/office/drawing/2014/main" id="{19009C3D-E21C-9AE3-C460-167D8C1371C1}"/>
                </a:ext>
              </a:extLst>
            </p:cNvPr>
            <p:cNvCxnSpPr>
              <a:cxnSpLocks noChangeShapeType="1"/>
              <a:stCxn id="17421" idx="2"/>
              <a:endCxn id="17430" idx="0"/>
            </p:cNvCxnSpPr>
            <p:nvPr/>
          </p:nvCxnSpPr>
          <p:spPr bwMode="auto">
            <a:xfrm>
              <a:off x="3741" y="2646"/>
              <a:ext cx="8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2" name="AutoShape 24">
              <a:extLst>
                <a:ext uri="{FF2B5EF4-FFF2-40B4-BE49-F238E27FC236}">
                  <a16:creationId xmlns:a16="http://schemas.microsoft.com/office/drawing/2014/main" id="{499833AD-CAE5-A663-D67F-044F7DF41849}"/>
                </a:ext>
              </a:extLst>
            </p:cNvPr>
            <p:cNvCxnSpPr>
              <a:cxnSpLocks noChangeShapeType="1"/>
              <a:stCxn id="17421" idx="2"/>
              <a:endCxn id="17429" idx="0"/>
            </p:cNvCxnSpPr>
            <p:nvPr/>
          </p:nvCxnSpPr>
          <p:spPr bwMode="auto">
            <a:xfrm flipH="1">
              <a:off x="3380" y="2646"/>
              <a:ext cx="361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3" name="AutoShape 25">
              <a:extLst>
                <a:ext uri="{FF2B5EF4-FFF2-40B4-BE49-F238E27FC236}">
                  <a16:creationId xmlns:a16="http://schemas.microsoft.com/office/drawing/2014/main" id="{8B57770B-E4CA-2667-B838-A499E735C9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27" y="2984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K</a:t>
              </a:r>
            </a:p>
          </p:txBody>
        </p:sp>
        <p:cxnSp>
          <p:nvCxnSpPr>
            <p:cNvPr id="17434" name="AutoShape 26">
              <a:extLst>
                <a:ext uri="{FF2B5EF4-FFF2-40B4-BE49-F238E27FC236}">
                  <a16:creationId xmlns:a16="http://schemas.microsoft.com/office/drawing/2014/main" id="{A9E64567-D153-16E4-9D20-999A03C1826F}"/>
                </a:ext>
              </a:extLst>
            </p:cNvPr>
            <p:cNvCxnSpPr>
              <a:cxnSpLocks noChangeShapeType="1"/>
              <a:stCxn id="17421" idx="2"/>
              <a:endCxn id="17433" idx="0"/>
            </p:cNvCxnSpPr>
            <p:nvPr/>
          </p:nvCxnSpPr>
          <p:spPr bwMode="auto">
            <a:xfrm>
              <a:off x="3741" y="2646"/>
              <a:ext cx="392" cy="3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413" name="Rectangle 27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BEFC55D-850A-A039-95BF-F6193DD2C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95400"/>
            <a:ext cx="3505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Subtree</a:t>
            </a:r>
            <a:r>
              <a:rPr lang="en-US" altLang="en-US" sz="1800"/>
              <a:t>: tree consisting of a node and its descendants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2AB1233-CFB5-93E9-6EB3-89A222E2B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Tree ADT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3FF85A7-1025-DE94-0B47-CE5CE5FAB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37338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We use </a:t>
            </a:r>
            <a:r>
              <a:rPr lang="en-US" altLang="en-US" sz="2000" i="1"/>
              <a:t>positions</a:t>
            </a:r>
            <a:r>
              <a:rPr lang="en-US" altLang="en-US" sz="2000"/>
              <a:t> to abstract nodes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Generic methods:</a:t>
            </a:r>
          </a:p>
          <a:p>
            <a:pPr lvl="1" eaLnBrk="1" hangingPunct="1"/>
            <a:r>
              <a:rPr lang="en-US" altLang="en-US" sz="1800"/>
              <a:t>integer </a:t>
            </a:r>
            <a:r>
              <a:rPr lang="en-US" altLang="en-US" sz="1800">
                <a:solidFill>
                  <a:schemeClr val="tx2"/>
                </a:solidFill>
              </a:rPr>
              <a:t>size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/>
              <a:t>boolean </a:t>
            </a:r>
            <a:r>
              <a:rPr lang="en-US" altLang="en-US" sz="1800">
                <a:solidFill>
                  <a:schemeClr val="tx2"/>
                </a:solidFill>
              </a:rPr>
              <a:t>isEmpty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objectIterator elements()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positionIterator positions()</a:t>
            </a:r>
          </a:p>
          <a:p>
            <a:pPr lvl="1" eaLnBrk="1" hangingPunct="1"/>
            <a:endParaRPr lang="en-US" altLang="en-US" sz="1400"/>
          </a:p>
          <a:p>
            <a:pPr eaLnBrk="1" hangingPunct="1"/>
            <a:r>
              <a:rPr lang="en-US" altLang="en-US" sz="2000"/>
              <a:t>Accessor methods:</a:t>
            </a:r>
          </a:p>
          <a:p>
            <a:pPr lvl="1" eaLnBrk="1" hangingPunct="1"/>
            <a:r>
              <a:rPr lang="en-US" altLang="en-US" sz="1800"/>
              <a:t>position </a:t>
            </a:r>
            <a:r>
              <a:rPr lang="en-US" altLang="en-US" sz="1800">
                <a:solidFill>
                  <a:schemeClr val="tx2"/>
                </a:solidFill>
              </a:rPr>
              <a:t>root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/>
              <a:t>position </a:t>
            </a:r>
            <a:r>
              <a:rPr lang="en-US" altLang="en-US" sz="1800">
                <a:solidFill>
                  <a:schemeClr val="tx2"/>
                </a:solidFill>
              </a:rPr>
              <a:t>parent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/>
              <a:t>positionIterator </a:t>
            </a:r>
            <a:r>
              <a:rPr lang="en-US" altLang="en-US" sz="1800">
                <a:solidFill>
                  <a:schemeClr val="tx2"/>
                </a:solidFill>
              </a:rPr>
              <a:t>children</a:t>
            </a:r>
            <a:r>
              <a:rPr lang="en-US" altLang="en-US" sz="1800"/>
              <a:t>(p)</a:t>
            </a:r>
          </a:p>
        </p:txBody>
      </p:sp>
      <p:sp>
        <p:nvSpPr>
          <p:cNvPr id="18435" name="Rectangle 4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82BAC0F4-4BB0-648F-2B1E-83DCFD021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524000"/>
            <a:ext cx="3733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Query methods:</a:t>
            </a:r>
          </a:p>
          <a:p>
            <a:pPr lvl="1" eaLnBrk="1" hangingPunct="1"/>
            <a:r>
              <a:rPr lang="en-US" altLang="en-US" sz="1800"/>
              <a:t>boolean </a:t>
            </a:r>
            <a:r>
              <a:rPr lang="en-US" altLang="en-US" sz="1800">
                <a:solidFill>
                  <a:schemeClr val="tx2"/>
                </a:solidFill>
              </a:rPr>
              <a:t>isInternal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/>
              <a:t>boolean </a:t>
            </a:r>
            <a:r>
              <a:rPr lang="en-US" altLang="en-US" sz="1800">
                <a:solidFill>
                  <a:schemeClr val="tx2"/>
                </a:solidFill>
              </a:rPr>
              <a:t>isExternal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/>
              <a:t>boolean </a:t>
            </a:r>
            <a:r>
              <a:rPr lang="en-US" altLang="en-US" sz="1800">
                <a:solidFill>
                  <a:schemeClr val="tx2"/>
                </a:solidFill>
              </a:rPr>
              <a:t>isRoot</a:t>
            </a:r>
            <a:r>
              <a:rPr lang="en-US" altLang="en-US" sz="1800"/>
              <a:t>(p)</a:t>
            </a:r>
          </a:p>
          <a:p>
            <a:pPr lvl="1" eaLnBrk="1" hangingPunct="1"/>
            <a:endParaRPr lang="en-US" altLang="en-US" sz="1400"/>
          </a:p>
          <a:p>
            <a:pPr eaLnBrk="1" hangingPunct="1"/>
            <a:r>
              <a:rPr lang="en-US" altLang="en-US" sz="2000"/>
              <a:t>Update methods: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(p, q)</a:t>
            </a:r>
          </a:p>
          <a:p>
            <a:pPr lvl="1" eaLnBrk="1" hangingPunct="1"/>
            <a:r>
              <a:rPr lang="en-US" altLang="en-US" sz="1800"/>
              <a:t>object </a:t>
            </a:r>
            <a:r>
              <a:rPr lang="en-US" altLang="en-US" sz="1800">
                <a:solidFill>
                  <a:schemeClr val="tx2"/>
                </a:solidFill>
              </a:rPr>
              <a:t>replaceElement</a:t>
            </a:r>
            <a:r>
              <a:rPr lang="en-US" altLang="en-US" sz="1800"/>
              <a:t>(p, o)</a:t>
            </a:r>
          </a:p>
          <a:p>
            <a:pPr lvl="1" eaLnBrk="1" hangingPunct="1"/>
            <a:endParaRPr lang="en-US" altLang="en-US" sz="1400"/>
          </a:p>
          <a:p>
            <a:pPr eaLnBrk="1" hangingPunct="1"/>
            <a:r>
              <a:rPr lang="en-US" altLang="en-US" sz="2000"/>
              <a:t>Additional update methods may be defined by data structures implementing the Tree ADT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0CD7DA6-79C3-5638-DFB2-C9BEFD063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Tree Depth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D7C07D9-0D7D-3E82-7A0F-15D83244A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4267200" cy="2286000"/>
          </a:xfrm>
        </p:spPr>
        <p:txBody>
          <a:bodyPr/>
          <a:lstStyle/>
          <a:p>
            <a:pPr eaLnBrk="1" hangingPunct="1"/>
            <a:r>
              <a:rPr lang="en-US" altLang="en-US" sz="2000"/>
              <a:t>If v is the root, then the depth of v is 0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Otherwise, the depth of v is one plus the depth of the parent of v</a:t>
            </a:r>
          </a:p>
          <a:p>
            <a:pPr eaLnBrk="1" hangingPunct="1"/>
            <a:endParaRPr lang="en-US" altLang="en-US" sz="1600"/>
          </a:p>
        </p:txBody>
      </p:sp>
      <p:sp>
        <p:nvSpPr>
          <p:cNvPr id="19459" name="Text Box 30">
            <a:extLst>
              <a:ext uri="{FF2B5EF4-FFF2-40B4-BE49-F238E27FC236}">
                <a16:creationId xmlns:a16="http://schemas.microsoft.com/office/drawing/2014/main" id="{315D3B54-A18F-3FF1-F8CB-80ABE859D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143000"/>
            <a:ext cx="3657600" cy="2438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depth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(T,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If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T.isRoot(v)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24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  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1+depth(T,T.parent(v))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AutoShape 33">
            <a:extLst>
              <a:ext uri="{FF2B5EF4-FFF2-40B4-BE49-F238E27FC236}">
                <a16:creationId xmlns:a16="http://schemas.microsoft.com/office/drawing/2014/main" id="{FE3AA14E-2FE5-0CF1-1008-D9223E165A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5" y="3822700"/>
            <a:ext cx="338138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9461" name="AutoShape 34">
            <a:extLst>
              <a:ext uri="{FF2B5EF4-FFF2-40B4-BE49-F238E27FC236}">
                <a16:creationId xmlns:a16="http://schemas.microsoft.com/office/drawing/2014/main" id="{9F15182B-01BB-FB3B-CAB1-8AEEC07D27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97075" y="4737100"/>
            <a:ext cx="334963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9462" name="AutoShape 35">
            <a:extLst>
              <a:ext uri="{FF2B5EF4-FFF2-40B4-BE49-F238E27FC236}">
                <a16:creationId xmlns:a16="http://schemas.microsoft.com/office/drawing/2014/main" id="{746AE60D-6590-2DC4-DB47-5912442D6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4735513"/>
            <a:ext cx="355600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19463" name="AutoShape 36">
            <a:extLst>
              <a:ext uri="{FF2B5EF4-FFF2-40B4-BE49-F238E27FC236}">
                <a16:creationId xmlns:a16="http://schemas.microsoft.com/office/drawing/2014/main" id="{63DEC314-F850-0044-BA3F-D256CB1108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71950" y="4737100"/>
            <a:ext cx="338138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9464" name="AutoShape 37">
            <a:extLst>
              <a:ext uri="{FF2B5EF4-FFF2-40B4-BE49-F238E27FC236}">
                <a16:creationId xmlns:a16="http://schemas.microsoft.com/office/drawing/2014/main" id="{313727CA-96AD-6C51-9B35-08AE0234CB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7613" y="5649913"/>
            <a:ext cx="352425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19465" name="AutoShape 38">
            <a:extLst>
              <a:ext uri="{FF2B5EF4-FFF2-40B4-BE49-F238E27FC236}">
                <a16:creationId xmlns:a16="http://schemas.microsoft.com/office/drawing/2014/main" id="{7A1CAAEF-C73C-BA3F-E439-F9489C6AA9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5649913"/>
            <a:ext cx="354013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19466" name="AutoShape 39">
            <a:extLst>
              <a:ext uri="{FF2B5EF4-FFF2-40B4-BE49-F238E27FC236}">
                <a16:creationId xmlns:a16="http://schemas.microsoft.com/office/drawing/2014/main" id="{923BC93B-9B46-623B-340A-36FBFF4588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5649913"/>
            <a:ext cx="330200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9467" name="AutoShape 40">
            <a:extLst>
              <a:ext uri="{FF2B5EF4-FFF2-40B4-BE49-F238E27FC236}">
                <a16:creationId xmlns:a16="http://schemas.microsoft.com/office/drawing/2014/main" id="{2231EDFA-A600-38C9-8F16-83619926B8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5651500"/>
            <a:ext cx="320675" cy="3667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19468" name="AutoShape 41">
            <a:extLst>
              <a:ext uri="{FF2B5EF4-FFF2-40B4-BE49-F238E27FC236}">
                <a16:creationId xmlns:a16="http://schemas.microsoft.com/office/drawing/2014/main" id="{30A3C2BD-27B2-1F37-581B-8FA2B2B8D3E2}"/>
              </a:ext>
            </a:extLst>
          </p:cNvPr>
          <p:cNvCxnSpPr>
            <a:cxnSpLocks noChangeShapeType="1"/>
            <a:stCxn id="19460" idx="2"/>
            <a:endCxn id="19461" idx="0"/>
          </p:cNvCxnSpPr>
          <p:nvPr/>
        </p:nvCxnSpPr>
        <p:spPr bwMode="auto">
          <a:xfrm flipH="1">
            <a:off x="2165350" y="4205288"/>
            <a:ext cx="1322388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42">
            <a:extLst>
              <a:ext uri="{FF2B5EF4-FFF2-40B4-BE49-F238E27FC236}">
                <a16:creationId xmlns:a16="http://schemas.microsoft.com/office/drawing/2014/main" id="{2DFF20BC-8F32-AC8F-CC44-4026CABC5ECD}"/>
              </a:ext>
            </a:extLst>
          </p:cNvPr>
          <p:cNvCxnSpPr>
            <a:cxnSpLocks noChangeShapeType="1"/>
            <a:stCxn id="19460" idx="2"/>
            <a:endCxn id="19463" idx="0"/>
          </p:cNvCxnSpPr>
          <p:nvPr/>
        </p:nvCxnSpPr>
        <p:spPr bwMode="auto">
          <a:xfrm>
            <a:off x="3487738" y="4205288"/>
            <a:ext cx="854075" cy="515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43">
            <a:extLst>
              <a:ext uri="{FF2B5EF4-FFF2-40B4-BE49-F238E27FC236}">
                <a16:creationId xmlns:a16="http://schemas.microsoft.com/office/drawing/2014/main" id="{CB1A6ED0-A9DF-B593-9AAD-8455310BF424}"/>
              </a:ext>
            </a:extLst>
          </p:cNvPr>
          <p:cNvCxnSpPr>
            <a:cxnSpLocks noChangeShapeType="1"/>
            <a:stCxn id="19460" idx="2"/>
            <a:endCxn id="19462" idx="0"/>
          </p:cNvCxnSpPr>
          <p:nvPr/>
        </p:nvCxnSpPr>
        <p:spPr bwMode="auto">
          <a:xfrm>
            <a:off x="3487738" y="4205288"/>
            <a:ext cx="1644650" cy="515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44">
            <a:extLst>
              <a:ext uri="{FF2B5EF4-FFF2-40B4-BE49-F238E27FC236}">
                <a16:creationId xmlns:a16="http://schemas.microsoft.com/office/drawing/2014/main" id="{BA4F1753-1776-1F76-AEF0-A97D9D5EFEE4}"/>
              </a:ext>
            </a:extLst>
          </p:cNvPr>
          <p:cNvCxnSpPr>
            <a:cxnSpLocks noChangeShapeType="1"/>
            <a:stCxn id="19463" idx="2"/>
            <a:endCxn id="19465" idx="0"/>
          </p:cNvCxnSpPr>
          <p:nvPr/>
        </p:nvCxnSpPr>
        <p:spPr bwMode="auto">
          <a:xfrm>
            <a:off x="4341813" y="5121275"/>
            <a:ext cx="407987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45">
            <a:extLst>
              <a:ext uri="{FF2B5EF4-FFF2-40B4-BE49-F238E27FC236}">
                <a16:creationId xmlns:a16="http://schemas.microsoft.com/office/drawing/2014/main" id="{36243AFE-3982-A35C-0C48-B9C61A4FD891}"/>
              </a:ext>
            </a:extLst>
          </p:cNvPr>
          <p:cNvCxnSpPr>
            <a:cxnSpLocks noChangeShapeType="1"/>
            <a:stCxn id="19463" idx="2"/>
            <a:endCxn id="19464" idx="0"/>
          </p:cNvCxnSpPr>
          <p:nvPr/>
        </p:nvCxnSpPr>
        <p:spPr bwMode="auto">
          <a:xfrm flipH="1">
            <a:off x="3935413" y="5121275"/>
            <a:ext cx="40640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46">
            <a:extLst>
              <a:ext uri="{FF2B5EF4-FFF2-40B4-BE49-F238E27FC236}">
                <a16:creationId xmlns:a16="http://schemas.microsoft.com/office/drawing/2014/main" id="{6BFD396F-A9EC-A211-6F67-19090872581D}"/>
              </a:ext>
            </a:extLst>
          </p:cNvPr>
          <p:cNvCxnSpPr>
            <a:cxnSpLocks noChangeShapeType="1"/>
            <a:stCxn id="19461" idx="2"/>
            <a:endCxn id="19467" idx="0"/>
          </p:cNvCxnSpPr>
          <p:nvPr/>
        </p:nvCxnSpPr>
        <p:spPr bwMode="auto">
          <a:xfrm>
            <a:off x="2165350" y="5119688"/>
            <a:ext cx="396875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47">
            <a:extLst>
              <a:ext uri="{FF2B5EF4-FFF2-40B4-BE49-F238E27FC236}">
                <a16:creationId xmlns:a16="http://schemas.microsoft.com/office/drawing/2014/main" id="{DA634552-A4BB-F5C6-5791-E1D879E67365}"/>
              </a:ext>
            </a:extLst>
          </p:cNvPr>
          <p:cNvCxnSpPr>
            <a:cxnSpLocks noChangeShapeType="1"/>
            <a:stCxn id="19461" idx="2"/>
            <a:endCxn id="19466" idx="0"/>
          </p:cNvCxnSpPr>
          <p:nvPr/>
        </p:nvCxnSpPr>
        <p:spPr bwMode="auto">
          <a:xfrm flipH="1">
            <a:off x="1765300" y="5119688"/>
            <a:ext cx="400050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5" name="Freeform 54">
            <a:extLst>
              <a:ext uri="{FF2B5EF4-FFF2-40B4-BE49-F238E27FC236}">
                <a16:creationId xmlns:a16="http://schemas.microsoft.com/office/drawing/2014/main" id="{55945F61-CF57-9B2C-D910-00430C573C5D}"/>
              </a:ext>
            </a:extLst>
          </p:cNvPr>
          <p:cNvSpPr>
            <a:spLocks/>
          </p:cNvSpPr>
          <p:nvPr/>
        </p:nvSpPr>
        <p:spPr bwMode="auto">
          <a:xfrm>
            <a:off x="1168400" y="4876800"/>
            <a:ext cx="660400" cy="914400"/>
          </a:xfrm>
          <a:custGeom>
            <a:avLst/>
            <a:gdLst>
              <a:gd name="T0" fmla="*/ 1048385000 w 416"/>
              <a:gd name="T1" fmla="*/ 0 h 576"/>
              <a:gd name="T2" fmla="*/ 80645000 w 416"/>
              <a:gd name="T3" fmla="*/ 604837500 h 576"/>
              <a:gd name="T4" fmla="*/ 564515000 w 416"/>
              <a:gd name="T5" fmla="*/ 1451610000 h 576"/>
              <a:gd name="T6" fmla="*/ 0 60000 65536"/>
              <a:gd name="T7" fmla="*/ 0 60000 65536"/>
              <a:gd name="T8" fmla="*/ 0 60000 65536"/>
              <a:gd name="T9" fmla="*/ 0 w 416"/>
              <a:gd name="T10" fmla="*/ 0 h 576"/>
              <a:gd name="T11" fmla="*/ 416 w 41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576">
                <a:moveTo>
                  <a:pt x="416" y="0"/>
                </a:moveTo>
                <a:cubicBezTo>
                  <a:pt x="240" y="72"/>
                  <a:pt x="64" y="144"/>
                  <a:pt x="32" y="240"/>
                </a:cubicBezTo>
                <a:cubicBezTo>
                  <a:pt x="0" y="336"/>
                  <a:pt x="112" y="456"/>
                  <a:pt x="224" y="576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6" name="Text Box 55">
            <a:extLst>
              <a:ext uri="{FF2B5EF4-FFF2-40B4-BE49-F238E27FC236}">
                <a16:creationId xmlns:a16="http://schemas.microsoft.com/office/drawing/2014/main" id="{3E89C3BC-B26A-52E9-02D2-FC130D80F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+1</a:t>
            </a:r>
          </a:p>
        </p:txBody>
      </p:sp>
      <p:sp>
        <p:nvSpPr>
          <p:cNvPr id="19477" name="Text Box 56">
            <a:extLst>
              <a:ext uri="{FF2B5EF4-FFF2-40B4-BE49-F238E27FC236}">
                <a16:creationId xmlns:a16="http://schemas.microsoft.com/office/drawing/2014/main" id="{9210016C-7FBF-5CB4-B9E4-090CF7A66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19600"/>
            <a:ext cx="2895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Running time: </a:t>
            </a:r>
            <a:r>
              <a:rPr lang="en-US" altLang="en-US" sz="1800">
                <a:solidFill>
                  <a:srgbClr val="FF0066"/>
                </a:solidFill>
              </a:rPr>
              <a:t>O(d</a:t>
            </a:r>
            <a:r>
              <a:rPr lang="en-US" altLang="en-US" sz="1800" baseline="-25000">
                <a:solidFill>
                  <a:srgbClr val="FF0066"/>
                </a:solidFill>
              </a:rPr>
              <a:t>v</a:t>
            </a:r>
            <a:r>
              <a:rPr lang="en-US" altLang="en-US" sz="1800">
                <a:solidFill>
                  <a:srgbClr val="FF0066"/>
                </a:solidFill>
              </a:rPr>
              <a:t>),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where dv is the depth of v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5092667-F8DF-6042-3531-686A31485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Tree (or Subtree) Height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C210227-4F11-DF4E-02E5-F0F113478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4572000" cy="3048000"/>
          </a:xfrm>
        </p:spPr>
        <p:txBody>
          <a:bodyPr/>
          <a:lstStyle/>
          <a:p>
            <a:pPr eaLnBrk="1" hangingPunct="1"/>
            <a:r>
              <a:rPr lang="en-US" altLang="en-US" sz="1800"/>
              <a:t>A “bad” algorithm: Check the depth of each node, then take the maximum. 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800"/>
              <a:t>If v is an external node, then the height of v is 0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800"/>
              <a:t>Otherwise, the height of v is one plus the maximum height of the children of v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800"/>
              <a:t>The height of a tree T is the height of the root of T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2C4659A7-425F-6BEE-8FC3-CEE5F6629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990600"/>
            <a:ext cx="3962400" cy="3241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height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(T,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If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T.isExternal(v)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h = 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for </a:t>
            </a:r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each child w of v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do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h=max(h,height(T,w)</a:t>
            </a:r>
            <a:endParaRPr lang="en-US" altLang="en-US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1+h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F3A3B565-360B-96D8-B4B0-6C6D82829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89275" y="4127500"/>
            <a:ext cx="338138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5158EB3A-0105-67A9-9AA1-428A091D9A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68475" y="5041900"/>
            <a:ext cx="334963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0486" name="AutoShape 7">
            <a:extLst>
              <a:ext uri="{FF2B5EF4-FFF2-40B4-BE49-F238E27FC236}">
                <a16:creationId xmlns:a16="http://schemas.microsoft.com/office/drawing/2014/main" id="{28EA046B-F85E-54DE-A6AF-FE7B600CD9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5040313"/>
            <a:ext cx="355600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20487" name="AutoShape 8">
            <a:extLst>
              <a:ext uri="{FF2B5EF4-FFF2-40B4-BE49-F238E27FC236}">
                <a16:creationId xmlns:a16="http://schemas.microsoft.com/office/drawing/2014/main" id="{0B05650E-9346-9CDE-64FD-07F72F324A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43350" y="5041900"/>
            <a:ext cx="338138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20488" name="AutoShape 9">
            <a:extLst>
              <a:ext uri="{FF2B5EF4-FFF2-40B4-BE49-F238E27FC236}">
                <a16:creationId xmlns:a16="http://schemas.microsoft.com/office/drawing/2014/main" id="{A318CD07-DA70-37DC-149D-08A5D4B30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29013" y="5954713"/>
            <a:ext cx="352425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20489" name="AutoShape 10">
            <a:extLst>
              <a:ext uri="{FF2B5EF4-FFF2-40B4-BE49-F238E27FC236}">
                <a16:creationId xmlns:a16="http://schemas.microsoft.com/office/drawing/2014/main" id="{F327D929-3C2C-D462-53D9-F89312352C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954713"/>
            <a:ext cx="354013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20490" name="AutoShape 11">
            <a:extLst>
              <a:ext uri="{FF2B5EF4-FFF2-40B4-BE49-F238E27FC236}">
                <a16:creationId xmlns:a16="http://schemas.microsoft.com/office/drawing/2014/main" id="{E3679BBE-BE56-E20F-C6FD-E77D6E70AB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5954713"/>
            <a:ext cx="330200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20491" name="AutoShape 12">
            <a:extLst>
              <a:ext uri="{FF2B5EF4-FFF2-40B4-BE49-F238E27FC236}">
                <a16:creationId xmlns:a16="http://schemas.microsoft.com/office/drawing/2014/main" id="{B196C5E2-418B-A188-AF1D-BA39EC12A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1700" y="5956300"/>
            <a:ext cx="320675" cy="3667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20492" name="AutoShape 13">
            <a:extLst>
              <a:ext uri="{FF2B5EF4-FFF2-40B4-BE49-F238E27FC236}">
                <a16:creationId xmlns:a16="http://schemas.microsoft.com/office/drawing/2014/main" id="{CAB303DD-B747-4651-482C-1B888E90B717}"/>
              </a:ext>
            </a:extLst>
          </p:cNvPr>
          <p:cNvCxnSpPr>
            <a:cxnSpLocks noChangeShapeType="1"/>
            <a:stCxn id="20484" idx="2"/>
            <a:endCxn id="20485" idx="0"/>
          </p:cNvCxnSpPr>
          <p:nvPr/>
        </p:nvCxnSpPr>
        <p:spPr bwMode="auto">
          <a:xfrm flipH="1">
            <a:off x="1936750" y="4510088"/>
            <a:ext cx="1322388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4">
            <a:extLst>
              <a:ext uri="{FF2B5EF4-FFF2-40B4-BE49-F238E27FC236}">
                <a16:creationId xmlns:a16="http://schemas.microsoft.com/office/drawing/2014/main" id="{A8648FBC-47B6-7BA4-F4E2-B9C9403B83CA}"/>
              </a:ext>
            </a:extLst>
          </p:cNvPr>
          <p:cNvCxnSpPr>
            <a:cxnSpLocks noChangeShapeType="1"/>
            <a:stCxn id="20484" idx="2"/>
            <a:endCxn id="20487" idx="0"/>
          </p:cNvCxnSpPr>
          <p:nvPr/>
        </p:nvCxnSpPr>
        <p:spPr bwMode="auto">
          <a:xfrm>
            <a:off x="3259138" y="4510088"/>
            <a:ext cx="854075" cy="515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5">
            <a:extLst>
              <a:ext uri="{FF2B5EF4-FFF2-40B4-BE49-F238E27FC236}">
                <a16:creationId xmlns:a16="http://schemas.microsoft.com/office/drawing/2014/main" id="{AE448F3A-4F60-B1F5-94E3-D72005E7D363}"/>
              </a:ext>
            </a:extLst>
          </p:cNvPr>
          <p:cNvCxnSpPr>
            <a:cxnSpLocks noChangeShapeType="1"/>
            <a:stCxn id="20484" idx="2"/>
            <a:endCxn id="20486" idx="0"/>
          </p:cNvCxnSpPr>
          <p:nvPr/>
        </p:nvCxnSpPr>
        <p:spPr bwMode="auto">
          <a:xfrm>
            <a:off x="3259138" y="4510088"/>
            <a:ext cx="1644650" cy="515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6">
            <a:extLst>
              <a:ext uri="{FF2B5EF4-FFF2-40B4-BE49-F238E27FC236}">
                <a16:creationId xmlns:a16="http://schemas.microsoft.com/office/drawing/2014/main" id="{0F604C5C-30BA-1923-FDA0-43938D01CCE4}"/>
              </a:ext>
            </a:extLst>
          </p:cNvPr>
          <p:cNvCxnSpPr>
            <a:cxnSpLocks noChangeShapeType="1"/>
            <a:stCxn id="20487" idx="2"/>
            <a:endCxn id="20489" idx="0"/>
          </p:cNvCxnSpPr>
          <p:nvPr/>
        </p:nvCxnSpPr>
        <p:spPr bwMode="auto">
          <a:xfrm>
            <a:off x="4113213" y="5426075"/>
            <a:ext cx="407987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7">
            <a:extLst>
              <a:ext uri="{FF2B5EF4-FFF2-40B4-BE49-F238E27FC236}">
                <a16:creationId xmlns:a16="http://schemas.microsoft.com/office/drawing/2014/main" id="{BCA9B90E-8D34-166A-14D2-ECDDD2790266}"/>
              </a:ext>
            </a:extLst>
          </p:cNvPr>
          <p:cNvCxnSpPr>
            <a:cxnSpLocks noChangeShapeType="1"/>
            <a:stCxn id="20487" idx="2"/>
            <a:endCxn id="20488" idx="0"/>
          </p:cNvCxnSpPr>
          <p:nvPr/>
        </p:nvCxnSpPr>
        <p:spPr bwMode="auto">
          <a:xfrm flipH="1">
            <a:off x="3706813" y="5426075"/>
            <a:ext cx="40640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8">
            <a:extLst>
              <a:ext uri="{FF2B5EF4-FFF2-40B4-BE49-F238E27FC236}">
                <a16:creationId xmlns:a16="http://schemas.microsoft.com/office/drawing/2014/main" id="{8C7BA5F3-493A-3296-4174-DF5001674021}"/>
              </a:ext>
            </a:extLst>
          </p:cNvPr>
          <p:cNvCxnSpPr>
            <a:cxnSpLocks noChangeShapeType="1"/>
            <a:stCxn id="20485" idx="2"/>
            <a:endCxn id="20491" idx="0"/>
          </p:cNvCxnSpPr>
          <p:nvPr/>
        </p:nvCxnSpPr>
        <p:spPr bwMode="auto">
          <a:xfrm>
            <a:off x="1936750" y="5424488"/>
            <a:ext cx="396875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9">
            <a:extLst>
              <a:ext uri="{FF2B5EF4-FFF2-40B4-BE49-F238E27FC236}">
                <a16:creationId xmlns:a16="http://schemas.microsoft.com/office/drawing/2014/main" id="{AE4F09C8-FD2E-9DDB-0505-A129EA14DDF7}"/>
              </a:ext>
            </a:extLst>
          </p:cNvPr>
          <p:cNvCxnSpPr>
            <a:cxnSpLocks noChangeShapeType="1"/>
            <a:stCxn id="20485" idx="2"/>
            <a:endCxn id="20490" idx="0"/>
          </p:cNvCxnSpPr>
          <p:nvPr/>
        </p:nvCxnSpPr>
        <p:spPr bwMode="auto">
          <a:xfrm flipH="1">
            <a:off x="1536700" y="5424488"/>
            <a:ext cx="400050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9" name="Freeform 20">
            <a:extLst>
              <a:ext uri="{FF2B5EF4-FFF2-40B4-BE49-F238E27FC236}">
                <a16:creationId xmlns:a16="http://schemas.microsoft.com/office/drawing/2014/main" id="{786D5766-3071-4D5A-B747-9E5B6A345493}"/>
              </a:ext>
            </a:extLst>
          </p:cNvPr>
          <p:cNvSpPr>
            <a:spLocks/>
          </p:cNvSpPr>
          <p:nvPr/>
        </p:nvSpPr>
        <p:spPr bwMode="auto">
          <a:xfrm>
            <a:off x="939800" y="5181600"/>
            <a:ext cx="660400" cy="914400"/>
          </a:xfrm>
          <a:custGeom>
            <a:avLst/>
            <a:gdLst>
              <a:gd name="T0" fmla="*/ 1048385000 w 416"/>
              <a:gd name="T1" fmla="*/ 0 h 576"/>
              <a:gd name="T2" fmla="*/ 80645000 w 416"/>
              <a:gd name="T3" fmla="*/ 604837500 h 576"/>
              <a:gd name="T4" fmla="*/ 564515000 w 416"/>
              <a:gd name="T5" fmla="*/ 1451610000 h 576"/>
              <a:gd name="T6" fmla="*/ 0 60000 65536"/>
              <a:gd name="T7" fmla="*/ 0 60000 65536"/>
              <a:gd name="T8" fmla="*/ 0 60000 65536"/>
              <a:gd name="T9" fmla="*/ 0 w 416"/>
              <a:gd name="T10" fmla="*/ 0 h 576"/>
              <a:gd name="T11" fmla="*/ 416 w 41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576">
                <a:moveTo>
                  <a:pt x="416" y="0"/>
                </a:moveTo>
                <a:cubicBezTo>
                  <a:pt x="240" y="72"/>
                  <a:pt x="64" y="144"/>
                  <a:pt x="32" y="240"/>
                </a:cubicBezTo>
                <a:cubicBezTo>
                  <a:pt x="0" y="336"/>
                  <a:pt x="112" y="456"/>
                  <a:pt x="224" y="576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Text Box 21">
            <a:extLst>
              <a:ext uri="{FF2B5EF4-FFF2-40B4-BE49-F238E27FC236}">
                <a16:creationId xmlns:a16="http://schemas.microsoft.com/office/drawing/2014/main" id="{448AD9ED-D66C-4E8B-FAAF-3AC0DE800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181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+1</a:t>
            </a:r>
          </a:p>
        </p:txBody>
      </p:sp>
      <p:sp>
        <p:nvSpPr>
          <p:cNvPr id="20501" name="Text Box 22">
            <a:extLst>
              <a:ext uri="{FF2B5EF4-FFF2-40B4-BE49-F238E27FC236}">
                <a16:creationId xmlns:a16="http://schemas.microsoft.com/office/drawing/2014/main" id="{528F6A05-D227-67F7-77F5-7DCCDED3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935538"/>
            <a:ext cx="28956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Running time: </a:t>
            </a:r>
            <a:r>
              <a:rPr lang="en-US" altLang="en-US" sz="1800">
                <a:solidFill>
                  <a:srgbClr val="FF0066"/>
                </a:solidFill>
              </a:rPr>
              <a:t>O(n),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where n is the number of nodes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7241ECB-A74B-CA5E-184F-5AA38DD3B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Preorder Traversal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C308B40-F2E0-7B55-4493-5B1372F68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4267200" cy="2514600"/>
          </a:xfrm>
        </p:spPr>
        <p:txBody>
          <a:bodyPr/>
          <a:lstStyle/>
          <a:p>
            <a:pPr eaLnBrk="1" hangingPunct="1"/>
            <a:r>
              <a:rPr lang="en-US" altLang="en-US" sz="2000"/>
              <a:t>A traversal visits the nodes of a tree in a systematic manner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In a preorder traversal, a node is visited before its descendants 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Application: print a structured document (e.g., a textbook)</a:t>
            </a:r>
          </a:p>
        </p:txBody>
      </p:sp>
      <p:sp>
        <p:nvSpPr>
          <p:cNvPr id="21507" name="AutoShape 4">
            <a:extLst>
              <a:ext uri="{FF2B5EF4-FFF2-40B4-BE49-F238E27FC236}">
                <a16:creationId xmlns:a16="http://schemas.microsoft.com/office/drawing/2014/main" id="{00AB4BF3-E47F-5874-B72A-3FCCF2E96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19550" y="3886200"/>
            <a:ext cx="1763713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Algorithm Design</a:t>
            </a:r>
          </a:p>
        </p:txBody>
      </p:sp>
      <p:sp>
        <p:nvSpPr>
          <p:cNvPr id="21508" name="AutoShape 5">
            <a:extLst>
              <a:ext uri="{FF2B5EF4-FFF2-40B4-BE49-F238E27FC236}">
                <a16:creationId xmlns:a16="http://schemas.microsoft.com/office/drawing/2014/main" id="{929D5830-9787-95BE-4A7B-1F69FA13F8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8613" y="4800600"/>
            <a:ext cx="911225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 Math</a:t>
            </a:r>
          </a:p>
        </p:txBody>
      </p:sp>
      <p:sp>
        <p:nvSpPr>
          <p:cNvPr id="21509" name="AutoShape 6">
            <a:extLst>
              <a:ext uri="{FF2B5EF4-FFF2-40B4-BE49-F238E27FC236}">
                <a16:creationId xmlns:a16="http://schemas.microsoft.com/office/drawing/2014/main" id="{8200AFB5-D3DE-B68D-E559-6B7A702547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4800600"/>
            <a:ext cx="1223963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References</a:t>
            </a:r>
          </a:p>
        </p:txBody>
      </p:sp>
      <p:sp>
        <p:nvSpPr>
          <p:cNvPr id="21510" name="AutoShape 7">
            <a:extLst>
              <a:ext uri="{FF2B5EF4-FFF2-40B4-BE49-F238E27FC236}">
                <a16:creationId xmlns:a16="http://schemas.microsoft.com/office/drawing/2014/main" id="{1C75BC54-75FA-3CA3-C3F5-42AB7000D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6988" y="4800600"/>
            <a:ext cx="1770062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 Data Structure</a:t>
            </a:r>
          </a:p>
        </p:txBody>
      </p:sp>
      <p:sp>
        <p:nvSpPr>
          <p:cNvPr id="21511" name="AutoShape 8">
            <a:extLst>
              <a:ext uri="{FF2B5EF4-FFF2-40B4-BE49-F238E27FC236}">
                <a16:creationId xmlns:a16="http://schemas.microsoft.com/office/drawing/2014/main" id="{10EF57CC-B87B-FB51-BD1E-77CB77AC54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3663" y="5707063"/>
            <a:ext cx="1060450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2.1 Stack</a:t>
            </a:r>
          </a:p>
        </p:txBody>
      </p:sp>
      <p:sp>
        <p:nvSpPr>
          <p:cNvPr id="21512" name="AutoShape 9">
            <a:extLst>
              <a:ext uri="{FF2B5EF4-FFF2-40B4-BE49-F238E27FC236}">
                <a16:creationId xmlns:a16="http://schemas.microsoft.com/office/drawing/2014/main" id="{94FFC349-9FC5-7117-DB9D-022204365C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1788" y="5707063"/>
            <a:ext cx="1160462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2.2 Queue</a:t>
            </a:r>
          </a:p>
        </p:txBody>
      </p:sp>
      <p:sp>
        <p:nvSpPr>
          <p:cNvPr id="21513" name="AutoShape 10">
            <a:extLst>
              <a:ext uri="{FF2B5EF4-FFF2-40B4-BE49-F238E27FC236}">
                <a16:creationId xmlns:a16="http://schemas.microsoft.com/office/drawing/2014/main" id="{15054A11-AA73-5DBC-64EB-5165E17A3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5013" y="5707063"/>
            <a:ext cx="1176337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1.1 Big Oh</a:t>
            </a:r>
          </a:p>
        </p:txBody>
      </p:sp>
      <p:sp>
        <p:nvSpPr>
          <p:cNvPr id="21514" name="AutoShape 11">
            <a:extLst>
              <a:ext uri="{FF2B5EF4-FFF2-40B4-BE49-F238E27FC236}">
                <a16:creationId xmlns:a16="http://schemas.microsoft.com/office/drawing/2014/main" id="{9BCAC89B-E7EE-65C3-7D38-B6B219FAD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06613" y="5707063"/>
            <a:ext cx="1514475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1.2 Probability</a:t>
            </a:r>
          </a:p>
        </p:txBody>
      </p:sp>
      <p:cxnSp>
        <p:nvCxnSpPr>
          <p:cNvPr id="21515" name="AutoShape 12">
            <a:extLst>
              <a:ext uri="{FF2B5EF4-FFF2-40B4-BE49-F238E27FC236}">
                <a16:creationId xmlns:a16="http://schemas.microsoft.com/office/drawing/2014/main" id="{BE57ECFE-B443-128E-0E6E-28BE5E4DE1AF}"/>
              </a:ext>
            </a:extLst>
          </p:cNvPr>
          <p:cNvCxnSpPr>
            <a:cxnSpLocks noChangeShapeType="1"/>
            <a:stCxn id="21507" idx="2"/>
            <a:endCxn id="21508" idx="0"/>
          </p:cNvCxnSpPr>
          <p:nvPr/>
        </p:nvCxnSpPr>
        <p:spPr bwMode="auto">
          <a:xfrm flipH="1">
            <a:off x="2054225" y="4278313"/>
            <a:ext cx="2847975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3">
            <a:extLst>
              <a:ext uri="{FF2B5EF4-FFF2-40B4-BE49-F238E27FC236}">
                <a16:creationId xmlns:a16="http://schemas.microsoft.com/office/drawing/2014/main" id="{13786DF5-33AE-737B-38DD-27B8A6536567}"/>
              </a:ext>
            </a:extLst>
          </p:cNvPr>
          <p:cNvCxnSpPr>
            <a:cxnSpLocks noChangeShapeType="1"/>
            <a:stCxn id="21507" idx="2"/>
            <a:endCxn id="21510" idx="0"/>
          </p:cNvCxnSpPr>
          <p:nvPr/>
        </p:nvCxnSpPr>
        <p:spPr bwMode="auto">
          <a:xfrm>
            <a:off x="4902200" y="4278313"/>
            <a:ext cx="1090613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4">
            <a:extLst>
              <a:ext uri="{FF2B5EF4-FFF2-40B4-BE49-F238E27FC236}">
                <a16:creationId xmlns:a16="http://schemas.microsoft.com/office/drawing/2014/main" id="{7F4CE84F-8573-EFDD-1A39-EA58F9FA0544}"/>
              </a:ext>
            </a:extLst>
          </p:cNvPr>
          <p:cNvCxnSpPr>
            <a:cxnSpLocks noChangeShapeType="1"/>
            <a:stCxn id="21507" idx="2"/>
            <a:endCxn id="21509" idx="0"/>
          </p:cNvCxnSpPr>
          <p:nvPr/>
        </p:nvCxnSpPr>
        <p:spPr bwMode="auto">
          <a:xfrm>
            <a:off x="4902200" y="4278313"/>
            <a:ext cx="3254375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75B8CF88-54B6-C835-C234-2A4CE8A76E3F}"/>
              </a:ext>
            </a:extLst>
          </p:cNvPr>
          <p:cNvCxnSpPr>
            <a:cxnSpLocks noChangeShapeType="1"/>
            <a:stCxn id="21510" idx="2"/>
            <a:endCxn id="21512" idx="0"/>
          </p:cNvCxnSpPr>
          <p:nvPr/>
        </p:nvCxnSpPr>
        <p:spPr bwMode="auto">
          <a:xfrm>
            <a:off x="5992813" y="5192713"/>
            <a:ext cx="0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6">
            <a:extLst>
              <a:ext uri="{FF2B5EF4-FFF2-40B4-BE49-F238E27FC236}">
                <a16:creationId xmlns:a16="http://schemas.microsoft.com/office/drawing/2014/main" id="{44B75194-B144-179E-C69C-9428CE467ABC}"/>
              </a:ext>
            </a:extLst>
          </p:cNvPr>
          <p:cNvCxnSpPr>
            <a:cxnSpLocks noChangeShapeType="1"/>
            <a:stCxn id="21510" idx="2"/>
            <a:endCxn id="21511" idx="0"/>
          </p:cNvCxnSpPr>
          <p:nvPr/>
        </p:nvCxnSpPr>
        <p:spPr bwMode="auto">
          <a:xfrm flipH="1">
            <a:off x="4433888" y="5192713"/>
            <a:ext cx="1558925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2BB9BB0D-BCC2-060C-4209-EA8CFFAEA539}"/>
              </a:ext>
            </a:extLst>
          </p:cNvPr>
          <p:cNvCxnSpPr>
            <a:cxnSpLocks noChangeShapeType="1"/>
            <a:stCxn id="21508" idx="2"/>
            <a:endCxn id="21514" idx="0"/>
          </p:cNvCxnSpPr>
          <p:nvPr/>
        </p:nvCxnSpPr>
        <p:spPr bwMode="auto">
          <a:xfrm>
            <a:off x="2054225" y="5192713"/>
            <a:ext cx="809625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8">
            <a:extLst>
              <a:ext uri="{FF2B5EF4-FFF2-40B4-BE49-F238E27FC236}">
                <a16:creationId xmlns:a16="http://schemas.microsoft.com/office/drawing/2014/main" id="{3D09E9A9-F796-16C9-DA43-F6A8FD3C9CCC}"/>
              </a:ext>
            </a:extLst>
          </p:cNvPr>
          <p:cNvCxnSpPr>
            <a:cxnSpLocks noChangeShapeType="1"/>
            <a:stCxn id="21508" idx="2"/>
            <a:endCxn id="21513" idx="0"/>
          </p:cNvCxnSpPr>
          <p:nvPr/>
        </p:nvCxnSpPr>
        <p:spPr bwMode="auto">
          <a:xfrm flipH="1">
            <a:off x="1323975" y="5192713"/>
            <a:ext cx="730250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AutoShape 19">
            <a:extLst>
              <a:ext uri="{FF2B5EF4-FFF2-40B4-BE49-F238E27FC236}">
                <a16:creationId xmlns:a16="http://schemas.microsoft.com/office/drawing/2014/main" id="{D7E6F100-DB9D-1F6B-E513-0D8504547B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0700" y="5705475"/>
            <a:ext cx="982663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2.3 Tree</a:t>
            </a:r>
          </a:p>
        </p:txBody>
      </p: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63188DFB-8F9D-E711-0FE8-7516B6D202B1}"/>
              </a:ext>
            </a:extLst>
          </p:cNvPr>
          <p:cNvCxnSpPr>
            <a:cxnSpLocks noChangeShapeType="1"/>
            <a:stCxn id="21510" idx="2"/>
            <a:endCxn id="21522" idx="0"/>
          </p:cNvCxnSpPr>
          <p:nvPr/>
        </p:nvCxnSpPr>
        <p:spPr bwMode="auto">
          <a:xfrm>
            <a:off x="5992813" y="5192713"/>
            <a:ext cx="1370012" cy="503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Text Box 21">
            <a:extLst>
              <a:ext uri="{FF2B5EF4-FFF2-40B4-BE49-F238E27FC236}">
                <a16:creationId xmlns:a16="http://schemas.microsoft.com/office/drawing/2014/main" id="{50435789-2CB8-65D5-0B35-6E83FF899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6576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1525" name="Text Box 22">
            <a:extLst>
              <a:ext uri="{FF2B5EF4-FFF2-40B4-BE49-F238E27FC236}">
                <a16:creationId xmlns:a16="http://schemas.microsoft.com/office/drawing/2014/main" id="{108BDA70-CE9E-6D5B-50AC-E2D20E75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3" y="4470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1526" name="Text Box 23">
            <a:extLst>
              <a:ext uri="{FF2B5EF4-FFF2-40B4-BE49-F238E27FC236}">
                <a16:creationId xmlns:a16="http://schemas.microsoft.com/office/drawing/2014/main" id="{F4A69647-2A47-5430-74AA-706098243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5346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1527" name="Text Box 24">
            <a:extLst>
              <a:ext uri="{FF2B5EF4-FFF2-40B4-BE49-F238E27FC236}">
                <a16:creationId xmlns:a16="http://schemas.microsoft.com/office/drawing/2014/main" id="{8686C3DF-E9CA-AB92-F5B1-7CBF0CED2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63" y="4470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21528" name="Text Box 25">
            <a:extLst>
              <a:ext uri="{FF2B5EF4-FFF2-40B4-BE49-F238E27FC236}">
                <a16:creationId xmlns:a16="http://schemas.microsoft.com/office/drawing/2014/main" id="{C02C501D-1E4B-5555-065B-4ADAD96D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5346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1529" name="Text Box 26">
            <a:extLst>
              <a:ext uri="{FF2B5EF4-FFF2-40B4-BE49-F238E27FC236}">
                <a16:creationId xmlns:a16="http://schemas.microsoft.com/office/drawing/2014/main" id="{74923F43-CD55-42FE-114C-EB9BE1D70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21335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1530" name="Text Box 27">
            <a:extLst>
              <a:ext uri="{FF2B5EF4-FFF2-40B4-BE49-F238E27FC236}">
                <a16:creationId xmlns:a16="http://schemas.microsoft.com/office/drawing/2014/main" id="{B67C188B-EF05-5C8B-D600-CB1A2271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521335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1531" name="Text Box 28">
            <a:extLst>
              <a:ext uri="{FF2B5EF4-FFF2-40B4-BE49-F238E27FC236}">
                <a16:creationId xmlns:a16="http://schemas.microsoft.com/office/drawing/2014/main" id="{A63A37F8-50B8-5767-7859-C989F625C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1063" y="521335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1532" name="Text Box 29">
            <a:extLst>
              <a:ext uri="{FF2B5EF4-FFF2-40B4-BE49-F238E27FC236}">
                <a16:creationId xmlns:a16="http://schemas.microsoft.com/office/drawing/2014/main" id="{666EAB44-8D3B-3C96-1107-16B17DCF2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1163" y="4470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1533" name="Text Box 30">
            <a:extLst>
              <a:ext uri="{FF2B5EF4-FFF2-40B4-BE49-F238E27FC236}">
                <a16:creationId xmlns:a16="http://schemas.microsoft.com/office/drawing/2014/main" id="{90D6186D-37BF-95A4-5ECA-A2BB901A0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47800"/>
            <a:ext cx="3352800" cy="1635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preOrder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each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child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preorder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E4F6F83-8674-9CA4-A5B0-35C995333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Postorder Traversal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0DD4FBD4-4444-4945-48C5-9DCB4837C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4038600" cy="2286000"/>
          </a:xfrm>
        </p:spPr>
        <p:txBody>
          <a:bodyPr/>
          <a:lstStyle/>
          <a:p>
            <a:pPr eaLnBrk="1" hangingPunct="1"/>
            <a:r>
              <a:rPr lang="en-US" altLang="en-US" sz="2000"/>
              <a:t>In a postorder traversal, a node is visited after its descendants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Application: compute space used by files in a directory and its subdirectories</a:t>
            </a:r>
          </a:p>
        </p:txBody>
      </p:sp>
      <p:sp>
        <p:nvSpPr>
          <p:cNvPr id="22531" name="Text Box 4">
            <a:extLst>
              <a:ext uri="{FF2B5EF4-FFF2-40B4-BE49-F238E27FC236}">
                <a16:creationId xmlns:a16="http://schemas.microsoft.com/office/drawing/2014/main" id="{5225CAFE-631F-941E-89B9-E4D87F759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371600"/>
            <a:ext cx="3352800" cy="1635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postOrder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each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child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postOrder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2532" name="AutoShape 5">
            <a:extLst>
              <a:ext uri="{FF2B5EF4-FFF2-40B4-BE49-F238E27FC236}">
                <a16:creationId xmlns:a16="http://schemas.microsoft.com/office/drawing/2014/main" id="{55B572BA-A11F-5FF2-4FF5-6D179FCA7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0250" y="3733800"/>
            <a:ext cx="715963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cs16/</a:t>
            </a:r>
          </a:p>
        </p:txBody>
      </p:sp>
      <p:sp>
        <p:nvSpPr>
          <p:cNvPr id="22533" name="AutoShape 6">
            <a:extLst>
              <a:ext uri="{FF2B5EF4-FFF2-40B4-BE49-F238E27FC236}">
                <a16:creationId xmlns:a16="http://schemas.microsoft.com/office/drawing/2014/main" id="{65DF1AE0-C1AD-DDBF-E905-DFFA5200BF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4300" y="4648200"/>
            <a:ext cx="1344613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homeworks/</a:t>
            </a:r>
          </a:p>
        </p:txBody>
      </p:sp>
      <p:sp>
        <p:nvSpPr>
          <p:cNvPr id="22534" name="AutoShape 7">
            <a:extLst>
              <a:ext uri="{FF2B5EF4-FFF2-40B4-BE49-F238E27FC236}">
                <a16:creationId xmlns:a16="http://schemas.microsoft.com/office/drawing/2014/main" id="{595ED899-C44A-CF15-50F3-C53A4918B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80325" y="4513263"/>
            <a:ext cx="958850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todo.txt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1K</a:t>
            </a:r>
          </a:p>
        </p:txBody>
      </p:sp>
      <p:sp>
        <p:nvSpPr>
          <p:cNvPr id="22535" name="AutoShape 8">
            <a:extLst>
              <a:ext uri="{FF2B5EF4-FFF2-40B4-BE49-F238E27FC236}">
                <a16:creationId xmlns:a16="http://schemas.microsoft.com/office/drawing/2014/main" id="{21D16CE2-2ABD-43F2-67A6-A4C4CD4DBE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5438" y="4648200"/>
            <a:ext cx="1166812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programs/</a:t>
            </a:r>
          </a:p>
        </p:txBody>
      </p:sp>
      <p:sp>
        <p:nvSpPr>
          <p:cNvPr id="22536" name="AutoShape 9">
            <a:extLst>
              <a:ext uri="{FF2B5EF4-FFF2-40B4-BE49-F238E27FC236}">
                <a16:creationId xmlns:a16="http://schemas.microsoft.com/office/drawing/2014/main" id="{64C6F6E5-7F6E-5EDD-A0E6-D61ADAB52F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564188"/>
            <a:ext cx="1098550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DDR.java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10K</a:t>
            </a:r>
          </a:p>
        </p:txBody>
      </p:sp>
      <p:sp>
        <p:nvSpPr>
          <p:cNvPr id="22537" name="AutoShape 10">
            <a:extLst>
              <a:ext uri="{FF2B5EF4-FFF2-40B4-BE49-F238E27FC236}">
                <a16:creationId xmlns:a16="http://schemas.microsoft.com/office/drawing/2014/main" id="{BA5C5366-9152-A809-8E08-047EF6FA9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9400" y="5564188"/>
            <a:ext cx="1274763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Stocks.java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25K</a:t>
            </a:r>
          </a:p>
        </p:txBody>
      </p:sp>
      <p:sp>
        <p:nvSpPr>
          <p:cNvPr id="22538" name="AutoShape 11">
            <a:extLst>
              <a:ext uri="{FF2B5EF4-FFF2-40B4-BE49-F238E27FC236}">
                <a16:creationId xmlns:a16="http://schemas.microsoft.com/office/drawing/2014/main" id="{2AE0D79C-A68C-8133-CE9F-E4DF9EB9D0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6138" y="5564188"/>
            <a:ext cx="957262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h1c.doc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3K</a:t>
            </a:r>
          </a:p>
        </p:txBody>
      </p:sp>
      <p:sp>
        <p:nvSpPr>
          <p:cNvPr id="22539" name="AutoShape 12">
            <a:extLst>
              <a:ext uri="{FF2B5EF4-FFF2-40B4-BE49-F238E27FC236}">
                <a16:creationId xmlns:a16="http://schemas.microsoft.com/office/drawing/2014/main" id="{B5864089-5ACD-6868-C49D-DE4ADBD37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7275" y="5564188"/>
            <a:ext cx="1069975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h1nc.doc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2K</a:t>
            </a:r>
          </a:p>
        </p:txBody>
      </p:sp>
      <p:cxnSp>
        <p:nvCxnSpPr>
          <p:cNvPr id="22540" name="AutoShape 13">
            <a:extLst>
              <a:ext uri="{FF2B5EF4-FFF2-40B4-BE49-F238E27FC236}">
                <a16:creationId xmlns:a16="http://schemas.microsoft.com/office/drawing/2014/main" id="{813FB372-787C-5870-F0DD-23C79BF69C99}"/>
              </a:ext>
            </a:extLst>
          </p:cNvPr>
          <p:cNvCxnSpPr>
            <a:cxnSpLocks noChangeShapeType="1"/>
            <a:stCxn id="22532" idx="2"/>
            <a:endCxn id="22533" idx="0"/>
          </p:cNvCxnSpPr>
          <p:nvPr/>
        </p:nvCxnSpPr>
        <p:spPr bwMode="auto">
          <a:xfrm flipH="1">
            <a:off x="2057400" y="4127500"/>
            <a:ext cx="2841625" cy="511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BC22A2FE-7E8E-B934-C737-E18D13A39F1F}"/>
              </a:ext>
            </a:extLst>
          </p:cNvPr>
          <p:cNvCxnSpPr>
            <a:cxnSpLocks noChangeShapeType="1"/>
            <a:stCxn id="22532" idx="2"/>
            <a:endCxn id="22535" idx="0"/>
          </p:cNvCxnSpPr>
          <p:nvPr/>
        </p:nvCxnSpPr>
        <p:spPr bwMode="auto">
          <a:xfrm>
            <a:off x="4899025" y="4127500"/>
            <a:ext cx="1090613" cy="511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5">
            <a:extLst>
              <a:ext uri="{FF2B5EF4-FFF2-40B4-BE49-F238E27FC236}">
                <a16:creationId xmlns:a16="http://schemas.microsoft.com/office/drawing/2014/main" id="{A209328B-E1E4-8AC7-0CFC-0F43C5585F47}"/>
              </a:ext>
            </a:extLst>
          </p:cNvPr>
          <p:cNvCxnSpPr>
            <a:cxnSpLocks noChangeShapeType="1"/>
            <a:stCxn id="22532" idx="2"/>
            <a:endCxn id="22534" idx="0"/>
          </p:cNvCxnSpPr>
          <p:nvPr/>
        </p:nvCxnSpPr>
        <p:spPr bwMode="auto">
          <a:xfrm>
            <a:off x="4899025" y="4127500"/>
            <a:ext cx="3260725" cy="376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6">
            <a:extLst>
              <a:ext uri="{FF2B5EF4-FFF2-40B4-BE49-F238E27FC236}">
                <a16:creationId xmlns:a16="http://schemas.microsoft.com/office/drawing/2014/main" id="{87090CD9-5B6B-9A52-D97E-611E069CBAE9}"/>
              </a:ext>
            </a:extLst>
          </p:cNvPr>
          <p:cNvCxnSpPr>
            <a:cxnSpLocks noChangeShapeType="1"/>
            <a:stCxn id="22535" idx="2"/>
            <a:endCxn id="22537" idx="0"/>
          </p:cNvCxnSpPr>
          <p:nvPr/>
        </p:nvCxnSpPr>
        <p:spPr bwMode="auto">
          <a:xfrm>
            <a:off x="5989638" y="5041900"/>
            <a:ext cx="7937" cy="512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7">
            <a:extLst>
              <a:ext uri="{FF2B5EF4-FFF2-40B4-BE49-F238E27FC236}">
                <a16:creationId xmlns:a16="http://schemas.microsoft.com/office/drawing/2014/main" id="{21C221B3-A886-EE06-61B8-F8E653E9607D}"/>
              </a:ext>
            </a:extLst>
          </p:cNvPr>
          <p:cNvCxnSpPr>
            <a:cxnSpLocks noChangeShapeType="1"/>
            <a:stCxn id="22535" idx="2"/>
            <a:endCxn id="22536" idx="0"/>
          </p:cNvCxnSpPr>
          <p:nvPr/>
        </p:nvCxnSpPr>
        <p:spPr bwMode="auto">
          <a:xfrm flipH="1">
            <a:off x="4435475" y="5041900"/>
            <a:ext cx="1554163" cy="512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8">
            <a:extLst>
              <a:ext uri="{FF2B5EF4-FFF2-40B4-BE49-F238E27FC236}">
                <a16:creationId xmlns:a16="http://schemas.microsoft.com/office/drawing/2014/main" id="{896CD169-BA6B-CE27-750A-C39BEDC40F32}"/>
              </a:ext>
            </a:extLst>
          </p:cNvPr>
          <p:cNvCxnSpPr>
            <a:cxnSpLocks noChangeShapeType="1"/>
            <a:stCxn id="22533" idx="2"/>
            <a:endCxn id="22539" idx="0"/>
          </p:cNvCxnSpPr>
          <p:nvPr/>
        </p:nvCxnSpPr>
        <p:spPr bwMode="auto">
          <a:xfrm>
            <a:off x="2057400" y="5041900"/>
            <a:ext cx="804863" cy="512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9">
            <a:extLst>
              <a:ext uri="{FF2B5EF4-FFF2-40B4-BE49-F238E27FC236}">
                <a16:creationId xmlns:a16="http://schemas.microsoft.com/office/drawing/2014/main" id="{6FA928C9-BFF2-3F14-3079-7DCAF28C9401}"/>
              </a:ext>
            </a:extLst>
          </p:cNvPr>
          <p:cNvCxnSpPr>
            <a:cxnSpLocks noChangeShapeType="1"/>
            <a:stCxn id="22533" idx="2"/>
            <a:endCxn id="22538" idx="0"/>
          </p:cNvCxnSpPr>
          <p:nvPr/>
        </p:nvCxnSpPr>
        <p:spPr bwMode="auto">
          <a:xfrm flipH="1">
            <a:off x="1325563" y="5041900"/>
            <a:ext cx="731837" cy="512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7" name="AutoShape 20">
            <a:extLst>
              <a:ext uri="{FF2B5EF4-FFF2-40B4-BE49-F238E27FC236}">
                <a16:creationId xmlns:a16="http://schemas.microsoft.com/office/drawing/2014/main" id="{1FCDB50F-4B5E-9E37-0096-C81604CE6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5562600"/>
            <a:ext cx="1219200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Robot.java</a:t>
            </a:r>
            <a:br>
              <a:rPr lang="en-US" altLang="en-US" sz="1600">
                <a:latin typeface="Tahoma" panose="020B0604030504040204" pitchFamily="34" charset="0"/>
              </a:rPr>
            </a:br>
            <a:r>
              <a:rPr lang="en-US" altLang="en-US" sz="1600">
                <a:latin typeface="Tahoma" panose="020B0604030504040204" pitchFamily="34" charset="0"/>
              </a:rPr>
              <a:t>20K</a:t>
            </a:r>
          </a:p>
        </p:txBody>
      </p: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862849CE-7FEC-D4B6-BB33-F4EB05A70147}"/>
              </a:ext>
            </a:extLst>
          </p:cNvPr>
          <p:cNvCxnSpPr>
            <a:cxnSpLocks noChangeShapeType="1"/>
            <a:stCxn id="22535" idx="2"/>
            <a:endCxn id="22547" idx="0"/>
          </p:cNvCxnSpPr>
          <p:nvPr/>
        </p:nvCxnSpPr>
        <p:spPr bwMode="auto">
          <a:xfrm>
            <a:off x="5989638" y="5041900"/>
            <a:ext cx="1630362" cy="511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9" name="Text Box 22">
            <a:extLst>
              <a:ext uri="{FF2B5EF4-FFF2-40B4-BE49-F238E27FC236}">
                <a16:creationId xmlns:a16="http://schemas.microsoft.com/office/drawing/2014/main" id="{91CC0591-DED5-B701-B3EF-33D677BC8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5052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2550" name="Text Box 23">
            <a:extLst>
              <a:ext uri="{FF2B5EF4-FFF2-40B4-BE49-F238E27FC236}">
                <a16:creationId xmlns:a16="http://schemas.microsoft.com/office/drawing/2014/main" id="{2FEB073E-3759-B110-10F1-8E4352440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3" y="43180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2551" name="Text Box 24">
            <a:extLst>
              <a:ext uri="{FF2B5EF4-FFF2-40B4-BE49-F238E27FC236}">
                <a16:creationId xmlns:a16="http://schemas.microsoft.com/office/drawing/2014/main" id="{3026F930-0210-BF85-198A-D65C64C4A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51943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2552" name="Text Box 25">
            <a:extLst>
              <a:ext uri="{FF2B5EF4-FFF2-40B4-BE49-F238E27FC236}">
                <a16:creationId xmlns:a16="http://schemas.microsoft.com/office/drawing/2014/main" id="{0EEDB687-61F2-B8B1-293B-EB788A09A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180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2553" name="Text Box 26">
            <a:extLst>
              <a:ext uri="{FF2B5EF4-FFF2-40B4-BE49-F238E27FC236}">
                <a16:creationId xmlns:a16="http://schemas.microsoft.com/office/drawing/2014/main" id="{C0DFC7E9-ACD2-0354-8AFC-8182684E3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51943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2554" name="Text Box 27">
            <a:extLst>
              <a:ext uri="{FF2B5EF4-FFF2-40B4-BE49-F238E27FC236}">
                <a16:creationId xmlns:a16="http://schemas.microsoft.com/office/drawing/2014/main" id="{CD571CA9-F2DE-7389-57B0-C7FA8E083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181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2555" name="Text Box 28">
            <a:extLst>
              <a:ext uri="{FF2B5EF4-FFF2-40B4-BE49-F238E27FC236}">
                <a16:creationId xmlns:a16="http://schemas.microsoft.com/office/drawing/2014/main" id="{C1A97DF1-7C7F-9CC7-CB2C-BEC51A6E9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5181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22556" name="Text Box 29">
            <a:extLst>
              <a:ext uri="{FF2B5EF4-FFF2-40B4-BE49-F238E27FC236}">
                <a16:creationId xmlns:a16="http://schemas.microsoft.com/office/drawing/2014/main" id="{39389873-9466-4C4D-FD13-837E7BF62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6650" y="51816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2557" name="Text Box 30">
            <a:extLst>
              <a:ext uri="{FF2B5EF4-FFF2-40B4-BE49-F238E27FC236}">
                <a16:creationId xmlns:a16="http://schemas.microsoft.com/office/drawing/2014/main" id="{DCCE76AE-4A9C-328B-A605-E066BA522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1163" y="41148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9B233F3-0BF4-05EE-3D4C-AAC509E02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Binary Tree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8F3D82D9-A9C5-1123-8999-124E1212A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724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binary tree is a tree with the following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internal node has two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children of a node are an ordered pair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call the children of an internal node left child and right child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Alternative </a:t>
            </a:r>
            <a:r>
              <a:rPr lang="en-US" altLang="en-US" sz="2000" i="1"/>
              <a:t>recursive definition</a:t>
            </a:r>
            <a:r>
              <a:rPr lang="en-US" altLang="en-US" sz="2000"/>
              <a:t>: a binary tree is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tree consisting of a single node,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tree whose root has an ordered pair of children, each of which is a binary tree</a:t>
            </a:r>
          </a:p>
        </p:txBody>
      </p:sp>
      <p:sp>
        <p:nvSpPr>
          <p:cNvPr id="23555" name="AutoShape 5">
            <a:extLst>
              <a:ext uri="{FF2B5EF4-FFF2-40B4-BE49-F238E27FC236}">
                <a16:creationId xmlns:a16="http://schemas.microsoft.com/office/drawing/2014/main" id="{4EF3BA55-D300-BA7A-F08B-F9A818F59A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13563" y="2133600"/>
            <a:ext cx="338137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23556" name="AutoShape 6">
            <a:extLst>
              <a:ext uri="{FF2B5EF4-FFF2-40B4-BE49-F238E27FC236}">
                <a16:creationId xmlns:a16="http://schemas.microsoft.com/office/drawing/2014/main" id="{23BE5EC0-2194-CB0C-7C87-93EC0AF501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7725" y="3048000"/>
            <a:ext cx="334963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3557" name="AutoShape 7">
            <a:extLst>
              <a:ext uri="{FF2B5EF4-FFF2-40B4-BE49-F238E27FC236}">
                <a16:creationId xmlns:a16="http://schemas.microsoft.com/office/drawing/2014/main" id="{CB890824-1721-6C13-F767-CF043B8153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94638" y="3048000"/>
            <a:ext cx="338137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23558" name="AutoShape 8">
            <a:extLst>
              <a:ext uri="{FF2B5EF4-FFF2-40B4-BE49-F238E27FC236}">
                <a16:creationId xmlns:a16="http://schemas.microsoft.com/office/drawing/2014/main" id="{447F0B13-566A-FCE5-9ECD-087DC5A2F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2038" y="3962400"/>
            <a:ext cx="320675" cy="3667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23559" name="AutoShape 9">
            <a:extLst>
              <a:ext uri="{FF2B5EF4-FFF2-40B4-BE49-F238E27FC236}">
                <a16:creationId xmlns:a16="http://schemas.microsoft.com/office/drawing/2014/main" id="{A9131866-2D42-5292-11C5-10D48D0D28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96288" y="3960813"/>
            <a:ext cx="352425" cy="369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23560" name="AutoShape 10">
            <a:extLst>
              <a:ext uri="{FF2B5EF4-FFF2-40B4-BE49-F238E27FC236}">
                <a16:creationId xmlns:a16="http://schemas.microsoft.com/office/drawing/2014/main" id="{F042DF32-808E-D603-2193-9537EDC44F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959225"/>
            <a:ext cx="355600" cy="3698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23561" name="AutoShape 11">
            <a:extLst>
              <a:ext uri="{FF2B5EF4-FFF2-40B4-BE49-F238E27FC236}">
                <a16:creationId xmlns:a16="http://schemas.microsoft.com/office/drawing/2014/main" id="{E4886D87-2760-1115-4D3C-AACE46DAE3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7313" y="3962400"/>
            <a:ext cx="330200" cy="368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23562" name="AutoShape 12">
            <a:extLst>
              <a:ext uri="{FF2B5EF4-FFF2-40B4-BE49-F238E27FC236}">
                <a16:creationId xmlns:a16="http://schemas.microsoft.com/office/drawing/2014/main" id="{46D86E1E-F6A9-3442-EE6D-6A93938ADEBA}"/>
              </a:ext>
            </a:extLst>
          </p:cNvPr>
          <p:cNvCxnSpPr>
            <a:cxnSpLocks noChangeShapeType="1"/>
            <a:stCxn id="23555" idx="2"/>
            <a:endCxn id="23556" idx="0"/>
          </p:cNvCxnSpPr>
          <p:nvPr/>
        </p:nvCxnSpPr>
        <p:spPr bwMode="auto">
          <a:xfrm flipH="1">
            <a:off x="6096000" y="2511425"/>
            <a:ext cx="987425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13">
            <a:extLst>
              <a:ext uri="{FF2B5EF4-FFF2-40B4-BE49-F238E27FC236}">
                <a16:creationId xmlns:a16="http://schemas.microsoft.com/office/drawing/2014/main" id="{FC6E9F05-ECD7-376B-B258-6D60F540D626}"/>
              </a:ext>
            </a:extLst>
          </p:cNvPr>
          <p:cNvCxnSpPr>
            <a:cxnSpLocks noChangeShapeType="1"/>
            <a:stCxn id="23555" idx="2"/>
            <a:endCxn id="23557" idx="0"/>
          </p:cNvCxnSpPr>
          <p:nvPr/>
        </p:nvCxnSpPr>
        <p:spPr bwMode="auto">
          <a:xfrm>
            <a:off x="7083425" y="2511425"/>
            <a:ext cx="981075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14">
            <a:extLst>
              <a:ext uri="{FF2B5EF4-FFF2-40B4-BE49-F238E27FC236}">
                <a16:creationId xmlns:a16="http://schemas.microsoft.com/office/drawing/2014/main" id="{5225072B-E2E5-1646-37C4-3BB94721A3E6}"/>
              </a:ext>
            </a:extLst>
          </p:cNvPr>
          <p:cNvCxnSpPr>
            <a:cxnSpLocks noChangeShapeType="1"/>
            <a:stCxn id="23557" idx="2"/>
            <a:endCxn id="23559" idx="0"/>
          </p:cNvCxnSpPr>
          <p:nvPr/>
        </p:nvCxnSpPr>
        <p:spPr bwMode="auto">
          <a:xfrm>
            <a:off x="8064500" y="3425825"/>
            <a:ext cx="508000" cy="5254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5">
            <a:extLst>
              <a:ext uri="{FF2B5EF4-FFF2-40B4-BE49-F238E27FC236}">
                <a16:creationId xmlns:a16="http://schemas.microsoft.com/office/drawing/2014/main" id="{BE2EB160-A33A-7935-47AC-6B7506DEC853}"/>
              </a:ext>
            </a:extLst>
          </p:cNvPr>
          <p:cNvCxnSpPr>
            <a:cxnSpLocks noChangeShapeType="1"/>
            <a:stCxn id="23557" idx="2"/>
            <a:endCxn id="23558" idx="0"/>
          </p:cNvCxnSpPr>
          <p:nvPr/>
        </p:nvCxnSpPr>
        <p:spPr bwMode="auto">
          <a:xfrm flipH="1">
            <a:off x="7572375" y="3425825"/>
            <a:ext cx="492125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16">
            <a:extLst>
              <a:ext uri="{FF2B5EF4-FFF2-40B4-BE49-F238E27FC236}">
                <a16:creationId xmlns:a16="http://schemas.microsoft.com/office/drawing/2014/main" id="{3983DD50-0315-9C95-8ABB-00D0A71568E4}"/>
              </a:ext>
            </a:extLst>
          </p:cNvPr>
          <p:cNvCxnSpPr>
            <a:cxnSpLocks noChangeShapeType="1"/>
            <a:stCxn id="23556" idx="2"/>
            <a:endCxn id="23561" idx="0"/>
          </p:cNvCxnSpPr>
          <p:nvPr/>
        </p:nvCxnSpPr>
        <p:spPr bwMode="auto">
          <a:xfrm>
            <a:off x="6096000" y="3425825"/>
            <a:ext cx="506413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17">
            <a:extLst>
              <a:ext uri="{FF2B5EF4-FFF2-40B4-BE49-F238E27FC236}">
                <a16:creationId xmlns:a16="http://schemas.microsoft.com/office/drawing/2014/main" id="{55DFCC0C-0BC5-2335-25E5-0D24D0042E7B}"/>
              </a:ext>
            </a:extLst>
          </p:cNvPr>
          <p:cNvCxnSpPr>
            <a:cxnSpLocks noChangeShapeType="1"/>
            <a:stCxn id="23556" idx="2"/>
            <a:endCxn id="23560" idx="0"/>
          </p:cNvCxnSpPr>
          <p:nvPr/>
        </p:nvCxnSpPr>
        <p:spPr bwMode="auto">
          <a:xfrm flipH="1">
            <a:off x="5588000" y="3425825"/>
            <a:ext cx="508000" cy="523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8" name="AutoShape 18">
            <a:extLst>
              <a:ext uri="{FF2B5EF4-FFF2-40B4-BE49-F238E27FC236}">
                <a16:creationId xmlns:a16="http://schemas.microsoft.com/office/drawing/2014/main" id="{A666068B-AE5A-A73F-636A-477D851995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6313" y="4879975"/>
            <a:ext cx="354012" cy="3698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</a:t>
            </a:r>
          </a:p>
        </p:txBody>
      </p:sp>
      <p:cxnSp>
        <p:nvCxnSpPr>
          <p:cNvPr id="23569" name="AutoShape 19">
            <a:extLst>
              <a:ext uri="{FF2B5EF4-FFF2-40B4-BE49-F238E27FC236}">
                <a16:creationId xmlns:a16="http://schemas.microsoft.com/office/drawing/2014/main" id="{4DE49157-EB4F-F151-1ABB-14878EF0AA24}"/>
              </a:ext>
            </a:extLst>
          </p:cNvPr>
          <p:cNvCxnSpPr>
            <a:cxnSpLocks noChangeShapeType="1"/>
            <a:stCxn id="23561" idx="2"/>
            <a:endCxn id="23568" idx="0"/>
          </p:cNvCxnSpPr>
          <p:nvPr/>
        </p:nvCxnSpPr>
        <p:spPr bwMode="auto">
          <a:xfrm flipH="1">
            <a:off x="6234113" y="4340225"/>
            <a:ext cx="368300" cy="530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0" name="AutoShape 20">
            <a:extLst>
              <a:ext uri="{FF2B5EF4-FFF2-40B4-BE49-F238E27FC236}">
                <a16:creationId xmlns:a16="http://schemas.microsoft.com/office/drawing/2014/main" id="{96545FE4-0337-5CAD-6A95-5C853C384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2913" y="4883150"/>
            <a:ext cx="287337" cy="3635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I</a:t>
            </a:r>
          </a:p>
        </p:txBody>
      </p:sp>
      <p:cxnSp>
        <p:nvCxnSpPr>
          <p:cNvPr id="23571" name="AutoShape 21">
            <a:extLst>
              <a:ext uri="{FF2B5EF4-FFF2-40B4-BE49-F238E27FC236}">
                <a16:creationId xmlns:a16="http://schemas.microsoft.com/office/drawing/2014/main" id="{E84EC1D9-8FC7-8F4E-DE1E-38625DE66F87}"/>
              </a:ext>
            </a:extLst>
          </p:cNvPr>
          <p:cNvCxnSpPr>
            <a:cxnSpLocks noChangeShapeType="1"/>
            <a:stCxn id="23561" idx="2"/>
            <a:endCxn id="23570" idx="0"/>
          </p:cNvCxnSpPr>
          <p:nvPr/>
        </p:nvCxnSpPr>
        <p:spPr bwMode="auto">
          <a:xfrm>
            <a:off x="6602413" y="4340225"/>
            <a:ext cx="334962" cy="5334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96D96866-1F6A-7CEE-5BE4-6382827DC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Binary Tree ADT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3870C3D6-4D2C-6D99-B03A-A7678C18B3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752600"/>
            <a:ext cx="35814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The Binary Tree ADT extends the Tree ADT, i.e., it inherits all the methods of the Tree ADT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Additional methods:</a:t>
            </a:r>
          </a:p>
          <a:p>
            <a:pPr lvl="1" eaLnBrk="1" hangingPunct="1"/>
            <a:r>
              <a:rPr lang="en-US" altLang="en-US" sz="1800"/>
              <a:t>position </a:t>
            </a:r>
            <a:r>
              <a:rPr lang="en-US" altLang="en-US" sz="1800">
                <a:solidFill>
                  <a:schemeClr val="tx2"/>
                </a:solidFill>
              </a:rPr>
              <a:t>leftChild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/>
              <a:t>position </a:t>
            </a:r>
            <a:r>
              <a:rPr lang="en-US" altLang="en-US" sz="1800">
                <a:solidFill>
                  <a:schemeClr val="tx2"/>
                </a:solidFill>
              </a:rPr>
              <a:t>rightChild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/>
              <a:t>position </a:t>
            </a:r>
            <a:r>
              <a:rPr lang="en-US" altLang="en-US" sz="1800">
                <a:solidFill>
                  <a:schemeClr val="tx2"/>
                </a:solidFill>
              </a:rPr>
              <a:t>sibling</a:t>
            </a:r>
            <a:r>
              <a:rPr lang="en-US" altLang="en-US" sz="1800"/>
              <a:t>(p)</a:t>
            </a: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1C2C3638-9B2E-6A5E-2D4E-C57261A7C28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752600"/>
            <a:ext cx="42672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Update methods may be defined by data structures implementing the BinaryTree ADT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(p, q)</a:t>
            </a:r>
          </a:p>
          <a:p>
            <a:pPr lvl="1" eaLnBrk="1" hangingPunct="1"/>
            <a:r>
              <a:rPr lang="en-US" altLang="en-US" sz="1800"/>
              <a:t>object </a:t>
            </a:r>
            <a:r>
              <a:rPr lang="en-US" altLang="en-US" sz="1800">
                <a:solidFill>
                  <a:schemeClr val="tx2"/>
                </a:solidFill>
              </a:rPr>
              <a:t>replaceElement</a:t>
            </a:r>
            <a:r>
              <a:rPr lang="en-US" altLang="en-US" sz="1800"/>
              <a:t>(p, o)</a:t>
            </a:r>
          </a:p>
          <a:p>
            <a:pPr eaLnBrk="1" hangingPunct="1"/>
            <a:endParaRPr lang="en-US" altLang="en-US" sz="16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</p:txBody>
      </p:sp>
      <p:sp>
        <p:nvSpPr>
          <p:cNvPr id="24580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8D35608-F4BB-4032-FBAA-2150F0545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267200"/>
            <a:ext cx="3276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arithmetic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decision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searching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57BEB14-3ACA-3C88-C241-FB620FE75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Arithmetic Expression Tree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FA5B471-129F-D0E8-5780-2C3B6D865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Binary tree associated with an arithmetic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internal nodes: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external nodes: operands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 i="1"/>
              <a:t>Example</a:t>
            </a:r>
            <a:r>
              <a:rPr lang="en-US" altLang="en-US" sz="2000"/>
              <a:t>: arithmetic expression tree for the expression: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		(2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/>
              <a:t>a 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/>
              <a:t> 1) </a:t>
            </a:r>
            <a:r>
              <a:rPr lang="en-US" altLang="en-US" sz="1800">
                <a:latin typeface="Symbol" pitchFamily="2" charset="2"/>
              </a:rPr>
              <a:t>+</a:t>
            </a:r>
            <a:r>
              <a:rPr lang="en-US" altLang="en-US" sz="1800"/>
              <a:t> (3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sz="1800"/>
              <a:t>b))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CC832D67-A6E2-717D-978F-F735F1C8BA8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733800"/>
            <a:ext cx="3429000" cy="2286000"/>
            <a:chOff x="2928" y="2256"/>
            <a:chExt cx="2160" cy="1440"/>
          </a:xfrm>
        </p:grpSpPr>
        <p:sp>
          <p:nvSpPr>
            <p:cNvPr id="25604" name="Oval 5">
              <a:extLst>
                <a:ext uri="{FF2B5EF4-FFF2-40B4-BE49-F238E27FC236}">
                  <a16:creationId xmlns:a16="http://schemas.microsoft.com/office/drawing/2014/main" id="{C8C18A2A-9CEA-1640-2CE7-C11D74505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25605" name="Oval 6">
              <a:extLst>
                <a:ext uri="{FF2B5EF4-FFF2-40B4-BE49-F238E27FC236}">
                  <a16:creationId xmlns:a16="http://schemas.microsoft.com/office/drawing/2014/main" id="{43AE30E0-06AA-5B49-12C1-E74BFC630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25606" name="Oval 7">
              <a:extLst>
                <a:ext uri="{FF2B5EF4-FFF2-40B4-BE49-F238E27FC236}">
                  <a16:creationId xmlns:a16="http://schemas.microsoft.com/office/drawing/2014/main" id="{B5443A2E-D7CF-5BA1-C809-17B805714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5607" name="Oval 8">
              <a:extLst>
                <a:ext uri="{FF2B5EF4-FFF2-40B4-BE49-F238E27FC236}">
                  <a16:creationId xmlns:a16="http://schemas.microsoft.com/office/drawing/2014/main" id="{99055EC8-255B-C283-72CD-B7F19F2B6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25608" name="Rectangle 9">
              <a:extLst>
                <a:ext uri="{FF2B5EF4-FFF2-40B4-BE49-F238E27FC236}">
                  <a16:creationId xmlns:a16="http://schemas.microsoft.com/office/drawing/2014/main" id="{E3EAC9C2-1C45-A047-1A83-858EE6B7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5609" name="Rectangle 10">
              <a:extLst>
                <a:ext uri="{FF2B5EF4-FFF2-40B4-BE49-F238E27FC236}">
                  <a16:creationId xmlns:a16="http://schemas.microsoft.com/office/drawing/2014/main" id="{62DC532D-8D1B-4AD5-77C0-A33E538F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5610" name="Rectangle 11">
              <a:extLst>
                <a:ext uri="{FF2B5EF4-FFF2-40B4-BE49-F238E27FC236}">
                  <a16:creationId xmlns:a16="http://schemas.microsoft.com/office/drawing/2014/main" id="{36241A8A-8C94-35E3-3188-5E2DB10C9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5611" name="Rectangle 12">
              <a:extLst>
                <a:ext uri="{FF2B5EF4-FFF2-40B4-BE49-F238E27FC236}">
                  <a16:creationId xmlns:a16="http://schemas.microsoft.com/office/drawing/2014/main" id="{6D293112-E499-A4A3-6E8A-3BAFC1D87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5612" name="Rectangle 13">
              <a:extLst>
                <a:ext uri="{FF2B5EF4-FFF2-40B4-BE49-F238E27FC236}">
                  <a16:creationId xmlns:a16="http://schemas.microsoft.com/office/drawing/2014/main" id="{95B588DC-5DDE-87FF-053E-073416AFC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25613" name="AutoShape 14">
              <a:extLst>
                <a:ext uri="{FF2B5EF4-FFF2-40B4-BE49-F238E27FC236}">
                  <a16:creationId xmlns:a16="http://schemas.microsoft.com/office/drawing/2014/main" id="{E4140FC3-AE8E-6409-F421-5864FFEFFA8C}"/>
                </a:ext>
              </a:extLst>
            </p:cNvPr>
            <p:cNvCxnSpPr>
              <a:cxnSpLocks noChangeShapeType="1"/>
              <a:stCxn id="25604" idx="3"/>
              <a:endCxn id="25606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4" name="AutoShape 15">
              <a:extLst>
                <a:ext uri="{FF2B5EF4-FFF2-40B4-BE49-F238E27FC236}">
                  <a16:creationId xmlns:a16="http://schemas.microsoft.com/office/drawing/2014/main" id="{7893F001-DC3F-4348-79D0-77E1CEC45956}"/>
                </a:ext>
              </a:extLst>
            </p:cNvPr>
            <p:cNvCxnSpPr>
              <a:cxnSpLocks noChangeShapeType="1"/>
              <a:stCxn id="25605" idx="1"/>
              <a:endCxn id="25604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5" name="AutoShape 16">
              <a:extLst>
                <a:ext uri="{FF2B5EF4-FFF2-40B4-BE49-F238E27FC236}">
                  <a16:creationId xmlns:a16="http://schemas.microsoft.com/office/drawing/2014/main" id="{D7AC4085-40BF-3E41-9CC9-66D16F728FF1}"/>
                </a:ext>
              </a:extLst>
            </p:cNvPr>
            <p:cNvCxnSpPr>
              <a:cxnSpLocks noChangeShapeType="1"/>
              <a:stCxn id="25612" idx="0"/>
              <a:endCxn id="25605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6" name="AutoShape 17">
              <a:extLst>
                <a:ext uri="{FF2B5EF4-FFF2-40B4-BE49-F238E27FC236}">
                  <a16:creationId xmlns:a16="http://schemas.microsoft.com/office/drawing/2014/main" id="{83E15D02-05D6-20BB-3A62-39A092E15C4D}"/>
                </a:ext>
              </a:extLst>
            </p:cNvPr>
            <p:cNvCxnSpPr>
              <a:cxnSpLocks noChangeShapeType="1"/>
              <a:stCxn id="25611" idx="0"/>
              <a:endCxn id="25605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7" name="AutoShape 18">
              <a:extLst>
                <a:ext uri="{FF2B5EF4-FFF2-40B4-BE49-F238E27FC236}">
                  <a16:creationId xmlns:a16="http://schemas.microsoft.com/office/drawing/2014/main" id="{15A770FD-45C1-3013-0623-1F00F1F60A58}"/>
                </a:ext>
              </a:extLst>
            </p:cNvPr>
            <p:cNvCxnSpPr>
              <a:cxnSpLocks noChangeShapeType="1"/>
              <a:stCxn id="25610" idx="0"/>
              <a:endCxn id="25607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8" name="AutoShape 19">
              <a:extLst>
                <a:ext uri="{FF2B5EF4-FFF2-40B4-BE49-F238E27FC236}">
                  <a16:creationId xmlns:a16="http://schemas.microsoft.com/office/drawing/2014/main" id="{42742655-EAA6-E855-99D8-EE55F4E3D6D9}"/>
                </a:ext>
              </a:extLst>
            </p:cNvPr>
            <p:cNvCxnSpPr>
              <a:cxnSpLocks noChangeShapeType="1"/>
              <a:stCxn id="25609" idx="0"/>
              <a:endCxn id="25607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9" name="AutoShape 20">
              <a:extLst>
                <a:ext uri="{FF2B5EF4-FFF2-40B4-BE49-F238E27FC236}">
                  <a16:creationId xmlns:a16="http://schemas.microsoft.com/office/drawing/2014/main" id="{90E9D472-B2DB-7028-E7B2-B78509E2B1C3}"/>
                </a:ext>
              </a:extLst>
            </p:cNvPr>
            <p:cNvCxnSpPr>
              <a:cxnSpLocks noChangeShapeType="1"/>
              <a:stCxn id="25608" idx="0"/>
              <a:endCxn id="25606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0" name="AutoShape 21">
              <a:extLst>
                <a:ext uri="{FF2B5EF4-FFF2-40B4-BE49-F238E27FC236}">
                  <a16:creationId xmlns:a16="http://schemas.microsoft.com/office/drawing/2014/main" id="{159B153D-1E30-263B-0C35-D108CC1719CD}"/>
                </a:ext>
              </a:extLst>
            </p:cNvPr>
            <p:cNvCxnSpPr>
              <a:cxnSpLocks noChangeShapeType="1"/>
              <a:stCxn id="25607" idx="1"/>
              <a:endCxn id="25606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154BA02F-A663-2AE5-A376-E2D9D056D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Decision Tree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632C79D6-0A57-BC75-1403-1B444844E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772400" cy="1828800"/>
          </a:xfrm>
        </p:spPr>
        <p:txBody>
          <a:bodyPr/>
          <a:lstStyle/>
          <a:p>
            <a:pPr eaLnBrk="1" hangingPunct="1"/>
            <a:r>
              <a:rPr lang="en-US" altLang="en-US" sz="2000"/>
              <a:t>Binary tree associated with a decision process</a:t>
            </a:r>
          </a:p>
          <a:p>
            <a:pPr lvl="1" eaLnBrk="1" hangingPunct="1"/>
            <a:r>
              <a:rPr lang="en-US" altLang="en-US" sz="1800"/>
              <a:t>internal nodes: questions with yes/no answer</a:t>
            </a:r>
          </a:p>
          <a:p>
            <a:pPr lvl="1" eaLnBrk="1" hangingPunct="1"/>
            <a:r>
              <a:rPr lang="en-US" altLang="en-US" sz="1800"/>
              <a:t>external nodes: decisions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Example: dining decision</a:t>
            </a:r>
          </a:p>
        </p:txBody>
      </p:sp>
      <p:sp>
        <p:nvSpPr>
          <p:cNvPr id="26627" name="AutoShape 4">
            <a:extLst>
              <a:ext uri="{FF2B5EF4-FFF2-40B4-BE49-F238E27FC236}">
                <a16:creationId xmlns:a16="http://schemas.microsoft.com/office/drawing/2014/main" id="{E4F68F6F-1E27-E807-0992-E4B1EDBC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3557588"/>
            <a:ext cx="268922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Want a fast meal?</a:t>
            </a:r>
          </a:p>
        </p:txBody>
      </p:sp>
      <p:sp>
        <p:nvSpPr>
          <p:cNvPr id="26628" name="AutoShape 5">
            <a:extLst>
              <a:ext uri="{FF2B5EF4-FFF2-40B4-BE49-F238E27FC236}">
                <a16:creationId xmlns:a16="http://schemas.microsoft.com/office/drawing/2014/main" id="{1D34F8DF-84A0-FB82-C174-ED3529456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4587875"/>
            <a:ext cx="2770188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How about coffee?</a:t>
            </a:r>
          </a:p>
        </p:txBody>
      </p:sp>
      <p:sp>
        <p:nvSpPr>
          <p:cNvPr id="26629" name="AutoShape 6">
            <a:extLst>
              <a:ext uri="{FF2B5EF4-FFF2-40B4-BE49-F238E27FC236}">
                <a16:creationId xmlns:a16="http://schemas.microsoft.com/office/drawing/2014/main" id="{2157C15C-BF20-FA5A-F548-5B0221AC2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587875"/>
            <a:ext cx="312737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On expense account?</a:t>
            </a:r>
          </a:p>
        </p:txBody>
      </p:sp>
      <p:sp>
        <p:nvSpPr>
          <p:cNvPr id="26630" name="Rectangle 7">
            <a:extLst>
              <a:ext uri="{FF2B5EF4-FFF2-40B4-BE49-F238E27FC236}">
                <a16:creationId xmlns:a16="http://schemas.microsoft.com/office/drawing/2014/main" id="{1AD08DE1-B31F-3294-5BB4-4367FB93A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638" y="5653088"/>
            <a:ext cx="1512887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Starbucks</a:t>
            </a:r>
          </a:p>
        </p:txBody>
      </p:sp>
      <p:sp>
        <p:nvSpPr>
          <p:cNvPr id="26631" name="Rectangle 8">
            <a:extLst>
              <a:ext uri="{FF2B5EF4-FFF2-40B4-BE49-F238E27FC236}">
                <a16:creationId xmlns:a16="http://schemas.microsoft.com/office/drawing/2014/main" id="{A6515536-56B0-3BC4-DD71-7D3396529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53088"/>
            <a:ext cx="1125538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Spike’s</a:t>
            </a:r>
          </a:p>
        </p:txBody>
      </p:sp>
      <p:sp>
        <p:nvSpPr>
          <p:cNvPr id="26632" name="Rectangle 9">
            <a:extLst>
              <a:ext uri="{FF2B5EF4-FFF2-40B4-BE49-F238E27FC236}">
                <a16:creationId xmlns:a16="http://schemas.microsoft.com/office/drawing/2014/main" id="{0CD83B75-4DBF-E5AD-57EA-9B327E818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653088"/>
            <a:ext cx="1319213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Al Forno</a:t>
            </a:r>
          </a:p>
        </p:txBody>
      </p:sp>
      <p:sp>
        <p:nvSpPr>
          <p:cNvPr id="26633" name="Rectangle 10">
            <a:extLst>
              <a:ext uri="{FF2B5EF4-FFF2-40B4-BE49-F238E27FC236}">
                <a16:creationId xmlns:a16="http://schemas.microsoft.com/office/drawing/2014/main" id="{1619E6B1-C601-99D4-F6D8-E857FC87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075" y="5653088"/>
            <a:ext cx="2000250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Café Paragon</a:t>
            </a:r>
          </a:p>
        </p:txBody>
      </p:sp>
      <p:cxnSp>
        <p:nvCxnSpPr>
          <p:cNvPr id="26634" name="AutoShape 11">
            <a:extLst>
              <a:ext uri="{FF2B5EF4-FFF2-40B4-BE49-F238E27FC236}">
                <a16:creationId xmlns:a16="http://schemas.microsoft.com/office/drawing/2014/main" id="{A3045EE6-9242-3B26-B2D2-A8DA57E29648}"/>
              </a:ext>
            </a:extLst>
          </p:cNvPr>
          <p:cNvCxnSpPr>
            <a:cxnSpLocks noChangeShapeType="1"/>
            <a:stCxn id="26627" idx="2"/>
            <a:endCxn id="26628" idx="0"/>
          </p:cNvCxnSpPr>
          <p:nvPr/>
        </p:nvCxnSpPr>
        <p:spPr bwMode="auto">
          <a:xfrm flipH="1">
            <a:off x="2830513" y="4084638"/>
            <a:ext cx="1787525" cy="493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12">
            <a:extLst>
              <a:ext uri="{FF2B5EF4-FFF2-40B4-BE49-F238E27FC236}">
                <a16:creationId xmlns:a16="http://schemas.microsoft.com/office/drawing/2014/main" id="{D8EC196F-5C03-EECA-42FD-4C51858E49B6}"/>
              </a:ext>
            </a:extLst>
          </p:cNvPr>
          <p:cNvCxnSpPr>
            <a:cxnSpLocks noChangeShapeType="1"/>
            <a:stCxn id="26627" idx="2"/>
            <a:endCxn id="26629" idx="0"/>
          </p:cNvCxnSpPr>
          <p:nvPr/>
        </p:nvCxnSpPr>
        <p:spPr bwMode="auto">
          <a:xfrm>
            <a:off x="4618038" y="4084638"/>
            <a:ext cx="1822450" cy="493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AutoShape 13">
            <a:extLst>
              <a:ext uri="{FF2B5EF4-FFF2-40B4-BE49-F238E27FC236}">
                <a16:creationId xmlns:a16="http://schemas.microsoft.com/office/drawing/2014/main" id="{CB02BF03-8112-F2EE-E288-8BB5AD3AF210}"/>
              </a:ext>
            </a:extLst>
          </p:cNvPr>
          <p:cNvCxnSpPr>
            <a:cxnSpLocks noChangeShapeType="1"/>
            <a:stCxn id="26630" idx="0"/>
            <a:endCxn id="26628" idx="2"/>
          </p:cNvCxnSpPr>
          <p:nvPr/>
        </p:nvCxnSpPr>
        <p:spPr bwMode="auto">
          <a:xfrm flipV="1">
            <a:off x="2047875" y="5114925"/>
            <a:ext cx="782638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57663FC2-CB22-0FB7-1227-308B6E90C85B}"/>
              </a:ext>
            </a:extLst>
          </p:cNvPr>
          <p:cNvCxnSpPr>
            <a:cxnSpLocks noChangeShapeType="1"/>
            <a:stCxn id="26631" idx="0"/>
            <a:endCxn id="26628" idx="2"/>
          </p:cNvCxnSpPr>
          <p:nvPr/>
        </p:nvCxnSpPr>
        <p:spPr bwMode="auto">
          <a:xfrm flipH="1" flipV="1">
            <a:off x="2830513" y="5114925"/>
            <a:ext cx="933450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5">
            <a:extLst>
              <a:ext uri="{FF2B5EF4-FFF2-40B4-BE49-F238E27FC236}">
                <a16:creationId xmlns:a16="http://schemas.microsoft.com/office/drawing/2014/main" id="{B7C18121-21A8-43AE-D417-1760971D191D}"/>
              </a:ext>
            </a:extLst>
          </p:cNvPr>
          <p:cNvCxnSpPr>
            <a:cxnSpLocks noChangeShapeType="1"/>
            <a:stCxn id="26632" idx="0"/>
            <a:endCxn id="26629" idx="2"/>
          </p:cNvCxnSpPr>
          <p:nvPr/>
        </p:nvCxnSpPr>
        <p:spPr bwMode="auto">
          <a:xfrm flipV="1">
            <a:off x="5384800" y="5114925"/>
            <a:ext cx="1055688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6">
            <a:extLst>
              <a:ext uri="{FF2B5EF4-FFF2-40B4-BE49-F238E27FC236}">
                <a16:creationId xmlns:a16="http://schemas.microsoft.com/office/drawing/2014/main" id="{6C88DE6A-ED0B-9B27-2064-F92D47AD097A}"/>
              </a:ext>
            </a:extLst>
          </p:cNvPr>
          <p:cNvCxnSpPr>
            <a:cxnSpLocks noChangeShapeType="1"/>
            <a:stCxn id="26633" idx="0"/>
            <a:endCxn id="26629" idx="2"/>
          </p:cNvCxnSpPr>
          <p:nvPr/>
        </p:nvCxnSpPr>
        <p:spPr bwMode="auto">
          <a:xfrm flipH="1" flipV="1">
            <a:off x="6440488" y="5114925"/>
            <a:ext cx="1001712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Text Box 17">
            <a:extLst>
              <a:ext uri="{FF2B5EF4-FFF2-40B4-BE49-F238E27FC236}">
                <a16:creationId xmlns:a16="http://schemas.microsoft.com/office/drawing/2014/main" id="{73720395-CB69-A946-168E-79E27D450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4098925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Yes</a:t>
            </a:r>
          </a:p>
        </p:txBody>
      </p:sp>
      <p:sp>
        <p:nvSpPr>
          <p:cNvPr id="26641" name="Text Box 18">
            <a:extLst>
              <a:ext uri="{FF2B5EF4-FFF2-40B4-BE49-F238E27FC236}">
                <a16:creationId xmlns:a16="http://schemas.microsoft.com/office/drawing/2014/main" id="{D8BEBCD3-CBEB-3549-F2B3-326931CA5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463" y="4097338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No</a:t>
            </a:r>
          </a:p>
        </p:txBody>
      </p:sp>
      <p:sp>
        <p:nvSpPr>
          <p:cNvPr id="26642" name="Text Box 19">
            <a:extLst>
              <a:ext uri="{FF2B5EF4-FFF2-40B4-BE49-F238E27FC236}">
                <a16:creationId xmlns:a16="http://schemas.microsoft.com/office/drawing/2014/main" id="{8B2AAE52-87ED-F7C9-0506-BE13CF5D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181600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Yes</a:t>
            </a:r>
          </a:p>
        </p:txBody>
      </p:sp>
      <p:sp>
        <p:nvSpPr>
          <p:cNvPr id="26643" name="Text Box 20">
            <a:extLst>
              <a:ext uri="{FF2B5EF4-FFF2-40B4-BE49-F238E27FC236}">
                <a16:creationId xmlns:a16="http://schemas.microsoft.com/office/drawing/2014/main" id="{E9681E33-C220-FBD4-DD4C-D83316DE7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181600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No</a:t>
            </a:r>
          </a:p>
        </p:txBody>
      </p:sp>
      <p:sp>
        <p:nvSpPr>
          <p:cNvPr id="26644" name="Text Box 21">
            <a:extLst>
              <a:ext uri="{FF2B5EF4-FFF2-40B4-BE49-F238E27FC236}">
                <a16:creationId xmlns:a16="http://schemas.microsoft.com/office/drawing/2014/main" id="{28FBA697-970F-0336-D5A2-04D464758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181600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Yes</a:t>
            </a:r>
          </a:p>
        </p:txBody>
      </p:sp>
      <p:sp>
        <p:nvSpPr>
          <p:cNvPr id="26645" name="Text Box 22">
            <a:extLst>
              <a:ext uri="{FF2B5EF4-FFF2-40B4-BE49-F238E27FC236}">
                <a16:creationId xmlns:a16="http://schemas.microsoft.com/office/drawing/2014/main" id="{3D81B54F-8BF5-D4E3-9FB3-C7DE6E6E5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5181600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B93A4656-0529-959F-5365-BE323DDA5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Properties of Binary Trees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0EC433F7-2370-FC88-0519-109609C1A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3048000" cy="2590800"/>
          </a:xfrm>
        </p:spPr>
        <p:txBody>
          <a:bodyPr/>
          <a:lstStyle/>
          <a:p>
            <a:pPr eaLnBrk="1" hangingPunct="1"/>
            <a:r>
              <a:rPr lang="en-US" altLang="en-US" sz="2000"/>
              <a:t>Notation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n	</a:t>
            </a:r>
            <a:r>
              <a:rPr lang="en-US" altLang="en-US" sz="1800"/>
              <a:t>number of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e	</a:t>
            </a:r>
            <a:r>
              <a:rPr lang="en-US" altLang="en-US" sz="1800"/>
              <a:t>number of external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i	</a:t>
            </a:r>
            <a:r>
              <a:rPr lang="en-US" altLang="en-US" sz="1800"/>
              <a:t>number of internal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	</a:t>
            </a:r>
            <a:r>
              <a:rPr lang="en-US" altLang="en-US" sz="1800"/>
              <a:t>height</a:t>
            </a:r>
          </a:p>
        </p:txBody>
      </p:sp>
      <p:sp>
        <p:nvSpPr>
          <p:cNvPr id="27651" name="Rectangle 4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C70AD5F-3A56-29B9-201E-3BB7FC36A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371600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Properties:</a:t>
            </a: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=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=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e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endParaRPr lang="en-US" altLang="en-US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h+1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  <a:sym typeface="Symbol" pitchFamily="2" charset="2"/>
              </a:rPr>
              <a:t>  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h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h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-1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2h+1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 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h+1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-1</a:t>
            </a:r>
            <a:endParaRPr lang="en-US" altLang="en-US" sz="1800" b="1" i="1" baseline="300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 - 1)/2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log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</a:rPr>
              <a:t> 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1800" b="1" dirty="0">
                <a:latin typeface="Symbol" pitchFamily="2" charset="2"/>
              </a:rPr>
              <a:t>+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Symbol" pitchFamily="2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  <a:endParaRPr lang="en-US" altLang="en-US" sz="1800" baseline="30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7652" name="Oval 5">
            <a:extLst>
              <a:ext uri="{FF2B5EF4-FFF2-40B4-BE49-F238E27FC236}">
                <a16:creationId xmlns:a16="http://schemas.microsoft.com/office/drawing/2014/main" id="{519CCF2B-EB91-615B-2825-CCEA690B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3434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Symbol" pitchFamily="2" charset="2"/>
            </a:endParaRPr>
          </a:p>
        </p:txBody>
      </p:sp>
      <p:sp>
        <p:nvSpPr>
          <p:cNvPr id="27653" name="Oval 6">
            <a:extLst>
              <a:ext uri="{FF2B5EF4-FFF2-40B4-BE49-F238E27FC236}">
                <a16:creationId xmlns:a16="http://schemas.microsoft.com/office/drawing/2014/main" id="{AF6E292F-E5D4-DC4B-E518-70EFA28FE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953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Symbol" pitchFamily="2" charset="2"/>
              <a:sym typeface="Symbol" pitchFamily="2" charset="2"/>
            </a:endParaRPr>
          </a:p>
        </p:txBody>
      </p:sp>
      <p:sp>
        <p:nvSpPr>
          <p:cNvPr id="27654" name="Oval 7">
            <a:extLst>
              <a:ext uri="{FF2B5EF4-FFF2-40B4-BE49-F238E27FC236}">
                <a16:creationId xmlns:a16="http://schemas.microsoft.com/office/drawing/2014/main" id="{DF4C7642-2CB7-5CBE-AD4D-03132C303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953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Symbol" pitchFamily="2" charset="2"/>
            </a:endParaRPr>
          </a:p>
        </p:txBody>
      </p:sp>
      <p:sp>
        <p:nvSpPr>
          <p:cNvPr id="27655" name="Rectangle 8">
            <a:extLst>
              <a:ext uri="{FF2B5EF4-FFF2-40B4-BE49-F238E27FC236}">
                <a16:creationId xmlns:a16="http://schemas.microsoft.com/office/drawing/2014/main" id="{F1EAAB0B-558B-70F4-A953-C3A7CF7BC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626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6" name="Rectangle 9">
            <a:extLst>
              <a:ext uri="{FF2B5EF4-FFF2-40B4-BE49-F238E27FC236}">
                <a16:creationId xmlns:a16="http://schemas.microsoft.com/office/drawing/2014/main" id="{AACCF3B6-083A-585E-B85D-EB1C83D11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5626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7" name="Rectangle 10">
            <a:extLst>
              <a:ext uri="{FF2B5EF4-FFF2-40B4-BE49-F238E27FC236}">
                <a16:creationId xmlns:a16="http://schemas.microsoft.com/office/drawing/2014/main" id="{58E474D5-9A42-5789-562D-24C7ED9CB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5626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7658" name="AutoShape 11">
            <a:extLst>
              <a:ext uri="{FF2B5EF4-FFF2-40B4-BE49-F238E27FC236}">
                <a16:creationId xmlns:a16="http://schemas.microsoft.com/office/drawing/2014/main" id="{FE4C9AF2-F408-CB93-0D33-3F55754CFEBD}"/>
              </a:ext>
            </a:extLst>
          </p:cNvPr>
          <p:cNvCxnSpPr>
            <a:cxnSpLocks noChangeShapeType="1"/>
            <a:stCxn id="27652" idx="3"/>
            <a:endCxn id="27654" idx="7"/>
          </p:cNvCxnSpPr>
          <p:nvPr/>
        </p:nvCxnSpPr>
        <p:spPr bwMode="auto">
          <a:xfrm flipH="1">
            <a:off x="1468438" y="4678363"/>
            <a:ext cx="4921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9" name="AutoShape 12">
            <a:extLst>
              <a:ext uri="{FF2B5EF4-FFF2-40B4-BE49-F238E27FC236}">
                <a16:creationId xmlns:a16="http://schemas.microsoft.com/office/drawing/2014/main" id="{10018116-3952-1DBC-36AE-5A7F6FE4B58D}"/>
              </a:ext>
            </a:extLst>
          </p:cNvPr>
          <p:cNvCxnSpPr>
            <a:cxnSpLocks noChangeShapeType="1"/>
            <a:stCxn id="27653" idx="1"/>
            <a:endCxn id="27652" idx="5"/>
          </p:cNvCxnSpPr>
          <p:nvPr/>
        </p:nvCxnSpPr>
        <p:spPr bwMode="auto">
          <a:xfrm flipH="1" flipV="1">
            <a:off x="2230438" y="4678363"/>
            <a:ext cx="4921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3">
            <a:extLst>
              <a:ext uri="{FF2B5EF4-FFF2-40B4-BE49-F238E27FC236}">
                <a16:creationId xmlns:a16="http://schemas.microsoft.com/office/drawing/2014/main" id="{FFD943E5-6148-77E9-08F9-85182DF8AA07}"/>
              </a:ext>
            </a:extLst>
          </p:cNvPr>
          <p:cNvCxnSpPr>
            <a:cxnSpLocks noChangeShapeType="1"/>
            <a:stCxn id="27657" idx="0"/>
            <a:endCxn id="27653" idx="5"/>
          </p:cNvCxnSpPr>
          <p:nvPr/>
        </p:nvCxnSpPr>
        <p:spPr bwMode="auto">
          <a:xfrm flipH="1" flipV="1">
            <a:off x="2992438" y="5287963"/>
            <a:ext cx="2460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4">
            <a:extLst>
              <a:ext uri="{FF2B5EF4-FFF2-40B4-BE49-F238E27FC236}">
                <a16:creationId xmlns:a16="http://schemas.microsoft.com/office/drawing/2014/main" id="{F79E2FCE-4162-C80E-3E71-1FA9E2A1E094}"/>
              </a:ext>
            </a:extLst>
          </p:cNvPr>
          <p:cNvCxnSpPr>
            <a:cxnSpLocks noChangeShapeType="1"/>
            <a:stCxn id="27656" idx="0"/>
            <a:endCxn id="27653" idx="3"/>
          </p:cNvCxnSpPr>
          <p:nvPr/>
        </p:nvCxnSpPr>
        <p:spPr bwMode="auto">
          <a:xfrm flipV="1">
            <a:off x="2476500" y="5287963"/>
            <a:ext cx="2460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5">
            <a:extLst>
              <a:ext uri="{FF2B5EF4-FFF2-40B4-BE49-F238E27FC236}">
                <a16:creationId xmlns:a16="http://schemas.microsoft.com/office/drawing/2014/main" id="{2C4A3FB8-F679-5E77-3E53-7ACF1C4FD2EF}"/>
              </a:ext>
            </a:extLst>
          </p:cNvPr>
          <p:cNvCxnSpPr>
            <a:cxnSpLocks noChangeShapeType="1"/>
            <a:stCxn id="27655" idx="0"/>
            <a:endCxn id="27654" idx="3"/>
          </p:cNvCxnSpPr>
          <p:nvPr/>
        </p:nvCxnSpPr>
        <p:spPr bwMode="auto">
          <a:xfrm flipV="1">
            <a:off x="952500" y="5287963"/>
            <a:ext cx="2460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6">
            <a:extLst>
              <a:ext uri="{FF2B5EF4-FFF2-40B4-BE49-F238E27FC236}">
                <a16:creationId xmlns:a16="http://schemas.microsoft.com/office/drawing/2014/main" id="{6CD1BBD9-27A2-BACC-C5FB-BF456277BD02}"/>
              </a:ext>
            </a:extLst>
          </p:cNvPr>
          <p:cNvCxnSpPr>
            <a:cxnSpLocks noChangeShapeType="1"/>
            <a:stCxn id="27664" idx="0"/>
            <a:endCxn id="27654" idx="5"/>
          </p:cNvCxnSpPr>
          <p:nvPr/>
        </p:nvCxnSpPr>
        <p:spPr bwMode="auto">
          <a:xfrm flipH="1" flipV="1">
            <a:off x="1468438" y="5287963"/>
            <a:ext cx="2460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4" name="Rectangle 17">
            <a:extLst>
              <a:ext uri="{FF2B5EF4-FFF2-40B4-BE49-F238E27FC236}">
                <a16:creationId xmlns:a16="http://schemas.microsoft.com/office/drawing/2014/main" id="{CAF1C9D9-D1EF-4AE7-A621-EAF246C2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626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7665" name="Group 18">
            <a:extLst>
              <a:ext uri="{FF2B5EF4-FFF2-40B4-BE49-F238E27FC236}">
                <a16:creationId xmlns:a16="http://schemas.microsoft.com/office/drawing/2014/main" id="{480E5630-21A1-853C-E853-26206BF3F21E}"/>
              </a:ext>
            </a:extLst>
          </p:cNvPr>
          <p:cNvGrpSpPr>
            <a:grpSpLocks/>
          </p:cNvGrpSpPr>
          <p:nvPr/>
        </p:nvGrpSpPr>
        <p:grpSpPr bwMode="auto">
          <a:xfrm>
            <a:off x="3784600" y="3733800"/>
            <a:ext cx="2311400" cy="2286000"/>
            <a:chOff x="2064" y="2256"/>
            <a:chExt cx="1456" cy="1440"/>
          </a:xfrm>
        </p:grpSpPr>
        <p:sp>
          <p:nvSpPr>
            <p:cNvPr id="27667" name="Oval 19">
              <a:extLst>
                <a:ext uri="{FF2B5EF4-FFF2-40B4-BE49-F238E27FC236}">
                  <a16:creationId xmlns:a16="http://schemas.microsoft.com/office/drawing/2014/main" id="{4169BC89-0EFE-5C34-F28A-1242643D1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7668" name="Oval 20">
              <a:extLst>
                <a:ext uri="{FF2B5EF4-FFF2-40B4-BE49-F238E27FC236}">
                  <a16:creationId xmlns:a16="http://schemas.microsoft.com/office/drawing/2014/main" id="{005885B9-177B-0EC3-6894-50D328443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7669" name="Rectangle 21">
              <a:extLst>
                <a:ext uri="{FF2B5EF4-FFF2-40B4-BE49-F238E27FC236}">
                  <a16:creationId xmlns:a16="http://schemas.microsoft.com/office/drawing/2014/main" id="{20DB51B9-C3D6-9713-FB67-D2934225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072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0" name="AutoShape 22">
              <a:extLst>
                <a:ext uri="{FF2B5EF4-FFF2-40B4-BE49-F238E27FC236}">
                  <a16:creationId xmlns:a16="http://schemas.microsoft.com/office/drawing/2014/main" id="{4EC809CE-9BE9-7D6B-F2FC-5DEA96F8BDCB}"/>
                </a:ext>
              </a:extLst>
            </p:cNvPr>
            <p:cNvCxnSpPr>
              <a:cxnSpLocks noChangeShapeType="1"/>
              <a:stCxn id="27668" idx="1"/>
              <a:endCxn id="27667" idx="5"/>
            </p:cNvCxnSpPr>
            <p:nvPr/>
          </p:nvCxnSpPr>
          <p:spPr bwMode="auto">
            <a:xfrm flipH="1" flipV="1">
              <a:off x="2557" y="2467"/>
              <a:ext cx="166" cy="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1" name="AutoShape 23">
              <a:extLst>
                <a:ext uri="{FF2B5EF4-FFF2-40B4-BE49-F238E27FC236}">
                  <a16:creationId xmlns:a16="http://schemas.microsoft.com/office/drawing/2014/main" id="{4A3FC401-F721-4F9C-6A46-FBF28A63B060}"/>
                </a:ext>
              </a:extLst>
            </p:cNvPr>
            <p:cNvCxnSpPr>
              <a:cxnSpLocks noChangeShapeType="1"/>
              <a:stCxn id="27675" idx="1"/>
              <a:endCxn id="27668" idx="5"/>
            </p:cNvCxnSpPr>
            <p:nvPr/>
          </p:nvCxnSpPr>
          <p:spPr bwMode="auto">
            <a:xfrm flipH="1" flipV="1">
              <a:off x="2893" y="2899"/>
              <a:ext cx="158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2" name="AutoShape 24">
              <a:extLst>
                <a:ext uri="{FF2B5EF4-FFF2-40B4-BE49-F238E27FC236}">
                  <a16:creationId xmlns:a16="http://schemas.microsoft.com/office/drawing/2014/main" id="{9EA0A7D4-4ECD-A6B1-9C08-0B8B28D7EEE1}"/>
                </a:ext>
              </a:extLst>
            </p:cNvPr>
            <p:cNvCxnSpPr>
              <a:cxnSpLocks noChangeShapeType="1"/>
              <a:stCxn id="27669" idx="0"/>
              <a:endCxn id="27668" idx="3"/>
            </p:cNvCxnSpPr>
            <p:nvPr/>
          </p:nvCxnSpPr>
          <p:spPr bwMode="auto">
            <a:xfrm flipV="1">
              <a:off x="2568" y="2899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3" name="Rectangle 25">
              <a:extLst>
                <a:ext uri="{FF2B5EF4-FFF2-40B4-BE49-F238E27FC236}">
                  <a16:creationId xmlns:a16="http://schemas.microsoft.com/office/drawing/2014/main" id="{ED238717-366E-5A4C-3C47-13E176EB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88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4" name="AutoShape 26">
              <a:extLst>
                <a:ext uri="{FF2B5EF4-FFF2-40B4-BE49-F238E27FC236}">
                  <a16:creationId xmlns:a16="http://schemas.microsoft.com/office/drawing/2014/main" id="{9C599F30-D3B2-2409-DF36-1AAF709B7B8B}"/>
                </a:ext>
              </a:extLst>
            </p:cNvPr>
            <p:cNvCxnSpPr>
              <a:cxnSpLocks noChangeShapeType="1"/>
              <a:stCxn id="27673" idx="0"/>
              <a:endCxn id="27667" idx="3"/>
            </p:cNvCxnSpPr>
            <p:nvPr/>
          </p:nvCxnSpPr>
          <p:spPr bwMode="auto">
            <a:xfrm flipV="1">
              <a:off x="2184" y="2467"/>
              <a:ext cx="203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5" name="Oval 27">
              <a:extLst>
                <a:ext uri="{FF2B5EF4-FFF2-40B4-BE49-F238E27FC236}">
                  <a16:creationId xmlns:a16="http://schemas.microsoft.com/office/drawing/2014/main" id="{76778E50-4592-513C-16EA-5918A41B1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0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7676" name="Rectangle 28">
              <a:extLst>
                <a:ext uri="{FF2B5EF4-FFF2-40B4-BE49-F238E27FC236}">
                  <a16:creationId xmlns:a16="http://schemas.microsoft.com/office/drawing/2014/main" id="{04B4F900-BC2F-8198-0BD3-8F06458AD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7677" name="Rectangle 29">
              <a:extLst>
                <a:ext uri="{FF2B5EF4-FFF2-40B4-BE49-F238E27FC236}">
                  <a16:creationId xmlns:a16="http://schemas.microsoft.com/office/drawing/2014/main" id="{E00565DB-E758-1364-A230-A518CA006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8" name="AutoShape 30">
              <a:extLst>
                <a:ext uri="{FF2B5EF4-FFF2-40B4-BE49-F238E27FC236}">
                  <a16:creationId xmlns:a16="http://schemas.microsoft.com/office/drawing/2014/main" id="{535F6AC7-40D5-AF12-AE17-87D95EC32625}"/>
                </a:ext>
              </a:extLst>
            </p:cNvPr>
            <p:cNvCxnSpPr>
              <a:cxnSpLocks noChangeShapeType="1"/>
              <a:stCxn id="27677" idx="0"/>
              <a:endCxn id="27675" idx="5"/>
            </p:cNvCxnSpPr>
            <p:nvPr/>
          </p:nvCxnSpPr>
          <p:spPr bwMode="auto">
            <a:xfrm flipH="1" flipV="1">
              <a:off x="3221" y="3283"/>
              <a:ext cx="179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9" name="AutoShape 31">
              <a:extLst>
                <a:ext uri="{FF2B5EF4-FFF2-40B4-BE49-F238E27FC236}">
                  <a16:creationId xmlns:a16="http://schemas.microsoft.com/office/drawing/2014/main" id="{FA0382F5-2B8C-B3D6-60EF-484A643AFFB8}"/>
                </a:ext>
              </a:extLst>
            </p:cNvPr>
            <p:cNvCxnSpPr>
              <a:cxnSpLocks noChangeShapeType="1"/>
              <a:stCxn id="27676" idx="0"/>
              <a:endCxn id="27675" idx="3"/>
            </p:cNvCxnSpPr>
            <p:nvPr/>
          </p:nvCxnSpPr>
          <p:spPr bwMode="auto">
            <a:xfrm flipV="1">
              <a:off x="2904" y="3283"/>
              <a:ext cx="14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66" name="TextBox 32">
            <a:extLst>
              <a:ext uri="{FF2B5EF4-FFF2-40B4-BE49-F238E27FC236}">
                <a16:creationId xmlns:a16="http://schemas.microsoft.com/office/drawing/2014/main" id="{B001ED13-2C09-F085-8BCA-019EE4986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1722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Two extreme cases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9593B1D-6EEF-57BA-F165-1D384427D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Tree Traversal: Pre-order and Post-order</a:t>
            </a:r>
          </a:p>
        </p:txBody>
      </p:sp>
      <p:sp>
        <p:nvSpPr>
          <p:cNvPr id="28674" name="Text Box 4">
            <a:extLst>
              <a:ext uri="{FF2B5EF4-FFF2-40B4-BE49-F238E27FC236}">
                <a16:creationId xmlns:a16="http://schemas.microsoft.com/office/drawing/2014/main" id="{7A49B9B4-38DB-67A7-426E-C56CD1542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6475"/>
            <a:ext cx="4114800" cy="1903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B-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preOrder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is an internal node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B-preOrder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T,T.leftChild(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B-preOrder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T,T.rightChild(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8675" name="Text Box 5">
            <a:extLst>
              <a:ext uri="{FF2B5EF4-FFF2-40B4-BE49-F238E27FC236}">
                <a16:creationId xmlns:a16="http://schemas.microsoft.com/office/drawing/2014/main" id="{22D57290-0602-2E23-AC02-E6425516C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46475"/>
            <a:ext cx="4267200" cy="1938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B-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postOrder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</a:rPr>
              <a:t>v is an internal node </a:t>
            </a:r>
            <a:r>
              <a:rPr lang="en-US" altLang="en-US" b="1">
                <a:latin typeface="Times New Roman" panose="02020603050405020304" pitchFamily="18" charset="0"/>
              </a:rPr>
              <a:t>then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  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B-postOrder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T,T.leftChild(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B-postOrder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T,T.rightChild(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endParaRPr lang="en-US" altLang="en-US" sz="8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visit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6" name="Text Box 6">
            <a:extLst>
              <a:ext uri="{FF2B5EF4-FFF2-40B4-BE49-F238E27FC236}">
                <a16:creationId xmlns:a16="http://schemas.microsoft.com/office/drawing/2014/main" id="{AED213CC-2C4A-C564-401D-310860CC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52600"/>
            <a:ext cx="56388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Similar to the methods for general trees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(Except that only two children are considered)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460AC746-F8AE-954F-72C0-8842E5743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Tree Traversal: Inorder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0BBC7E45-E1A6-2672-C859-27B620AEC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3752850" cy="2590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 an inorder traversal a node is visited after its left subtree and before its right subtree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Print arithmetic expressions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E10FF20B-4BE8-40C1-8F86-E040B138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447800"/>
            <a:ext cx="4191000" cy="2438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isInternal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leftChild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isInternal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rightChild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grpSp>
        <p:nvGrpSpPr>
          <p:cNvPr id="29700" name="Group 5">
            <a:extLst>
              <a:ext uri="{FF2B5EF4-FFF2-40B4-BE49-F238E27FC236}">
                <a16:creationId xmlns:a16="http://schemas.microsoft.com/office/drawing/2014/main" id="{A47737E4-B2B6-5784-6DEE-933190B2FE90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4114800"/>
            <a:ext cx="3429000" cy="2286000"/>
            <a:chOff x="2928" y="2256"/>
            <a:chExt cx="2160" cy="1440"/>
          </a:xfrm>
        </p:grpSpPr>
        <p:sp>
          <p:nvSpPr>
            <p:cNvPr id="29711" name="Oval 6">
              <a:extLst>
                <a:ext uri="{FF2B5EF4-FFF2-40B4-BE49-F238E27FC236}">
                  <a16:creationId xmlns:a16="http://schemas.microsoft.com/office/drawing/2014/main" id="{66D0D0C3-8D26-8DD1-D411-18E6C0B97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9712" name="Oval 7">
              <a:extLst>
                <a:ext uri="{FF2B5EF4-FFF2-40B4-BE49-F238E27FC236}">
                  <a16:creationId xmlns:a16="http://schemas.microsoft.com/office/drawing/2014/main" id="{3EC8A798-13CB-5580-4F93-CE1D2E5FD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9713" name="Oval 8">
              <a:extLst>
                <a:ext uri="{FF2B5EF4-FFF2-40B4-BE49-F238E27FC236}">
                  <a16:creationId xmlns:a16="http://schemas.microsoft.com/office/drawing/2014/main" id="{4C6C66A2-23C0-D63F-4FE6-5864DDAAD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9714" name="Oval 9">
              <a:extLst>
                <a:ext uri="{FF2B5EF4-FFF2-40B4-BE49-F238E27FC236}">
                  <a16:creationId xmlns:a16="http://schemas.microsoft.com/office/drawing/2014/main" id="{7514F6DC-B8D6-AEF0-613C-64093248E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9715" name="Rectangle 10">
              <a:extLst>
                <a:ext uri="{FF2B5EF4-FFF2-40B4-BE49-F238E27FC236}">
                  <a16:creationId xmlns:a16="http://schemas.microsoft.com/office/drawing/2014/main" id="{94532CA6-9948-9579-9845-8DEFF9AC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9716" name="Rectangle 11">
              <a:extLst>
                <a:ext uri="{FF2B5EF4-FFF2-40B4-BE49-F238E27FC236}">
                  <a16:creationId xmlns:a16="http://schemas.microsoft.com/office/drawing/2014/main" id="{9310E652-4CEC-8AF6-4944-0042021BD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9717" name="Rectangle 12">
              <a:extLst>
                <a:ext uri="{FF2B5EF4-FFF2-40B4-BE49-F238E27FC236}">
                  <a16:creationId xmlns:a16="http://schemas.microsoft.com/office/drawing/2014/main" id="{12868755-4758-C09D-509F-BCA846B2D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9718" name="Rectangle 13">
              <a:extLst>
                <a:ext uri="{FF2B5EF4-FFF2-40B4-BE49-F238E27FC236}">
                  <a16:creationId xmlns:a16="http://schemas.microsoft.com/office/drawing/2014/main" id="{FB983505-3065-929D-7B39-1F50F2336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9719" name="Rectangle 14">
              <a:extLst>
                <a:ext uri="{FF2B5EF4-FFF2-40B4-BE49-F238E27FC236}">
                  <a16:creationId xmlns:a16="http://schemas.microsoft.com/office/drawing/2014/main" id="{A12F2D16-98E7-779B-F110-0AFA8EE8A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9720" name="AutoShape 15">
              <a:extLst>
                <a:ext uri="{FF2B5EF4-FFF2-40B4-BE49-F238E27FC236}">
                  <a16:creationId xmlns:a16="http://schemas.microsoft.com/office/drawing/2014/main" id="{DC03B066-C17A-89D5-392F-E6D9C1609884}"/>
                </a:ext>
              </a:extLst>
            </p:cNvPr>
            <p:cNvCxnSpPr>
              <a:cxnSpLocks noChangeShapeType="1"/>
              <a:stCxn id="29711" idx="3"/>
              <a:endCxn id="29713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1" name="AutoShape 16">
              <a:extLst>
                <a:ext uri="{FF2B5EF4-FFF2-40B4-BE49-F238E27FC236}">
                  <a16:creationId xmlns:a16="http://schemas.microsoft.com/office/drawing/2014/main" id="{9578A714-F2E0-1163-238D-2FB7D1FE6B74}"/>
                </a:ext>
              </a:extLst>
            </p:cNvPr>
            <p:cNvCxnSpPr>
              <a:cxnSpLocks noChangeShapeType="1"/>
              <a:stCxn id="29712" idx="1"/>
              <a:endCxn id="29711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2" name="AutoShape 17">
              <a:extLst>
                <a:ext uri="{FF2B5EF4-FFF2-40B4-BE49-F238E27FC236}">
                  <a16:creationId xmlns:a16="http://schemas.microsoft.com/office/drawing/2014/main" id="{FA0C2B32-2EAB-9736-EA49-6C67A040A6AD}"/>
                </a:ext>
              </a:extLst>
            </p:cNvPr>
            <p:cNvCxnSpPr>
              <a:cxnSpLocks noChangeShapeType="1"/>
              <a:stCxn id="29719" idx="0"/>
              <a:endCxn id="29712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3" name="AutoShape 18">
              <a:extLst>
                <a:ext uri="{FF2B5EF4-FFF2-40B4-BE49-F238E27FC236}">
                  <a16:creationId xmlns:a16="http://schemas.microsoft.com/office/drawing/2014/main" id="{394D32C6-1D82-1717-6CBE-48CD7199DDF5}"/>
                </a:ext>
              </a:extLst>
            </p:cNvPr>
            <p:cNvCxnSpPr>
              <a:cxnSpLocks noChangeShapeType="1"/>
              <a:stCxn id="29718" idx="0"/>
              <a:endCxn id="29712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4" name="AutoShape 19">
              <a:extLst>
                <a:ext uri="{FF2B5EF4-FFF2-40B4-BE49-F238E27FC236}">
                  <a16:creationId xmlns:a16="http://schemas.microsoft.com/office/drawing/2014/main" id="{2B686467-DA48-C708-DE80-1646A3DEF729}"/>
                </a:ext>
              </a:extLst>
            </p:cNvPr>
            <p:cNvCxnSpPr>
              <a:cxnSpLocks noChangeShapeType="1"/>
              <a:stCxn id="29717" idx="0"/>
              <a:endCxn id="29714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5" name="AutoShape 20">
              <a:extLst>
                <a:ext uri="{FF2B5EF4-FFF2-40B4-BE49-F238E27FC236}">
                  <a16:creationId xmlns:a16="http://schemas.microsoft.com/office/drawing/2014/main" id="{41255353-21C1-A9E3-5CE2-999A264C1926}"/>
                </a:ext>
              </a:extLst>
            </p:cNvPr>
            <p:cNvCxnSpPr>
              <a:cxnSpLocks noChangeShapeType="1"/>
              <a:stCxn id="29716" idx="0"/>
              <a:endCxn id="29714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21">
              <a:extLst>
                <a:ext uri="{FF2B5EF4-FFF2-40B4-BE49-F238E27FC236}">
                  <a16:creationId xmlns:a16="http://schemas.microsoft.com/office/drawing/2014/main" id="{1610D85F-5E46-FC61-A17E-C928A06DDE0C}"/>
                </a:ext>
              </a:extLst>
            </p:cNvPr>
            <p:cNvCxnSpPr>
              <a:cxnSpLocks noChangeShapeType="1"/>
              <a:stCxn id="29715" idx="0"/>
              <a:endCxn id="29713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7" name="AutoShape 22">
              <a:extLst>
                <a:ext uri="{FF2B5EF4-FFF2-40B4-BE49-F238E27FC236}">
                  <a16:creationId xmlns:a16="http://schemas.microsoft.com/office/drawing/2014/main" id="{CD4E7414-0D58-43EA-B1A1-F4EBADC1EB37}"/>
                </a:ext>
              </a:extLst>
            </p:cNvPr>
            <p:cNvCxnSpPr>
              <a:cxnSpLocks noChangeShapeType="1"/>
              <a:stCxn id="29714" idx="1"/>
              <a:endCxn id="29713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01" name="Text Box 23">
            <a:extLst>
              <a:ext uri="{FF2B5EF4-FFF2-40B4-BE49-F238E27FC236}">
                <a16:creationId xmlns:a16="http://schemas.microsoft.com/office/drawing/2014/main" id="{88923178-AE25-C393-43C8-718BC295E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56388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9702" name="Text Box 24">
            <a:extLst>
              <a:ext uri="{FF2B5EF4-FFF2-40B4-BE49-F238E27FC236}">
                <a16:creationId xmlns:a16="http://schemas.microsoft.com/office/drawing/2014/main" id="{328B419C-0AE1-FBF5-DD3C-4E7E4DE85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9911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9703" name="Text Box 25">
            <a:extLst>
              <a:ext uri="{FF2B5EF4-FFF2-40B4-BE49-F238E27FC236}">
                <a16:creationId xmlns:a16="http://schemas.microsoft.com/office/drawing/2014/main" id="{093BE812-1AC9-28B2-023C-FDEC3A400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225" y="441166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9704" name="Text Box 26">
            <a:extLst>
              <a:ext uri="{FF2B5EF4-FFF2-40B4-BE49-F238E27FC236}">
                <a16:creationId xmlns:a16="http://schemas.microsoft.com/office/drawing/2014/main" id="{81597FD5-AEDD-10B3-F141-BCD87E979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488" y="56388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29705" name="Text Box 27">
            <a:extLst>
              <a:ext uri="{FF2B5EF4-FFF2-40B4-BE49-F238E27FC236}">
                <a16:creationId xmlns:a16="http://schemas.microsoft.com/office/drawing/2014/main" id="{430E6066-9C92-B776-227F-AC1395025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025" y="38862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9706" name="Text Box 28">
            <a:extLst>
              <a:ext uri="{FF2B5EF4-FFF2-40B4-BE49-F238E27FC236}">
                <a16:creationId xmlns:a16="http://schemas.microsoft.com/office/drawing/2014/main" id="{9B9806A3-EABD-844D-D478-1E021FA61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88" y="49911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9707" name="Text Box 29">
            <a:extLst>
              <a:ext uri="{FF2B5EF4-FFF2-40B4-BE49-F238E27FC236}">
                <a16:creationId xmlns:a16="http://schemas.microsoft.com/office/drawing/2014/main" id="{5B02C553-1974-DF0D-C7BD-7A58E0CF8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688" y="49911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9708" name="Text Box 30">
            <a:extLst>
              <a:ext uri="{FF2B5EF4-FFF2-40B4-BE49-F238E27FC236}">
                <a16:creationId xmlns:a16="http://schemas.microsoft.com/office/drawing/2014/main" id="{77F78C22-FCD2-BCD8-820C-14E908BC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013" y="441166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9709" name="Text Box 31">
            <a:extLst>
              <a:ext uri="{FF2B5EF4-FFF2-40B4-BE49-F238E27FC236}">
                <a16:creationId xmlns:a16="http://schemas.microsoft.com/office/drawing/2014/main" id="{04E31036-F413-41F1-227C-569E73435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49911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9710" name="TextBox 32">
            <a:extLst>
              <a:ext uri="{FF2B5EF4-FFF2-40B4-BE49-F238E27FC236}">
                <a16:creationId xmlns:a16="http://schemas.microsoft.com/office/drawing/2014/main" id="{2BD98D97-C3D7-1BEA-381C-6EE62D2B5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953000"/>
            <a:ext cx="2362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C00000"/>
                </a:solidFill>
              </a:rPr>
              <a:t>Applies to binary trees only 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3CC97E5E-7B1C-163C-28FA-DA3A1B107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Print Arithmetic Expressions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1097B18E-C8F6-F99E-6F94-274CC12C9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4038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Specialization of an </a:t>
            </a:r>
            <a:r>
              <a:rPr lang="en-US" altLang="en-US" sz="2000" dirty="0" err="1">
                <a:solidFill>
                  <a:srgbClr val="C00000"/>
                </a:solidFill>
              </a:rPr>
              <a:t>inorder</a:t>
            </a:r>
            <a:r>
              <a:rPr lang="en-US" altLang="en-US" sz="2000" dirty="0"/>
              <a:t> traversal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operand or operator when visiting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“(“ before traversing left subtree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“)“ after traversing right subtree</a:t>
            </a:r>
          </a:p>
        </p:txBody>
      </p:sp>
      <p:grpSp>
        <p:nvGrpSpPr>
          <p:cNvPr id="30723" name="Group 5">
            <a:extLst>
              <a:ext uri="{FF2B5EF4-FFF2-40B4-BE49-F238E27FC236}">
                <a16:creationId xmlns:a16="http://schemas.microsoft.com/office/drawing/2014/main" id="{EFB60328-28B5-00DB-A4A5-EBA6B328F31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886200"/>
            <a:ext cx="3429000" cy="2286000"/>
            <a:chOff x="2928" y="2256"/>
            <a:chExt cx="2160" cy="1440"/>
          </a:xfrm>
        </p:grpSpPr>
        <p:sp>
          <p:nvSpPr>
            <p:cNvPr id="30726" name="Oval 6">
              <a:extLst>
                <a:ext uri="{FF2B5EF4-FFF2-40B4-BE49-F238E27FC236}">
                  <a16:creationId xmlns:a16="http://schemas.microsoft.com/office/drawing/2014/main" id="{56857800-5F34-5B58-61B3-56051A72D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30727" name="Oval 7">
              <a:extLst>
                <a:ext uri="{FF2B5EF4-FFF2-40B4-BE49-F238E27FC236}">
                  <a16:creationId xmlns:a16="http://schemas.microsoft.com/office/drawing/2014/main" id="{3831D162-85B7-746A-99C1-B3F3FFDA2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30728" name="Oval 8">
              <a:extLst>
                <a:ext uri="{FF2B5EF4-FFF2-40B4-BE49-F238E27FC236}">
                  <a16:creationId xmlns:a16="http://schemas.microsoft.com/office/drawing/2014/main" id="{8F5DA76E-DC3F-7FBF-7B20-971635246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30729" name="Oval 9">
              <a:extLst>
                <a:ext uri="{FF2B5EF4-FFF2-40B4-BE49-F238E27FC236}">
                  <a16:creationId xmlns:a16="http://schemas.microsoft.com/office/drawing/2014/main" id="{8DF3132B-996A-0CBD-4BE9-66CC42EF0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30730" name="Rectangle 10">
              <a:extLst>
                <a:ext uri="{FF2B5EF4-FFF2-40B4-BE49-F238E27FC236}">
                  <a16:creationId xmlns:a16="http://schemas.microsoft.com/office/drawing/2014/main" id="{BB54E5F9-1CC7-06A1-D141-C45AB10D5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0731" name="Rectangle 11">
              <a:extLst>
                <a:ext uri="{FF2B5EF4-FFF2-40B4-BE49-F238E27FC236}">
                  <a16:creationId xmlns:a16="http://schemas.microsoft.com/office/drawing/2014/main" id="{BA0B81BB-5919-D0AE-6979-BA4264C9C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0732" name="Rectangle 12">
              <a:extLst>
                <a:ext uri="{FF2B5EF4-FFF2-40B4-BE49-F238E27FC236}">
                  <a16:creationId xmlns:a16="http://schemas.microsoft.com/office/drawing/2014/main" id="{78C29002-439B-CA65-10D1-D8DCCEFC3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0733" name="Rectangle 13">
              <a:extLst>
                <a:ext uri="{FF2B5EF4-FFF2-40B4-BE49-F238E27FC236}">
                  <a16:creationId xmlns:a16="http://schemas.microsoft.com/office/drawing/2014/main" id="{FE82E958-AE90-3340-D946-845654D8E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0734" name="Rectangle 14">
              <a:extLst>
                <a:ext uri="{FF2B5EF4-FFF2-40B4-BE49-F238E27FC236}">
                  <a16:creationId xmlns:a16="http://schemas.microsoft.com/office/drawing/2014/main" id="{A1721FB0-7D05-1A33-35F9-E442F867B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30735" name="AutoShape 15">
              <a:extLst>
                <a:ext uri="{FF2B5EF4-FFF2-40B4-BE49-F238E27FC236}">
                  <a16:creationId xmlns:a16="http://schemas.microsoft.com/office/drawing/2014/main" id="{B800B17D-8E6E-F5EA-7FD3-29F07D24BD93}"/>
                </a:ext>
              </a:extLst>
            </p:cNvPr>
            <p:cNvCxnSpPr>
              <a:cxnSpLocks noChangeShapeType="1"/>
              <a:stCxn id="30726" idx="3"/>
              <a:endCxn id="30728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6" name="AutoShape 16">
              <a:extLst>
                <a:ext uri="{FF2B5EF4-FFF2-40B4-BE49-F238E27FC236}">
                  <a16:creationId xmlns:a16="http://schemas.microsoft.com/office/drawing/2014/main" id="{90F5D381-3F75-AB80-8F2C-1558FFB24758}"/>
                </a:ext>
              </a:extLst>
            </p:cNvPr>
            <p:cNvCxnSpPr>
              <a:cxnSpLocks noChangeShapeType="1"/>
              <a:stCxn id="30727" idx="1"/>
              <a:endCxn id="30726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7" name="AutoShape 17">
              <a:extLst>
                <a:ext uri="{FF2B5EF4-FFF2-40B4-BE49-F238E27FC236}">
                  <a16:creationId xmlns:a16="http://schemas.microsoft.com/office/drawing/2014/main" id="{CFFF9205-0074-B4E2-3D25-9A1D7D277767}"/>
                </a:ext>
              </a:extLst>
            </p:cNvPr>
            <p:cNvCxnSpPr>
              <a:cxnSpLocks noChangeShapeType="1"/>
              <a:stCxn id="30734" idx="0"/>
              <a:endCxn id="30727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AutoShape 18">
              <a:extLst>
                <a:ext uri="{FF2B5EF4-FFF2-40B4-BE49-F238E27FC236}">
                  <a16:creationId xmlns:a16="http://schemas.microsoft.com/office/drawing/2014/main" id="{E83AC616-611D-4578-F3EF-33017C9E4052}"/>
                </a:ext>
              </a:extLst>
            </p:cNvPr>
            <p:cNvCxnSpPr>
              <a:cxnSpLocks noChangeShapeType="1"/>
              <a:stCxn id="30733" idx="0"/>
              <a:endCxn id="30727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9" name="AutoShape 19">
              <a:extLst>
                <a:ext uri="{FF2B5EF4-FFF2-40B4-BE49-F238E27FC236}">
                  <a16:creationId xmlns:a16="http://schemas.microsoft.com/office/drawing/2014/main" id="{55E1B69D-DB8E-9FDF-DFF4-E238776850CD}"/>
                </a:ext>
              </a:extLst>
            </p:cNvPr>
            <p:cNvCxnSpPr>
              <a:cxnSpLocks noChangeShapeType="1"/>
              <a:stCxn id="30732" idx="0"/>
              <a:endCxn id="30729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0" name="AutoShape 20">
              <a:extLst>
                <a:ext uri="{FF2B5EF4-FFF2-40B4-BE49-F238E27FC236}">
                  <a16:creationId xmlns:a16="http://schemas.microsoft.com/office/drawing/2014/main" id="{F49A78AB-DDF4-9061-27D8-74FC6C64F2BB}"/>
                </a:ext>
              </a:extLst>
            </p:cNvPr>
            <p:cNvCxnSpPr>
              <a:cxnSpLocks noChangeShapeType="1"/>
              <a:stCxn id="30731" idx="0"/>
              <a:endCxn id="30729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1" name="AutoShape 21">
              <a:extLst>
                <a:ext uri="{FF2B5EF4-FFF2-40B4-BE49-F238E27FC236}">
                  <a16:creationId xmlns:a16="http://schemas.microsoft.com/office/drawing/2014/main" id="{8373429D-18AE-9324-5825-301AEC878540}"/>
                </a:ext>
              </a:extLst>
            </p:cNvPr>
            <p:cNvCxnSpPr>
              <a:cxnSpLocks noChangeShapeType="1"/>
              <a:stCxn id="30730" idx="0"/>
              <a:endCxn id="30728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22">
              <a:extLst>
                <a:ext uri="{FF2B5EF4-FFF2-40B4-BE49-F238E27FC236}">
                  <a16:creationId xmlns:a16="http://schemas.microsoft.com/office/drawing/2014/main" id="{7DF7E550-D8AB-C385-37DE-0901A2F6991C}"/>
                </a:ext>
              </a:extLst>
            </p:cNvPr>
            <p:cNvCxnSpPr>
              <a:cxnSpLocks noChangeShapeType="1"/>
              <a:stCxn id="30729" idx="1"/>
              <a:endCxn id="30728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4" name="Text Box 23">
            <a:extLst>
              <a:ext uri="{FF2B5EF4-FFF2-40B4-BE49-F238E27FC236}">
                <a16:creationId xmlns:a16="http://schemas.microsoft.com/office/drawing/2014/main" id="{A9D16EAD-2489-AE4F-FD6A-7F7D265D4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410200"/>
            <a:ext cx="332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((2 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>
                <a:latin typeface="Tahoma" panose="020B0604030504040204" pitchFamily="34" charset="0"/>
              </a:rPr>
              <a:t>a </a:t>
            </a:r>
            <a:r>
              <a:rPr lang="en-US" altLang="en-US">
                <a:latin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</a:rPr>
              <a:t> 1)) </a:t>
            </a:r>
            <a:r>
              <a:rPr lang="en-US" altLang="en-US">
                <a:latin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</a:rPr>
              <a:t> (3 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>
                <a:latin typeface="Tahoma" panose="020B0604030504040204" pitchFamily="34" charset="0"/>
              </a:rPr>
              <a:t>b))</a:t>
            </a:r>
          </a:p>
        </p:txBody>
      </p:sp>
      <p:sp>
        <p:nvSpPr>
          <p:cNvPr id="30725" name="Text Box 24">
            <a:extLst>
              <a:ext uri="{FF2B5EF4-FFF2-40B4-BE49-F238E27FC236}">
                <a16:creationId xmlns:a16="http://schemas.microsoft.com/office/drawing/2014/main" id="{67BF71E4-9764-05A1-A437-688FB23C3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1371600"/>
            <a:ext cx="4295775" cy="3055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printExpr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(T,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isExternal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print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v.element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print </a:t>
            </a:r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“(“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printExpr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(T, T.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leftChild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</a:rPr>
              <a:t>print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</a:rPr>
              <a:t>v.element </a:t>
            </a:r>
            <a:r>
              <a:rPr lang="en-US" altLang="en-US" sz="1800">
                <a:solidFill>
                  <a:schemeClr val="accent2"/>
                </a:solidFill>
              </a:rPr>
              <a:t>()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printExpr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(T, T.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rightChild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</a:rPr>
              <a:t>print </a:t>
            </a:r>
            <a:r>
              <a:rPr lang="en-US" altLang="en-US" sz="1800" b="1">
                <a:solidFill>
                  <a:srgbClr val="0000FF"/>
                </a:solidFill>
              </a:rPr>
              <a:t>“)“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A6D2A606-BAEC-6DB3-BF9E-FCC63BC5A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76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Evaluate Arithmetic Expressions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5F7879CF-545D-B465-D5B0-F0FF25661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3886200" cy="2362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Specialization of a </a:t>
            </a:r>
            <a:r>
              <a:rPr lang="en-US" altLang="en-US" sz="2000" dirty="0" err="1">
                <a:solidFill>
                  <a:srgbClr val="C00000"/>
                </a:solidFill>
              </a:rPr>
              <a:t>postorder</a:t>
            </a:r>
            <a:r>
              <a:rPr lang="en-US" altLang="en-US" sz="2000" dirty="0"/>
              <a:t> traversal</a:t>
            </a:r>
          </a:p>
          <a:p>
            <a:pPr lvl="1" eaLnBrk="1" hangingPunct="1"/>
            <a:r>
              <a:rPr lang="en-US" altLang="en-US" sz="1800" dirty="0"/>
              <a:t>recursive method returning the value of a subtree</a:t>
            </a:r>
          </a:p>
          <a:p>
            <a:pPr lvl="1" eaLnBrk="1" hangingPunct="1"/>
            <a:r>
              <a:rPr lang="en-US" altLang="en-US" sz="1800" dirty="0"/>
              <a:t>when visiting an internal node, combine the values of the subtrees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AB0620FE-5A36-5940-30E6-F4D3F9B28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1371600"/>
            <a:ext cx="4191000" cy="2720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isExternal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v.element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leftChild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rightChild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 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operator stored at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y</a:t>
            </a:r>
          </a:p>
        </p:txBody>
      </p:sp>
      <p:grpSp>
        <p:nvGrpSpPr>
          <p:cNvPr id="31748" name="Group 5">
            <a:extLst>
              <a:ext uri="{FF2B5EF4-FFF2-40B4-BE49-F238E27FC236}">
                <a16:creationId xmlns:a16="http://schemas.microsoft.com/office/drawing/2014/main" id="{FFFCBC95-204D-1073-B142-43B3229B7575}"/>
              </a:ext>
            </a:extLst>
          </p:cNvPr>
          <p:cNvGrpSpPr>
            <a:grpSpLocks/>
          </p:cNvGrpSpPr>
          <p:nvPr/>
        </p:nvGrpSpPr>
        <p:grpSpPr bwMode="auto">
          <a:xfrm>
            <a:off x="1131888" y="4038600"/>
            <a:ext cx="3429000" cy="2286000"/>
            <a:chOff x="2928" y="2256"/>
            <a:chExt cx="2160" cy="1440"/>
          </a:xfrm>
        </p:grpSpPr>
        <p:sp>
          <p:nvSpPr>
            <p:cNvPr id="31750" name="Oval 6">
              <a:extLst>
                <a:ext uri="{FF2B5EF4-FFF2-40B4-BE49-F238E27FC236}">
                  <a16:creationId xmlns:a16="http://schemas.microsoft.com/office/drawing/2014/main" id="{D05E56BC-9465-2147-1C4B-785E9BDCD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31751" name="Oval 7">
              <a:extLst>
                <a:ext uri="{FF2B5EF4-FFF2-40B4-BE49-F238E27FC236}">
                  <a16:creationId xmlns:a16="http://schemas.microsoft.com/office/drawing/2014/main" id="{5DF218CA-07F4-F783-A97B-B28503BA7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31752" name="Oval 8">
              <a:extLst>
                <a:ext uri="{FF2B5EF4-FFF2-40B4-BE49-F238E27FC236}">
                  <a16:creationId xmlns:a16="http://schemas.microsoft.com/office/drawing/2014/main" id="{0498A18B-81D5-2267-1BDB-19E9DD4E1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31753" name="Oval 9">
              <a:extLst>
                <a:ext uri="{FF2B5EF4-FFF2-40B4-BE49-F238E27FC236}">
                  <a16:creationId xmlns:a16="http://schemas.microsoft.com/office/drawing/2014/main" id="{7553BE56-5B7A-607B-3A18-795E94AED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31754" name="Rectangle 10">
              <a:extLst>
                <a:ext uri="{FF2B5EF4-FFF2-40B4-BE49-F238E27FC236}">
                  <a16:creationId xmlns:a16="http://schemas.microsoft.com/office/drawing/2014/main" id="{2FB9E835-2F91-DD48-C8F5-B8CC3AB1E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1755" name="Rectangle 11">
              <a:extLst>
                <a:ext uri="{FF2B5EF4-FFF2-40B4-BE49-F238E27FC236}">
                  <a16:creationId xmlns:a16="http://schemas.microsoft.com/office/drawing/2014/main" id="{00DB1312-4794-E000-F9AE-F9C2F2C9A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31756" name="Rectangle 12">
              <a:extLst>
                <a:ext uri="{FF2B5EF4-FFF2-40B4-BE49-F238E27FC236}">
                  <a16:creationId xmlns:a16="http://schemas.microsoft.com/office/drawing/2014/main" id="{0A2508B0-AD24-F1E6-56D2-4E4A877BA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1757" name="Rectangle 13">
              <a:extLst>
                <a:ext uri="{FF2B5EF4-FFF2-40B4-BE49-F238E27FC236}">
                  <a16:creationId xmlns:a16="http://schemas.microsoft.com/office/drawing/2014/main" id="{499CDAE5-3D38-5A05-1CFF-C61F98AC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1758" name="Rectangle 14">
              <a:extLst>
                <a:ext uri="{FF2B5EF4-FFF2-40B4-BE49-F238E27FC236}">
                  <a16:creationId xmlns:a16="http://schemas.microsoft.com/office/drawing/2014/main" id="{2158C7B4-CDF8-E624-BD07-489A29476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cxnSp>
          <p:nvCxnSpPr>
            <p:cNvPr id="31759" name="AutoShape 15">
              <a:extLst>
                <a:ext uri="{FF2B5EF4-FFF2-40B4-BE49-F238E27FC236}">
                  <a16:creationId xmlns:a16="http://schemas.microsoft.com/office/drawing/2014/main" id="{67F68810-34DA-9E0D-A488-C192D9043836}"/>
                </a:ext>
              </a:extLst>
            </p:cNvPr>
            <p:cNvCxnSpPr>
              <a:cxnSpLocks noChangeShapeType="1"/>
              <a:stCxn id="31750" idx="3"/>
              <a:endCxn id="31752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16">
              <a:extLst>
                <a:ext uri="{FF2B5EF4-FFF2-40B4-BE49-F238E27FC236}">
                  <a16:creationId xmlns:a16="http://schemas.microsoft.com/office/drawing/2014/main" id="{F9BC096C-4BA6-001F-F275-E381A1DCA842}"/>
                </a:ext>
              </a:extLst>
            </p:cNvPr>
            <p:cNvCxnSpPr>
              <a:cxnSpLocks noChangeShapeType="1"/>
              <a:stCxn id="31751" idx="1"/>
              <a:endCxn id="31750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17">
              <a:extLst>
                <a:ext uri="{FF2B5EF4-FFF2-40B4-BE49-F238E27FC236}">
                  <a16:creationId xmlns:a16="http://schemas.microsoft.com/office/drawing/2014/main" id="{EA2C213C-4D38-7A46-F493-0AB93B42D145}"/>
                </a:ext>
              </a:extLst>
            </p:cNvPr>
            <p:cNvCxnSpPr>
              <a:cxnSpLocks noChangeShapeType="1"/>
              <a:stCxn id="31758" idx="0"/>
              <a:endCxn id="31751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2" name="AutoShape 18">
              <a:extLst>
                <a:ext uri="{FF2B5EF4-FFF2-40B4-BE49-F238E27FC236}">
                  <a16:creationId xmlns:a16="http://schemas.microsoft.com/office/drawing/2014/main" id="{8345B595-E955-3FBB-F264-747806D0AA7D}"/>
                </a:ext>
              </a:extLst>
            </p:cNvPr>
            <p:cNvCxnSpPr>
              <a:cxnSpLocks noChangeShapeType="1"/>
              <a:stCxn id="31757" idx="0"/>
              <a:endCxn id="31751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3" name="AutoShape 19">
              <a:extLst>
                <a:ext uri="{FF2B5EF4-FFF2-40B4-BE49-F238E27FC236}">
                  <a16:creationId xmlns:a16="http://schemas.microsoft.com/office/drawing/2014/main" id="{8EAF6D22-EB13-3BD9-3EE7-5CD3F0937E2F}"/>
                </a:ext>
              </a:extLst>
            </p:cNvPr>
            <p:cNvCxnSpPr>
              <a:cxnSpLocks noChangeShapeType="1"/>
              <a:stCxn id="31756" idx="0"/>
              <a:endCxn id="31753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4" name="AutoShape 20">
              <a:extLst>
                <a:ext uri="{FF2B5EF4-FFF2-40B4-BE49-F238E27FC236}">
                  <a16:creationId xmlns:a16="http://schemas.microsoft.com/office/drawing/2014/main" id="{DB1AA33D-ABC2-1957-617D-12236A1486F8}"/>
                </a:ext>
              </a:extLst>
            </p:cNvPr>
            <p:cNvCxnSpPr>
              <a:cxnSpLocks noChangeShapeType="1"/>
              <a:stCxn id="31755" idx="0"/>
              <a:endCxn id="31753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5" name="AutoShape 21">
              <a:extLst>
                <a:ext uri="{FF2B5EF4-FFF2-40B4-BE49-F238E27FC236}">
                  <a16:creationId xmlns:a16="http://schemas.microsoft.com/office/drawing/2014/main" id="{633EEDEE-204D-E4B4-336B-4B2E2439CCC7}"/>
                </a:ext>
              </a:extLst>
            </p:cNvPr>
            <p:cNvCxnSpPr>
              <a:cxnSpLocks noChangeShapeType="1"/>
              <a:stCxn id="31754" idx="0"/>
              <a:endCxn id="31752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6" name="AutoShape 22">
              <a:extLst>
                <a:ext uri="{FF2B5EF4-FFF2-40B4-BE49-F238E27FC236}">
                  <a16:creationId xmlns:a16="http://schemas.microsoft.com/office/drawing/2014/main" id="{1B6080C3-3F36-FF8A-2672-AE60C2DC21CE}"/>
                </a:ext>
              </a:extLst>
            </p:cNvPr>
            <p:cNvCxnSpPr>
              <a:cxnSpLocks noChangeShapeType="1"/>
              <a:stCxn id="31753" idx="1"/>
              <a:endCxn id="31752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A05F0C3-FA14-2641-40A2-C8215D963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Euler Tour Traversal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9D20B5DD-FC31-B089-17AE-F6FD4F776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534400" cy="2895600"/>
          </a:xfrm>
        </p:spPr>
        <p:txBody>
          <a:bodyPr/>
          <a:lstStyle/>
          <a:p>
            <a:pPr eaLnBrk="1" hangingPunct="1"/>
            <a:r>
              <a:rPr lang="en-US" altLang="en-US" sz="2000"/>
              <a:t>Generic traversal of a </a:t>
            </a:r>
            <a:r>
              <a:rPr lang="en-US" altLang="en-US" sz="2000" b="1"/>
              <a:t>binary</a:t>
            </a:r>
            <a:r>
              <a:rPr lang="en-US" altLang="en-US" sz="2000"/>
              <a:t> tree (a closed contour enclosing the tree)</a:t>
            </a:r>
          </a:p>
          <a:p>
            <a:pPr eaLnBrk="1" hangingPunct="1"/>
            <a:r>
              <a:rPr lang="en-US" altLang="en-US" sz="2000"/>
              <a:t>Each node is visited three times: L, R ,B. For an external node, all three happen at the same time</a:t>
            </a:r>
          </a:p>
          <a:p>
            <a:pPr eaLnBrk="1" hangingPunct="1"/>
            <a:r>
              <a:rPr lang="en-US" altLang="en-US" sz="2000"/>
              <a:t>Special cases: the preorder, postorder and inorder traversals</a:t>
            </a:r>
          </a:p>
          <a:p>
            <a:pPr eaLnBrk="1" hangingPunct="1"/>
            <a:r>
              <a:rPr lang="en-US" altLang="en-US" sz="2000"/>
              <a:t>Walk around the tree:</a:t>
            </a:r>
          </a:p>
          <a:p>
            <a:pPr lvl="1" eaLnBrk="1" hangingPunct="1"/>
            <a:r>
              <a:rPr lang="en-US" altLang="en-US" sz="1800"/>
              <a:t>Pick up “L” (preorder)</a:t>
            </a:r>
          </a:p>
          <a:p>
            <a:pPr lvl="1" eaLnBrk="1" hangingPunct="1"/>
            <a:r>
              <a:rPr lang="en-US" altLang="en-US" sz="1800"/>
              <a:t>Pick up “B” (inorder)</a:t>
            </a:r>
          </a:p>
          <a:p>
            <a:pPr lvl="1" eaLnBrk="1" hangingPunct="1"/>
            <a:r>
              <a:rPr lang="en-US" altLang="en-US" sz="1800"/>
              <a:t>Pick up “R” (postorder)</a:t>
            </a:r>
          </a:p>
        </p:txBody>
      </p:sp>
      <p:sp>
        <p:nvSpPr>
          <p:cNvPr id="32771" name="Oval 4">
            <a:extLst>
              <a:ext uri="{FF2B5EF4-FFF2-40B4-BE49-F238E27FC236}">
                <a16:creationId xmlns:a16="http://schemas.microsoft.com/office/drawing/2014/main" id="{B8D66624-4B81-8CB9-C941-D3550B47B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38385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</a:rPr>
              <a:t>+</a:t>
            </a:r>
          </a:p>
        </p:txBody>
      </p:sp>
      <p:sp>
        <p:nvSpPr>
          <p:cNvPr id="32772" name="Oval 5">
            <a:extLst>
              <a:ext uri="{FF2B5EF4-FFF2-40B4-BE49-F238E27FC236}">
                <a16:creationId xmlns:a16="http://schemas.microsoft.com/office/drawing/2014/main" id="{31079AE9-1493-0031-5140-85FE1B476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44481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  <a:sym typeface="Symbol" pitchFamily="2" charset="2"/>
              </a:rPr>
              <a:t></a:t>
            </a: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A1D42D8B-48F1-7BC2-351D-75C811833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577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</a:rPr>
              <a:t>-</a:t>
            </a:r>
          </a:p>
        </p:txBody>
      </p:sp>
      <p:sp>
        <p:nvSpPr>
          <p:cNvPr id="32774" name="Rectangle 7">
            <a:extLst>
              <a:ext uri="{FF2B5EF4-FFF2-40B4-BE49-F238E27FC236}">
                <a16:creationId xmlns:a16="http://schemas.microsoft.com/office/drawing/2014/main" id="{8127756F-2BA6-910D-5136-F352FAED1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32775" name="Rectangle 8">
            <a:extLst>
              <a:ext uri="{FF2B5EF4-FFF2-40B4-BE49-F238E27FC236}">
                <a16:creationId xmlns:a16="http://schemas.microsoft.com/office/drawing/2014/main" id="{2EE69E80-8563-7CB2-BB0C-1A7729D6D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75" y="57435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F11C23DD-5E69-73C2-9FD9-FAECDE3C6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57435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868DD81D-9AEB-B706-D1F9-0D78DC589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32778" name="Rectangle 11">
            <a:extLst>
              <a:ext uri="{FF2B5EF4-FFF2-40B4-BE49-F238E27FC236}">
                <a16:creationId xmlns:a16="http://schemas.microsoft.com/office/drawing/2014/main" id="{97E1EC5A-3F0C-9CB2-FFA6-1B40C337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2</a:t>
            </a:r>
          </a:p>
        </p:txBody>
      </p:sp>
      <p:cxnSp>
        <p:nvCxnSpPr>
          <p:cNvPr id="32779" name="AutoShape 12">
            <a:extLst>
              <a:ext uri="{FF2B5EF4-FFF2-40B4-BE49-F238E27FC236}">
                <a16:creationId xmlns:a16="http://schemas.microsoft.com/office/drawing/2014/main" id="{CD1FA732-1CB1-5C3F-7AE3-8010E4CA949C}"/>
              </a:ext>
            </a:extLst>
          </p:cNvPr>
          <p:cNvCxnSpPr>
            <a:cxnSpLocks noChangeShapeType="1"/>
            <a:stCxn id="32772" idx="1"/>
            <a:endCxn id="32771" idx="5"/>
          </p:cNvCxnSpPr>
          <p:nvPr/>
        </p:nvCxnSpPr>
        <p:spPr bwMode="auto">
          <a:xfrm flipH="1" flipV="1">
            <a:off x="6288088" y="4173538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0" name="AutoShape 13">
            <a:extLst>
              <a:ext uri="{FF2B5EF4-FFF2-40B4-BE49-F238E27FC236}">
                <a16:creationId xmlns:a16="http://schemas.microsoft.com/office/drawing/2014/main" id="{5DC2613F-542A-3E74-D3CA-4E94E15880B1}"/>
              </a:ext>
            </a:extLst>
          </p:cNvPr>
          <p:cNvCxnSpPr>
            <a:cxnSpLocks noChangeShapeType="1"/>
            <a:stCxn id="32778" idx="0"/>
            <a:endCxn id="32772" idx="5"/>
          </p:cNvCxnSpPr>
          <p:nvPr/>
        </p:nvCxnSpPr>
        <p:spPr bwMode="auto">
          <a:xfrm flipH="1" flipV="1">
            <a:off x="7373938" y="4783138"/>
            <a:ext cx="40798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1" name="AutoShape 14">
            <a:extLst>
              <a:ext uri="{FF2B5EF4-FFF2-40B4-BE49-F238E27FC236}">
                <a16:creationId xmlns:a16="http://schemas.microsoft.com/office/drawing/2014/main" id="{0BAD5743-564E-C282-6930-6C670FCC30F9}"/>
              </a:ext>
            </a:extLst>
          </p:cNvPr>
          <p:cNvCxnSpPr>
            <a:cxnSpLocks noChangeShapeType="1"/>
            <a:stCxn id="32777" idx="0"/>
            <a:endCxn id="32772" idx="3"/>
          </p:cNvCxnSpPr>
          <p:nvPr/>
        </p:nvCxnSpPr>
        <p:spPr bwMode="auto">
          <a:xfrm flipV="1">
            <a:off x="6696075" y="4783138"/>
            <a:ext cx="40798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2" name="AutoShape 15">
            <a:extLst>
              <a:ext uri="{FF2B5EF4-FFF2-40B4-BE49-F238E27FC236}">
                <a16:creationId xmlns:a16="http://schemas.microsoft.com/office/drawing/2014/main" id="{FD5E50E1-45F9-31DB-3680-448057352C77}"/>
              </a:ext>
            </a:extLst>
          </p:cNvPr>
          <p:cNvCxnSpPr>
            <a:cxnSpLocks noChangeShapeType="1"/>
            <a:stCxn id="32776" idx="0"/>
            <a:endCxn id="32773" idx="5"/>
          </p:cNvCxnSpPr>
          <p:nvPr/>
        </p:nvCxnSpPr>
        <p:spPr bwMode="auto">
          <a:xfrm flipH="1" flipV="1">
            <a:off x="5202238" y="5392738"/>
            <a:ext cx="407987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16">
            <a:extLst>
              <a:ext uri="{FF2B5EF4-FFF2-40B4-BE49-F238E27FC236}">
                <a16:creationId xmlns:a16="http://schemas.microsoft.com/office/drawing/2014/main" id="{2641F72D-E1A7-9E41-7771-0359F1351305}"/>
              </a:ext>
            </a:extLst>
          </p:cNvPr>
          <p:cNvCxnSpPr>
            <a:cxnSpLocks noChangeShapeType="1"/>
            <a:stCxn id="32775" idx="0"/>
            <a:endCxn id="32773" idx="3"/>
          </p:cNvCxnSpPr>
          <p:nvPr/>
        </p:nvCxnSpPr>
        <p:spPr bwMode="auto">
          <a:xfrm flipV="1">
            <a:off x="4524375" y="5392738"/>
            <a:ext cx="407988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Freeform 17">
            <a:extLst>
              <a:ext uri="{FF2B5EF4-FFF2-40B4-BE49-F238E27FC236}">
                <a16:creationId xmlns:a16="http://schemas.microsoft.com/office/drawing/2014/main" id="{78F66080-EB51-62BD-D309-2B9A07D4C518}"/>
              </a:ext>
            </a:extLst>
          </p:cNvPr>
          <p:cNvSpPr>
            <a:spLocks/>
          </p:cNvSpPr>
          <p:nvPr/>
        </p:nvSpPr>
        <p:spPr bwMode="auto">
          <a:xfrm>
            <a:off x="2982913" y="3609975"/>
            <a:ext cx="5246687" cy="2790825"/>
          </a:xfrm>
          <a:custGeom>
            <a:avLst/>
            <a:gdLst>
              <a:gd name="T0" fmla="*/ 2147483646 w 3305"/>
              <a:gd name="T1" fmla="*/ 120967500 h 1758"/>
              <a:gd name="T2" fmla="*/ 2147483646 w 3305"/>
              <a:gd name="T3" fmla="*/ 619958438 h 1758"/>
              <a:gd name="T4" fmla="*/ 2147483646 w 3305"/>
              <a:gd name="T5" fmla="*/ 907256250 h 1758"/>
              <a:gd name="T6" fmla="*/ 919856150 w 3305"/>
              <a:gd name="T7" fmla="*/ 1542335625 h 1758"/>
              <a:gd name="T8" fmla="*/ 57962794 w 3305"/>
              <a:gd name="T9" fmla="*/ 2147483646 h 1758"/>
              <a:gd name="T10" fmla="*/ 572074620 w 3305"/>
              <a:gd name="T11" fmla="*/ 2147483646 h 1758"/>
              <a:gd name="T12" fmla="*/ 1388606755 w 3305"/>
              <a:gd name="T13" fmla="*/ 2147483646 h 1758"/>
              <a:gd name="T14" fmla="*/ 1660782017 w 3305"/>
              <a:gd name="T15" fmla="*/ 2116931250 h 1758"/>
              <a:gd name="T16" fmla="*/ 2147483646 w 3305"/>
              <a:gd name="T17" fmla="*/ 2147483646 h 1758"/>
              <a:gd name="T18" fmla="*/ 2023684482 w 3305"/>
              <a:gd name="T19" fmla="*/ 2147483646 h 1758"/>
              <a:gd name="T20" fmla="*/ 1736386697 w 3305"/>
              <a:gd name="T21" fmla="*/ 2147483646 h 1758"/>
              <a:gd name="T22" fmla="*/ 2147483646 w 3305"/>
              <a:gd name="T23" fmla="*/ 2147483646 h 1758"/>
              <a:gd name="T24" fmla="*/ 2147483646 w 3305"/>
              <a:gd name="T25" fmla="*/ 2147483646 h 1758"/>
              <a:gd name="T26" fmla="*/ 2147483646 w 3305"/>
              <a:gd name="T27" fmla="*/ 2147483646 h 1758"/>
              <a:gd name="T28" fmla="*/ 2147483646 w 3305"/>
              <a:gd name="T29" fmla="*/ 2147483646 h 1758"/>
              <a:gd name="T30" fmla="*/ 2147483646 w 3305"/>
              <a:gd name="T31" fmla="*/ 2147483646 h 1758"/>
              <a:gd name="T32" fmla="*/ 2147483646 w 3305"/>
              <a:gd name="T33" fmla="*/ 2147483646 h 1758"/>
              <a:gd name="T34" fmla="*/ 2147483646 w 3305"/>
              <a:gd name="T35" fmla="*/ 2147483646 h 1758"/>
              <a:gd name="T36" fmla="*/ 2147483646 w 3305"/>
              <a:gd name="T37" fmla="*/ 2041326563 h 1758"/>
              <a:gd name="T38" fmla="*/ 2069047290 w 3305"/>
              <a:gd name="T39" fmla="*/ 1648182188 h 1758"/>
              <a:gd name="T40" fmla="*/ 2147483646 w 3305"/>
              <a:gd name="T41" fmla="*/ 1209675000 h 1758"/>
              <a:gd name="T42" fmla="*/ 2147483646 w 3305"/>
              <a:gd name="T43" fmla="*/ 1648182188 h 1758"/>
              <a:gd name="T44" fmla="*/ 2147483646 w 3305"/>
              <a:gd name="T45" fmla="*/ 2147483646 h 1758"/>
              <a:gd name="T46" fmla="*/ 2147483646 w 3305"/>
              <a:gd name="T47" fmla="*/ 2147483646 h 1758"/>
              <a:gd name="T48" fmla="*/ 2147483646 w 3305"/>
              <a:gd name="T49" fmla="*/ 2147483646 h 1758"/>
              <a:gd name="T50" fmla="*/ 2147483646 w 3305"/>
              <a:gd name="T51" fmla="*/ 2147483646 h 1758"/>
              <a:gd name="T52" fmla="*/ 2147483646 w 3305"/>
              <a:gd name="T53" fmla="*/ 2116931250 h 1758"/>
              <a:gd name="T54" fmla="*/ 2147483646 w 3305"/>
              <a:gd name="T55" fmla="*/ 2147483646 h 1758"/>
              <a:gd name="T56" fmla="*/ 2147483646 w 3305"/>
              <a:gd name="T57" fmla="*/ 2147483646 h 1758"/>
              <a:gd name="T58" fmla="*/ 2147483646 w 3305"/>
              <a:gd name="T59" fmla="*/ 2147483646 h 1758"/>
              <a:gd name="T60" fmla="*/ 2147483646 w 3305"/>
              <a:gd name="T61" fmla="*/ 2147483646 h 1758"/>
              <a:gd name="T62" fmla="*/ 2147483646 w 3305"/>
              <a:gd name="T63" fmla="*/ 1617940313 h 1758"/>
              <a:gd name="T64" fmla="*/ 2147483646 w 3305"/>
              <a:gd name="T65" fmla="*/ 1209675000 h 1758"/>
              <a:gd name="T66" fmla="*/ 2147483646 w 3305"/>
              <a:gd name="T67" fmla="*/ 695563125 h 1758"/>
              <a:gd name="T68" fmla="*/ 2147483646 w 3305"/>
              <a:gd name="T69" fmla="*/ 0 h 17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3305"/>
              <a:gd name="T106" fmla="*/ 0 h 1758"/>
              <a:gd name="T107" fmla="*/ 3305 w 3305"/>
              <a:gd name="T108" fmla="*/ 1758 h 1758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3305" h="1758">
                <a:moveTo>
                  <a:pt x="1751" y="48"/>
                </a:moveTo>
                <a:cubicBezTo>
                  <a:pt x="1755" y="81"/>
                  <a:pt x="1903" y="194"/>
                  <a:pt x="1775" y="246"/>
                </a:cubicBezTo>
                <a:cubicBezTo>
                  <a:pt x="1647" y="298"/>
                  <a:pt x="1218" y="299"/>
                  <a:pt x="983" y="360"/>
                </a:cubicBezTo>
                <a:cubicBezTo>
                  <a:pt x="748" y="421"/>
                  <a:pt x="525" y="496"/>
                  <a:pt x="365" y="612"/>
                </a:cubicBezTo>
                <a:cubicBezTo>
                  <a:pt x="205" y="728"/>
                  <a:pt x="46" y="945"/>
                  <a:pt x="23" y="1056"/>
                </a:cubicBezTo>
                <a:cubicBezTo>
                  <a:pt x="0" y="1167"/>
                  <a:pt x="139" y="1272"/>
                  <a:pt x="227" y="1278"/>
                </a:cubicBezTo>
                <a:cubicBezTo>
                  <a:pt x="315" y="1284"/>
                  <a:pt x="479" y="1165"/>
                  <a:pt x="551" y="1092"/>
                </a:cubicBezTo>
                <a:cubicBezTo>
                  <a:pt x="623" y="1019"/>
                  <a:pt x="566" y="846"/>
                  <a:pt x="659" y="840"/>
                </a:cubicBezTo>
                <a:cubicBezTo>
                  <a:pt x="752" y="834"/>
                  <a:pt x="1085" y="989"/>
                  <a:pt x="1109" y="1056"/>
                </a:cubicBezTo>
                <a:cubicBezTo>
                  <a:pt x="1133" y="1123"/>
                  <a:pt x="873" y="1171"/>
                  <a:pt x="803" y="1242"/>
                </a:cubicBezTo>
                <a:cubicBezTo>
                  <a:pt x="733" y="1313"/>
                  <a:pt x="661" y="1408"/>
                  <a:pt x="689" y="1482"/>
                </a:cubicBezTo>
                <a:cubicBezTo>
                  <a:pt x="717" y="1556"/>
                  <a:pt x="888" y="1673"/>
                  <a:pt x="971" y="1686"/>
                </a:cubicBezTo>
                <a:cubicBezTo>
                  <a:pt x="1054" y="1699"/>
                  <a:pt x="1129" y="1633"/>
                  <a:pt x="1187" y="1560"/>
                </a:cubicBezTo>
                <a:cubicBezTo>
                  <a:pt x="1245" y="1487"/>
                  <a:pt x="1269" y="1238"/>
                  <a:pt x="1319" y="1248"/>
                </a:cubicBezTo>
                <a:cubicBezTo>
                  <a:pt x="1369" y="1258"/>
                  <a:pt x="1416" y="1543"/>
                  <a:pt x="1487" y="1620"/>
                </a:cubicBezTo>
                <a:cubicBezTo>
                  <a:pt x="1558" y="1697"/>
                  <a:pt x="1672" y="1758"/>
                  <a:pt x="1745" y="1710"/>
                </a:cubicBezTo>
                <a:cubicBezTo>
                  <a:pt x="1818" y="1662"/>
                  <a:pt x="1962" y="1448"/>
                  <a:pt x="1925" y="1332"/>
                </a:cubicBezTo>
                <a:cubicBezTo>
                  <a:pt x="1888" y="1216"/>
                  <a:pt x="1617" y="1101"/>
                  <a:pt x="1523" y="1014"/>
                </a:cubicBezTo>
                <a:cubicBezTo>
                  <a:pt x="1429" y="927"/>
                  <a:pt x="1478" y="870"/>
                  <a:pt x="1361" y="810"/>
                </a:cubicBezTo>
                <a:cubicBezTo>
                  <a:pt x="1244" y="750"/>
                  <a:pt x="717" y="709"/>
                  <a:pt x="821" y="654"/>
                </a:cubicBezTo>
                <a:cubicBezTo>
                  <a:pt x="925" y="599"/>
                  <a:pt x="1707" y="480"/>
                  <a:pt x="1985" y="480"/>
                </a:cubicBezTo>
                <a:cubicBezTo>
                  <a:pt x="2263" y="480"/>
                  <a:pt x="2471" y="578"/>
                  <a:pt x="2489" y="654"/>
                </a:cubicBezTo>
                <a:cubicBezTo>
                  <a:pt x="2507" y="730"/>
                  <a:pt x="2142" y="833"/>
                  <a:pt x="2093" y="936"/>
                </a:cubicBezTo>
                <a:cubicBezTo>
                  <a:pt x="2044" y="1039"/>
                  <a:pt x="2138" y="1216"/>
                  <a:pt x="2195" y="1272"/>
                </a:cubicBezTo>
                <a:cubicBezTo>
                  <a:pt x="2252" y="1328"/>
                  <a:pt x="2372" y="1312"/>
                  <a:pt x="2435" y="1272"/>
                </a:cubicBezTo>
                <a:cubicBezTo>
                  <a:pt x="2498" y="1232"/>
                  <a:pt x="2529" y="1104"/>
                  <a:pt x="2573" y="1032"/>
                </a:cubicBezTo>
                <a:cubicBezTo>
                  <a:pt x="2617" y="960"/>
                  <a:pt x="2660" y="836"/>
                  <a:pt x="2699" y="840"/>
                </a:cubicBezTo>
                <a:cubicBezTo>
                  <a:pt x="2738" y="844"/>
                  <a:pt x="2779" y="985"/>
                  <a:pt x="2807" y="1056"/>
                </a:cubicBezTo>
                <a:cubicBezTo>
                  <a:pt x="2835" y="1127"/>
                  <a:pt x="2814" y="1223"/>
                  <a:pt x="2867" y="1266"/>
                </a:cubicBezTo>
                <a:cubicBezTo>
                  <a:pt x="2920" y="1309"/>
                  <a:pt x="3058" y="1366"/>
                  <a:pt x="3125" y="1314"/>
                </a:cubicBezTo>
                <a:cubicBezTo>
                  <a:pt x="3192" y="1262"/>
                  <a:pt x="3305" y="1066"/>
                  <a:pt x="3269" y="954"/>
                </a:cubicBezTo>
                <a:cubicBezTo>
                  <a:pt x="3233" y="842"/>
                  <a:pt x="2997" y="721"/>
                  <a:pt x="2909" y="642"/>
                </a:cubicBezTo>
                <a:cubicBezTo>
                  <a:pt x="2821" y="563"/>
                  <a:pt x="2851" y="541"/>
                  <a:pt x="2741" y="480"/>
                </a:cubicBezTo>
                <a:cubicBezTo>
                  <a:pt x="2631" y="419"/>
                  <a:pt x="2334" y="356"/>
                  <a:pt x="2249" y="276"/>
                </a:cubicBezTo>
                <a:cubicBezTo>
                  <a:pt x="2164" y="196"/>
                  <a:pt x="2235" y="58"/>
                  <a:pt x="2231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6C420CEC-4C89-4DC2-3073-AFD46A54D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4478338"/>
            <a:ext cx="29845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32786" name="Text Box 19">
            <a:extLst>
              <a:ext uri="{FF2B5EF4-FFF2-40B4-BE49-F238E27FC236}">
                <a16:creationId xmlns:a16="http://schemas.microsoft.com/office/drawing/2014/main" id="{24D0D485-44B1-5D31-5FBE-6FA60418F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75" y="4797425"/>
            <a:ext cx="319088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2787" name="Text Box 20">
            <a:extLst>
              <a:ext uri="{FF2B5EF4-FFF2-40B4-BE49-F238E27FC236}">
                <a16:creationId xmlns:a16="http://schemas.microsoft.com/office/drawing/2014/main" id="{04EA24AC-3910-B582-6CED-657334E87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88" y="4478338"/>
            <a:ext cx="325437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R</a:t>
            </a:r>
          </a:p>
        </p:txBody>
      </p:sp>
      <p:cxnSp>
        <p:nvCxnSpPr>
          <p:cNvPr id="32788" name="AutoShape 21">
            <a:extLst>
              <a:ext uri="{FF2B5EF4-FFF2-40B4-BE49-F238E27FC236}">
                <a16:creationId xmlns:a16="http://schemas.microsoft.com/office/drawing/2014/main" id="{544708E2-B8B5-23A6-3333-430ECF3C82CB}"/>
              </a:ext>
            </a:extLst>
          </p:cNvPr>
          <p:cNvCxnSpPr>
            <a:cxnSpLocks noChangeShapeType="1"/>
            <a:stCxn id="32771" idx="3"/>
            <a:endCxn id="32791" idx="7"/>
          </p:cNvCxnSpPr>
          <p:nvPr/>
        </p:nvCxnSpPr>
        <p:spPr bwMode="auto">
          <a:xfrm flipH="1">
            <a:off x="4116388" y="4173538"/>
            <a:ext cx="19018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9" name="AutoShape 22">
            <a:extLst>
              <a:ext uri="{FF2B5EF4-FFF2-40B4-BE49-F238E27FC236}">
                <a16:creationId xmlns:a16="http://schemas.microsoft.com/office/drawing/2014/main" id="{B121E361-4921-DD07-21E6-1922D1E3353C}"/>
              </a:ext>
            </a:extLst>
          </p:cNvPr>
          <p:cNvCxnSpPr>
            <a:cxnSpLocks noChangeShapeType="1"/>
            <a:stCxn id="32774" idx="0"/>
            <a:endCxn id="32791" idx="3"/>
          </p:cNvCxnSpPr>
          <p:nvPr/>
        </p:nvCxnSpPr>
        <p:spPr bwMode="auto">
          <a:xfrm flipV="1">
            <a:off x="3438525" y="4783138"/>
            <a:ext cx="40798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3">
            <a:extLst>
              <a:ext uri="{FF2B5EF4-FFF2-40B4-BE49-F238E27FC236}">
                <a16:creationId xmlns:a16="http://schemas.microsoft.com/office/drawing/2014/main" id="{E7B60DB2-139F-5E62-74F9-3A403730DCA1}"/>
              </a:ext>
            </a:extLst>
          </p:cNvPr>
          <p:cNvCxnSpPr>
            <a:cxnSpLocks noChangeShapeType="1"/>
            <a:stCxn id="32773" idx="1"/>
            <a:endCxn id="32791" idx="5"/>
          </p:cNvCxnSpPr>
          <p:nvPr/>
        </p:nvCxnSpPr>
        <p:spPr bwMode="auto">
          <a:xfrm flipH="1" flipV="1">
            <a:off x="4116388" y="4783138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1" name="Oval 24">
            <a:extLst>
              <a:ext uri="{FF2B5EF4-FFF2-40B4-BE49-F238E27FC236}">
                <a16:creationId xmlns:a16="http://schemas.microsoft.com/office/drawing/2014/main" id="{B0238BD8-032B-C2C9-85F7-A8C51F60D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44481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  <a:sym typeface="Symbol" pitchFamily="2" charset="2"/>
              </a:rPr>
              <a:t></a:t>
            </a:r>
            <a:endParaRPr lang="en-US" altLang="en-US">
              <a:latin typeface="Symbol" pitchFamily="2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AC2FAECD-7385-4187-1E14-7F46576D9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153400" cy="1219200"/>
          </a:xfrm>
        </p:spPr>
        <p:txBody>
          <a:bodyPr/>
          <a:lstStyle/>
          <a:p>
            <a:pPr eaLnBrk="1" hangingPunct="1"/>
            <a:r>
              <a:rPr lang="en-US" altLang="en-US" sz="2400"/>
              <a:t>Array-Based Representation of Binary Trees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D1827A0-6207-9EC7-A4E3-B439EB177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5257800" cy="609600"/>
          </a:xfrm>
        </p:spPr>
        <p:txBody>
          <a:bodyPr/>
          <a:lstStyle/>
          <a:p>
            <a:pPr eaLnBrk="1" hangingPunct="1"/>
            <a:r>
              <a:rPr lang="en-US" altLang="en-US" sz="2200"/>
              <a:t>nodes are stored in an array</a:t>
            </a: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ABBB3008-6B26-DDCB-40DD-19F3260C482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133600"/>
            <a:ext cx="5181600" cy="1866900"/>
            <a:chOff x="336" y="1368"/>
            <a:chExt cx="3264" cy="1176"/>
          </a:xfrm>
        </p:grpSpPr>
        <p:sp>
          <p:nvSpPr>
            <p:cNvPr id="33824" name="Line 5">
              <a:extLst>
                <a:ext uri="{FF2B5EF4-FFF2-40B4-BE49-F238E27FC236}">
                  <a16:creationId xmlns:a16="http://schemas.microsoft.com/office/drawing/2014/main" id="{E8F6A712-4B98-89F7-CB56-93F1EE045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632"/>
              <a:ext cx="96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5" name="Line 6">
              <a:extLst>
                <a:ext uri="{FF2B5EF4-FFF2-40B4-BE49-F238E27FC236}">
                  <a16:creationId xmlns:a16="http://schemas.microsoft.com/office/drawing/2014/main" id="{1AFF1259-BDD6-496C-4F63-9AE074CE9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632"/>
              <a:ext cx="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6" name="Line 7">
              <a:extLst>
                <a:ext uri="{FF2B5EF4-FFF2-40B4-BE49-F238E27FC236}">
                  <a16:creationId xmlns:a16="http://schemas.microsoft.com/office/drawing/2014/main" id="{CDB491C5-61FF-8C6F-DAEB-E93ABE3F6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632"/>
              <a:ext cx="48" cy="480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7" name="Line 8">
              <a:extLst>
                <a:ext uri="{FF2B5EF4-FFF2-40B4-BE49-F238E27FC236}">
                  <a16:creationId xmlns:a16="http://schemas.microsoft.com/office/drawing/2014/main" id="{5B6BBC7C-BEF2-EFEE-D4B9-D303E1587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632"/>
              <a:ext cx="192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8" name="Line 9">
              <a:extLst>
                <a:ext uri="{FF2B5EF4-FFF2-40B4-BE49-F238E27FC236}">
                  <a16:creationId xmlns:a16="http://schemas.microsoft.com/office/drawing/2014/main" id="{E9FF84EB-0A85-5758-A418-713FCF504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632"/>
              <a:ext cx="240" cy="672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9" name="Line 10">
              <a:extLst>
                <a:ext uri="{FF2B5EF4-FFF2-40B4-BE49-F238E27FC236}">
                  <a16:creationId xmlns:a16="http://schemas.microsoft.com/office/drawing/2014/main" id="{C621B2DF-83AC-A781-12ED-4AC0AD53A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632"/>
              <a:ext cx="48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30" name="Group 11">
              <a:extLst>
                <a:ext uri="{FF2B5EF4-FFF2-40B4-BE49-F238E27FC236}">
                  <a16:creationId xmlns:a16="http://schemas.microsoft.com/office/drawing/2014/main" id="{3CC93636-B673-ECE6-46CE-2AED12DFB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33832" name="AutoShape 12">
                <a:extLst>
                  <a:ext uri="{FF2B5EF4-FFF2-40B4-BE49-F238E27FC236}">
                    <a16:creationId xmlns:a16="http://schemas.microsoft.com/office/drawing/2014/main" id="{D173113F-3963-574A-DB9E-B1CE44F4A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3" name="Rectangle 13">
                <a:extLst>
                  <a:ext uri="{FF2B5EF4-FFF2-40B4-BE49-F238E27FC236}">
                    <a16:creationId xmlns:a16="http://schemas.microsoft.com/office/drawing/2014/main" id="{5921F028-3F13-C429-9D2F-58789C07F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4" name="Rectangle 14">
                <a:extLst>
                  <a:ext uri="{FF2B5EF4-FFF2-40B4-BE49-F238E27FC236}">
                    <a16:creationId xmlns:a16="http://schemas.microsoft.com/office/drawing/2014/main" id="{84FEE6CD-5E22-0C61-118A-2F97128BC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5" name="Rectangle 15">
                <a:extLst>
                  <a:ext uri="{FF2B5EF4-FFF2-40B4-BE49-F238E27FC236}">
                    <a16:creationId xmlns:a16="http://schemas.microsoft.com/office/drawing/2014/main" id="{BF6D96C9-EDB6-498F-ED93-3E881BEF2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6" name="Rectangle 16">
                <a:extLst>
                  <a:ext uri="{FF2B5EF4-FFF2-40B4-BE49-F238E27FC236}">
                    <a16:creationId xmlns:a16="http://schemas.microsoft.com/office/drawing/2014/main" id="{E06ECE24-2BDC-05EA-438D-51F03FC2D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7" name="Rectangle 17">
                <a:extLst>
                  <a:ext uri="{FF2B5EF4-FFF2-40B4-BE49-F238E27FC236}">
                    <a16:creationId xmlns:a16="http://schemas.microsoft.com/office/drawing/2014/main" id="{A7BBC845-58B3-C198-8B3C-BB2B147EF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8" name="Rectangle 18">
                <a:extLst>
                  <a:ext uri="{FF2B5EF4-FFF2-40B4-BE49-F238E27FC236}">
                    <a16:creationId xmlns:a16="http://schemas.microsoft.com/office/drawing/2014/main" id="{5607A6E6-94F9-888B-B341-C0CA92EAB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9" name="Text Box 19">
                <a:extLst>
                  <a:ext uri="{FF2B5EF4-FFF2-40B4-BE49-F238E27FC236}">
                    <a16:creationId xmlns:a16="http://schemas.microsoft.com/office/drawing/2014/main" id="{970BACC7-69D7-1CC6-A051-773099E60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sp>
          <p:nvSpPr>
            <p:cNvPr id="33831" name="Text Box 20">
              <a:extLst>
                <a:ext uri="{FF2B5EF4-FFF2-40B4-BE49-F238E27FC236}">
                  <a16:creationId xmlns:a16="http://schemas.microsoft.com/office/drawing/2014/main" id="{1666E0AD-9C65-3BF0-EA40-05D8DEA66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3796" name="Rectangle 21">
            <a:extLst>
              <a:ext uri="{FF2B5EF4-FFF2-40B4-BE49-F238E27FC236}">
                <a16:creationId xmlns:a16="http://schemas.microsoft.com/office/drawing/2014/main" id="{91975918-3F45-C682-7B87-7E04A2205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86200"/>
            <a:ext cx="5029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200" b="1">
                <a:latin typeface="Times New Roman" panose="02020603050405020304" pitchFamily="18" charset="0"/>
              </a:rPr>
              <a:t>let rank(node) be defined as follows: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rank(root) = 1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if node is the left child of parent(node), 	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rank(node) = 2</a:t>
            </a:r>
            <a:r>
              <a:rPr lang="ar-SA" altLang="en-US" sz="1800">
                <a:latin typeface="Times New Roman" panose="02020603050405020304" pitchFamily="18" charset="0"/>
              </a:rPr>
              <a:t>*</a:t>
            </a:r>
            <a:r>
              <a:rPr lang="en-US" altLang="en-US" sz="1800">
                <a:latin typeface="Times New Roman" panose="02020603050405020304" pitchFamily="18" charset="0"/>
              </a:rPr>
              <a:t>rank(parent(node))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if node is the right child of parent(node), 	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rank(node) = 2</a:t>
            </a:r>
            <a:r>
              <a:rPr lang="ar-SA" altLang="en-US" sz="1800">
                <a:latin typeface="Times New Roman" panose="02020603050405020304" pitchFamily="18" charset="0"/>
              </a:rPr>
              <a:t>*</a:t>
            </a:r>
            <a:r>
              <a:rPr lang="en-US" altLang="en-US" sz="1800">
                <a:latin typeface="Times New Roman" panose="02020603050405020304" pitchFamily="18" charset="0"/>
              </a:rPr>
              <a:t>rank(parent(node))+1</a:t>
            </a:r>
          </a:p>
        </p:txBody>
      </p:sp>
      <p:sp>
        <p:nvSpPr>
          <p:cNvPr id="33797" name="Text Box 22">
            <a:extLst>
              <a:ext uri="{FF2B5EF4-FFF2-40B4-BE49-F238E27FC236}">
                <a16:creationId xmlns:a16="http://schemas.microsoft.com/office/drawing/2014/main" id="{59BC3455-5DDF-6D7B-F8AE-08A788FC9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52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798" name="Text Box 23">
            <a:extLst>
              <a:ext uri="{FF2B5EF4-FFF2-40B4-BE49-F238E27FC236}">
                <a16:creationId xmlns:a16="http://schemas.microsoft.com/office/drawing/2014/main" id="{BEF7AE09-71DD-027A-F980-3B59B45FA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799" name="Text Box 24">
            <a:extLst>
              <a:ext uri="{FF2B5EF4-FFF2-40B4-BE49-F238E27FC236}">
                <a16:creationId xmlns:a16="http://schemas.microsoft.com/office/drawing/2014/main" id="{7462B6ED-830B-33CC-AA00-335B671B5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950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00" name="Text Box 25">
            <a:extLst>
              <a:ext uri="{FF2B5EF4-FFF2-40B4-BE49-F238E27FC236}">
                <a16:creationId xmlns:a16="http://schemas.microsoft.com/office/drawing/2014/main" id="{95D1CBBF-A1CE-0AD9-F20A-10BCB81FF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4100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3801" name="Text Box 26">
            <a:extLst>
              <a:ext uri="{FF2B5EF4-FFF2-40B4-BE49-F238E27FC236}">
                <a16:creationId xmlns:a16="http://schemas.microsoft.com/office/drawing/2014/main" id="{7B4E838B-F6E0-9BE9-A9EC-12E9A9E0B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150" y="4114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02" name="Text Box 27">
            <a:extLst>
              <a:ext uri="{FF2B5EF4-FFF2-40B4-BE49-F238E27FC236}">
                <a16:creationId xmlns:a16="http://schemas.microsoft.com/office/drawing/2014/main" id="{B5C11422-6E73-07AB-D3DB-C8A8B866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114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03" name="Text Box 28">
            <a:extLst>
              <a:ext uri="{FF2B5EF4-FFF2-40B4-BE49-F238E27FC236}">
                <a16:creationId xmlns:a16="http://schemas.microsoft.com/office/drawing/2014/main" id="{78651680-389C-C9AA-48E9-9FB9501A9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350" y="4100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04" name="Text Box 29">
            <a:extLst>
              <a:ext uri="{FF2B5EF4-FFF2-40B4-BE49-F238E27FC236}">
                <a16:creationId xmlns:a16="http://schemas.microsoft.com/office/drawing/2014/main" id="{5243386F-5F72-984A-A3B6-08C67A79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53959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05" name="Text Box 30">
            <a:extLst>
              <a:ext uri="{FF2B5EF4-FFF2-40B4-BE49-F238E27FC236}">
                <a16:creationId xmlns:a16="http://schemas.microsoft.com/office/drawing/2014/main" id="{EFF5E5C7-B547-F1CA-891B-24CD4A280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3959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11</a:t>
            </a:r>
          </a:p>
        </p:txBody>
      </p:sp>
      <p:grpSp>
        <p:nvGrpSpPr>
          <p:cNvPr id="33806" name="Group 31">
            <a:extLst>
              <a:ext uri="{FF2B5EF4-FFF2-40B4-BE49-F238E27FC236}">
                <a16:creationId xmlns:a16="http://schemas.microsoft.com/office/drawing/2014/main" id="{9BAF41B3-2F10-A3EC-0FA7-B888F6B70053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2020888"/>
            <a:ext cx="2486025" cy="4060825"/>
            <a:chOff x="4042" y="1378"/>
            <a:chExt cx="1566" cy="2558"/>
          </a:xfrm>
        </p:grpSpPr>
        <p:sp>
          <p:nvSpPr>
            <p:cNvPr id="33807" name="Oval 32">
              <a:extLst>
                <a:ext uri="{FF2B5EF4-FFF2-40B4-BE49-F238E27FC236}">
                  <a16:creationId xmlns:a16="http://schemas.microsoft.com/office/drawing/2014/main" id="{66783ADC-4A65-824C-B3CA-49DD2C0F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378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3808" name="Oval 33">
              <a:extLst>
                <a:ext uri="{FF2B5EF4-FFF2-40B4-BE49-F238E27FC236}">
                  <a16:creationId xmlns:a16="http://schemas.microsoft.com/office/drawing/2014/main" id="{37F11D2B-253A-A592-D372-3EBC0D06C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4" y="3682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809" name="Oval 34">
              <a:extLst>
                <a:ext uri="{FF2B5EF4-FFF2-40B4-BE49-F238E27FC236}">
                  <a16:creationId xmlns:a16="http://schemas.microsoft.com/office/drawing/2014/main" id="{C077CB81-648F-86FF-E1B7-E56F7E32D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682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3810" name="Oval 35">
              <a:extLst>
                <a:ext uri="{FF2B5EF4-FFF2-40B4-BE49-F238E27FC236}">
                  <a16:creationId xmlns:a16="http://schemas.microsoft.com/office/drawing/2014/main" id="{CEA62B2A-8599-A40E-8155-A03A989CB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2900"/>
              <a:ext cx="210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3811" name="Oval 36">
              <a:extLst>
                <a:ext uri="{FF2B5EF4-FFF2-40B4-BE49-F238E27FC236}">
                  <a16:creationId xmlns:a16="http://schemas.microsoft.com/office/drawing/2014/main" id="{FBCFEBE8-3105-EAF3-CE23-96645561C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2900"/>
              <a:ext cx="220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3812" name="Oval 37">
              <a:extLst>
                <a:ext uri="{FF2B5EF4-FFF2-40B4-BE49-F238E27FC236}">
                  <a16:creationId xmlns:a16="http://schemas.microsoft.com/office/drawing/2014/main" id="{4D2B0080-2157-18A3-4879-552B68EA8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" y="2146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13" name="Oval 38">
              <a:extLst>
                <a:ext uri="{FF2B5EF4-FFF2-40B4-BE49-F238E27FC236}">
                  <a16:creationId xmlns:a16="http://schemas.microsoft.com/office/drawing/2014/main" id="{2CDCA43A-E033-431D-303E-90C6A3ED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2898"/>
              <a:ext cx="229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3814" name="Oval 39">
              <a:extLst>
                <a:ext uri="{FF2B5EF4-FFF2-40B4-BE49-F238E27FC236}">
                  <a16:creationId xmlns:a16="http://schemas.microsoft.com/office/drawing/2014/main" id="{B03F482E-C0A8-DBF8-CBB3-36D34DB21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2146"/>
              <a:ext cx="229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3815" name="AutoShape 40">
              <a:extLst>
                <a:ext uri="{FF2B5EF4-FFF2-40B4-BE49-F238E27FC236}">
                  <a16:creationId xmlns:a16="http://schemas.microsoft.com/office/drawing/2014/main" id="{2060116A-B2A6-DE80-74F4-337EC8DD87BB}"/>
                </a:ext>
              </a:extLst>
            </p:cNvPr>
            <p:cNvCxnSpPr>
              <a:cxnSpLocks noChangeShapeType="1"/>
              <a:stCxn id="33807" idx="4"/>
              <a:endCxn id="33814" idx="0"/>
            </p:cNvCxnSpPr>
            <p:nvPr/>
          </p:nvCxnSpPr>
          <p:spPr bwMode="auto">
            <a:xfrm flipH="1">
              <a:off x="4393" y="1632"/>
              <a:ext cx="430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6" name="AutoShape 41">
              <a:extLst>
                <a:ext uri="{FF2B5EF4-FFF2-40B4-BE49-F238E27FC236}">
                  <a16:creationId xmlns:a16="http://schemas.microsoft.com/office/drawing/2014/main" id="{00744201-C1DA-DA0D-44DA-6898E3BF5656}"/>
                </a:ext>
              </a:extLst>
            </p:cNvPr>
            <p:cNvCxnSpPr>
              <a:cxnSpLocks noChangeShapeType="1"/>
              <a:stCxn id="33812" idx="4"/>
              <a:endCxn id="33813" idx="0"/>
            </p:cNvCxnSpPr>
            <p:nvPr/>
          </p:nvCxnSpPr>
          <p:spPr bwMode="auto"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7" name="AutoShape 42">
              <a:extLst>
                <a:ext uri="{FF2B5EF4-FFF2-40B4-BE49-F238E27FC236}">
                  <a16:creationId xmlns:a16="http://schemas.microsoft.com/office/drawing/2014/main" id="{0365F34D-8177-E059-F574-2CBC1CD0C7F3}"/>
                </a:ext>
              </a:extLst>
            </p:cNvPr>
            <p:cNvCxnSpPr>
              <a:cxnSpLocks noChangeShapeType="1"/>
              <a:stCxn id="33807" idx="4"/>
              <a:endCxn id="33812" idx="0"/>
            </p:cNvCxnSpPr>
            <p:nvPr/>
          </p:nvCxnSpPr>
          <p:spPr bwMode="auto">
            <a:xfrm>
              <a:off x="4823" y="1632"/>
              <a:ext cx="434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AutoShape 43">
              <a:extLst>
                <a:ext uri="{FF2B5EF4-FFF2-40B4-BE49-F238E27FC236}">
                  <a16:creationId xmlns:a16="http://schemas.microsoft.com/office/drawing/2014/main" id="{4935A58B-01ED-CD5E-5414-68770E253259}"/>
                </a:ext>
              </a:extLst>
            </p:cNvPr>
            <p:cNvCxnSpPr>
              <a:cxnSpLocks noChangeShapeType="1"/>
              <a:stCxn id="33814" idx="4"/>
              <a:endCxn id="33811" idx="0"/>
            </p:cNvCxnSpPr>
            <p:nvPr/>
          </p:nvCxnSpPr>
          <p:spPr bwMode="auto">
            <a:xfrm flipH="1">
              <a:off x="4153" y="2400"/>
              <a:ext cx="240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9" name="AutoShape 44">
              <a:extLst>
                <a:ext uri="{FF2B5EF4-FFF2-40B4-BE49-F238E27FC236}">
                  <a16:creationId xmlns:a16="http://schemas.microsoft.com/office/drawing/2014/main" id="{065588AB-2721-76FE-23F4-D91051729672}"/>
                </a:ext>
              </a:extLst>
            </p:cNvPr>
            <p:cNvCxnSpPr>
              <a:cxnSpLocks noChangeShapeType="1"/>
              <a:stCxn id="33814" idx="4"/>
              <a:endCxn id="33810" idx="0"/>
            </p:cNvCxnSpPr>
            <p:nvPr/>
          </p:nvCxnSpPr>
          <p:spPr bwMode="auto">
            <a:xfrm>
              <a:off x="4393" y="2400"/>
              <a:ext cx="239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45">
              <a:extLst>
                <a:ext uri="{FF2B5EF4-FFF2-40B4-BE49-F238E27FC236}">
                  <a16:creationId xmlns:a16="http://schemas.microsoft.com/office/drawing/2014/main" id="{51190B5E-43F0-0477-7D8B-5E236DB03989}"/>
                </a:ext>
              </a:extLst>
            </p:cNvPr>
            <p:cNvCxnSpPr>
              <a:cxnSpLocks noChangeShapeType="1"/>
              <a:stCxn id="33810" idx="4"/>
              <a:endCxn id="33809" idx="0"/>
            </p:cNvCxnSpPr>
            <p:nvPr/>
          </p:nvCxnSpPr>
          <p:spPr bwMode="auto">
            <a:xfrm flipH="1">
              <a:off x="4441" y="3154"/>
              <a:ext cx="19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46">
              <a:extLst>
                <a:ext uri="{FF2B5EF4-FFF2-40B4-BE49-F238E27FC236}">
                  <a16:creationId xmlns:a16="http://schemas.microsoft.com/office/drawing/2014/main" id="{383E0B6D-716B-EC4F-C5E4-8C404AEEA9F6}"/>
                </a:ext>
              </a:extLst>
            </p:cNvPr>
            <p:cNvCxnSpPr>
              <a:cxnSpLocks noChangeShapeType="1"/>
              <a:stCxn id="33810" idx="4"/>
              <a:endCxn id="33808" idx="0"/>
            </p:cNvCxnSpPr>
            <p:nvPr/>
          </p:nvCxnSpPr>
          <p:spPr bwMode="auto">
            <a:xfrm>
              <a:off x="4632" y="3154"/>
              <a:ext cx="24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2" name="Oval 47">
              <a:extLst>
                <a:ext uri="{FF2B5EF4-FFF2-40B4-BE49-F238E27FC236}">
                  <a16:creationId xmlns:a16="http://schemas.microsoft.com/office/drawing/2014/main" id="{0CEBD2E8-D208-A4EF-D6D7-16AD96EC3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" y="2900"/>
              <a:ext cx="186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J</a:t>
              </a:r>
            </a:p>
          </p:txBody>
        </p:sp>
        <p:cxnSp>
          <p:nvCxnSpPr>
            <p:cNvPr id="33823" name="AutoShape 48">
              <a:extLst>
                <a:ext uri="{FF2B5EF4-FFF2-40B4-BE49-F238E27FC236}">
                  <a16:creationId xmlns:a16="http://schemas.microsoft.com/office/drawing/2014/main" id="{F29CB4F0-2A93-0F24-B295-D62F8BC44D61}"/>
                </a:ext>
              </a:extLst>
            </p:cNvPr>
            <p:cNvCxnSpPr>
              <a:cxnSpLocks noChangeShapeType="1"/>
              <a:stCxn id="33812" idx="4"/>
              <a:endCxn id="33822" idx="0"/>
            </p:cNvCxnSpPr>
            <p:nvPr/>
          </p:nvCxnSpPr>
          <p:spPr bwMode="auto">
            <a:xfrm>
              <a:off x="5257" y="2400"/>
              <a:ext cx="258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2">
            <a:extLst>
              <a:ext uri="{FF2B5EF4-FFF2-40B4-BE49-F238E27FC236}">
                <a16:creationId xmlns:a16="http://schemas.microsoft.com/office/drawing/2014/main" id="{DCEAB8A8-3ED3-670C-8C10-08EFD38520AF}"/>
              </a:ext>
            </a:extLst>
          </p:cNvPr>
          <p:cNvGrpSpPr>
            <a:grpSpLocks/>
          </p:cNvGrpSpPr>
          <p:nvPr/>
        </p:nvGrpSpPr>
        <p:grpSpPr bwMode="auto">
          <a:xfrm>
            <a:off x="4230688" y="1752600"/>
            <a:ext cx="1028700" cy="342900"/>
            <a:chOff x="2232" y="2244"/>
            <a:chExt cx="648" cy="216"/>
          </a:xfrm>
        </p:grpSpPr>
        <p:sp>
          <p:nvSpPr>
            <p:cNvPr id="34886" name="Rectangle 3">
              <a:extLst>
                <a:ext uri="{FF2B5EF4-FFF2-40B4-BE49-F238E27FC236}">
                  <a16:creationId xmlns:a16="http://schemas.microsoft.com/office/drawing/2014/main" id="{3B57182F-D04F-FE8F-AEBD-978853B5C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87" name="Rectangle 4">
              <a:extLst>
                <a:ext uri="{FF2B5EF4-FFF2-40B4-BE49-F238E27FC236}">
                  <a16:creationId xmlns:a16="http://schemas.microsoft.com/office/drawing/2014/main" id="{3886B0F0-BD2F-2D53-02FF-107E01D32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88" name="Rectangle 5">
              <a:extLst>
                <a:ext uri="{FF2B5EF4-FFF2-40B4-BE49-F238E27FC236}">
                  <a16:creationId xmlns:a16="http://schemas.microsoft.com/office/drawing/2014/main" id="{5CD71A1C-52DD-F61F-14AE-3C6CE375A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</a:t>
              </a:r>
            </a:p>
          </p:txBody>
        </p:sp>
      </p:grpSp>
      <p:sp>
        <p:nvSpPr>
          <p:cNvPr id="34818" name="Rectangle 6">
            <a:extLst>
              <a:ext uri="{FF2B5EF4-FFF2-40B4-BE49-F238E27FC236}">
                <a16:creationId xmlns:a16="http://schemas.microsoft.com/office/drawing/2014/main" id="{2B9D42F8-07CC-6620-2DE5-F31FD8D0A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List-Based Representation for Trees</a:t>
            </a: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A1E72438-7AC1-18AE-8CA4-FE6820035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3962400" cy="2590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node is represented by an object storing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Parent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Sequence</a:t>
            </a:r>
            <a:r>
              <a:rPr lang="en-US" altLang="en-US" sz="1800"/>
              <a:t> of children nodes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Node objects implement the Position ADT</a:t>
            </a:r>
          </a:p>
        </p:txBody>
      </p:sp>
      <p:sp>
        <p:nvSpPr>
          <p:cNvPr id="34820" name="Oval 8">
            <a:extLst>
              <a:ext uri="{FF2B5EF4-FFF2-40B4-BE49-F238E27FC236}">
                <a16:creationId xmlns:a16="http://schemas.microsoft.com/office/drawing/2014/main" id="{F70A489D-D024-7955-9265-0A07660A9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3962400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  <a:sym typeface="Symbol" pitchFamily="2" charset="2"/>
              </a:rPr>
              <a:t>B</a:t>
            </a: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4821" name="Oval 9">
            <a:extLst>
              <a:ext uri="{FF2B5EF4-FFF2-40B4-BE49-F238E27FC236}">
                <a16:creationId xmlns:a16="http://schemas.microsoft.com/office/drawing/2014/main" id="{422FBC36-ADEF-FE80-6324-5CDD0015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4778375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34822" name="Rectangle 10">
            <a:extLst>
              <a:ext uri="{FF2B5EF4-FFF2-40B4-BE49-F238E27FC236}">
                <a16:creationId xmlns:a16="http://schemas.microsoft.com/office/drawing/2014/main" id="{86B9DCE6-63A5-B756-4301-1E4FBB400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4778375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4823" name="Rectangle 11">
            <a:extLst>
              <a:ext uri="{FF2B5EF4-FFF2-40B4-BE49-F238E27FC236}">
                <a16:creationId xmlns:a16="http://schemas.microsoft.com/office/drawing/2014/main" id="{89F2FD7B-53CD-F134-F8C5-A3519ADA5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050" y="56388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34824" name="Rectangle 12">
            <a:extLst>
              <a:ext uri="{FF2B5EF4-FFF2-40B4-BE49-F238E27FC236}">
                <a16:creationId xmlns:a16="http://schemas.microsoft.com/office/drawing/2014/main" id="{A85C839D-4D26-9919-CC01-6AF733F9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5638800"/>
            <a:ext cx="500062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34825" name="AutoShape 13">
            <a:extLst>
              <a:ext uri="{FF2B5EF4-FFF2-40B4-BE49-F238E27FC236}">
                <a16:creationId xmlns:a16="http://schemas.microsoft.com/office/drawing/2014/main" id="{51B4022A-D357-2BB1-B60F-4953AAE9E4DE}"/>
              </a:ext>
            </a:extLst>
          </p:cNvPr>
          <p:cNvCxnSpPr>
            <a:cxnSpLocks noChangeShapeType="1"/>
            <a:stCxn id="34824" idx="0"/>
            <a:endCxn id="34821" idx="5"/>
          </p:cNvCxnSpPr>
          <p:nvPr/>
        </p:nvCxnSpPr>
        <p:spPr bwMode="auto">
          <a:xfrm flipH="1" flipV="1">
            <a:off x="2708275" y="5214938"/>
            <a:ext cx="3413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6" name="AutoShape 14">
            <a:extLst>
              <a:ext uri="{FF2B5EF4-FFF2-40B4-BE49-F238E27FC236}">
                <a16:creationId xmlns:a16="http://schemas.microsoft.com/office/drawing/2014/main" id="{A82B4487-A2A2-7A51-1ECE-EBFD008FC408}"/>
              </a:ext>
            </a:extLst>
          </p:cNvPr>
          <p:cNvCxnSpPr>
            <a:cxnSpLocks noChangeShapeType="1"/>
            <a:stCxn id="34823" idx="0"/>
            <a:endCxn id="34821" idx="3"/>
          </p:cNvCxnSpPr>
          <p:nvPr/>
        </p:nvCxnSpPr>
        <p:spPr bwMode="auto">
          <a:xfrm flipV="1">
            <a:off x="2047875" y="5214938"/>
            <a:ext cx="304800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15">
            <a:extLst>
              <a:ext uri="{FF2B5EF4-FFF2-40B4-BE49-F238E27FC236}">
                <a16:creationId xmlns:a16="http://schemas.microsoft.com/office/drawing/2014/main" id="{3CDEFADA-4AEF-DA8F-F588-A3455E2384C4}"/>
              </a:ext>
            </a:extLst>
          </p:cNvPr>
          <p:cNvCxnSpPr>
            <a:cxnSpLocks noChangeShapeType="1"/>
            <a:stCxn id="34822" idx="0"/>
            <a:endCxn id="34820" idx="3"/>
          </p:cNvCxnSpPr>
          <p:nvPr/>
        </p:nvCxnSpPr>
        <p:spPr bwMode="auto">
          <a:xfrm flipV="1">
            <a:off x="1384300" y="4398963"/>
            <a:ext cx="960438" cy="369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AutoShape 16">
            <a:extLst>
              <a:ext uri="{FF2B5EF4-FFF2-40B4-BE49-F238E27FC236}">
                <a16:creationId xmlns:a16="http://schemas.microsoft.com/office/drawing/2014/main" id="{017C458F-B520-C23A-4B36-9CAAE4EF2EEC}"/>
              </a:ext>
            </a:extLst>
          </p:cNvPr>
          <p:cNvCxnSpPr>
            <a:cxnSpLocks noChangeShapeType="1"/>
            <a:stCxn id="34821" idx="0"/>
            <a:endCxn id="34820" idx="4"/>
          </p:cNvCxnSpPr>
          <p:nvPr/>
        </p:nvCxnSpPr>
        <p:spPr bwMode="auto">
          <a:xfrm flipH="1" flipV="1">
            <a:off x="2522538" y="4471988"/>
            <a:ext cx="7937" cy="296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9" name="Rectangle 17">
            <a:extLst>
              <a:ext uri="{FF2B5EF4-FFF2-40B4-BE49-F238E27FC236}">
                <a16:creationId xmlns:a16="http://schemas.microsoft.com/office/drawing/2014/main" id="{A8C68143-6420-00B8-1CC9-34508982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4779963"/>
            <a:ext cx="500062" cy="50006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34830" name="AutoShape 18">
            <a:extLst>
              <a:ext uri="{FF2B5EF4-FFF2-40B4-BE49-F238E27FC236}">
                <a16:creationId xmlns:a16="http://schemas.microsoft.com/office/drawing/2014/main" id="{66E14B41-3E44-60D1-71BC-169B2D6392ED}"/>
              </a:ext>
            </a:extLst>
          </p:cNvPr>
          <p:cNvCxnSpPr>
            <a:cxnSpLocks noChangeShapeType="1"/>
            <a:stCxn id="34829" idx="0"/>
            <a:endCxn id="34820" idx="5"/>
          </p:cNvCxnSpPr>
          <p:nvPr/>
        </p:nvCxnSpPr>
        <p:spPr bwMode="auto">
          <a:xfrm flipH="1" flipV="1">
            <a:off x="2700338" y="4398963"/>
            <a:ext cx="936625" cy="371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1" name="AutoShape 19">
            <a:extLst>
              <a:ext uri="{FF2B5EF4-FFF2-40B4-BE49-F238E27FC236}">
                <a16:creationId xmlns:a16="http://schemas.microsoft.com/office/drawing/2014/main" id="{0456033A-4B6B-CF8D-11C2-5C712D0C1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1825625"/>
            <a:ext cx="1371600" cy="415925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4832" name="AutoShape 20">
            <a:extLst>
              <a:ext uri="{FF2B5EF4-FFF2-40B4-BE49-F238E27FC236}">
                <a16:creationId xmlns:a16="http://schemas.microsoft.com/office/drawing/2014/main" id="{6CCDD97F-26A8-6B19-BB51-FF75B324C48D}"/>
              </a:ext>
            </a:extLst>
          </p:cNvPr>
          <p:cNvCxnSpPr>
            <a:cxnSpLocks noChangeShapeType="1"/>
            <a:stCxn id="34835" idx="2"/>
            <a:endCxn id="34833" idx="6"/>
          </p:cNvCxnSpPr>
          <p:nvPr/>
        </p:nvCxnSpPr>
        <p:spPr bwMode="auto">
          <a:xfrm flipH="1">
            <a:off x="5946775" y="2033588"/>
            <a:ext cx="606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3" name="Oval 21">
            <a:extLst>
              <a:ext uri="{FF2B5EF4-FFF2-40B4-BE49-F238E27FC236}">
                <a16:creationId xmlns:a16="http://schemas.microsoft.com/office/drawing/2014/main" id="{CC6A54DF-ABD8-0E5B-6814-2547FFFD3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1878013"/>
            <a:ext cx="312738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34" name="Oval 22">
            <a:extLst>
              <a:ext uri="{FF2B5EF4-FFF2-40B4-BE49-F238E27FC236}">
                <a16:creationId xmlns:a16="http://schemas.microsoft.com/office/drawing/2014/main" id="{7C31F9AB-A1C5-D8C8-7DEB-370F9852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1878013"/>
            <a:ext cx="311150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35" name="Oval 23">
            <a:extLst>
              <a:ext uri="{FF2B5EF4-FFF2-40B4-BE49-F238E27FC236}">
                <a16:creationId xmlns:a16="http://schemas.microsoft.com/office/drawing/2014/main" id="{314F0024-70C1-866E-7F34-F86752B28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1878013"/>
            <a:ext cx="312737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34836" name="Group 24">
            <a:extLst>
              <a:ext uri="{FF2B5EF4-FFF2-40B4-BE49-F238E27FC236}">
                <a16:creationId xmlns:a16="http://schemas.microsoft.com/office/drawing/2014/main" id="{FB1C1740-C057-841D-431F-44CA6B828F56}"/>
              </a:ext>
            </a:extLst>
          </p:cNvPr>
          <p:cNvGrpSpPr>
            <a:grpSpLocks/>
          </p:cNvGrpSpPr>
          <p:nvPr/>
        </p:nvGrpSpPr>
        <p:grpSpPr bwMode="auto">
          <a:xfrm>
            <a:off x="7050088" y="4530725"/>
            <a:ext cx="914400" cy="498475"/>
            <a:chOff x="4560" y="3216"/>
            <a:chExt cx="576" cy="314"/>
          </a:xfrm>
        </p:grpSpPr>
        <p:sp>
          <p:nvSpPr>
            <p:cNvPr id="34882" name="AutoShape 25">
              <a:extLst>
                <a:ext uri="{FF2B5EF4-FFF2-40B4-BE49-F238E27FC236}">
                  <a16:creationId xmlns:a16="http://schemas.microsoft.com/office/drawing/2014/main" id="{1AC8ACED-07E4-39F2-C173-6F5C21E6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16"/>
              <a:ext cx="576" cy="314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34883" name="AutoShape 26">
              <a:extLst>
                <a:ext uri="{FF2B5EF4-FFF2-40B4-BE49-F238E27FC236}">
                  <a16:creationId xmlns:a16="http://schemas.microsoft.com/office/drawing/2014/main" id="{99B9800A-870E-0F70-A5E1-9BFD2372A7DB}"/>
                </a:ext>
              </a:extLst>
            </p:cNvPr>
            <p:cNvCxnSpPr>
              <a:cxnSpLocks noChangeShapeType="1"/>
              <a:stCxn id="34885" idx="2"/>
              <a:endCxn id="34884" idx="6"/>
            </p:cNvCxnSpPr>
            <p:nvPr/>
          </p:nvCxnSpPr>
          <p:spPr bwMode="auto">
            <a:xfrm flipH="1">
              <a:off x="4802" y="3373"/>
              <a:ext cx="8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84" name="Oval 27">
              <a:extLst>
                <a:ext uri="{FF2B5EF4-FFF2-40B4-BE49-F238E27FC236}">
                  <a16:creationId xmlns:a16="http://schemas.microsoft.com/office/drawing/2014/main" id="{7329AC45-F959-68A8-F70D-1F4FA3F33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3275"/>
              <a:ext cx="197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85" name="Oval 28">
              <a:extLst>
                <a:ext uri="{FF2B5EF4-FFF2-40B4-BE49-F238E27FC236}">
                  <a16:creationId xmlns:a16="http://schemas.microsoft.com/office/drawing/2014/main" id="{F887A5A3-DDE3-C4E4-0CBD-D01EF19F8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3275"/>
              <a:ext cx="196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cxnSp>
        <p:nvCxnSpPr>
          <p:cNvPr id="34837" name="AutoShape 29">
            <a:extLst>
              <a:ext uri="{FF2B5EF4-FFF2-40B4-BE49-F238E27FC236}">
                <a16:creationId xmlns:a16="http://schemas.microsoft.com/office/drawing/2014/main" id="{718AD270-81F6-E74B-1E58-4B5AE7126159}"/>
              </a:ext>
            </a:extLst>
          </p:cNvPr>
          <p:cNvCxnSpPr>
            <a:cxnSpLocks noChangeShapeType="1"/>
            <a:endCxn id="34838" idx="0"/>
          </p:cNvCxnSpPr>
          <p:nvPr/>
        </p:nvCxnSpPr>
        <p:spPr bwMode="auto">
          <a:xfrm rot="16200000" flipH="1">
            <a:off x="4161632" y="2126456"/>
            <a:ext cx="457200" cy="1428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8" name="Text Box 30">
            <a:extLst>
              <a:ext uri="{FF2B5EF4-FFF2-40B4-BE49-F238E27FC236}">
                <a16:creationId xmlns:a16="http://schemas.microsoft.com/office/drawing/2014/main" id="{41533B8F-827A-CFF1-D59C-63754A1F6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8" y="2362200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cxnSp>
        <p:nvCxnSpPr>
          <p:cNvPr id="34839" name="AutoShape 31">
            <a:extLst>
              <a:ext uri="{FF2B5EF4-FFF2-40B4-BE49-F238E27FC236}">
                <a16:creationId xmlns:a16="http://schemas.microsoft.com/office/drawing/2014/main" id="{939062B9-6FB7-9382-FBEA-8ECB45CC3E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16513" y="1927225"/>
            <a:ext cx="447675" cy="96838"/>
          </a:xfrm>
          <a:prstGeom prst="curvedConnector3">
            <a:avLst>
              <a:gd name="adj1" fmla="val 51065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0" name="Oval 32">
            <a:extLst>
              <a:ext uri="{FF2B5EF4-FFF2-40B4-BE49-F238E27FC236}">
                <a16:creationId xmlns:a16="http://schemas.microsoft.com/office/drawing/2014/main" id="{85017AE0-CE6B-6CF0-732F-50BBECFC2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19558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1" name="Oval 33">
            <a:extLst>
              <a:ext uri="{FF2B5EF4-FFF2-40B4-BE49-F238E27FC236}">
                <a16:creationId xmlns:a16="http://schemas.microsoft.com/office/drawing/2014/main" id="{02B0EBB2-45A9-5FF4-348C-E38FC70F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25" y="19558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2" name="Oval 34">
            <a:extLst>
              <a:ext uri="{FF2B5EF4-FFF2-40B4-BE49-F238E27FC236}">
                <a16:creationId xmlns:a16="http://schemas.microsoft.com/office/drawing/2014/main" id="{E80CBDD7-CBEB-71AF-00E5-1D97C132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613" y="19558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4843" name="AutoShape 35">
            <a:extLst>
              <a:ext uri="{FF2B5EF4-FFF2-40B4-BE49-F238E27FC236}">
                <a16:creationId xmlns:a16="http://schemas.microsoft.com/office/drawing/2014/main" id="{A37497CF-EB0E-396D-A2C8-D9DBFE43861F}"/>
              </a:ext>
            </a:extLst>
          </p:cNvPr>
          <p:cNvCxnSpPr>
            <a:cxnSpLocks noChangeShapeType="1"/>
            <a:stCxn id="34841" idx="4"/>
            <a:endCxn id="34850" idx="0"/>
          </p:cNvCxnSpPr>
          <p:nvPr/>
        </p:nvCxnSpPr>
        <p:spPr bwMode="auto">
          <a:xfrm rot="16200000" flipH="1">
            <a:off x="6157119" y="2120106"/>
            <a:ext cx="987425" cy="811213"/>
          </a:xfrm>
          <a:prstGeom prst="curvedConnector3">
            <a:avLst>
              <a:gd name="adj1" fmla="val 50481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44" name="AutoShape 36">
            <a:extLst>
              <a:ext uri="{FF2B5EF4-FFF2-40B4-BE49-F238E27FC236}">
                <a16:creationId xmlns:a16="http://schemas.microsoft.com/office/drawing/2014/main" id="{9CC6B982-BBAC-A874-042A-70EFB20A712E}"/>
              </a:ext>
            </a:extLst>
          </p:cNvPr>
          <p:cNvCxnSpPr>
            <a:cxnSpLocks noChangeShapeType="1"/>
            <a:stCxn id="34842" idx="4"/>
            <a:endCxn id="34853" idx="0"/>
          </p:cNvCxnSpPr>
          <p:nvPr/>
        </p:nvCxnSpPr>
        <p:spPr bwMode="auto">
          <a:xfrm rot="16200000" flipH="1">
            <a:off x="7013575" y="1735138"/>
            <a:ext cx="987425" cy="1581150"/>
          </a:xfrm>
          <a:prstGeom prst="curvedConnector3">
            <a:avLst>
              <a:gd name="adj1" fmla="val 50481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5" name="Rectangle 37">
            <a:extLst>
              <a:ext uri="{FF2B5EF4-FFF2-40B4-BE49-F238E27FC236}">
                <a16:creationId xmlns:a16="http://schemas.microsoft.com/office/drawing/2014/main" id="{05CA4404-7A26-404F-2B9A-0CD3AD0B1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6" name="Rectangle 38">
            <a:extLst>
              <a:ext uri="{FF2B5EF4-FFF2-40B4-BE49-F238E27FC236}">
                <a16:creationId xmlns:a16="http://schemas.microsoft.com/office/drawing/2014/main" id="{C10731A4-5073-6C5E-7893-FBF93DAE0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4847" name="Rectangle 39">
            <a:extLst>
              <a:ext uri="{FF2B5EF4-FFF2-40B4-BE49-F238E27FC236}">
                <a16:creationId xmlns:a16="http://schemas.microsoft.com/office/drawing/2014/main" id="{A03857F0-241E-5E88-F5F3-A526DD3D8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4848" name="Rectangle 40">
            <a:extLst>
              <a:ext uri="{FF2B5EF4-FFF2-40B4-BE49-F238E27FC236}">
                <a16:creationId xmlns:a16="http://schemas.microsoft.com/office/drawing/2014/main" id="{E659F9E7-5AF3-F2FF-04B3-99C9FC842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088" y="30289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9" name="Rectangle 41">
            <a:extLst>
              <a:ext uri="{FF2B5EF4-FFF2-40B4-BE49-F238E27FC236}">
                <a16:creationId xmlns:a16="http://schemas.microsoft.com/office/drawing/2014/main" id="{E2816BCF-1DEB-0FF8-E185-F3E727A5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30289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4850" name="Rectangle 42">
            <a:extLst>
              <a:ext uri="{FF2B5EF4-FFF2-40B4-BE49-F238E27FC236}">
                <a16:creationId xmlns:a16="http://schemas.microsoft.com/office/drawing/2014/main" id="{9AD07556-E1E6-1828-6F30-7041EBCB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30289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4851" name="Rectangle 43">
            <a:extLst>
              <a:ext uri="{FF2B5EF4-FFF2-40B4-BE49-F238E27FC236}">
                <a16:creationId xmlns:a16="http://schemas.microsoft.com/office/drawing/2014/main" id="{E08FC5A3-914F-3EB4-0203-A8BC6C4C2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351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52" name="Rectangle 44">
            <a:extLst>
              <a:ext uri="{FF2B5EF4-FFF2-40B4-BE49-F238E27FC236}">
                <a16:creationId xmlns:a16="http://schemas.microsoft.com/office/drawing/2014/main" id="{EBA12451-AC83-55EF-BE3C-66B298F60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31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4853" name="Rectangle 45">
            <a:extLst>
              <a:ext uri="{FF2B5EF4-FFF2-40B4-BE49-F238E27FC236}">
                <a16:creationId xmlns:a16="http://schemas.microsoft.com/office/drawing/2014/main" id="{7D667648-B62E-17E6-54CA-2503DE5D0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413" y="30289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cxnSp>
        <p:nvCxnSpPr>
          <p:cNvPr id="34854" name="AutoShape 46">
            <a:extLst>
              <a:ext uri="{FF2B5EF4-FFF2-40B4-BE49-F238E27FC236}">
                <a16:creationId xmlns:a16="http://schemas.microsoft.com/office/drawing/2014/main" id="{34FD4FB8-7ED1-7BB2-A10D-4C5F35AFFB69}"/>
              </a:ext>
            </a:extLst>
          </p:cNvPr>
          <p:cNvCxnSpPr>
            <a:cxnSpLocks noChangeShapeType="1"/>
            <a:endCxn id="34855" idx="0"/>
          </p:cNvCxnSpPr>
          <p:nvPr/>
        </p:nvCxnSpPr>
        <p:spPr bwMode="auto">
          <a:xfrm rot="16200000" flipH="1">
            <a:off x="5328444" y="3340894"/>
            <a:ext cx="438150" cy="138112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5" name="Text Box 47">
            <a:extLst>
              <a:ext uri="{FF2B5EF4-FFF2-40B4-BE49-F238E27FC236}">
                <a16:creationId xmlns:a16="http://schemas.microsoft.com/office/drawing/2014/main" id="{59E41C70-2114-1986-8A5F-1515DB3A5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3629025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cxnSp>
        <p:nvCxnSpPr>
          <p:cNvPr id="34856" name="AutoShape 48">
            <a:extLst>
              <a:ext uri="{FF2B5EF4-FFF2-40B4-BE49-F238E27FC236}">
                <a16:creationId xmlns:a16="http://schemas.microsoft.com/office/drawing/2014/main" id="{48F642C1-98E4-99EE-DF16-83EDE1B72057}"/>
              </a:ext>
            </a:extLst>
          </p:cNvPr>
          <p:cNvCxnSpPr>
            <a:cxnSpLocks noChangeShapeType="1"/>
            <a:endCxn id="34857" idx="0"/>
          </p:cNvCxnSpPr>
          <p:nvPr/>
        </p:nvCxnSpPr>
        <p:spPr bwMode="auto">
          <a:xfrm rot="16200000" flipH="1">
            <a:off x="6577807" y="3340893"/>
            <a:ext cx="438150" cy="13811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7" name="Text Box 49">
            <a:extLst>
              <a:ext uri="{FF2B5EF4-FFF2-40B4-BE49-F238E27FC236}">
                <a16:creationId xmlns:a16="http://schemas.microsoft.com/office/drawing/2014/main" id="{84C3CFEC-9DBF-3044-5722-52546A19A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629025"/>
            <a:ext cx="357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34858" name="Text Box 50">
            <a:extLst>
              <a:ext uri="{FF2B5EF4-FFF2-40B4-BE49-F238E27FC236}">
                <a16:creationId xmlns:a16="http://schemas.microsoft.com/office/drawing/2014/main" id="{25CE903C-F5F3-F17B-31A0-09B85E282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3629025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34859" name="AutoShape 51">
            <a:extLst>
              <a:ext uri="{FF2B5EF4-FFF2-40B4-BE49-F238E27FC236}">
                <a16:creationId xmlns:a16="http://schemas.microsoft.com/office/drawing/2014/main" id="{37E7227A-840C-0A23-76CC-25DD5C86518D}"/>
              </a:ext>
            </a:extLst>
          </p:cNvPr>
          <p:cNvCxnSpPr>
            <a:cxnSpLocks noChangeShapeType="1"/>
            <a:endCxn id="34858" idx="0"/>
          </p:cNvCxnSpPr>
          <p:nvPr/>
        </p:nvCxnSpPr>
        <p:spPr bwMode="auto">
          <a:xfrm rot="16200000" flipH="1">
            <a:off x="7804944" y="3340894"/>
            <a:ext cx="438150" cy="138112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60" name="Oval 52">
            <a:extLst>
              <a:ext uri="{FF2B5EF4-FFF2-40B4-BE49-F238E27FC236}">
                <a16:creationId xmlns:a16="http://schemas.microsoft.com/office/drawing/2014/main" id="{D75B571A-AD65-A4B5-3D3E-0D8698F5F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1575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61" name="Oval 53">
            <a:extLst>
              <a:ext uri="{FF2B5EF4-FFF2-40B4-BE49-F238E27FC236}">
                <a16:creationId xmlns:a16="http://schemas.microsoft.com/office/drawing/2014/main" id="{DB9BC578-4B81-DCAD-19CD-8AC36674F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31575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62" name="Oval 54">
            <a:extLst>
              <a:ext uri="{FF2B5EF4-FFF2-40B4-BE49-F238E27FC236}">
                <a16:creationId xmlns:a16="http://schemas.microsoft.com/office/drawing/2014/main" id="{ADB01C46-1C15-FE49-33D3-EBAB3FF4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638" y="31575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63" name="Freeform 55">
            <a:extLst>
              <a:ext uri="{FF2B5EF4-FFF2-40B4-BE49-F238E27FC236}">
                <a16:creationId xmlns:a16="http://schemas.microsoft.com/office/drawing/2014/main" id="{A55AAA01-8A42-4C57-D6F0-7199B03EB5ED}"/>
              </a:ext>
            </a:extLst>
          </p:cNvPr>
          <p:cNvSpPr>
            <a:spLocks/>
          </p:cNvSpPr>
          <p:nvPr/>
        </p:nvSpPr>
        <p:spPr bwMode="auto">
          <a:xfrm>
            <a:off x="5040313" y="2105025"/>
            <a:ext cx="917575" cy="1976438"/>
          </a:xfrm>
          <a:custGeom>
            <a:avLst/>
            <a:gdLst>
              <a:gd name="T0" fmla="*/ 1224795938 w 578"/>
              <a:gd name="T1" fmla="*/ 1723787311 h 1245"/>
              <a:gd name="T2" fmla="*/ 1330642500 w 578"/>
              <a:gd name="T3" fmla="*/ 2147173668 h 1245"/>
              <a:gd name="T4" fmla="*/ 1391126250 w 578"/>
              <a:gd name="T5" fmla="*/ 2147483646 h 1245"/>
              <a:gd name="T6" fmla="*/ 937498125 w 578"/>
              <a:gd name="T7" fmla="*/ 2147483646 h 1245"/>
              <a:gd name="T8" fmla="*/ 438507188 w 578"/>
              <a:gd name="T9" fmla="*/ 2147483646 h 1245"/>
              <a:gd name="T10" fmla="*/ 0 w 578"/>
              <a:gd name="T11" fmla="*/ 0 h 12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8"/>
              <a:gd name="T19" fmla="*/ 0 h 1245"/>
              <a:gd name="T20" fmla="*/ 578 w 578"/>
              <a:gd name="T21" fmla="*/ 1245 h 12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8" h="1245">
                <a:moveTo>
                  <a:pt x="486" y="684"/>
                </a:moveTo>
                <a:cubicBezTo>
                  <a:pt x="492" y="712"/>
                  <a:pt x="517" y="780"/>
                  <a:pt x="528" y="852"/>
                </a:cubicBezTo>
                <a:cubicBezTo>
                  <a:pt x="539" y="924"/>
                  <a:pt x="578" y="1057"/>
                  <a:pt x="552" y="1116"/>
                </a:cubicBezTo>
                <a:cubicBezTo>
                  <a:pt x="526" y="1175"/>
                  <a:pt x="435" y="1218"/>
                  <a:pt x="372" y="1206"/>
                </a:cubicBezTo>
                <a:cubicBezTo>
                  <a:pt x="309" y="1194"/>
                  <a:pt x="236" y="1245"/>
                  <a:pt x="174" y="1044"/>
                </a:cubicBezTo>
                <a:cubicBezTo>
                  <a:pt x="112" y="843"/>
                  <a:pt x="36" y="217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64" name="Freeform 56">
            <a:extLst>
              <a:ext uri="{FF2B5EF4-FFF2-40B4-BE49-F238E27FC236}">
                <a16:creationId xmlns:a16="http://schemas.microsoft.com/office/drawing/2014/main" id="{04C47522-8CE5-774A-E45C-D9E3A1FF76F3}"/>
              </a:ext>
            </a:extLst>
          </p:cNvPr>
          <p:cNvSpPr>
            <a:spLocks/>
          </p:cNvSpPr>
          <p:nvPr/>
        </p:nvSpPr>
        <p:spPr bwMode="auto">
          <a:xfrm>
            <a:off x="4849813" y="2105025"/>
            <a:ext cx="2405062" cy="2159000"/>
          </a:xfrm>
          <a:custGeom>
            <a:avLst/>
            <a:gdLst>
              <a:gd name="T0" fmla="*/ 2147483646 w 1515"/>
              <a:gd name="T1" fmla="*/ 1723786875 h 1360"/>
              <a:gd name="T2" fmla="*/ 2147483646 w 1515"/>
              <a:gd name="T3" fmla="*/ 2147483646 h 1360"/>
              <a:gd name="T4" fmla="*/ 937497930 w 1515"/>
              <a:gd name="T5" fmla="*/ 2147483646 h 1360"/>
              <a:gd name="T6" fmla="*/ 378023359 w 1515"/>
              <a:gd name="T7" fmla="*/ 2147483646 h 1360"/>
              <a:gd name="T8" fmla="*/ 0 w 1515"/>
              <a:gd name="T9" fmla="*/ 0 h 13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15"/>
              <a:gd name="T16" fmla="*/ 0 h 1360"/>
              <a:gd name="T17" fmla="*/ 1515 w 1515"/>
              <a:gd name="T18" fmla="*/ 1360 h 13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15" h="1360">
                <a:moveTo>
                  <a:pt x="1398" y="684"/>
                </a:moveTo>
                <a:cubicBezTo>
                  <a:pt x="1389" y="779"/>
                  <a:pt x="1515" y="1160"/>
                  <a:pt x="1344" y="1260"/>
                </a:cubicBezTo>
                <a:cubicBezTo>
                  <a:pt x="1173" y="1360"/>
                  <a:pt x="571" y="1350"/>
                  <a:pt x="372" y="1284"/>
                </a:cubicBezTo>
                <a:cubicBezTo>
                  <a:pt x="173" y="1218"/>
                  <a:pt x="212" y="1078"/>
                  <a:pt x="150" y="864"/>
                </a:cubicBezTo>
                <a:cubicBezTo>
                  <a:pt x="88" y="650"/>
                  <a:pt x="31" y="180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65" name="Freeform 57">
            <a:extLst>
              <a:ext uri="{FF2B5EF4-FFF2-40B4-BE49-F238E27FC236}">
                <a16:creationId xmlns:a16="http://schemas.microsoft.com/office/drawing/2014/main" id="{D18890D7-6D93-868C-64C8-B613091212E5}"/>
              </a:ext>
            </a:extLst>
          </p:cNvPr>
          <p:cNvSpPr>
            <a:spLocks/>
          </p:cNvSpPr>
          <p:nvPr/>
        </p:nvSpPr>
        <p:spPr bwMode="auto">
          <a:xfrm>
            <a:off x="4632325" y="2114550"/>
            <a:ext cx="3824288" cy="2346325"/>
          </a:xfrm>
          <a:custGeom>
            <a:avLst/>
            <a:gdLst>
              <a:gd name="T0" fmla="*/ 2147483646 w 2409"/>
              <a:gd name="T1" fmla="*/ 1723786875 h 1478"/>
              <a:gd name="T2" fmla="*/ 2147483646 w 2409"/>
              <a:gd name="T3" fmla="*/ 2147483646 h 1478"/>
              <a:gd name="T4" fmla="*/ 2147483646 w 2409"/>
              <a:gd name="T5" fmla="*/ 2147483646 h 1478"/>
              <a:gd name="T6" fmla="*/ 662801974 w 2409"/>
              <a:gd name="T7" fmla="*/ 2147483646 h 1478"/>
              <a:gd name="T8" fmla="*/ 57964395 w 2409"/>
              <a:gd name="T9" fmla="*/ 0 h 14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9"/>
              <a:gd name="T16" fmla="*/ 0 h 1478"/>
              <a:gd name="T17" fmla="*/ 2409 w 2409"/>
              <a:gd name="T18" fmla="*/ 1478 h 14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9" h="1478">
                <a:moveTo>
                  <a:pt x="2309" y="684"/>
                </a:moveTo>
                <a:cubicBezTo>
                  <a:pt x="2306" y="765"/>
                  <a:pt x="2409" y="1054"/>
                  <a:pt x="2291" y="1170"/>
                </a:cubicBezTo>
                <a:cubicBezTo>
                  <a:pt x="2173" y="1286"/>
                  <a:pt x="1939" y="1367"/>
                  <a:pt x="1601" y="1380"/>
                </a:cubicBezTo>
                <a:cubicBezTo>
                  <a:pt x="1263" y="1393"/>
                  <a:pt x="526" y="1478"/>
                  <a:pt x="263" y="1248"/>
                </a:cubicBezTo>
                <a:cubicBezTo>
                  <a:pt x="0" y="1018"/>
                  <a:pt x="73" y="260"/>
                  <a:pt x="23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66" name="Rectangle 58">
            <a:extLst>
              <a:ext uri="{FF2B5EF4-FFF2-40B4-BE49-F238E27FC236}">
                <a16:creationId xmlns:a16="http://schemas.microsoft.com/office/drawing/2014/main" id="{E29D0DD0-D477-CB82-E9CF-E4E0B05F4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13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67" name="Rectangle 59">
            <a:extLst>
              <a:ext uri="{FF2B5EF4-FFF2-40B4-BE49-F238E27FC236}">
                <a16:creationId xmlns:a16="http://schemas.microsoft.com/office/drawing/2014/main" id="{FFD195EA-46A9-5E32-E327-65ED321E7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4868" name="Rectangle 60">
            <a:extLst>
              <a:ext uri="{FF2B5EF4-FFF2-40B4-BE49-F238E27FC236}">
                <a16:creationId xmlns:a16="http://schemas.microsoft.com/office/drawing/2014/main" id="{4E731277-4269-EC71-869C-56D8127A6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4869" name="Text Box 61">
            <a:extLst>
              <a:ext uri="{FF2B5EF4-FFF2-40B4-BE49-F238E27FC236}">
                <a16:creationId xmlns:a16="http://schemas.microsoft.com/office/drawing/2014/main" id="{FE0D7F63-61BC-37E0-148A-4E88D0DE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488" y="58864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cxnSp>
        <p:nvCxnSpPr>
          <p:cNvPr id="34870" name="AutoShape 62">
            <a:extLst>
              <a:ext uri="{FF2B5EF4-FFF2-40B4-BE49-F238E27FC236}">
                <a16:creationId xmlns:a16="http://schemas.microsoft.com/office/drawing/2014/main" id="{450A70C6-95F7-E065-2DD3-4330626718F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367463" y="5692775"/>
            <a:ext cx="361950" cy="1397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71" name="Freeform 63">
            <a:extLst>
              <a:ext uri="{FF2B5EF4-FFF2-40B4-BE49-F238E27FC236}">
                <a16:creationId xmlns:a16="http://schemas.microsoft.com/office/drawing/2014/main" id="{9E2B08B6-CBF7-CE19-1C39-0A7E00D64A4B}"/>
              </a:ext>
            </a:extLst>
          </p:cNvPr>
          <p:cNvSpPr>
            <a:spLocks/>
          </p:cNvSpPr>
          <p:nvPr/>
        </p:nvSpPr>
        <p:spPr bwMode="auto">
          <a:xfrm>
            <a:off x="7235825" y="3181350"/>
            <a:ext cx="290513" cy="1343025"/>
          </a:xfrm>
          <a:custGeom>
            <a:avLst/>
            <a:gdLst>
              <a:gd name="T0" fmla="*/ 234375728 w 183"/>
              <a:gd name="T1" fmla="*/ 0 h 846"/>
              <a:gd name="T2" fmla="*/ 7561276 w 183"/>
              <a:gd name="T3" fmla="*/ 604837500 h 846"/>
              <a:gd name="T4" fmla="*/ 279738619 w 183"/>
              <a:gd name="T5" fmla="*/ 1376005313 h 846"/>
              <a:gd name="T6" fmla="*/ 461190181 w 183"/>
              <a:gd name="T7" fmla="*/ 2132052188 h 846"/>
              <a:gd name="T8" fmla="*/ 0 60000 65536"/>
              <a:gd name="T9" fmla="*/ 0 60000 65536"/>
              <a:gd name="T10" fmla="*/ 0 60000 65536"/>
              <a:gd name="T11" fmla="*/ 0 60000 65536"/>
              <a:gd name="T12" fmla="*/ 0 w 183"/>
              <a:gd name="T13" fmla="*/ 0 h 846"/>
              <a:gd name="T14" fmla="*/ 183 w 183"/>
              <a:gd name="T15" fmla="*/ 846 h 8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3" h="846">
                <a:moveTo>
                  <a:pt x="93" y="0"/>
                </a:moveTo>
                <a:cubicBezTo>
                  <a:pt x="78" y="40"/>
                  <a:pt x="0" y="149"/>
                  <a:pt x="3" y="240"/>
                </a:cubicBezTo>
                <a:cubicBezTo>
                  <a:pt x="6" y="331"/>
                  <a:pt x="81" y="445"/>
                  <a:pt x="111" y="546"/>
                </a:cubicBezTo>
                <a:cubicBezTo>
                  <a:pt x="141" y="647"/>
                  <a:pt x="168" y="784"/>
                  <a:pt x="183" y="84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2" name="Rectangle 64">
            <a:extLst>
              <a:ext uri="{FF2B5EF4-FFF2-40B4-BE49-F238E27FC236}">
                <a16:creationId xmlns:a16="http://schemas.microsoft.com/office/drawing/2014/main" id="{7CEAA119-7F94-9BDD-836F-58AE3F310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73" name="Rectangle 65">
            <a:extLst>
              <a:ext uri="{FF2B5EF4-FFF2-40B4-BE49-F238E27FC236}">
                <a16:creationId xmlns:a16="http://schemas.microsoft.com/office/drawing/2014/main" id="{321B5864-DADB-50AD-A8E8-10EF92D7A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48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4874" name="Rectangle 66">
            <a:extLst>
              <a:ext uri="{FF2B5EF4-FFF2-40B4-BE49-F238E27FC236}">
                <a16:creationId xmlns:a16="http://schemas.microsoft.com/office/drawing/2014/main" id="{A1D867DA-09F3-6991-FCC2-C384CE424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588" y="54197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4875" name="Text Box 67">
            <a:extLst>
              <a:ext uri="{FF2B5EF4-FFF2-40B4-BE49-F238E27FC236}">
                <a16:creationId xmlns:a16="http://schemas.microsoft.com/office/drawing/2014/main" id="{6911FB39-4AA0-1D2E-30A2-F06B93AF5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5886450"/>
            <a:ext cx="327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34876" name="AutoShape 68">
            <a:extLst>
              <a:ext uri="{FF2B5EF4-FFF2-40B4-BE49-F238E27FC236}">
                <a16:creationId xmlns:a16="http://schemas.microsoft.com/office/drawing/2014/main" id="{C37D533E-DD73-2131-1CC1-7FE381AE8BD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7724776" y="5688012"/>
            <a:ext cx="361950" cy="1492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77" name="Freeform 69">
            <a:extLst>
              <a:ext uri="{FF2B5EF4-FFF2-40B4-BE49-F238E27FC236}">
                <a16:creationId xmlns:a16="http://schemas.microsoft.com/office/drawing/2014/main" id="{4CAABDFE-A88D-A8F7-7D9C-B6CD792E0268}"/>
              </a:ext>
            </a:extLst>
          </p:cNvPr>
          <p:cNvSpPr>
            <a:spLocks/>
          </p:cNvSpPr>
          <p:nvPr/>
        </p:nvSpPr>
        <p:spPr bwMode="auto">
          <a:xfrm>
            <a:off x="7735888" y="4781550"/>
            <a:ext cx="447675" cy="619125"/>
          </a:xfrm>
          <a:custGeom>
            <a:avLst/>
            <a:gdLst>
              <a:gd name="T0" fmla="*/ 0 w 282"/>
              <a:gd name="T1" fmla="*/ 0 h 390"/>
              <a:gd name="T2" fmla="*/ 136088438 w 282"/>
              <a:gd name="T3" fmla="*/ 453628125 h 390"/>
              <a:gd name="T4" fmla="*/ 589716563 w 282"/>
              <a:gd name="T5" fmla="*/ 635079375 h 390"/>
              <a:gd name="T6" fmla="*/ 710684063 w 282"/>
              <a:gd name="T7" fmla="*/ 982860938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282"/>
              <a:gd name="T13" fmla="*/ 0 h 390"/>
              <a:gd name="T14" fmla="*/ 282 w 282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2" h="390">
                <a:moveTo>
                  <a:pt x="0" y="0"/>
                </a:moveTo>
                <a:cubicBezTo>
                  <a:pt x="9" y="30"/>
                  <a:pt x="15" y="138"/>
                  <a:pt x="54" y="180"/>
                </a:cubicBezTo>
                <a:cubicBezTo>
                  <a:pt x="93" y="222"/>
                  <a:pt x="196" y="217"/>
                  <a:pt x="234" y="252"/>
                </a:cubicBezTo>
                <a:cubicBezTo>
                  <a:pt x="272" y="287"/>
                  <a:pt x="272" y="361"/>
                  <a:pt x="282" y="3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8" name="Freeform 70">
            <a:extLst>
              <a:ext uri="{FF2B5EF4-FFF2-40B4-BE49-F238E27FC236}">
                <a16:creationId xmlns:a16="http://schemas.microsoft.com/office/drawing/2014/main" id="{DA7BC3FF-7D1E-AACC-E01C-B260F5E62A06}"/>
              </a:ext>
            </a:extLst>
          </p:cNvPr>
          <p:cNvSpPr>
            <a:spLocks/>
          </p:cNvSpPr>
          <p:nvPr/>
        </p:nvSpPr>
        <p:spPr bwMode="auto">
          <a:xfrm>
            <a:off x="6821488" y="4772025"/>
            <a:ext cx="460375" cy="647700"/>
          </a:xfrm>
          <a:custGeom>
            <a:avLst/>
            <a:gdLst>
              <a:gd name="T0" fmla="*/ 725805000 w 290"/>
              <a:gd name="T1" fmla="*/ 0 h 408"/>
              <a:gd name="T2" fmla="*/ 650200313 w 290"/>
              <a:gd name="T3" fmla="*/ 438507188 h 408"/>
              <a:gd name="T4" fmla="*/ 241935000 w 290"/>
              <a:gd name="T5" fmla="*/ 544353750 h 408"/>
              <a:gd name="T6" fmla="*/ 0 w 290"/>
              <a:gd name="T7" fmla="*/ 1028223750 h 408"/>
              <a:gd name="T8" fmla="*/ 0 60000 65536"/>
              <a:gd name="T9" fmla="*/ 0 60000 65536"/>
              <a:gd name="T10" fmla="*/ 0 60000 65536"/>
              <a:gd name="T11" fmla="*/ 0 60000 65536"/>
              <a:gd name="T12" fmla="*/ 0 w 290"/>
              <a:gd name="T13" fmla="*/ 0 h 408"/>
              <a:gd name="T14" fmla="*/ 290 w 290"/>
              <a:gd name="T15" fmla="*/ 408 h 4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0" h="408">
                <a:moveTo>
                  <a:pt x="288" y="0"/>
                </a:moveTo>
                <a:cubicBezTo>
                  <a:pt x="283" y="29"/>
                  <a:pt x="290" y="138"/>
                  <a:pt x="258" y="174"/>
                </a:cubicBezTo>
                <a:cubicBezTo>
                  <a:pt x="226" y="210"/>
                  <a:pt x="139" y="177"/>
                  <a:pt x="96" y="216"/>
                </a:cubicBezTo>
                <a:cubicBezTo>
                  <a:pt x="53" y="255"/>
                  <a:pt x="20" y="368"/>
                  <a:pt x="0" y="40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9" name="Freeform 71">
            <a:extLst>
              <a:ext uri="{FF2B5EF4-FFF2-40B4-BE49-F238E27FC236}">
                <a16:creationId xmlns:a16="http://schemas.microsoft.com/office/drawing/2014/main" id="{DC85BF74-C547-E4B4-2A8F-6646686DBE02}"/>
              </a:ext>
            </a:extLst>
          </p:cNvPr>
          <p:cNvSpPr>
            <a:spLocks/>
          </p:cNvSpPr>
          <p:nvPr/>
        </p:nvSpPr>
        <p:spPr bwMode="auto">
          <a:xfrm>
            <a:off x="5776913" y="2028825"/>
            <a:ext cx="130175" cy="1000125"/>
          </a:xfrm>
          <a:custGeom>
            <a:avLst/>
            <a:gdLst>
              <a:gd name="T0" fmla="*/ 25201563 w 82"/>
              <a:gd name="T1" fmla="*/ 0 h 630"/>
              <a:gd name="T2" fmla="*/ 206652813 w 82"/>
              <a:gd name="T3" fmla="*/ 559474688 h 630"/>
              <a:gd name="T4" fmla="*/ 25201563 w 82"/>
              <a:gd name="T5" fmla="*/ 1043344688 h 630"/>
              <a:gd name="T6" fmla="*/ 55443438 w 82"/>
              <a:gd name="T7" fmla="*/ 1587698438 h 630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630"/>
              <a:gd name="T14" fmla="*/ 82 w 82"/>
              <a:gd name="T15" fmla="*/ 630 h 6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630">
                <a:moveTo>
                  <a:pt x="10" y="0"/>
                </a:moveTo>
                <a:cubicBezTo>
                  <a:pt x="21" y="37"/>
                  <a:pt x="82" y="153"/>
                  <a:pt x="82" y="222"/>
                </a:cubicBezTo>
                <a:cubicBezTo>
                  <a:pt x="82" y="291"/>
                  <a:pt x="20" y="346"/>
                  <a:pt x="10" y="414"/>
                </a:cubicBezTo>
                <a:cubicBezTo>
                  <a:pt x="0" y="482"/>
                  <a:pt x="20" y="585"/>
                  <a:pt x="22" y="63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0" name="Freeform 72">
            <a:extLst>
              <a:ext uri="{FF2B5EF4-FFF2-40B4-BE49-F238E27FC236}">
                <a16:creationId xmlns:a16="http://schemas.microsoft.com/office/drawing/2014/main" id="{51012FE1-BDF0-6257-7AA7-9EB21A63B2CB}"/>
              </a:ext>
            </a:extLst>
          </p:cNvPr>
          <p:cNvSpPr>
            <a:spLocks/>
          </p:cNvSpPr>
          <p:nvPr/>
        </p:nvSpPr>
        <p:spPr bwMode="auto">
          <a:xfrm>
            <a:off x="6065838" y="3352800"/>
            <a:ext cx="866775" cy="2943225"/>
          </a:xfrm>
          <a:custGeom>
            <a:avLst/>
            <a:gdLst>
              <a:gd name="T0" fmla="*/ 1214715313 w 546"/>
              <a:gd name="T1" fmla="*/ 2147483646 h 1854"/>
              <a:gd name="T2" fmla="*/ 1229836250 w 546"/>
              <a:gd name="T3" fmla="*/ 2147483646 h 1854"/>
              <a:gd name="T4" fmla="*/ 337700938 w 546"/>
              <a:gd name="T5" fmla="*/ 2147483646 h 1854"/>
              <a:gd name="T6" fmla="*/ 80645000 w 546"/>
              <a:gd name="T7" fmla="*/ 2147483646 h 1854"/>
              <a:gd name="T8" fmla="*/ 821570938 w 546"/>
              <a:gd name="T9" fmla="*/ 982860938 h 1854"/>
              <a:gd name="T10" fmla="*/ 912296563 w 546"/>
              <a:gd name="T11" fmla="*/ 0 h 18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6"/>
              <a:gd name="T19" fmla="*/ 0 h 1854"/>
              <a:gd name="T20" fmla="*/ 546 w 546"/>
              <a:gd name="T21" fmla="*/ 1854 h 18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6" h="1854">
                <a:moveTo>
                  <a:pt x="482" y="1404"/>
                </a:moveTo>
                <a:cubicBezTo>
                  <a:pt x="483" y="1467"/>
                  <a:pt x="546" y="1728"/>
                  <a:pt x="488" y="1782"/>
                </a:cubicBezTo>
                <a:cubicBezTo>
                  <a:pt x="430" y="1836"/>
                  <a:pt x="210" y="1854"/>
                  <a:pt x="134" y="1728"/>
                </a:cubicBezTo>
                <a:cubicBezTo>
                  <a:pt x="58" y="1602"/>
                  <a:pt x="0" y="1249"/>
                  <a:pt x="32" y="1026"/>
                </a:cubicBezTo>
                <a:cubicBezTo>
                  <a:pt x="64" y="803"/>
                  <a:pt x="271" y="561"/>
                  <a:pt x="326" y="390"/>
                </a:cubicBezTo>
                <a:cubicBezTo>
                  <a:pt x="381" y="219"/>
                  <a:pt x="354" y="81"/>
                  <a:pt x="36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1" name="Freeform 73">
            <a:extLst>
              <a:ext uri="{FF2B5EF4-FFF2-40B4-BE49-F238E27FC236}">
                <a16:creationId xmlns:a16="http://schemas.microsoft.com/office/drawing/2014/main" id="{CE1DD910-E00F-EF09-EA11-FB0D845C8A39}"/>
              </a:ext>
            </a:extLst>
          </p:cNvPr>
          <p:cNvSpPr>
            <a:spLocks/>
          </p:cNvSpPr>
          <p:nvPr/>
        </p:nvSpPr>
        <p:spPr bwMode="auto">
          <a:xfrm>
            <a:off x="7421563" y="3371850"/>
            <a:ext cx="1493837" cy="2635250"/>
          </a:xfrm>
          <a:custGeom>
            <a:avLst/>
            <a:gdLst>
              <a:gd name="T0" fmla="*/ 1204634284 w 941"/>
              <a:gd name="T1" fmla="*/ 2147483646 h 1660"/>
              <a:gd name="T2" fmla="*/ 1738907230 w 941"/>
              <a:gd name="T3" fmla="*/ 2147483646 h 1660"/>
              <a:gd name="T4" fmla="*/ 2147483646 w 941"/>
              <a:gd name="T5" fmla="*/ 2147483646 h 1660"/>
              <a:gd name="T6" fmla="*/ 1814511893 w 941"/>
              <a:gd name="T7" fmla="*/ 2147483646 h 1660"/>
              <a:gd name="T8" fmla="*/ 559474500 w 941"/>
              <a:gd name="T9" fmla="*/ 1436489063 h 1660"/>
              <a:gd name="T10" fmla="*/ 0 w 941"/>
              <a:gd name="T11" fmla="*/ 0 h 16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1"/>
              <a:gd name="T19" fmla="*/ 0 h 1660"/>
              <a:gd name="T20" fmla="*/ 941 w 941"/>
              <a:gd name="T21" fmla="*/ 1660 h 16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1" h="1660">
                <a:moveTo>
                  <a:pt x="478" y="1392"/>
                </a:moveTo>
                <a:cubicBezTo>
                  <a:pt x="513" y="1436"/>
                  <a:pt x="614" y="1652"/>
                  <a:pt x="690" y="1656"/>
                </a:cubicBezTo>
                <a:cubicBezTo>
                  <a:pt x="766" y="1660"/>
                  <a:pt x="931" y="1533"/>
                  <a:pt x="936" y="1416"/>
                </a:cubicBezTo>
                <a:cubicBezTo>
                  <a:pt x="941" y="1299"/>
                  <a:pt x="839" y="1095"/>
                  <a:pt x="720" y="954"/>
                </a:cubicBezTo>
                <a:cubicBezTo>
                  <a:pt x="601" y="813"/>
                  <a:pt x="342" y="729"/>
                  <a:pt x="222" y="570"/>
                </a:cubicBezTo>
                <a:cubicBezTo>
                  <a:pt x="102" y="411"/>
                  <a:pt x="46" y="119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1A6BC8C-BA72-F7BE-50E9-F568D7F11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List-Based Representation for Binary Trees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629E6FB7-F9C2-5755-C8C5-E9F5AF6CB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3429000" cy="2895600"/>
          </a:xfrm>
        </p:spPr>
        <p:txBody>
          <a:bodyPr/>
          <a:lstStyle/>
          <a:p>
            <a:pPr eaLnBrk="1" hangingPunct="1"/>
            <a:r>
              <a:rPr lang="en-US" altLang="en-US" sz="2000"/>
              <a:t>A node is represented by an object storing</a:t>
            </a:r>
          </a:p>
          <a:p>
            <a:pPr lvl="1" eaLnBrk="1" hangingPunct="1"/>
            <a:r>
              <a:rPr lang="en-US" altLang="en-US" sz="1800"/>
              <a:t>Element</a:t>
            </a:r>
          </a:p>
          <a:p>
            <a:pPr lvl="1" eaLnBrk="1" hangingPunct="1"/>
            <a:r>
              <a:rPr lang="en-US" altLang="en-US" sz="1800"/>
              <a:t>Parent node</a:t>
            </a:r>
          </a:p>
          <a:p>
            <a:pPr lvl="1" eaLnBrk="1" hangingPunct="1"/>
            <a:r>
              <a:rPr lang="en-US" altLang="en-US" sz="1800"/>
              <a:t>Left child node</a:t>
            </a:r>
          </a:p>
          <a:p>
            <a:pPr lvl="1" eaLnBrk="1" hangingPunct="1"/>
            <a:r>
              <a:rPr lang="en-US" altLang="en-US" sz="1800"/>
              <a:t>Right child node</a:t>
            </a:r>
          </a:p>
          <a:p>
            <a:pPr eaLnBrk="1" hangingPunct="1"/>
            <a:r>
              <a:rPr lang="en-US" altLang="en-US" sz="2000"/>
              <a:t>Node objects implement the Position ADT</a:t>
            </a:r>
          </a:p>
        </p:txBody>
      </p:sp>
      <p:sp>
        <p:nvSpPr>
          <p:cNvPr id="35843" name="Oval 4">
            <a:extLst>
              <a:ext uri="{FF2B5EF4-FFF2-40B4-BE49-F238E27FC236}">
                <a16:creationId xmlns:a16="http://schemas.microsoft.com/office/drawing/2014/main" id="{E9934AF3-CD59-9571-FF10-D200E5A62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114800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  <a:sym typeface="Symbol" pitchFamily="2" charset="2"/>
              </a:rPr>
              <a:t>B</a:t>
            </a: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5844" name="Oval 5">
            <a:extLst>
              <a:ext uri="{FF2B5EF4-FFF2-40B4-BE49-F238E27FC236}">
                <a16:creationId xmlns:a16="http://schemas.microsoft.com/office/drawing/2014/main" id="{7383CBB1-BD96-7844-473B-D76244F2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4854575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D833DCFB-2531-B6BE-4799-CA165BEDE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8006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5846" name="Rectangle 7">
            <a:extLst>
              <a:ext uri="{FF2B5EF4-FFF2-40B4-BE49-F238E27FC236}">
                <a16:creationId xmlns:a16="http://schemas.microsoft.com/office/drawing/2014/main" id="{1294A258-DDB7-CF60-07B2-38E1566FF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7150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35847" name="Rectangle 8">
            <a:extLst>
              <a:ext uri="{FF2B5EF4-FFF2-40B4-BE49-F238E27FC236}">
                <a16:creationId xmlns:a16="http://schemas.microsoft.com/office/drawing/2014/main" id="{3E09B8E5-1C03-C166-BEDE-534F528A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7150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35848" name="AutoShape 9">
            <a:extLst>
              <a:ext uri="{FF2B5EF4-FFF2-40B4-BE49-F238E27FC236}">
                <a16:creationId xmlns:a16="http://schemas.microsoft.com/office/drawing/2014/main" id="{F703D670-0B89-D8FB-99A1-70381A2AA264}"/>
              </a:ext>
            </a:extLst>
          </p:cNvPr>
          <p:cNvCxnSpPr>
            <a:cxnSpLocks noChangeShapeType="1"/>
            <a:stCxn id="35847" idx="0"/>
            <a:endCxn id="35844" idx="5"/>
          </p:cNvCxnSpPr>
          <p:nvPr/>
        </p:nvCxnSpPr>
        <p:spPr bwMode="auto">
          <a:xfrm flipH="1" flipV="1">
            <a:off x="3513138" y="5291138"/>
            <a:ext cx="5476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AutoShape 10">
            <a:extLst>
              <a:ext uri="{FF2B5EF4-FFF2-40B4-BE49-F238E27FC236}">
                <a16:creationId xmlns:a16="http://schemas.microsoft.com/office/drawing/2014/main" id="{447B2C6E-CDFF-0253-AE1A-0B5544C43B16}"/>
              </a:ext>
            </a:extLst>
          </p:cNvPr>
          <p:cNvCxnSpPr>
            <a:cxnSpLocks noChangeShapeType="1"/>
            <a:stCxn id="35846" idx="0"/>
            <a:endCxn id="35844" idx="3"/>
          </p:cNvCxnSpPr>
          <p:nvPr/>
        </p:nvCxnSpPr>
        <p:spPr bwMode="auto">
          <a:xfrm flipV="1">
            <a:off x="2613025" y="5291138"/>
            <a:ext cx="5445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0" name="AutoShape 11">
            <a:extLst>
              <a:ext uri="{FF2B5EF4-FFF2-40B4-BE49-F238E27FC236}">
                <a16:creationId xmlns:a16="http://schemas.microsoft.com/office/drawing/2014/main" id="{2F78D4E6-4414-F68F-9FC8-4C496500E171}"/>
              </a:ext>
            </a:extLst>
          </p:cNvPr>
          <p:cNvCxnSpPr>
            <a:cxnSpLocks noChangeShapeType="1"/>
            <a:stCxn id="35845" idx="0"/>
            <a:endCxn id="35843" idx="3"/>
          </p:cNvCxnSpPr>
          <p:nvPr/>
        </p:nvCxnSpPr>
        <p:spPr bwMode="auto">
          <a:xfrm flipV="1">
            <a:off x="1622425" y="4551363"/>
            <a:ext cx="660400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AutoShape 12">
            <a:extLst>
              <a:ext uri="{FF2B5EF4-FFF2-40B4-BE49-F238E27FC236}">
                <a16:creationId xmlns:a16="http://schemas.microsoft.com/office/drawing/2014/main" id="{87254428-E68E-5032-D1CB-AE26DD434023}"/>
              </a:ext>
            </a:extLst>
          </p:cNvPr>
          <p:cNvCxnSpPr>
            <a:cxnSpLocks noChangeShapeType="1"/>
            <a:stCxn id="35844" idx="0"/>
            <a:endCxn id="35843" idx="5"/>
          </p:cNvCxnSpPr>
          <p:nvPr/>
        </p:nvCxnSpPr>
        <p:spPr bwMode="auto">
          <a:xfrm flipH="1" flipV="1">
            <a:off x="2638425" y="4551363"/>
            <a:ext cx="696913" cy="293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852" name="Group 13">
            <a:extLst>
              <a:ext uri="{FF2B5EF4-FFF2-40B4-BE49-F238E27FC236}">
                <a16:creationId xmlns:a16="http://schemas.microsoft.com/office/drawing/2014/main" id="{2CAB67BF-6401-767A-B0EA-779092024573}"/>
              </a:ext>
            </a:extLst>
          </p:cNvPr>
          <p:cNvGrpSpPr>
            <a:grpSpLocks/>
          </p:cNvGrpSpPr>
          <p:nvPr/>
        </p:nvGrpSpPr>
        <p:grpSpPr bwMode="auto">
          <a:xfrm>
            <a:off x="5238750" y="1581150"/>
            <a:ext cx="1219200" cy="609600"/>
            <a:chOff x="3840" y="960"/>
            <a:chExt cx="768" cy="384"/>
          </a:xfrm>
        </p:grpSpPr>
        <p:sp>
          <p:nvSpPr>
            <p:cNvPr id="35899" name="AutoShape 14">
              <a:extLst>
                <a:ext uri="{FF2B5EF4-FFF2-40B4-BE49-F238E27FC236}">
                  <a16:creationId xmlns:a16="http://schemas.microsoft.com/office/drawing/2014/main" id="{396F7E38-20CD-7EDE-ED20-2E16CDDE5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0" name="Rectangle 15">
              <a:extLst>
                <a:ext uri="{FF2B5EF4-FFF2-40B4-BE49-F238E27FC236}">
                  <a16:creationId xmlns:a16="http://schemas.microsoft.com/office/drawing/2014/main" id="{8FEF1439-82A2-7B7C-DCAA-1E721F4A4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1" name="Line 16">
              <a:extLst>
                <a:ext uri="{FF2B5EF4-FFF2-40B4-BE49-F238E27FC236}">
                  <a16:creationId xmlns:a16="http://schemas.microsoft.com/office/drawing/2014/main" id="{907A1439-B900-D6E6-9DE3-7B837E275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853" name="Group 17">
            <a:extLst>
              <a:ext uri="{FF2B5EF4-FFF2-40B4-BE49-F238E27FC236}">
                <a16:creationId xmlns:a16="http://schemas.microsoft.com/office/drawing/2014/main" id="{61462C4D-B54C-A93A-E944-17B65EAB7D68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105150"/>
            <a:ext cx="1219200" cy="609600"/>
            <a:chOff x="3840" y="960"/>
            <a:chExt cx="768" cy="384"/>
          </a:xfrm>
        </p:grpSpPr>
        <p:sp>
          <p:nvSpPr>
            <p:cNvPr id="35896" name="AutoShape 18">
              <a:extLst>
                <a:ext uri="{FF2B5EF4-FFF2-40B4-BE49-F238E27FC236}">
                  <a16:creationId xmlns:a16="http://schemas.microsoft.com/office/drawing/2014/main" id="{3801ACB0-EE3F-D174-FF75-3376C11F8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7" name="Rectangle 19">
              <a:extLst>
                <a:ext uri="{FF2B5EF4-FFF2-40B4-BE49-F238E27FC236}">
                  <a16:creationId xmlns:a16="http://schemas.microsoft.com/office/drawing/2014/main" id="{DC2A094A-AA03-E7FD-6A6E-FBF0FD8EF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8" name="Line 20">
              <a:extLst>
                <a:ext uri="{FF2B5EF4-FFF2-40B4-BE49-F238E27FC236}">
                  <a16:creationId xmlns:a16="http://schemas.microsoft.com/office/drawing/2014/main" id="{68FDB836-D7E7-0ADD-D6FE-818AD68D6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4" name="Text Box 21">
            <a:extLst>
              <a:ext uri="{FF2B5EF4-FFF2-40B4-BE49-F238E27FC236}">
                <a16:creationId xmlns:a16="http://schemas.microsoft.com/office/drawing/2014/main" id="{4966353B-22EB-412F-8394-C4F4EE156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3211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55" name="Text Box 22">
            <a:extLst>
              <a:ext uri="{FF2B5EF4-FFF2-40B4-BE49-F238E27FC236}">
                <a16:creationId xmlns:a16="http://schemas.microsoft.com/office/drawing/2014/main" id="{C14E26E2-178F-BD62-49A4-82CCD7C9A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211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56" name="Group 23">
            <a:extLst>
              <a:ext uri="{FF2B5EF4-FFF2-40B4-BE49-F238E27FC236}">
                <a16:creationId xmlns:a16="http://schemas.microsoft.com/office/drawing/2014/main" id="{09DD71F7-C711-2FA5-0CCD-E84084B45BA0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3105150"/>
            <a:ext cx="1219200" cy="609600"/>
            <a:chOff x="3840" y="960"/>
            <a:chExt cx="768" cy="384"/>
          </a:xfrm>
        </p:grpSpPr>
        <p:sp>
          <p:nvSpPr>
            <p:cNvPr id="35893" name="AutoShape 24">
              <a:extLst>
                <a:ext uri="{FF2B5EF4-FFF2-40B4-BE49-F238E27FC236}">
                  <a16:creationId xmlns:a16="http://schemas.microsoft.com/office/drawing/2014/main" id="{8BCD448A-310D-1F42-E4F6-AC4802D06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4" name="Rectangle 25">
              <a:extLst>
                <a:ext uri="{FF2B5EF4-FFF2-40B4-BE49-F238E27FC236}">
                  <a16:creationId xmlns:a16="http://schemas.microsoft.com/office/drawing/2014/main" id="{04027655-7A36-D51B-0B02-B9EA922B3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5" name="Line 26">
              <a:extLst>
                <a:ext uri="{FF2B5EF4-FFF2-40B4-BE49-F238E27FC236}">
                  <a16:creationId xmlns:a16="http://schemas.microsoft.com/office/drawing/2014/main" id="{65D2AD79-1175-9F26-A92B-049624BF3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857" name="Group 27">
            <a:extLst>
              <a:ext uri="{FF2B5EF4-FFF2-40B4-BE49-F238E27FC236}">
                <a16:creationId xmlns:a16="http://schemas.microsoft.com/office/drawing/2014/main" id="{7728FC87-06C9-82C6-FF7E-39F96371B649}"/>
              </a:ext>
            </a:extLst>
          </p:cNvPr>
          <p:cNvGrpSpPr>
            <a:grpSpLocks/>
          </p:cNvGrpSpPr>
          <p:nvPr/>
        </p:nvGrpSpPr>
        <p:grpSpPr bwMode="auto">
          <a:xfrm>
            <a:off x="5238750" y="4629150"/>
            <a:ext cx="1219200" cy="609600"/>
            <a:chOff x="3840" y="960"/>
            <a:chExt cx="768" cy="384"/>
          </a:xfrm>
        </p:grpSpPr>
        <p:sp>
          <p:nvSpPr>
            <p:cNvPr id="35890" name="AutoShape 28">
              <a:extLst>
                <a:ext uri="{FF2B5EF4-FFF2-40B4-BE49-F238E27FC236}">
                  <a16:creationId xmlns:a16="http://schemas.microsoft.com/office/drawing/2014/main" id="{4307DDA9-C3B1-DE73-CB28-6BC2158F3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1" name="Rectangle 29">
              <a:extLst>
                <a:ext uri="{FF2B5EF4-FFF2-40B4-BE49-F238E27FC236}">
                  <a16:creationId xmlns:a16="http://schemas.microsoft.com/office/drawing/2014/main" id="{7BEDD02F-DD98-BDF3-186C-70C244D72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2" name="Line 30">
              <a:extLst>
                <a:ext uri="{FF2B5EF4-FFF2-40B4-BE49-F238E27FC236}">
                  <a16:creationId xmlns:a16="http://schemas.microsoft.com/office/drawing/2014/main" id="{BA52E749-12B2-0412-08A4-EA958D236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8" name="Text Box 31">
            <a:extLst>
              <a:ext uri="{FF2B5EF4-FFF2-40B4-BE49-F238E27FC236}">
                <a16:creationId xmlns:a16="http://schemas.microsoft.com/office/drawing/2014/main" id="{E1B6097A-ECD2-8A97-CD8E-C3EC35FFB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735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59" name="Text Box 32">
            <a:extLst>
              <a:ext uri="{FF2B5EF4-FFF2-40B4-BE49-F238E27FC236}">
                <a16:creationId xmlns:a16="http://schemas.microsoft.com/office/drawing/2014/main" id="{5D0FC97D-F2B5-DFAC-4671-A6C45351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525" y="4735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60" name="Group 33">
            <a:extLst>
              <a:ext uri="{FF2B5EF4-FFF2-40B4-BE49-F238E27FC236}">
                <a16:creationId xmlns:a16="http://schemas.microsoft.com/office/drawing/2014/main" id="{B6AEC017-6800-B3EF-A01E-1330BE0BE7FB}"/>
              </a:ext>
            </a:extLst>
          </p:cNvPr>
          <p:cNvGrpSpPr>
            <a:grpSpLocks/>
          </p:cNvGrpSpPr>
          <p:nvPr/>
        </p:nvGrpSpPr>
        <p:grpSpPr bwMode="auto">
          <a:xfrm>
            <a:off x="7578725" y="4629150"/>
            <a:ext cx="1219200" cy="609600"/>
            <a:chOff x="3840" y="960"/>
            <a:chExt cx="768" cy="384"/>
          </a:xfrm>
        </p:grpSpPr>
        <p:sp>
          <p:nvSpPr>
            <p:cNvPr id="35887" name="AutoShape 34">
              <a:extLst>
                <a:ext uri="{FF2B5EF4-FFF2-40B4-BE49-F238E27FC236}">
                  <a16:creationId xmlns:a16="http://schemas.microsoft.com/office/drawing/2014/main" id="{C75838AB-C7AB-852E-03A8-340286CFE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88" name="Rectangle 35">
              <a:extLst>
                <a:ext uri="{FF2B5EF4-FFF2-40B4-BE49-F238E27FC236}">
                  <a16:creationId xmlns:a16="http://schemas.microsoft.com/office/drawing/2014/main" id="{80C94B31-6756-55DB-E0FA-1FA6410EB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89" name="Line 36">
              <a:extLst>
                <a:ext uri="{FF2B5EF4-FFF2-40B4-BE49-F238E27FC236}">
                  <a16:creationId xmlns:a16="http://schemas.microsoft.com/office/drawing/2014/main" id="{DA3B0874-1998-9E40-C238-D9676D798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61" name="Text Box 37">
            <a:extLst>
              <a:ext uri="{FF2B5EF4-FFF2-40B4-BE49-F238E27FC236}">
                <a16:creationId xmlns:a16="http://schemas.microsoft.com/office/drawing/2014/main" id="{0848025A-067D-4851-7D35-7AAAF8C64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575" y="4735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62" name="Text Box 38">
            <a:extLst>
              <a:ext uri="{FF2B5EF4-FFF2-40B4-BE49-F238E27FC236}">
                <a16:creationId xmlns:a16="http://schemas.microsoft.com/office/drawing/2014/main" id="{A1D37F42-6B6E-C75B-84E8-A937E3396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0" y="47355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63" name="Group 39">
            <a:extLst>
              <a:ext uri="{FF2B5EF4-FFF2-40B4-BE49-F238E27FC236}">
                <a16:creationId xmlns:a16="http://schemas.microsoft.com/office/drawing/2014/main" id="{69469156-1FC5-7A16-66A3-F927D02EBD19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038350"/>
            <a:ext cx="333375" cy="854075"/>
            <a:chOff x="3504" y="1440"/>
            <a:chExt cx="210" cy="538"/>
          </a:xfrm>
        </p:grpSpPr>
        <p:sp>
          <p:nvSpPr>
            <p:cNvPr id="35885" name="Text Box 40">
              <a:extLst>
                <a:ext uri="{FF2B5EF4-FFF2-40B4-BE49-F238E27FC236}">
                  <a16:creationId xmlns:a16="http://schemas.microsoft.com/office/drawing/2014/main" id="{72B74A0E-E89C-C17E-72A2-4852A414D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35886" name="AutoShape 41">
              <a:extLst>
                <a:ext uri="{FF2B5EF4-FFF2-40B4-BE49-F238E27FC236}">
                  <a16:creationId xmlns:a16="http://schemas.microsoft.com/office/drawing/2014/main" id="{2DCE12B3-F670-678C-5586-2536E162D9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4" name="Group 42">
            <a:extLst>
              <a:ext uri="{FF2B5EF4-FFF2-40B4-BE49-F238E27FC236}">
                <a16:creationId xmlns:a16="http://schemas.microsoft.com/office/drawing/2014/main" id="{0C2016F5-E5CC-A30F-F3B2-F55817FC30F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562350"/>
            <a:ext cx="333375" cy="854075"/>
            <a:chOff x="3504" y="1440"/>
            <a:chExt cx="210" cy="538"/>
          </a:xfrm>
        </p:grpSpPr>
        <p:sp>
          <p:nvSpPr>
            <p:cNvPr id="35883" name="Text Box 43">
              <a:extLst>
                <a:ext uri="{FF2B5EF4-FFF2-40B4-BE49-F238E27FC236}">
                  <a16:creationId xmlns:a16="http://schemas.microsoft.com/office/drawing/2014/main" id="{2965F488-B846-5917-F355-B087F4B3F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cxnSp>
          <p:nvCxnSpPr>
            <p:cNvPr id="35884" name="AutoShape 44">
              <a:extLst>
                <a:ext uri="{FF2B5EF4-FFF2-40B4-BE49-F238E27FC236}">
                  <a16:creationId xmlns:a16="http://schemas.microsoft.com/office/drawing/2014/main" id="{77634DE0-B74A-4C99-826D-3D91DC1829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5" name="Group 45">
            <a:extLst>
              <a:ext uri="{FF2B5EF4-FFF2-40B4-BE49-F238E27FC236}">
                <a16:creationId xmlns:a16="http://schemas.microsoft.com/office/drawing/2014/main" id="{72E3BB76-2299-439F-C99C-D0F130F27A88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3562350"/>
            <a:ext cx="357187" cy="854075"/>
            <a:chOff x="3497" y="1440"/>
            <a:chExt cx="225" cy="538"/>
          </a:xfrm>
        </p:grpSpPr>
        <p:sp>
          <p:nvSpPr>
            <p:cNvPr id="35881" name="Text Box 46">
              <a:extLst>
                <a:ext uri="{FF2B5EF4-FFF2-40B4-BE49-F238E27FC236}">
                  <a16:creationId xmlns:a16="http://schemas.microsoft.com/office/drawing/2014/main" id="{3E44A8ED-6729-223C-4649-23DDD449C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" y="1728"/>
              <a:ext cx="2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D</a:t>
              </a:r>
            </a:p>
          </p:txBody>
        </p:sp>
        <p:cxnSp>
          <p:nvCxnSpPr>
            <p:cNvPr id="35882" name="AutoShape 47">
              <a:extLst>
                <a:ext uri="{FF2B5EF4-FFF2-40B4-BE49-F238E27FC236}">
                  <a16:creationId xmlns:a16="http://schemas.microsoft.com/office/drawing/2014/main" id="{8709E63D-2E8E-B4E9-B5A7-B2BC10643C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6" name="Group 48">
            <a:extLst>
              <a:ext uri="{FF2B5EF4-FFF2-40B4-BE49-F238E27FC236}">
                <a16:creationId xmlns:a16="http://schemas.microsoft.com/office/drawing/2014/main" id="{9D98751A-7211-73B0-F166-26354AC4A8FF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5086350"/>
            <a:ext cx="333375" cy="854075"/>
            <a:chOff x="3504" y="1440"/>
            <a:chExt cx="210" cy="538"/>
          </a:xfrm>
        </p:grpSpPr>
        <p:sp>
          <p:nvSpPr>
            <p:cNvPr id="35879" name="Text Box 49">
              <a:extLst>
                <a:ext uri="{FF2B5EF4-FFF2-40B4-BE49-F238E27FC236}">
                  <a16:creationId xmlns:a16="http://schemas.microsoft.com/office/drawing/2014/main" id="{A5E813FF-2A25-14A5-AEDB-4C037734F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cxnSp>
          <p:nvCxnSpPr>
            <p:cNvPr id="35880" name="AutoShape 50">
              <a:extLst>
                <a:ext uri="{FF2B5EF4-FFF2-40B4-BE49-F238E27FC236}">
                  <a16:creationId xmlns:a16="http://schemas.microsoft.com/office/drawing/2014/main" id="{E94BE57E-BE85-8D5A-8303-6EFC11A506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7" name="Group 51">
            <a:extLst>
              <a:ext uri="{FF2B5EF4-FFF2-40B4-BE49-F238E27FC236}">
                <a16:creationId xmlns:a16="http://schemas.microsoft.com/office/drawing/2014/main" id="{F8FF9E09-793E-6BCA-C67B-8FD3903B12E1}"/>
              </a:ext>
            </a:extLst>
          </p:cNvPr>
          <p:cNvGrpSpPr>
            <a:grpSpLocks/>
          </p:cNvGrpSpPr>
          <p:nvPr/>
        </p:nvGrpSpPr>
        <p:grpSpPr bwMode="auto">
          <a:xfrm>
            <a:off x="8029575" y="5086350"/>
            <a:ext cx="327025" cy="854075"/>
            <a:chOff x="3506" y="1440"/>
            <a:chExt cx="206" cy="538"/>
          </a:xfrm>
        </p:grpSpPr>
        <p:sp>
          <p:nvSpPr>
            <p:cNvPr id="35877" name="Text Box 52">
              <a:extLst>
                <a:ext uri="{FF2B5EF4-FFF2-40B4-BE49-F238E27FC236}">
                  <a16:creationId xmlns:a16="http://schemas.microsoft.com/office/drawing/2014/main" id="{0CAF45D4-0D85-861F-36E8-C0939B5DE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728"/>
              <a:ext cx="2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</a:t>
              </a:r>
            </a:p>
          </p:txBody>
        </p:sp>
        <p:cxnSp>
          <p:nvCxnSpPr>
            <p:cNvPr id="35878" name="AutoShape 53">
              <a:extLst>
                <a:ext uri="{FF2B5EF4-FFF2-40B4-BE49-F238E27FC236}">
                  <a16:creationId xmlns:a16="http://schemas.microsoft.com/office/drawing/2014/main" id="{D3A78EBD-4523-52F6-E04B-4E13AA0EF0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868" name="Freeform 54">
            <a:extLst>
              <a:ext uri="{FF2B5EF4-FFF2-40B4-BE49-F238E27FC236}">
                <a16:creationId xmlns:a16="http://schemas.microsoft.com/office/drawing/2014/main" id="{EF749CD7-E70E-788B-3181-40D290BA0300}"/>
              </a:ext>
            </a:extLst>
          </p:cNvPr>
          <p:cNvSpPr>
            <a:spLocks/>
          </p:cNvSpPr>
          <p:nvPr/>
        </p:nvSpPr>
        <p:spPr bwMode="auto">
          <a:xfrm>
            <a:off x="4584700" y="2190750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9" name="Freeform 55">
            <a:extLst>
              <a:ext uri="{FF2B5EF4-FFF2-40B4-BE49-F238E27FC236}">
                <a16:creationId xmlns:a16="http://schemas.microsoft.com/office/drawing/2014/main" id="{D80E36DD-BC21-BA0A-4F27-C5A07933EB3B}"/>
              </a:ext>
            </a:extLst>
          </p:cNvPr>
          <p:cNvSpPr>
            <a:spLocks/>
          </p:cNvSpPr>
          <p:nvPr/>
        </p:nvSpPr>
        <p:spPr bwMode="auto">
          <a:xfrm flipH="1">
            <a:off x="6000750" y="2190750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56">
            <a:extLst>
              <a:ext uri="{FF2B5EF4-FFF2-40B4-BE49-F238E27FC236}">
                <a16:creationId xmlns:a16="http://schemas.microsoft.com/office/drawing/2014/main" id="{398C5FC8-9870-F72A-1F6C-DA6B892FBAC8}"/>
              </a:ext>
            </a:extLst>
          </p:cNvPr>
          <p:cNvSpPr>
            <a:spLocks/>
          </p:cNvSpPr>
          <p:nvPr/>
        </p:nvSpPr>
        <p:spPr bwMode="auto">
          <a:xfrm flipH="1">
            <a:off x="7162800" y="3714750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57">
            <a:extLst>
              <a:ext uri="{FF2B5EF4-FFF2-40B4-BE49-F238E27FC236}">
                <a16:creationId xmlns:a16="http://schemas.microsoft.com/office/drawing/2014/main" id="{B644112F-1FF9-415E-D6F5-EC67FD6035F5}"/>
              </a:ext>
            </a:extLst>
          </p:cNvPr>
          <p:cNvSpPr>
            <a:spLocks/>
          </p:cNvSpPr>
          <p:nvPr/>
        </p:nvSpPr>
        <p:spPr bwMode="auto">
          <a:xfrm>
            <a:off x="5715000" y="3714750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58">
            <a:extLst>
              <a:ext uri="{FF2B5EF4-FFF2-40B4-BE49-F238E27FC236}">
                <a16:creationId xmlns:a16="http://schemas.microsoft.com/office/drawing/2014/main" id="{28EA56B6-E095-EC51-A19F-2A020DFE9915}"/>
              </a:ext>
            </a:extLst>
          </p:cNvPr>
          <p:cNvSpPr>
            <a:spLocks/>
          </p:cNvSpPr>
          <p:nvPr/>
        </p:nvSpPr>
        <p:spPr bwMode="auto">
          <a:xfrm>
            <a:off x="4262438" y="1876425"/>
            <a:ext cx="1109662" cy="1209675"/>
          </a:xfrm>
          <a:custGeom>
            <a:avLst/>
            <a:gdLst>
              <a:gd name="T0" fmla="*/ 1761587631 w 699"/>
              <a:gd name="T1" fmla="*/ 0 h 762"/>
              <a:gd name="T2" fmla="*/ 219252701 w 699"/>
              <a:gd name="T3" fmla="*/ 619958438 h 762"/>
              <a:gd name="T4" fmla="*/ 446066662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59">
            <a:extLst>
              <a:ext uri="{FF2B5EF4-FFF2-40B4-BE49-F238E27FC236}">
                <a16:creationId xmlns:a16="http://schemas.microsoft.com/office/drawing/2014/main" id="{F958DDC7-CBB3-8259-C056-3C3641FA7F59}"/>
              </a:ext>
            </a:extLst>
          </p:cNvPr>
          <p:cNvSpPr>
            <a:spLocks/>
          </p:cNvSpPr>
          <p:nvPr/>
        </p:nvSpPr>
        <p:spPr bwMode="auto">
          <a:xfrm flipH="1">
            <a:off x="6324600" y="1885950"/>
            <a:ext cx="1219200" cy="1209675"/>
          </a:xfrm>
          <a:custGeom>
            <a:avLst/>
            <a:gdLst>
              <a:gd name="T0" fmla="*/ 2126535966 w 699"/>
              <a:gd name="T1" fmla="*/ 0 h 762"/>
              <a:gd name="T2" fmla="*/ 264676285 w 699"/>
              <a:gd name="T3" fmla="*/ 619958438 h 762"/>
              <a:gd name="T4" fmla="*/ 538478256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60">
            <a:extLst>
              <a:ext uri="{FF2B5EF4-FFF2-40B4-BE49-F238E27FC236}">
                <a16:creationId xmlns:a16="http://schemas.microsoft.com/office/drawing/2014/main" id="{F9153FBF-CBCF-95FE-8052-B4C2203EAE3A}"/>
              </a:ext>
            </a:extLst>
          </p:cNvPr>
          <p:cNvSpPr>
            <a:spLocks/>
          </p:cNvSpPr>
          <p:nvPr/>
        </p:nvSpPr>
        <p:spPr bwMode="auto">
          <a:xfrm flipH="1">
            <a:off x="7467600" y="3409950"/>
            <a:ext cx="1219200" cy="1209675"/>
          </a:xfrm>
          <a:custGeom>
            <a:avLst/>
            <a:gdLst>
              <a:gd name="T0" fmla="*/ 2126535966 w 699"/>
              <a:gd name="T1" fmla="*/ 0 h 762"/>
              <a:gd name="T2" fmla="*/ 264676285 w 699"/>
              <a:gd name="T3" fmla="*/ 619958438 h 762"/>
              <a:gd name="T4" fmla="*/ 538478256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61">
            <a:extLst>
              <a:ext uri="{FF2B5EF4-FFF2-40B4-BE49-F238E27FC236}">
                <a16:creationId xmlns:a16="http://schemas.microsoft.com/office/drawing/2014/main" id="{B04536FC-EFCA-8618-8CFF-034EF6589BFC}"/>
              </a:ext>
            </a:extLst>
          </p:cNvPr>
          <p:cNvSpPr>
            <a:spLocks/>
          </p:cNvSpPr>
          <p:nvPr/>
        </p:nvSpPr>
        <p:spPr bwMode="auto">
          <a:xfrm>
            <a:off x="5410200" y="3409950"/>
            <a:ext cx="1109663" cy="1209675"/>
          </a:xfrm>
          <a:custGeom>
            <a:avLst/>
            <a:gdLst>
              <a:gd name="T0" fmla="*/ 1761590806 w 699"/>
              <a:gd name="T1" fmla="*/ 0 h 762"/>
              <a:gd name="T2" fmla="*/ 219254486 w 699"/>
              <a:gd name="T3" fmla="*/ 619958438 h 762"/>
              <a:gd name="T4" fmla="*/ 446068651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Text Box 62">
            <a:extLst>
              <a:ext uri="{FF2B5EF4-FFF2-40B4-BE49-F238E27FC236}">
                <a16:creationId xmlns:a16="http://schemas.microsoft.com/office/drawing/2014/main" id="{7BE08CE1-6E40-FBC7-5438-5CA8F12F2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325" y="152400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25DD-256B-1C2A-959F-6F737D8F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A43AA-406B-9F2B-3680-BDFCC97F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ABE87-D26F-0075-2025-FB116779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335103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6248-22E8-1956-00C3-278C71AA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BB0A76D-32A2-BD9F-8CB0-519193118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76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Quiz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0F23FC5-9F46-0098-E77C-102BC756E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3886200" cy="2362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Specialization of a </a:t>
            </a:r>
            <a:r>
              <a:rPr lang="en-US" altLang="en-US" sz="2000" dirty="0" err="1">
                <a:solidFill>
                  <a:srgbClr val="C00000"/>
                </a:solidFill>
              </a:rPr>
              <a:t>postorder</a:t>
            </a:r>
            <a:r>
              <a:rPr lang="en-US" altLang="en-US" sz="2000" dirty="0"/>
              <a:t> traversal</a:t>
            </a:r>
          </a:p>
          <a:p>
            <a:pPr lvl="1" eaLnBrk="1" hangingPunct="1"/>
            <a:r>
              <a:rPr lang="en-US" altLang="en-US" sz="1800" dirty="0"/>
              <a:t>recursive method returning the value of a subtree</a:t>
            </a:r>
          </a:p>
          <a:p>
            <a:pPr lvl="1" eaLnBrk="1" hangingPunct="1"/>
            <a:r>
              <a:rPr lang="en-US" altLang="en-US" sz="1800" dirty="0"/>
              <a:t>when visiting an internal node, combine the values of the subtrees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D7A37A4A-FE08-797A-A539-B54A3392E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1371600"/>
            <a:ext cx="4191000" cy="2720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isExternal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v.element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leftChild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rightChild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 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operator stored at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y</a:t>
            </a:r>
          </a:p>
        </p:txBody>
      </p:sp>
      <p:grpSp>
        <p:nvGrpSpPr>
          <p:cNvPr id="31748" name="Group 5">
            <a:extLst>
              <a:ext uri="{FF2B5EF4-FFF2-40B4-BE49-F238E27FC236}">
                <a16:creationId xmlns:a16="http://schemas.microsoft.com/office/drawing/2014/main" id="{5C5DED4F-175E-5E0F-DD27-1D3D2F1BEC30}"/>
              </a:ext>
            </a:extLst>
          </p:cNvPr>
          <p:cNvGrpSpPr>
            <a:grpSpLocks/>
          </p:cNvGrpSpPr>
          <p:nvPr/>
        </p:nvGrpSpPr>
        <p:grpSpPr bwMode="auto">
          <a:xfrm>
            <a:off x="1131888" y="4038600"/>
            <a:ext cx="3429000" cy="2286000"/>
            <a:chOff x="2928" y="2256"/>
            <a:chExt cx="2160" cy="1440"/>
          </a:xfrm>
        </p:grpSpPr>
        <p:sp>
          <p:nvSpPr>
            <p:cNvPr id="31750" name="Oval 6">
              <a:extLst>
                <a:ext uri="{FF2B5EF4-FFF2-40B4-BE49-F238E27FC236}">
                  <a16:creationId xmlns:a16="http://schemas.microsoft.com/office/drawing/2014/main" id="{0361F8AC-B2F4-B670-9604-4BA537766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31751" name="Oval 7">
              <a:extLst>
                <a:ext uri="{FF2B5EF4-FFF2-40B4-BE49-F238E27FC236}">
                  <a16:creationId xmlns:a16="http://schemas.microsoft.com/office/drawing/2014/main" id="{FD4AAD81-22C3-0F01-0BF6-4C16AE389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31752" name="Oval 8">
              <a:extLst>
                <a:ext uri="{FF2B5EF4-FFF2-40B4-BE49-F238E27FC236}">
                  <a16:creationId xmlns:a16="http://schemas.microsoft.com/office/drawing/2014/main" id="{55924FA2-13DE-7CBF-A15B-200E82FC4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31753" name="Oval 9">
              <a:extLst>
                <a:ext uri="{FF2B5EF4-FFF2-40B4-BE49-F238E27FC236}">
                  <a16:creationId xmlns:a16="http://schemas.microsoft.com/office/drawing/2014/main" id="{F1A72D70-574B-ACE9-6D65-9A98C0600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31754" name="Rectangle 10">
              <a:extLst>
                <a:ext uri="{FF2B5EF4-FFF2-40B4-BE49-F238E27FC236}">
                  <a16:creationId xmlns:a16="http://schemas.microsoft.com/office/drawing/2014/main" id="{B9BA83BE-197D-E514-8A5E-9F44ECB9A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1755" name="Rectangle 11">
              <a:extLst>
                <a:ext uri="{FF2B5EF4-FFF2-40B4-BE49-F238E27FC236}">
                  <a16:creationId xmlns:a16="http://schemas.microsoft.com/office/drawing/2014/main" id="{B4E4120D-67FC-5518-1A0D-8B7B7A0C3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31756" name="Rectangle 12">
              <a:extLst>
                <a:ext uri="{FF2B5EF4-FFF2-40B4-BE49-F238E27FC236}">
                  <a16:creationId xmlns:a16="http://schemas.microsoft.com/office/drawing/2014/main" id="{E6A798CF-6C16-56A7-35DE-40728C168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1757" name="Rectangle 13">
              <a:extLst>
                <a:ext uri="{FF2B5EF4-FFF2-40B4-BE49-F238E27FC236}">
                  <a16:creationId xmlns:a16="http://schemas.microsoft.com/office/drawing/2014/main" id="{C6FA5853-67F2-3FBA-D8A5-2320EBA4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1758" name="Rectangle 14">
              <a:extLst>
                <a:ext uri="{FF2B5EF4-FFF2-40B4-BE49-F238E27FC236}">
                  <a16:creationId xmlns:a16="http://schemas.microsoft.com/office/drawing/2014/main" id="{A360F881-01DB-F10D-397F-B29458D8C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cxnSp>
          <p:nvCxnSpPr>
            <p:cNvPr id="31759" name="AutoShape 15">
              <a:extLst>
                <a:ext uri="{FF2B5EF4-FFF2-40B4-BE49-F238E27FC236}">
                  <a16:creationId xmlns:a16="http://schemas.microsoft.com/office/drawing/2014/main" id="{C46AD7D8-27EC-409A-18BA-71AC69A56270}"/>
                </a:ext>
              </a:extLst>
            </p:cNvPr>
            <p:cNvCxnSpPr>
              <a:cxnSpLocks noChangeShapeType="1"/>
              <a:stCxn id="31750" idx="3"/>
              <a:endCxn id="31752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16">
              <a:extLst>
                <a:ext uri="{FF2B5EF4-FFF2-40B4-BE49-F238E27FC236}">
                  <a16:creationId xmlns:a16="http://schemas.microsoft.com/office/drawing/2014/main" id="{8B399E76-59D4-E08F-1A9C-646DEB209B47}"/>
                </a:ext>
              </a:extLst>
            </p:cNvPr>
            <p:cNvCxnSpPr>
              <a:cxnSpLocks noChangeShapeType="1"/>
              <a:stCxn id="31751" idx="1"/>
              <a:endCxn id="31750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17">
              <a:extLst>
                <a:ext uri="{FF2B5EF4-FFF2-40B4-BE49-F238E27FC236}">
                  <a16:creationId xmlns:a16="http://schemas.microsoft.com/office/drawing/2014/main" id="{FB6C0CD7-8EDF-51C6-B835-E1243EA3FE07}"/>
                </a:ext>
              </a:extLst>
            </p:cNvPr>
            <p:cNvCxnSpPr>
              <a:cxnSpLocks noChangeShapeType="1"/>
              <a:stCxn id="31758" idx="0"/>
              <a:endCxn id="31751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2" name="AutoShape 18">
              <a:extLst>
                <a:ext uri="{FF2B5EF4-FFF2-40B4-BE49-F238E27FC236}">
                  <a16:creationId xmlns:a16="http://schemas.microsoft.com/office/drawing/2014/main" id="{028B36AF-B674-FA93-49B8-A60895F27C9F}"/>
                </a:ext>
              </a:extLst>
            </p:cNvPr>
            <p:cNvCxnSpPr>
              <a:cxnSpLocks noChangeShapeType="1"/>
              <a:stCxn id="31757" idx="0"/>
              <a:endCxn id="31751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3" name="AutoShape 19">
              <a:extLst>
                <a:ext uri="{FF2B5EF4-FFF2-40B4-BE49-F238E27FC236}">
                  <a16:creationId xmlns:a16="http://schemas.microsoft.com/office/drawing/2014/main" id="{0E254432-AB4D-76C1-8DB5-416202C6AB3F}"/>
                </a:ext>
              </a:extLst>
            </p:cNvPr>
            <p:cNvCxnSpPr>
              <a:cxnSpLocks noChangeShapeType="1"/>
              <a:stCxn id="31756" idx="0"/>
              <a:endCxn id="31753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4" name="AutoShape 20">
              <a:extLst>
                <a:ext uri="{FF2B5EF4-FFF2-40B4-BE49-F238E27FC236}">
                  <a16:creationId xmlns:a16="http://schemas.microsoft.com/office/drawing/2014/main" id="{B6403E2B-FDA5-59B3-DCCF-DAAA2448B546}"/>
                </a:ext>
              </a:extLst>
            </p:cNvPr>
            <p:cNvCxnSpPr>
              <a:cxnSpLocks noChangeShapeType="1"/>
              <a:stCxn id="31755" idx="0"/>
              <a:endCxn id="31753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5" name="AutoShape 21">
              <a:extLst>
                <a:ext uri="{FF2B5EF4-FFF2-40B4-BE49-F238E27FC236}">
                  <a16:creationId xmlns:a16="http://schemas.microsoft.com/office/drawing/2014/main" id="{9708773F-3401-E87D-6AAD-2A6BEC54B342}"/>
                </a:ext>
              </a:extLst>
            </p:cNvPr>
            <p:cNvCxnSpPr>
              <a:cxnSpLocks noChangeShapeType="1"/>
              <a:stCxn id="31754" idx="0"/>
              <a:endCxn id="31752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6" name="AutoShape 22">
              <a:extLst>
                <a:ext uri="{FF2B5EF4-FFF2-40B4-BE49-F238E27FC236}">
                  <a16:creationId xmlns:a16="http://schemas.microsoft.com/office/drawing/2014/main" id="{1CAF92E5-2BCE-3F07-AB31-A7552F955553}"/>
                </a:ext>
              </a:extLst>
            </p:cNvPr>
            <p:cNvCxnSpPr>
              <a:cxnSpLocks noChangeShapeType="1"/>
              <a:stCxn id="31753" idx="1"/>
              <a:endCxn id="31752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9FA1270-3946-AF0A-BE33-654C38B93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800600"/>
            <a:ext cx="378301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C00000"/>
                </a:solidFill>
              </a:rPr>
              <a:t>Label the order of each node in the </a:t>
            </a:r>
            <a:r>
              <a:rPr lang="en-US" altLang="en-US" sz="2200" dirty="0" err="1">
                <a:solidFill>
                  <a:srgbClr val="C00000"/>
                </a:solidFill>
              </a:rPr>
              <a:t>postorder</a:t>
            </a:r>
            <a:r>
              <a:rPr lang="en-US" altLang="en-US" sz="2200" dirty="0">
                <a:solidFill>
                  <a:srgbClr val="C00000"/>
                </a:solidFill>
              </a:rPr>
              <a:t> fashion</a:t>
            </a:r>
          </a:p>
        </p:txBody>
      </p:sp>
    </p:spTree>
    <p:extLst>
      <p:ext uri="{BB962C8B-B14F-4D97-AF65-F5344CB8AC3E}">
        <p14:creationId xmlns:p14="http://schemas.microsoft.com/office/powerpoint/2010/main" val="1571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allAtOnce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1866</Words>
  <Application>Microsoft Macintosh PowerPoint</Application>
  <PresentationFormat>On-screen Show (4:3)</PresentationFormat>
  <Paragraphs>472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Comic Sans MS</vt:lpstr>
      <vt:lpstr>Symbol</vt:lpstr>
      <vt:lpstr>Tahoma</vt:lpstr>
      <vt:lpstr>Times New Roman</vt:lpstr>
      <vt:lpstr>Wingdings</vt:lpstr>
      <vt:lpstr>Default Design</vt:lpstr>
      <vt:lpstr>Quiz #2</vt:lpstr>
      <vt:lpstr>CS535: Algorithm Design and Analysis   Trees</vt:lpstr>
      <vt:lpstr>What is a Tree</vt:lpstr>
      <vt:lpstr>Tree Terminology</vt:lpstr>
      <vt:lpstr>Tree ADT</vt:lpstr>
      <vt:lpstr>Tree Depth</vt:lpstr>
      <vt:lpstr>Tree (or Subtree) Height</vt:lpstr>
      <vt:lpstr>Preorder Traversal</vt:lpstr>
      <vt:lpstr>Postorder Traversal</vt:lpstr>
      <vt:lpstr>Binary Tree</vt:lpstr>
      <vt:lpstr>Binary Tree ADT</vt:lpstr>
      <vt:lpstr>Arithmetic Expression Tree</vt:lpstr>
      <vt:lpstr>Decision Tree</vt:lpstr>
      <vt:lpstr>Properties of Binary Trees</vt:lpstr>
      <vt:lpstr>Tree Traversal: Pre-order and Post-order</vt:lpstr>
      <vt:lpstr>Tree Traversal: Inorder</vt:lpstr>
      <vt:lpstr>Example: Print Arithmetic Expressions</vt:lpstr>
      <vt:lpstr>Example: Evaluate Arithmetic Expressions</vt:lpstr>
      <vt:lpstr>Euler Tour Traversal</vt:lpstr>
      <vt:lpstr>Array-Based Representation of Binary Trees</vt:lpstr>
      <vt:lpstr>List-Based Representation for Trees</vt:lpstr>
      <vt:lpstr>List-Based Representation for Binary Trees</vt:lpstr>
      <vt:lpstr>Extra</vt:lpstr>
      <vt:lpstr>Quiz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Zeyun Yu</cp:lastModifiedBy>
  <cp:revision>668</cp:revision>
  <dcterms:created xsi:type="dcterms:W3CDTF">2006-12-14T06:02:28Z</dcterms:created>
  <dcterms:modified xsi:type="dcterms:W3CDTF">2024-02-14T22:01:08Z</dcterms:modified>
</cp:coreProperties>
</file>