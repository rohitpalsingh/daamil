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326" r:id="rId2"/>
    <p:sldId id="256"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8" r:id="rId19"/>
    <p:sldId id="285" r:id="rId20"/>
    <p:sldId id="286" r:id="rId21"/>
    <p:sldId id="287" r:id="rId22"/>
  </p:sldIdLst>
  <p:sldSz cx="9144000" cy="6858000" type="screen4x3"/>
  <p:notesSz cx="7315200" cy="9601200"/>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ctr"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ctr"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11" autoAdjust="0"/>
    <p:restoredTop sz="94580" autoAdjust="0"/>
  </p:normalViewPr>
  <p:slideViewPr>
    <p:cSldViewPr>
      <p:cViewPr varScale="1">
        <p:scale>
          <a:sx n="107" d="100"/>
          <a:sy n="107" d="100"/>
        </p:scale>
        <p:origin x="1680"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812"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E51D4907-2DAC-0548-5D5B-FF8A1ED8B518}"/>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vl1pPr>
          </a:lstStyle>
          <a:p>
            <a:pPr>
              <a:defRPr/>
            </a:pPr>
            <a:endParaRPr lang="en-US"/>
          </a:p>
        </p:txBody>
      </p:sp>
      <p:sp>
        <p:nvSpPr>
          <p:cNvPr id="118787" name="Rectangle 3">
            <a:extLst>
              <a:ext uri="{FF2B5EF4-FFF2-40B4-BE49-F238E27FC236}">
                <a16:creationId xmlns:a16="http://schemas.microsoft.com/office/drawing/2014/main" id="{1A33A43F-DCA3-67D6-F501-D969A0F03937}"/>
              </a:ext>
            </a:extLst>
          </p:cNvPr>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118788" name="Rectangle 4">
            <a:extLst>
              <a:ext uri="{FF2B5EF4-FFF2-40B4-BE49-F238E27FC236}">
                <a16:creationId xmlns:a16="http://schemas.microsoft.com/office/drawing/2014/main" id="{F76FB9AE-4A1B-855F-8210-969354F95110}"/>
              </a:ext>
            </a:extLst>
          </p:cNvPr>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vl1pPr>
          </a:lstStyle>
          <a:p>
            <a:pPr>
              <a:defRPr/>
            </a:pPr>
            <a:endParaRPr lang="en-US"/>
          </a:p>
        </p:txBody>
      </p:sp>
      <p:sp>
        <p:nvSpPr>
          <p:cNvPr id="118789" name="Rectangle 5">
            <a:extLst>
              <a:ext uri="{FF2B5EF4-FFF2-40B4-BE49-F238E27FC236}">
                <a16:creationId xmlns:a16="http://schemas.microsoft.com/office/drawing/2014/main" id="{76E223A8-094A-9F03-A808-634E17842D2A}"/>
              </a:ext>
            </a:extLst>
          </p:cNvPr>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74F86872-FC7C-E140-94F1-1CC969AFFC3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86D57EC-76EF-4254-9D40-119AC8E29D60}"/>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vl1pPr>
          </a:lstStyle>
          <a:p>
            <a:pPr>
              <a:defRPr/>
            </a:pPr>
            <a:endParaRPr lang="en-US"/>
          </a:p>
        </p:txBody>
      </p:sp>
      <p:sp>
        <p:nvSpPr>
          <p:cNvPr id="39939" name="Rectangle 3">
            <a:extLst>
              <a:ext uri="{FF2B5EF4-FFF2-40B4-BE49-F238E27FC236}">
                <a16:creationId xmlns:a16="http://schemas.microsoft.com/office/drawing/2014/main" id="{6CF23681-DB9E-F26B-258F-B10EC1EB6787}"/>
              </a:ext>
            </a:extLst>
          </p:cNvPr>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33796" name="Rectangle 4">
            <a:extLst>
              <a:ext uri="{FF2B5EF4-FFF2-40B4-BE49-F238E27FC236}">
                <a16:creationId xmlns:a16="http://schemas.microsoft.com/office/drawing/2014/main" id="{ECB8A0BF-C5D1-3E74-EE5D-16C89DAFB374}"/>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1" name="Rectangle 5">
            <a:extLst>
              <a:ext uri="{FF2B5EF4-FFF2-40B4-BE49-F238E27FC236}">
                <a16:creationId xmlns:a16="http://schemas.microsoft.com/office/drawing/2014/main" id="{D50AE591-9C17-3386-6BCA-0E10B6BAA991}"/>
              </a:ext>
            </a:extLst>
          </p:cNvPr>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a:extLst>
              <a:ext uri="{FF2B5EF4-FFF2-40B4-BE49-F238E27FC236}">
                <a16:creationId xmlns:a16="http://schemas.microsoft.com/office/drawing/2014/main" id="{AE5749B0-A65E-C5D9-C166-BAE377ABAFE0}"/>
              </a:ext>
            </a:extLst>
          </p:cNvPr>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vl1pPr>
          </a:lstStyle>
          <a:p>
            <a:pPr>
              <a:defRPr/>
            </a:pPr>
            <a:endParaRPr lang="en-US"/>
          </a:p>
        </p:txBody>
      </p:sp>
      <p:sp>
        <p:nvSpPr>
          <p:cNvPr id="39943" name="Rectangle 7">
            <a:extLst>
              <a:ext uri="{FF2B5EF4-FFF2-40B4-BE49-F238E27FC236}">
                <a16:creationId xmlns:a16="http://schemas.microsoft.com/office/drawing/2014/main" id="{FD59577B-B949-2225-B8B1-76D24C957058}"/>
              </a:ext>
            </a:extLst>
          </p:cNvPr>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D9DD3C41-5D25-AA44-BE2F-A0DC3F34B4C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Footer Placeholder 3">
            <a:extLst>
              <a:ext uri="{FF2B5EF4-FFF2-40B4-BE49-F238E27FC236}">
                <a16:creationId xmlns:a16="http://schemas.microsoft.com/office/drawing/2014/main" id="{E7449B86-52DA-D313-465D-AF7885BCD2C4}"/>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3236762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E46644E-31AD-0D8E-DEBA-BFDD8E1832DE}"/>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378021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AA9E7A12-CEE6-125D-0A09-E2F6E7241FC5}"/>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1738950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976E58D-9EE4-9667-9BCF-0BF1F927FC18}"/>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3946549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C89C738-B67D-EB84-0EFA-917AD1122017}"/>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528700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C0FE793-711F-FC90-A3D6-800EED17761C}"/>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4234533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8B3FDB-4186-5778-64FE-E41C5FA7FE60}"/>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293734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E5A41B3C-8F2F-5A68-26EF-1ED08442299C}"/>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2644767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13B5645B-AC42-A98B-04F6-35DF31E174E1}"/>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580897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39C9953-A64A-37C2-AA13-D62A4CA4640D}"/>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1705900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24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367C6CF-4BD1-46E0-91D4-0E32D2513D67}"/>
              </a:ext>
            </a:extLst>
          </p:cNvPr>
          <p:cNvSpPr>
            <a:spLocks noGrp="1"/>
          </p:cNvSpPr>
          <p:nvPr>
            <p:ph type="ftr" sz="quarter" idx="10"/>
          </p:nvPr>
        </p:nvSpPr>
        <p:spPr>
          <a:xfrm>
            <a:off x="1219200" y="6570663"/>
            <a:ext cx="7924800" cy="241300"/>
          </a:xfrm>
          <a:prstGeom prst="rect">
            <a:avLst/>
          </a:prstGeom>
        </p:spPr>
        <p:txBody>
          <a:bodyPr/>
          <a:lstStyle>
            <a:lvl1pPr>
              <a:defRPr/>
            </a:lvl1pPr>
          </a:lstStyle>
          <a:p>
            <a:pPr>
              <a:defRPr/>
            </a:pPr>
            <a:r>
              <a:rPr lang="en-US"/>
              <a:t>           </a:t>
            </a:r>
            <a:r>
              <a:rPr lang="en-US" sz="1100"/>
              <a:t>Department of Computer Science                        University of Wisconsin - Milwaukee                     CS535 Fall 2008</a:t>
            </a:r>
          </a:p>
        </p:txBody>
      </p:sp>
    </p:spTree>
    <p:extLst>
      <p:ext uri="{BB962C8B-B14F-4D97-AF65-F5344CB8AC3E}">
        <p14:creationId xmlns:p14="http://schemas.microsoft.com/office/powerpoint/2010/main" val="1080069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D23FB816-92A9-CE5D-221B-81188922D7B6}"/>
              </a:ext>
            </a:extLst>
          </p:cNvPr>
          <p:cNvSpPr>
            <a:spLocks noGrp="1" noChangeArrowheads="1"/>
          </p:cNvSpPr>
          <p:nvPr>
            <p:ph type="title"/>
          </p:nvPr>
        </p:nvSpPr>
        <p:spPr bwMode="auto">
          <a:xfrm>
            <a:off x="457200" y="1524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Rectangle 8">
            <a:extLst>
              <a:ext uri="{FF2B5EF4-FFF2-40B4-BE49-F238E27FC236}">
                <a16:creationId xmlns:a16="http://schemas.microsoft.com/office/drawing/2014/main" id="{5EBD3612-04DB-89AB-C8DD-CCCBAEECAA04}"/>
              </a:ext>
            </a:extLst>
          </p:cNvPr>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Rectangle 9">
            <a:extLst>
              <a:ext uri="{FF2B5EF4-FFF2-40B4-BE49-F238E27FC236}">
                <a16:creationId xmlns:a16="http://schemas.microsoft.com/office/drawing/2014/main" id="{2DCC71C9-3BED-FE28-F0D6-04D7A035C4DE}"/>
              </a:ext>
            </a:extLst>
          </p:cNvPr>
          <p:cNvSpPr>
            <a:spLocks noChangeArrowheads="1"/>
          </p:cNvSpPr>
          <p:nvPr userDrawn="1"/>
        </p:nvSpPr>
        <p:spPr bwMode="auto">
          <a:xfrm>
            <a:off x="0" y="0"/>
            <a:ext cx="9144000" cy="6591300"/>
          </a:xfrm>
          <a:prstGeom prst="rect">
            <a:avLst/>
          </a:prstGeom>
          <a:noFill/>
          <a:ln w="38100" cmpd="dbl" algn="ctr">
            <a:solidFill>
              <a:srgbClr val="0000FF"/>
            </a:solidFill>
            <a:miter lim="800000"/>
            <a:headEnd/>
            <a:tailEnd/>
          </a:ln>
          <a:effectLst/>
        </p:spPr>
        <p:txBody>
          <a:bodyPr wrap="none" anchor="ctr"/>
          <a:lstStyle/>
          <a:p>
            <a:pPr>
              <a:defRPr/>
            </a:pPr>
            <a:endParaRPr lang="en-US"/>
          </a:p>
        </p:txBody>
      </p:sp>
      <p:pic>
        <p:nvPicPr>
          <p:cNvPr id="4101" name="Picture 14" descr="logo-1">
            <a:extLst>
              <a:ext uri="{FF2B5EF4-FFF2-40B4-BE49-F238E27FC236}">
                <a16:creationId xmlns:a16="http://schemas.microsoft.com/office/drawing/2014/main" id="{EAB372D4-B060-9857-9A4F-7B691349837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2400" y="6619875"/>
            <a:ext cx="9144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3">
            <a:extLst>
              <a:ext uri="{FF2B5EF4-FFF2-40B4-BE49-F238E27FC236}">
                <a16:creationId xmlns:a16="http://schemas.microsoft.com/office/drawing/2014/main" id="{59284E57-C374-6A47-F88D-9727D3572801}"/>
              </a:ext>
            </a:extLst>
          </p:cNvPr>
          <p:cNvSpPr>
            <a:spLocks noGrp="1"/>
          </p:cNvSpPr>
          <p:nvPr userDrawn="1"/>
        </p:nvSpPr>
        <p:spPr bwMode="auto">
          <a:xfrm>
            <a:off x="1219200" y="6583363"/>
            <a:ext cx="7924800" cy="238125"/>
          </a:xfrm>
          <a:prstGeom prst="rect">
            <a:avLst/>
          </a:prstGeom>
          <a:noFill/>
          <a:ln w="9525">
            <a:noFill/>
            <a:miter lim="800000"/>
            <a:headEnd/>
            <a:tailEnd/>
          </a:ln>
          <a:effec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r>
              <a:rPr lang="en-US" altLang="en-US" sz="1100" dirty="0">
                <a:solidFill>
                  <a:schemeClr val="accent2"/>
                </a:solidFill>
              </a:rPr>
              <a:t>     Algorithm Design and Analysis (Spring 2024)                                       Lecture 7                                     Slides </a:t>
            </a:r>
            <a:fld id="{CD177086-6017-A34C-B726-27C6891F9631}" type="slidenum">
              <a:rPr lang="en-US" altLang="en-US" sz="1100">
                <a:solidFill>
                  <a:schemeClr val="accent2"/>
                </a:solidFill>
              </a:rPr>
              <a:pPr algn="l"/>
              <a:t>‹#›</a:t>
            </a:fld>
            <a:r>
              <a:rPr lang="en-US" altLang="en-US" sz="1100" dirty="0">
                <a:solidFill>
                  <a:schemeClr val="accent2"/>
                </a:solidFill>
              </a:rPr>
              <a:t> </a:t>
            </a:r>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dt="0"/>
  <p:txStyles>
    <p:titleStyle>
      <a:lvl1pPr algn="ctr" rtl="0" eaLnBrk="0" fontAlgn="base" hangingPunct="0">
        <a:spcBef>
          <a:spcPct val="0"/>
        </a:spcBef>
        <a:spcAft>
          <a:spcPct val="0"/>
        </a:spcAft>
        <a:defRPr sz="2800" b="1">
          <a:solidFill>
            <a:srgbClr val="0000FF"/>
          </a:solidFill>
          <a:latin typeface="+mj-lt"/>
          <a:ea typeface="+mj-ea"/>
          <a:cs typeface="+mj-cs"/>
        </a:defRPr>
      </a:lvl1pPr>
      <a:lvl2pPr algn="ctr" rtl="0" eaLnBrk="0" fontAlgn="base" hangingPunct="0">
        <a:spcBef>
          <a:spcPct val="0"/>
        </a:spcBef>
        <a:spcAft>
          <a:spcPct val="0"/>
        </a:spcAft>
        <a:defRPr sz="2800" b="1">
          <a:solidFill>
            <a:srgbClr val="0000FF"/>
          </a:solidFill>
          <a:latin typeface="Comic Sans MS" pitchFamily="66" charset="0"/>
          <a:cs typeface="Arial" pitchFamily="34" charset="0"/>
        </a:defRPr>
      </a:lvl2pPr>
      <a:lvl3pPr algn="ctr" rtl="0" eaLnBrk="0" fontAlgn="base" hangingPunct="0">
        <a:spcBef>
          <a:spcPct val="0"/>
        </a:spcBef>
        <a:spcAft>
          <a:spcPct val="0"/>
        </a:spcAft>
        <a:defRPr sz="2800" b="1">
          <a:solidFill>
            <a:srgbClr val="0000FF"/>
          </a:solidFill>
          <a:latin typeface="Comic Sans MS" pitchFamily="66" charset="0"/>
          <a:cs typeface="Arial" pitchFamily="34" charset="0"/>
        </a:defRPr>
      </a:lvl3pPr>
      <a:lvl4pPr algn="ctr" rtl="0" eaLnBrk="0" fontAlgn="base" hangingPunct="0">
        <a:spcBef>
          <a:spcPct val="0"/>
        </a:spcBef>
        <a:spcAft>
          <a:spcPct val="0"/>
        </a:spcAft>
        <a:defRPr sz="2800" b="1">
          <a:solidFill>
            <a:srgbClr val="0000FF"/>
          </a:solidFill>
          <a:latin typeface="Comic Sans MS" pitchFamily="66" charset="0"/>
          <a:cs typeface="Arial" pitchFamily="34" charset="0"/>
        </a:defRPr>
      </a:lvl4pPr>
      <a:lvl5pPr algn="ctr" rtl="0" eaLnBrk="0" fontAlgn="base" hangingPunct="0">
        <a:spcBef>
          <a:spcPct val="0"/>
        </a:spcBef>
        <a:spcAft>
          <a:spcPct val="0"/>
        </a:spcAft>
        <a:defRPr sz="2800" b="1">
          <a:solidFill>
            <a:srgbClr val="0000FF"/>
          </a:solidFill>
          <a:latin typeface="Comic Sans MS" pitchFamily="66" charset="0"/>
          <a:cs typeface="Arial" pitchFamily="34" charset="0"/>
        </a:defRPr>
      </a:lvl5pPr>
      <a:lvl6pPr marL="457200" algn="ctr" rtl="0" fontAlgn="base">
        <a:spcBef>
          <a:spcPct val="0"/>
        </a:spcBef>
        <a:spcAft>
          <a:spcPct val="0"/>
        </a:spcAft>
        <a:defRPr sz="2800" b="1">
          <a:solidFill>
            <a:srgbClr val="0000FF"/>
          </a:solidFill>
          <a:latin typeface="Comic Sans MS" pitchFamily="66" charset="0"/>
          <a:cs typeface="Arial" pitchFamily="34" charset="0"/>
        </a:defRPr>
      </a:lvl6pPr>
      <a:lvl7pPr marL="914400" algn="ctr" rtl="0" fontAlgn="base">
        <a:spcBef>
          <a:spcPct val="0"/>
        </a:spcBef>
        <a:spcAft>
          <a:spcPct val="0"/>
        </a:spcAft>
        <a:defRPr sz="2800" b="1">
          <a:solidFill>
            <a:srgbClr val="0000FF"/>
          </a:solidFill>
          <a:latin typeface="Comic Sans MS" pitchFamily="66" charset="0"/>
          <a:cs typeface="Arial" pitchFamily="34" charset="0"/>
        </a:defRPr>
      </a:lvl7pPr>
      <a:lvl8pPr marL="1371600" algn="ctr" rtl="0" fontAlgn="base">
        <a:spcBef>
          <a:spcPct val="0"/>
        </a:spcBef>
        <a:spcAft>
          <a:spcPct val="0"/>
        </a:spcAft>
        <a:defRPr sz="2800" b="1">
          <a:solidFill>
            <a:srgbClr val="0000FF"/>
          </a:solidFill>
          <a:latin typeface="Comic Sans MS" pitchFamily="66" charset="0"/>
          <a:cs typeface="Arial" pitchFamily="34" charset="0"/>
        </a:defRPr>
      </a:lvl8pPr>
      <a:lvl9pPr marL="1828800" algn="ctr" rtl="0" fontAlgn="base">
        <a:spcBef>
          <a:spcPct val="0"/>
        </a:spcBef>
        <a:spcAft>
          <a:spcPct val="0"/>
        </a:spcAft>
        <a:defRPr sz="2800" b="1">
          <a:solidFill>
            <a:srgbClr val="0000FF"/>
          </a:solidFill>
          <a:latin typeface="Comic Sans MS" pitchFamily="66" charset="0"/>
          <a:cs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a:solidFill>
            <a:schemeClr val="tx1"/>
          </a:solidFill>
          <a:latin typeface="+mn-lt"/>
          <a:cs typeface="+mn-cs"/>
        </a:defRPr>
      </a:lvl3pPr>
      <a:lvl4pPr marL="1600200" indent="-228600" algn="l" rtl="0" eaLnBrk="0" fontAlgn="base" hangingPunct="0">
        <a:spcBef>
          <a:spcPct val="20000"/>
        </a:spcBef>
        <a:spcAft>
          <a:spcPct val="0"/>
        </a:spcAft>
        <a:buChar char="–"/>
        <a:defRPr sz="1600">
          <a:solidFill>
            <a:schemeClr val="tx1"/>
          </a:solidFill>
          <a:latin typeface="+mn-lt"/>
          <a:cs typeface="+mn-cs"/>
        </a:defRPr>
      </a:lvl4pPr>
      <a:lvl5pPr marL="2057400" indent="-228600" algn="l" rtl="0" eaLnBrk="0" fontAlgn="base" hangingPunct="0">
        <a:spcBef>
          <a:spcPct val="20000"/>
        </a:spcBef>
        <a:spcAft>
          <a:spcPct val="0"/>
        </a:spcAft>
        <a:buChar char="»"/>
        <a:defRPr sz="1600">
          <a:solidFill>
            <a:schemeClr val="tx1"/>
          </a:solidFill>
          <a:latin typeface="+mn-lt"/>
          <a:cs typeface="+mn-cs"/>
        </a:defRPr>
      </a:lvl5pPr>
      <a:lvl6pPr marL="2514600" indent="-228600" algn="l" rtl="0" fontAlgn="base">
        <a:spcBef>
          <a:spcPct val="20000"/>
        </a:spcBef>
        <a:spcAft>
          <a:spcPct val="0"/>
        </a:spcAft>
        <a:buChar char="»"/>
        <a:defRPr sz="1600">
          <a:solidFill>
            <a:schemeClr val="tx1"/>
          </a:solidFill>
          <a:latin typeface="+mn-lt"/>
          <a:cs typeface="+mn-cs"/>
        </a:defRPr>
      </a:lvl6pPr>
      <a:lvl7pPr marL="2971800" indent="-228600" algn="l" rtl="0" fontAlgn="base">
        <a:spcBef>
          <a:spcPct val="20000"/>
        </a:spcBef>
        <a:spcAft>
          <a:spcPct val="0"/>
        </a:spcAft>
        <a:buChar char="»"/>
        <a:defRPr sz="1600">
          <a:solidFill>
            <a:schemeClr val="tx1"/>
          </a:solidFill>
          <a:latin typeface="+mn-lt"/>
          <a:cs typeface="+mn-cs"/>
        </a:defRPr>
      </a:lvl7pPr>
      <a:lvl8pPr marL="3429000" indent="-228600" algn="l" rtl="0" fontAlgn="base">
        <a:spcBef>
          <a:spcPct val="20000"/>
        </a:spcBef>
        <a:spcAft>
          <a:spcPct val="0"/>
        </a:spcAft>
        <a:buChar char="»"/>
        <a:defRPr sz="1600">
          <a:solidFill>
            <a:schemeClr val="tx1"/>
          </a:solidFill>
          <a:latin typeface="+mn-lt"/>
          <a:cs typeface="+mn-cs"/>
        </a:defRPr>
      </a:lvl8pPr>
      <a:lvl9pPr marL="3886200" indent="-228600" algn="l" rtl="0" fontAlgn="base">
        <a:spcBef>
          <a:spcPct val="20000"/>
        </a:spcBef>
        <a:spcAft>
          <a:spcPct val="0"/>
        </a:spcAft>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6.e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6359E-F431-4B2E-1B5C-AABCCE4D8B44}"/>
            </a:ext>
          </a:extLst>
        </p:cNvPr>
        <p:cNvGrpSpPr/>
        <p:nvPr/>
      </p:nvGrpSpPr>
      <p:grpSpPr>
        <a:xfrm>
          <a:off x="0" y="0"/>
          <a:ext cx="0" cy="0"/>
          <a:chOff x="0" y="0"/>
          <a:chExt cx="0" cy="0"/>
        </a:xfrm>
      </p:grpSpPr>
      <p:sp>
        <p:nvSpPr>
          <p:cNvPr id="16385" name="Rectangle 2">
            <a:extLst>
              <a:ext uri="{FF2B5EF4-FFF2-40B4-BE49-F238E27FC236}">
                <a16:creationId xmlns:a16="http://schemas.microsoft.com/office/drawing/2014/main" id="{1FD933A4-9B6B-D1D9-E8C7-A403E163154C}"/>
              </a:ext>
            </a:extLst>
          </p:cNvPr>
          <p:cNvSpPr>
            <a:spLocks noGrp="1" noChangeArrowheads="1"/>
          </p:cNvSpPr>
          <p:nvPr>
            <p:ph type="title"/>
          </p:nvPr>
        </p:nvSpPr>
        <p:spPr>
          <a:xfrm>
            <a:off x="457200" y="76200"/>
            <a:ext cx="8229600" cy="914400"/>
          </a:xfrm>
        </p:spPr>
        <p:txBody>
          <a:bodyPr/>
          <a:lstStyle/>
          <a:p>
            <a:pPr eaLnBrk="1" hangingPunct="1"/>
            <a:r>
              <a:rPr lang="en-US" altLang="en-US" sz="2400" dirty="0"/>
              <a:t>Quiz #3</a:t>
            </a:r>
          </a:p>
        </p:txBody>
      </p:sp>
      <p:sp>
        <p:nvSpPr>
          <p:cNvPr id="16386" name="Rectangle 3">
            <a:extLst>
              <a:ext uri="{FF2B5EF4-FFF2-40B4-BE49-F238E27FC236}">
                <a16:creationId xmlns:a16="http://schemas.microsoft.com/office/drawing/2014/main" id="{6E6D5B5D-9DEC-327F-61FB-C9F6CC652940}"/>
              </a:ext>
            </a:extLst>
          </p:cNvPr>
          <p:cNvSpPr>
            <a:spLocks noGrp="1" noChangeArrowheads="1"/>
          </p:cNvSpPr>
          <p:nvPr>
            <p:ph type="body" idx="1"/>
          </p:nvPr>
        </p:nvSpPr>
        <p:spPr>
          <a:xfrm>
            <a:off x="457200" y="838200"/>
            <a:ext cx="8229600" cy="5257800"/>
          </a:xfrm>
        </p:spPr>
        <p:txBody>
          <a:bodyPr/>
          <a:lstStyle/>
          <a:p>
            <a:pPr eaLnBrk="1" hangingPunct="1"/>
            <a:r>
              <a:rPr lang="en-US" altLang="en-US" sz="1800" dirty="0"/>
              <a:t>Given the tree shown below, write the rank of each node, starting from 1, directly on the tree, with the three traversal methods: pre-order, in-order, and post-order: </a:t>
            </a:r>
          </a:p>
          <a:p>
            <a:pPr lvl="1" eaLnBrk="1" hangingPunct="1"/>
            <a:endParaRPr lang="en-US" altLang="en-US" dirty="0">
              <a:latin typeface="Times New Roman" panose="02020603050405020304" pitchFamily="18" charset="0"/>
            </a:endParaRPr>
          </a:p>
          <a:p>
            <a:pPr eaLnBrk="1" hangingPunct="1"/>
            <a:endParaRPr lang="en-US" altLang="en-US" sz="1200" dirty="0"/>
          </a:p>
          <a:p>
            <a:pPr eaLnBrk="1" hangingPunct="1"/>
            <a:endParaRPr lang="en-US" altLang="en-US" sz="2000" dirty="0"/>
          </a:p>
          <a:p>
            <a:pPr eaLnBrk="1" hangingPunct="1"/>
            <a:endParaRPr lang="en-US" altLang="en-US" sz="1600" dirty="0"/>
          </a:p>
          <a:p>
            <a:pPr eaLnBrk="1" hangingPunct="1"/>
            <a:endParaRPr lang="en-US" altLang="en-US" sz="2000" dirty="0"/>
          </a:p>
          <a:p>
            <a:pPr eaLnBrk="1" hangingPunct="1"/>
            <a:endParaRPr lang="en-US" altLang="en-US" sz="2000" dirty="0"/>
          </a:p>
          <a:p>
            <a:pPr marL="0" indent="0" eaLnBrk="1" hangingPunct="1">
              <a:buNone/>
            </a:pPr>
            <a:r>
              <a:rPr lang="en-US" altLang="en-US" sz="2000" dirty="0"/>
              <a:t>          (pre-order)                         (in-order)                        (post-order)</a:t>
            </a:r>
          </a:p>
          <a:p>
            <a:pPr marL="0" indent="0" eaLnBrk="1" hangingPunct="1">
              <a:buNone/>
            </a:pPr>
            <a:endParaRPr lang="en-US" altLang="en-US" sz="1800" dirty="0"/>
          </a:p>
          <a:p>
            <a:pPr eaLnBrk="1" hangingPunct="1"/>
            <a:r>
              <a:rPr lang="en-US" altLang="en-US" sz="2000" dirty="0"/>
              <a:t>Is the following tree a heap? (Yes/No)</a:t>
            </a:r>
          </a:p>
        </p:txBody>
      </p:sp>
      <p:grpSp>
        <p:nvGrpSpPr>
          <p:cNvPr id="16416" name="Group 16415">
            <a:extLst>
              <a:ext uri="{FF2B5EF4-FFF2-40B4-BE49-F238E27FC236}">
                <a16:creationId xmlns:a16="http://schemas.microsoft.com/office/drawing/2014/main" id="{3085A316-3360-5F6C-F343-BC2DAE153EB8}"/>
              </a:ext>
            </a:extLst>
          </p:cNvPr>
          <p:cNvGrpSpPr/>
          <p:nvPr/>
        </p:nvGrpSpPr>
        <p:grpSpPr>
          <a:xfrm>
            <a:off x="743608" y="1864519"/>
            <a:ext cx="2075792" cy="1598864"/>
            <a:chOff x="521628" y="1864519"/>
            <a:chExt cx="2075792" cy="1598864"/>
          </a:xfrm>
        </p:grpSpPr>
        <p:grpSp>
          <p:nvGrpSpPr>
            <p:cNvPr id="2" name="Group 5">
              <a:extLst>
                <a:ext uri="{FF2B5EF4-FFF2-40B4-BE49-F238E27FC236}">
                  <a16:creationId xmlns:a16="http://schemas.microsoft.com/office/drawing/2014/main" id="{07716872-5002-416C-E0A7-E5E6301D8E7B}"/>
                </a:ext>
              </a:extLst>
            </p:cNvPr>
            <p:cNvGrpSpPr>
              <a:grpSpLocks/>
            </p:cNvGrpSpPr>
            <p:nvPr/>
          </p:nvGrpSpPr>
          <p:grpSpPr bwMode="auto">
            <a:xfrm>
              <a:off x="683561" y="1864519"/>
              <a:ext cx="1913859" cy="1564481"/>
              <a:chOff x="3009" y="2157"/>
              <a:chExt cx="1302" cy="1107"/>
            </a:xfrm>
          </p:grpSpPr>
          <p:sp>
            <p:nvSpPr>
              <p:cNvPr id="3" name="Oval 6">
                <a:extLst>
                  <a:ext uri="{FF2B5EF4-FFF2-40B4-BE49-F238E27FC236}">
                    <a16:creationId xmlns:a16="http://schemas.microsoft.com/office/drawing/2014/main" id="{5092D4AC-A7E2-7136-5894-EF95D6CCCE16}"/>
                  </a:ext>
                </a:extLst>
              </p:cNvPr>
              <p:cNvSpPr>
                <a:spLocks noChangeArrowheads="1"/>
              </p:cNvSpPr>
              <p:nvPr/>
            </p:nvSpPr>
            <p:spPr bwMode="auto">
              <a:xfrm>
                <a:off x="3648" y="2157"/>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4" name="Oval 7">
                <a:extLst>
                  <a:ext uri="{FF2B5EF4-FFF2-40B4-BE49-F238E27FC236}">
                    <a16:creationId xmlns:a16="http://schemas.microsoft.com/office/drawing/2014/main" id="{4C349D80-B61C-7F35-E3C9-158B33F8B214}"/>
                  </a:ext>
                </a:extLst>
              </p:cNvPr>
              <p:cNvSpPr>
                <a:spLocks noChangeArrowheads="1"/>
              </p:cNvSpPr>
              <p:nvPr/>
            </p:nvSpPr>
            <p:spPr bwMode="auto">
              <a:xfrm>
                <a:off x="4071"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sym typeface="Symbol" pitchFamily="2" charset="2"/>
                </a:endParaRPr>
              </a:p>
            </p:txBody>
          </p:sp>
          <p:sp>
            <p:nvSpPr>
              <p:cNvPr id="5" name="Oval 8">
                <a:extLst>
                  <a:ext uri="{FF2B5EF4-FFF2-40B4-BE49-F238E27FC236}">
                    <a16:creationId xmlns:a16="http://schemas.microsoft.com/office/drawing/2014/main" id="{F5E392E8-F1AD-610D-88F6-11495E503303}"/>
                  </a:ext>
                </a:extLst>
              </p:cNvPr>
              <p:cNvSpPr>
                <a:spLocks noChangeArrowheads="1"/>
              </p:cNvSpPr>
              <p:nvPr/>
            </p:nvSpPr>
            <p:spPr bwMode="auto">
              <a:xfrm>
                <a:off x="3168"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6" name="Oval 9">
                <a:extLst>
                  <a:ext uri="{FF2B5EF4-FFF2-40B4-BE49-F238E27FC236}">
                    <a16:creationId xmlns:a16="http://schemas.microsoft.com/office/drawing/2014/main" id="{32DF7A02-5336-B046-240D-D528B49589DC}"/>
                  </a:ext>
                </a:extLst>
              </p:cNvPr>
              <p:cNvSpPr>
                <a:spLocks noChangeArrowheads="1"/>
              </p:cNvSpPr>
              <p:nvPr/>
            </p:nvSpPr>
            <p:spPr bwMode="auto">
              <a:xfrm>
                <a:off x="3517" y="3024"/>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cxnSp>
            <p:nvCxnSpPr>
              <p:cNvPr id="12" name="AutoShape 15">
                <a:extLst>
                  <a:ext uri="{FF2B5EF4-FFF2-40B4-BE49-F238E27FC236}">
                    <a16:creationId xmlns:a16="http://schemas.microsoft.com/office/drawing/2014/main" id="{FFEE43F2-162F-8AA1-1F77-196639CE21C3}"/>
                  </a:ext>
                </a:extLst>
              </p:cNvPr>
              <p:cNvCxnSpPr>
                <a:cxnSpLocks noChangeShapeType="1"/>
                <a:stCxn id="3" idx="3"/>
                <a:endCxn id="5" idx="7"/>
              </p:cNvCxnSpPr>
              <p:nvPr/>
            </p:nvCxnSpPr>
            <p:spPr bwMode="auto">
              <a:xfrm flipH="1">
                <a:off x="3373" y="2362"/>
                <a:ext cx="310"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3" name="AutoShape 16">
                <a:extLst>
                  <a:ext uri="{FF2B5EF4-FFF2-40B4-BE49-F238E27FC236}">
                    <a16:creationId xmlns:a16="http://schemas.microsoft.com/office/drawing/2014/main" id="{90B163C2-4AF2-9BC5-A140-835635E013F5}"/>
                  </a:ext>
                </a:extLst>
              </p:cNvPr>
              <p:cNvCxnSpPr>
                <a:cxnSpLocks noChangeShapeType="1"/>
                <a:stCxn id="4" idx="1"/>
                <a:endCxn id="3" idx="5"/>
              </p:cNvCxnSpPr>
              <p:nvPr/>
            </p:nvCxnSpPr>
            <p:spPr bwMode="auto">
              <a:xfrm flipH="1" flipV="1">
                <a:off x="3853" y="2362"/>
                <a:ext cx="253"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8" name="AutoShape 21">
                <a:extLst>
                  <a:ext uri="{FF2B5EF4-FFF2-40B4-BE49-F238E27FC236}">
                    <a16:creationId xmlns:a16="http://schemas.microsoft.com/office/drawing/2014/main" id="{0895D1EA-2C51-E550-6446-E78706EBD0F3}"/>
                  </a:ext>
                </a:extLst>
              </p:cNvPr>
              <p:cNvCxnSpPr>
                <a:cxnSpLocks noChangeShapeType="1"/>
                <a:stCxn id="29" idx="0"/>
                <a:endCxn id="5" idx="3"/>
              </p:cNvCxnSpPr>
              <p:nvPr/>
            </p:nvCxnSpPr>
            <p:spPr bwMode="auto">
              <a:xfrm flipV="1">
                <a:off x="3009" y="2845"/>
                <a:ext cx="194" cy="20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9" name="AutoShape 22">
                <a:extLst>
                  <a:ext uri="{FF2B5EF4-FFF2-40B4-BE49-F238E27FC236}">
                    <a16:creationId xmlns:a16="http://schemas.microsoft.com/office/drawing/2014/main" id="{46C22479-F021-573E-AAC4-58F8863F98E6}"/>
                  </a:ext>
                </a:extLst>
              </p:cNvPr>
              <p:cNvCxnSpPr>
                <a:cxnSpLocks noChangeShapeType="1"/>
                <a:stCxn id="6" idx="1"/>
                <a:endCxn id="5" idx="5"/>
              </p:cNvCxnSpPr>
              <p:nvPr/>
            </p:nvCxnSpPr>
            <p:spPr bwMode="auto">
              <a:xfrm flipH="1" flipV="1">
                <a:off x="3373" y="2845"/>
                <a:ext cx="179" cy="21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29" name="Oval 9">
              <a:extLst>
                <a:ext uri="{FF2B5EF4-FFF2-40B4-BE49-F238E27FC236}">
                  <a16:creationId xmlns:a16="http://schemas.microsoft.com/office/drawing/2014/main" id="{FB268F1F-0FF7-0D29-8E7D-715E1629F03D}"/>
                </a:ext>
              </a:extLst>
            </p:cNvPr>
            <p:cNvSpPr>
              <a:spLocks noChangeArrowheads="1"/>
            </p:cNvSpPr>
            <p:nvPr/>
          </p:nvSpPr>
          <p:spPr bwMode="auto">
            <a:xfrm>
              <a:off x="521628" y="3124200"/>
              <a:ext cx="323513" cy="339183"/>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grpSp>
      <p:sp>
        <p:nvSpPr>
          <p:cNvPr id="16389" name="Oval 28">
            <a:extLst>
              <a:ext uri="{FF2B5EF4-FFF2-40B4-BE49-F238E27FC236}">
                <a16:creationId xmlns:a16="http://schemas.microsoft.com/office/drawing/2014/main" id="{F764656B-8FFD-1AF7-ACC8-56551E4C7EAE}"/>
              </a:ext>
            </a:extLst>
          </p:cNvPr>
          <p:cNvSpPr>
            <a:spLocks noChangeArrowheads="1"/>
          </p:cNvSpPr>
          <p:nvPr/>
        </p:nvSpPr>
        <p:spPr bwMode="auto">
          <a:xfrm>
            <a:off x="6332537" y="4584653"/>
            <a:ext cx="320675" cy="319088"/>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latin typeface="Times New Roman" panose="02020603050405020304" pitchFamily="18" charset="0"/>
                <a:sym typeface="Symbol" pitchFamily="2" charset="2"/>
              </a:rPr>
              <a:t>2</a:t>
            </a:r>
          </a:p>
        </p:txBody>
      </p:sp>
      <p:sp>
        <p:nvSpPr>
          <p:cNvPr id="16390" name="Oval 29">
            <a:extLst>
              <a:ext uri="{FF2B5EF4-FFF2-40B4-BE49-F238E27FC236}">
                <a16:creationId xmlns:a16="http://schemas.microsoft.com/office/drawing/2014/main" id="{6D8CA440-FD63-609A-4FCD-E98AA6700F9A}"/>
              </a:ext>
            </a:extLst>
          </p:cNvPr>
          <p:cNvSpPr>
            <a:spLocks noChangeArrowheads="1"/>
          </p:cNvSpPr>
          <p:nvPr/>
        </p:nvSpPr>
        <p:spPr bwMode="auto">
          <a:xfrm>
            <a:off x="7743824" y="5095828"/>
            <a:ext cx="319088" cy="320675"/>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latin typeface="Times New Roman" panose="02020603050405020304" pitchFamily="18" charset="0"/>
                <a:sym typeface="Symbol" pitchFamily="2" charset="2"/>
              </a:rPr>
              <a:t>6</a:t>
            </a:r>
          </a:p>
        </p:txBody>
      </p:sp>
      <p:sp>
        <p:nvSpPr>
          <p:cNvPr id="16391" name="Oval 30">
            <a:extLst>
              <a:ext uri="{FF2B5EF4-FFF2-40B4-BE49-F238E27FC236}">
                <a16:creationId xmlns:a16="http://schemas.microsoft.com/office/drawing/2014/main" id="{B349DE94-2928-6803-6E58-260D3A4C33FE}"/>
              </a:ext>
            </a:extLst>
          </p:cNvPr>
          <p:cNvSpPr>
            <a:spLocks noChangeArrowheads="1"/>
          </p:cNvSpPr>
          <p:nvPr/>
        </p:nvSpPr>
        <p:spPr bwMode="auto">
          <a:xfrm>
            <a:off x="5380037" y="5095828"/>
            <a:ext cx="319087" cy="320675"/>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latin typeface="Times New Roman" panose="02020603050405020304" pitchFamily="18" charset="0"/>
                <a:sym typeface="Symbol" pitchFamily="2" charset="2"/>
              </a:rPr>
              <a:t>5</a:t>
            </a:r>
          </a:p>
        </p:txBody>
      </p:sp>
      <p:sp>
        <p:nvSpPr>
          <p:cNvPr id="16392" name="Oval 31">
            <a:extLst>
              <a:ext uri="{FF2B5EF4-FFF2-40B4-BE49-F238E27FC236}">
                <a16:creationId xmlns:a16="http://schemas.microsoft.com/office/drawing/2014/main" id="{BFFDB779-8BD2-C03A-3117-B097B2BC9764}"/>
              </a:ext>
            </a:extLst>
          </p:cNvPr>
          <p:cNvSpPr>
            <a:spLocks noChangeArrowheads="1"/>
          </p:cNvSpPr>
          <p:nvPr/>
        </p:nvSpPr>
        <p:spPr bwMode="auto">
          <a:xfrm>
            <a:off x="5967412" y="5591128"/>
            <a:ext cx="320675" cy="320675"/>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latin typeface="Times New Roman" panose="02020603050405020304" pitchFamily="18" charset="0"/>
                <a:sym typeface="Symbol" pitchFamily="2" charset="2"/>
              </a:rPr>
              <a:t>7</a:t>
            </a:r>
          </a:p>
        </p:txBody>
      </p:sp>
      <p:sp>
        <p:nvSpPr>
          <p:cNvPr id="16393" name="Rectangle 32">
            <a:extLst>
              <a:ext uri="{FF2B5EF4-FFF2-40B4-BE49-F238E27FC236}">
                <a16:creationId xmlns:a16="http://schemas.microsoft.com/office/drawing/2014/main" id="{6B3AFD4F-A3EF-43DC-AA7C-E81179A4F876}"/>
              </a:ext>
            </a:extLst>
          </p:cNvPr>
          <p:cNvSpPr>
            <a:spLocks noChangeAspect="1" noChangeArrowheads="1"/>
          </p:cNvSpPr>
          <p:nvPr/>
        </p:nvSpPr>
        <p:spPr bwMode="auto">
          <a:xfrm>
            <a:off x="5719762" y="6167391"/>
            <a:ext cx="230187"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sp>
        <p:nvSpPr>
          <p:cNvPr id="16394" name="Rectangle 33">
            <a:extLst>
              <a:ext uri="{FF2B5EF4-FFF2-40B4-BE49-F238E27FC236}">
                <a16:creationId xmlns:a16="http://schemas.microsoft.com/office/drawing/2014/main" id="{69A1D934-429E-1A10-49AD-00D823C83E2E}"/>
              </a:ext>
            </a:extLst>
          </p:cNvPr>
          <p:cNvSpPr>
            <a:spLocks noChangeAspect="1" noChangeArrowheads="1"/>
          </p:cNvSpPr>
          <p:nvPr/>
        </p:nvSpPr>
        <p:spPr bwMode="auto">
          <a:xfrm>
            <a:off x="6305549" y="6167391"/>
            <a:ext cx="231775"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sp>
        <p:nvSpPr>
          <p:cNvPr id="16395" name="Rectangle 34">
            <a:extLst>
              <a:ext uri="{FF2B5EF4-FFF2-40B4-BE49-F238E27FC236}">
                <a16:creationId xmlns:a16="http://schemas.microsoft.com/office/drawing/2014/main" id="{25AC5914-944F-E942-F497-629297A17049}"/>
              </a:ext>
            </a:extLst>
          </p:cNvPr>
          <p:cNvSpPr>
            <a:spLocks noChangeAspect="1" noChangeArrowheads="1"/>
          </p:cNvSpPr>
          <p:nvPr/>
        </p:nvSpPr>
        <p:spPr bwMode="auto">
          <a:xfrm>
            <a:off x="7310729" y="5591128"/>
            <a:ext cx="230187" cy="231775"/>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cxnSp>
        <p:nvCxnSpPr>
          <p:cNvPr id="16396" name="AutoShape 35">
            <a:extLst>
              <a:ext uri="{FF2B5EF4-FFF2-40B4-BE49-F238E27FC236}">
                <a16:creationId xmlns:a16="http://schemas.microsoft.com/office/drawing/2014/main" id="{EF34F7CA-ACF3-F810-1268-444AAAAD6B39}"/>
              </a:ext>
            </a:extLst>
          </p:cNvPr>
          <p:cNvCxnSpPr>
            <a:cxnSpLocks noChangeShapeType="1"/>
            <a:stCxn id="16389" idx="3"/>
            <a:endCxn id="16391" idx="7"/>
          </p:cNvCxnSpPr>
          <p:nvPr/>
        </p:nvCxnSpPr>
        <p:spPr bwMode="auto">
          <a:xfrm flipH="1">
            <a:off x="5653087" y="4865641"/>
            <a:ext cx="727075" cy="2698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7" name="AutoShape 36">
            <a:extLst>
              <a:ext uri="{FF2B5EF4-FFF2-40B4-BE49-F238E27FC236}">
                <a16:creationId xmlns:a16="http://schemas.microsoft.com/office/drawing/2014/main" id="{3EFAC3CD-73C5-6F25-8A03-ADB8D17E7D9F}"/>
              </a:ext>
            </a:extLst>
          </p:cNvPr>
          <p:cNvCxnSpPr>
            <a:cxnSpLocks noChangeShapeType="1"/>
            <a:stCxn id="16390" idx="1"/>
            <a:endCxn id="16389" idx="5"/>
          </p:cNvCxnSpPr>
          <p:nvPr/>
        </p:nvCxnSpPr>
        <p:spPr bwMode="auto">
          <a:xfrm flipH="1" flipV="1">
            <a:off x="6605587" y="4867228"/>
            <a:ext cx="1184275" cy="26670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8" name="AutoShape 37">
            <a:extLst>
              <a:ext uri="{FF2B5EF4-FFF2-40B4-BE49-F238E27FC236}">
                <a16:creationId xmlns:a16="http://schemas.microsoft.com/office/drawing/2014/main" id="{DF6F232C-B964-ED49-E736-CBCA8C7BA01E}"/>
              </a:ext>
            </a:extLst>
          </p:cNvPr>
          <p:cNvCxnSpPr>
            <a:cxnSpLocks noChangeShapeType="1"/>
            <a:stCxn id="16395" idx="0"/>
            <a:endCxn id="16390" idx="3"/>
          </p:cNvCxnSpPr>
          <p:nvPr/>
        </p:nvCxnSpPr>
        <p:spPr bwMode="auto">
          <a:xfrm flipV="1">
            <a:off x="7425823" y="5369541"/>
            <a:ext cx="364730" cy="22158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9" name="AutoShape 38">
            <a:extLst>
              <a:ext uri="{FF2B5EF4-FFF2-40B4-BE49-F238E27FC236}">
                <a16:creationId xmlns:a16="http://schemas.microsoft.com/office/drawing/2014/main" id="{B77D75FA-9DF0-00A6-F1F4-924C4C78DA25}"/>
              </a:ext>
            </a:extLst>
          </p:cNvPr>
          <p:cNvCxnSpPr>
            <a:cxnSpLocks noChangeShapeType="1"/>
            <a:stCxn id="16409" idx="7"/>
            <a:endCxn id="16390" idx="5"/>
          </p:cNvCxnSpPr>
          <p:nvPr/>
        </p:nvCxnSpPr>
        <p:spPr bwMode="auto">
          <a:xfrm flipH="1" flipV="1">
            <a:off x="8016183" y="5369541"/>
            <a:ext cx="441886" cy="26854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0" name="AutoShape 39">
            <a:extLst>
              <a:ext uri="{FF2B5EF4-FFF2-40B4-BE49-F238E27FC236}">
                <a16:creationId xmlns:a16="http://schemas.microsoft.com/office/drawing/2014/main" id="{703D8212-E047-7F89-7EB6-1B8211447471}"/>
              </a:ext>
            </a:extLst>
          </p:cNvPr>
          <p:cNvCxnSpPr>
            <a:cxnSpLocks noChangeShapeType="1"/>
            <a:stCxn id="16394" idx="0"/>
            <a:endCxn id="16392" idx="5"/>
          </p:cNvCxnSpPr>
          <p:nvPr/>
        </p:nvCxnSpPr>
        <p:spPr bwMode="auto">
          <a:xfrm flipH="1" flipV="1">
            <a:off x="6240462" y="5873703"/>
            <a:ext cx="180975" cy="2841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1" name="AutoShape 40">
            <a:extLst>
              <a:ext uri="{FF2B5EF4-FFF2-40B4-BE49-F238E27FC236}">
                <a16:creationId xmlns:a16="http://schemas.microsoft.com/office/drawing/2014/main" id="{7AFB1F80-0A0B-F378-9C92-9FD7F9B3116B}"/>
              </a:ext>
            </a:extLst>
          </p:cNvPr>
          <p:cNvCxnSpPr>
            <a:cxnSpLocks noChangeShapeType="1"/>
            <a:stCxn id="16393" idx="0"/>
            <a:endCxn id="16392" idx="3"/>
          </p:cNvCxnSpPr>
          <p:nvPr/>
        </p:nvCxnSpPr>
        <p:spPr bwMode="auto">
          <a:xfrm flipV="1">
            <a:off x="5835649" y="5873703"/>
            <a:ext cx="179388" cy="2841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2" name="AutoShape 41">
            <a:extLst>
              <a:ext uri="{FF2B5EF4-FFF2-40B4-BE49-F238E27FC236}">
                <a16:creationId xmlns:a16="http://schemas.microsoft.com/office/drawing/2014/main" id="{B4499A38-510A-751B-A65F-D87037854ED0}"/>
              </a:ext>
            </a:extLst>
          </p:cNvPr>
          <p:cNvCxnSpPr>
            <a:cxnSpLocks noChangeShapeType="1"/>
            <a:stCxn id="16404" idx="7"/>
            <a:endCxn id="16391" idx="3"/>
          </p:cNvCxnSpPr>
          <p:nvPr/>
        </p:nvCxnSpPr>
        <p:spPr bwMode="auto">
          <a:xfrm flipV="1">
            <a:off x="5065712" y="5378403"/>
            <a:ext cx="360362" cy="25082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3" name="AutoShape 42">
            <a:extLst>
              <a:ext uri="{FF2B5EF4-FFF2-40B4-BE49-F238E27FC236}">
                <a16:creationId xmlns:a16="http://schemas.microsoft.com/office/drawing/2014/main" id="{A2D63221-71AC-DC78-2E89-5FED393578C7}"/>
              </a:ext>
            </a:extLst>
          </p:cNvPr>
          <p:cNvCxnSpPr>
            <a:cxnSpLocks noChangeShapeType="1"/>
            <a:stCxn id="16392" idx="1"/>
            <a:endCxn id="16391" idx="5"/>
          </p:cNvCxnSpPr>
          <p:nvPr/>
        </p:nvCxnSpPr>
        <p:spPr bwMode="auto">
          <a:xfrm flipH="1" flipV="1">
            <a:off x="5653087" y="5378403"/>
            <a:ext cx="361950" cy="25082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6404" name="Oval 43">
            <a:extLst>
              <a:ext uri="{FF2B5EF4-FFF2-40B4-BE49-F238E27FC236}">
                <a16:creationId xmlns:a16="http://schemas.microsoft.com/office/drawing/2014/main" id="{6B71EDD3-BDF1-84B8-6247-648221767677}"/>
              </a:ext>
            </a:extLst>
          </p:cNvPr>
          <p:cNvSpPr>
            <a:spLocks noChangeArrowheads="1"/>
          </p:cNvSpPr>
          <p:nvPr/>
        </p:nvSpPr>
        <p:spPr bwMode="auto">
          <a:xfrm>
            <a:off x="4792662" y="5591128"/>
            <a:ext cx="319087" cy="320675"/>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latin typeface="Times New Roman" panose="02020603050405020304" pitchFamily="18" charset="0"/>
                <a:sym typeface="Symbol" pitchFamily="2" charset="2"/>
              </a:rPr>
              <a:t>9</a:t>
            </a:r>
          </a:p>
        </p:txBody>
      </p:sp>
      <p:sp>
        <p:nvSpPr>
          <p:cNvPr id="16405" name="Rectangle 44">
            <a:extLst>
              <a:ext uri="{FF2B5EF4-FFF2-40B4-BE49-F238E27FC236}">
                <a16:creationId xmlns:a16="http://schemas.microsoft.com/office/drawing/2014/main" id="{63E905B8-A1DA-2362-A398-AED87DDB4F8B}"/>
              </a:ext>
            </a:extLst>
          </p:cNvPr>
          <p:cNvSpPr>
            <a:spLocks noChangeAspect="1" noChangeArrowheads="1"/>
          </p:cNvSpPr>
          <p:nvPr/>
        </p:nvSpPr>
        <p:spPr bwMode="auto">
          <a:xfrm>
            <a:off x="4543424" y="6167391"/>
            <a:ext cx="230188"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sp>
        <p:nvSpPr>
          <p:cNvPr id="16406" name="Rectangle 45">
            <a:extLst>
              <a:ext uri="{FF2B5EF4-FFF2-40B4-BE49-F238E27FC236}">
                <a16:creationId xmlns:a16="http://schemas.microsoft.com/office/drawing/2014/main" id="{6383B3DA-CB51-4BBE-0664-14371BEE3D21}"/>
              </a:ext>
            </a:extLst>
          </p:cNvPr>
          <p:cNvSpPr>
            <a:spLocks noChangeAspect="1" noChangeArrowheads="1"/>
          </p:cNvSpPr>
          <p:nvPr/>
        </p:nvSpPr>
        <p:spPr bwMode="auto">
          <a:xfrm>
            <a:off x="5130799" y="6167391"/>
            <a:ext cx="230188"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cxnSp>
        <p:nvCxnSpPr>
          <p:cNvPr id="16407" name="AutoShape 46">
            <a:extLst>
              <a:ext uri="{FF2B5EF4-FFF2-40B4-BE49-F238E27FC236}">
                <a16:creationId xmlns:a16="http://schemas.microsoft.com/office/drawing/2014/main" id="{5DDC43ED-F40E-AC35-EB7D-C4BC40BEA5A2}"/>
              </a:ext>
            </a:extLst>
          </p:cNvPr>
          <p:cNvCxnSpPr>
            <a:cxnSpLocks noChangeShapeType="1"/>
            <a:stCxn id="16406" idx="0"/>
            <a:endCxn id="16404" idx="5"/>
          </p:cNvCxnSpPr>
          <p:nvPr/>
        </p:nvCxnSpPr>
        <p:spPr bwMode="auto">
          <a:xfrm flipH="1" flipV="1">
            <a:off x="5065712" y="5873703"/>
            <a:ext cx="180975" cy="2841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8" name="AutoShape 47">
            <a:extLst>
              <a:ext uri="{FF2B5EF4-FFF2-40B4-BE49-F238E27FC236}">
                <a16:creationId xmlns:a16="http://schemas.microsoft.com/office/drawing/2014/main" id="{19691A34-3EBA-7D67-5E65-34C7566D245A}"/>
              </a:ext>
            </a:extLst>
          </p:cNvPr>
          <p:cNvCxnSpPr>
            <a:cxnSpLocks noChangeShapeType="1"/>
            <a:stCxn id="16405" idx="0"/>
            <a:endCxn id="16404" idx="3"/>
          </p:cNvCxnSpPr>
          <p:nvPr/>
        </p:nvCxnSpPr>
        <p:spPr bwMode="auto">
          <a:xfrm flipV="1">
            <a:off x="4659312" y="5873703"/>
            <a:ext cx="179387" cy="28416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6409" name="Oval 48">
            <a:extLst>
              <a:ext uri="{FF2B5EF4-FFF2-40B4-BE49-F238E27FC236}">
                <a16:creationId xmlns:a16="http://schemas.microsoft.com/office/drawing/2014/main" id="{8A870624-16A9-F5EA-75A5-1EDFBA3FA26C}"/>
              </a:ext>
            </a:extLst>
          </p:cNvPr>
          <p:cNvSpPr>
            <a:spLocks noChangeArrowheads="1"/>
          </p:cNvSpPr>
          <p:nvPr/>
        </p:nvSpPr>
        <p:spPr bwMode="auto">
          <a:xfrm>
            <a:off x="8184356" y="5591128"/>
            <a:ext cx="320675" cy="320675"/>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solidFill>
                  <a:schemeClr val="tx2"/>
                </a:solidFill>
                <a:latin typeface="Times New Roman" panose="02020603050405020304" pitchFamily="18" charset="0"/>
                <a:sym typeface="Symbol" pitchFamily="2" charset="2"/>
              </a:rPr>
              <a:t>8</a:t>
            </a:r>
          </a:p>
        </p:txBody>
      </p:sp>
      <p:sp>
        <p:nvSpPr>
          <p:cNvPr id="16410" name="Rectangle 49">
            <a:extLst>
              <a:ext uri="{FF2B5EF4-FFF2-40B4-BE49-F238E27FC236}">
                <a16:creationId xmlns:a16="http://schemas.microsoft.com/office/drawing/2014/main" id="{1A204F6F-C419-0F33-1021-73568517C23A}"/>
              </a:ext>
            </a:extLst>
          </p:cNvPr>
          <p:cNvSpPr>
            <a:spLocks noChangeAspect="1" noChangeArrowheads="1"/>
          </p:cNvSpPr>
          <p:nvPr/>
        </p:nvSpPr>
        <p:spPr bwMode="auto">
          <a:xfrm>
            <a:off x="7936706" y="6167391"/>
            <a:ext cx="230187"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sp>
        <p:nvSpPr>
          <p:cNvPr id="16411" name="Rectangle 50">
            <a:extLst>
              <a:ext uri="{FF2B5EF4-FFF2-40B4-BE49-F238E27FC236}">
                <a16:creationId xmlns:a16="http://schemas.microsoft.com/office/drawing/2014/main" id="{9785AD1E-7454-4444-F155-140038EEA31B}"/>
              </a:ext>
            </a:extLst>
          </p:cNvPr>
          <p:cNvSpPr>
            <a:spLocks noChangeAspect="1" noChangeArrowheads="1"/>
          </p:cNvSpPr>
          <p:nvPr/>
        </p:nvSpPr>
        <p:spPr bwMode="auto">
          <a:xfrm>
            <a:off x="8522493" y="6167391"/>
            <a:ext cx="231775" cy="230187"/>
          </a:xfrm>
          <a:prstGeom prst="rect">
            <a:avLst/>
          </a:prstGeom>
          <a:solidFill>
            <a:schemeClr val="folHlink"/>
          </a:solidFill>
          <a:ln w="1905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latin typeface="Tahoma" panose="020B0604030504040204" pitchFamily="34" charset="0"/>
            </a:endParaRPr>
          </a:p>
        </p:txBody>
      </p:sp>
      <p:cxnSp>
        <p:nvCxnSpPr>
          <p:cNvPr id="16412" name="AutoShape 51">
            <a:extLst>
              <a:ext uri="{FF2B5EF4-FFF2-40B4-BE49-F238E27FC236}">
                <a16:creationId xmlns:a16="http://schemas.microsoft.com/office/drawing/2014/main" id="{B3FD8BA6-3CC3-5241-13C2-F76CBC16B1AF}"/>
              </a:ext>
            </a:extLst>
          </p:cNvPr>
          <p:cNvCxnSpPr>
            <a:cxnSpLocks noChangeShapeType="1"/>
            <a:stCxn id="16411" idx="0"/>
            <a:endCxn id="16409" idx="5"/>
          </p:cNvCxnSpPr>
          <p:nvPr/>
        </p:nvCxnSpPr>
        <p:spPr bwMode="auto">
          <a:xfrm flipH="1" flipV="1">
            <a:off x="8457406" y="5883228"/>
            <a:ext cx="180975" cy="27463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13" name="AutoShape 52">
            <a:extLst>
              <a:ext uri="{FF2B5EF4-FFF2-40B4-BE49-F238E27FC236}">
                <a16:creationId xmlns:a16="http://schemas.microsoft.com/office/drawing/2014/main" id="{FC7F1E11-6ADE-BBB0-B15D-B7B03088FDDE}"/>
              </a:ext>
            </a:extLst>
          </p:cNvPr>
          <p:cNvCxnSpPr>
            <a:cxnSpLocks noChangeShapeType="1"/>
            <a:stCxn id="16410" idx="0"/>
            <a:endCxn id="16409" idx="3"/>
          </p:cNvCxnSpPr>
          <p:nvPr/>
        </p:nvCxnSpPr>
        <p:spPr bwMode="auto">
          <a:xfrm flipV="1">
            <a:off x="8052593" y="5883228"/>
            <a:ext cx="179388" cy="27463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nvGrpSpPr>
          <p:cNvPr id="16418" name="Group 16417">
            <a:extLst>
              <a:ext uri="{FF2B5EF4-FFF2-40B4-BE49-F238E27FC236}">
                <a16:creationId xmlns:a16="http://schemas.microsoft.com/office/drawing/2014/main" id="{B5D00DAE-D057-70EF-617D-0A35C37BA1E9}"/>
              </a:ext>
            </a:extLst>
          </p:cNvPr>
          <p:cNvGrpSpPr/>
          <p:nvPr/>
        </p:nvGrpSpPr>
        <p:grpSpPr>
          <a:xfrm>
            <a:off x="3563008" y="1864519"/>
            <a:ext cx="2075792" cy="1598864"/>
            <a:chOff x="521628" y="1864519"/>
            <a:chExt cx="2075792" cy="1598864"/>
          </a:xfrm>
        </p:grpSpPr>
        <p:grpSp>
          <p:nvGrpSpPr>
            <p:cNvPr id="16419" name="Group 5">
              <a:extLst>
                <a:ext uri="{FF2B5EF4-FFF2-40B4-BE49-F238E27FC236}">
                  <a16:creationId xmlns:a16="http://schemas.microsoft.com/office/drawing/2014/main" id="{0CEB420E-09F5-F0DC-0744-408433C32CBB}"/>
                </a:ext>
              </a:extLst>
            </p:cNvPr>
            <p:cNvGrpSpPr>
              <a:grpSpLocks/>
            </p:cNvGrpSpPr>
            <p:nvPr/>
          </p:nvGrpSpPr>
          <p:grpSpPr bwMode="auto">
            <a:xfrm>
              <a:off x="683561" y="1864519"/>
              <a:ext cx="1913859" cy="1564481"/>
              <a:chOff x="3009" y="2157"/>
              <a:chExt cx="1302" cy="1107"/>
            </a:xfrm>
          </p:grpSpPr>
          <p:sp>
            <p:nvSpPr>
              <p:cNvPr id="16421" name="Oval 6">
                <a:extLst>
                  <a:ext uri="{FF2B5EF4-FFF2-40B4-BE49-F238E27FC236}">
                    <a16:creationId xmlns:a16="http://schemas.microsoft.com/office/drawing/2014/main" id="{97E49F7F-9E8E-6A97-E75D-25EBDDB76965}"/>
                  </a:ext>
                </a:extLst>
              </p:cNvPr>
              <p:cNvSpPr>
                <a:spLocks noChangeArrowheads="1"/>
              </p:cNvSpPr>
              <p:nvPr/>
            </p:nvSpPr>
            <p:spPr bwMode="auto">
              <a:xfrm>
                <a:off x="3648" y="2157"/>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16422" name="Oval 7">
                <a:extLst>
                  <a:ext uri="{FF2B5EF4-FFF2-40B4-BE49-F238E27FC236}">
                    <a16:creationId xmlns:a16="http://schemas.microsoft.com/office/drawing/2014/main" id="{A58B6B50-8B74-222D-5416-D05219BF3C09}"/>
                  </a:ext>
                </a:extLst>
              </p:cNvPr>
              <p:cNvSpPr>
                <a:spLocks noChangeArrowheads="1"/>
              </p:cNvSpPr>
              <p:nvPr/>
            </p:nvSpPr>
            <p:spPr bwMode="auto">
              <a:xfrm>
                <a:off x="4071"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sym typeface="Symbol" pitchFamily="2" charset="2"/>
                </a:endParaRPr>
              </a:p>
            </p:txBody>
          </p:sp>
          <p:sp>
            <p:nvSpPr>
              <p:cNvPr id="16423" name="Oval 8">
                <a:extLst>
                  <a:ext uri="{FF2B5EF4-FFF2-40B4-BE49-F238E27FC236}">
                    <a16:creationId xmlns:a16="http://schemas.microsoft.com/office/drawing/2014/main" id="{B212376A-7E10-EB9A-8A45-6B87282C9AA7}"/>
                  </a:ext>
                </a:extLst>
              </p:cNvPr>
              <p:cNvSpPr>
                <a:spLocks noChangeArrowheads="1"/>
              </p:cNvSpPr>
              <p:nvPr/>
            </p:nvSpPr>
            <p:spPr bwMode="auto">
              <a:xfrm>
                <a:off x="3168"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16424" name="Oval 9">
                <a:extLst>
                  <a:ext uri="{FF2B5EF4-FFF2-40B4-BE49-F238E27FC236}">
                    <a16:creationId xmlns:a16="http://schemas.microsoft.com/office/drawing/2014/main" id="{C5FCD822-25CB-DEA7-DA61-B935A2F33497}"/>
                  </a:ext>
                </a:extLst>
              </p:cNvPr>
              <p:cNvSpPr>
                <a:spLocks noChangeArrowheads="1"/>
              </p:cNvSpPr>
              <p:nvPr/>
            </p:nvSpPr>
            <p:spPr bwMode="auto">
              <a:xfrm>
                <a:off x="3517" y="3024"/>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cxnSp>
            <p:nvCxnSpPr>
              <p:cNvPr id="16425" name="AutoShape 15">
                <a:extLst>
                  <a:ext uri="{FF2B5EF4-FFF2-40B4-BE49-F238E27FC236}">
                    <a16:creationId xmlns:a16="http://schemas.microsoft.com/office/drawing/2014/main" id="{1261A5EA-0102-5639-83C4-E04B5399A942}"/>
                  </a:ext>
                </a:extLst>
              </p:cNvPr>
              <p:cNvCxnSpPr>
                <a:cxnSpLocks noChangeShapeType="1"/>
                <a:stCxn id="16421" idx="3"/>
                <a:endCxn id="16423" idx="7"/>
              </p:cNvCxnSpPr>
              <p:nvPr/>
            </p:nvCxnSpPr>
            <p:spPr bwMode="auto">
              <a:xfrm flipH="1">
                <a:off x="3373" y="2362"/>
                <a:ext cx="310"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26" name="AutoShape 16">
                <a:extLst>
                  <a:ext uri="{FF2B5EF4-FFF2-40B4-BE49-F238E27FC236}">
                    <a16:creationId xmlns:a16="http://schemas.microsoft.com/office/drawing/2014/main" id="{A63E6075-231B-BCCD-ABD3-E05EA009A048}"/>
                  </a:ext>
                </a:extLst>
              </p:cNvPr>
              <p:cNvCxnSpPr>
                <a:cxnSpLocks noChangeShapeType="1"/>
                <a:stCxn id="16422" idx="1"/>
                <a:endCxn id="16421" idx="5"/>
              </p:cNvCxnSpPr>
              <p:nvPr/>
            </p:nvCxnSpPr>
            <p:spPr bwMode="auto">
              <a:xfrm flipH="1" flipV="1">
                <a:off x="3853" y="2362"/>
                <a:ext cx="253"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27" name="AutoShape 21">
                <a:extLst>
                  <a:ext uri="{FF2B5EF4-FFF2-40B4-BE49-F238E27FC236}">
                    <a16:creationId xmlns:a16="http://schemas.microsoft.com/office/drawing/2014/main" id="{7F2A72AF-A1CA-6868-BBAD-FAB4FDF4FAC2}"/>
                  </a:ext>
                </a:extLst>
              </p:cNvPr>
              <p:cNvCxnSpPr>
                <a:cxnSpLocks noChangeShapeType="1"/>
                <a:stCxn id="16420" idx="0"/>
                <a:endCxn id="16423" idx="3"/>
              </p:cNvCxnSpPr>
              <p:nvPr/>
            </p:nvCxnSpPr>
            <p:spPr bwMode="auto">
              <a:xfrm flipV="1">
                <a:off x="3009" y="2845"/>
                <a:ext cx="194" cy="20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28" name="AutoShape 22">
                <a:extLst>
                  <a:ext uri="{FF2B5EF4-FFF2-40B4-BE49-F238E27FC236}">
                    <a16:creationId xmlns:a16="http://schemas.microsoft.com/office/drawing/2014/main" id="{4DDBBA80-7110-6D87-09AA-65E1656D5ABD}"/>
                  </a:ext>
                </a:extLst>
              </p:cNvPr>
              <p:cNvCxnSpPr>
                <a:cxnSpLocks noChangeShapeType="1"/>
                <a:stCxn id="16424" idx="1"/>
                <a:endCxn id="16423" idx="5"/>
              </p:cNvCxnSpPr>
              <p:nvPr/>
            </p:nvCxnSpPr>
            <p:spPr bwMode="auto">
              <a:xfrm flipH="1" flipV="1">
                <a:off x="3373" y="2845"/>
                <a:ext cx="179" cy="21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16420" name="Oval 9">
              <a:extLst>
                <a:ext uri="{FF2B5EF4-FFF2-40B4-BE49-F238E27FC236}">
                  <a16:creationId xmlns:a16="http://schemas.microsoft.com/office/drawing/2014/main" id="{DBE70835-3A9C-14AD-3447-4EC583A4435C}"/>
                </a:ext>
              </a:extLst>
            </p:cNvPr>
            <p:cNvSpPr>
              <a:spLocks noChangeArrowheads="1"/>
            </p:cNvSpPr>
            <p:nvPr/>
          </p:nvSpPr>
          <p:spPr bwMode="auto">
            <a:xfrm>
              <a:off x="521628" y="3124200"/>
              <a:ext cx="323513" cy="339183"/>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grpSp>
      <p:grpSp>
        <p:nvGrpSpPr>
          <p:cNvPr id="16429" name="Group 16428">
            <a:extLst>
              <a:ext uri="{FF2B5EF4-FFF2-40B4-BE49-F238E27FC236}">
                <a16:creationId xmlns:a16="http://schemas.microsoft.com/office/drawing/2014/main" id="{63B41A2E-6DE9-EB44-A5BD-85183B9FFCDF}"/>
              </a:ext>
            </a:extLst>
          </p:cNvPr>
          <p:cNvGrpSpPr/>
          <p:nvPr/>
        </p:nvGrpSpPr>
        <p:grpSpPr>
          <a:xfrm>
            <a:off x="6324600" y="1864519"/>
            <a:ext cx="2075792" cy="1598864"/>
            <a:chOff x="521628" y="1864519"/>
            <a:chExt cx="2075792" cy="1598864"/>
          </a:xfrm>
        </p:grpSpPr>
        <p:grpSp>
          <p:nvGrpSpPr>
            <p:cNvPr id="16430" name="Group 5">
              <a:extLst>
                <a:ext uri="{FF2B5EF4-FFF2-40B4-BE49-F238E27FC236}">
                  <a16:creationId xmlns:a16="http://schemas.microsoft.com/office/drawing/2014/main" id="{0DA413EA-B68B-5A58-7778-0378ED94B846}"/>
                </a:ext>
              </a:extLst>
            </p:cNvPr>
            <p:cNvGrpSpPr>
              <a:grpSpLocks/>
            </p:cNvGrpSpPr>
            <p:nvPr/>
          </p:nvGrpSpPr>
          <p:grpSpPr bwMode="auto">
            <a:xfrm>
              <a:off x="683561" y="1864519"/>
              <a:ext cx="1913859" cy="1564481"/>
              <a:chOff x="3009" y="2157"/>
              <a:chExt cx="1302" cy="1107"/>
            </a:xfrm>
          </p:grpSpPr>
          <p:sp>
            <p:nvSpPr>
              <p:cNvPr id="16432" name="Oval 6">
                <a:extLst>
                  <a:ext uri="{FF2B5EF4-FFF2-40B4-BE49-F238E27FC236}">
                    <a16:creationId xmlns:a16="http://schemas.microsoft.com/office/drawing/2014/main" id="{FA8CA5CE-69A5-0221-4C23-E07389D7841B}"/>
                  </a:ext>
                </a:extLst>
              </p:cNvPr>
              <p:cNvSpPr>
                <a:spLocks noChangeArrowheads="1"/>
              </p:cNvSpPr>
              <p:nvPr/>
            </p:nvSpPr>
            <p:spPr bwMode="auto">
              <a:xfrm>
                <a:off x="3648" y="2157"/>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16433" name="Oval 7">
                <a:extLst>
                  <a:ext uri="{FF2B5EF4-FFF2-40B4-BE49-F238E27FC236}">
                    <a16:creationId xmlns:a16="http://schemas.microsoft.com/office/drawing/2014/main" id="{79973912-1946-22BB-781D-47DE412D981C}"/>
                  </a:ext>
                </a:extLst>
              </p:cNvPr>
              <p:cNvSpPr>
                <a:spLocks noChangeArrowheads="1"/>
              </p:cNvSpPr>
              <p:nvPr/>
            </p:nvSpPr>
            <p:spPr bwMode="auto">
              <a:xfrm>
                <a:off x="4071"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sym typeface="Symbol" pitchFamily="2" charset="2"/>
                </a:endParaRPr>
              </a:p>
            </p:txBody>
          </p:sp>
          <p:sp>
            <p:nvSpPr>
              <p:cNvPr id="16434" name="Oval 8">
                <a:extLst>
                  <a:ext uri="{FF2B5EF4-FFF2-40B4-BE49-F238E27FC236}">
                    <a16:creationId xmlns:a16="http://schemas.microsoft.com/office/drawing/2014/main" id="{2F0ED98D-6313-388C-456B-42A7852900F8}"/>
                  </a:ext>
                </a:extLst>
              </p:cNvPr>
              <p:cNvSpPr>
                <a:spLocks noChangeArrowheads="1"/>
              </p:cNvSpPr>
              <p:nvPr/>
            </p:nvSpPr>
            <p:spPr bwMode="auto">
              <a:xfrm>
                <a:off x="3168" y="2640"/>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sp>
            <p:nvSpPr>
              <p:cNvPr id="16435" name="Oval 9">
                <a:extLst>
                  <a:ext uri="{FF2B5EF4-FFF2-40B4-BE49-F238E27FC236}">
                    <a16:creationId xmlns:a16="http://schemas.microsoft.com/office/drawing/2014/main" id="{FCB795A0-5071-25A0-767D-55C555D005AF}"/>
                  </a:ext>
                </a:extLst>
              </p:cNvPr>
              <p:cNvSpPr>
                <a:spLocks noChangeArrowheads="1"/>
              </p:cNvSpPr>
              <p:nvPr/>
            </p:nvSpPr>
            <p:spPr bwMode="auto">
              <a:xfrm>
                <a:off x="3517" y="3024"/>
                <a:ext cx="240" cy="240"/>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cxnSp>
            <p:nvCxnSpPr>
              <p:cNvPr id="16436" name="AutoShape 15">
                <a:extLst>
                  <a:ext uri="{FF2B5EF4-FFF2-40B4-BE49-F238E27FC236}">
                    <a16:creationId xmlns:a16="http://schemas.microsoft.com/office/drawing/2014/main" id="{D1256EB7-E26C-91E2-39E8-2D39EE0865BE}"/>
                  </a:ext>
                </a:extLst>
              </p:cNvPr>
              <p:cNvCxnSpPr>
                <a:cxnSpLocks noChangeShapeType="1"/>
                <a:stCxn id="16432" idx="3"/>
                <a:endCxn id="16434" idx="7"/>
              </p:cNvCxnSpPr>
              <p:nvPr/>
            </p:nvCxnSpPr>
            <p:spPr bwMode="auto">
              <a:xfrm flipH="1">
                <a:off x="3373" y="2362"/>
                <a:ext cx="310"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37" name="AutoShape 16">
                <a:extLst>
                  <a:ext uri="{FF2B5EF4-FFF2-40B4-BE49-F238E27FC236}">
                    <a16:creationId xmlns:a16="http://schemas.microsoft.com/office/drawing/2014/main" id="{8884657F-AE0F-81E1-41A1-9C8D5DE46A92}"/>
                  </a:ext>
                </a:extLst>
              </p:cNvPr>
              <p:cNvCxnSpPr>
                <a:cxnSpLocks noChangeShapeType="1"/>
                <a:stCxn id="16433" idx="1"/>
                <a:endCxn id="16432" idx="5"/>
              </p:cNvCxnSpPr>
              <p:nvPr/>
            </p:nvCxnSpPr>
            <p:spPr bwMode="auto">
              <a:xfrm flipH="1" flipV="1">
                <a:off x="3853" y="2362"/>
                <a:ext cx="253" cy="31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38" name="AutoShape 21">
                <a:extLst>
                  <a:ext uri="{FF2B5EF4-FFF2-40B4-BE49-F238E27FC236}">
                    <a16:creationId xmlns:a16="http://schemas.microsoft.com/office/drawing/2014/main" id="{567EEC64-CF49-214B-DA65-5DADBE8CE6B5}"/>
                  </a:ext>
                </a:extLst>
              </p:cNvPr>
              <p:cNvCxnSpPr>
                <a:cxnSpLocks noChangeShapeType="1"/>
                <a:stCxn id="16431" idx="0"/>
                <a:endCxn id="16434" idx="3"/>
              </p:cNvCxnSpPr>
              <p:nvPr/>
            </p:nvCxnSpPr>
            <p:spPr bwMode="auto">
              <a:xfrm flipV="1">
                <a:off x="3009" y="2845"/>
                <a:ext cx="194" cy="20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39" name="AutoShape 22">
                <a:extLst>
                  <a:ext uri="{FF2B5EF4-FFF2-40B4-BE49-F238E27FC236}">
                    <a16:creationId xmlns:a16="http://schemas.microsoft.com/office/drawing/2014/main" id="{D4F33C19-559F-F7BD-9B2D-6DE9BFF8E7F8}"/>
                  </a:ext>
                </a:extLst>
              </p:cNvPr>
              <p:cNvCxnSpPr>
                <a:cxnSpLocks noChangeShapeType="1"/>
                <a:stCxn id="16435" idx="1"/>
                <a:endCxn id="16434" idx="5"/>
              </p:cNvCxnSpPr>
              <p:nvPr/>
            </p:nvCxnSpPr>
            <p:spPr bwMode="auto">
              <a:xfrm flipH="1" flipV="1">
                <a:off x="3373" y="2845"/>
                <a:ext cx="179" cy="21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16431" name="Oval 9">
              <a:extLst>
                <a:ext uri="{FF2B5EF4-FFF2-40B4-BE49-F238E27FC236}">
                  <a16:creationId xmlns:a16="http://schemas.microsoft.com/office/drawing/2014/main" id="{A99EB659-7173-2C07-8A38-E9F0544F2E16}"/>
                </a:ext>
              </a:extLst>
            </p:cNvPr>
            <p:cNvSpPr>
              <a:spLocks noChangeArrowheads="1"/>
            </p:cNvSpPr>
            <p:nvPr/>
          </p:nvSpPr>
          <p:spPr bwMode="auto">
            <a:xfrm>
              <a:off x="521628" y="3124200"/>
              <a:ext cx="323513" cy="339183"/>
            </a:xfrm>
            <a:prstGeom prst="ellipse">
              <a:avLst/>
            </a:prstGeom>
            <a:solidFill>
              <a:schemeClr val="accent1"/>
            </a:solidFill>
            <a:ln w="19050">
              <a:solidFill>
                <a:schemeClr val="tx1"/>
              </a:solidFill>
              <a:round/>
              <a:headEnd/>
              <a:tailEnd/>
            </a:ln>
          </p:spPr>
          <p:txBody>
            <a:bodyPr wrap="none" lIns="0" tIns="0" rIns="0" anchor="ctr" anchorCtr="1"/>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a:latin typeface="Symbol" pitchFamily="2" charset="2"/>
              </a:endParaRPr>
            </a:p>
          </p:txBody>
        </p:sp>
      </p:grpSp>
    </p:spTree>
    <p:extLst>
      <p:ext uri="{BB962C8B-B14F-4D97-AF65-F5344CB8AC3E}">
        <p14:creationId xmlns:p14="http://schemas.microsoft.com/office/powerpoint/2010/main" val="1922695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6D1F5D8-6AAE-BE58-9C15-E38D22B331A1}"/>
              </a:ext>
            </a:extLst>
          </p:cNvPr>
          <p:cNvSpPr>
            <a:spLocks noGrp="1" noChangeArrowheads="1"/>
          </p:cNvSpPr>
          <p:nvPr>
            <p:ph type="ctrTitle"/>
          </p:nvPr>
        </p:nvSpPr>
        <p:spPr>
          <a:xfrm>
            <a:off x="304800" y="1066800"/>
            <a:ext cx="8534400" cy="1698625"/>
          </a:xfrm>
        </p:spPr>
        <p:txBody>
          <a:bodyPr/>
          <a:lstStyle/>
          <a:p>
            <a:pPr eaLnBrk="1" hangingPunct="1"/>
            <a:r>
              <a:rPr lang="en-US" altLang="en-US" sz="2000">
                <a:solidFill>
                  <a:srgbClr val="FF9900"/>
                </a:solidFill>
              </a:rPr>
              <a:t>CS535: Algorithm Design and Analysis</a:t>
            </a:r>
            <a:br>
              <a:rPr lang="en-US" altLang="en-US"/>
            </a:br>
            <a:br>
              <a:rPr lang="en-US" altLang="en-US"/>
            </a:br>
            <a:br>
              <a:rPr lang="en-US" altLang="en-US"/>
            </a:br>
            <a:r>
              <a:rPr lang="en-US" altLang="en-US"/>
              <a:t>Dictionaries and Hash Tables</a:t>
            </a:r>
          </a:p>
        </p:txBody>
      </p:sp>
      <p:sp>
        <p:nvSpPr>
          <p:cNvPr id="16387" name="Rectangle 3">
            <a:extLst>
              <a:ext uri="{FF2B5EF4-FFF2-40B4-BE49-F238E27FC236}">
                <a16:creationId xmlns:a16="http://schemas.microsoft.com/office/drawing/2014/main" id="{461DCED9-8ED1-776A-FD09-4AC9E0ABCE8F}"/>
              </a:ext>
            </a:extLst>
          </p:cNvPr>
          <p:cNvSpPr>
            <a:spLocks noGrp="1" noChangeArrowheads="1"/>
          </p:cNvSpPr>
          <p:nvPr>
            <p:ph type="subTitle" idx="1"/>
          </p:nvPr>
        </p:nvSpPr>
        <p:spPr>
          <a:xfrm>
            <a:off x="1371600" y="3657600"/>
            <a:ext cx="6400800" cy="1981200"/>
          </a:xfrm>
        </p:spPr>
        <p:txBody>
          <a:bodyPr/>
          <a:lstStyle/>
          <a:p>
            <a:pPr eaLnBrk="1" hangingPunct="1"/>
            <a:r>
              <a:rPr lang="en-US" altLang="en-US" sz="2000" b="1" dirty="0">
                <a:solidFill>
                  <a:srgbClr val="0000FF"/>
                </a:solidFill>
              </a:rPr>
              <a:t>Prof. Zane Yu</a:t>
            </a:r>
          </a:p>
          <a:p>
            <a:pPr eaLnBrk="1" hangingPunct="1"/>
            <a:r>
              <a:rPr lang="en-US" altLang="en-US" sz="1600" b="1" dirty="0">
                <a:solidFill>
                  <a:srgbClr val="0000FF"/>
                </a:solidFill>
              </a:rPr>
              <a:t>Department of Computer Science</a:t>
            </a:r>
          </a:p>
          <a:p>
            <a:pPr eaLnBrk="1" hangingPunct="1"/>
            <a:r>
              <a:rPr lang="en-US" altLang="en-US" sz="1600" b="1" dirty="0">
                <a:solidFill>
                  <a:srgbClr val="0000FF"/>
                </a:solidFill>
              </a:rPr>
              <a:t>University of Wisconsin, Milwaukee</a:t>
            </a:r>
          </a:p>
          <a:p>
            <a:pPr eaLnBrk="1" hangingPunct="1"/>
            <a:endParaRPr lang="en-US" altLang="en-US" sz="1600" b="1" dirty="0">
              <a:solidFill>
                <a:srgbClr val="0000FF"/>
              </a:solidFill>
            </a:endParaRPr>
          </a:p>
          <a:p>
            <a:pPr eaLnBrk="1" hangingPunct="1"/>
            <a:r>
              <a:rPr lang="en-US" altLang="en-US" sz="1600" b="1" dirty="0">
                <a:solidFill>
                  <a:srgbClr val="0000FF"/>
                </a:solidFill>
              </a:rPr>
              <a:t>February 13, 2024</a:t>
            </a:r>
          </a:p>
        </p:txBody>
      </p:sp>
      <p:sp>
        <p:nvSpPr>
          <p:cNvPr id="2" name="TextBox 3">
            <a:extLst>
              <a:ext uri="{FF2B5EF4-FFF2-40B4-BE49-F238E27FC236}">
                <a16:creationId xmlns:a16="http://schemas.microsoft.com/office/drawing/2014/main" id="{73D3E175-088F-DD98-86B9-646EBA97F392}"/>
              </a:ext>
            </a:extLst>
          </p:cNvPr>
          <p:cNvSpPr txBox="1">
            <a:spLocks noChangeArrowheads="1"/>
          </p:cNvSpPr>
          <p:nvPr/>
        </p:nvSpPr>
        <p:spPr bwMode="auto">
          <a:xfrm>
            <a:off x="304800" y="5638800"/>
            <a:ext cx="8610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Readings: Chapter 2.5</a:t>
            </a:r>
          </a:p>
          <a:p>
            <a:pPr algn="ctr" eaLnBrk="1" hangingPunct="1">
              <a:spcBef>
                <a:spcPct val="0"/>
              </a:spcBef>
              <a:buFontTx/>
              <a:buNone/>
            </a:pPr>
            <a:endParaRPr lang="en-US" alt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BD8F649-EDBB-9A75-CD04-63FAFECB672F}"/>
              </a:ext>
            </a:extLst>
          </p:cNvPr>
          <p:cNvSpPr>
            <a:spLocks noGrp="1" noChangeArrowheads="1"/>
          </p:cNvSpPr>
          <p:nvPr>
            <p:ph type="title"/>
          </p:nvPr>
        </p:nvSpPr>
        <p:spPr/>
        <p:txBody>
          <a:bodyPr/>
          <a:lstStyle/>
          <a:p>
            <a:pPr eaLnBrk="1" hangingPunct="1"/>
            <a:r>
              <a:rPr lang="en-US" altLang="en-US" sz="2400"/>
              <a:t>Dictionary ADT</a:t>
            </a:r>
          </a:p>
        </p:txBody>
      </p:sp>
      <p:sp>
        <p:nvSpPr>
          <p:cNvPr id="17411" name="Rectangle 3">
            <a:extLst>
              <a:ext uri="{FF2B5EF4-FFF2-40B4-BE49-F238E27FC236}">
                <a16:creationId xmlns:a16="http://schemas.microsoft.com/office/drawing/2014/main" id="{F1001302-998A-71E4-BD6F-010C5C712472}"/>
              </a:ext>
            </a:extLst>
          </p:cNvPr>
          <p:cNvSpPr>
            <a:spLocks noGrp="1" noChangeArrowheads="1"/>
          </p:cNvSpPr>
          <p:nvPr>
            <p:ph type="body" sz="half" idx="1"/>
          </p:nvPr>
        </p:nvSpPr>
        <p:spPr>
          <a:xfrm>
            <a:off x="685800" y="1371600"/>
            <a:ext cx="4191000" cy="4800600"/>
          </a:xfrm>
        </p:spPr>
        <p:txBody>
          <a:bodyPr/>
          <a:lstStyle/>
          <a:p>
            <a:pPr eaLnBrk="1" hangingPunct="1">
              <a:lnSpc>
                <a:spcPct val="90000"/>
              </a:lnSpc>
            </a:pPr>
            <a:r>
              <a:rPr lang="en-US" altLang="en-US" sz="1800"/>
              <a:t>The dictionary ADT models a </a:t>
            </a:r>
            <a:r>
              <a:rPr lang="en-US" altLang="en-US" sz="1800">
                <a:solidFill>
                  <a:srgbClr val="C00000"/>
                </a:solidFill>
              </a:rPr>
              <a:t>searchable</a:t>
            </a:r>
            <a:r>
              <a:rPr lang="en-US" altLang="en-US" sz="1800"/>
              <a:t> collection of </a:t>
            </a:r>
            <a:r>
              <a:rPr lang="en-US" altLang="en-US" sz="1800">
                <a:solidFill>
                  <a:srgbClr val="C00000"/>
                </a:solidFill>
              </a:rPr>
              <a:t>key-element</a:t>
            </a:r>
            <a:r>
              <a:rPr lang="en-US" altLang="en-US" sz="1800"/>
              <a:t> items</a:t>
            </a:r>
          </a:p>
          <a:p>
            <a:pPr eaLnBrk="1" hangingPunct="1">
              <a:lnSpc>
                <a:spcPct val="90000"/>
              </a:lnSpc>
            </a:pPr>
            <a:endParaRPr lang="en-US" altLang="en-US" sz="1800"/>
          </a:p>
          <a:p>
            <a:pPr eaLnBrk="1" hangingPunct="1">
              <a:lnSpc>
                <a:spcPct val="90000"/>
              </a:lnSpc>
            </a:pPr>
            <a:r>
              <a:rPr lang="en-US" altLang="en-US" sz="1800"/>
              <a:t>The main operations of a dictionary are </a:t>
            </a:r>
            <a:r>
              <a:rPr lang="en-US" altLang="en-US" sz="1800" b="1"/>
              <a:t>searching, inserting, and deleting</a:t>
            </a:r>
            <a:r>
              <a:rPr lang="en-US" altLang="en-US" sz="1800"/>
              <a:t> items</a:t>
            </a:r>
          </a:p>
          <a:p>
            <a:pPr eaLnBrk="1" hangingPunct="1">
              <a:lnSpc>
                <a:spcPct val="90000"/>
              </a:lnSpc>
            </a:pPr>
            <a:endParaRPr lang="en-US" altLang="en-US" sz="1800"/>
          </a:p>
          <a:p>
            <a:pPr eaLnBrk="1" hangingPunct="1">
              <a:lnSpc>
                <a:spcPct val="90000"/>
              </a:lnSpc>
            </a:pPr>
            <a:r>
              <a:rPr lang="en-US" altLang="en-US" sz="1800"/>
              <a:t>Multiple items with the same key are allowed</a:t>
            </a:r>
          </a:p>
          <a:p>
            <a:pPr eaLnBrk="1" hangingPunct="1">
              <a:lnSpc>
                <a:spcPct val="90000"/>
              </a:lnSpc>
            </a:pPr>
            <a:endParaRPr lang="en-US" altLang="en-US" sz="1800"/>
          </a:p>
          <a:p>
            <a:pPr eaLnBrk="1" hangingPunct="1">
              <a:lnSpc>
                <a:spcPct val="90000"/>
              </a:lnSpc>
            </a:pPr>
            <a:r>
              <a:rPr lang="en-US" altLang="en-US" sz="1800"/>
              <a:t>Applications:</a:t>
            </a:r>
          </a:p>
          <a:p>
            <a:pPr lvl="1" eaLnBrk="1" hangingPunct="1">
              <a:lnSpc>
                <a:spcPct val="90000"/>
              </a:lnSpc>
            </a:pPr>
            <a:r>
              <a:rPr lang="en-US" altLang="en-US" sz="1600"/>
              <a:t>address book</a:t>
            </a:r>
          </a:p>
          <a:p>
            <a:pPr lvl="1" eaLnBrk="1" hangingPunct="1">
              <a:lnSpc>
                <a:spcPct val="90000"/>
              </a:lnSpc>
            </a:pPr>
            <a:r>
              <a:rPr lang="en-US" altLang="en-US" sz="1600"/>
              <a:t>credit card authorization</a:t>
            </a:r>
          </a:p>
          <a:p>
            <a:pPr lvl="1" eaLnBrk="1" hangingPunct="1">
              <a:lnSpc>
                <a:spcPct val="90000"/>
              </a:lnSpc>
            </a:pPr>
            <a:r>
              <a:rPr lang="en-US" altLang="en-US" sz="1600"/>
              <a:t>mapping host names (e.g., cs16.net) to internet addresses (e.g., 128.148.34.101)</a:t>
            </a:r>
          </a:p>
        </p:txBody>
      </p:sp>
      <p:sp>
        <p:nvSpPr>
          <p:cNvPr id="17412" name="Rectangle 4">
            <a:extLst>
              <a:ext uri="{FF2B5EF4-FFF2-40B4-BE49-F238E27FC236}">
                <a16:creationId xmlns:a16="http://schemas.microsoft.com/office/drawing/2014/main" id="{88472BE6-0361-49C1-892B-556F071CFE1D}"/>
              </a:ext>
            </a:extLst>
          </p:cNvPr>
          <p:cNvSpPr>
            <a:spLocks noGrp="1" noChangeArrowheads="1"/>
          </p:cNvSpPr>
          <p:nvPr>
            <p:ph type="body" sz="half" idx="2"/>
          </p:nvPr>
        </p:nvSpPr>
        <p:spPr>
          <a:xfrm>
            <a:off x="4876800" y="1371600"/>
            <a:ext cx="3886200" cy="4953000"/>
          </a:xfrm>
        </p:spPr>
        <p:txBody>
          <a:bodyPr/>
          <a:lstStyle/>
          <a:p>
            <a:pPr eaLnBrk="1" hangingPunct="1">
              <a:lnSpc>
                <a:spcPct val="90000"/>
              </a:lnSpc>
            </a:pPr>
            <a:r>
              <a:rPr lang="en-US" altLang="en-US" sz="1800" dirty="0"/>
              <a:t>Dictionary ADT methods:</a:t>
            </a:r>
          </a:p>
          <a:p>
            <a:pPr lvl="1" eaLnBrk="1" hangingPunct="1">
              <a:lnSpc>
                <a:spcPct val="90000"/>
              </a:lnSpc>
            </a:pPr>
            <a:r>
              <a:rPr lang="en-US" altLang="en-US" sz="1600" b="1" dirty="0" err="1">
                <a:solidFill>
                  <a:schemeClr val="tx2"/>
                </a:solidFill>
              </a:rPr>
              <a:t>findElement</a:t>
            </a:r>
            <a:r>
              <a:rPr lang="en-US" altLang="en-US" sz="1600" dirty="0"/>
              <a:t>(k): if the dictionary has an item with key k, returns its element; else, returns the special element NO_SUCH_KEY </a:t>
            </a:r>
          </a:p>
          <a:p>
            <a:pPr lvl="1" eaLnBrk="1" hangingPunct="1">
              <a:lnSpc>
                <a:spcPct val="90000"/>
              </a:lnSpc>
            </a:pPr>
            <a:endParaRPr lang="en-US" altLang="en-US" sz="800" dirty="0"/>
          </a:p>
          <a:p>
            <a:pPr lvl="1" eaLnBrk="1" hangingPunct="1">
              <a:lnSpc>
                <a:spcPct val="90000"/>
              </a:lnSpc>
            </a:pPr>
            <a:r>
              <a:rPr lang="en-US" altLang="en-US" sz="1600" b="1" dirty="0" err="1">
                <a:solidFill>
                  <a:schemeClr val="tx2"/>
                </a:solidFill>
              </a:rPr>
              <a:t>insertItem</a:t>
            </a:r>
            <a:r>
              <a:rPr lang="en-US" altLang="en-US" sz="1600" dirty="0"/>
              <a:t>(k, o): inserts item (k, o) into the dictionary</a:t>
            </a:r>
          </a:p>
          <a:p>
            <a:pPr lvl="1" eaLnBrk="1" hangingPunct="1">
              <a:lnSpc>
                <a:spcPct val="90000"/>
              </a:lnSpc>
            </a:pPr>
            <a:endParaRPr lang="en-US" altLang="en-US" sz="800" dirty="0"/>
          </a:p>
          <a:p>
            <a:pPr lvl="1" eaLnBrk="1" hangingPunct="1">
              <a:lnSpc>
                <a:spcPct val="90000"/>
              </a:lnSpc>
            </a:pPr>
            <a:r>
              <a:rPr lang="en-US" altLang="en-US" sz="1600" b="1" dirty="0" err="1">
                <a:solidFill>
                  <a:schemeClr val="tx2"/>
                </a:solidFill>
              </a:rPr>
              <a:t>removeElement</a:t>
            </a:r>
            <a:r>
              <a:rPr lang="en-US" altLang="en-US" sz="1600" dirty="0"/>
              <a:t>(k): if the dictionary has an item with key k, removes it from the dictionary and returns its element, else returns the special element NO_SUCH_KEY </a:t>
            </a:r>
          </a:p>
          <a:p>
            <a:pPr lvl="1" eaLnBrk="1" hangingPunct="1">
              <a:lnSpc>
                <a:spcPct val="90000"/>
              </a:lnSpc>
            </a:pPr>
            <a:endParaRPr lang="en-US" altLang="en-US" sz="800" dirty="0"/>
          </a:p>
          <a:p>
            <a:pPr lvl="1" eaLnBrk="1" hangingPunct="1">
              <a:lnSpc>
                <a:spcPct val="90000"/>
              </a:lnSpc>
            </a:pPr>
            <a:r>
              <a:rPr lang="en-US" altLang="en-US" sz="1600" dirty="0">
                <a:solidFill>
                  <a:schemeClr val="tx2"/>
                </a:solidFill>
              </a:rPr>
              <a:t>size</a:t>
            </a:r>
            <a:r>
              <a:rPr lang="en-US" altLang="en-US" sz="1600" dirty="0"/>
              <a:t>(), </a:t>
            </a:r>
            <a:r>
              <a:rPr lang="en-US" altLang="en-US" sz="1600" dirty="0" err="1">
                <a:solidFill>
                  <a:schemeClr val="tx2"/>
                </a:solidFill>
              </a:rPr>
              <a:t>isEmpty</a:t>
            </a:r>
            <a:r>
              <a:rPr lang="en-US" altLang="en-US" sz="1600" dirty="0"/>
              <a:t>()</a:t>
            </a:r>
          </a:p>
          <a:p>
            <a:pPr lvl="1" eaLnBrk="1" hangingPunct="1">
              <a:lnSpc>
                <a:spcPct val="90000"/>
              </a:lnSpc>
            </a:pPr>
            <a:endParaRPr lang="en-US" altLang="en-US" sz="800" dirty="0"/>
          </a:p>
          <a:p>
            <a:pPr lvl="1" eaLnBrk="1" hangingPunct="1">
              <a:lnSpc>
                <a:spcPct val="90000"/>
              </a:lnSpc>
            </a:pPr>
            <a:r>
              <a:rPr lang="en-US" altLang="en-US" sz="1600" dirty="0">
                <a:solidFill>
                  <a:schemeClr val="tx2"/>
                </a:solidFill>
              </a:rPr>
              <a:t>keys</a:t>
            </a:r>
            <a:r>
              <a:rPr lang="en-US" altLang="en-US" sz="1600" dirty="0"/>
              <a:t>(), </a:t>
            </a:r>
            <a:r>
              <a:rPr lang="en-US" altLang="en-US" sz="1600" dirty="0">
                <a:solidFill>
                  <a:schemeClr val="tx2"/>
                </a:solidFill>
              </a:rPr>
              <a:t>elements</a:t>
            </a:r>
            <a:r>
              <a:rPr lang="en-US" altLang="en-US" sz="16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2249ABD-FC53-A95F-DAE6-7C49F5F47CF1}"/>
              </a:ext>
            </a:extLst>
          </p:cNvPr>
          <p:cNvSpPr>
            <a:spLocks noGrp="1" noChangeArrowheads="1"/>
          </p:cNvSpPr>
          <p:nvPr>
            <p:ph type="title"/>
          </p:nvPr>
        </p:nvSpPr>
        <p:spPr/>
        <p:txBody>
          <a:bodyPr/>
          <a:lstStyle/>
          <a:p>
            <a:pPr eaLnBrk="1" hangingPunct="1"/>
            <a:r>
              <a:rPr lang="en-US" altLang="en-US" sz="2400"/>
              <a:t>Log File</a:t>
            </a:r>
          </a:p>
        </p:txBody>
      </p:sp>
      <p:sp>
        <p:nvSpPr>
          <p:cNvPr id="18435" name="Rectangle 3">
            <a:extLst>
              <a:ext uri="{FF2B5EF4-FFF2-40B4-BE49-F238E27FC236}">
                <a16:creationId xmlns:a16="http://schemas.microsoft.com/office/drawing/2014/main" id="{61D52E06-D44D-011D-0FE6-6E5F35EDE920}"/>
              </a:ext>
            </a:extLst>
          </p:cNvPr>
          <p:cNvSpPr>
            <a:spLocks noGrp="1" noChangeArrowheads="1"/>
          </p:cNvSpPr>
          <p:nvPr>
            <p:ph type="body" sz="half" idx="1"/>
          </p:nvPr>
        </p:nvSpPr>
        <p:spPr>
          <a:xfrm>
            <a:off x="762000" y="1371600"/>
            <a:ext cx="7772400" cy="4648200"/>
          </a:xfrm>
        </p:spPr>
        <p:txBody>
          <a:bodyPr/>
          <a:lstStyle/>
          <a:p>
            <a:pPr eaLnBrk="1" hangingPunct="1">
              <a:lnSpc>
                <a:spcPct val="90000"/>
              </a:lnSpc>
            </a:pPr>
            <a:r>
              <a:rPr lang="en-US" altLang="en-US" sz="2000"/>
              <a:t>A log file is a dictionary implemented by means of an </a:t>
            </a:r>
            <a:r>
              <a:rPr lang="en-US" altLang="en-US" sz="2000">
                <a:solidFill>
                  <a:srgbClr val="C00000"/>
                </a:solidFill>
              </a:rPr>
              <a:t>unsorted</a:t>
            </a:r>
            <a:r>
              <a:rPr lang="en-US" altLang="en-US" sz="2000"/>
              <a:t> sequence</a:t>
            </a:r>
          </a:p>
          <a:p>
            <a:pPr lvl="1" eaLnBrk="1" hangingPunct="1">
              <a:lnSpc>
                <a:spcPct val="90000"/>
              </a:lnSpc>
            </a:pPr>
            <a:r>
              <a:rPr lang="en-US" altLang="en-US" sz="1800"/>
              <a:t>We store the items of the dictionary in a sequence (based on a doubly-linked lists or a circular array), </a:t>
            </a:r>
            <a:r>
              <a:rPr lang="en-US" altLang="en-US" sz="1800">
                <a:solidFill>
                  <a:srgbClr val="C00000"/>
                </a:solidFill>
              </a:rPr>
              <a:t>in an arbitrary order</a:t>
            </a:r>
          </a:p>
          <a:p>
            <a:pPr lvl="1" eaLnBrk="1" hangingPunct="1">
              <a:lnSpc>
                <a:spcPct val="90000"/>
              </a:lnSpc>
            </a:pPr>
            <a:endParaRPr lang="en-US" altLang="en-US" sz="1600"/>
          </a:p>
          <a:p>
            <a:pPr eaLnBrk="1" hangingPunct="1">
              <a:lnSpc>
                <a:spcPct val="90000"/>
              </a:lnSpc>
            </a:pPr>
            <a:r>
              <a:rPr lang="en-US" altLang="en-US" sz="2000"/>
              <a:t>Performance:</a:t>
            </a:r>
          </a:p>
          <a:p>
            <a:pPr lvl="1" eaLnBrk="1" hangingPunct="1">
              <a:lnSpc>
                <a:spcPct val="90000"/>
              </a:lnSpc>
            </a:pPr>
            <a:r>
              <a:rPr lang="en-US" altLang="en-US" sz="1800" b="1">
                <a:solidFill>
                  <a:schemeClr val="tx2"/>
                </a:solidFill>
              </a:rPr>
              <a:t>insertItem</a:t>
            </a:r>
            <a:r>
              <a:rPr lang="en-US" altLang="en-US" sz="1800"/>
              <a:t> takes </a:t>
            </a:r>
            <a:r>
              <a:rPr lang="en-US" altLang="en-US" sz="1800" b="1" i="1">
                <a:latin typeface="Times New Roman" panose="02020603050405020304" pitchFamily="18" charset="0"/>
              </a:rPr>
              <a:t>O</a:t>
            </a:r>
            <a:r>
              <a:rPr lang="en-US" altLang="en-US" sz="1800">
                <a:latin typeface="Times New Roman" panose="02020603050405020304" pitchFamily="18" charset="0"/>
              </a:rPr>
              <a:t>(1)</a:t>
            </a:r>
            <a:r>
              <a:rPr lang="en-US" altLang="en-US" sz="1800"/>
              <a:t> time since we can insert the new item at the beginning or at the end of the sequence</a:t>
            </a:r>
          </a:p>
          <a:p>
            <a:pPr lvl="1" eaLnBrk="1" hangingPunct="1">
              <a:lnSpc>
                <a:spcPct val="90000"/>
              </a:lnSpc>
            </a:pPr>
            <a:r>
              <a:rPr lang="en-US" altLang="en-US" sz="1800" b="1">
                <a:solidFill>
                  <a:schemeClr val="tx2"/>
                </a:solidFill>
              </a:rPr>
              <a:t>findElement</a:t>
            </a:r>
            <a:r>
              <a:rPr lang="en-US" altLang="en-US" sz="1800"/>
              <a:t> and </a:t>
            </a:r>
            <a:r>
              <a:rPr lang="en-US" altLang="en-US" sz="1800" b="1">
                <a:solidFill>
                  <a:schemeClr val="tx2"/>
                </a:solidFill>
              </a:rPr>
              <a:t>removeElement</a:t>
            </a:r>
            <a:r>
              <a:rPr lang="en-US" altLang="en-US" sz="1800">
                <a:solidFill>
                  <a:schemeClr val="tx2"/>
                </a:solidFill>
              </a:rPr>
              <a:t> </a:t>
            </a:r>
            <a:r>
              <a:rPr lang="en-US" altLang="en-US" sz="1800"/>
              <a:t>take </a:t>
            </a:r>
            <a:r>
              <a:rPr lang="en-US" altLang="en-US" sz="1800" b="1" i="1">
                <a:latin typeface="Times New Roman" panose="02020603050405020304" pitchFamily="18" charset="0"/>
              </a:rPr>
              <a:t>O</a:t>
            </a:r>
            <a:r>
              <a:rPr lang="en-US" altLang="en-US" sz="1800">
                <a:latin typeface="Times New Roman" panose="02020603050405020304" pitchFamily="18" charset="0"/>
              </a:rPr>
              <a:t>(</a:t>
            </a:r>
            <a:r>
              <a:rPr lang="en-US" altLang="en-US" sz="1800" b="1" i="1">
                <a:latin typeface="Times New Roman" panose="02020603050405020304" pitchFamily="18" charset="0"/>
              </a:rPr>
              <a:t>n</a:t>
            </a:r>
            <a:r>
              <a:rPr lang="en-US" altLang="en-US" sz="1800">
                <a:latin typeface="Times New Roman" panose="02020603050405020304" pitchFamily="18" charset="0"/>
              </a:rPr>
              <a:t>)</a:t>
            </a:r>
            <a:r>
              <a:rPr lang="en-US" altLang="en-US" sz="1800"/>
              <a:t> time since in the worst case (the item is not found) we traverse the entire sequence to look for an item with the given key</a:t>
            </a:r>
          </a:p>
          <a:p>
            <a:pPr lvl="1" eaLnBrk="1" hangingPunct="1">
              <a:lnSpc>
                <a:spcPct val="90000"/>
              </a:lnSpc>
            </a:pPr>
            <a:endParaRPr lang="en-US" altLang="en-US" sz="1600"/>
          </a:p>
          <a:p>
            <a:pPr eaLnBrk="1" hangingPunct="1">
              <a:lnSpc>
                <a:spcPct val="90000"/>
              </a:lnSpc>
            </a:pPr>
            <a:r>
              <a:rPr lang="en-US" altLang="en-US" sz="2000"/>
              <a:t>The log file is effective only for dictionaries of small size or for dictionaries on which insertions are the most common operations, while searches and removals are rarely performed (e.g., historical record of logins to a workstation)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6F7A810-B370-C5FA-B645-542098EA3D4D}"/>
              </a:ext>
            </a:extLst>
          </p:cNvPr>
          <p:cNvSpPr>
            <a:spLocks noGrp="1" noChangeArrowheads="1"/>
          </p:cNvSpPr>
          <p:nvPr>
            <p:ph type="title"/>
          </p:nvPr>
        </p:nvSpPr>
        <p:spPr>
          <a:xfrm>
            <a:off x="1143000" y="228600"/>
            <a:ext cx="7086600" cy="838200"/>
          </a:xfrm>
        </p:spPr>
        <p:txBody>
          <a:bodyPr/>
          <a:lstStyle/>
          <a:p>
            <a:pPr eaLnBrk="1" hangingPunct="1"/>
            <a:r>
              <a:rPr lang="en-US" altLang="en-US" sz="2400"/>
              <a:t>Hash Functions and Hash Tables</a:t>
            </a:r>
          </a:p>
        </p:txBody>
      </p:sp>
      <p:sp>
        <p:nvSpPr>
          <p:cNvPr id="19459" name="Rectangle 3">
            <a:extLst>
              <a:ext uri="{FF2B5EF4-FFF2-40B4-BE49-F238E27FC236}">
                <a16:creationId xmlns:a16="http://schemas.microsoft.com/office/drawing/2014/main" id="{383234E0-AB69-24A8-91D0-B850E08DEBDB}"/>
              </a:ext>
            </a:extLst>
          </p:cNvPr>
          <p:cNvSpPr>
            <a:spLocks noGrp="1" noChangeArrowheads="1"/>
          </p:cNvSpPr>
          <p:nvPr>
            <p:ph type="body" sz="half" idx="1"/>
          </p:nvPr>
        </p:nvSpPr>
        <p:spPr>
          <a:xfrm>
            <a:off x="685800" y="1295400"/>
            <a:ext cx="8001000" cy="2895600"/>
          </a:xfrm>
        </p:spPr>
        <p:txBody>
          <a:bodyPr/>
          <a:lstStyle/>
          <a:p>
            <a:pPr eaLnBrk="1" hangingPunct="1"/>
            <a:r>
              <a:rPr lang="en-US" altLang="en-US" sz="1800"/>
              <a:t>A </a:t>
            </a:r>
            <a:r>
              <a:rPr lang="en-US" altLang="en-US" sz="1800">
                <a:solidFill>
                  <a:srgbClr val="FF0066"/>
                </a:solidFill>
              </a:rPr>
              <a:t>hash function</a:t>
            </a:r>
            <a:r>
              <a:rPr lang="en-US" altLang="en-US" sz="1800"/>
              <a:t> </a:t>
            </a:r>
            <a:r>
              <a:rPr lang="en-US" altLang="en-US" sz="1800" b="1" i="1">
                <a:latin typeface="Times New Roman" panose="02020603050405020304" pitchFamily="18" charset="0"/>
              </a:rPr>
              <a:t>h</a:t>
            </a:r>
            <a:r>
              <a:rPr lang="en-US" altLang="en-US" sz="1800"/>
              <a:t> maps keys of a given type to integers in </a:t>
            </a:r>
            <a:r>
              <a:rPr lang="en-US" altLang="en-US" sz="1800">
                <a:latin typeface="Times New Roman" panose="02020603050405020304" pitchFamily="18" charset="0"/>
              </a:rPr>
              <a:t>[0, </a:t>
            </a:r>
            <a:r>
              <a:rPr lang="en-US" altLang="en-US" sz="1800" b="1" i="1">
                <a:latin typeface="Times New Roman" panose="02020603050405020304" pitchFamily="18" charset="0"/>
              </a:rPr>
              <a:t>N</a:t>
            </a:r>
            <a:r>
              <a:rPr lang="en-US" altLang="en-US" sz="1800" b="1" i="1">
                <a:latin typeface="Symbol" pitchFamily="2" charset="2"/>
              </a:rPr>
              <a:t> </a:t>
            </a:r>
            <a:r>
              <a:rPr lang="en-US" altLang="en-US" sz="1800">
                <a:latin typeface="Symbol" pitchFamily="2" charset="2"/>
              </a:rPr>
              <a:t>- </a:t>
            </a:r>
            <a:r>
              <a:rPr lang="en-US" altLang="en-US" sz="1800">
                <a:latin typeface="Times New Roman" panose="02020603050405020304" pitchFamily="18" charset="0"/>
              </a:rPr>
              <a:t>1]</a:t>
            </a:r>
          </a:p>
          <a:p>
            <a:pPr eaLnBrk="1" hangingPunct="1"/>
            <a:endParaRPr lang="en-US" altLang="en-US" sz="1800">
              <a:latin typeface="Times New Roman" panose="02020603050405020304" pitchFamily="18" charset="0"/>
            </a:endParaRPr>
          </a:p>
          <a:p>
            <a:pPr eaLnBrk="1" hangingPunct="1"/>
            <a:r>
              <a:rPr lang="en-US" altLang="en-US" sz="1800">
                <a:latin typeface="Verdana" panose="020B0604030504040204" pitchFamily="34" charset="0"/>
              </a:rPr>
              <a:t>Example:</a:t>
            </a:r>
            <a:br>
              <a:rPr lang="en-US" altLang="en-US" sz="1800">
                <a:latin typeface="Verdana" panose="020B0604030504040204" pitchFamily="34" charset="0"/>
              </a:rPr>
            </a:br>
            <a:r>
              <a:rPr lang="en-US" altLang="en-US" sz="1800">
                <a:latin typeface="Verdana" panose="020B0604030504040204" pitchFamily="34" charset="0"/>
              </a:rPr>
              <a:t>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x</a:t>
            </a:r>
            <a:r>
              <a:rPr lang="en-US" altLang="en-US" sz="1800">
                <a:latin typeface="Times New Roman" panose="02020603050405020304" pitchFamily="18" charset="0"/>
              </a:rPr>
              <a:t> mod </a:t>
            </a:r>
            <a:r>
              <a:rPr lang="en-US" altLang="en-US" sz="1800" b="1" i="1">
                <a:latin typeface="Times New Roman" panose="02020603050405020304" pitchFamily="18" charset="0"/>
              </a:rPr>
              <a:t>N</a:t>
            </a:r>
            <a:br>
              <a:rPr lang="en-US" altLang="en-US" sz="1800" b="1" i="1">
                <a:latin typeface="Times New Roman" panose="02020603050405020304" pitchFamily="18" charset="0"/>
              </a:rPr>
            </a:br>
            <a:r>
              <a:rPr lang="en-US" altLang="en-US" sz="1800">
                <a:latin typeface="Verdana" panose="020B0604030504040204" pitchFamily="34" charset="0"/>
              </a:rPr>
              <a:t>is a hash function for integer keys</a:t>
            </a:r>
          </a:p>
          <a:p>
            <a:pPr eaLnBrk="1" hangingPunct="1"/>
            <a:endParaRPr lang="en-US" altLang="en-US" sz="1800">
              <a:latin typeface="Verdana" panose="020B0604030504040204" pitchFamily="34" charset="0"/>
            </a:endParaRPr>
          </a:p>
          <a:p>
            <a:pPr eaLnBrk="1" hangingPunct="1"/>
            <a:r>
              <a:rPr lang="en-US" altLang="en-US" sz="1800">
                <a:latin typeface="Verdana" panose="020B0604030504040204" pitchFamily="34" charset="0"/>
              </a:rPr>
              <a:t>The integer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a:t>
            </a:r>
            <a:r>
              <a:rPr lang="en-US" altLang="en-US" sz="1800">
                <a:latin typeface="Verdana" panose="020B0604030504040204" pitchFamily="34" charset="0"/>
              </a:rPr>
              <a:t> is called the </a:t>
            </a:r>
            <a:r>
              <a:rPr lang="en-US" altLang="en-US" sz="1800">
                <a:solidFill>
                  <a:srgbClr val="FF0066"/>
                </a:solidFill>
                <a:latin typeface="Verdana" panose="020B0604030504040204" pitchFamily="34" charset="0"/>
              </a:rPr>
              <a:t>hash value</a:t>
            </a:r>
            <a:r>
              <a:rPr lang="en-US" altLang="en-US" sz="1800">
                <a:latin typeface="Verdana" panose="020B0604030504040204" pitchFamily="34" charset="0"/>
              </a:rPr>
              <a:t> of key </a:t>
            </a:r>
            <a:r>
              <a:rPr lang="en-US" altLang="en-US" sz="1800" b="1" i="1">
                <a:latin typeface="Times New Roman" panose="02020603050405020304" pitchFamily="18" charset="0"/>
              </a:rPr>
              <a:t>x</a:t>
            </a:r>
          </a:p>
        </p:txBody>
      </p:sp>
      <p:sp>
        <p:nvSpPr>
          <p:cNvPr id="19460" name="Rectangle 4">
            <a:extLst>
              <a:ext uri="{FF2B5EF4-FFF2-40B4-BE49-F238E27FC236}">
                <a16:creationId xmlns:a16="http://schemas.microsoft.com/office/drawing/2014/main" id="{62500964-7575-7074-4DF1-FB122EBAEF36}"/>
              </a:ext>
            </a:extLst>
          </p:cNvPr>
          <p:cNvSpPr>
            <a:spLocks noGrp="1" noChangeArrowheads="1"/>
          </p:cNvSpPr>
          <p:nvPr>
            <p:ph type="body" sz="half" idx="2"/>
          </p:nvPr>
        </p:nvSpPr>
        <p:spPr>
          <a:xfrm>
            <a:off x="685800" y="4343400"/>
            <a:ext cx="7848600" cy="2133600"/>
          </a:xfrm>
        </p:spPr>
        <p:txBody>
          <a:bodyPr/>
          <a:lstStyle/>
          <a:p>
            <a:pPr eaLnBrk="1" hangingPunct="1">
              <a:lnSpc>
                <a:spcPct val="90000"/>
              </a:lnSpc>
            </a:pPr>
            <a:r>
              <a:rPr lang="en-US" altLang="en-US" sz="1800">
                <a:latin typeface="Verdana" panose="020B0604030504040204" pitchFamily="34" charset="0"/>
              </a:rPr>
              <a:t>A </a:t>
            </a:r>
            <a:r>
              <a:rPr lang="en-US" altLang="en-US" sz="1800">
                <a:solidFill>
                  <a:srgbClr val="FF0066"/>
                </a:solidFill>
                <a:latin typeface="Verdana" panose="020B0604030504040204" pitchFamily="34" charset="0"/>
              </a:rPr>
              <a:t>hash table</a:t>
            </a:r>
            <a:r>
              <a:rPr lang="en-US" altLang="en-US" sz="1800">
                <a:latin typeface="Verdana" panose="020B0604030504040204" pitchFamily="34" charset="0"/>
              </a:rPr>
              <a:t> for a given key type consists of</a:t>
            </a:r>
          </a:p>
          <a:p>
            <a:pPr lvl="1" eaLnBrk="1" hangingPunct="1">
              <a:lnSpc>
                <a:spcPct val="90000"/>
              </a:lnSpc>
            </a:pPr>
            <a:r>
              <a:rPr lang="en-US" altLang="en-US" sz="1800">
                <a:latin typeface="Verdana" panose="020B0604030504040204" pitchFamily="34" charset="0"/>
              </a:rPr>
              <a:t>Hash function </a:t>
            </a:r>
            <a:r>
              <a:rPr lang="en-US" altLang="en-US" sz="1800" b="1" i="1">
                <a:latin typeface="Times New Roman" panose="02020603050405020304" pitchFamily="18" charset="0"/>
              </a:rPr>
              <a:t>h</a:t>
            </a:r>
            <a:endParaRPr lang="en-US" altLang="en-US" sz="1800"/>
          </a:p>
          <a:p>
            <a:pPr lvl="1" eaLnBrk="1" hangingPunct="1">
              <a:lnSpc>
                <a:spcPct val="90000"/>
              </a:lnSpc>
            </a:pPr>
            <a:r>
              <a:rPr lang="en-US" altLang="en-US" sz="1800"/>
              <a:t>Array (called table) of size </a:t>
            </a:r>
            <a:r>
              <a:rPr lang="en-US" altLang="en-US" sz="1800" b="1" i="1">
                <a:latin typeface="Times New Roman" panose="02020603050405020304" pitchFamily="18" charset="0"/>
              </a:rPr>
              <a:t>N</a:t>
            </a:r>
          </a:p>
          <a:p>
            <a:pPr lvl="1" eaLnBrk="1" hangingPunct="1">
              <a:lnSpc>
                <a:spcPct val="90000"/>
              </a:lnSpc>
            </a:pPr>
            <a:endParaRPr lang="en-US" altLang="en-US" sz="1800" b="1" i="1">
              <a:latin typeface="Times New Roman" panose="02020603050405020304" pitchFamily="18" charset="0"/>
            </a:endParaRPr>
          </a:p>
          <a:p>
            <a:pPr eaLnBrk="1" hangingPunct="1">
              <a:lnSpc>
                <a:spcPct val="90000"/>
              </a:lnSpc>
            </a:pPr>
            <a:r>
              <a:rPr lang="en-US" altLang="en-US" sz="1800"/>
              <a:t>When implementing a dictionary with a hash table, the goal is to store item </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b="1" i="1">
                <a:latin typeface="Times New Roman" panose="02020603050405020304" pitchFamily="18" charset="0"/>
              </a:rPr>
              <a:t>o</a:t>
            </a:r>
            <a:r>
              <a:rPr lang="en-US" altLang="en-US" sz="1800">
                <a:latin typeface="Times New Roman" panose="02020603050405020304" pitchFamily="18" charset="0"/>
              </a:rPr>
              <a:t>)</a:t>
            </a:r>
            <a:r>
              <a:rPr lang="en-US" altLang="en-US" sz="1800"/>
              <a:t> at index </a:t>
            </a:r>
            <a:r>
              <a:rPr lang="en-US" altLang="en-US" sz="1800" b="1" i="1">
                <a:latin typeface="Times New Roman" panose="02020603050405020304" pitchFamily="18" charset="0"/>
              </a:rPr>
              <a:t>i</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a:t>
            </a:r>
          </a:p>
          <a:p>
            <a:pPr lvl="1" eaLnBrk="1" hangingPunct="1">
              <a:lnSpc>
                <a:spcPct val="90000"/>
              </a:lnSpc>
            </a:pPr>
            <a:endParaRPr lang="en-US" altLang="en-US" sz="1800">
              <a:latin typeface="Verdan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FFDB124-1057-42AF-45E8-0880A1BFE5FD}"/>
              </a:ext>
            </a:extLst>
          </p:cNvPr>
          <p:cNvSpPr>
            <a:spLocks noGrp="1" noChangeArrowheads="1"/>
          </p:cNvSpPr>
          <p:nvPr>
            <p:ph type="title"/>
          </p:nvPr>
        </p:nvSpPr>
        <p:spPr/>
        <p:txBody>
          <a:bodyPr/>
          <a:lstStyle/>
          <a:p>
            <a:pPr eaLnBrk="1" hangingPunct="1"/>
            <a:r>
              <a:rPr lang="en-US" altLang="en-US" sz="2400"/>
              <a:t>Example</a:t>
            </a:r>
          </a:p>
        </p:txBody>
      </p:sp>
      <p:sp>
        <p:nvSpPr>
          <p:cNvPr id="20483" name="Rectangle 3">
            <a:extLst>
              <a:ext uri="{FF2B5EF4-FFF2-40B4-BE49-F238E27FC236}">
                <a16:creationId xmlns:a16="http://schemas.microsoft.com/office/drawing/2014/main" id="{E315CCF8-C9D0-0A67-F148-924DD13E284A}"/>
              </a:ext>
            </a:extLst>
          </p:cNvPr>
          <p:cNvSpPr>
            <a:spLocks noGrp="1" noChangeArrowheads="1"/>
          </p:cNvSpPr>
          <p:nvPr>
            <p:ph type="body" idx="1"/>
          </p:nvPr>
        </p:nvSpPr>
        <p:spPr>
          <a:xfrm>
            <a:off x="685800" y="1828800"/>
            <a:ext cx="4343400" cy="4419600"/>
          </a:xfrm>
        </p:spPr>
        <p:txBody>
          <a:bodyPr/>
          <a:lstStyle/>
          <a:p>
            <a:pPr eaLnBrk="1" hangingPunct="1"/>
            <a:r>
              <a:rPr lang="en-US" altLang="en-US" sz="2000"/>
              <a:t>We design a hash table for a dictionary storing items (SSN, Name), where SSN (social security number) is a nine-digit positive integer</a:t>
            </a:r>
          </a:p>
          <a:p>
            <a:pPr eaLnBrk="1" hangingPunct="1"/>
            <a:endParaRPr lang="en-US" altLang="en-US" sz="2000"/>
          </a:p>
          <a:p>
            <a:pPr eaLnBrk="1" hangingPunct="1"/>
            <a:r>
              <a:rPr lang="en-US" altLang="en-US" sz="2000"/>
              <a:t>Our hash table uses an array of size</a:t>
            </a:r>
            <a:r>
              <a:rPr lang="en-US" altLang="en-US" sz="2000">
                <a:latin typeface="Times New Roman" panose="02020603050405020304" pitchFamily="18" charset="0"/>
              </a:rPr>
              <a:t> </a:t>
            </a:r>
            <a:r>
              <a:rPr lang="en-US" altLang="en-US" sz="2000" b="1" i="1">
                <a:latin typeface="Times New Roman" panose="02020603050405020304" pitchFamily="18" charset="0"/>
              </a:rPr>
              <a:t>N</a:t>
            </a:r>
            <a:r>
              <a:rPr lang="en-US" altLang="en-US" sz="2000" b="1" i="1">
                <a:latin typeface="Symbol" pitchFamily="2" charset="2"/>
              </a:rPr>
              <a:t> </a:t>
            </a:r>
            <a:r>
              <a:rPr lang="en-US" altLang="en-US" sz="2000">
                <a:latin typeface="Symbol" pitchFamily="2" charset="2"/>
              </a:rPr>
              <a:t>= </a:t>
            </a:r>
            <a:r>
              <a:rPr lang="en-US" altLang="en-US" sz="2000">
                <a:latin typeface="Times New Roman" panose="02020603050405020304" pitchFamily="18" charset="0"/>
              </a:rPr>
              <a:t>10,000</a:t>
            </a:r>
            <a:r>
              <a:rPr lang="en-US" altLang="en-US" sz="2000"/>
              <a:t> and the hash function:</a:t>
            </a:r>
          </a:p>
          <a:p>
            <a:pPr eaLnBrk="1" hangingPunct="1">
              <a:buFontTx/>
              <a:buNone/>
            </a:pPr>
            <a:br>
              <a:rPr lang="en-US" altLang="en-US" sz="1200"/>
            </a:br>
            <a:r>
              <a:rPr lang="en-US" altLang="en-US" sz="2000" b="1" i="1">
                <a:latin typeface="Times New Roman" panose="02020603050405020304" pitchFamily="18" charset="0"/>
              </a:rPr>
              <a:t>h</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a:t>
            </a:r>
            <a:r>
              <a:rPr lang="en-US" altLang="en-US" sz="2000">
                <a:latin typeface="Symbol" pitchFamily="2" charset="2"/>
              </a:rPr>
              <a:t> = </a:t>
            </a:r>
            <a:r>
              <a:rPr lang="en-US" altLang="en-US" sz="2000">
                <a:latin typeface="Times New Roman" panose="02020603050405020304" pitchFamily="18" charset="0"/>
              </a:rPr>
              <a:t>last four digits of </a:t>
            </a:r>
            <a:r>
              <a:rPr lang="en-US" altLang="en-US" sz="2000" b="1" i="1">
                <a:latin typeface="Times New Roman" panose="02020603050405020304" pitchFamily="18" charset="0"/>
              </a:rPr>
              <a:t>x</a:t>
            </a:r>
          </a:p>
        </p:txBody>
      </p:sp>
      <p:grpSp>
        <p:nvGrpSpPr>
          <p:cNvPr id="20484" name="Group 4">
            <a:extLst>
              <a:ext uri="{FF2B5EF4-FFF2-40B4-BE49-F238E27FC236}">
                <a16:creationId xmlns:a16="http://schemas.microsoft.com/office/drawing/2014/main" id="{46BDD158-F621-C467-DADF-E6463F5E2641}"/>
              </a:ext>
            </a:extLst>
          </p:cNvPr>
          <p:cNvGrpSpPr>
            <a:grpSpLocks/>
          </p:cNvGrpSpPr>
          <p:nvPr/>
        </p:nvGrpSpPr>
        <p:grpSpPr bwMode="auto">
          <a:xfrm>
            <a:off x="5257800" y="1828800"/>
            <a:ext cx="2978150" cy="3200400"/>
            <a:chOff x="2496" y="1488"/>
            <a:chExt cx="1876" cy="2016"/>
          </a:xfrm>
        </p:grpSpPr>
        <p:sp>
          <p:nvSpPr>
            <p:cNvPr id="20485" name="Rectangle 5">
              <a:extLst>
                <a:ext uri="{FF2B5EF4-FFF2-40B4-BE49-F238E27FC236}">
                  <a16:creationId xmlns:a16="http://schemas.microsoft.com/office/drawing/2014/main" id="{9F1BAA59-F507-3D0E-E99B-91D0009E5D91}"/>
                </a:ext>
              </a:extLst>
            </p:cNvPr>
            <p:cNvSpPr>
              <a:spLocks noChangeArrowheads="1"/>
            </p:cNvSpPr>
            <p:nvPr/>
          </p:nvSpPr>
          <p:spPr bwMode="auto">
            <a:xfrm>
              <a:off x="2996" y="153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endParaRPr lang="en-US" altLang="en-US">
                <a:latin typeface="Tahoma" panose="020B0604030504040204" pitchFamily="34" charset="0"/>
              </a:endParaRPr>
            </a:p>
          </p:txBody>
        </p:sp>
        <p:sp>
          <p:nvSpPr>
            <p:cNvPr id="20486" name="Rectangle 6">
              <a:extLst>
                <a:ext uri="{FF2B5EF4-FFF2-40B4-BE49-F238E27FC236}">
                  <a16:creationId xmlns:a16="http://schemas.microsoft.com/office/drawing/2014/main" id="{D5989485-9447-F19B-506C-D195543D391C}"/>
                </a:ext>
              </a:extLst>
            </p:cNvPr>
            <p:cNvSpPr>
              <a:spLocks noChangeArrowheads="1"/>
            </p:cNvSpPr>
            <p:nvPr/>
          </p:nvSpPr>
          <p:spPr bwMode="auto">
            <a:xfrm>
              <a:off x="2996" y="172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87" name="Rectangle 7">
              <a:extLst>
                <a:ext uri="{FF2B5EF4-FFF2-40B4-BE49-F238E27FC236}">
                  <a16:creationId xmlns:a16="http://schemas.microsoft.com/office/drawing/2014/main" id="{0F2551B8-943A-7279-585B-E84AD620345A}"/>
                </a:ext>
              </a:extLst>
            </p:cNvPr>
            <p:cNvSpPr>
              <a:spLocks noChangeArrowheads="1"/>
            </p:cNvSpPr>
            <p:nvPr/>
          </p:nvSpPr>
          <p:spPr bwMode="auto">
            <a:xfrm>
              <a:off x="2996" y="192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Tahoma" panose="020B0604030504040204" pitchFamily="34" charset="0"/>
                <a:sym typeface="Symbol" pitchFamily="2" charset="2"/>
              </a:endParaRPr>
            </a:p>
          </p:txBody>
        </p:sp>
        <p:sp>
          <p:nvSpPr>
            <p:cNvPr id="20488" name="Rectangle 8">
              <a:extLst>
                <a:ext uri="{FF2B5EF4-FFF2-40B4-BE49-F238E27FC236}">
                  <a16:creationId xmlns:a16="http://schemas.microsoft.com/office/drawing/2014/main" id="{B589945B-243C-3F88-BE55-149FAE214770}"/>
                </a:ext>
              </a:extLst>
            </p:cNvPr>
            <p:cNvSpPr>
              <a:spLocks noChangeArrowheads="1"/>
            </p:cNvSpPr>
            <p:nvPr/>
          </p:nvSpPr>
          <p:spPr bwMode="auto">
            <a:xfrm>
              <a:off x="2996" y="211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89" name="Rectangle 9">
              <a:extLst>
                <a:ext uri="{FF2B5EF4-FFF2-40B4-BE49-F238E27FC236}">
                  <a16:creationId xmlns:a16="http://schemas.microsoft.com/office/drawing/2014/main" id="{277EBA7F-A052-3C45-060A-526AA2661C92}"/>
                </a:ext>
              </a:extLst>
            </p:cNvPr>
            <p:cNvSpPr>
              <a:spLocks noChangeArrowheads="1"/>
            </p:cNvSpPr>
            <p:nvPr/>
          </p:nvSpPr>
          <p:spPr bwMode="auto">
            <a:xfrm>
              <a:off x="2996" y="230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90" name="Rectangle 10">
              <a:extLst>
                <a:ext uri="{FF2B5EF4-FFF2-40B4-BE49-F238E27FC236}">
                  <a16:creationId xmlns:a16="http://schemas.microsoft.com/office/drawing/2014/main" id="{302BB9C1-7CEF-8A33-74DB-4B6E67627B86}"/>
                </a:ext>
              </a:extLst>
            </p:cNvPr>
            <p:cNvSpPr>
              <a:spLocks noChangeArrowheads="1"/>
            </p:cNvSpPr>
            <p:nvPr/>
          </p:nvSpPr>
          <p:spPr bwMode="auto">
            <a:xfrm>
              <a:off x="2996" y="307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91" name="Rectangle 11">
              <a:extLst>
                <a:ext uri="{FF2B5EF4-FFF2-40B4-BE49-F238E27FC236}">
                  <a16:creationId xmlns:a16="http://schemas.microsoft.com/office/drawing/2014/main" id="{56063160-390B-8CF2-CDBF-76EF0930DF6D}"/>
                </a:ext>
              </a:extLst>
            </p:cNvPr>
            <p:cNvSpPr>
              <a:spLocks noChangeArrowheads="1"/>
            </p:cNvSpPr>
            <p:nvPr/>
          </p:nvSpPr>
          <p:spPr bwMode="auto">
            <a:xfrm>
              <a:off x="2996" y="288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92" name="Rectangle 12">
              <a:extLst>
                <a:ext uri="{FF2B5EF4-FFF2-40B4-BE49-F238E27FC236}">
                  <a16:creationId xmlns:a16="http://schemas.microsoft.com/office/drawing/2014/main" id="{0C33E915-D75A-951B-E907-2AB3DE817C0D}"/>
                </a:ext>
              </a:extLst>
            </p:cNvPr>
            <p:cNvSpPr>
              <a:spLocks noChangeArrowheads="1"/>
            </p:cNvSpPr>
            <p:nvPr/>
          </p:nvSpPr>
          <p:spPr bwMode="auto">
            <a:xfrm>
              <a:off x="2996" y="326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0493" name="Text Box 13">
              <a:extLst>
                <a:ext uri="{FF2B5EF4-FFF2-40B4-BE49-F238E27FC236}">
                  <a16:creationId xmlns:a16="http://schemas.microsoft.com/office/drawing/2014/main" id="{67BE235E-86DD-ABDB-DD28-7283CE060B19}"/>
                </a:ext>
              </a:extLst>
            </p:cNvPr>
            <p:cNvSpPr txBox="1">
              <a:spLocks noChangeArrowheads="1"/>
            </p:cNvSpPr>
            <p:nvPr/>
          </p:nvSpPr>
          <p:spPr bwMode="auto">
            <a:xfrm>
              <a:off x="2784"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0</a:t>
              </a:r>
            </a:p>
          </p:txBody>
        </p:sp>
        <p:sp>
          <p:nvSpPr>
            <p:cNvPr id="20494" name="Text Box 14">
              <a:extLst>
                <a:ext uri="{FF2B5EF4-FFF2-40B4-BE49-F238E27FC236}">
                  <a16:creationId xmlns:a16="http://schemas.microsoft.com/office/drawing/2014/main" id="{81A61A06-0F59-9F73-C412-E2679A532C4A}"/>
                </a:ext>
              </a:extLst>
            </p:cNvPr>
            <p:cNvSpPr txBox="1">
              <a:spLocks noChangeArrowheads="1"/>
            </p:cNvSpPr>
            <p:nvPr/>
          </p:nvSpPr>
          <p:spPr bwMode="auto">
            <a:xfrm>
              <a:off x="2784" y="16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1</a:t>
              </a:r>
            </a:p>
          </p:txBody>
        </p:sp>
        <p:sp>
          <p:nvSpPr>
            <p:cNvPr id="20495" name="Text Box 15">
              <a:extLst>
                <a:ext uri="{FF2B5EF4-FFF2-40B4-BE49-F238E27FC236}">
                  <a16:creationId xmlns:a16="http://schemas.microsoft.com/office/drawing/2014/main" id="{E16AAE09-13C5-465D-F9A4-9C5B7DFE4B01}"/>
                </a:ext>
              </a:extLst>
            </p:cNvPr>
            <p:cNvSpPr txBox="1">
              <a:spLocks noChangeArrowheads="1"/>
            </p:cNvSpPr>
            <p:nvPr/>
          </p:nvSpPr>
          <p:spPr bwMode="auto">
            <a:xfrm>
              <a:off x="2784" y="187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2</a:t>
              </a:r>
            </a:p>
          </p:txBody>
        </p:sp>
        <p:sp>
          <p:nvSpPr>
            <p:cNvPr id="20496" name="Text Box 16">
              <a:extLst>
                <a:ext uri="{FF2B5EF4-FFF2-40B4-BE49-F238E27FC236}">
                  <a16:creationId xmlns:a16="http://schemas.microsoft.com/office/drawing/2014/main" id="{76837A8F-246D-60CD-6AA6-926F036D58A6}"/>
                </a:ext>
              </a:extLst>
            </p:cNvPr>
            <p:cNvSpPr txBox="1">
              <a:spLocks noChangeArrowheads="1"/>
            </p:cNvSpPr>
            <p:nvPr/>
          </p:nvSpPr>
          <p:spPr bwMode="auto">
            <a:xfrm>
              <a:off x="2784" y="20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3</a:t>
              </a:r>
            </a:p>
          </p:txBody>
        </p:sp>
        <p:sp>
          <p:nvSpPr>
            <p:cNvPr id="20497" name="Text Box 17">
              <a:extLst>
                <a:ext uri="{FF2B5EF4-FFF2-40B4-BE49-F238E27FC236}">
                  <a16:creationId xmlns:a16="http://schemas.microsoft.com/office/drawing/2014/main" id="{778A30E7-5E61-E083-7310-B991BAE01EDC}"/>
                </a:ext>
              </a:extLst>
            </p:cNvPr>
            <p:cNvSpPr txBox="1">
              <a:spLocks noChangeArrowheads="1"/>
            </p:cNvSpPr>
            <p:nvPr/>
          </p:nvSpPr>
          <p:spPr bwMode="auto">
            <a:xfrm>
              <a:off x="278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4</a:t>
              </a:r>
            </a:p>
          </p:txBody>
        </p:sp>
        <p:sp>
          <p:nvSpPr>
            <p:cNvPr id="20498" name="Text Box 18">
              <a:extLst>
                <a:ext uri="{FF2B5EF4-FFF2-40B4-BE49-F238E27FC236}">
                  <a16:creationId xmlns:a16="http://schemas.microsoft.com/office/drawing/2014/main" id="{7A1696E3-A575-9490-13B0-441776D544CB}"/>
                </a:ext>
              </a:extLst>
            </p:cNvPr>
            <p:cNvSpPr txBox="1">
              <a:spLocks noChangeArrowheads="1"/>
            </p:cNvSpPr>
            <p:nvPr/>
          </p:nvSpPr>
          <p:spPr bwMode="auto">
            <a:xfrm>
              <a:off x="2496" y="283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2400">
                  <a:latin typeface="Times New Roman" panose="02020603050405020304" pitchFamily="18" charset="0"/>
                </a:rPr>
                <a:t>9997</a:t>
              </a:r>
            </a:p>
          </p:txBody>
        </p:sp>
        <p:sp>
          <p:nvSpPr>
            <p:cNvPr id="20499" name="Text Box 19">
              <a:extLst>
                <a:ext uri="{FF2B5EF4-FFF2-40B4-BE49-F238E27FC236}">
                  <a16:creationId xmlns:a16="http://schemas.microsoft.com/office/drawing/2014/main" id="{A6B38322-0D23-2EDB-6E44-17E9EBFC6510}"/>
                </a:ext>
              </a:extLst>
            </p:cNvPr>
            <p:cNvSpPr txBox="1">
              <a:spLocks noChangeArrowheads="1"/>
            </p:cNvSpPr>
            <p:nvPr/>
          </p:nvSpPr>
          <p:spPr bwMode="auto">
            <a:xfrm>
              <a:off x="2496" y="302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9998</a:t>
              </a:r>
            </a:p>
          </p:txBody>
        </p:sp>
        <p:sp>
          <p:nvSpPr>
            <p:cNvPr id="20500" name="Text Box 20">
              <a:extLst>
                <a:ext uri="{FF2B5EF4-FFF2-40B4-BE49-F238E27FC236}">
                  <a16:creationId xmlns:a16="http://schemas.microsoft.com/office/drawing/2014/main" id="{16AF1558-0578-4260-EB86-CA907D7C8E6F}"/>
                </a:ext>
              </a:extLst>
            </p:cNvPr>
            <p:cNvSpPr txBox="1">
              <a:spLocks noChangeArrowheads="1"/>
            </p:cNvSpPr>
            <p:nvPr/>
          </p:nvSpPr>
          <p:spPr bwMode="auto">
            <a:xfrm>
              <a:off x="2496" y="321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9999</a:t>
              </a:r>
            </a:p>
          </p:txBody>
        </p:sp>
        <p:sp>
          <p:nvSpPr>
            <p:cNvPr id="20501" name="Text Box 21">
              <a:extLst>
                <a:ext uri="{FF2B5EF4-FFF2-40B4-BE49-F238E27FC236}">
                  <a16:creationId xmlns:a16="http://schemas.microsoft.com/office/drawing/2014/main" id="{01B5E3DA-1A48-29B4-F532-7ADA22B9BE6F}"/>
                </a:ext>
              </a:extLst>
            </p:cNvPr>
            <p:cNvSpPr txBox="1">
              <a:spLocks noChangeArrowheads="1"/>
            </p:cNvSpPr>
            <p:nvPr/>
          </p:nvSpPr>
          <p:spPr bwMode="auto">
            <a:xfrm rot="5400000">
              <a:off x="2986" y="254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a:t>
              </a:r>
            </a:p>
          </p:txBody>
        </p:sp>
        <p:sp>
          <p:nvSpPr>
            <p:cNvPr id="20502" name="AutoShape 22">
              <a:extLst>
                <a:ext uri="{FF2B5EF4-FFF2-40B4-BE49-F238E27FC236}">
                  <a16:creationId xmlns:a16="http://schemas.microsoft.com/office/drawing/2014/main" id="{4A83FE29-0F97-D6E2-E2CC-FE8DEAB63B24}"/>
                </a:ext>
              </a:extLst>
            </p:cNvPr>
            <p:cNvSpPr>
              <a:spLocks noChangeArrowheads="1"/>
            </p:cNvSpPr>
            <p:nvPr/>
          </p:nvSpPr>
          <p:spPr bwMode="auto">
            <a:xfrm>
              <a:off x="3360" y="2304"/>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451-229-0004</a:t>
              </a:r>
            </a:p>
          </p:txBody>
        </p:sp>
        <p:sp>
          <p:nvSpPr>
            <p:cNvPr id="20503" name="AutoShape 23">
              <a:extLst>
                <a:ext uri="{FF2B5EF4-FFF2-40B4-BE49-F238E27FC236}">
                  <a16:creationId xmlns:a16="http://schemas.microsoft.com/office/drawing/2014/main" id="{5E64B7F3-40D1-185C-04DB-504610DA69F6}"/>
                </a:ext>
              </a:extLst>
            </p:cNvPr>
            <p:cNvSpPr>
              <a:spLocks noChangeArrowheads="1"/>
            </p:cNvSpPr>
            <p:nvPr/>
          </p:nvSpPr>
          <p:spPr bwMode="auto">
            <a:xfrm>
              <a:off x="3360" y="1920"/>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981-101-0002</a:t>
              </a:r>
            </a:p>
          </p:txBody>
        </p:sp>
        <p:sp>
          <p:nvSpPr>
            <p:cNvPr id="20504" name="Line 24">
              <a:extLst>
                <a:ext uri="{FF2B5EF4-FFF2-40B4-BE49-F238E27FC236}">
                  <a16:creationId xmlns:a16="http://schemas.microsoft.com/office/drawing/2014/main" id="{68C74EBC-F134-2384-772C-647F4A1F43A6}"/>
                </a:ext>
              </a:extLst>
            </p:cNvPr>
            <p:cNvSpPr>
              <a:spLocks noChangeShapeType="1"/>
            </p:cNvSpPr>
            <p:nvPr/>
          </p:nvSpPr>
          <p:spPr bwMode="auto">
            <a:xfrm>
              <a:off x="3092" y="2400"/>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5" name="AutoShape 25">
              <a:extLst>
                <a:ext uri="{FF2B5EF4-FFF2-40B4-BE49-F238E27FC236}">
                  <a16:creationId xmlns:a16="http://schemas.microsoft.com/office/drawing/2014/main" id="{EF8845B0-3B6B-6E3C-239A-C3298BA20AA5}"/>
                </a:ext>
              </a:extLst>
            </p:cNvPr>
            <p:cNvSpPr>
              <a:spLocks noChangeArrowheads="1"/>
            </p:cNvSpPr>
            <p:nvPr/>
          </p:nvSpPr>
          <p:spPr bwMode="auto">
            <a:xfrm>
              <a:off x="3364" y="3072"/>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200-751-9998</a:t>
              </a:r>
            </a:p>
          </p:txBody>
        </p:sp>
        <p:sp>
          <p:nvSpPr>
            <p:cNvPr id="20506" name="Line 26">
              <a:extLst>
                <a:ext uri="{FF2B5EF4-FFF2-40B4-BE49-F238E27FC236}">
                  <a16:creationId xmlns:a16="http://schemas.microsoft.com/office/drawing/2014/main" id="{6B754681-2D0A-C294-D9B6-3BF011E83A9F}"/>
                </a:ext>
              </a:extLst>
            </p:cNvPr>
            <p:cNvSpPr>
              <a:spLocks noChangeShapeType="1"/>
            </p:cNvSpPr>
            <p:nvPr/>
          </p:nvSpPr>
          <p:spPr bwMode="auto">
            <a:xfrm>
              <a:off x="3096" y="3168"/>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7" name="AutoShape 27">
              <a:extLst>
                <a:ext uri="{FF2B5EF4-FFF2-40B4-BE49-F238E27FC236}">
                  <a16:creationId xmlns:a16="http://schemas.microsoft.com/office/drawing/2014/main" id="{A91D40D8-12FB-47B4-0643-006074B8DBC1}"/>
                </a:ext>
              </a:extLst>
            </p:cNvPr>
            <p:cNvSpPr>
              <a:spLocks noChangeArrowheads="1"/>
            </p:cNvSpPr>
            <p:nvPr/>
          </p:nvSpPr>
          <p:spPr bwMode="auto">
            <a:xfrm>
              <a:off x="3360" y="1728"/>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025-612-0001</a:t>
              </a:r>
            </a:p>
          </p:txBody>
        </p:sp>
        <p:sp>
          <p:nvSpPr>
            <p:cNvPr id="20508" name="Line 28">
              <a:extLst>
                <a:ext uri="{FF2B5EF4-FFF2-40B4-BE49-F238E27FC236}">
                  <a16:creationId xmlns:a16="http://schemas.microsoft.com/office/drawing/2014/main" id="{4C42F7C2-FF63-5D9D-CDF0-9BF33E88F77C}"/>
                </a:ext>
              </a:extLst>
            </p:cNvPr>
            <p:cNvSpPr>
              <a:spLocks noChangeShapeType="1"/>
            </p:cNvSpPr>
            <p:nvPr/>
          </p:nvSpPr>
          <p:spPr bwMode="auto">
            <a:xfrm>
              <a:off x="3092" y="1824"/>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9" name="Line 29">
              <a:extLst>
                <a:ext uri="{FF2B5EF4-FFF2-40B4-BE49-F238E27FC236}">
                  <a16:creationId xmlns:a16="http://schemas.microsoft.com/office/drawing/2014/main" id="{7F9C4F92-A9E3-1F8F-0592-F75727B980C5}"/>
                </a:ext>
              </a:extLst>
            </p:cNvPr>
            <p:cNvSpPr>
              <a:spLocks noChangeShapeType="1"/>
            </p:cNvSpPr>
            <p:nvPr/>
          </p:nvSpPr>
          <p:spPr bwMode="auto">
            <a:xfrm>
              <a:off x="3072" y="201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19B7F34-BE4E-DD54-FAFF-199A70629543}"/>
              </a:ext>
            </a:extLst>
          </p:cNvPr>
          <p:cNvSpPr>
            <a:spLocks noGrp="1" noChangeArrowheads="1"/>
          </p:cNvSpPr>
          <p:nvPr>
            <p:ph type="title"/>
          </p:nvPr>
        </p:nvSpPr>
        <p:spPr/>
        <p:txBody>
          <a:bodyPr/>
          <a:lstStyle/>
          <a:p>
            <a:pPr eaLnBrk="1" hangingPunct="1"/>
            <a:r>
              <a:rPr lang="en-US" altLang="en-US" sz="2400"/>
              <a:t>Hash Functions</a:t>
            </a:r>
          </a:p>
        </p:txBody>
      </p:sp>
      <p:sp>
        <p:nvSpPr>
          <p:cNvPr id="21507" name="Rectangle 3">
            <a:extLst>
              <a:ext uri="{FF2B5EF4-FFF2-40B4-BE49-F238E27FC236}">
                <a16:creationId xmlns:a16="http://schemas.microsoft.com/office/drawing/2014/main" id="{AE53721A-4A0E-8DE5-94E8-EFABAD4484D0}"/>
              </a:ext>
            </a:extLst>
          </p:cNvPr>
          <p:cNvSpPr>
            <a:spLocks noGrp="1" noChangeArrowheads="1"/>
          </p:cNvSpPr>
          <p:nvPr>
            <p:ph type="body" sz="half" idx="1"/>
          </p:nvPr>
        </p:nvSpPr>
        <p:spPr>
          <a:xfrm>
            <a:off x="685800" y="2057400"/>
            <a:ext cx="4419600" cy="3505200"/>
          </a:xfrm>
        </p:spPr>
        <p:txBody>
          <a:bodyPr/>
          <a:lstStyle/>
          <a:p>
            <a:pPr eaLnBrk="1" hangingPunct="1"/>
            <a:r>
              <a:rPr lang="en-US" altLang="en-US" sz="2000"/>
              <a:t>A </a:t>
            </a:r>
            <a:r>
              <a:rPr lang="en-US" altLang="en-US" sz="2000">
                <a:solidFill>
                  <a:srgbClr val="FF0066"/>
                </a:solidFill>
              </a:rPr>
              <a:t>hash function</a:t>
            </a:r>
            <a:r>
              <a:rPr lang="en-US" altLang="en-US" sz="2000"/>
              <a:t> is usually specified as the composition of two functions:</a:t>
            </a:r>
          </a:p>
          <a:p>
            <a:pPr eaLnBrk="1" hangingPunct="1">
              <a:buFontTx/>
              <a:buNone/>
            </a:pPr>
            <a:r>
              <a:rPr lang="en-US" altLang="en-US" sz="2000"/>
              <a:t>	</a:t>
            </a:r>
            <a:r>
              <a:rPr lang="en-US" altLang="en-US" sz="2000" b="1">
                <a:solidFill>
                  <a:schemeClr val="tx2"/>
                </a:solidFill>
              </a:rPr>
              <a:t>Hash code map</a:t>
            </a:r>
            <a:r>
              <a:rPr lang="en-US" altLang="en-US" sz="2000"/>
              <a:t>:</a:t>
            </a:r>
            <a:br>
              <a:rPr lang="en-US" altLang="en-US" sz="2000"/>
            </a:br>
            <a:r>
              <a:rPr lang="en-US" altLang="en-US" sz="2000"/>
              <a:t>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a:t> </a:t>
            </a:r>
            <a:r>
              <a:rPr lang="en-US" altLang="en-US" sz="2000">
                <a:latin typeface="Times New Roman" panose="02020603050405020304" pitchFamily="18" charset="0"/>
              </a:rPr>
              <a:t>keys</a:t>
            </a:r>
            <a:r>
              <a:rPr lang="en-US" altLang="en-US" sz="2000"/>
              <a:t> </a:t>
            </a:r>
            <a:r>
              <a:rPr lang="en-US" altLang="en-US" sz="2000">
                <a:latin typeface="Symbol" pitchFamily="2" charset="2"/>
                <a:sym typeface="Symbol" pitchFamily="2" charset="2"/>
              </a:rPr>
              <a:t></a:t>
            </a:r>
            <a:r>
              <a:rPr lang="en-US" altLang="en-US" sz="2000"/>
              <a:t> </a:t>
            </a:r>
            <a:r>
              <a:rPr lang="en-US" altLang="en-US" sz="2000">
                <a:latin typeface="Times New Roman" panose="02020603050405020304" pitchFamily="18" charset="0"/>
              </a:rPr>
              <a:t>integers</a:t>
            </a:r>
          </a:p>
          <a:p>
            <a:pPr eaLnBrk="1" hangingPunct="1">
              <a:buFontTx/>
              <a:buNone/>
            </a:pPr>
            <a:r>
              <a:rPr lang="en-US" altLang="en-US" sz="2000">
                <a:solidFill>
                  <a:schemeClr val="tx2"/>
                </a:solidFill>
              </a:rPr>
              <a:t>	</a:t>
            </a:r>
            <a:r>
              <a:rPr lang="en-US" altLang="en-US" sz="2000" b="1">
                <a:solidFill>
                  <a:schemeClr val="tx2"/>
                </a:solidFill>
              </a:rPr>
              <a:t>Compression map</a:t>
            </a:r>
            <a:r>
              <a:rPr lang="en-US" altLang="en-US" sz="2000"/>
              <a:t>:</a:t>
            </a:r>
            <a:br>
              <a:rPr lang="en-US" altLang="en-US" sz="2000"/>
            </a:br>
            <a:r>
              <a:rPr lang="en-US" altLang="en-US" sz="2000"/>
              <a:t>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2</a:t>
            </a:r>
            <a:r>
              <a:rPr lang="en-US" altLang="en-US" sz="2000">
                <a:latin typeface="Times New Roman" panose="02020603050405020304" pitchFamily="18" charset="0"/>
              </a:rPr>
              <a:t>: integers</a:t>
            </a:r>
            <a:r>
              <a:rPr lang="en-US" altLang="en-US" sz="2000"/>
              <a:t> </a:t>
            </a:r>
            <a:r>
              <a:rPr lang="en-US" altLang="en-US" sz="2000">
                <a:latin typeface="Symbol" pitchFamily="2" charset="2"/>
                <a:sym typeface="Symbol" pitchFamily="2" charset="2"/>
              </a:rPr>
              <a:t></a:t>
            </a:r>
            <a:r>
              <a:rPr lang="en-US" altLang="en-US" sz="2000">
                <a:latin typeface="Times New Roman" panose="02020603050405020304" pitchFamily="18" charset="0"/>
              </a:rPr>
              <a:t> [0, </a:t>
            </a:r>
            <a:r>
              <a:rPr lang="en-US" altLang="en-US" sz="2000" b="1" i="1">
                <a:latin typeface="Times New Roman" panose="02020603050405020304" pitchFamily="18" charset="0"/>
              </a:rPr>
              <a:t>N</a:t>
            </a:r>
            <a:r>
              <a:rPr lang="en-US" altLang="en-US" sz="2000" b="1" i="1">
                <a:latin typeface="Symbol" pitchFamily="2" charset="2"/>
              </a:rPr>
              <a:t> </a:t>
            </a:r>
            <a:r>
              <a:rPr lang="en-US" altLang="en-US" sz="2000">
                <a:latin typeface="Symbol" pitchFamily="2" charset="2"/>
              </a:rPr>
              <a:t>- </a:t>
            </a:r>
            <a:r>
              <a:rPr lang="en-US" altLang="en-US" sz="2000">
                <a:latin typeface="Times New Roman" panose="02020603050405020304" pitchFamily="18" charset="0"/>
              </a:rPr>
              <a:t>1]</a:t>
            </a:r>
          </a:p>
        </p:txBody>
      </p:sp>
      <p:sp>
        <p:nvSpPr>
          <p:cNvPr id="21508" name="Rectangle 4">
            <a:extLst>
              <a:ext uri="{FF2B5EF4-FFF2-40B4-BE49-F238E27FC236}">
                <a16:creationId xmlns:a16="http://schemas.microsoft.com/office/drawing/2014/main" id="{7A7A468C-968D-1560-6E6A-F330DBF2CB00}"/>
              </a:ext>
            </a:extLst>
          </p:cNvPr>
          <p:cNvSpPr>
            <a:spLocks noGrp="1" noChangeArrowheads="1"/>
          </p:cNvSpPr>
          <p:nvPr>
            <p:ph type="body" sz="half" idx="2"/>
          </p:nvPr>
        </p:nvSpPr>
        <p:spPr>
          <a:xfrm>
            <a:off x="5105400" y="2057400"/>
            <a:ext cx="3505200" cy="3581400"/>
          </a:xfrm>
        </p:spPr>
        <p:txBody>
          <a:bodyPr/>
          <a:lstStyle/>
          <a:p>
            <a:pPr eaLnBrk="1" hangingPunct="1"/>
            <a:r>
              <a:rPr lang="en-US" altLang="en-US" sz="2000"/>
              <a:t>The hash code map is applied first, and the compression map is applied next on the result, i.e., </a:t>
            </a:r>
            <a:br>
              <a:rPr lang="en-US" altLang="en-US" sz="2000"/>
            </a:br>
            <a:r>
              <a:rPr lang="en-US" altLang="en-US" sz="2000"/>
              <a:t>	</a:t>
            </a:r>
            <a:r>
              <a:rPr lang="en-US" altLang="en-US" sz="2000" b="1" i="1">
                <a:latin typeface="Times New Roman" panose="02020603050405020304" pitchFamily="18" charset="0"/>
              </a:rPr>
              <a:t>h</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 = </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2</a:t>
            </a:r>
            <a:r>
              <a:rPr lang="en-US" altLang="en-US" sz="2000">
                <a:latin typeface="Times New Roman" panose="02020603050405020304" pitchFamily="18" charset="0"/>
              </a:rPr>
              <a:t>(</a:t>
            </a:r>
            <a:r>
              <a:rPr lang="en-US" altLang="en-US" sz="2000" b="1" i="1">
                <a:latin typeface="Times New Roman" panose="02020603050405020304" pitchFamily="18" charset="0"/>
              </a:rPr>
              <a:t>h</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b="1" i="1">
                <a:latin typeface="Times New Roman" panose="02020603050405020304" pitchFamily="18" charset="0"/>
              </a:rPr>
              <a:t>x</a:t>
            </a:r>
            <a:r>
              <a:rPr lang="en-US" altLang="en-US" sz="2000">
                <a:latin typeface="Times New Roman" panose="02020603050405020304" pitchFamily="18" charset="0"/>
              </a:rPr>
              <a:t>))</a:t>
            </a:r>
          </a:p>
          <a:p>
            <a:pPr eaLnBrk="1" hangingPunct="1"/>
            <a:endParaRPr lang="en-US" altLang="en-US" sz="2000">
              <a:latin typeface="Times New Roman" panose="02020603050405020304" pitchFamily="18" charset="0"/>
            </a:endParaRPr>
          </a:p>
          <a:p>
            <a:pPr eaLnBrk="1" hangingPunct="1"/>
            <a:r>
              <a:rPr lang="en-US" altLang="en-US" sz="2000"/>
              <a:t>The goal of the hash function is to  “disperse” the keys in a random way</a:t>
            </a:r>
            <a:endParaRPr lang="en-US" altLang="en-US" sz="2000">
              <a:latin typeface="Times New Roman" panose="02020603050405020304" pitchFamily="18" charset="0"/>
            </a:endParaRPr>
          </a:p>
          <a:p>
            <a:pPr eaLnBrk="1" hangingPunct="1"/>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F8B582C-99E6-7972-E33D-66AF86394397}"/>
              </a:ext>
            </a:extLst>
          </p:cNvPr>
          <p:cNvSpPr>
            <a:spLocks noGrp="1" noChangeArrowheads="1"/>
          </p:cNvSpPr>
          <p:nvPr>
            <p:ph type="title"/>
          </p:nvPr>
        </p:nvSpPr>
        <p:spPr>
          <a:xfrm>
            <a:off x="685800" y="228600"/>
            <a:ext cx="7696200" cy="838200"/>
          </a:xfrm>
        </p:spPr>
        <p:txBody>
          <a:bodyPr/>
          <a:lstStyle/>
          <a:p>
            <a:pPr eaLnBrk="1" hangingPunct="1"/>
            <a:r>
              <a:rPr lang="en-US" altLang="en-US" sz="2400"/>
              <a:t>Hash Code Maps</a:t>
            </a:r>
            <a:endParaRPr lang="en-US" altLang="en-US" sz="2400">
              <a:cs typeface="Tahoma" panose="020B0604030504040204" pitchFamily="34" charset="0"/>
            </a:endParaRPr>
          </a:p>
        </p:txBody>
      </p:sp>
      <p:sp>
        <p:nvSpPr>
          <p:cNvPr id="22531" name="Rectangle 3">
            <a:extLst>
              <a:ext uri="{FF2B5EF4-FFF2-40B4-BE49-F238E27FC236}">
                <a16:creationId xmlns:a16="http://schemas.microsoft.com/office/drawing/2014/main" id="{DBB25C21-F2C8-6932-2D8F-ED4D4D8C2229}"/>
              </a:ext>
            </a:extLst>
          </p:cNvPr>
          <p:cNvSpPr>
            <a:spLocks noGrp="1" noChangeArrowheads="1"/>
          </p:cNvSpPr>
          <p:nvPr>
            <p:ph type="body" sz="half" idx="1"/>
          </p:nvPr>
        </p:nvSpPr>
        <p:spPr>
          <a:xfrm>
            <a:off x="762000" y="1600200"/>
            <a:ext cx="3733800" cy="4572000"/>
          </a:xfrm>
        </p:spPr>
        <p:txBody>
          <a:bodyPr/>
          <a:lstStyle/>
          <a:p>
            <a:pPr eaLnBrk="1" hangingPunct="1">
              <a:lnSpc>
                <a:spcPct val="90000"/>
              </a:lnSpc>
            </a:pPr>
            <a:r>
              <a:rPr lang="en-US" altLang="en-US" sz="2000">
                <a:solidFill>
                  <a:schemeClr val="tx2"/>
                </a:solidFill>
              </a:rPr>
              <a:t>Memory address</a:t>
            </a:r>
            <a:r>
              <a:rPr lang="en-US" altLang="en-US" sz="2000"/>
              <a:t>:</a:t>
            </a:r>
          </a:p>
          <a:p>
            <a:pPr lvl="1" eaLnBrk="1" hangingPunct="1">
              <a:lnSpc>
                <a:spcPct val="90000"/>
              </a:lnSpc>
            </a:pPr>
            <a:r>
              <a:rPr lang="en-US" altLang="en-US" sz="1800"/>
              <a:t>We reinterpret the memory address of the key object as an integer (default hash code of all Java objects)</a:t>
            </a:r>
          </a:p>
          <a:p>
            <a:pPr lvl="1" eaLnBrk="1" hangingPunct="1">
              <a:lnSpc>
                <a:spcPct val="90000"/>
              </a:lnSpc>
            </a:pPr>
            <a:r>
              <a:rPr lang="en-US" altLang="en-US" sz="1800"/>
              <a:t>Good in general, except for numeric and string keys</a:t>
            </a:r>
          </a:p>
          <a:p>
            <a:pPr lvl="1" eaLnBrk="1" hangingPunct="1">
              <a:lnSpc>
                <a:spcPct val="90000"/>
              </a:lnSpc>
            </a:pPr>
            <a:endParaRPr lang="en-US" altLang="en-US" sz="1600"/>
          </a:p>
          <a:p>
            <a:pPr eaLnBrk="1" hangingPunct="1">
              <a:lnSpc>
                <a:spcPct val="90000"/>
              </a:lnSpc>
            </a:pPr>
            <a:r>
              <a:rPr lang="en-US" altLang="en-US" sz="2000">
                <a:solidFill>
                  <a:schemeClr val="tx2"/>
                </a:solidFill>
              </a:rPr>
              <a:t>Integer cast</a:t>
            </a:r>
            <a:r>
              <a:rPr lang="en-US" altLang="en-US" sz="2000"/>
              <a:t>:</a:t>
            </a:r>
          </a:p>
          <a:p>
            <a:pPr lvl="1" eaLnBrk="1" hangingPunct="1">
              <a:lnSpc>
                <a:spcPct val="90000"/>
              </a:lnSpc>
            </a:pPr>
            <a:r>
              <a:rPr lang="en-US" altLang="en-US" sz="1800"/>
              <a:t>We reinterpret the bits of the key as an integer</a:t>
            </a:r>
          </a:p>
          <a:p>
            <a:pPr lvl="1" eaLnBrk="1" hangingPunct="1">
              <a:lnSpc>
                <a:spcPct val="90000"/>
              </a:lnSpc>
            </a:pPr>
            <a:r>
              <a:rPr lang="en-US" altLang="en-US" sz="1800"/>
              <a:t>Suitable for keys of length less than or equal to the number of bits of the integer type (e.g., byte, short, int)</a:t>
            </a:r>
          </a:p>
        </p:txBody>
      </p:sp>
      <p:sp>
        <p:nvSpPr>
          <p:cNvPr id="22532" name="Rectangle 4">
            <a:extLst>
              <a:ext uri="{FF2B5EF4-FFF2-40B4-BE49-F238E27FC236}">
                <a16:creationId xmlns:a16="http://schemas.microsoft.com/office/drawing/2014/main" id="{44BF3084-6FD0-D447-BF11-A59C4B7540AD}"/>
              </a:ext>
            </a:extLst>
          </p:cNvPr>
          <p:cNvSpPr>
            <a:spLocks noGrp="1" noChangeArrowheads="1"/>
          </p:cNvSpPr>
          <p:nvPr>
            <p:ph type="body" sz="half" idx="2"/>
          </p:nvPr>
        </p:nvSpPr>
        <p:spPr>
          <a:xfrm>
            <a:off x="4876800" y="1524000"/>
            <a:ext cx="3810000" cy="4495800"/>
          </a:xfrm>
        </p:spPr>
        <p:txBody>
          <a:bodyPr/>
          <a:lstStyle/>
          <a:p>
            <a:pPr eaLnBrk="1" hangingPunct="1"/>
            <a:r>
              <a:rPr lang="en-US" altLang="en-US" sz="2000">
                <a:solidFill>
                  <a:schemeClr val="tx2"/>
                </a:solidFill>
              </a:rPr>
              <a:t>Component sum</a:t>
            </a:r>
            <a:r>
              <a:rPr lang="en-US" altLang="en-US" sz="2000"/>
              <a:t>:</a:t>
            </a:r>
          </a:p>
          <a:p>
            <a:pPr lvl="1" eaLnBrk="1" hangingPunct="1"/>
            <a:r>
              <a:rPr lang="en-US" altLang="en-US" sz="1800"/>
              <a:t>We partition the bits of the key into components of fixed length (e.g., 16 or 32 bits) and we sum the components (ignoring overflows)</a:t>
            </a:r>
          </a:p>
          <a:p>
            <a:pPr lvl="1" eaLnBrk="1" hangingPunct="1"/>
            <a:r>
              <a:rPr lang="en-US" altLang="en-US" sz="1800"/>
              <a:t>Suitable for numeric keys of fixed length greater than or equal to the number of bits of the integer type (e.g., double)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A7874DA-48ED-8443-36F9-BE934FC70B96}"/>
              </a:ext>
            </a:extLst>
          </p:cNvPr>
          <p:cNvSpPr>
            <a:spLocks noGrp="1" noChangeArrowheads="1"/>
          </p:cNvSpPr>
          <p:nvPr>
            <p:ph type="title"/>
          </p:nvPr>
        </p:nvSpPr>
        <p:spPr/>
        <p:txBody>
          <a:bodyPr/>
          <a:lstStyle/>
          <a:p>
            <a:pPr eaLnBrk="1" hangingPunct="1"/>
            <a:r>
              <a:rPr lang="en-US" altLang="en-US" sz="2400"/>
              <a:t>Hash Code Maps (cont.)</a:t>
            </a:r>
          </a:p>
        </p:txBody>
      </p:sp>
      <p:sp>
        <p:nvSpPr>
          <p:cNvPr id="23555" name="Rectangle 3">
            <a:extLst>
              <a:ext uri="{FF2B5EF4-FFF2-40B4-BE49-F238E27FC236}">
                <a16:creationId xmlns:a16="http://schemas.microsoft.com/office/drawing/2014/main" id="{23DFD2AF-1738-9F3A-9E3C-DE7676493AF2}"/>
              </a:ext>
            </a:extLst>
          </p:cNvPr>
          <p:cNvSpPr>
            <a:spLocks noGrp="1" noChangeArrowheads="1"/>
          </p:cNvSpPr>
          <p:nvPr>
            <p:ph type="body" sz="half" idx="1"/>
          </p:nvPr>
        </p:nvSpPr>
        <p:spPr>
          <a:xfrm>
            <a:off x="304800" y="1524000"/>
            <a:ext cx="4343400" cy="4495800"/>
          </a:xfrm>
        </p:spPr>
        <p:txBody>
          <a:bodyPr/>
          <a:lstStyle/>
          <a:p>
            <a:pPr eaLnBrk="1" hangingPunct="1">
              <a:lnSpc>
                <a:spcPct val="90000"/>
              </a:lnSpc>
            </a:pPr>
            <a:r>
              <a:rPr lang="en-US" altLang="en-US" sz="2000">
                <a:solidFill>
                  <a:schemeClr val="tx2"/>
                </a:solidFill>
              </a:rPr>
              <a:t>Polynomial accumulation</a:t>
            </a:r>
            <a:r>
              <a:rPr lang="en-US" altLang="en-US" sz="2000"/>
              <a:t>:</a:t>
            </a:r>
          </a:p>
          <a:p>
            <a:pPr lvl="1" eaLnBrk="1" hangingPunct="1">
              <a:lnSpc>
                <a:spcPct val="90000"/>
              </a:lnSpc>
            </a:pPr>
            <a:r>
              <a:rPr lang="en-US" altLang="en-US" sz="1800"/>
              <a:t>We partition the bits of the key into a sequence of components of fixed length (e.g., 8, 16 or 32 bits)</a:t>
            </a:r>
            <a:br>
              <a:rPr lang="en-US" altLang="en-US" sz="1800"/>
            </a:br>
            <a:r>
              <a:rPr lang="en-US" altLang="en-US" sz="1800"/>
              <a:t> 	      </a:t>
            </a:r>
            <a:r>
              <a:rPr lang="en-US" altLang="en-US" sz="1800" b="1" i="1">
                <a:latin typeface="Times New Roman" panose="02020603050405020304" pitchFamily="18" charset="0"/>
              </a:rPr>
              <a:t>a</a:t>
            </a:r>
            <a:r>
              <a:rPr lang="en-US" altLang="en-US" sz="1800" baseline="-25000">
                <a:latin typeface="Times New Roman" panose="02020603050405020304" pitchFamily="18" charset="0"/>
              </a:rPr>
              <a:t>0 </a:t>
            </a:r>
            <a:r>
              <a:rPr lang="en-US" altLang="en-US" sz="1800" b="1" i="1">
                <a:latin typeface="Times New Roman" panose="02020603050405020304" pitchFamily="18" charset="0"/>
              </a:rPr>
              <a:t>a</a:t>
            </a:r>
            <a:r>
              <a:rPr lang="en-US" altLang="en-US" sz="1800" baseline="-25000">
                <a:latin typeface="Times New Roman" panose="02020603050405020304" pitchFamily="18" charset="0"/>
              </a:rPr>
              <a:t>1</a:t>
            </a:r>
            <a:r>
              <a:rPr lang="en-US" altLang="en-US" sz="1800">
                <a:latin typeface="Times New Roman" panose="02020603050405020304" pitchFamily="18" charset="0"/>
              </a:rPr>
              <a:t> … </a:t>
            </a:r>
            <a:r>
              <a:rPr lang="en-US" altLang="en-US" sz="1800" b="1" i="1">
                <a:latin typeface="Times New Roman" panose="02020603050405020304" pitchFamily="18" charset="0"/>
              </a:rPr>
              <a:t>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aseline="-25000">
                <a:latin typeface="Times New Roman" panose="02020603050405020304" pitchFamily="18" charset="0"/>
              </a:rPr>
              <a:t>1</a:t>
            </a:r>
            <a:endParaRPr lang="en-US" altLang="en-US" sz="1800"/>
          </a:p>
          <a:p>
            <a:pPr lvl="1" eaLnBrk="1" hangingPunct="1">
              <a:lnSpc>
                <a:spcPct val="90000"/>
              </a:lnSpc>
            </a:pPr>
            <a:endParaRPr lang="en-US" altLang="en-US" sz="1800"/>
          </a:p>
          <a:p>
            <a:pPr lvl="1" eaLnBrk="1" hangingPunct="1">
              <a:lnSpc>
                <a:spcPct val="90000"/>
              </a:lnSpc>
            </a:pPr>
            <a:r>
              <a:rPr lang="en-US" altLang="en-US" sz="1800"/>
              <a:t>We evaluate the polynomial</a:t>
            </a:r>
          </a:p>
          <a:p>
            <a:pPr lvl="1" eaLnBrk="1" hangingPunct="1">
              <a:lnSpc>
                <a:spcPct val="90000"/>
              </a:lnSpc>
              <a:buFontTx/>
              <a:buNone/>
            </a:pPr>
            <a:r>
              <a:rPr lang="en-US" altLang="en-US" sz="1800" b="1" i="1">
                <a:latin typeface="Times New Roman" panose="02020603050405020304" pitchFamily="18" charset="0"/>
              </a:rPr>
              <a:t>	p</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a:t>
            </a:r>
            <a:r>
              <a:rPr lang="en-US" altLang="en-US" sz="1800" baseline="-25000">
                <a:latin typeface="Times New Roman" panose="02020603050405020304" pitchFamily="18" charset="0"/>
              </a:rPr>
              <a:t>0</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a</a:t>
            </a:r>
            <a:r>
              <a:rPr lang="en-US" altLang="en-US" sz="1800" baseline="-25000">
                <a:latin typeface="Times New Roman" panose="02020603050405020304" pitchFamily="18" charset="0"/>
              </a:rPr>
              <a:t>1 </a:t>
            </a:r>
            <a:r>
              <a:rPr lang="en-US" altLang="en-US" sz="1800" b="1" i="1">
                <a:latin typeface="Times New Roman" panose="02020603050405020304" pitchFamily="18" charset="0"/>
              </a:rPr>
              <a:t>z</a:t>
            </a:r>
            <a:r>
              <a:rPr lang="en-US" altLang="en-US" sz="1800" baseline="-25000">
                <a:latin typeface="Times New Roman" panose="02020603050405020304" pitchFamily="18" charset="0"/>
              </a:rPr>
              <a:t> </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a</a:t>
            </a:r>
            <a:r>
              <a:rPr lang="en-US" altLang="en-US" sz="1800" baseline="-25000">
                <a:latin typeface="Times New Roman" panose="02020603050405020304" pitchFamily="18" charset="0"/>
              </a:rPr>
              <a:t>2 </a:t>
            </a:r>
            <a:r>
              <a:rPr lang="en-US" altLang="en-US" sz="1800" b="1" i="1">
                <a:latin typeface="Times New Roman" panose="02020603050405020304" pitchFamily="18" charset="0"/>
              </a:rPr>
              <a:t>z</a:t>
            </a:r>
            <a:r>
              <a:rPr lang="en-US" altLang="en-US" sz="1800" baseline="30000">
                <a:latin typeface="Times New Roman" panose="02020603050405020304" pitchFamily="18" charset="0"/>
              </a:rPr>
              <a:t>2</a:t>
            </a:r>
            <a:r>
              <a:rPr lang="en-US" altLang="en-US" sz="1800">
                <a:latin typeface="Times New Roman" panose="02020603050405020304" pitchFamily="18" charset="0"/>
              </a:rPr>
              <a:t> </a:t>
            </a:r>
            <a:r>
              <a:rPr lang="en-US" altLang="en-US" sz="1800">
                <a:latin typeface="Symbol" pitchFamily="2" charset="2"/>
              </a:rPr>
              <a:t>+</a:t>
            </a:r>
            <a:r>
              <a:rPr lang="en-US" altLang="en-US" sz="1800">
                <a:latin typeface="Times New Roman" panose="02020603050405020304" pitchFamily="18" charset="0"/>
              </a:rPr>
              <a:t> …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aseline="-25000">
                <a:latin typeface="Times New Roman" panose="02020603050405020304" pitchFamily="18" charset="0"/>
              </a:rPr>
              <a:t>1</a:t>
            </a:r>
            <a:r>
              <a:rPr lang="en-US" altLang="en-US" sz="1800" b="1" i="1">
                <a:latin typeface="Times New Roman" panose="02020603050405020304" pitchFamily="18" charset="0"/>
              </a:rPr>
              <a:t>z</a:t>
            </a:r>
            <a:r>
              <a:rPr lang="en-US" altLang="en-US" sz="1800" b="1" i="1" baseline="30000">
                <a:latin typeface="Times New Roman" panose="02020603050405020304" pitchFamily="18" charset="0"/>
              </a:rPr>
              <a:t>n</a:t>
            </a:r>
            <a:r>
              <a:rPr lang="en-US" altLang="en-US" sz="1800" baseline="30000">
                <a:latin typeface="Symbol" pitchFamily="2" charset="2"/>
              </a:rPr>
              <a:t>-</a:t>
            </a:r>
            <a:r>
              <a:rPr lang="en-US" altLang="en-US" sz="1800" baseline="30000">
                <a:latin typeface="Times New Roman" panose="02020603050405020304" pitchFamily="18" charset="0"/>
              </a:rPr>
              <a:t>1</a:t>
            </a:r>
          </a:p>
          <a:p>
            <a:pPr lvl="1" eaLnBrk="1" hangingPunct="1">
              <a:lnSpc>
                <a:spcPct val="90000"/>
              </a:lnSpc>
              <a:buFontTx/>
              <a:buNone/>
            </a:pPr>
            <a:r>
              <a:rPr lang="en-US" altLang="en-US" sz="1800"/>
              <a:t>	at a fixed value </a:t>
            </a:r>
            <a:r>
              <a:rPr lang="en-US" altLang="en-US" sz="1800" b="1" i="1">
                <a:latin typeface="Times New Roman" panose="02020603050405020304" pitchFamily="18" charset="0"/>
              </a:rPr>
              <a:t>z</a:t>
            </a:r>
            <a:r>
              <a:rPr lang="en-US" altLang="en-US" sz="1800"/>
              <a:t>, ignoring overflows</a:t>
            </a:r>
          </a:p>
          <a:p>
            <a:pPr lvl="1" eaLnBrk="1" hangingPunct="1">
              <a:lnSpc>
                <a:spcPct val="90000"/>
              </a:lnSpc>
            </a:pPr>
            <a:endParaRPr lang="en-US" altLang="en-US" sz="1800"/>
          </a:p>
          <a:p>
            <a:pPr lvl="1" eaLnBrk="1" hangingPunct="1">
              <a:lnSpc>
                <a:spcPct val="90000"/>
              </a:lnSpc>
            </a:pPr>
            <a:r>
              <a:rPr lang="en-US" altLang="en-US" sz="1800"/>
              <a:t>Especially suitable for strings (e.g., the choice </a:t>
            </a:r>
            <a:r>
              <a:rPr lang="en-US" altLang="en-US" sz="1800" b="1" i="1">
                <a:latin typeface="Times New Roman" panose="02020603050405020304" pitchFamily="18" charset="0"/>
              </a:rPr>
              <a:t>z </a:t>
            </a:r>
            <a:r>
              <a:rPr lang="en-US" altLang="en-US" sz="1800">
                <a:latin typeface="Symbol" pitchFamily="2" charset="2"/>
              </a:rPr>
              <a:t>=</a:t>
            </a:r>
            <a:r>
              <a:rPr lang="en-US" altLang="en-US" sz="1800">
                <a:latin typeface="Times New Roman" panose="02020603050405020304" pitchFamily="18" charset="0"/>
              </a:rPr>
              <a:t> </a:t>
            </a:r>
            <a:r>
              <a:rPr lang="en-US" altLang="en-US" sz="1800"/>
              <a:t>33</a:t>
            </a:r>
            <a:r>
              <a:rPr lang="en-US" altLang="en-US" sz="1800">
                <a:latin typeface="Times New Roman" panose="02020603050405020304" pitchFamily="18" charset="0"/>
              </a:rPr>
              <a:t> </a:t>
            </a:r>
            <a:r>
              <a:rPr lang="en-US" altLang="en-US" sz="1800"/>
              <a:t>gives at most 6 collisions on a set of 50,000 English words)</a:t>
            </a:r>
          </a:p>
        </p:txBody>
      </p:sp>
      <p:sp>
        <p:nvSpPr>
          <p:cNvPr id="23556" name="Rectangle 4">
            <a:extLst>
              <a:ext uri="{FF2B5EF4-FFF2-40B4-BE49-F238E27FC236}">
                <a16:creationId xmlns:a16="http://schemas.microsoft.com/office/drawing/2014/main" id="{4A2B08A4-439C-2D2A-9C7F-76CFA2594747}"/>
              </a:ext>
            </a:extLst>
          </p:cNvPr>
          <p:cNvSpPr>
            <a:spLocks noGrp="1" noChangeArrowheads="1"/>
          </p:cNvSpPr>
          <p:nvPr>
            <p:ph type="body" sz="half" idx="2"/>
          </p:nvPr>
        </p:nvSpPr>
        <p:spPr>
          <a:xfrm>
            <a:off x="5029200" y="1447800"/>
            <a:ext cx="3657600" cy="4267200"/>
          </a:xfrm>
        </p:spPr>
        <p:txBody>
          <a:bodyPr/>
          <a:lstStyle/>
          <a:p>
            <a:pPr eaLnBrk="1" hangingPunct="1"/>
            <a:r>
              <a:rPr lang="en-US" altLang="en-US" sz="2000"/>
              <a:t>Polynomial </a:t>
            </a:r>
            <a:r>
              <a:rPr lang="en-US" altLang="en-US" sz="2000" b="1" i="1">
                <a:latin typeface="Times New Roman" panose="02020603050405020304" pitchFamily="18" charset="0"/>
              </a:rPr>
              <a:t>p</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a:t>
            </a:r>
            <a:r>
              <a:rPr lang="en-US" altLang="en-US" sz="2000"/>
              <a:t> can be evaluated in </a:t>
            </a:r>
            <a:r>
              <a:rPr lang="en-US" altLang="en-US" sz="2000" b="1" i="1">
                <a:latin typeface="Times New Roman" panose="02020603050405020304" pitchFamily="18" charset="0"/>
              </a:rPr>
              <a:t>O</a:t>
            </a:r>
            <a:r>
              <a:rPr lang="en-US" altLang="en-US" sz="2000">
                <a:latin typeface="Times New Roman" panose="02020603050405020304" pitchFamily="18" charset="0"/>
              </a:rPr>
              <a:t>(</a:t>
            </a:r>
            <a:r>
              <a:rPr lang="en-US" altLang="en-US" sz="2000" b="1" i="1">
                <a:latin typeface="Times New Roman" panose="02020603050405020304" pitchFamily="18" charset="0"/>
              </a:rPr>
              <a:t>n</a:t>
            </a:r>
            <a:r>
              <a:rPr lang="en-US" altLang="en-US" sz="2000">
                <a:latin typeface="Times New Roman" panose="02020603050405020304" pitchFamily="18" charset="0"/>
              </a:rPr>
              <a:t>)</a:t>
            </a:r>
            <a:r>
              <a:rPr lang="en-US" altLang="en-US" sz="2000"/>
              <a:t> time using Horner’s rule:</a:t>
            </a:r>
          </a:p>
          <a:p>
            <a:pPr lvl="1" eaLnBrk="1" hangingPunct="1"/>
            <a:r>
              <a:rPr lang="en-US" altLang="en-US" sz="1800"/>
              <a:t>The following polynomials are successively computed, each from the previous one in </a:t>
            </a:r>
            <a:r>
              <a:rPr lang="en-US" altLang="en-US" sz="1800" b="1" i="1">
                <a:latin typeface="Times New Roman" panose="02020603050405020304" pitchFamily="18" charset="0"/>
              </a:rPr>
              <a:t>O</a:t>
            </a:r>
            <a:r>
              <a:rPr lang="en-US" altLang="en-US" sz="1800">
                <a:latin typeface="Times New Roman" panose="02020603050405020304" pitchFamily="18" charset="0"/>
              </a:rPr>
              <a:t>(1)</a:t>
            </a:r>
            <a:r>
              <a:rPr lang="en-US" altLang="en-US" sz="1800"/>
              <a:t> time</a:t>
            </a:r>
          </a:p>
          <a:p>
            <a:pPr lvl="1" eaLnBrk="1" hangingPunct="1">
              <a:buFontTx/>
              <a:buNone/>
            </a:pPr>
            <a:r>
              <a:rPr lang="en-US" altLang="en-US" sz="1800" b="1" i="1">
                <a:latin typeface="Times New Roman" panose="02020603050405020304" pitchFamily="18" charset="0"/>
              </a:rPr>
              <a:t>		p</a:t>
            </a:r>
            <a:r>
              <a:rPr lang="en-US" altLang="en-US" sz="1800" baseline="-25000">
                <a:latin typeface="Times New Roman" panose="02020603050405020304" pitchFamily="18" charset="0"/>
              </a:rPr>
              <a:t>0</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aseline="-25000">
                <a:latin typeface="Times New Roman" panose="02020603050405020304" pitchFamily="18" charset="0"/>
              </a:rPr>
              <a:t>1</a:t>
            </a:r>
          </a:p>
          <a:p>
            <a:pPr lvl="1" eaLnBrk="1" hangingPunct="1">
              <a:buFontTx/>
              <a:buNone/>
            </a:pPr>
            <a:r>
              <a:rPr lang="en-US" altLang="en-US" sz="1800" b="1" i="1">
                <a:latin typeface="Times New Roman" panose="02020603050405020304" pitchFamily="18" charset="0"/>
              </a:rPr>
              <a:t>		p</a:t>
            </a:r>
            <a:r>
              <a:rPr lang="en-US" altLang="en-US" sz="1800" b="1" i="1" baseline="-25000">
                <a:latin typeface="Times New Roman" panose="02020603050405020304" pitchFamily="18" charset="0"/>
              </a:rPr>
              <a:t>i</a:t>
            </a:r>
            <a:r>
              <a:rPr lang="en-US" altLang="en-US" sz="1800" baseline="-25000">
                <a:latin typeface="Times New Roman" panose="02020603050405020304" pitchFamily="18" charset="0"/>
              </a:rPr>
              <a:t> </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a:t>
            </a:r>
            <a:r>
              <a:rPr lang="en-US" altLang="en-US" sz="1800" b="1" i="1" baseline="-25000">
                <a:latin typeface="Times New Roman" panose="02020603050405020304" pitchFamily="18" charset="0"/>
              </a:rPr>
              <a:t>n</a:t>
            </a:r>
            <a:r>
              <a:rPr lang="en-US" altLang="en-US" sz="1800" baseline="-25000">
                <a:latin typeface="Symbol" pitchFamily="2" charset="2"/>
              </a:rPr>
              <a:t>-</a:t>
            </a:r>
            <a:r>
              <a:rPr lang="en-US" altLang="en-US" sz="1800" b="1" i="1" baseline="-25000">
                <a:latin typeface="Times New Roman" panose="02020603050405020304" pitchFamily="18" charset="0"/>
              </a:rPr>
              <a:t>i</a:t>
            </a:r>
            <a:r>
              <a:rPr lang="en-US" altLang="en-US" sz="1800" baseline="-25000">
                <a:latin typeface="Symbol" pitchFamily="2" charset="2"/>
              </a:rPr>
              <a:t>-</a:t>
            </a:r>
            <a:r>
              <a:rPr lang="en-US" altLang="en-US" sz="1800" baseline="-25000">
                <a:latin typeface="Times New Roman" panose="02020603050405020304" pitchFamily="18" charset="0"/>
              </a:rPr>
              <a:t>1 </a:t>
            </a:r>
            <a:r>
              <a:rPr lang="en-US" altLang="en-US" sz="1800">
                <a:latin typeface="Symbol" pitchFamily="2" charset="2"/>
              </a:rPr>
              <a:t>+</a:t>
            </a:r>
            <a:r>
              <a:rPr lang="en-US" altLang="en-US" sz="1800">
                <a:latin typeface="Times New Roman" panose="02020603050405020304" pitchFamily="18" charset="0"/>
              </a:rPr>
              <a:t> </a:t>
            </a:r>
            <a:r>
              <a:rPr lang="en-US" altLang="en-US" sz="1800" b="1" i="1">
                <a:latin typeface="Times New Roman" panose="02020603050405020304" pitchFamily="18" charset="0"/>
              </a:rPr>
              <a:t>zp</a:t>
            </a:r>
            <a:r>
              <a:rPr lang="en-US" altLang="en-US" sz="1800" b="1" i="1" baseline="-25000">
                <a:latin typeface="Times New Roman" panose="02020603050405020304" pitchFamily="18" charset="0"/>
              </a:rPr>
              <a:t>i</a:t>
            </a:r>
            <a:r>
              <a:rPr lang="en-US" altLang="en-US" sz="1800" baseline="-25000">
                <a:latin typeface="Symbol" pitchFamily="2" charset="2"/>
              </a:rPr>
              <a:t>-</a:t>
            </a:r>
            <a:r>
              <a:rPr lang="en-US" altLang="en-US" sz="1800" baseline="-25000">
                <a:latin typeface="Times New Roman" panose="02020603050405020304" pitchFamily="18" charset="0"/>
              </a:rPr>
              <a:t>1</a:t>
            </a:r>
            <a:r>
              <a:rPr lang="en-US" altLang="en-US" sz="1800">
                <a:latin typeface="Times New Roman" panose="02020603050405020304" pitchFamily="18" charset="0"/>
              </a:rPr>
              <a:t>(</a:t>
            </a:r>
            <a:r>
              <a:rPr lang="en-US" altLang="en-US" sz="1800" b="1" i="1">
                <a:latin typeface="Times New Roman" panose="02020603050405020304" pitchFamily="18" charset="0"/>
              </a:rPr>
              <a:t>z</a:t>
            </a:r>
            <a:r>
              <a:rPr lang="en-US" altLang="en-US" sz="1800">
                <a:latin typeface="Times New Roman" panose="02020603050405020304" pitchFamily="18" charset="0"/>
              </a:rPr>
              <a:t>)</a:t>
            </a:r>
            <a:br>
              <a:rPr lang="en-US" altLang="en-US" sz="1800">
                <a:latin typeface="Times New Roman" panose="02020603050405020304" pitchFamily="18" charset="0"/>
              </a:rPr>
            </a:br>
            <a:r>
              <a:rPr lang="en-US" altLang="en-US" sz="1800">
                <a:latin typeface="Times New Roman" panose="02020603050405020304" pitchFamily="18" charset="0"/>
              </a:rPr>
              <a:t> 	(</a:t>
            </a:r>
            <a:r>
              <a:rPr lang="en-US" altLang="en-US" sz="1800" b="1" i="1">
                <a:latin typeface="Times New Roman" panose="02020603050405020304" pitchFamily="18" charset="0"/>
              </a:rPr>
              <a:t>i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1, 2, …, </a:t>
            </a:r>
            <a:r>
              <a:rPr lang="en-US" altLang="en-US" sz="1800" b="1" i="1">
                <a:latin typeface="Times New Roman" panose="02020603050405020304" pitchFamily="18" charset="0"/>
              </a:rPr>
              <a:t>n </a:t>
            </a:r>
            <a:r>
              <a:rPr lang="en-US" altLang="en-US" sz="1800">
                <a:latin typeface="Symbol" pitchFamily="2" charset="2"/>
              </a:rPr>
              <a:t>-</a:t>
            </a:r>
            <a:r>
              <a:rPr lang="en-US" altLang="en-US" sz="1800">
                <a:latin typeface="Times New Roman" panose="02020603050405020304" pitchFamily="18" charset="0"/>
              </a:rPr>
              <a:t>1)</a:t>
            </a:r>
          </a:p>
          <a:p>
            <a:pPr lvl="1" eaLnBrk="1" hangingPunct="1">
              <a:buFontTx/>
              <a:buNone/>
            </a:pPr>
            <a:endParaRPr lang="en-US" altLang="en-US" sz="1600">
              <a:latin typeface="Times New Roman" panose="02020603050405020304" pitchFamily="18" charset="0"/>
            </a:endParaRPr>
          </a:p>
          <a:p>
            <a:pPr eaLnBrk="1" hangingPunct="1"/>
            <a:r>
              <a:rPr lang="en-US" altLang="en-US" sz="2000"/>
              <a:t>We have </a:t>
            </a:r>
            <a:r>
              <a:rPr lang="en-US" altLang="en-US" sz="2000" b="1" i="1">
                <a:latin typeface="Times New Roman" panose="02020603050405020304" pitchFamily="18" charset="0"/>
              </a:rPr>
              <a:t>p</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 </a:t>
            </a:r>
            <a:r>
              <a:rPr lang="en-US" altLang="en-US" sz="2000">
                <a:latin typeface="Symbol" pitchFamily="2" charset="2"/>
              </a:rPr>
              <a:t>=</a:t>
            </a:r>
            <a:r>
              <a:rPr lang="en-US" altLang="en-US" sz="2000" b="1" i="1">
                <a:latin typeface="Times New Roman" panose="02020603050405020304" pitchFamily="18" charset="0"/>
              </a:rPr>
              <a:t> p</a:t>
            </a:r>
            <a:r>
              <a:rPr lang="en-US" altLang="en-US" sz="2000" b="1" i="1" baseline="-25000">
                <a:latin typeface="Times New Roman" panose="02020603050405020304" pitchFamily="18" charset="0"/>
              </a:rPr>
              <a:t>n</a:t>
            </a:r>
            <a:r>
              <a:rPr lang="en-US" altLang="en-US" sz="2000" baseline="-25000">
                <a:latin typeface="Symbol" pitchFamily="2" charset="2"/>
              </a:rPr>
              <a:t>-</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b="1" i="1">
                <a:latin typeface="Times New Roman" panose="02020603050405020304" pitchFamily="18" charset="0"/>
              </a:rPr>
              <a:t>z</a:t>
            </a:r>
            <a:r>
              <a:rPr lang="en-US" altLang="en-US" sz="2000">
                <a:latin typeface="Times New Roman" panose="02020603050405020304" pitchFamily="18"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AC86E44-5AB8-F718-1D36-A00871599539}"/>
              </a:ext>
            </a:extLst>
          </p:cNvPr>
          <p:cNvSpPr>
            <a:spLocks noGrp="1" noChangeArrowheads="1"/>
          </p:cNvSpPr>
          <p:nvPr>
            <p:ph type="title"/>
          </p:nvPr>
        </p:nvSpPr>
        <p:spPr>
          <a:xfrm>
            <a:off x="1066800" y="228600"/>
            <a:ext cx="6858000" cy="838200"/>
          </a:xfrm>
        </p:spPr>
        <p:txBody>
          <a:bodyPr/>
          <a:lstStyle/>
          <a:p>
            <a:pPr eaLnBrk="1" hangingPunct="1"/>
            <a:r>
              <a:rPr lang="en-US" altLang="en-US" sz="2400"/>
              <a:t>Compression Maps</a:t>
            </a:r>
          </a:p>
        </p:txBody>
      </p:sp>
      <p:sp>
        <p:nvSpPr>
          <p:cNvPr id="24579" name="Rectangle 3">
            <a:extLst>
              <a:ext uri="{FF2B5EF4-FFF2-40B4-BE49-F238E27FC236}">
                <a16:creationId xmlns:a16="http://schemas.microsoft.com/office/drawing/2014/main" id="{ECE33687-E7C2-BD96-72C9-40273F040908}"/>
              </a:ext>
            </a:extLst>
          </p:cNvPr>
          <p:cNvSpPr>
            <a:spLocks noGrp="1" noChangeArrowheads="1"/>
          </p:cNvSpPr>
          <p:nvPr>
            <p:ph type="body" sz="half" idx="1"/>
          </p:nvPr>
        </p:nvSpPr>
        <p:spPr/>
        <p:txBody>
          <a:bodyPr/>
          <a:lstStyle/>
          <a:p>
            <a:pPr eaLnBrk="1" hangingPunct="1"/>
            <a:r>
              <a:rPr lang="en-US" altLang="en-US" sz="2000">
                <a:solidFill>
                  <a:schemeClr val="tx2"/>
                </a:solidFill>
              </a:rPr>
              <a:t>Division</a:t>
            </a:r>
            <a:r>
              <a:rPr lang="en-US" altLang="en-US" sz="2000"/>
              <a:t>:</a:t>
            </a:r>
          </a:p>
          <a:p>
            <a:pPr lvl="1" eaLnBrk="1" hangingPunct="1"/>
            <a:r>
              <a:rPr lang="en-US" altLang="en-US" sz="1800" b="1" i="1">
                <a:latin typeface="Times New Roman" panose="02020603050405020304" pitchFamily="18" charset="0"/>
              </a:rPr>
              <a:t>h</a:t>
            </a:r>
            <a:r>
              <a:rPr lang="en-US" altLang="en-US" sz="1800" baseline="-25000">
                <a:latin typeface="Times New Roman" panose="02020603050405020304" pitchFamily="18" charset="0"/>
              </a:rPr>
              <a:t>2 </a:t>
            </a:r>
            <a:r>
              <a:rPr lang="en-US" altLang="en-US" sz="1800">
                <a:latin typeface="Times New Roman" panose="02020603050405020304" pitchFamily="18" charset="0"/>
              </a:rPr>
              <a:t>(</a:t>
            </a:r>
            <a:r>
              <a:rPr lang="en-US" altLang="en-US" sz="1800" b="1" i="1">
                <a:latin typeface="Times New Roman" panose="02020603050405020304" pitchFamily="18" charset="0"/>
              </a:rPr>
              <a:t>y</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y </a:t>
            </a:r>
            <a:r>
              <a:rPr lang="en-US" altLang="en-US" sz="1800">
                <a:latin typeface="Times New Roman" panose="02020603050405020304" pitchFamily="18" charset="0"/>
              </a:rPr>
              <a:t>mod</a:t>
            </a:r>
            <a:r>
              <a:rPr lang="en-US" altLang="en-US" sz="1800" b="1" i="1">
                <a:latin typeface="Times New Roman" panose="02020603050405020304" pitchFamily="18" charset="0"/>
              </a:rPr>
              <a:t> N</a:t>
            </a:r>
            <a:endParaRPr lang="en-US" altLang="en-US" sz="1800"/>
          </a:p>
          <a:p>
            <a:pPr lvl="1" eaLnBrk="1" hangingPunct="1"/>
            <a:r>
              <a:rPr lang="en-US" altLang="en-US" sz="1800"/>
              <a:t>The size </a:t>
            </a:r>
            <a:r>
              <a:rPr lang="en-US" altLang="en-US" sz="1800" b="1" i="1">
                <a:latin typeface="Times New Roman" panose="02020603050405020304" pitchFamily="18" charset="0"/>
              </a:rPr>
              <a:t>N</a:t>
            </a:r>
            <a:r>
              <a:rPr lang="en-US" altLang="en-US" sz="1800"/>
              <a:t> of the hash table is usually chosen to be a prime number, to “spread out” the distribution of hashed values </a:t>
            </a:r>
          </a:p>
          <a:p>
            <a:pPr lvl="1" eaLnBrk="1" hangingPunct="1"/>
            <a:r>
              <a:rPr lang="en-US" altLang="en-US" sz="1800"/>
              <a:t>There are still repeated patterns that cause key collisions (i.e., j with i*N+j) </a:t>
            </a:r>
          </a:p>
        </p:txBody>
      </p:sp>
      <p:sp>
        <p:nvSpPr>
          <p:cNvPr id="24580" name="Rectangle 4">
            <a:extLst>
              <a:ext uri="{FF2B5EF4-FFF2-40B4-BE49-F238E27FC236}">
                <a16:creationId xmlns:a16="http://schemas.microsoft.com/office/drawing/2014/main" id="{C2379498-D84D-1FAF-3CE9-5282FCB86677}"/>
              </a:ext>
            </a:extLst>
          </p:cNvPr>
          <p:cNvSpPr>
            <a:spLocks noGrp="1" noChangeArrowheads="1"/>
          </p:cNvSpPr>
          <p:nvPr>
            <p:ph type="body" sz="half" idx="2"/>
          </p:nvPr>
        </p:nvSpPr>
        <p:spPr/>
        <p:txBody>
          <a:bodyPr/>
          <a:lstStyle/>
          <a:p>
            <a:pPr eaLnBrk="1" hangingPunct="1"/>
            <a:r>
              <a:rPr lang="en-US" altLang="en-US" sz="2000">
                <a:solidFill>
                  <a:schemeClr val="tx2"/>
                </a:solidFill>
              </a:rPr>
              <a:t>Multiply, Add and Divide (MAD)</a:t>
            </a:r>
            <a:r>
              <a:rPr lang="en-US" altLang="en-US" sz="2000"/>
              <a:t>:</a:t>
            </a:r>
          </a:p>
          <a:p>
            <a:pPr lvl="1" eaLnBrk="1" hangingPunct="1"/>
            <a:r>
              <a:rPr lang="en-US" altLang="en-US" sz="1800" b="1" i="1">
                <a:latin typeface="Times New Roman" panose="02020603050405020304" pitchFamily="18" charset="0"/>
              </a:rPr>
              <a:t>h</a:t>
            </a:r>
            <a:r>
              <a:rPr lang="en-US" altLang="en-US" sz="1800" baseline="-25000">
                <a:latin typeface="Times New Roman" panose="02020603050405020304" pitchFamily="18" charset="0"/>
              </a:rPr>
              <a:t>2 </a:t>
            </a:r>
            <a:r>
              <a:rPr lang="en-US" altLang="en-US" sz="1800">
                <a:latin typeface="Times New Roman" panose="02020603050405020304" pitchFamily="18" charset="0"/>
              </a:rPr>
              <a:t>(</a:t>
            </a:r>
            <a:r>
              <a:rPr lang="en-US" altLang="en-US" sz="1800" b="1" i="1">
                <a:latin typeface="Times New Roman" panose="02020603050405020304" pitchFamily="18" charset="0"/>
              </a:rPr>
              <a:t>y</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a:t>
            </a:r>
            <a:r>
              <a:rPr lang="en-US" altLang="en-US" sz="1800" b="1" i="1">
                <a:latin typeface="Times New Roman" panose="02020603050405020304" pitchFamily="18" charset="0"/>
              </a:rPr>
              <a:t>ay </a:t>
            </a:r>
            <a:r>
              <a:rPr lang="en-US" altLang="en-US" sz="1800">
                <a:latin typeface="Symbol" pitchFamily="2" charset="2"/>
              </a:rPr>
              <a:t>+</a:t>
            </a:r>
            <a:r>
              <a:rPr lang="en-US" altLang="en-US" sz="1800" b="1" i="1">
                <a:latin typeface="Times New Roman" panose="02020603050405020304" pitchFamily="18" charset="0"/>
              </a:rPr>
              <a:t> b</a:t>
            </a:r>
            <a:r>
              <a:rPr lang="en-US" altLang="en-US" sz="1800">
                <a:latin typeface="Times New Roman" panose="02020603050405020304" pitchFamily="18" charset="0"/>
              </a:rPr>
              <a:t>|</a:t>
            </a:r>
            <a:r>
              <a:rPr lang="en-US" altLang="en-US" sz="1800" b="1" i="1">
                <a:latin typeface="Times New Roman" panose="02020603050405020304" pitchFamily="18" charset="0"/>
              </a:rPr>
              <a:t> </a:t>
            </a:r>
            <a:r>
              <a:rPr lang="en-US" altLang="en-US" sz="1800">
                <a:latin typeface="Times New Roman" panose="02020603050405020304" pitchFamily="18" charset="0"/>
              </a:rPr>
              <a:t>mod</a:t>
            </a:r>
            <a:r>
              <a:rPr lang="en-US" altLang="en-US" sz="1800" b="1" i="1">
                <a:latin typeface="Times New Roman" panose="02020603050405020304" pitchFamily="18" charset="0"/>
              </a:rPr>
              <a:t> N</a:t>
            </a:r>
          </a:p>
          <a:p>
            <a:pPr lvl="1" eaLnBrk="1" hangingPunct="1"/>
            <a:r>
              <a:rPr lang="en-US" altLang="en-US" sz="1800" b="1" i="1">
                <a:latin typeface="Times New Roman" panose="02020603050405020304" pitchFamily="18" charset="0"/>
              </a:rPr>
              <a:t>a</a:t>
            </a:r>
            <a:r>
              <a:rPr lang="en-US" altLang="en-US" sz="1800"/>
              <a:t> and </a:t>
            </a:r>
            <a:r>
              <a:rPr lang="en-US" altLang="en-US" sz="1800" b="1" i="1">
                <a:latin typeface="Times New Roman" panose="02020603050405020304" pitchFamily="18" charset="0"/>
              </a:rPr>
              <a:t>b</a:t>
            </a:r>
            <a:r>
              <a:rPr lang="en-US" altLang="en-US" sz="1800"/>
              <a:t> are nonnegative integers randomly chosen, such that</a:t>
            </a:r>
            <a:br>
              <a:rPr lang="en-US" altLang="en-US" sz="1800"/>
            </a:br>
            <a:r>
              <a:rPr lang="en-US" altLang="en-US" sz="1800"/>
              <a:t>	 </a:t>
            </a:r>
            <a:r>
              <a:rPr lang="en-US" altLang="en-US" sz="1800" b="1" i="1">
                <a:latin typeface="Times New Roman" panose="02020603050405020304" pitchFamily="18" charset="0"/>
              </a:rPr>
              <a:t>a </a:t>
            </a:r>
            <a:r>
              <a:rPr lang="en-US" altLang="en-US" sz="1800">
                <a:latin typeface="Times New Roman" panose="02020603050405020304" pitchFamily="18" charset="0"/>
              </a:rPr>
              <a:t>mod</a:t>
            </a:r>
            <a:r>
              <a:rPr lang="en-US" altLang="en-US" sz="1800" b="1" i="1">
                <a:latin typeface="Times New Roman" panose="02020603050405020304" pitchFamily="18" charset="0"/>
              </a:rPr>
              <a:t> N</a:t>
            </a:r>
            <a:r>
              <a:rPr lang="en-US" altLang="en-US" sz="1800" i="1">
                <a:latin typeface="Times New Roman" panose="02020603050405020304" pitchFamily="18" charset="0"/>
              </a:rPr>
              <a:t> </a:t>
            </a:r>
            <a:r>
              <a:rPr lang="en-US" altLang="en-US" sz="1800">
                <a:latin typeface="Symbol" pitchFamily="2" charset="2"/>
                <a:sym typeface="Symbol" pitchFamily="2" charset="2"/>
              </a:rPr>
              <a:t></a:t>
            </a:r>
            <a:r>
              <a:rPr lang="en-US" altLang="en-US" sz="1800">
                <a:latin typeface="Times New Roman" panose="02020603050405020304" pitchFamily="18" charset="0"/>
                <a:sym typeface="Symbol" pitchFamily="2" charset="2"/>
              </a:rPr>
              <a:t> 0</a:t>
            </a:r>
          </a:p>
          <a:p>
            <a:pPr lvl="1" eaLnBrk="1" hangingPunct="1">
              <a:buFontTx/>
              <a:buNone/>
            </a:pPr>
            <a:r>
              <a:rPr lang="en-US" altLang="en-US" sz="1800">
                <a:sym typeface="Symbol" pitchFamily="2" charset="2"/>
              </a:rPr>
              <a:t>	Otherwise, every integer would map to the same value </a:t>
            </a:r>
            <a:r>
              <a:rPr lang="en-US" altLang="en-US" sz="1800" b="1" i="1">
                <a:latin typeface="Times New Roman" panose="02020603050405020304" pitchFamily="18" charset="0"/>
              </a:rPr>
              <a:t>b</a:t>
            </a:r>
            <a:r>
              <a:rPr lang="en-US" altLang="en-US" sz="1800">
                <a:sym typeface="Symbol" pitchFamily="2" charset="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97DA8F7-9601-83D2-1274-E46188BFF41A}"/>
              </a:ext>
            </a:extLst>
          </p:cNvPr>
          <p:cNvSpPr>
            <a:spLocks noGrp="1" noChangeArrowheads="1"/>
          </p:cNvSpPr>
          <p:nvPr>
            <p:ph type="title"/>
          </p:nvPr>
        </p:nvSpPr>
        <p:spPr>
          <a:xfrm>
            <a:off x="1143000" y="228600"/>
            <a:ext cx="7229475" cy="914400"/>
          </a:xfrm>
        </p:spPr>
        <p:txBody>
          <a:bodyPr/>
          <a:lstStyle/>
          <a:p>
            <a:pPr eaLnBrk="1" hangingPunct="1"/>
            <a:r>
              <a:rPr lang="en-US" altLang="en-US" sz="2400"/>
              <a:t>Collision Handling</a:t>
            </a:r>
          </a:p>
        </p:txBody>
      </p:sp>
      <p:sp>
        <p:nvSpPr>
          <p:cNvPr id="25603" name="Rectangle 3">
            <a:extLst>
              <a:ext uri="{FF2B5EF4-FFF2-40B4-BE49-F238E27FC236}">
                <a16:creationId xmlns:a16="http://schemas.microsoft.com/office/drawing/2014/main" id="{46A17A9C-5698-69BB-B425-888884149A8A}"/>
              </a:ext>
            </a:extLst>
          </p:cNvPr>
          <p:cNvSpPr>
            <a:spLocks noGrp="1" noChangeArrowheads="1"/>
          </p:cNvSpPr>
          <p:nvPr>
            <p:ph type="body" sz="half" idx="1"/>
          </p:nvPr>
        </p:nvSpPr>
        <p:spPr>
          <a:xfrm>
            <a:off x="609600" y="1905000"/>
            <a:ext cx="3657600" cy="4114800"/>
          </a:xfrm>
        </p:spPr>
        <p:txBody>
          <a:bodyPr/>
          <a:lstStyle/>
          <a:p>
            <a:pPr eaLnBrk="1" hangingPunct="1"/>
            <a:r>
              <a:rPr lang="en-US" altLang="en-US" sz="2000"/>
              <a:t>Collisions occur when different elements are mapped to the same cell</a:t>
            </a:r>
          </a:p>
          <a:p>
            <a:pPr eaLnBrk="1" hangingPunct="1"/>
            <a:endParaRPr lang="en-US" altLang="en-US" sz="2000"/>
          </a:p>
          <a:p>
            <a:pPr eaLnBrk="1" hangingPunct="1"/>
            <a:r>
              <a:rPr lang="en-US" altLang="en-US" sz="2000" b="1"/>
              <a:t>Chaining</a:t>
            </a:r>
            <a:r>
              <a:rPr lang="en-US" altLang="en-US" sz="2000"/>
              <a:t>: let each cell in the table point to a linked list of elements that map there</a:t>
            </a:r>
          </a:p>
        </p:txBody>
      </p:sp>
      <p:sp>
        <p:nvSpPr>
          <p:cNvPr id="25604" name="Rectangle 4">
            <a:extLst>
              <a:ext uri="{FF2B5EF4-FFF2-40B4-BE49-F238E27FC236}">
                <a16:creationId xmlns:a16="http://schemas.microsoft.com/office/drawing/2014/main" id="{99C27EE8-A3FC-E0BE-1645-071026DD74E5}"/>
              </a:ext>
            </a:extLst>
          </p:cNvPr>
          <p:cNvSpPr>
            <a:spLocks noGrp="1" noChangeArrowheads="1"/>
          </p:cNvSpPr>
          <p:nvPr>
            <p:ph type="body" sz="half" idx="2"/>
          </p:nvPr>
        </p:nvSpPr>
        <p:spPr>
          <a:xfrm>
            <a:off x="4495800" y="4049713"/>
            <a:ext cx="3810000" cy="1963737"/>
          </a:xfrm>
        </p:spPr>
        <p:txBody>
          <a:bodyPr/>
          <a:lstStyle/>
          <a:p>
            <a:pPr eaLnBrk="1" hangingPunct="1"/>
            <a:r>
              <a:rPr lang="en-US" altLang="en-US" sz="2000"/>
              <a:t>Chaining is simple, but requires additional memory outside the table</a:t>
            </a:r>
          </a:p>
        </p:txBody>
      </p:sp>
      <p:grpSp>
        <p:nvGrpSpPr>
          <p:cNvPr id="25605" name="Group 5">
            <a:extLst>
              <a:ext uri="{FF2B5EF4-FFF2-40B4-BE49-F238E27FC236}">
                <a16:creationId xmlns:a16="http://schemas.microsoft.com/office/drawing/2014/main" id="{CB39D140-5DF9-0CF2-09A8-D0DC57A4B8E3}"/>
              </a:ext>
            </a:extLst>
          </p:cNvPr>
          <p:cNvGrpSpPr>
            <a:grpSpLocks/>
          </p:cNvGrpSpPr>
          <p:nvPr/>
        </p:nvGrpSpPr>
        <p:grpSpPr bwMode="auto">
          <a:xfrm>
            <a:off x="4716463" y="1905000"/>
            <a:ext cx="4198937" cy="1676400"/>
            <a:chOff x="2155" y="2160"/>
            <a:chExt cx="2789" cy="1056"/>
          </a:xfrm>
        </p:grpSpPr>
        <p:sp>
          <p:nvSpPr>
            <p:cNvPr id="25606" name="Rectangle 6">
              <a:extLst>
                <a:ext uri="{FF2B5EF4-FFF2-40B4-BE49-F238E27FC236}">
                  <a16:creationId xmlns:a16="http://schemas.microsoft.com/office/drawing/2014/main" id="{BD386937-EF55-2548-2E3E-5C18909FB58E}"/>
                </a:ext>
              </a:extLst>
            </p:cNvPr>
            <p:cNvSpPr>
              <a:spLocks noChangeArrowheads="1"/>
            </p:cNvSpPr>
            <p:nvPr/>
          </p:nvSpPr>
          <p:spPr bwMode="auto">
            <a:xfrm>
              <a:off x="2372" y="220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endParaRPr lang="en-US" altLang="en-US">
                <a:latin typeface="Tahoma" panose="020B0604030504040204" pitchFamily="34" charset="0"/>
              </a:endParaRPr>
            </a:p>
          </p:txBody>
        </p:sp>
        <p:sp>
          <p:nvSpPr>
            <p:cNvPr id="25607" name="Rectangle 7">
              <a:extLst>
                <a:ext uri="{FF2B5EF4-FFF2-40B4-BE49-F238E27FC236}">
                  <a16:creationId xmlns:a16="http://schemas.microsoft.com/office/drawing/2014/main" id="{AC5EA7BC-EEA0-B046-57EA-9501F5160B76}"/>
                </a:ext>
              </a:extLst>
            </p:cNvPr>
            <p:cNvSpPr>
              <a:spLocks noChangeArrowheads="1"/>
            </p:cNvSpPr>
            <p:nvPr/>
          </p:nvSpPr>
          <p:spPr bwMode="auto">
            <a:xfrm>
              <a:off x="2372" y="240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08" name="Rectangle 8">
              <a:extLst>
                <a:ext uri="{FF2B5EF4-FFF2-40B4-BE49-F238E27FC236}">
                  <a16:creationId xmlns:a16="http://schemas.microsoft.com/office/drawing/2014/main" id="{5E7AF780-6767-E3E6-C70C-BED188D9E95D}"/>
                </a:ext>
              </a:extLst>
            </p:cNvPr>
            <p:cNvSpPr>
              <a:spLocks noChangeArrowheads="1"/>
            </p:cNvSpPr>
            <p:nvPr/>
          </p:nvSpPr>
          <p:spPr bwMode="auto">
            <a:xfrm>
              <a:off x="2372" y="259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5609" name="Rectangle 9">
              <a:extLst>
                <a:ext uri="{FF2B5EF4-FFF2-40B4-BE49-F238E27FC236}">
                  <a16:creationId xmlns:a16="http://schemas.microsoft.com/office/drawing/2014/main" id="{241850E4-20E1-3DBD-A5DF-AD91167F5B14}"/>
                </a:ext>
              </a:extLst>
            </p:cNvPr>
            <p:cNvSpPr>
              <a:spLocks noChangeArrowheads="1"/>
            </p:cNvSpPr>
            <p:nvPr/>
          </p:nvSpPr>
          <p:spPr bwMode="auto">
            <a:xfrm>
              <a:off x="2372" y="278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sym typeface="Symbol" pitchFamily="2" charset="2"/>
                </a:rPr>
                <a:t></a:t>
              </a:r>
            </a:p>
          </p:txBody>
        </p:sp>
        <p:sp>
          <p:nvSpPr>
            <p:cNvPr id="25610" name="Rectangle 10">
              <a:extLst>
                <a:ext uri="{FF2B5EF4-FFF2-40B4-BE49-F238E27FC236}">
                  <a16:creationId xmlns:a16="http://schemas.microsoft.com/office/drawing/2014/main" id="{3BC3814B-DE0B-1CC9-DD16-B135E0B723E6}"/>
                </a:ext>
              </a:extLst>
            </p:cNvPr>
            <p:cNvSpPr>
              <a:spLocks noChangeArrowheads="1"/>
            </p:cNvSpPr>
            <p:nvPr/>
          </p:nvSpPr>
          <p:spPr bwMode="auto">
            <a:xfrm>
              <a:off x="2372" y="297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11" name="Text Box 11">
              <a:extLst>
                <a:ext uri="{FF2B5EF4-FFF2-40B4-BE49-F238E27FC236}">
                  <a16:creationId xmlns:a16="http://schemas.microsoft.com/office/drawing/2014/main" id="{B4A44F2E-76C7-8056-05DC-2EB13C3847FA}"/>
                </a:ext>
              </a:extLst>
            </p:cNvPr>
            <p:cNvSpPr txBox="1">
              <a:spLocks noChangeArrowheads="1"/>
            </p:cNvSpPr>
            <p:nvPr/>
          </p:nvSpPr>
          <p:spPr bwMode="auto">
            <a:xfrm>
              <a:off x="2155" y="216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0</a:t>
              </a:r>
            </a:p>
          </p:txBody>
        </p:sp>
        <p:sp>
          <p:nvSpPr>
            <p:cNvPr id="25612" name="Text Box 12">
              <a:extLst>
                <a:ext uri="{FF2B5EF4-FFF2-40B4-BE49-F238E27FC236}">
                  <a16:creationId xmlns:a16="http://schemas.microsoft.com/office/drawing/2014/main" id="{0F06E64B-C111-BA70-0BF8-D93FBD5AF097}"/>
                </a:ext>
              </a:extLst>
            </p:cNvPr>
            <p:cNvSpPr txBox="1">
              <a:spLocks noChangeArrowheads="1"/>
            </p:cNvSpPr>
            <p:nvPr/>
          </p:nvSpPr>
          <p:spPr bwMode="auto">
            <a:xfrm>
              <a:off x="2155" y="235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1</a:t>
              </a:r>
            </a:p>
          </p:txBody>
        </p:sp>
        <p:sp>
          <p:nvSpPr>
            <p:cNvPr id="25613" name="Text Box 13">
              <a:extLst>
                <a:ext uri="{FF2B5EF4-FFF2-40B4-BE49-F238E27FC236}">
                  <a16:creationId xmlns:a16="http://schemas.microsoft.com/office/drawing/2014/main" id="{974AA10A-4B52-8429-4A8A-E2FBF94E0279}"/>
                </a:ext>
              </a:extLst>
            </p:cNvPr>
            <p:cNvSpPr txBox="1">
              <a:spLocks noChangeArrowheads="1"/>
            </p:cNvSpPr>
            <p:nvPr/>
          </p:nvSpPr>
          <p:spPr bwMode="auto">
            <a:xfrm>
              <a:off x="2155" y="254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2</a:t>
              </a:r>
            </a:p>
          </p:txBody>
        </p:sp>
        <p:sp>
          <p:nvSpPr>
            <p:cNvPr id="25614" name="Text Box 14">
              <a:extLst>
                <a:ext uri="{FF2B5EF4-FFF2-40B4-BE49-F238E27FC236}">
                  <a16:creationId xmlns:a16="http://schemas.microsoft.com/office/drawing/2014/main" id="{43A60287-96B9-087A-F63A-2002E7678E19}"/>
                </a:ext>
              </a:extLst>
            </p:cNvPr>
            <p:cNvSpPr txBox="1">
              <a:spLocks noChangeArrowheads="1"/>
            </p:cNvSpPr>
            <p:nvPr/>
          </p:nvSpPr>
          <p:spPr bwMode="auto">
            <a:xfrm>
              <a:off x="2155" y="273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3</a:t>
              </a:r>
            </a:p>
          </p:txBody>
        </p:sp>
        <p:sp>
          <p:nvSpPr>
            <p:cNvPr id="25615" name="Text Box 15">
              <a:extLst>
                <a:ext uri="{FF2B5EF4-FFF2-40B4-BE49-F238E27FC236}">
                  <a16:creationId xmlns:a16="http://schemas.microsoft.com/office/drawing/2014/main" id="{10825473-B85A-C1CA-A414-57542566EF94}"/>
                </a:ext>
              </a:extLst>
            </p:cNvPr>
            <p:cNvSpPr txBox="1">
              <a:spLocks noChangeArrowheads="1"/>
            </p:cNvSpPr>
            <p:nvPr/>
          </p:nvSpPr>
          <p:spPr bwMode="auto">
            <a:xfrm>
              <a:off x="2155" y="292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imes New Roman" panose="02020603050405020304" pitchFamily="18" charset="0"/>
                </a:rPr>
                <a:t>4</a:t>
              </a:r>
            </a:p>
          </p:txBody>
        </p:sp>
        <p:sp>
          <p:nvSpPr>
            <p:cNvPr id="25616" name="AutoShape 16">
              <a:extLst>
                <a:ext uri="{FF2B5EF4-FFF2-40B4-BE49-F238E27FC236}">
                  <a16:creationId xmlns:a16="http://schemas.microsoft.com/office/drawing/2014/main" id="{2B1D4C9A-B76B-053A-BCD2-7691DACBC70E}"/>
                </a:ext>
              </a:extLst>
            </p:cNvPr>
            <p:cNvSpPr>
              <a:spLocks noChangeArrowheads="1"/>
            </p:cNvSpPr>
            <p:nvPr/>
          </p:nvSpPr>
          <p:spPr bwMode="auto">
            <a:xfrm>
              <a:off x="2736" y="2976"/>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451-229-0004</a:t>
              </a:r>
            </a:p>
          </p:txBody>
        </p:sp>
        <p:sp>
          <p:nvSpPr>
            <p:cNvPr id="25617" name="AutoShape 17">
              <a:extLst>
                <a:ext uri="{FF2B5EF4-FFF2-40B4-BE49-F238E27FC236}">
                  <a16:creationId xmlns:a16="http://schemas.microsoft.com/office/drawing/2014/main" id="{98C4DC10-7A9A-446E-9EFF-2738B3C27F67}"/>
                </a:ext>
              </a:extLst>
            </p:cNvPr>
            <p:cNvSpPr>
              <a:spLocks noChangeArrowheads="1"/>
            </p:cNvSpPr>
            <p:nvPr/>
          </p:nvSpPr>
          <p:spPr bwMode="auto">
            <a:xfrm>
              <a:off x="3936" y="2976"/>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981-101-0004</a:t>
              </a:r>
            </a:p>
          </p:txBody>
        </p:sp>
        <p:cxnSp>
          <p:nvCxnSpPr>
            <p:cNvPr id="25618" name="AutoShape 18">
              <a:extLst>
                <a:ext uri="{FF2B5EF4-FFF2-40B4-BE49-F238E27FC236}">
                  <a16:creationId xmlns:a16="http://schemas.microsoft.com/office/drawing/2014/main" id="{FF60119D-1987-A27E-6F96-B7E621DD97F4}"/>
                </a:ext>
              </a:extLst>
            </p:cNvPr>
            <p:cNvCxnSpPr>
              <a:cxnSpLocks noChangeShapeType="1"/>
              <a:stCxn id="25616" idx="3"/>
              <a:endCxn id="25617" idx="1"/>
            </p:cNvCxnSpPr>
            <p:nvPr/>
          </p:nvCxnSpPr>
          <p:spPr bwMode="auto">
            <a:xfrm>
              <a:off x="3750" y="3072"/>
              <a:ext cx="18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5619" name="Line 19">
              <a:extLst>
                <a:ext uri="{FF2B5EF4-FFF2-40B4-BE49-F238E27FC236}">
                  <a16:creationId xmlns:a16="http://schemas.microsoft.com/office/drawing/2014/main" id="{84C0C8DD-22C9-5056-80E9-D76A3716BEE0}"/>
                </a:ext>
              </a:extLst>
            </p:cNvPr>
            <p:cNvSpPr>
              <a:spLocks noChangeShapeType="1"/>
            </p:cNvSpPr>
            <p:nvPr/>
          </p:nvSpPr>
          <p:spPr bwMode="auto">
            <a:xfrm>
              <a:off x="2468" y="3072"/>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0" name="AutoShape 20">
              <a:extLst>
                <a:ext uri="{FF2B5EF4-FFF2-40B4-BE49-F238E27FC236}">
                  <a16:creationId xmlns:a16="http://schemas.microsoft.com/office/drawing/2014/main" id="{32FC4844-0E74-E953-CC27-99A59BE5B18C}"/>
                </a:ext>
              </a:extLst>
            </p:cNvPr>
            <p:cNvSpPr>
              <a:spLocks noChangeArrowheads="1"/>
            </p:cNvSpPr>
            <p:nvPr/>
          </p:nvSpPr>
          <p:spPr bwMode="auto">
            <a:xfrm>
              <a:off x="2736" y="2400"/>
              <a:ext cx="1008" cy="192"/>
            </a:xfrm>
            <a:prstGeom prst="roundRect">
              <a:avLst>
                <a:gd name="adj" fmla="val 16667"/>
              </a:avLst>
            </a:prstGeom>
            <a:solidFill>
              <a:schemeClr val="accent1"/>
            </a:solidFill>
            <a:ln w="1905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latin typeface="Tahoma" panose="020B0604030504040204" pitchFamily="34" charset="0"/>
                </a:rPr>
                <a:t>025-612-0001</a:t>
              </a:r>
            </a:p>
          </p:txBody>
        </p:sp>
        <p:sp>
          <p:nvSpPr>
            <p:cNvPr id="25621" name="Line 21">
              <a:extLst>
                <a:ext uri="{FF2B5EF4-FFF2-40B4-BE49-F238E27FC236}">
                  <a16:creationId xmlns:a16="http://schemas.microsoft.com/office/drawing/2014/main" id="{5D8286C9-92FF-C216-471A-2754D46EF2A7}"/>
                </a:ext>
              </a:extLst>
            </p:cNvPr>
            <p:cNvSpPr>
              <a:spLocks noChangeShapeType="1"/>
            </p:cNvSpPr>
            <p:nvPr/>
          </p:nvSpPr>
          <p:spPr bwMode="auto">
            <a:xfrm>
              <a:off x="2468" y="249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0246B1B-92A8-0A94-4AAA-7F47F8E29266}"/>
              </a:ext>
            </a:extLst>
          </p:cNvPr>
          <p:cNvSpPr>
            <a:spLocks noGrp="1" noChangeArrowheads="1"/>
          </p:cNvSpPr>
          <p:nvPr>
            <p:ph type="title"/>
          </p:nvPr>
        </p:nvSpPr>
        <p:spPr/>
        <p:txBody>
          <a:bodyPr/>
          <a:lstStyle/>
          <a:p>
            <a:pPr eaLnBrk="1" hangingPunct="1"/>
            <a:r>
              <a:rPr lang="en-US" altLang="en-US" sz="2400"/>
              <a:t>Linear Probing</a:t>
            </a:r>
          </a:p>
        </p:txBody>
      </p:sp>
      <p:sp>
        <p:nvSpPr>
          <p:cNvPr id="26627" name="Rectangle 3">
            <a:extLst>
              <a:ext uri="{FF2B5EF4-FFF2-40B4-BE49-F238E27FC236}">
                <a16:creationId xmlns:a16="http://schemas.microsoft.com/office/drawing/2014/main" id="{26813D35-94CF-7060-8B10-9ADC52193B01}"/>
              </a:ext>
            </a:extLst>
          </p:cNvPr>
          <p:cNvSpPr>
            <a:spLocks noGrp="1" noChangeArrowheads="1"/>
          </p:cNvSpPr>
          <p:nvPr>
            <p:ph type="body" sz="half" idx="1"/>
          </p:nvPr>
        </p:nvSpPr>
        <p:spPr>
          <a:xfrm>
            <a:off x="457200" y="1676400"/>
            <a:ext cx="4114800" cy="4572000"/>
          </a:xfrm>
        </p:spPr>
        <p:txBody>
          <a:bodyPr/>
          <a:lstStyle/>
          <a:p>
            <a:pPr eaLnBrk="1" hangingPunct="1">
              <a:lnSpc>
                <a:spcPct val="90000"/>
              </a:lnSpc>
            </a:pPr>
            <a:r>
              <a:rPr lang="en-US" altLang="en-US" sz="1800" b="1">
                <a:solidFill>
                  <a:schemeClr val="tx2"/>
                </a:solidFill>
              </a:rPr>
              <a:t>Open addressing</a:t>
            </a:r>
            <a:r>
              <a:rPr lang="en-US" altLang="en-US" sz="1800"/>
              <a:t>: the colliding item is placed in a different cell of the table</a:t>
            </a:r>
          </a:p>
          <a:p>
            <a:pPr eaLnBrk="1" hangingPunct="1">
              <a:lnSpc>
                <a:spcPct val="90000"/>
              </a:lnSpc>
            </a:pPr>
            <a:endParaRPr lang="en-US" altLang="en-US" sz="1800" b="1"/>
          </a:p>
          <a:p>
            <a:pPr eaLnBrk="1" hangingPunct="1">
              <a:lnSpc>
                <a:spcPct val="90000"/>
              </a:lnSpc>
            </a:pPr>
            <a:r>
              <a:rPr lang="en-US" altLang="en-US" sz="1800" i="1"/>
              <a:t>Linear probing</a:t>
            </a:r>
            <a:r>
              <a:rPr lang="en-US" altLang="en-US" sz="1800"/>
              <a:t> handles collisions by placing the colliding item in the next (circularly) available table cell</a:t>
            </a:r>
          </a:p>
          <a:p>
            <a:pPr eaLnBrk="1" hangingPunct="1">
              <a:lnSpc>
                <a:spcPct val="90000"/>
              </a:lnSpc>
            </a:pPr>
            <a:endParaRPr lang="en-US" altLang="en-US" sz="1800"/>
          </a:p>
          <a:p>
            <a:pPr eaLnBrk="1" hangingPunct="1">
              <a:lnSpc>
                <a:spcPct val="90000"/>
              </a:lnSpc>
            </a:pPr>
            <a:r>
              <a:rPr lang="en-US" altLang="en-US" sz="1800"/>
              <a:t>Each table cell inspected is referred to as a “probe”</a:t>
            </a:r>
          </a:p>
          <a:p>
            <a:pPr eaLnBrk="1" hangingPunct="1">
              <a:lnSpc>
                <a:spcPct val="90000"/>
              </a:lnSpc>
            </a:pPr>
            <a:endParaRPr lang="en-US" altLang="en-US" sz="1800"/>
          </a:p>
          <a:p>
            <a:pPr eaLnBrk="1" hangingPunct="1">
              <a:lnSpc>
                <a:spcPct val="90000"/>
              </a:lnSpc>
            </a:pPr>
            <a:r>
              <a:rPr lang="en-US" altLang="en-US" sz="1800"/>
              <a:t>Colliding items may lump together, causing future collisions to cause a longer sequence of probes</a:t>
            </a:r>
          </a:p>
        </p:txBody>
      </p:sp>
      <p:sp>
        <p:nvSpPr>
          <p:cNvPr id="26628" name="Rectangle 4">
            <a:extLst>
              <a:ext uri="{FF2B5EF4-FFF2-40B4-BE49-F238E27FC236}">
                <a16:creationId xmlns:a16="http://schemas.microsoft.com/office/drawing/2014/main" id="{2CA6E4A0-6F9B-50FA-6C9B-0C96B84E3B21}"/>
              </a:ext>
            </a:extLst>
          </p:cNvPr>
          <p:cNvSpPr>
            <a:spLocks noGrp="1" noChangeArrowheads="1"/>
          </p:cNvSpPr>
          <p:nvPr>
            <p:ph type="body" sz="half" idx="2"/>
          </p:nvPr>
        </p:nvSpPr>
        <p:spPr>
          <a:xfrm>
            <a:off x="4800600" y="1600200"/>
            <a:ext cx="3810000" cy="2209800"/>
          </a:xfrm>
        </p:spPr>
        <p:txBody>
          <a:bodyPr/>
          <a:lstStyle/>
          <a:p>
            <a:pPr eaLnBrk="1" hangingPunct="1"/>
            <a:r>
              <a:rPr lang="en-US" altLang="en-US" sz="2000"/>
              <a:t>Example:</a:t>
            </a:r>
          </a:p>
          <a:p>
            <a:pPr lvl="1" eaLnBrk="1" hangingPunct="1"/>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x</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x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13</a:t>
            </a:r>
          </a:p>
          <a:p>
            <a:pPr lvl="1" eaLnBrk="1" hangingPunct="1"/>
            <a:r>
              <a:rPr lang="en-US" altLang="en-US" sz="1800"/>
              <a:t>Insert keys in the order of 18, 41, 22, </a:t>
            </a:r>
            <a:r>
              <a:rPr lang="en-US" altLang="en-US" sz="1800">
                <a:solidFill>
                  <a:srgbClr val="FF0066"/>
                </a:solidFill>
              </a:rPr>
              <a:t>44</a:t>
            </a:r>
            <a:r>
              <a:rPr lang="en-US" altLang="en-US" sz="1800"/>
              <a:t>(18), 59, </a:t>
            </a:r>
            <a:r>
              <a:rPr lang="en-US" altLang="en-US" sz="1800">
                <a:solidFill>
                  <a:srgbClr val="FF0066"/>
                </a:solidFill>
              </a:rPr>
              <a:t>32</a:t>
            </a:r>
            <a:r>
              <a:rPr lang="en-US" altLang="en-US" sz="1800"/>
              <a:t>(44,59), </a:t>
            </a:r>
            <a:r>
              <a:rPr lang="en-US" altLang="en-US" sz="1800">
                <a:solidFill>
                  <a:srgbClr val="FF0066"/>
                </a:solidFill>
              </a:rPr>
              <a:t>31</a:t>
            </a:r>
            <a:r>
              <a:rPr lang="en-US" altLang="en-US" sz="1800"/>
              <a:t>(18,44,59,32,22), </a:t>
            </a:r>
            <a:r>
              <a:rPr lang="en-US" altLang="en-US" sz="1800">
                <a:solidFill>
                  <a:srgbClr val="FF0066"/>
                </a:solidFill>
              </a:rPr>
              <a:t>73</a:t>
            </a:r>
            <a:r>
              <a:rPr lang="en-US" altLang="en-US" sz="1800"/>
              <a:t>(32,22,31)</a:t>
            </a:r>
          </a:p>
          <a:p>
            <a:pPr lvl="1" eaLnBrk="1" hangingPunct="1"/>
            <a:endParaRPr lang="en-US" altLang="en-US" sz="1800"/>
          </a:p>
        </p:txBody>
      </p:sp>
      <p:sp>
        <p:nvSpPr>
          <p:cNvPr id="26629" name="Rectangle 5">
            <a:extLst>
              <a:ext uri="{FF2B5EF4-FFF2-40B4-BE49-F238E27FC236}">
                <a16:creationId xmlns:a16="http://schemas.microsoft.com/office/drawing/2014/main" id="{003D033A-0E5F-69F2-4F06-C71EE8E366D7}"/>
              </a:ext>
            </a:extLst>
          </p:cNvPr>
          <p:cNvSpPr>
            <a:spLocks noChangeArrowheads="1"/>
          </p:cNvSpPr>
          <p:nvPr/>
        </p:nvSpPr>
        <p:spPr bwMode="auto">
          <a:xfrm>
            <a:off x="4876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0" name="Rectangle 6">
            <a:extLst>
              <a:ext uri="{FF2B5EF4-FFF2-40B4-BE49-F238E27FC236}">
                <a16:creationId xmlns:a16="http://schemas.microsoft.com/office/drawing/2014/main" id="{02AFC638-17D2-6E6F-DBEF-2000BCA9CF96}"/>
              </a:ext>
            </a:extLst>
          </p:cNvPr>
          <p:cNvSpPr>
            <a:spLocks noChangeArrowheads="1"/>
          </p:cNvSpPr>
          <p:nvPr/>
        </p:nvSpPr>
        <p:spPr bwMode="auto">
          <a:xfrm>
            <a:off x="5181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1" name="Rectangle 7">
            <a:extLst>
              <a:ext uri="{FF2B5EF4-FFF2-40B4-BE49-F238E27FC236}">
                <a16:creationId xmlns:a16="http://schemas.microsoft.com/office/drawing/2014/main" id="{D745212B-D954-5C2A-A9A4-22B2CD138940}"/>
              </a:ext>
            </a:extLst>
          </p:cNvPr>
          <p:cNvSpPr>
            <a:spLocks noChangeArrowheads="1"/>
          </p:cNvSpPr>
          <p:nvPr/>
        </p:nvSpPr>
        <p:spPr bwMode="auto">
          <a:xfrm>
            <a:off x="5486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2" name="Rectangle 8">
            <a:extLst>
              <a:ext uri="{FF2B5EF4-FFF2-40B4-BE49-F238E27FC236}">
                <a16:creationId xmlns:a16="http://schemas.microsoft.com/office/drawing/2014/main" id="{17CA398C-3419-CCAC-D571-65DEB85CA3FC}"/>
              </a:ext>
            </a:extLst>
          </p:cNvPr>
          <p:cNvSpPr>
            <a:spLocks noChangeArrowheads="1"/>
          </p:cNvSpPr>
          <p:nvPr/>
        </p:nvSpPr>
        <p:spPr bwMode="auto">
          <a:xfrm>
            <a:off x="5791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3" name="Rectangle 9">
            <a:extLst>
              <a:ext uri="{FF2B5EF4-FFF2-40B4-BE49-F238E27FC236}">
                <a16:creationId xmlns:a16="http://schemas.microsoft.com/office/drawing/2014/main" id="{059DF274-B6C5-E177-AD40-A53C5C9AC51A}"/>
              </a:ext>
            </a:extLst>
          </p:cNvPr>
          <p:cNvSpPr>
            <a:spLocks noChangeArrowheads="1"/>
          </p:cNvSpPr>
          <p:nvPr/>
        </p:nvSpPr>
        <p:spPr bwMode="auto">
          <a:xfrm>
            <a:off x="6096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4" name="Rectangle 10">
            <a:extLst>
              <a:ext uri="{FF2B5EF4-FFF2-40B4-BE49-F238E27FC236}">
                <a16:creationId xmlns:a16="http://schemas.microsoft.com/office/drawing/2014/main" id="{1CB9A04F-892A-F41E-B089-2AABDA820388}"/>
              </a:ext>
            </a:extLst>
          </p:cNvPr>
          <p:cNvSpPr>
            <a:spLocks noChangeArrowheads="1"/>
          </p:cNvSpPr>
          <p:nvPr/>
        </p:nvSpPr>
        <p:spPr bwMode="auto">
          <a:xfrm>
            <a:off x="6400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5" name="Rectangle 11">
            <a:extLst>
              <a:ext uri="{FF2B5EF4-FFF2-40B4-BE49-F238E27FC236}">
                <a16:creationId xmlns:a16="http://schemas.microsoft.com/office/drawing/2014/main" id="{555BD5D5-E5EA-D125-91CB-0956BA69761C}"/>
              </a:ext>
            </a:extLst>
          </p:cNvPr>
          <p:cNvSpPr>
            <a:spLocks noChangeArrowheads="1"/>
          </p:cNvSpPr>
          <p:nvPr/>
        </p:nvSpPr>
        <p:spPr bwMode="auto">
          <a:xfrm>
            <a:off x="6705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6" name="Rectangle 12">
            <a:extLst>
              <a:ext uri="{FF2B5EF4-FFF2-40B4-BE49-F238E27FC236}">
                <a16:creationId xmlns:a16="http://schemas.microsoft.com/office/drawing/2014/main" id="{29673218-8813-9B35-909C-9AAD43917669}"/>
              </a:ext>
            </a:extLst>
          </p:cNvPr>
          <p:cNvSpPr>
            <a:spLocks noChangeArrowheads="1"/>
          </p:cNvSpPr>
          <p:nvPr/>
        </p:nvSpPr>
        <p:spPr bwMode="auto">
          <a:xfrm>
            <a:off x="7010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7" name="Rectangle 13">
            <a:extLst>
              <a:ext uri="{FF2B5EF4-FFF2-40B4-BE49-F238E27FC236}">
                <a16:creationId xmlns:a16="http://schemas.microsoft.com/office/drawing/2014/main" id="{7A46AB28-CFAA-18CE-1AD3-0A5FE95B28BB}"/>
              </a:ext>
            </a:extLst>
          </p:cNvPr>
          <p:cNvSpPr>
            <a:spLocks noChangeArrowheads="1"/>
          </p:cNvSpPr>
          <p:nvPr/>
        </p:nvSpPr>
        <p:spPr bwMode="auto">
          <a:xfrm>
            <a:off x="7315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8" name="Rectangle 14">
            <a:extLst>
              <a:ext uri="{FF2B5EF4-FFF2-40B4-BE49-F238E27FC236}">
                <a16:creationId xmlns:a16="http://schemas.microsoft.com/office/drawing/2014/main" id="{3B25F8A9-C642-34CD-344B-8312EF1371B2}"/>
              </a:ext>
            </a:extLst>
          </p:cNvPr>
          <p:cNvSpPr>
            <a:spLocks noChangeArrowheads="1"/>
          </p:cNvSpPr>
          <p:nvPr/>
        </p:nvSpPr>
        <p:spPr bwMode="auto">
          <a:xfrm>
            <a:off x="7620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39" name="Rectangle 15">
            <a:extLst>
              <a:ext uri="{FF2B5EF4-FFF2-40B4-BE49-F238E27FC236}">
                <a16:creationId xmlns:a16="http://schemas.microsoft.com/office/drawing/2014/main" id="{9C3368D8-F639-0203-A888-6995AFBE6474}"/>
              </a:ext>
            </a:extLst>
          </p:cNvPr>
          <p:cNvSpPr>
            <a:spLocks noChangeArrowheads="1"/>
          </p:cNvSpPr>
          <p:nvPr/>
        </p:nvSpPr>
        <p:spPr bwMode="auto">
          <a:xfrm>
            <a:off x="7924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0" name="Rectangle 16">
            <a:extLst>
              <a:ext uri="{FF2B5EF4-FFF2-40B4-BE49-F238E27FC236}">
                <a16:creationId xmlns:a16="http://schemas.microsoft.com/office/drawing/2014/main" id="{6F3E312A-144A-FB0B-95B6-1102E2DE5751}"/>
              </a:ext>
            </a:extLst>
          </p:cNvPr>
          <p:cNvSpPr>
            <a:spLocks noChangeArrowheads="1"/>
          </p:cNvSpPr>
          <p:nvPr/>
        </p:nvSpPr>
        <p:spPr bwMode="auto">
          <a:xfrm>
            <a:off x="8229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1" name="Rectangle 17">
            <a:extLst>
              <a:ext uri="{FF2B5EF4-FFF2-40B4-BE49-F238E27FC236}">
                <a16:creationId xmlns:a16="http://schemas.microsoft.com/office/drawing/2014/main" id="{CBBC3028-0288-7B8C-78BE-8FB261077629}"/>
              </a:ext>
            </a:extLst>
          </p:cNvPr>
          <p:cNvSpPr>
            <a:spLocks noChangeArrowheads="1"/>
          </p:cNvSpPr>
          <p:nvPr/>
        </p:nvSpPr>
        <p:spPr bwMode="auto">
          <a:xfrm>
            <a:off x="8534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42" name="Text Box 18">
            <a:extLst>
              <a:ext uri="{FF2B5EF4-FFF2-40B4-BE49-F238E27FC236}">
                <a16:creationId xmlns:a16="http://schemas.microsoft.com/office/drawing/2014/main" id="{C0F5EEE8-30F1-580F-3A81-6240E2CFBDF3}"/>
              </a:ext>
            </a:extLst>
          </p:cNvPr>
          <p:cNvSpPr txBox="1">
            <a:spLocks noChangeArrowheads="1"/>
          </p:cNvSpPr>
          <p:nvPr/>
        </p:nvSpPr>
        <p:spPr bwMode="auto">
          <a:xfrm>
            <a:off x="48799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26643" name="Text Box 19">
            <a:extLst>
              <a:ext uri="{FF2B5EF4-FFF2-40B4-BE49-F238E27FC236}">
                <a16:creationId xmlns:a16="http://schemas.microsoft.com/office/drawing/2014/main" id="{77862690-60EB-F86F-B714-1FE4B78D6491}"/>
              </a:ext>
            </a:extLst>
          </p:cNvPr>
          <p:cNvSpPr txBox="1">
            <a:spLocks noChangeArrowheads="1"/>
          </p:cNvSpPr>
          <p:nvPr/>
        </p:nvSpPr>
        <p:spPr bwMode="auto">
          <a:xfrm>
            <a:off x="51816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26644" name="Text Box 20">
            <a:extLst>
              <a:ext uri="{FF2B5EF4-FFF2-40B4-BE49-F238E27FC236}">
                <a16:creationId xmlns:a16="http://schemas.microsoft.com/office/drawing/2014/main" id="{2E7F4884-80CD-0EC3-0996-AC20CF81E807}"/>
              </a:ext>
            </a:extLst>
          </p:cNvPr>
          <p:cNvSpPr txBox="1">
            <a:spLocks noChangeArrowheads="1"/>
          </p:cNvSpPr>
          <p:nvPr/>
        </p:nvSpPr>
        <p:spPr bwMode="auto">
          <a:xfrm>
            <a:off x="548322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26645" name="Text Box 21">
            <a:extLst>
              <a:ext uri="{FF2B5EF4-FFF2-40B4-BE49-F238E27FC236}">
                <a16:creationId xmlns:a16="http://schemas.microsoft.com/office/drawing/2014/main" id="{1743FCAD-6784-8E27-D7C0-EA6DD2F849E2}"/>
              </a:ext>
            </a:extLst>
          </p:cNvPr>
          <p:cNvSpPr txBox="1">
            <a:spLocks noChangeArrowheads="1"/>
          </p:cNvSpPr>
          <p:nvPr/>
        </p:nvSpPr>
        <p:spPr bwMode="auto">
          <a:xfrm>
            <a:off x="578485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26646" name="Text Box 22">
            <a:extLst>
              <a:ext uri="{FF2B5EF4-FFF2-40B4-BE49-F238E27FC236}">
                <a16:creationId xmlns:a16="http://schemas.microsoft.com/office/drawing/2014/main" id="{375DE589-BCB4-57C3-3EB9-503AA5312D1A}"/>
              </a:ext>
            </a:extLst>
          </p:cNvPr>
          <p:cNvSpPr txBox="1">
            <a:spLocks noChangeArrowheads="1"/>
          </p:cNvSpPr>
          <p:nvPr/>
        </p:nvSpPr>
        <p:spPr bwMode="auto">
          <a:xfrm>
            <a:off x="60864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26647" name="Text Box 23">
            <a:extLst>
              <a:ext uri="{FF2B5EF4-FFF2-40B4-BE49-F238E27FC236}">
                <a16:creationId xmlns:a16="http://schemas.microsoft.com/office/drawing/2014/main" id="{71B05332-7C43-DF8C-6F2C-CDFEF5B46C99}"/>
              </a:ext>
            </a:extLst>
          </p:cNvPr>
          <p:cNvSpPr txBox="1">
            <a:spLocks noChangeArrowheads="1"/>
          </p:cNvSpPr>
          <p:nvPr/>
        </p:nvSpPr>
        <p:spPr bwMode="auto">
          <a:xfrm>
            <a:off x="63881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26648" name="Text Box 24">
            <a:extLst>
              <a:ext uri="{FF2B5EF4-FFF2-40B4-BE49-F238E27FC236}">
                <a16:creationId xmlns:a16="http://schemas.microsoft.com/office/drawing/2014/main" id="{66FC1D44-B692-AE16-E1CC-6F1C8DFB5AE6}"/>
              </a:ext>
            </a:extLst>
          </p:cNvPr>
          <p:cNvSpPr txBox="1">
            <a:spLocks noChangeArrowheads="1"/>
          </p:cNvSpPr>
          <p:nvPr/>
        </p:nvSpPr>
        <p:spPr bwMode="auto">
          <a:xfrm>
            <a:off x="668972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26649" name="Text Box 25">
            <a:extLst>
              <a:ext uri="{FF2B5EF4-FFF2-40B4-BE49-F238E27FC236}">
                <a16:creationId xmlns:a16="http://schemas.microsoft.com/office/drawing/2014/main" id="{33C5E49F-968D-241A-8CAC-7CD53166B8E4}"/>
              </a:ext>
            </a:extLst>
          </p:cNvPr>
          <p:cNvSpPr txBox="1">
            <a:spLocks noChangeArrowheads="1"/>
          </p:cNvSpPr>
          <p:nvPr/>
        </p:nvSpPr>
        <p:spPr bwMode="auto">
          <a:xfrm>
            <a:off x="699135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26650" name="Text Box 26">
            <a:extLst>
              <a:ext uri="{FF2B5EF4-FFF2-40B4-BE49-F238E27FC236}">
                <a16:creationId xmlns:a16="http://schemas.microsoft.com/office/drawing/2014/main" id="{71072E3D-3785-BA6B-5EB0-E56FCBDC3950}"/>
              </a:ext>
            </a:extLst>
          </p:cNvPr>
          <p:cNvSpPr txBox="1">
            <a:spLocks noChangeArrowheads="1"/>
          </p:cNvSpPr>
          <p:nvPr/>
        </p:nvSpPr>
        <p:spPr bwMode="auto">
          <a:xfrm>
            <a:off x="72929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26651" name="Text Box 27">
            <a:extLst>
              <a:ext uri="{FF2B5EF4-FFF2-40B4-BE49-F238E27FC236}">
                <a16:creationId xmlns:a16="http://schemas.microsoft.com/office/drawing/2014/main" id="{C350F126-D791-B0CF-B6D4-F29A4ED9FF86}"/>
              </a:ext>
            </a:extLst>
          </p:cNvPr>
          <p:cNvSpPr txBox="1">
            <a:spLocks noChangeArrowheads="1"/>
          </p:cNvSpPr>
          <p:nvPr/>
        </p:nvSpPr>
        <p:spPr bwMode="auto">
          <a:xfrm>
            <a:off x="75946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26652" name="Text Box 28">
            <a:extLst>
              <a:ext uri="{FF2B5EF4-FFF2-40B4-BE49-F238E27FC236}">
                <a16:creationId xmlns:a16="http://schemas.microsoft.com/office/drawing/2014/main" id="{5AE75EF0-50DE-D787-6FEB-9172B56A64BD}"/>
              </a:ext>
            </a:extLst>
          </p:cNvPr>
          <p:cNvSpPr txBox="1">
            <a:spLocks noChangeArrowheads="1"/>
          </p:cNvSpPr>
          <p:nvPr/>
        </p:nvSpPr>
        <p:spPr bwMode="auto">
          <a:xfrm>
            <a:off x="7839075"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26653" name="Text Box 29">
            <a:extLst>
              <a:ext uri="{FF2B5EF4-FFF2-40B4-BE49-F238E27FC236}">
                <a16:creationId xmlns:a16="http://schemas.microsoft.com/office/drawing/2014/main" id="{49702E7A-E096-C894-BC34-D2A03A82302D}"/>
              </a:ext>
            </a:extLst>
          </p:cNvPr>
          <p:cNvSpPr txBox="1">
            <a:spLocks noChangeArrowheads="1"/>
          </p:cNvSpPr>
          <p:nvPr/>
        </p:nvSpPr>
        <p:spPr bwMode="auto">
          <a:xfrm>
            <a:off x="8140700"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26654" name="Text Box 30">
            <a:extLst>
              <a:ext uri="{FF2B5EF4-FFF2-40B4-BE49-F238E27FC236}">
                <a16:creationId xmlns:a16="http://schemas.microsoft.com/office/drawing/2014/main" id="{387D7912-C853-05D1-2D0D-B09C0D406A92}"/>
              </a:ext>
            </a:extLst>
          </p:cNvPr>
          <p:cNvSpPr txBox="1">
            <a:spLocks noChangeArrowheads="1"/>
          </p:cNvSpPr>
          <p:nvPr/>
        </p:nvSpPr>
        <p:spPr bwMode="auto">
          <a:xfrm>
            <a:off x="8442325"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26655" name="Rectangle 31">
            <a:extLst>
              <a:ext uri="{FF2B5EF4-FFF2-40B4-BE49-F238E27FC236}">
                <a16:creationId xmlns:a16="http://schemas.microsoft.com/office/drawing/2014/main" id="{71610783-8FD1-E8F9-553D-7CEDB83C9C98}"/>
              </a:ext>
            </a:extLst>
          </p:cNvPr>
          <p:cNvSpPr>
            <a:spLocks noChangeArrowheads="1"/>
          </p:cNvSpPr>
          <p:nvPr/>
        </p:nvSpPr>
        <p:spPr bwMode="auto">
          <a:xfrm>
            <a:off x="4876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6" name="Rectangle 32">
            <a:extLst>
              <a:ext uri="{FF2B5EF4-FFF2-40B4-BE49-F238E27FC236}">
                <a16:creationId xmlns:a16="http://schemas.microsoft.com/office/drawing/2014/main" id="{CCACE97D-87E3-F304-1722-C793046E3541}"/>
              </a:ext>
            </a:extLst>
          </p:cNvPr>
          <p:cNvSpPr>
            <a:spLocks noChangeArrowheads="1"/>
          </p:cNvSpPr>
          <p:nvPr/>
        </p:nvSpPr>
        <p:spPr bwMode="auto">
          <a:xfrm>
            <a:off x="5181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7" name="Rectangle 33">
            <a:extLst>
              <a:ext uri="{FF2B5EF4-FFF2-40B4-BE49-F238E27FC236}">
                <a16:creationId xmlns:a16="http://schemas.microsoft.com/office/drawing/2014/main" id="{FD5A91D3-31EC-E6DF-0211-225ED557D4B0}"/>
              </a:ext>
            </a:extLst>
          </p:cNvPr>
          <p:cNvSpPr>
            <a:spLocks noChangeArrowheads="1"/>
          </p:cNvSpPr>
          <p:nvPr/>
        </p:nvSpPr>
        <p:spPr bwMode="auto">
          <a:xfrm>
            <a:off x="5486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41</a:t>
            </a:r>
          </a:p>
        </p:txBody>
      </p:sp>
      <p:sp>
        <p:nvSpPr>
          <p:cNvPr id="26658" name="Rectangle 34">
            <a:extLst>
              <a:ext uri="{FF2B5EF4-FFF2-40B4-BE49-F238E27FC236}">
                <a16:creationId xmlns:a16="http://schemas.microsoft.com/office/drawing/2014/main" id="{617844E4-1593-5EA0-2443-0B220CFED581}"/>
              </a:ext>
            </a:extLst>
          </p:cNvPr>
          <p:cNvSpPr>
            <a:spLocks noChangeArrowheads="1"/>
          </p:cNvSpPr>
          <p:nvPr/>
        </p:nvSpPr>
        <p:spPr bwMode="auto">
          <a:xfrm>
            <a:off x="5791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59" name="Rectangle 35">
            <a:extLst>
              <a:ext uri="{FF2B5EF4-FFF2-40B4-BE49-F238E27FC236}">
                <a16:creationId xmlns:a16="http://schemas.microsoft.com/office/drawing/2014/main" id="{55EAADD0-F2C5-CAA4-81DB-418C5FA67316}"/>
              </a:ext>
            </a:extLst>
          </p:cNvPr>
          <p:cNvSpPr>
            <a:spLocks noChangeArrowheads="1"/>
          </p:cNvSpPr>
          <p:nvPr/>
        </p:nvSpPr>
        <p:spPr bwMode="auto">
          <a:xfrm>
            <a:off x="6096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60" name="Rectangle 36">
            <a:extLst>
              <a:ext uri="{FF2B5EF4-FFF2-40B4-BE49-F238E27FC236}">
                <a16:creationId xmlns:a16="http://schemas.microsoft.com/office/drawing/2014/main" id="{E868A19E-BF68-7A73-0CB9-0E3BD756DCAD}"/>
              </a:ext>
            </a:extLst>
          </p:cNvPr>
          <p:cNvSpPr>
            <a:spLocks noChangeArrowheads="1"/>
          </p:cNvSpPr>
          <p:nvPr/>
        </p:nvSpPr>
        <p:spPr bwMode="auto">
          <a:xfrm>
            <a:off x="6400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18</a:t>
            </a:r>
          </a:p>
        </p:txBody>
      </p:sp>
      <p:sp>
        <p:nvSpPr>
          <p:cNvPr id="26661" name="Rectangle 37">
            <a:extLst>
              <a:ext uri="{FF2B5EF4-FFF2-40B4-BE49-F238E27FC236}">
                <a16:creationId xmlns:a16="http://schemas.microsoft.com/office/drawing/2014/main" id="{0B889EA4-BFD4-7C68-462E-81CA7FFF56EA}"/>
              </a:ext>
            </a:extLst>
          </p:cNvPr>
          <p:cNvSpPr>
            <a:spLocks noChangeArrowheads="1"/>
          </p:cNvSpPr>
          <p:nvPr/>
        </p:nvSpPr>
        <p:spPr bwMode="auto">
          <a:xfrm>
            <a:off x="6705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44</a:t>
            </a:r>
          </a:p>
        </p:txBody>
      </p:sp>
      <p:sp>
        <p:nvSpPr>
          <p:cNvPr id="26662" name="Rectangle 38">
            <a:extLst>
              <a:ext uri="{FF2B5EF4-FFF2-40B4-BE49-F238E27FC236}">
                <a16:creationId xmlns:a16="http://schemas.microsoft.com/office/drawing/2014/main" id="{73BC6085-5AB9-F747-F732-2217DCBC57A7}"/>
              </a:ext>
            </a:extLst>
          </p:cNvPr>
          <p:cNvSpPr>
            <a:spLocks noChangeArrowheads="1"/>
          </p:cNvSpPr>
          <p:nvPr/>
        </p:nvSpPr>
        <p:spPr bwMode="auto">
          <a:xfrm>
            <a:off x="7010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59</a:t>
            </a:r>
          </a:p>
        </p:txBody>
      </p:sp>
      <p:sp>
        <p:nvSpPr>
          <p:cNvPr id="26663" name="Rectangle 39">
            <a:extLst>
              <a:ext uri="{FF2B5EF4-FFF2-40B4-BE49-F238E27FC236}">
                <a16:creationId xmlns:a16="http://schemas.microsoft.com/office/drawing/2014/main" id="{42925E4B-811F-0521-288E-38D6EB1F4E4B}"/>
              </a:ext>
            </a:extLst>
          </p:cNvPr>
          <p:cNvSpPr>
            <a:spLocks noChangeArrowheads="1"/>
          </p:cNvSpPr>
          <p:nvPr/>
        </p:nvSpPr>
        <p:spPr bwMode="auto">
          <a:xfrm>
            <a:off x="7315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32</a:t>
            </a:r>
          </a:p>
        </p:txBody>
      </p:sp>
      <p:sp>
        <p:nvSpPr>
          <p:cNvPr id="26664" name="Rectangle 40">
            <a:extLst>
              <a:ext uri="{FF2B5EF4-FFF2-40B4-BE49-F238E27FC236}">
                <a16:creationId xmlns:a16="http://schemas.microsoft.com/office/drawing/2014/main" id="{CC6BE382-9518-7CC3-2154-943F42B4F416}"/>
              </a:ext>
            </a:extLst>
          </p:cNvPr>
          <p:cNvSpPr>
            <a:spLocks noChangeArrowheads="1"/>
          </p:cNvSpPr>
          <p:nvPr/>
        </p:nvSpPr>
        <p:spPr bwMode="auto">
          <a:xfrm>
            <a:off x="7620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22</a:t>
            </a:r>
          </a:p>
        </p:txBody>
      </p:sp>
      <p:sp>
        <p:nvSpPr>
          <p:cNvPr id="26665" name="Rectangle 41">
            <a:extLst>
              <a:ext uri="{FF2B5EF4-FFF2-40B4-BE49-F238E27FC236}">
                <a16:creationId xmlns:a16="http://schemas.microsoft.com/office/drawing/2014/main" id="{46BA269C-4479-CB59-C454-6593355F88E4}"/>
              </a:ext>
            </a:extLst>
          </p:cNvPr>
          <p:cNvSpPr>
            <a:spLocks noChangeArrowheads="1"/>
          </p:cNvSpPr>
          <p:nvPr/>
        </p:nvSpPr>
        <p:spPr bwMode="auto">
          <a:xfrm>
            <a:off x="7924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31</a:t>
            </a:r>
          </a:p>
        </p:txBody>
      </p:sp>
      <p:sp>
        <p:nvSpPr>
          <p:cNvPr id="26666" name="Rectangle 42">
            <a:extLst>
              <a:ext uri="{FF2B5EF4-FFF2-40B4-BE49-F238E27FC236}">
                <a16:creationId xmlns:a16="http://schemas.microsoft.com/office/drawing/2014/main" id="{631F9C17-24BE-3D49-9EDD-3DC6D8B6EC7C}"/>
              </a:ext>
            </a:extLst>
          </p:cNvPr>
          <p:cNvSpPr>
            <a:spLocks noChangeArrowheads="1"/>
          </p:cNvSpPr>
          <p:nvPr/>
        </p:nvSpPr>
        <p:spPr bwMode="auto">
          <a:xfrm>
            <a:off x="8229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73</a:t>
            </a:r>
          </a:p>
        </p:txBody>
      </p:sp>
      <p:sp>
        <p:nvSpPr>
          <p:cNvPr id="26667" name="Rectangle 43">
            <a:extLst>
              <a:ext uri="{FF2B5EF4-FFF2-40B4-BE49-F238E27FC236}">
                <a16:creationId xmlns:a16="http://schemas.microsoft.com/office/drawing/2014/main" id="{E8ABFED3-502E-7145-32E9-84CBF855FCF0}"/>
              </a:ext>
            </a:extLst>
          </p:cNvPr>
          <p:cNvSpPr>
            <a:spLocks noChangeArrowheads="1"/>
          </p:cNvSpPr>
          <p:nvPr/>
        </p:nvSpPr>
        <p:spPr bwMode="auto">
          <a:xfrm>
            <a:off x="8534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26668" name="Text Box 44">
            <a:extLst>
              <a:ext uri="{FF2B5EF4-FFF2-40B4-BE49-F238E27FC236}">
                <a16:creationId xmlns:a16="http://schemas.microsoft.com/office/drawing/2014/main" id="{FCEF59B8-3C29-9E48-D910-1CCC0459B62E}"/>
              </a:ext>
            </a:extLst>
          </p:cNvPr>
          <p:cNvSpPr txBox="1">
            <a:spLocks noChangeArrowheads="1"/>
          </p:cNvSpPr>
          <p:nvPr/>
        </p:nvSpPr>
        <p:spPr bwMode="auto">
          <a:xfrm>
            <a:off x="48799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26669" name="Text Box 45">
            <a:extLst>
              <a:ext uri="{FF2B5EF4-FFF2-40B4-BE49-F238E27FC236}">
                <a16:creationId xmlns:a16="http://schemas.microsoft.com/office/drawing/2014/main" id="{1CC97A18-1C4A-D18B-4449-CDD04DE533D6}"/>
              </a:ext>
            </a:extLst>
          </p:cNvPr>
          <p:cNvSpPr txBox="1">
            <a:spLocks noChangeArrowheads="1"/>
          </p:cNvSpPr>
          <p:nvPr/>
        </p:nvSpPr>
        <p:spPr bwMode="auto">
          <a:xfrm>
            <a:off x="51816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26670" name="Text Box 46">
            <a:extLst>
              <a:ext uri="{FF2B5EF4-FFF2-40B4-BE49-F238E27FC236}">
                <a16:creationId xmlns:a16="http://schemas.microsoft.com/office/drawing/2014/main" id="{E56111D4-538A-BD9D-9279-85AE02E4743C}"/>
              </a:ext>
            </a:extLst>
          </p:cNvPr>
          <p:cNvSpPr txBox="1">
            <a:spLocks noChangeArrowheads="1"/>
          </p:cNvSpPr>
          <p:nvPr/>
        </p:nvSpPr>
        <p:spPr bwMode="auto">
          <a:xfrm>
            <a:off x="548322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26671" name="Text Box 47">
            <a:extLst>
              <a:ext uri="{FF2B5EF4-FFF2-40B4-BE49-F238E27FC236}">
                <a16:creationId xmlns:a16="http://schemas.microsoft.com/office/drawing/2014/main" id="{85AB531B-E632-5CD3-9B62-F192FA051A63}"/>
              </a:ext>
            </a:extLst>
          </p:cNvPr>
          <p:cNvSpPr txBox="1">
            <a:spLocks noChangeArrowheads="1"/>
          </p:cNvSpPr>
          <p:nvPr/>
        </p:nvSpPr>
        <p:spPr bwMode="auto">
          <a:xfrm>
            <a:off x="578485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26672" name="Text Box 48">
            <a:extLst>
              <a:ext uri="{FF2B5EF4-FFF2-40B4-BE49-F238E27FC236}">
                <a16:creationId xmlns:a16="http://schemas.microsoft.com/office/drawing/2014/main" id="{F1ED1FC1-F432-B9F0-C864-109CB6913F43}"/>
              </a:ext>
            </a:extLst>
          </p:cNvPr>
          <p:cNvSpPr txBox="1">
            <a:spLocks noChangeArrowheads="1"/>
          </p:cNvSpPr>
          <p:nvPr/>
        </p:nvSpPr>
        <p:spPr bwMode="auto">
          <a:xfrm>
            <a:off x="60864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26673" name="Text Box 49">
            <a:extLst>
              <a:ext uri="{FF2B5EF4-FFF2-40B4-BE49-F238E27FC236}">
                <a16:creationId xmlns:a16="http://schemas.microsoft.com/office/drawing/2014/main" id="{4A7078F2-085A-408E-9C95-B6A2A3AC20E6}"/>
              </a:ext>
            </a:extLst>
          </p:cNvPr>
          <p:cNvSpPr txBox="1">
            <a:spLocks noChangeArrowheads="1"/>
          </p:cNvSpPr>
          <p:nvPr/>
        </p:nvSpPr>
        <p:spPr bwMode="auto">
          <a:xfrm>
            <a:off x="63881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26674" name="Text Box 50">
            <a:extLst>
              <a:ext uri="{FF2B5EF4-FFF2-40B4-BE49-F238E27FC236}">
                <a16:creationId xmlns:a16="http://schemas.microsoft.com/office/drawing/2014/main" id="{B9776D41-BBB0-CBF8-A879-1EC9D39B3684}"/>
              </a:ext>
            </a:extLst>
          </p:cNvPr>
          <p:cNvSpPr txBox="1">
            <a:spLocks noChangeArrowheads="1"/>
          </p:cNvSpPr>
          <p:nvPr/>
        </p:nvSpPr>
        <p:spPr bwMode="auto">
          <a:xfrm>
            <a:off x="668972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26675" name="Text Box 51">
            <a:extLst>
              <a:ext uri="{FF2B5EF4-FFF2-40B4-BE49-F238E27FC236}">
                <a16:creationId xmlns:a16="http://schemas.microsoft.com/office/drawing/2014/main" id="{8C2A0A25-CD09-BDAF-49CB-7C81DA6862B4}"/>
              </a:ext>
            </a:extLst>
          </p:cNvPr>
          <p:cNvSpPr txBox="1">
            <a:spLocks noChangeArrowheads="1"/>
          </p:cNvSpPr>
          <p:nvPr/>
        </p:nvSpPr>
        <p:spPr bwMode="auto">
          <a:xfrm>
            <a:off x="699135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26676" name="Text Box 52">
            <a:extLst>
              <a:ext uri="{FF2B5EF4-FFF2-40B4-BE49-F238E27FC236}">
                <a16:creationId xmlns:a16="http://schemas.microsoft.com/office/drawing/2014/main" id="{678CBEEB-E470-F363-CD4E-1C7ECA57AB3D}"/>
              </a:ext>
            </a:extLst>
          </p:cNvPr>
          <p:cNvSpPr txBox="1">
            <a:spLocks noChangeArrowheads="1"/>
          </p:cNvSpPr>
          <p:nvPr/>
        </p:nvSpPr>
        <p:spPr bwMode="auto">
          <a:xfrm>
            <a:off x="72929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26677" name="Text Box 53">
            <a:extLst>
              <a:ext uri="{FF2B5EF4-FFF2-40B4-BE49-F238E27FC236}">
                <a16:creationId xmlns:a16="http://schemas.microsoft.com/office/drawing/2014/main" id="{C59518BA-837B-59E5-C543-518D3288C754}"/>
              </a:ext>
            </a:extLst>
          </p:cNvPr>
          <p:cNvSpPr txBox="1">
            <a:spLocks noChangeArrowheads="1"/>
          </p:cNvSpPr>
          <p:nvPr/>
        </p:nvSpPr>
        <p:spPr bwMode="auto">
          <a:xfrm>
            <a:off x="75946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26678" name="Text Box 54">
            <a:extLst>
              <a:ext uri="{FF2B5EF4-FFF2-40B4-BE49-F238E27FC236}">
                <a16:creationId xmlns:a16="http://schemas.microsoft.com/office/drawing/2014/main" id="{E7E07C46-2043-8EB4-BA1C-9A076DE97CAF}"/>
              </a:ext>
            </a:extLst>
          </p:cNvPr>
          <p:cNvSpPr txBox="1">
            <a:spLocks noChangeArrowheads="1"/>
          </p:cNvSpPr>
          <p:nvPr/>
        </p:nvSpPr>
        <p:spPr bwMode="auto">
          <a:xfrm>
            <a:off x="7839075"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26679" name="Text Box 55">
            <a:extLst>
              <a:ext uri="{FF2B5EF4-FFF2-40B4-BE49-F238E27FC236}">
                <a16:creationId xmlns:a16="http://schemas.microsoft.com/office/drawing/2014/main" id="{C9C26EA2-8256-B653-1737-D797C8B2F2A6}"/>
              </a:ext>
            </a:extLst>
          </p:cNvPr>
          <p:cNvSpPr txBox="1">
            <a:spLocks noChangeArrowheads="1"/>
          </p:cNvSpPr>
          <p:nvPr/>
        </p:nvSpPr>
        <p:spPr bwMode="auto">
          <a:xfrm>
            <a:off x="8140700"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26680" name="Text Box 56">
            <a:extLst>
              <a:ext uri="{FF2B5EF4-FFF2-40B4-BE49-F238E27FC236}">
                <a16:creationId xmlns:a16="http://schemas.microsoft.com/office/drawing/2014/main" id="{114BDF44-2CAF-3385-F6AA-D1DEC8A3F2DE}"/>
              </a:ext>
            </a:extLst>
          </p:cNvPr>
          <p:cNvSpPr txBox="1">
            <a:spLocks noChangeArrowheads="1"/>
          </p:cNvSpPr>
          <p:nvPr/>
        </p:nvSpPr>
        <p:spPr bwMode="auto">
          <a:xfrm>
            <a:off x="8442325"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26681" name="AutoShape 57">
            <a:extLst>
              <a:ext uri="{FF2B5EF4-FFF2-40B4-BE49-F238E27FC236}">
                <a16:creationId xmlns:a16="http://schemas.microsoft.com/office/drawing/2014/main" id="{B6961CF3-E0FB-B4AB-A1E2-E1AB6E03245D}"/>
              </a:ext>
            </a:extLst>
          </p:cNvPr>
          <p:cNvSpPr>
            <a:spLocks noChangeArrowheads="1"/>
          </p:cNvSpPr>
          <p:nvPr/>
        </p:nvSpPr>
        <p:spPr bwMode="auto">
          <a:xfrm>
            <a:off x="6705600" y="4953000"/>
            <a:ext cx="304800" cy="304800"/>
          </a:xfrm>
          <a:prstGeom prst="downArrow">
            <a:avLst>
              <a:gd name="adj1" fmla="val 50000"/>
              <a:gd name="adj2" fmla="val 25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C24ED33-9BAB-1DF1-229C-6641326716BF}"/>
              </a:ext>
            </a:extLst>
          </p:cNvPr>
          <p:cNvSpPr>
            <a:spLocks noGrp="1" noChangeArrowheads="1"/>
          </p:cNvSpPr>
          <p:nvPr>
            <p:ph type="title"/>
          </p:nvPr>
        </p:nvSpPr>
        <p:spPr/>
        <p:txBody>
          <a:bodyPr/>
          <a:lstStyle/>
          <a:p>
            <a:pPr eaLnBrk="1" hangingPunct="1"/>
            <a:r>
              <a:rPr lang="en-US" altLang="en-US" sz="2400"/>
              <a:t>Search with Linear Probing</a:t>
            </a:r>
          </a:p>
        </p:txBody>
      </p:sp>
      <p:sp>
        <p:nvSpPr>
          <p:cNvPr id="27651" name="Rectangle 3">
            <a:extLst>
              <a:ext uri="{FF2B5EF4-FFF2-40B4-BE49-F238E27FC236}">
                <a16:creationId xmlns:a16="http://schemas.microsoft.com/office/drawing/2014/main" id="{4E564901-72FE-E5E0-BEAB-3C58C358C474}"/>
              </a:ext>
            </a:extLst>
          </p:cNvPr>
          <p:cNvSpPr>
            <a:spLocks noGrp="1" noChangeArrowheads="1"/>
          </p:cNvSpPr>
          <p:nvPr>
            <p:ph type="body" sz="half" idx="1"/>
          </p:nvPr>
        </p:nvSpPr>
        <p:spPr>
          <a:xfrm>
            <a:off x="609600" y="1676400"/>
            <a:ext cx="3886200" cy="4419600"/>
          </a:xfrm>
        </p:spPr>
        <p:txBody>
          <a:bodyPr/>
          <a:lstStyle/>
          <a:p>
            <a:pPr eaLnBrk="1" hangingPunct="1"/>
            <a:r>
              <a:rPr lang="en-US" altLang="en-US" sz="2000"/>
              <a:t>Consider a hash table </a:t>
            </a:r>
            <a:r>
              <a:rPr lang="en-US" altLang="en-US" sz="2000" b="1" i="1">
                <a:latin typeface="Times New Roman" panose="02020603050405020304" pitchFamily="18" charset="0"/>
              </a:rPr>
              <a:t>A</a:t>
            </a:r>
            <a:r>
              <a:rPr lang="en-US" altLang="en-US" sz="2000"/>
              <a:t> that uses linear probing</a:t>
            </a:r>
          </a:p>
          <a:p>
            <a:pPr eaLnBrk="1" hangingPunct="1"/>
            <a:endParaRPr lang="en-US" altLang="en-US" sz="2000"/>
          </a:p>
          <a:p>
            <a:pPr eaLnBrk="1" hangingPunct="1"/>
            <a:r>
              <a:rPr lang="en-US" altLang="en-US" sz="2000">
                <a:solidFill>
                  <a:schemeClr val="tx2"/>
                </a:solidFill>
              </a:rPr>
              <a:t>findElement</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a:t>
            </a:r>
          </a:p>
          <a:p>
            <a:pPr lvl="1" eaLnBrk="1" hangingPunct="1"/>
            <a:r>
              <a:rPr lang="en-US" altLang="en-US" sz="1800"/>
              <a:t>We start at cell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endParaRPr lang="en-US" altLang="en-US" sz="1800"/>
          </a:p>
          <a:p>
            <a:pPr lvl="1" eaLnBrk="1" hangingPunct="1"/>
            <a:r>
              <a:rPr lang="en-US" altLang="en-US" sz="1800"/>
              <a:t>We probe consecutive locations until one of the following occurs</a:t>
            </a:r>
          </a:p>
          <a:p>
            <a:pPr lvl="2" eaLnBrk="1" hangingPunct="1"/>
            <a:r>
              <a:rPr lang="en-US" altLang="en-US" sz="1600"/>
              <a:t>An item with key </a:t>
            </a:r>
            <a:r>
              <a:rPr lang="en-US" altLang="en-US" sz="1600" b="1" i="1">
                <a:latin typeface="Times New Roman" panose="02020603050405020304" pitchFamily="18" charset="0"/>
              </a:rPr>
              <a:t>k</a:t>
            </a:r>
            <a:r>
              <a:rPr lang="en-US" altLang="en-US" sz="1600"/>
              <a:t> is found, or</a:t>
            </a:r>
          </a:p>
          <a:p>
            <a:pPr lvl="2" eaLnBrk="1" hangingPunct="1"/>
            <a:r>
              <a:rPr lang="en-US" altLang="en-US" sz="1600"/>
              <a:t>An empty cell is found, </a:t>
            </a:r>
          </a:p>
          <a:p>
            <a:pPr lvl="2" eaLnBrk="1" hangingPunct="1">
              <a:buFontTx/>
              <a:buNone/>
            </a:pPr>
            <a:r>
              <a:rPr lang="en-US" altLang="en-US" sz="1600"/>
              <a:t>	or</a:t>
            </a:r>
          </a:p>
          <a:p>
            <a:pPr lvl="2" eaLnBrk="1" hangingPunct="1"/>
            <a:r>
              <a:rPr lang="en-US" altLang="en-US" sz="1600" b="1" i="1">
                <a:latin typeface="Times New Roman" panose="02020603050405020304" pitchFamily="18" charset="0"/>
              </a:rPr>
              <a:t>N</a:t>
            </a:r>
            <a:r>
              <a:rPr lang="en-US" altLang="en-US" sz="1600"/>
              <a:t> cells have been unsuccessfully probed </a:t>
            </a:r>
          </a:p>
        </p:txBody>
      </p:sp>
      <p:sp>
        <p:nvSpPr>
          <p:cNvPr id="27652" name="Text Box 4">
            <a:extLst>
              <a:ext uri="{FF2B5EF4-FFF2-40B4-BE49-F238E27FC236}">
                <a16:creationId xmlns:a16="http://schemas.microsoft.com/office/drawing/2014/main" id="{77AF4C29-CAC9-BEF5-9817-45ECFBF2CB2F}"/>
              </a:ext>
            </a:extLst>
          </p:cNvPr>
          <p:cNvSpPr txBox="1">
            <a:spLocks noChangeArrowheads="1"/>
          </p:cNvSpPr>
          <p:nvPr/>
        </p:nvSpPr>
        <p:spPr bwMode="auto">
          <a:xfrm>
            <a:off x="4876800" y="1676400"/>
            <a:ext cx="3810000" cy="4291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285750" eaLnBrk="0" hangingPunct="0">
              <a:defRPr>
                <a:solidFill>
                  <a:schemeClr val="tx1"/>
                </a:solidFill>
                <a:latin typeface="Arial" panose="020B0604020202020204" pitchFamily="34" charset="0"/>
                <a:cs typeface="Arial" panose="020B0604020202020204" pitchFamily="34" charset="0"/>
              </a:defRPr>
            </a:lvl1pPr>
            <a:lvl2pPr marL="285750" defTabSz="285750" eaLnBrk="0" hangingPunct="0">
              <a:defRPr>
                <a:solidFill>
                  <a:schemeClr val="tx1"/>
                </a:solidFill>
                <a:latin typeface="Arial" panose="020B0604020202020204" pitchFamily="34" charset="0"/>
                <a:cs typeface="Arial" panose="020B0604020202020204" pitchFamily="34" charset="0"/>
              </a:defRPr>
            </a:lvl2pPr>
            <a:lvl3pPr marL="1143000" indent="-228600" defTabSz="285750" eaLnBrk="0" hangingPunct="0">
              <a:defRPr>
                <a:solidFill>
                  <a:schemeClr val="tx1"/>
                </a:solidFill>
                <a:latin typeface="Arial" panose="020B0604020202020204" pitchFamily="34" charset="0"/>
                <a:cs typeface="Arial" panose="020B0604020202020204" pitchFamily="34" charset="0"/>
              </a:defRPr>
            </a:lvl3pPr>
            <a:lvl4pPr marL="1600200" indent="-228600" defTabSz="285750" eaLnBrk="0" hangingPunct="0">
              <a:defRPr>
                <a:solidFill>
                  <a:schemeClr val="tx1"/>
                </a:solidFill>
                <a:latin typeface="Arial" panose="020B0604020202020204" pitchFamily="34" charset="0"/>
                <a:cs typeface="Arial" panose="020B0604020202020204" pitchFamily="34" charset="0"/>
              </a:defRPr>
            </a:lvl4pPr>
            <a:lvl5pPr marL="2057400" indent="-228600" defTabSz="285750" eaLnBrk="0" hangingPunct="0">
              <a:defRPr>
                <a:solidFill>
                  <a:schemeClr val="tx1"/>
                </a:solidFill>
                <a:latin typeface="Arial" panose="020B0604020202020204" pitchFamily="34" charset="0"/>
                <a:cs typeface="Arial" panose="020B0604020202020204" pitchFamily="34" charset="0"/>
              </a:defRPr>
            </a:lvl5pPr>
            <a:lvl6pPr marL="25146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2857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Algorithm</a:t>
            </a:r>
            <a:r>
              <a:rPr lang="en-US" altLang="en-US">
                <a:latin typeface="Times New Roman" panose="02020603050405020304" pitchFamily="18" charset="0"/>
              </a:rPr>
              <a:t> </a:t>
            </a:r>
            <a:r>
              <a:rPr lang="en-US" altLang="en-US" b="1" i="1">
                <a:solidFill>
                  <a:schemeClr val="tx2"/>
                </a:solidFill>
                <a:latin typeface="Times New Roman" panose="02020603050405020304" pitchFamily="18" charset="0"/>
              </a:rPr>
              <a:t>findElement</a:t>
            </a:r>
            <a:r>
              <a:rPr lang="en-US" altLang="en-US">
                <a:solidFill>
                  <a:schemeClr val="tx2"/>
                </a:solidFill>
                <a:latin typeface="Times New Roman" panose="02020603050405020304" pitchFamily="18" charset="0"/>
              </a:rPr>
              <a:t>(</a:t>
            </a:r>
            <a:r>
              <a:rPr lang="en-US" altLang="en-US" b="1" i="1">
                <a:solidFill>
                  <a:schemeClr val="tx2"/>
                </a:solidFill>
                <a:latin typeface="Times New Roman" panose="02020603050405020304" pitchFamily="18" charset="0"/>
              </a:rPr>
              <a:t>k</a:t>
            </a:r>
            <a:r>
              <a:rPr lang="en-US" altLang="en-US">
                <a:solidFill>
                  <a:schemeClr val="tx2"/>
                </a:solidFill>
                <a:latin typeface="Times New Roman" panose="02020603050405020304" pitchFamily="18" charset="0"/>
              </a:rPr>
              <a:t>)	</a:t>
            </a:r>
          </a:p>
          <a:p>
            <a:pPr algn="l" eaLnBrk="1" hangingPunct="1">
              <a:lnSpc>
                <a:spcPct val="90000"/>
              </a:lnSpc>
              <a:spcBef>
                <a:spcPct val="20000"/>
              </a:spcBef>
              <a:buClr>
                <a:schemeClr val="hlink"/>
              </a:buClr>
              <a:buSzPct val="110000"/>
              <a:buFont typeface="Wingdings" pitchFamily="2" charset="2"/>
              <a:buNone/>
            </a:pPr>
            <a:r>
              <a:rPr lang="en-US" altLang="en-US">
                <a:solidFill>
                  <a:schemeClr val="tx2"/>
                </a:solidFill>
                <a:latin typeface="Times New Roman" panose="02020603050405020304" pitchFamily="18" charset="0"/>
              </a:rPr>
              <a:t>	</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h</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k</a:t>
            </a:r>
            <a:r>
              <a:rPr lang="en-US" altLang="en-US">
                <a:solidFill>
                  <a:schemeClr val="accent2"/>
                </a:solidFill>
                <a:latin typeface="Times New Roman" panose="02020603050405020304" pitchFamily="18" charset="0"/>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0</a:t>
            </a:r>
          </a:p>
          <a:p>
            <a:pPr algn="l" eaLnBrk="1" hangingPunct="1">
              <a:lnSpc>
                <a:spcPct val="90000"/>
              </a:lnSpc>
              <a:spcBef>
                <a:spcPct val="20000"/>
              </a:spcBef>
              <a:buClr>
                <a:schemeClr val="hlink"/>
              </a:buClr>
              <a:buSzPct val="110000"/>
              <a:buFont typeface="Wingdings" pitchFamily="2" charset="2"/>
              <a:buNone/>
            </a:pPr>
            <a:r>
              <a:rPr lang="en-US" altLang="en-US">
                <a:solidFill>
                  <a:schemeClr val="tx2"/>
                </a:solidFill>
                <a:latin typeface="Times New Roman" panose="02020603050405020304" pitchFamily="18" charset="0"/>
              </a:rPr>
              <a:t>	</a:t>
            </a:r>
            <a:r>
              <a:rPr lang="en-US" altLang="en-US" b="1">
                <a:solidFill>
                  <a:srgbClr val="000000"/>
                </a:solidFill>
                <a:latin typeface="Times New Roman" panose="02020603050405020304" pitchFamily="18" charset="0"/>
              </a:rPr>
              <a:t>repeat</a:t>
            </a: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c</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Times New Roman" panose="02020603050405020304" pitchFamily="18" charset="0"/>
              </a:rPr>
              <a:t>		</a:t>
            </a:r>
            <a:r>
              <a:rPr lang="en-US" altLang="en-US" b="1">
                <a:solidFill>
                  <a:srgbClr val="000000"/>
                </a:solidFill>
                <a:latin typeface="Times New Roman" panose="02020603050405020304" pitchFamily="18" charset="0"/>
              </a:rPr>
              <a:t>if </a:t>
            </a:r>
            <a:r>
              <a:rPr lang="en-US" altLang="en-US" b="1" i="1">
                <a:solidFill>
                  <a:schemeClr val="accent2"/>
                </a:solidFill>
                <a:latin typeface="Times New Roman" panose="02020603050405020304" pitchFamily="18" charset="0"/>
              </a:rPr>
              <a:t>c</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Symbol" pitchFamily="2" charset="2"/>
                <a:sym typeface="Symbol" pitchFamily="2" charset="2"/>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NO_SUCH_KEY</a:t>
            </a:r>
            <a:endParaRPr lang="en-US" altLang="en-US" b="1">
              <a:solidFill>
                <a:schemeClr val="accent2"/>
              </a:solidFill>
              <a:latin typeface="Times New Roman" panose="02020603050405020304" pitchFamily="18" charset="0"/>
            </a:endParaRP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else if </a:t>
            </a:r>
            <a:r>
              <a:rPr lang="en-US" altLang="en-US" b="1" i="1">
                <a:solidFill>
                  <a:schemeClr val="accent2"/>
                </a:solidFill>
                <a:latin typeface="Times New Roman" panose="02020603050405020304" pitchFamily="18" charset="0"/>
              </a:rPr>
              <a:t>c.key </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k</a:t>
            </a:r>
          </a:p>
          <a:p>
            <a:pPr algn="l" eaLnBrk="1" hangingPunct="1">
              <a:lnSpc>
                <a:spcPct val="90000"/>
              </a:lnSpc>
              <a:spcBef>
                <a:spcPct val="20000"/>
              </a:spcBef>
              <a:buClr>
                <a:schemeClr val="hlink"/>
              </a:buClr>
              <a:buSzPct val="110000"/>
              <a:buFont typeface="Wingdings" pitchFamily="2" charset="2"/>
              <a:buNone/>
            </a:pPr>
            <a:r>
              <a:rPr lang="en-US" altLang="en-US" b="1" i="1">
                <a:solidFill>
                  <a:schemeClr val="accent2"/>
                </a:solidFill>
                <a:latin typeface="Times New Roman" panose="02020603050405020304" pitchFamily="18" charset="0"/>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c.element</a:t>
            </a:r>
            <a:r>
              <a:rPr lang="en-US" altLang="en-US">
                <a:solidFill>
                  <a:schemeClr val="accent2"/>
                </a:solidFill>
                <a:latin typeface="Times New Roman" panose="02020603050405020304" pitchFamily="18" charset="0"/>
              </a:rPr>
              <a:t>()</a:t>
            </a:r>
            <a:endParaRPr lang="en-US" altLang="en-US">
              <a:solidFill>
                <a:schemeClr val="tx2"/>
              </a:solidFill>
              <a:latin typeface="Times New Roman" panose="02020603050405020304" pitchFamily="18" charset="0"/>
            </a:endParaRP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else</a:t>
            </a:r>
          </a:p>
          <a:p>
            <a:pPr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a:t>
            </a:r>
            <a:r>
              <a:rPr lang="en-US" altLang="en-US" b="1" i="1">
                <a:solidFill>
                  <a:schemeClr val="accent2"/>
                </a:solidFill>
                <a:latin typeface="Times New Roman" panose="02020603050405020304" pitchFamily="18" charset="0"/>
              </a:rPr>
              <a:t>i</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1)</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mod</a:t>
            </a:r>
            <a:r>
              <a:rPr lang="en-US" altLang="en-US" b="1" i="1">
                <a:solidFill>
                  <a:schemeClr val="accent2"/>
                </a:solidFill>
                <a:latin typeface="Times New Roman" panose="02020603050405020304" pitchFamily="18" charset="0"/>
              </a:rPr>
              <a:t> N</a:t>
            </a:r>
            <a:endParaRPr lang="en-US" altLang="en-US">
              <a:solidFill>
                <a:schemeClr val="accent2"/>
              </a:solidFill>
              <a:latin typeface="Times New Roman" panose="02020603050405020304" pitchFamily="18" charset="0"/>
            </a:endParaRPr>
          </a:p>
          <a:p>
            <a:pPr lvl="1"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b="1" i="1">
                <a:solidFill>
                  <a:schemeClr val="accent2"/>
                </a:solidFill>
                <a:latin typeface="Times New Roman" panose="02020603050405020304" pitchFamily="18" charset="0"/>
              </a:rPr>
              <a:t> </a:t>
            </a:r>
            <a:r>
              <a:rPr lang="en-US" altLang="en-US">
                <a:solidFill>
                  <a:schemeClr val="accent2"/>
                </a:solidFill>
                <a:latin typeface="Times New Roman" panose="02020603050405020304" pitchFamily="18" charset="0"/>
              </a:rPr>
              <a:t>1</a:t>
            </a:r>
          </a:p>
          <a:p>
            <a:pPr lvl="1" algn="l" eaLnBrk="1" hangingPunct="1">
              <a:lnSpc>
                <a:spcPct val="90000"/>
              </a:lnSpc>
              <a:spcBef>
                <a:spcPct val="20000"/>
              </a:spcBef>
              <a:buClr>
                <a:schemeClr val="hlink"/>
              </a:buClr>
              <a:buSzPct val="110000"/>
              <a:buFont typeface="Wingdings" pitchFamily="2" charset="2"/>
              <a:buNone/>
            </a:pPr>
            <a:r>
              <a:rPr lang="en-US" altLang="en-US" b="1">
                <a:solidFill>
                  <a:srgbClr val="000000"/>
                </a:solidFill>
                <a:latin typeface="Times New Roman" panose="02020603050405020304" pitchFamily="18" charset="0"/>
              </a:rPr>
              <a:t>until</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p</a:t>
            </a:r>
            <a:r>
              <a:rPr lang="en-US" altLang="en-US">
                <a:solidFill>
                  <a:schemeClr val="accent2"/>
                </a:solidFill>
                <a:latin typeface="Times New Roman" panose="02020603050405020304" pitchFamily="18" charset="0"/>
              </a:rPr>
              <a:t> </a:t>
            </a:r>
            <a:r>
              <a:rPr lang="en-US" altLang="en-US">
                <a:solidFill>
                  <a:schemeClr val="accent2"/>
                </a:solidFill>
                <a:latin typeface="Symbol" pitchFamily="2" charset="2"/>
                <a:sym typeface="Symbol" pitchFamily="2" charset="2"/>
              </a:rPr>
              <a:t>=</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a:t>
            </a:r>
          </a:p>
          <a:p>
            <a:pPr algn="l" eaLnBrk="1" hangingPunct="1">
              <a:lnSpc>
                <a:spcPct val="90000"/>
              </a:lnSpc>
              <a:spcBef>
                <a:spcPct val="20000"/>
              </a:spcBef>
              <a:buClr>
                <a:schemeClr val="hlink"/>
              </a:buClr>
              <a:buSzPct val="110000"/>
              <a:buFont typeface="Wingdings" pitchFamily="2" charset="2"/>
              <a:buNone/>
            </a:pPr>
            <a:r>
              <a:rPr lang="en-US" altLang="en-US">
                <a:solidFill>
                  <a:schemeClr val="accent2"/>
                </a:solidFill>
                <a:latin typeface="Symbol" pitchFamily="2" charset="2"/>
                <a:sym typeface="Symbol" pitchFamily="2" charset="2"/>
              </a:rPr>
              <a:t>	</a:t>
            </a:r>
            <a:r>
              <a:rPr lang="en-US" altLang="en-US" b="1">
                <a:solidFill>
                  <a:srgbClr val="000000"/>
                </a:solidFill>
                <a:latin typeface="Times New Roman" panose="02020603050405020304" pitchFamily="18" charset="0"/>
              </a:rPr>
              <a:t>return</a:t>
            </a:r>
            <a:r>
              <a:rPr lang="en-US" altLang="en-US">
                <a:solidFill>
                  <a:schemeClr val="accent2"/>
                </a:solidFill>
                <a:latin typeface="Times New Roman" panose="02020603050405020304" pitchFamily="18" charset="0"/>
              </a:rPr>
              <a:t> </a:t>
            </a:r>
            <a:r>
              <a:rPr lang="en-US" altLang="en-US" b="1" i="1">
                <a:solidFill>
                  <a:schemeClr val="accent2"/>
                </a:solidFill>
                <a:latin typeface="Times New Roman" panose="02020603050405020304" pitchFamily="18" charset="0"/>
              </a:rPr>
              <a:t>NO_SUCH_KEY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9E69369-AA94-CED7-3C1F-FB05E36DDAA3}"/>
              </a:ext>
            </a:extLst>
          </p:cNvPr>
          <p:cNvSpPr>
            <a:spLocks noGrp="1" noChangeArrowheads="1"/>
          </p:cNvSpPr>
          <p:nvPr>
            <p:ph type="title"/>
          </p:nvPr>
        </p:nvSpPr>
        <p:spPr/>
        <p:txBody>
          <a:bodyPr/>
          <a:lstStyle/>
          <a:p>
            <a:pPr eaLnBrk="1" hangingPunct="1"/>
            <a:r>
              <a:rPr lang="en-US" altLang="en-US" sz="2400"/>
              <a:t>Updates with Linear Probing</a:t>
            </a:r>
          </a:p>
        </p:txBody>
      </p:sp>
      <p:sp>
        <p:nvSpPr>
          <p:cNvPr id="28675" name="Rectangle 3">
            <a:extLst>
              <a:ext uri="{FF2B5EF4-FFF2-40B4-BE49-F238E27FC236}">
                <a16:creationId xmlns:a16="http://schemas.microsoft.com/office/drawing/2014/main" id="{D44AB3EE-164B-30AE-3184-6476ABA0A543}"/>
              </a:ext>
            </a:extLst>
          </p:cNvPr>
          <p:cNvSpPr>
            <a:spLocks noGrp="1" noChangeArrowheads="1"/>
          </p:cNvSpPr>
          <p:nvPr>
            <p:ph type="body" sz="half" idx="1"/>
          </p:nvPr>
        </p:nvSpPr>
        <p:spPr>
          <a:xfrm>
            <a:off x="457200" y="1295400"/>
            <a:ext cx="4267200" cy="4572000"/>
          </a:xfrm>
        </p:spPr>
        <p:txBody>
          <a:bodyPr/>
          <a:lstStyle/>
          <a:p>
            <a:pPr eaLnBrk="1" hangingPunct="1"/>
            <a:r>
              <a:rPr lang="en-US" altLang="en-US" sz="2000"/>
              <a:t>To handle insertions and deletions, we introduce a special object, called </a:t>
            </a:r>
            <a:r>
              <a:rPr lang="en-US" altLang="en-US" sz="2000" b="1"/>
              <a:t>AVAILABLE</a:t>
            </a:r>
            <a:r>
              <a:rPr lang="en-US" altLang="en-US" sz="2000"/>
              <a:t>, which replaces deleted elements</a:t>
            </a:r>
          </a:p>
          <a:p>
            <a:pPr eaLnBrk="1" hangingPunct="1"/>
            <a:endParaRPr lang="en-US" altLang="en-US" sz="1800"/>
          </a:p>
          <a:p>
            <a:pPr eaLnBrk="1" hangingPunct="1"/>
            <a:r>
              <a:rPr lang="en-US" altLang="en-US" sz="2000">
                <a:solidFill>
                  <a:schemeClr val="tx2"/>
                </a:solidFill>
              </a:rPr>
              <a:t>removeElement</a:t>
            </a:r>
            <a:r>
              <a:rPr lang="en-US" altLang="en-US" sz="2000"/>
              <a:t>(</a:t>
            </a:r>
            <a:r>
              <a:rPr lang="en-US" altLang="en-US" sz="2000" b="1" i="1"/>
              <a:t>k</a:t>
            </a:r>
            <a:r>
              <a:rPr lang="en-US" altLang="en-US" sz="2000"/>
              <a:t>)</a:t>
            </a:r>
          </a:p>
          <a:p>
            <a:pPr lvl="1" eaLnBrk="1" hangingPunct="1"/>
            <a:r>
              <a:rPr lang="en-US" altLang="en-US" sz="1800"/>
              <a:t>We search for an item with key </a:t>
            </a:r>
            <a:r>
              <a:rPr lang="en-US" altLang="en-US" sz="1800" b="1" i="1"/>
              <a:t>k</a:t>
            </a:r>
            <a:r>
              <a:rPr lang="en-US" altLang="en-US" sz="1800"/>
              <a:t> </a:t>
            </a:r>
          </a:p>
          <a:p>
            <a:pPr lvl="1" eaLnBrk="1" hangingPunct="1"/>
            <a:r>
              <a:rPr lang="en-US" altLang="en-US" sz="1800"/>
              <a:t>If such an item (</a:t>
            </a:r>
            <a:r>
              <a:rPr lang="en-US" altLang="en-US" sz="1800" b="1" i="1"/>
              <a:t>k, o</a:t>
            </a:r>
            <a:r>
              <a:rPr lang="en-US" altLang="en-US" sz="1800"/>
              <a:t>) is found, we replace it with the special item </a:t>
            </a:r>
            <a:r>
              <a:rPr lang="en-US" altLang="en-US" sz="1800" b="1" i="1"/>
              <a:t>AVAILABLE</a:t>
            </a:r>
            <a:r>
              <a:rPr lang="en-US" altLang="en-US" sz="1800"/>
              <a:t> and we return element </a:t>
            </a:r>
            <a:r>
              <a:rPr lang="en-US" altLang="en-US" sz="1800" b="1" i="1"/>
              <a:t>o</a:t>
            </a:r>
            <a:endParaRPr lang="en-US" altLang="en-US" sz="1800"/>
          </a:p>
          <a:p>
            <a:pPr lvl="1" eaLnBrk="1" hangingPunct="1"/>
            <a:r>
              <a:rPr lang="en-US" altLang="en-US" sz="1800"/>
              <a:t>Else, we return </a:t>
            </a:r>
            <a:r>
              <a:rPr lang="en-US" altLang="en-US" sz="1800" b="1" i="1"/>
              <a:t>NO_SUCH_KEY</a:t>
            </a:r>
          </a:p>
        </p:txBody>
      </p:sp>
      <p:sp>
        <p:nvSpPr>
          <p:cNvPr id="28676" name="Rectangle 4">
            <a:extLst>
              <a:ext uri="{FF2B5EF4-FFF2-40B4-BE49-F238E27FC236}">
                <a16:creationId xmlns:a16="http://schemas.microsoft.com/office/drawing/2014/main" id="{46DCBCD1-D26C-AAB2-F010-5BF70E38C32D}"/>
              </a:ext>
            </a:extLst>
          </p:cNvPr>
          <p:cNvSpPr>
            <a:spLocks noGrp="1" noChangeArrowheads="1"/>
          </p:cNvSpPr>
          <p:nvPr>
            <p:ph type="body" sz="half" idx="2"/>
          </p:nvPr>
        </p:nvSpPr>
        <p:spPr>
          <a:xfrm>
            <a:off x="5029200" y="1295400"/>
            <a:ext cx="3733800" cy="3505200"/>
          </a:xfrm>
        </p:spPr>
        <p:txBody>
          <a:bodyPr/>
          <a:lstStyle/>
          <a:p>
            <a:pPr eaLnBrk="1" hangingPunct="1">
              <a:lnSpc>
                <a:spcPct val="90000"/>
              </a:lnSpc>
            </a:pPr>
            <a:r>
              <a:rPr lang="en-US" altLang="en-US" sz="2000">
                <a:solidFill>
                  <a:schemeClr val="tx2"/>
                </a:solidFill>
              </a:rPr>
              <a:t>insert Item</a:t>
            </a:r>
            <a:r>
              <a:rPr lang="en-US" altLang="en-US" sz="2000">
                <a:latin typeface="Times New Roman" panose="02020603050405020304" pitchFamily="18" charset="0"/>
              </a:rPr>
              <a:t>(</a:t>
            </a:r>
            <a:r>
              <a:rPr lang="en-US" altLang="en-US" sz="2000" b="1" i="1">
                <a:latin typeface="Times New Roman" panose="02020603050405020304" pitchFamily="18" charset="0"/>
              </a:rPr>
              <a:t>k, o</a:t>
            </a:r>
            <a:r>
              <a:rPr lang="en-US" altLang="en-US" sz="2000">
                <a:latin typeface="Times New Roman" panose="02020603050405020304" pitchFamily="18" charset="0"/>
              </a:rPr>
              <a:t>)</a:t>
            </a:r>
            <a:endParaRPr lang="en-US" altLang="en-US" sz="2000"/>
          </a:p>
          <a:p>
            <a:pPr lvl="1" eaLnBrk="1" hangingPunct="1">
              <a:lnSpc>
                <a:spcPct val="90000"/>
              </a:lnSpc>
            </a:pPr>
            <a:r>
              <a:rPr lang="en-US" altLang="en-US" sz="1800"/>
              <a:t>We throw an exception if the table is full</a:t>
            </a:r>
          </a:p>
          <a:p>
            <a:pPr lvl="1" eaLnBrk="1" hangingPunct="1">
              <a:lnSpc>
                <a:spcPct val="90000"/>
              </a:lnSpc>
            </a:pPr>
            <a:r>
              <a:rPr lang="en-US" altLang="en-US" sz="1800"/>
              <a:t>We start at cell </a:t>
            </a:r>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endParaRPr lang="en-US" altLang="en-US" sz="1800"/>
          </a:p>
          <a:p>
            <a:pPr lvl="1" eaLnBrk="1" hangingPunct="1">
              <a:lnSpc>
                <a:spcPct val="90000"/>
              </a:lnSpc>
            </a:pPr>
            <a:r>
              <a:rPr lang="en-US" altLang="en-US" sz="1800"/>
              <a:t>We probe consecutive cells until one of the following occurs</a:t>
            </a:r>
          </a:p>
          <a:p>
            <a:pPr lvl="2" eaLnBrk="1" hangingPunct="1">
              <a:lnSpc>
                <a:spcPct val="90000"/>
              </a:lnSpc>
            </a:pPr>
            <a:r>
              <a:rPr lang="en-US" altLang="en-US" sz="1600"/>
              <a:t>A cell </a:t>
            </a:r>
            <a:r>
              <a:rPr lang="en-US" altLang="en-US" sz="1600" b="1" i="1">
                <a:latin typeface="Times New Roman" panose="02020603050405020304" pitchFamily="18" charset="0"/>
              </a:rPr>
              <a:t>i</a:t>
            </a:r>
            <a:r>
              <a:rPr lang="en-US" altLang="en-US" sz="1600"/>
              <a:t> is found that is either empty or stores </a:t>
            </a:r>
            <a:r>
              <a:rPr lang="en-US" altLang="en-US" sz="1600" b="1" i="1">
                <a:latin typeface="Times New Roman" panose="02020603050405020304" pitchFamily="18" charset="0"/>
              </a:rPr>
              <a:t>AVAILABLE</a:t>
            </a:r>
            <a:r>
              <a:rPr lang="en-US" altLang="en-US" sz="1600"/>
              <a:t>, we store item </a:t>
            </a:r>
            <a:r>
              <a:rPr lang="en-US" altLang="en-US" sz="1600">
                <a:latin typeface="Times New Roman" panose="02020603050405020304" pitchFamily="18" charset="0"/>
              </a:rPr>
              <a:t>(</a:t>
            </a:r>
            <a:r>
              <a:rPr lang="en-US" altLang="en-US" sz="1600" b="1" i="1">
                <a:latin typeface="Times New Roman" panose="02020603050405020304" pitchFamily="18" charset="0"/>
              </a:rPr>
              <a:t>k, o</a:t>
            </a:r>
            <a:r>
              <a:rPr lang="en-US" altLang="en-US" sz="1600">
                <a:latin typeface="Times New Roman" panose="02020603050405020304" pitchFamily="18" charset="0"/>
              </a:rPr>
              <a:t>)</a:t>
            </a:r>
            <a:r>
              <a:rPr lang="en-US" altLang="en-US" sz="1600"/>
              <a:t> in cell </a:t>
            </a:r>
            <a:r>
              <a:rPr lang="en-US" altLang="en-US" sz="1600" b="1" i="1">
                <a:latin typeface="Times New Roman" panose="02020603050405020304" pitchFamily="18" charset="0"/>
              </a:rPr>
              <a:t>i.</a:t>
            </a:r>
            <a:r>
              <a:rPr lang="en-US" altLang="en-US" sz="1600"/>
              <a:t> </a:t>
            </a:r>
          </a:p>
          <a:p>
            <a:pPr lvl="2" eaLnBrk="1" hangingPunct="1">
              <a:lnSpc>
                <a:spcPct val="90000"/>
              </a:lnSpc>
              <a:buFontTx/>
              <a:buNone/>
            </a:pPr>
            <a:r>
              <a:rPr lang="en-US" altLang="en-US" sz="1600"/>
              <a:t>	or</a:t>
            </a:r>
          </a:p>
          <a:p>
            <a:pPr lvl="2" eaLnBrk="1" hangingPunct="1">
              <a:lnSpc>
                <a:spcPct val="90000"/>
              </a:lnSpc>
            </a:pPr>
            <a:r>
              <a:rPr lang="en-US" altLang="en-US" sz="1600" b="1" i="1">
                <a:latin typeface="Times New Roman" panose="02020603050405020304" pitchFamily="18" charset="0"/>
              </a:rPr>
              <a:t>N</a:t>
            </a:r>
            <a:r>
              <a:rPr lang="en-US" altLang="en-US" sz="1600"/>
              <a:t> cells have been unsuccessfully probed</a:t>
            </a:r>
          </a:p>
        </p:txBody>
      </p:sp>
      <p:sp>
        <p:nvSpPr>
          <p:cNvPr id="28677" name="Text Box 5">
            <a:extLst>
              <a:ext uri="{FF2B5EF4-FFF2-40B4-BE49-F238E27FC236}">
                <a16:creationId xmlns:a16="http://schemas.microsoft.com/office/drawing/2014/main" id="{E4A1CE4A-D88D-C414-A211-A3F67C69E7FF}"/>
              </a:ext>
            </a:extLst>
          </p:cNvPr>
          <p:cNvSpPr txBox="1">
            <a:spLocks noChangeArrowheads="1"/>
          </p:cNvSpPr>
          <p:nvPr/>
        </p:nvSpPr>
        <p:spPr bwMode="auto">
          <a:xfrm>
            <a:off x="1676400" y="5867400"/>
            <a:ext cx="594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Quadratic probing</a:t>
            </a:r>
            <a:r>
              <a:rPr lang="en-US" altLang="en-US"/>
              <a:t>: [h(k)+j</a:t>
            </a:r>
            <a:r>
              <a:rPr lang="en-US" altLang="en-US" baseline="30000"/>
              <a:t>2</a:t>
            </a:r>
            <a:r>
              <a:rPr lang="en-US" altLang="en-US"/>
              <a:t>] mod </a:t>
            </a:r>
            <a:r>
              <a:rPr lang="en-US" altLang="en-US" i="1"/>
              <a:t>N</a:t>
            </a:r>
            <a:r>
              <a:rPr lang="en-US" altLang="en-US"/>
              <a:t>, j = 0, 1, 2,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DDEA605-1CAC-0C36-A24D-AC2E5F215B62}"/>
              </a:ext>
            </a:extLst>
          </p:cNvPr>
          <p:cNvSpPr>
            <a:spLocks noGrp="1" noChangeArrowheads="1"/>
          </p:cNvSpPr>
          <p:nvPr>
            <p:ph type="title"/>
          </p:nvPr>
        </p:nvSpPr>
        <p:spPr/>
        <p:txBody>
          <a:bodyPr/>
          <a:lstStyle/>
          <a:p>
            <a:pPr eaLnBrk="1" hangingPunct="1"/>
            <a:r>
              <a:rPr lang="en-US" altLang="en-US" sz="2400"/>
              <a:t>Double Hashing</a:t>
            </a:r>
          </a:p>
        </p:txBody>
      </p:sp>
      <p:sp>
        <p:nvSpPr>
          <p:cNvPr id="29699" name="Rectangle 3">
            <a:extLst>
              <a:ext uri="{FF2B5EF4-FFF2-40B4-BE49-F238E27FC236}">
                <a16:creationId xmlns:a16="http://schemas.microsoft.com/office/drawing/2014/main" id="{4264EC11-64E0-5E6C-73FA-CBC75DF82810}"/>
              </a:ext>
            </a:extLst>
          </p:cNvPr>
          <p:cNvSpPr>
            <a:spLocks noGrp="1" noChangeArrowheads="1"/>
          </p:cNvSpPr>
          <p:nvPr>
            <p:ph type="body" sz="half" idx="1"/>
          </p:nvPr>
        </p:nvSpPr>
        <p:spPr>
          <a:xfrm>
            <a:off x="685800" y="1397000"/>
            <a:ext cx="3962400" cy="4775200"/>
          </a:xfrm>
        </p:spPr>
        <p:txBody>
          <a:bodyPr/>
          <a:lstStyle/>
          <a:p>
            <a:pPr eaLnBrk="1" hangingPunct="1">
              <a:lnSpc>
                <a:spcPct val="90000"/>
              </a:lnSpc>
            </a:pPr>
            <a:r>
              <a:rPr lang="en-US" altLang="en-US" sz="2000"/>
              <a:t>Double hashing uses a secondary hash function </a:t>
            </a:r>
            <a:r>
              <a:rPr lang="en-US" altLang="en-US" sz="2000" b="1" i="1">
                <a:latin typeface="Times New Roman" panose="02020603050405020304" pitchFamily="18" charset="0"/>
              </a:rPr>
              <a:t>d</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 </a:t>
            </a:r>
            <a:r>
              <a:rPr lang="en-US" altLang="en-US" sz="2000"/>
              <a:t>and handles collisions by placing an item in the first available cell of the series</a:t>
            </a:r>
            <a:br>
              <a:rPr lang="en-US" altLang="en-US" sz="2000"/>
            </a:br>
            <a:r>
              <a:rPr lang="en-US" altLang="en-US" sz="2000">
                <a:latin typeface="Times New Roman" panose="02020603050405020304" pitchFamily="18" charset="0"/>
              </a:rPr>
              <a:t>	(</a:t>
            </a:r>
            <a:r>
              <a:rPr lang="en-US" altLang="en-US" sz="2000" b="1" i="1">
                <a:latin typeface="Times New Roman" panose="02020603050405020304" pitchFamily="18" charset="0"/>
              </a:rPr>
              <a:t>i</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jd</a:t>
            </a:r>
            <a:r>
              <a:rPr lang="en-US" altLang="en-US" sz="2000">
                <a:latin typeface="Times New Roman" panose="02020603050405020304" pitchFamily="18" charset="0"/>
              </a:rPr>
              <a:t>(</a:t>
            </a:r>
            <a:r>
              <a:rPr lang="en-US" altLang="en-US" sz="2000" b="1" i="1">
                <a:latin typeface="Times New Roman" panose="02020603050405020304" pitchFamily="18" charset="0"/>
              </a:rPr>
              <a:t>k</a:t>
            </a:r>
            <a:r>
              <a:rPr lang="en-US" altLang="en-US" sz="2000">
                <a:latin typeface="Times New Roman" panose="02020603050405020304" pitchFamily="18" charset="0"/>
              </a:rPr>
              <a:t>)) mod </a:t>
            </a:r>
            <a:r>
              <a:rPr lang="en-US" altLang="en-US" sz="2000" b="1" i="1">
                <a:latin typeface="Times New Roman" panose="02020603050405020304" pitchFamily="18" charset="0"/>
              </a:rPr>
              <a:t>N</a:t>
            </a:r>
            <a:br>
              <a:rPr lang="en-US" altLang="en-US" sz="2000" b="1" i="1">
                <a:latin typeface="Times New Roman" panose="02020603050405020304" pitchFamily="18" charset="0"/>
              </a:rPr>
            </a:br>
            <a:r>
              <a:rPr lang="en-US" altLang="en-US" sz="2000" b="1" i="1">
                <a:latin typeface="Times New Roman" panose="02020603050405020304" pitchFamily="18" charset="0"/>
              </a:rPr>
              <a:t> </a:t>
            </a:r>
            <a:r>
              <a:rPr lang="en-US" altLang="en-US" sz="2000"/>
              <a:t>for </a:t>
            </a:r>
            <a:r>
              <a:rPr lang="en-US" altLang="en-US" sz="2000" b="1" i="1">
                <a:latin typeface="Times New Roman" panose="02020603050405020304" pitchFamily="18" charset="0"/>
              </a:rPr>
              <a:t>j</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0,  1, … , </a:t>
            </a:r>
            <a:r>
              <a:rPr lang="en-US" altLang="en-US" sz="2000" b="1" i="1">
                <a:latin typeface="Times New Roman" panose="02020603050405020304" pitchFamily="18" charset="0"/>
              </a:rPr>
              <a:t>N </a:t>
            </a:r>
            <a:r>
              <a:rPr lang="en-US" altLang="en-US" sz="2000">
                <a:latin typeface="Symbol" pitchFamily="2" charset="2"/>
              </a:rPr>
              <a:t>-</a:t>
            </a:r>
            <a:r>
              <a:rPr lang="en-US" altLang="en-US" sz="2000">
                <a:latin typeface="Times New Roman" panose="02020603050405020304" pitchFamily="18" charset="0"/>
              </a:rPr>
              <a:t> 1. </a:t>
            </a:r>
          </a:p>
          <a:p>
            <a:pPr eaLnBrk="1" hangingPunct="1">
              <a:lnSpc>
                <a:spcPct val="90000"/>
              </a:lnSpc>
              <a:buFontTx/>
              <a:buNone/>
            </a:pPr>
            <a:r>
              <a:rPr lang="en-US" altLang="en-US" sz="2000">
                <a:latin typeface="Times New Roman" panose="02020603050405020304" pitchFamily="18" charset="0"/>
              </a:rPr>
              <a:t>	      i = h(k).</a:t>
            </a:r>
          </a:p>
          <a:p>
            <a:pPr eaLnBrk="1" hangingPunct="1">
              <a:lnSpc>
                <a:spcPct val="90000"/>
              </a:lnSpc>
            </a:pPr>
            <a:endParaRPr lang="en-US" altLang="en-US" sz="2000">
              <a:latin typeface="Times New Roman" panose="02020603050405020304" pitchFamily="18" charset="0"/>
            </a:endParaRPr>
          </a:p>
          <a:p>
            <a:pPr eaLnBrk="1" hangingPunct="1">
              <a:lnSpc>
                <a:spcPct val="90000"/>
              </a:lnSpc>
            </a:pPr>
            <a:r>
              <a:rPr lang="en-US" altLang="en-US" sz="2000"/>
              <a:t>The secondary hash function </a:t>
            </a:r>
            <a:r>
              <a:rPr lang="en-US" altLang="en-US" sz="2000" b="1" i="1">
                <a:latin typeface="CMSY8" charset="0"/>
              </a:rPr>
              <a:t>d</a:t>
            </a:r>
            <a:r>
              <a:rPr lang="en-US" altLang="en-US" sz="2000">
                <a:latin typeface="Times New Roman" panose="02020603050405020304" pitchFamily="18" charset="0"/>
              </a:rPr>
              <a:t>(</a:t>
            </a:r>
            <a:r>
              <a:rPr lang="en-US" altLang="en-US" sz="2000" b="1" i="1">
                <a:latin typeface="CMR10" charset="0"/>
              </a:rPr>
              <a:t>k</a:t>
            </a:r>
            <a:r>
              <a:rPr lang="en-US" altLang="en-US" sz="2000">
                <a:latin typeface="Times New Roman" panose="02020603050405020304" pitchFamily="18" charset="0"/>
              </a:rPr>
              <a:t>)</a:t>
            </a:r>
            <a:r>
              <a:rPr lang="en-US" altLang="en-US" sz="2000"/>
              <a:t> cannot have zero values</a:t>
            </a:r>
          </a:p>
          <a:p>
            <a:pPr eaLnBrk="1" hangingPunct="1">
              <a:lnSpc>
                <a:spcPct val="90000"/>
              </a:lnSpc>
            </a:pPr>
            <a:endParaRPr lang="en-US" altLang="en-US" sz="2000"/>
          </a:p>
          <a:p>
            <a:pPr eaLnBrk="1" hangingPunct="1">
              <a:lnSpc>
                <a:spcPct val="90000"/>
              </a:lnSpc>
            </a:pPr>
            <a:r>
              <a:rPr lang="en-US" altLang="en-US" sz="2000"/>
              <a:t>The table size </a:t>
            </a:r>
            <a:r>
              <a:rPr lang="en-US" altLang="en-US" sz="2000" b="1" i="1">
                <a:latin typeface="CMR10" charset="0"/>
              </a:rPr>
              <a:t>N</a:t>
            </a:r>
            <a:r>
              <a:rPr lang="en-US" altLang="en-US" sz="2000"/>
              <a:t> must be a prime to allow probing of all the cells</a:t>
            </a:r>
          </a:p>
        </p:txBody>
      </p:sp>
      <p:sp>
        <p:nvSpPr>
          <p:cNvPr id="29700" name="Rectangle 4">
            <a:extLst>
              <a:ext uri="{FF2B5EF4-FFF2-40B4-BE49-F238E27FC236}">
                <a16:creationId xmlns:a16="http://schemas.microsoft.com/office/drawing/2014/main" id="{4973C53B-825E-7032-7033-2CA2AD0E2811}"/>
              </a:ext>
            </a:extLst>
          </p:cNvPr>
          <p:cNvSpPr>
            <a:spLocks noGrp="1" noChangeArrowheads="1"/>
          </p:cNvSpPr>
          <p:nvPr>
            <p:ph type="body" sz="half" idx="2"/>
          </p:nvPr>
        </p:nvSpPr>
        <p:spPr>
          <a:xfrm>
            <a:off x="5181600" y="1371600"/>
            <a:ext cx="3505200" cy="4267200"/>
          </a:xfrm>
        </p:spPr>
        <p:txBody>
          <a:bodyPr/>
          <a:lstStyle/>
          <a:p>
            <a:pPr eaLnBrk="1" hangingPunct="1"/>
            <a:r>
              <a:rPr lang="en-US" altLang="en-US" sz="2000"/>
              <a:t>Common choice of compression map for the secondary hash function:     </a:t>
            </a:r>
            <a:r>
              <a:rPr lang="en-US" altLang="en-US" sz="2000" b="1" i="1">
                <a:latin typeface="CMSY8" charset="0"/>
              </a:rPr>
              <a:t>d</a:t>
            </a:r>
            <a:r>
              <a:rPr lang="en-US" altLang="en-US" sz="2000" baseline="-25000">
                <a:latin typeface="CMSY8" charset="0"/>
              </a:rPr>
              <a:t>2</a:t>
            </a:r>
            <a:r>
              <a:rPr lang="en-US" altLang="en-US" sz="2000">
                <a:latin typeface="Times New Roman" panose="02020603050405020304" pitchFamily="18" charset="0"/>
              </a:rPr>
              <a:t>(</a:t>
            </a:r>
            <a:r>
              <a:rPr lang="en-US" altLang="en-US" sz="2000" b="1" i="1">
                <a:latin typeface="CMR10" charset="0"/>
              </a:rPr>
              <a:t>n</a:t>
            </a:r>
            <a:r>
              <a:rPr lang="en-US" altLang="en-US" sz="2000">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q</a:t>
            </a:r>
            <a:r>
              <a:rPr lang="en-US" altLang="en-US" sz="2000" i="1">
                <a:latin typeface="Times New Roman" panose="02020603050405020304" pitchFamily="18" charset="0"/>
              </a:rPr>
              <a:t> </a:t>
            </a:r>
            <a:r>
              <a:rPr lang="en-US" altLang="en-US" sz="2000">
                <a:latin typeface="Symbol" pitchFamily="2" charset="2"/>
              </a:rPr>
              <a:t>-</a:t>
            </a:r>
            <a:r>
              <a:rPr lang="en-US" altLang="en-US" sz="2000">
                <a:latin typeface="Times New Roman" panose="02020603050405020304" pitchFamily="18" charset="0"/>
              </a:rPr>
              <a:t> </a:t>
            </a:r>
            <a:r>
              <a:rPr lang="en-US" altLang="en-US" sz="2000" b="1" i="1">
                <a:latin typeface="Times New Roman" panose="02020603050405020304" pitchFamily="18" charset="0"/>
              </a:rPr>
              <a:t>n</a:t>
            </a:r>
            <a:r>
              <a:rPr lang="en-US" altLang="en-US" sz="2000">
                <a:latin typeface="Times New Roman" panose="02020603050405020304" pitchFamily="18" charset="0"/>
              </a:rPr>
              <a:t> mod </a:t>
            </a:r>
            <a:r>
              <a:rPr lang="en-US" altLang="en-US" sz="2000" b="1" i="1">
                <a:latin typeface="Times New Roman" panose="02020603050405020304" pitchFamily="18" charset="0"/>
              </a:rPr>
              <a:t>q</a:t>
            </a:r>
          </a:p>
          <a:p>
            <a:pPr eaLnBrk="1" hangingPunct="1">
              <a:buFontTx/>
              <a:buNone/>
            </a:pPr>
            <a:r>
              <a:rPr lang="en-US" altLang="en-US" sz="2000"/>
              <a:t>	where</a:t>
            </a:r>
          </a:p>
          <a:p>
            <a:pPr lvl="1" eaLnBrk="1" hangingPunct="1"/>
            <a:r>
              <a:rPr lang="en-US" altLang="en-US" sz="1800" b="1" i="1">
                <a:latin typeface="Times New Roman" panose="02020603050405020304" pitchFamily="18" charset="0"/>
              </a:rPr>
              <a:t>q </a:t>
            </a:r>
            <a:r>
              <a:rPr lang="en-US" altLang="en-US" sz="1800">
                <a:latin typeface="Symbol" pitchFamily="2" charset="2"/>
              </a:rPr>
              <a:t>&lt;</a:t>
            </a:r>
            <a:r>
              <a:rPr lang="en-US" altLang="en-US" sz="1800">
                <a:latin typeface="Times New Roman" panose="02020603050405020304" pitchFamily="18" charset="0"/>
              </a:rPr>
              <a:t> </a:t>
            </a:r>
            <a:r>
              <a:rPr lang="en-US" altLang="en-US" sz="1800" b="1" i="1">
                <a:latin typeface="Times New Roman" panose="02020603050405020304" pitchFamily="18" charset="0"/>
              </a:rPr>
              <a:t>N</a:t>
            </a:r>
          </a:p>
          <a:p>
            <a:pPr lvl="1" eaLnBrk="1" hangingPunct="1"/>
            <a:r>
              <a:rPr lang="en-US" altLang="en-US" sz="1800" b="1" i="1">
                <a:latin typeface="CMR10" charset="0"/>
              </a:rPr>
              <a:t>q</a:t>
            </a:r>
            <a:r>
              <a:rPr lang="en-US" altLang="en-US" sz="1800"/>
              <a:t> is a prime</a:t>
            </a:r>
          </a:p>
          <a:p>
            <a:pPr lvl="1" eaLnBrk="1" hangingPunct="1"/>
            <a:endParaRPr lang="en-US" altLang="en-US" sz="1600"/>
          </a:p>
          <a:p>
            <a:pPr eaLnBrk="1" hangingPunct="1"/>
            <a:r>
              <a:rPr lang="en-US" altLang="en-US" sz="2000"/>
              <a:t>The possible values for </a:t>
            </a:r>
            <a:r>
              <a:rPr lang="en-US" altLang="en-US" sz="2000" b="1" i="1">
                <a:latin typeface="CMSY8" charset="0"/>
              </a:rPr>
              <a:t>d</a:t>
            </a:r>
            <a:r>
              <a:rPr lang="en-US" altLang="en-US" sz="2000" baseline="-25000">
                <a:latin typeface="CMSY8" charset="0"/>
              </a:rPr>
              <a:t>2</a:t>
            </a:r>
            <a:r>
              <a:rPr lang="en-US" altLang="en-US" sz="2000">
                <a:latin typeface="Times New Roman" panose="02020603050405020304" pitchFamily="18" charset="0"/>
              </a:rPr>
              <a:t>(</a:t>
            </a:r>
            <a:r>
              <a:rPr lang="en-US" altLang="en-US" sz="2000" b="1" i="1">
                <a:latin typeface="CMR10" charset="0"/>
              </a:rPr>
              <a:t>n</a:t>
            </a:r>
            <a:r>
              <a:rPr lang="en-US" altLang="en-US" sz="2000">
                <a:latin typeface="Times New Roman" panose="02020603050405020304" pitchFamily="18" charset="0"/>
              </a:rPr>
              <a:t>)</a:t>
            </a:r>
            <a:r>
              <a:rPr lang="en-US" altLang="en-US" sz="2000"/>
              <a:t> are</a:t>
            </a:r>
            <a:br>
              <a:rPr lang="en-US" altLang="en-US" sz="2000"/>
            </a:br>
            <a:r>
              <a:rPr lang="en-US" altLang="en-US" sz="2000"/>
              <a:t>	 </a:t>
            </a:r>
            <a:r>
              <a:rPr lang="en-US" altLang="en-US" sz="2000">
                <a:latin typeface="Times New Roman" panose="02020603050405020304" pitchFamily="18" charset="0"/>
              </a:rPr>
              <a:t>1, 2, … , </a:t>
            </a:r>
            <a:r>
              <a:rPr lang="en-US" altLang="en-US" sz="2000" b="1" i="1">
                <a:latin typeface="Times New Roman" panose="02020603050405020304" pitchFamily="18" charset="0"/>
              </a:rPr>
              <a:t>q</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CB362B3-F10E-C7EA-CDAD-B586DE5FB82A}"/>
              </a:ext>
            </a:extLst>
          </p:cNvPr>
          <p:cNvSpPr>
            <a:spLocks noGrp="1" noChangeArrowheads="1"/>
          </p:cNvSpPr>
          <p:nvPr>
            <p:ph type="body" idx="1"/>
          </p:nvPr>
        </p:nvSpPr>
        <p:spPr>
          <a:xfrm>
            <a:off x="381000" y="1600200"/>
            <a:ext cx="3429000" cy="4419600"/>
          </a:xfrm>
        </p:spPr>
        <p:txBody>
          <a:bodyPr/>
          <a:lstStyle/>
          <a:p>
            <a:pPr eaLnBrk="1" hangingPunct="1"/>
            <a:r>
              <a:rPr lang="en-US" altLang="en-US" sz="2000"/>
              <a:t>Consider a hash table storing integer keys that handles collision with double hashing</a:t>
            </a:r>
          </a:p>
          <a:p>
            <a:pPr lvl="1" eaLnBrk="1" hangingPunct="1"/>
            <a:r>
              <a:rPr lang="en-US" altLang="en-US" sz="1800" b="1" i="1">
                <a:latin typeface="Times New Roman" panose="02020603050405020304" pitchFamily="18" charset="0"/>
              </a:rPr>
              <a:t>N</a:t>
            </a:r>
            <a:r>
              <a:rPr lang="en-US" altLang="en-US" sz="1800" b="1" i="1">
                <a:latin typeface="Symbol" pitchFamily="2" charset="2"/>
              </a:rPr>
              <a:t> </a:t>
            </a:r>
            <a:r>
              <a:rPr lang="en-US" altLang="en-US" sz="1800">
                <a:latin typeface="Symbol" pitchFamily="2" charset="2"/>
              </a:rPr>
              <a:t>= </a:t>
            </a:r>
            <a:r>
              <a:rPr lang="en-US" altLang="en-US" sz="1800">
                <a:latin typeface="Times New Roman" panose="02020603050405020304" pitchFamily="18" charset="0"/>
              </a:rPr>
              <a:t>13</a:t>
            </a:r>
            <a:r>
              <a:rPr lang="en-US" altLang="en-US" sz="1800"/>
              <a:t> </a:t>
            </a:r>
          </a:p>
          <a:p>
            <a:pPr lvl="1" eaLnBrk="1" hangingPunct="1"/>
            <a:r>
              <a:rPr lang="en-US" altLang="en-US" sz="1800" b="1" i="1">
                <a:latin typeface="Times New Roman" panose="02020603050405020304" pitchFamily="18" charset="0"/>
              </a:rPr>
              <a:t>h</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k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13</a:t>
            </a:r>
            <a:r>
              <a:rPr lang="en-US" altLang="en-US" sz="1800"/>
              <a:t> </a:t>
            </a:r>
          </a:p>
          <a:p>
            <a:pPr lvl="1" eaLnBrk="1" hangingPunct="1"/>
            <a:r>
              <a:rPr lang="en-US" altLang="en-US" sz="1800" b="1" i="1">
                <a:latin typeface="Times New Roman" panose="02020603050405020304" pitchFamily="18" charset="0"/>
              </a:rPr>
              <a:t>d</a:t>
            </a:r>
            <a:r>
              <a:rPr lang="en-US" altLang="en-US" sz="1800">
                <a:latin typeface="Times New Roman" panose="02020603050405020304" pitchFamily="18" charset="0"/>
              </a:rPr>
              <a:t>(</a:t>
            </a:r>
            <a:r>
              <a:rPr lang="en-US" altLang="en-US" sz="1800" b="1" i="1">
                <a:latin typeface="Times New Roman" panose="02020603050405020304" pitchFamily="18" charset="0"/>
              </a:rPr>
              <a:t>k</a:t>
            </a:r>
            <a:r>
              <a:rPr lang="en-US" altLang="en-US" sz="1800">
                <a:latin typeface="Times New Roman" panose="02020603050405020304" pitchFamily="18" charset="0"/>
              </a:rPr>
              <a:t>) </a:t>
            </a:r>
            <a:r>
              <a:rPr lang="en-US" altLang="en-US" sz="1800">
                <a:latin typeface="Symbol" pitchFamily="2" charset="2"/>
              </a:rPr>
              <a:t>=</a:t>
            </a:r>
            <a:r>
              <a:rPr lang="en-US" altLang="en-US" sz="1800" b="1" i="1">
                <a:latin typeface="Times New Roman" panose="02020603050405020304" pitchFamily="18" charset="0"/>
              </a:rPr>
              <a:t> </a:t>
            </a:r>
            <a:r>
              <a:rPr lang="en-US" altLang="en-US" sz="1800">
                <a:latin typeface="Times New Roman" panose="02020603050405020304" pitchFamily="18" charset="0"/>
              </a:rPr>
              <a:t>7 </a:t>
            </a:r>
            <a:r>
              <a:rPr lang="en-US" altLang="en-US" sz="1800">
                <a:latin typeface="Symbol" pitchFamily="2" charset="2"/>
              </a:rPr>
              <a:t>-</a:t>
            </a:r>
            <a:r>
              <a:rPr lang="en-US" altLang="en-US" sz="1800" b="1" i="1">
                <a:latin typeface="Times New Roman" panose="02020603050405020304" pitchFamily="18" charset="0"/>
              </a:rPr>
              <a:t> k </a:t>
            </a:r>
            <a:r>
              <a:rPr lang="en-US" altLang="en-US" sz="1800">
                <a:latin typeface="Times New Roman" panose="02020603050405020304" pitchFamily="18" charset="0"/>
              </a:rPr>
              <a:t>mod</a:t>
            </a:r>
            <a:r>
              <a:rPr lang="en-US" altLang="en-US" sz="1800" b="1" i="1">
                <a:latin typeface="Times New Roman" panose="02020603050405020304" pitchFamily="18" charset="0"/>
              </a:rPr>
              <a:t> </a:t>
            </a:r>
            <a:r>
              <a:rPr lang="en-US" altLang="en-US" sz="1800">
                <a:latin typeface="Times New Roman" panose="02020603050405020304" pitchFamily="18" charset="0"/>
              </a:rPr>
              <a:t>7</a:t>
            </a:r>
            <a:r>
              <a:rPr lang="en-US" altLang="en-US" sz="1800" b="1" i="1">
                <a:latin typeface="Times New Roman" panose="02020603050405020304" pitchFamily="18" charset="0"/>
              </a:rPr>
              <a:t> </a:t>
            </a:r>
          </a:p>
          <a:p>
            <a:pPr lvl="1" eaLnBrk="1" hangingPunct="1"/>
            <a:endParaRPr lang="en-US" altLang="en-US" sz="1600" b="1" i="1">
              <a:latin typeface="Times New Roman" panose="02020603050405020304" pitchFamily="18" charset="0"/>
            </a:endParaRPr>
          </a:p>
          <a:p>
            <a:pPr eaLnBrk="1" hangingPunct="1"/>
            <a:r>
              <a:rPr lang="en-US" altLang="en-US" sz="2000"/>
              <a:t>Insert keys 18, 41, 22, 44, 59, 32, 31, 73, in this order</a:t>
            </a:r>
          </a:p>
        </p:txBody>
      </p:sp>
      <p:sp>
        <p:nvSpPr>
          <p:cNvPr id="1028" name="Rectangle 3">
            <a:extLst>
              <a:ext uri="{FF2B5EF4-FFF2-40B4-BE49-F238E27FC236}">
                <a16:creationId xmlns:a16="http://schemas.microsoft.com/office/drawing/2014/main" id="{9D7DA0A8-BCEA-3E44-B497-BD833A8733FD}"/>
              </a:ext>
            </a:extLst>
          </p:cNvPr>
          <p:cNvSpPr>
            <a:spLocks noGrp="1" noChangeArrowheads="1"/>
          </p:cNvSpPr>
          <p:nvPr>
            <p:ph type="title"/>
          </p:nvPr>
        </p:nvSpPr>
        <p:spPr/>
        <p:txBody>
          <a:bodyPr/>
          <a:lstStyle/>
          <a:p>
            <a:pPr eaLnBrk="1" hangingPunct="1"/>
            <a:r>
              <a:rPr lang="en-US" altLang="en-US" sz="2400"/>
              <a:t>Example of Double Hashing</a:t>
            </a:r>
          </a:p>
        </p:txBody>
      </p:sp>
      <p:sp>
        <p:nvSpPr>
          <p:cNvPr id="1029" name="Rectangle 4">
            <a:extLst>
              <a:ext uri="{FF2B5EF4-FFF2-40B4-BE49-F238E27FC236}">
                <a16:creationId xmlns:a16="http://schemas.microsoft.com/office/drawing/2014/main" id="{67F82927-C3C9-844C-BA98-B3458E147C21}"/>
              </a:ext>
            </a:extLst>
          </p:cNvPr>
          <p:cNvSpPr>
            <a:spLocks noChangeArrowheads="1"/>
          </p:cNvSpPr>
          <p:nvPr/>
        </p:nvSpPr>
        <p:spPr bwMode="auto">
          <a:xfrm>
            <a:off x="4267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0" name="Rectangle 5">
            <a:extLst>
              <a:ext uri="{FF2B5EF4-FFF2-40B4-BE49-F238E27FC236}">
                <a16:creationId xmlns:a16="http://schemas.microsoft.com/office/drawing/2014/main" id="{4A160A29-80F5-F67D-451D-46C5E4676C16}"/>
              </a:ext>
            </a:extLst>
          </p:cNvPr>
          <p:cNvSpPr>
            <a:spLocks noChangeArrowheads="1"/>
          </p:cNvSpPr>
          <p:nvPr/>
        </p:nvSpPr>
        <p:spPr bwMode="auto">
          <a:xfrm>
            <a:off x="4572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1" name="Rectangle 6">
            <a:extLst>
              <a:ext uri="{FF2B5EF4-FFF2-40B4-BE49-F238E27FC236}">
                <a16:creationId xmlns:a16="http://schemas.microsoft.com/office/drawing/2014/main" id="{3515EE15-C170-9E45-79F1-AE24F45C3BAF}"/>
              </a:ext>
            </a:extLst>
          </p:cNvPr>
          <p:cNvSpPr>
            <a:spLocks noChangeArrowheads="1"/>
          </p:cNvSpPr>
          <p:nvPr/>
        </p:nvSpPr>
        <p:spPr bwMode="auto">
          <a:xfrm>
            <a:off x="4876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2" name="Rectangle 7">
            <a:extLst>
              <a:ext uri="{FF2B5EF4-FFF2-40B4-BE49-F238E27FC236}">
                <a16:creationId xmlns:a16="http://schemas.microsoft.com/office/drawing/2014/main" id="{FCDFEC7C-FA89-1524-BCCA-1A3DDB1C97B2}"/>
              </a:ext>
            </a:extLst>
          </p:cNvPr>
          <p:cNvSpPr>
            <a:spLocks noChangeArrowheads="1"/>
          </p:cNvSpPr>
          <p:nvPr/>
        </p:nvSpPr>
        <p:spPr bwMode="auto">
          <a:xfrm>
            <a:off x="5181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3" name="Rectangle 8">
            <a:extLst>
              <a:ext uri="{FF2B5EF4-FFF2-40B4-BE49-F238E27FC236}">
                <a16:creationId xmlns:a16="http://schemas.microsoft.com/office/drawing/2014/main" id="{457B07B2-54D7-E3C9-805C-20EDE0AE4337}"/>
              </a:ext>
            </a:extLst>
          </p:cNvPr>
          <p:cNvSpPr>
            <a:spLocks noChangeArrowheads="1"/>
          </p:cNvSpPr>
          <p:nvPr/>
        </p:nvSpPr>
        <p:spPr bwMode="auto">
          <a:xfrm>
            <a:off x="5486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4" name="Rectangle 9">
            <a:extLst>
              <a:ext uri="{FF2B5EF4-FFF2-40B4-BE49-F238E27FC236}">
                <a16:creationId xmlns:a16="http://schemas.microsoft.com/office/drawing/2014/main" id="{7D1ED1F2-F820-6375-9E8C-A1B6432EC3C5}"/>
              </a:ext>
            </a:extLst>
          </p:cNvPr>
          <p:cNvSpPr>
            <a:spLocks noChangeArrowheads="1"/>
          </p:cNvSpPr>
          <p:nvPr/>
        </p:nvSpPr>
        <p:spPr bwMode="auto">
          <a:xfrm>
            <a:off x="5791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5" name="Rectangle 10">
            <a:extLst>
              <a:ext uri="{FF2B5EF4-FFF2-40B4-BE49-F238E27FC236}">
                <a16:creationId xmlns:a16="http://schemas.microsoft.com/office/drawing/2014/main" id="{17BF2703-9CA4-062E-E6FC-E7C38873E706}"/>
              </a:ext>
            </a:extLst>
          </p:cNvPr>
          <p:cNvSpPr>
            <a:spLocks noChangeArrowheads="1"/>
          </p:cNvSpPr>
          <p:nvPr/>
        </p:nvSpPr>
        <p:spPr bwMode="auto">
          <a:xfrm>
            <a:off x="6096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6" name="Rectangle 11">
            <a:extLst>
              <a:ext uri="{FF2B5EF4-FFF2-40B4-BE49-F238E27FC236}">
                <a16:creationId xmlns:a16="http://schemas.microsoft.com/office/drawing/2014/main" id="{557641AC-7117-ED86-19E2-70C404021991}"/>
              </a:ext>
            </a:extLst>
          </p:cNvPr>
          <p:cNvSpPr>
            <a:spLocks noChangeArrowheads="1"/>
          </p:cNvSpPr>
          <p:nvPr/>
        </p:nvSpPr>
        <p:spPr bwMode="auto">
          <a:xfrm>
            <a:off x="6400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7" name="Rectangle 12">
            <a:extLst>
              <a:ext uri="{FF2B5EF4-FFF2-40B4-BE49-F238E27FC236}">
                <a16:creationId xmlns:a16="http://schemas.microsoft.com/office/drawing/2014/main" id="{B8678B7A-1FA0-A11D-ABED-FC98D5F98A42}"/>
              </a:ext>
            </a:extLst>
          </p:cNvPr>
          <p:cNvSpPr>
            <a:spLocks noChangeArrowheads="1"/>
          </p:cNvSpPr>
          <p:nvPr/>
        </p:nvSpPr>
        <p:spPr bwMode="auto">
          <a:xfrm>
            <a:off x="67056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8" name="Rectangle 13">
            <a:extLst>
              <a:ext uri="{FF2B5EF4-FFF2-40B4-BE49-F238E27FC236}">
                <a16:creationId xmlns:a16="http://schemas.microsoft.com/office/drawing/2014/main" id="{E47902CC-58CE-B792-77EF-E318A197E467}"/>
              </a:ext>
            </a:extLst>
          </p:cNvPr>
          <p:cNvSpPr>
            <a:spLocks noChangeArrowheads="1"/>
          </p:cNvSpPr>
          <p:nvPr/>
        </p:nvSpPr>
        <p:spPr bwMode="auto">
          <a:xfrm>
            <a:off x="70104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39" name="Rectangle 14">
            <a:extLst>
              <a:ext uri="{FF2B5EF4-FFF2-40B4-BE49-F238E27FC236}">
                <a16:creationId xmlns:a16="http://schemas.microsoft.com/office/drawing/2014/main" id="{DB2EF600-A80E-FA46-01D9-5182D1E6A6E2}"/>
              </a:ext>
            </a:extLst>
          </p:cNvPr>
          <p:cNvSpPr>
            <a:spLocks noChangeArrowheads="1"/>
          </p:cNvSpPr>
          <p:nvPr/>
        </p:nvSpPr>
        <p:spPr bwMode="auto">
          <a:xfrm>
            <a:off x="73152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0" name="Rectangle 15">
            <a:extLst>
              <a:ext uri="{FF2B5EF4-FFF2-40B4-BE49-F238E27FC236}">
                <a16:creationId xmlns:a16="http://schemas.microsoft.com/office/drawing/2014/main" id="{FB50EF10-5D84-FAB0-F6A7-CDB39985CD11}"/>
              </a:ext>
            </a:extLst>
          </p:cNvPr>
          <p:cNvSpPr>
            <a:spLocks noChangeArrowheads="1"/>
          </p:cNvSpPr>
          <p:nvPr/>
        </p:nvSpPr>
        <p:spPr bwMode="auto">
          <a:xfrm>
            <a:off x="76200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1" name="Rectangle 16">
            <a:extLst>
              <a:ext uri="{FF2B5EF4-FFF2-40B4-BE49-F238E27FC236}">
                <a16:creationId xmlns:a16="http://schemas.microsoft.com/office/drawing/2014/main" id="{AE56E169-D928-9DDA-DCF1-1E28A6FB475E}"/>
              </a:ext>
            </a:extLst>
          </p:cNvPr>
          <p:cNvSpPr>
            <a:spLocks noChangeArrowheads="1"/>
          </p:cNvSpPr>
          <p:nvPr/>
        </p:nvSpPr>
        <p:spPr bwMode="auto">
          <a:xfrm>
            <a:off x="7924800" y="42672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42" name="Text Box 17">
            <a:extLst>
              <a:ext uri="{FF2B5EF4-FFF2-40B4-BE49-F238E27FC236}">
                <a16:creationId xmlns:a16="http://schemas.microsoft.com/office/drawing/2014/main" id="{F8933DE7-FA95-0618-8B7B-18AB2E51D599}"/>
              </a:ext>
            </a:extLst>
          </p:cNvPr>
          <p:cNvSpPr txBox="1">
            <a:spLocks noChangeArrowheads="1"/>
          </p:cNvSpPr>
          <p:nvPr/>
        </p:nvSpPr>
        <p:spPr bwMode="auto">
          <a:xfrm>
            <a:off x="42703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1043" name="Text Box 18">
            <a:extLst>
              <a:ext uri="{FF2B5EF4-FFF2-40B4-BE49-F238E27FC236}">
                <a16:creationId xmlns:a16="http://schemas.microsoft.com/office/drawing/2014/main" id="{0A6AD51E-94D8-468E-FB57-F4ECD9F60C9B}"/>
              </a:ext>
            </a:extLst>
          </p:cNvPr>
          <p:cNvSpPr txBox="1">
            <a:spLocks noChangeArrowheads="1"/>
          </p:cNvSpPr>
          <p:nvPr/>
        </p:nvSpPr>
        <p:spPr bwMode="auto">
          <a:xfrm>
            <a:off x="45720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1044" name="Text Box 19">
            <a:extLst>
              <a:ext uri="{FF2B5EF4-FFF2-40B4-BE49-F238E27FC236}">
                <a16:creationId xmlns:a16="http://schemas.microsoft.com/office/drawing/2014/main" id="{61144876-F2C8-DCDE-8C90-20F439976BF3}"/>
              </a:ext>
            </a:extLst>
          </p:cNvPr>
          <p:cNvSpPr txBox="1">
            <a:spLocks noChangeArrowheads="1"/>
          </p:cNvSpPr>
          <p:nvPr/>
        </p:nvSpPr>
        <p:spPr bwMode="auto">
          <a:xfrm>
            <a:off x="487362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1045" name="Text Box 20">
            <a:extLst>
              <a:ext uri="{FF2B5EF4-FFF2-40B4-BE49-F238E27FC236}">
                <a16:creationId xmlns:a16="http://schemas.microsoft.com/office/drawing/2014/main" id="{0E34C36F-9837-3EF6-E0D5-DADE58A2CC44}"/>
              </a:ext>
            </a:extLst>
          </p:cNvPr>
          <p:cNvSpPr txBox="1">
            <a:spLocks noChangeArrowheads="1"/>
          </p:cNvSpPr>
          <p:nvPr/>
        </p:nvSpPr>
        <p:spPr bwMode="auto">
          <a:xfrm>
            <a:off x="517525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1046" name="Text Box 21">
            <a:extLst>
              <a:ext uri="{FF2B5EF4-FFF2-40B4-BE49-F238E27FC236}">
                <a16:creationId xmlns:a16="http://schemas.microsoft.com/office/drawing/2014/main" id="{1D35C354-9F46-ACC1-E956-A38F51FE0DF7}"/>
              </a:ext>
            </a:extLst>
          </p:cNvPr>
          <p:cNvSpPr txBox="1">
            <a:spLocks noChangeArrowheads="1"/>
          </p:cNvSpPr>
          <p:nvPr/>
        </p:nvSpPr>
        <p:spPr bwMode="auto">
          <a:xfrm>
            <a:off x="54768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1047" name="Text Box 22">
            <a:extLst>
              <a:ext uri="{FF2B5EF4-FFF2-40B4-BE49-F238E27FC236}">
                <a16:creationId xmlns:a16="http://schemas.microsoft.com/office/drawing/2014/main" id="{EB996AE5-E82D-1D9E-0BB5-43284A00AA6F}"/>
              </a:ext>
            </a:extLst>
          </p:cNvPr>
          <p:cNvSpPr txBox="1">
            <a:spLocks noChangeArrowheads="1"/>
          </p:cNvSpPr>
          <p:nvPr/>
        </p:nvSpPr>
        <p:spPr bwMode="auto">
          <a:xfrm>
            <a:off x="57785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1048" name="Text Box 23">
            <a:extLst>
              <a:ext uri="{FF2B5EF4-FFF2-40B4-BE49-F238E27FC236}">
                <a16:creationId xmlns:a16="http://schemas.microsoft.com/office/drawing/2014/main" id="{7911B68D-07FC-2BC1-538A-F11B02A7BCE3}"/>
              </a:ext>
            </a:extLst>
          </p:cNvPr>
          <p:cNvSpPr txBox="1">
            <a:spLocks noChangeArrowheads="1"/>
          </p:cNvSpPr>
          <p:nvPr/>
        </p:nvSpPr>
        <p:spPr bwMode="auto">
          <a:xfrm>
            <a:off x="608012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1049" name="Text Box 24">
            <a:extLst>
              <a:ext uri="{FF2B5EF4-FFF2-40B4-BE49-F238E27FC236}">
                <a16:creationId xmlns:a16="http://schemas.microsoft.com/office/drawing/2014/main" id="{D10C01EB-8ABF-D07D-6E52-9211B9EE46F8}"/>
              </a:ext>
            </a:extLst>
          </p:cNvPr>
          <p:cNvSpPr txBox="1">
            <a:spLocks noChangeArrowheads="1"/>
          </p:cNvSpPr>
          <p:nvPr/>
        </p:nvSpPr>
        <p:spPr bwMode="auto">
          <a:xfrm>
            <a:off x="638175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1050" name="Text Box 25">
            <a:extLst>
              <a:ext uri="{FF2B5EF4-FFF2-40B4-BE49-F238E27FC236}">
                <a16:creationId xmlns:a16="http://schemas.microsoft.com/office/drawing/2014/main" id="{B25A82C1-F741-8191-6BFA-FBF444BAA59F}"/>
              </a:ext>
            </a:extLst>
          </p:cNvPr>
          <p:cNvSpPr txBox="1">
            <a:spLocks noChangeArrowheads="1"/>
          </p:cNvSpPr>
          <p:nvPr/>
        </p:nvSpPr>
        <p:spPr bwMode="auto">
          <a:xfrm>
            <a:off x="6683375"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1051" name="Text Box 26">
            <a:extLst>
              <a:ext uri="{FF2B5EF4-FFF2-40B4-BE49-F238E27FC236}">
                <a16:creationId xmlns:a16="http://schemas.microsoft.com/office/drawing/2014/main" id="{2C2F9E46-D97C-F6B8-004C-789FFAFDC2EA}"/>
              </a:ext>
            </a:extLst>
          </p:cNvPr>
          <p:cNvSpPr txBox="1">
            <a:spLocks noChangeArrowheads="1"/>
          </p:cNvSpPr>
          <p:nvPr/>
        </p:nvSpPr>
        <p:spPr bwMode="auto">
          <a:xfrm>
            <a:off x="6985000" y="4533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1052" name="Text Box 27">
            <a:extLst>
              <a:ext uri="{FF2B5EF4-FFF2-40B4-BE49-F238E27FC236}">
                <a16:creationId xmlns:a16="http://schemas.microsoft.com/office/drawing/2014/main" id="{1C594346-A3C4-D3EA-87C6-2C6AF8C3709C}"/>
              </a:ext>
            </a:extLst>
          </p:cNvPr>
          <p:cNvSpPr txBox="1">
            <a:spLocks noChangeArrowheads="1"/>
          </p:cNvSpPr>
          <p:nvPr/>
        </p:nvSpPr>
        <p:spPr bwMode="auto">
          <a:xfrm>
            <a:off x="7229475"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1053" name="Text Box 28">
            <a:extLst>
              <a:ext uri="{FF2B5EF4-FFF2-40B4-BE49-F238E27FC236}">
                <a16:creationId xmlns:a16="http://schemas.microsoft.com/office/drawing/2014/main" id="{5E6F019D-603E-0381-7221-8946C4F03738}"/>
              </a:ext>
            </a:extLst>
          </p:cNvPr>
          <p:cNvSpPr txBox="1">
            <a:spLocks noChangeArrowheads="1"/>
          </p:cNvSpPr>
          <p:nvPr/>
        </p:nvSpPr>
        <p:spPr bwMode="auto">
          <a:xfrm>
            <a:off x="7531100"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1054" name="Text Box 29">
            <a:extLst>
              <a:ext uri="{FF2B5EF4-FFF2-40B4-BE49-F238E27FC236}">
                <a16:creationId xmlns:a16="http://schemas.microsoft.com/office/drawing/2014/main" id="{4CF6F5DB-0182-7C50-D3C0-2794D3D647F5}"/>
              </a:ext>
            </a:extLst>
          </p:cNvPr>
          <p:cNvSpPr txBox="1">
            <a:spLocks noChangeArrowheads="1"/>
          </p:cNvSpPr>
          <p:nvPr/>
        </p:nvSpPr>
        <p:spPr bwMode="auto">
          <a:xfrm>
            <a:off x="7832725" y="45339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1055" name="Rectangle 30">
            <a:extLst>
              <a:ext uri="{FF2B5EF4-FFF2-40B4-BE49-F238E27FC236}">
                <a16:creationId xmlns:a16="http://schemas.microsoft.com/office/drawing/2014/main" id="{C94FC8DF-4DD7-D97A-6362-99ADD5A07A36}"/>
              </a:ext>
            </a:extLst>
          </p:cNvPr>
          <p:cNvSpPr>
            <a:spLocks noChangeArrowheads="1"/>
          </p:cNvSpPr>
          <p:nvPr/>
        </p:nvSpPr>
        <p:spPr bwMode="auto">
          <a:xfrm>
            <a:off x="4267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31</a:t>
            </a:r>
          </a:p>
        </p:txBody>
      </p:sp>
      <p:sp>
        <p:nvSpPr>
          <p:cNvPr id="1056" name="Rectangle 31">
            <a:extLst>
              <a:ext uri="{FF2B5EF4-FFF2-40B4-BE49-F238E27FC236}">
                <a16:creationId xmlns:a16="http://schemas.microsoft.com/office/drawing/2014/main" id="{99009E98-3B4B-DDB5-7F2C-13EF555A6B6A}"/>
              </a:ext>
            </a:extLst>
          </p:cNvPr>
          <p:cNvSpPr>
            <a:spLocks noChangeArrowheads="1"/>
          </p:cNvSpPr>
          <p:nvPr/>
        </p:nvSpPr>
        <p:spPr bwMode="auto">
          <a:xfrm>
            <a:off x="4572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57" name="Rectangle 32">
            <a:extLst>
              <a:ext uri="{FF2B5EF4-FFF2-40B4-BE49-F238E27FC236}">
                <a16:creationId xmlns:a16="http://schemas.microsoft.com/office/drawing/2014/main" id="{B4D4CF12-F539-5989-AC36-8CF280D5FBC8}"/>
              </a:ext>
            </a:extLst>
          </p:cNvPr>
          <p:cNvSpPr>
            <a:spLocks noChangeArrowheads="1"/>
          </p:cNvSpPr>
          <p:nvPr/>
        </p:nvSpPr>
        <p:spPr bwMode="auto">
          <a:xfrm>
            <a:off x="4876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41</a:t>
            </a:r>
          </a:p>
        </p:txBody>
      </p:sp>
      <p:sp>
        <p:nvSpPr>
          <p:cNvPr id="1058" name="Rectangle 33">
            <a:extLst>
              <a:ext uri="{FF2B5EF4-FFF2-40B4-BE49-F238E27FC236}">
                <a16:creationId xmlns:a16="http://schemas.microsoft.com/office/drawing/2014/main" id="{45BA58EC-8E4D-06CB-AAD9-2A8F40150D4E}"/>
              </a:ext>
            </a:extLst>
          </p:cNvPr>
          <p:cNvSpPr>
            <a:spLocks noChangeArrowheads="1"/>
          </p:cNvSpPr>
          <p:nvPr/>
        </p:nvSpPr>
        <p:spPr bwMode="auto">
          <a:xfrm>
            <a:off x="5181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59" name="Rectangle 34">
            <a:extLst>
              <a:ext uri="{FF2B5EF4-FFF2-40B4-BE49-F238E27FC236}">
                <a16:creationId xmlns:a16="http://schemas.microsoft.com/office/drawing/2014/main" id="{8E025088-7ADB-FD9C-BFB4-73E32B6DB3C1}"/>
              </a:ext>
            </a:extLst>
          </p:cNvPr>
          <p:cNvSpPr>
            <a:spLocks noChangeArrowheads="1"/>
          </p:cNvSpPr>
          <p:nvPr/>
        </p:nvSpPr>
        <p:spPr bwMode="auto">
          <a:xfrm>
            <a:off x="5486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60" name="Rectangle 35">
            <a:extLst>
              <a:ext uri="{FF2B5EF4-FFF2-40B4-BE49-F238E27FC236}">
                <a16:creationId xmlns:a16="http://schemas.microsoft.com/office/drawing/2014/main" id="{F9F9B295-328F-C444-31BC-38E4A206F54C}"/>
              </a:ext>
            </a:extLst>
          </p:cNvPr>
          <p:cNvSpPr>
            <a:spLocks noChangeArrowheads="1"/>
          </p:cNvSpPr>
          <p:nvPr/>
        </p:nvSpPr>
        <p:spPr bwMode="auto">
          <a:xfrm>
            <a:off x="5791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18</a:t>
            </a:r>
          </a:p>
        </p:txBody>
      </p:sp>
      <p:sp>
        <p:nvSpPr>
          <p:cNvPr id="1061" name="Rectangle 36">
            <a:extLst>
              <a:ext uri="{FF2B5EF4-FFF2-40B4-BE49-F238E27FC236}">
                <a16:creationId xmlns:a16="http://schemas.microsoft.com/office/drawing/2014/main" id="{41802E19-C5D3-91BE-2D77-7AA6B587C572}"/>
              </a:ext>
            </a:extLst>
          </p:cNvPr>
          <p:cNvSpPr>
            <a:spLocks noChangeArrowheads="1"/>
          </p:cNvSpPr>
          <p:nvPr/>
        </p:nvSpPr>
        <p:spPr bwMode="auto">
          <a:xfrm>
            <a:off x="6096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32</a:t>
            </a:r>
          </a:p>
        </p:txBody>
      </p:sp>
      <p:sp>
        <p:nvSpPr>
          <p:cNvPr id="1062" name="Rectangle 37">
            <a:extLst>
              <a:ext uri="{FF2B5EF4-FFF2-40B4-BE49-F238E27FC236}">
                <a16:creationId xmlns:a16="http://schemas.microsoft.com/office/drawing/2014/main" id="{D8B4656E-83EE-ECB5-518D-A0A440E6A9E0}"/>
              </a:ext>
            </a:extLst>
          </p:cNvPr>
          <p:cNvSpPr>
            <a:spLocks noChangeArrowheads="1"/>
          </p:cNvSpPr>
          <p:nvPr/>
        </p:nvSpPr>
        <p:spPr bwMode="auto">
          <a:xfrm>
            <a:off x="6400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59</a:t>
            </a:r>
          </a:p>
        </p:txBody>
      </p:sp>
      <p:sp>
        <p:nvSpPr>
          <p:cNvPr id="1063" name="Rectangle 38">
            <a:extLst>
              <a:ext uri="{FF2B5EF4-FFF2-40B4-BE49-F238E27FC236}">
                <a16:creationId xmlns:a16="http://schemas.microsoft.com/office/drawing/2014/main" id="{FD13AD7F-0131-D4A8-E944-542CF05AE191}"/>
              </a:ext>
            </a:extLst>
          </p:cNvPr>
          <p:cNvSpPr>
            <a:spLocks noChangeArrowheads="1"/>
          </p:cNvSpPr>
          <p:nvPr/>
        </p:nvSpPr>
        <p:spPr bwMode="auto">
          <a:xfrm>
            <a:off x="67056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73</a:t>
            </a:r>
          </a:p>
        </p:txBody>
      </p:sp>
      <p:sp>
        <p:nvSpPr>
          <p:cNvPr id="1064" name="Rectangle 39">
            <a:extLst>
              <a:ext uri="{FF2B5EF4-FFF2-40B4-BE49-F238E27FC236}">
                <a16:creationId xmlns:a16="http://schemas.microsoft.com/office/drawing/2014/main" id="{A50A768F-8F27-9E87-8027-ABA9865C88EB}"/>
              </a:ext>
            </a:extLst>
          </p:cNvPr>
          <p:cNvSpPr>
            <a:spLocks noChangeArrowheads="1"/>
          </p:cNvSpPr>
          <p:nvPr/>
        </p:nvSpPr>
        <p:spPr bwMode="auto">
          <a:xfrm>
            <a:off x="70104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22</a:t>
            </a:r>
          </a:p>
        </p:txBody>
      </p:sp>
      <p:sp>
        <p:nvSpPr>
          <p:cNvPr id="1065" name="Rectangle 40">
            <a:extLst>
              <a:ext uri="{FF2B5EF4-FFF2-40B4-BE49-F238E27FC236}">
                <a16:creationId xmlns:a16="http://schemas.microsoft.com/office/drawing/2014/main" id="{4AB43C67-8A3E-A784-340F-53A6780F75A3}"/>
              </a:ext>
            </a:extLst>
          </p:cNvPr>
          <p:cNvSpPr>
            <a:spLocks noChangeArrowheads="1"/>
          </p:cNvSpPr>
          <p:nvPr/>
        </p:nvSpPr>
        <p:spPr bwMode="auto">
          <a:xfrm>
            <a:off x="73152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44</a:t>
            </a:r>
          </a:p>
        </p:txBody>
      </p:sp>
      <p:sp>
        <p:nvSpPr>
          <p:cNvPr id="1066" name="Rectangle 41">
            <a:extLst>
              <a:ext uri="{FF2B5EF4-FFF2-40B4-BE49-F238E27FC236}">
                <a16:creationId xmlns:a16="http://schemas.microsoft.com/office/drawing/2014/main" id="{6A865650-2103-FD32-027F-4E757B5AB332}"/>
              </a:ext>
            </a:extLst>
          </p:cNvPr>
          <p:cNvSpPr>
            <a:spLocks noChangeArrowheads="1"/>
          </p:cNvSpPr>
          <p:nvPr/>
        </p:nvSpPr>
        <p:spPr bwMode="auto">
          <a:xfrm>
            <a:off x="76200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Tahoma" panose="020B0604030504040204" pitchFamily="34" charset="0"/>
            </a:endParaRPr>
          </a:p>
        </p:txBody>
      </p:sp>
      <p:sp>
        <p:nvSpPr>
          <p:cNvPr id="1067" name="Rectangle 42">
            <a:extLst>
              <a:ext uri="{FF2B5EF4-FFF2-40B4-BE49-F238E27FC236}">
                <a16:creationId xmlns:a16="http://schemas.microsoft.com/office/drawing/2014/main" id="{72E78090-F190-7EE4-50BF-1A84114092C5}"/>
              </a:ext>
            </a:extLst>
          </p:cNvPr>
          <p:cNvSpPr>
            <a:spLocks noChangeArrowheads="1"/>
          </p:cNvSpPr>
          <p:nvPr/>
        </p:nvSpPr>
        <p:spPr bwMode="auto">
          <a:xfrm>
            <a:off x="7924800" y="5486400"/>
            <a:ext cx="304800" cy="304800"/>
          </a:xfrm>
          <a:prstGeom prst="rect">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ahoma" panose="020B0604030504040204" pitchFamily="34" charset="0"/>
              </a:rPr>
              <a:t> </a:t>
            </a:r>
          </a:p>
        </p:txBody>
      </p:sp>
      <p:sp>
        <p:nvSpPr>
          <p:cNvPr id="1068" name="Text Box 43">
            <a:extLst>
              <a:ext uri="{FF2B5EF4-FFF2-40B4-BE49-F238E27FC236}">
                <a16:creationId xmlns:a16="http://schemas.microsoft.com/office/drawing/2014/main" id="{89DE3C19-991F-B582-E824-C978137C3023}"/>
              </a:ext>
            </a:extLst>
          </p:cNvPr>
          <p:cNvSpPr txBox="1">
            <a:spLocks noChangeArrowheads="1"/>
          </p:cNvSpPr>
          <p:nvPr/>
        </p:nvSpPr>
        <p:spPr bwMode="auto">
          <a:xfrm>
            <a:off x="42703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0</a:t>
            </a:r>
          </a:p>
        </p:txBody>
      </p:sp>
      <p:sp>
        <p:nvSpPr>
          <p:cNvPr id="1069" name="Text Box 44">
            <a:extLst>
              <a:ext uri="{FF2B5EF4-FFF2-40B4-BE49-F238E27FC236}">
                <a16:creationId xmlns:a16="http://schemas.microsoft.com/office/drawing/2014/main" id="{34C91B4C-CAE0-D6C1-6831-4A0396B6827E}"/>
              </a:ext>
            </a:extLst>
          </p:cNvPr>
          <p:cNvSpPr txBox="1">
            <a:spLocks noChangeArrowheads="1"/>
          </p:cNvSpPr>
          <p:nvPr/>
        </p:nvSpPr>
        <p:spPr bwMode="auto">
          <a:xfrm>
            <a:off x="45720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1070" name="Text Box 45">
            <a:extLst>
              <a:ext uri="{FF2B5EF4-FFF2-40B4-BE49-F238E27FC236}">
                <a16:creationId xmlns:a16="http://schemas.microsoft.com/office/drawing/2014/main" id="{654132E9-2072-A3E6-550C-E0961328FF49}"/>
              </a:ext>
            </a:extLst>
          </p:cNvPr>
          <p:cNvSpPr txBox="1">
            <a:spLocks noChangeArrowheads="1"/>
          </p:cNvSpPr>
          <p:nvPr/>
        </p:nvSpPr>
        <p:spPr bwMode="auto">
          <a:xfrm>
            <a:off x="487362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2</a:t>
            </a:r>
          </a:p>
        </p:txBody>
      </p:sp>
      <p:sp>
        <p:nvSpPr>
          <p:cNvPr id="1071" name="Text Box 46">
            <a:extLst>
              <a:ext uri="{FF2B5EF4-FFF2-40B4-BE49-F238E27FC236}">
                <a16:creationId xmlns:a16="http://schemas.microsoft.com/office/drawing/2014/main" id="{4F519A59-9486-E131-69F0-D237DAA70AD9}"/>
              </a:ext>
            </a:extLst>
          </p:cNvPr>
          <p:cNvSpPr txBox="1">
            <a:spLocks noChangeArrowheads="1"/>
          </p:cNvSpPr>
          <p:nvPr/>
        </p:nvSpPr>
        <p:spPr bwMode="auto">
          <a:xfrm>
            <a:off x="517525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3</a:t>
            </a:r>
          </a:p>
        </p:txBody>
      </p:sp>
      <p:sp>
        <p:nvSpPr>
          <p:cNvPr id="1072" name="Text Box 47">
            <a:extLst>
              <a:ext uri="{FF2B5EF4-FFF2-40B4-BE49-F238E27FC236}">
                <a16:creationId xmlns:a16="http://schemas.microsoft.com/office/drawing/2014/main" id="{3E3EF2BF-892F-33D7-F987-3ADD32BB2348}"/>
              </a:ext>
            </a:extLst>
          </p:cNvPr>
          <p:cNvSpPr txBox="1">
            <a:spLocks noChangeArrowheads="1"/>
          </p:cNvSpPr>
          <p:nvPr/>
        </p:nvSpPr>
        <p:spPr bwMode="auto">
          <a:xfrm>
            <a:off x="54768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4</a:t>
            </a:r>
          </a:p>
        </p:txBody>
      </p:sp>
      <p:sp>
        <p:nvSpPr>
          <p:cNvPr id="1073" name="Text Box 48">
            <a:extLst>
              <a:ext uri="{FF2B5EF4-FFF2-40B4-BE49-F238E27FC236}">
                <a16:creationId xmlns:a16="http://schemas.microsoft.com/office/drawing/2014/main" id="{1812A88A-0112-51A3-2277-FD26F2D1DFA0}"/>
              </a:ext>
            </a:extLst>
          </p:cNvPr>
          <p:cNvSpPr txBox="1">
            <a:spLocks noChangeArrowheads="1"/>
          </p:cNvSpPr>
          <p:nvPr/>
        </p:nvSpPr>
        <p:spPr bwMode="auto">
          <a:xfrm>
            <a:off x="57785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5</a:t>
            </a:r>
          </a:p>
        </p:txBody>
      </p:sp>
      <p:sp>
        <p:nvSpPr>
          <p:cNvPr id="1074" name="Text Box 49">
            <a:extLst>
              <a:ext uri="{FF2B5EF4-FFF2-40B4-BE49-F238E27FC236}">
                <a16:creationId xmlns:a16="http://schemas.microsoft.com/office/drawing/2014/main" id="{02C4CB02-1D7D-527E-A37F-3A2DF339497B}"/>
              </a:ext>
            </a:extLst>
          </p:cNvPr>
          <p:cNvSpPr txBox="1">
            <a:spLocks noChangeArrowheads="1"/>
          </p:cNvSpPr>
          <p:nvPr/>
        </p:nvSpPr>
        <p:spPr bwMode="auto">
          <a:xfrm>
            <a:off x="608012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6</a:t>
            </a:r>
          </a:p>
        </p:txBody>
      </p:sp>
      <p:sp>
        <p:nvSpPr>
          <p:cNvPr id="1075" name="Text Box 50">
            <a:extLst>
              <a:ext uri="{FF2B5EF4-FFF2-40B4-BE49-F238E27FC236}">
                <a16:creationId xmlns:a16="http://schemas.microsoft.com/office/drawing/2014/main" id="{2AEAAFE3-D387-DA3B-9957-A806B97DD0C8}"/>
              </a:ext>
            </a:extLst>
          </p:cNvPr>
          <p:cNvSpPr txBox="1">
            <a:spLocks noChangeArrowheads="1"/>
          </p:cNvSpPr>
          <p:nvPr/>
        </p:nvSpPr>
        <p:spPr bwMode="auto">
          <a:xfrm>
            <a:off x="638175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7</a:t>
            </a:r>
          </a:p>
        </p:txBody>
      </p:sp>
      <p:sp>
        <p:nvSpPr>
          <p:cNvPr id="1076" name="Text Box 51">
            <a:extLst>
              <a:ext uri="{FF2B5EF4-FFF2-40B4-BE49-F238E27FC236}">
                <a16:creationId xmlns:a16="http://schemas.microsoft.com/office/drawing/2014/main" id="{CF31F0E9-636D-46B6-9018-11A52D62F76A}"/>
              </a:ext>
            </a:extLst>
          </p:cNvPr>
          <p:cNvSpPr txBox="1">
            <a:spLocks noChangeArrowheads="1"/>
          </p:cNvSpPr>
          <p:nvPr/>
        </p:nvSpPr>
        <p:spPr bwMode="auto">
          <a:xfrm>
            <a:off x="6683375"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a:t>
            </a:r>
          </a:p>
        </p:txBody>
      </p:sp>
      <p:sp>
        <p:nvSpPr>
          <p:cNvPr id="1077" name="Text Box 52">
            <a:extLst>
              <a:ext uri="{FF2B5EF4-FFF2-40B4-BE49-F238E27FC236}">
                <a16:creationId xmlns:a16="http://schemas.microsoft.com/office/drawing/2014/main" id="{854BE688-530A-412E-FA94-45DE1AD63702}"/>
              </a:ext>
            </a:extLst>
          </p:cNvPr>
          <p:cNvSpPr txBox="1">
            <a:spLocks noChangeArrowheads="1"/>
          </p:cNvSpPr>
          <p:nvPr/>
        </p:nvSpPr>
        <p:spPr bwMode="auto">
          <a:xfrm>
            <a:off x="6985000" y="57531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9</a:t>
            </a:r>
          </a:p>
        </p:txBody>
      </p:sp>
      <p:sp>
        <p:nvSpPr>
          <p:cNvPr id="1078" name="Text Box 53">
            <a:extLst>
              <a:ext uri="{FF2B5EF4-FFF2-40B4-BE49-F238E27FC236}">
                <a16:creationId xmlns:a16="http://schemas.microsoft.com/office/drawing/2014/main" id="{AB35E5B6-92D9-16C0-B095-A5FDC398DA9D}"/>
              </a:ext>
            </a:extLst>
          </p:cNvPr>
          <p:cNvSpPr txBox="1">
            <a:spLocks noChangeArrowheads="1"/>
          </p:cNvSpPr>
          <p:nvPr/>
        </p:nvSpPr>
        <p:spPr bwMode="auto">
          <a:xfrm>
            <a:off x="7229475"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10</a:t>
            </a:r>
          </a:p>
        </p:txBody>
      </p:sp>
      <p:sp>
        <p:nvSpPr>
          <p:cNvPr id="1079" name="Text Box 54">
            <a:extLst>
              <a:ext uri="{FF2B5EF4-FFF2-40B4-BE49-F238E27FC236}">
                <a16:creationId xmlns:a16="http://schemas.microsoft.com/office/drawing/2014/main" id="{A71F40EE-A299-C07E-D777-23BC1416608E}"/>
              </a:ext>
            </a:extLst>
          </p:cNvPr>
          <p:cNvSpPr txBox="1">
            <a:spLocks noChangeArrowheads="1"/>
          </p:cNvSpPr>
          <p:nvPr/>
        </p:nvSpPr>
        <p:spPr bwMode="auto">
          <a:xfrm>
            <a:off x="7531100"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11</a:t>
            </a:r>
          </a:p>
        </p:txBody>
      </p:sp>
      <p:sp>
        <p:nvSpPr>
          <p:cNvPr id="1080" name="Text Box 55">
            <a:extLst>
              <a:ext uri="{FF2B5EF4-FFF2-40B4-BE49-F238E27FC236}">
                <a16:creationId xmlns:a16="http://schemas.microsoft.com/office/drawing/2014/main" id="{98B15004-FD22-10B7-1621-DAFD9E70D8A3}"/>
              </a:ext>
            </a:extLst>
          </p:cNvPr>
          <p:cNvSpPr txBox="1">
            <a:spLocks noChangeArrowheads="1"/>
          </p:cNvSpPr>
          <p:nvPr/>
        </p:nvSpPr>
        <p:spPr bwMode="auto">
          <a:xfrm>
            <a:off x="7832725"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12</a:t>
            </a:r>
          </a:p>
        </p:txBody>
      </p:sp>
      <p:sp>
        <p:nvSpPr>
          <p:cNvPr id="1081" name="AutoShape 56">
            <a:extLst>
              <a:ext uri="{FF2B5EF4-FFF2-40B4-BE49-F238E27FC236}">
                <a16:creationId xmlns:a16="http://schemas.microsoft.com/office/drawing/2014/main" id="{9403CF41-BA2E-5697-EE63-B5228929B315}"/>
              </a:ext>
            </a:extLst>
          </p:cNvPr>
          <p:cNvSpPr>
            <a:spLocks noChangeArrowheads="1"/>
          </p:cNvSpPr>
          <p:nvPr/>
        </p:nvSpPr>
        <p:spPr bwMode="auto">
          <a:xfrm>
            <a:off x="6096000" y="4953000"/>
            <a:ext cx="304800" cy="304800"/>
          </a:xfrm>
          <a:prstGeom prst="downArrow">
            <a:avLst>
              <a:gd name="adj1" fmla="val 50000"/>
              <a:gd name="adj2" fmla="val 25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1026" name="Object 57">
            <a:extLst>
              <a:ext uri="{FF2B5EF4-FFF2-40B4-BE49-F238E27FC236}">
                <a16:creationId xmlns:a16="http://schemas.microsoft.com/office/drawing/2014/main" id="{0E269C15-4507-CF65-CE70-86AAEA6F1195}"/>
              </a:ext>
            </a:extLst>
          </p:cNvPr>
          <p:cNvGraphicFramePr>
            <a:graphicFrameLocks noChangeAspect="1"/>
          </p:cNvGraphicFramePr>
          <p:nvPr/>
        </p:nvGraphicFramePr>
        <p:xfrm>
          <a:off x="4724400" y="1676400"/>
          <a:ext cx="2933700" cy="2305050"/>
        </p:xfrm>
        <a:graphic>
          <a:graphicData uri="http://schemas.openxmlformats.org/presentationml/2006/ole">
            <mc:AlternateContent xmlns:mc="http://schemas.openxmlformats.org/markup-compatibility/2006">
              <mc:Choice xmlns:v="urn:schemas-microsoft-com:vml" Requires="v">
                <p:oleObj name="Worksheet" r:id="rId2" imgW="2781300" imgH="2044700" progId="Excel.Sheet.8">
                  <p:embed/>
                </p:oleObj>
              </mc:Choice>
              <mc:Fallback>
                <p:oleObj name="Worksheet" r:id="rId2" imgW="2781300" imgH="2044700" progId="Excel.Sheet.8">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676400"/>
                        <a:ext cx="2933700" cy="23050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2" name="Text Box 58">
            <a:extLst>
              <a:ext uri="{FF2B5EF4-FFF2-40B4-BE49-F238E27FC236}">
                <a16:creationId xmlns:a16="http://schemas.microsoft.com/office/drawing/2014/main" id="{450AA89A-6A39-73FC-1485-C73D7A73CB0B}"/>
              </a:ext>
            </a:extLst>
          </p:cNvPr>
          <p:cNvSpPr txBox="1">
            <a:spLocks noChangeArrowheads="1"/>
          </p:cNvSpPr>
          <p:nvPr/>
        </p:nvSpPr>
        <p:spPr bwMode="auto">
          <a:xfrm>
            <a:off x="7558088" y="3059113"/>
            <a:ext cx="152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(5+4*2)%13</a:t>
            </a:r>
          </a:p>
        </p:txBody>
      </p:sp>
      <p:sp>
        <p:nvSpPr>
          <p:cNvPr id="1083" name="Line 59">
            <a:extLst>
              <a:ext uri="{FF2B5EF4-FFF2-40B4-BE49-F238E27FC236}">
                <a16:creationId xmlns:a16="http://schemas.microsoft.com/office/drawing/2014/main" id="{1E2AAA40-26E7-710B-58C3-C4E00876278C}"/>
              </a:ext>
            </a:extLst>
          </p:cNvPr>
          <p:cNvSpPr>
            <a:spLocks noChangeShapeType="1"/>
          </p:cNvSpPr>
          <p:nvPr/>
        </p:nvSpPr>
        <p:spPr bwMode="auto">
          <a:xfrm flipH="1">
            <a:off x="7505700" y="3352800"/>
            <a:ext cx="342900" cy="241300"/>
          </a:xfrm>
          <a:prstGeom prst="line">
            <a:avLst/>
          </a:prstGeom>
          <a:noFill/>
          <a:ln w="28575">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1F39BA8-3FEF-0537-D953-135C83B09E90}"/>
              </a:ext>
            </a:extLst>
          </p:cNvPr>
          <p:cNvSpPr>
            <a:spLocks noGrp="1" noChangeArrowheads="1"/>
          </p:cNvSpPr>
          <p:nvPr>
            <p:ph type="title"/>
          </p:nvPr>
        </p:nvSpPr>
        <p:spPr>
          <a:xfrm>
            <a:off x="2057400" y="152400"/>
            <a:ext cx="5562600" cy="838200"/>
          </a:xfrm>
        </p:spPr>
        <p:txBody>
          <a:bodyPr/>
          <a:lstStyle/>
          <a:p>
            <a:pPr eaLnBrk="1" hangingPunct="1"/>
            <a:r>
              <a:rPr lang="en-US" altLang="en-US" sz="2400"/>
              <a:t>Performance of Hashing</a:t>
            </a:r>
          </a:p>
        </p:txBody>
      </p:sp>
      <p:sp>
        <p:nvSpPr>
          <p:cNvPr id="30723" name="Rectangle 3">
            <a:extLst>
              <a:ext uri="{FF2B5EF4-FFF2-40B4-BE49-F238E27FC236}">
                <a16:creationId xmlns:a16="http://schemas.microsoft.com/office/drawing/2014/main" id="{DBBAC7D2-B484-17BC-83FF-6C54B6E32EEE}"/>
              </a:ext>
            </a:extLst>
          </p:cNvPr>
          <p:cNvSpPr>
            <a:spLocks noGrp="1" noChangeArrowheads="1"/>
          </p:cNvSpPr>
          <p:nvPr>
            <p:ph type="body" sz="half" idx="1"/>
          </p:nvPr>
        </p:nvSpPr>
        <p:spPr>
          <a:xfrm>
            <a:off x="457200" y="1219200"/>
            <a:ext cx="4267200" cy="5257800"/>
          </a:xfrm>
        </p:spPr>
        <p:txBody>
          <a:bodyPr/>
          <a:lstStyle/>
          <a:p>
            <a:pPr eaLnBrk="1" hangingPunct="1">
              <a:lnSpc>
                <a:spcPct val="90000"/>
              </a:lnSpc>
            </a:pPr>
            <a:r>
              <a:rPr lang="en-US" altLang="en-US" sz="2000" dirty="0"/>
              <a:t>In the worst case, searches, insertions and removals on a hash table take </a:t>
            </a:r>
            <a:r>
              <a:rPr lang="en-US" altLang="en-US" sz="2000" b="1" i="1" dirty="0">
                <a:latin typeface="Times New Roman" panose="02020603050405020304" pitchFamily="18" charset="0"/>
              </a:rPr>
              <a:t>O</a:t>
            </a:r>
            <a:r>
              <a:rPr lang="en-US" altLang="en-US" sz="2000" dirty="0">
                <a:latin typeface="Times New Roman" panose="02020603050405020304" pitchFamily="18" charset="0"/>
              </a:rPr>
              <a:t>(</a:t>
            </a:r>
            <a:r>
              <a:rPr lang="en-US" altLang="en-US" sz="2000" b="1" i="1" dirty="0">
                <a:latin typeface="Times New Roman" panose="02020603050405020304" pitchFamily="18" charset="0"/>
              </a:rPr>
              <a:t>n</a:t>
            </a:r>
            <a:r>
              <a:rPr lang="en-US" altLang="en-US" sz="2000" dirty="0">
                <a:latin typeface="Times New Roman" panose="02020603050405020304" pitchFamily="18" charset="0"/>
              </a:rPr>
              <a:t>) </a:t>
            </a:r>
            <a:r>
              <a:rPr lang="en-US" altLang="en-US" sz="2000" dirty="0"/>
              <a:t>time, where </a:t>
            </a:r>
            <a:r>
              <a:rPr lang="en-US" altLang="en-US" sz="2000" i="1" dirty="0"/>
              <a:t>n</a:t>
            </a:r>
            <a:r>
              <a:rPr lang="en-US" altLang="en-US" sz="2000" dirty="0"/>
              <a:t> is the number of items</a:t>
            </a:r>
          </a:p>
          <a:p>
            <a:pPr eaLnBrk="1" hangingPunct="1">
              <a:lnSpc>
                <a:spcPct val="90000"/>
              </a:lnSpc>
            </a:pPr>
            <a:endParaRPr lang="en-US" altLang="en-US" sz="1800" dirty="0"/>
          </a:p>
          <a:p>
            <a:pPr eaLnBrk="1" hangingPunct="1">
              <a:lnSpc>
                <a:spcPct val="90000"/>
              </a:lnSpc>
            </a:pPr>
            <a:r>
              <a:rPr lang="en-US" altLang="en-US" sz="2000" dirty="0"/>
              <a:t>The worst case occurs when all the keys inserted into the dictionary collide</a:t>
            </a:r>
          </a:p>
          <a:p>
            <a:pPr eaLnBrk="1" hangingPunct="1">
              <a:lnSpc>
                <a:spcPct val="90000"/>
              </a:lnSpc>
            </a:pPr>
            <a:endParaRPr lang="en-US" altLang="en-US" sz="1800" dirty="0"/>
          </a:p>
          <a:p>
            <a:pPr eaLnBrk="1" hangingPunct="1">
              <a:lnSpc>
                <a:spcPct val="90000"/>
              </a:lnSpc>
            </a:pPr>
            <a:r>
              <a:rPr lang="en-US" altLang="en-US" sz="2000" dirty="0"/>
              <a:t>The </a:t>
            </a:r>
            <a:r>
              <a:rPr lang="en-US" altLang="en-US" sz="2000" b="1" dirty="0"/>
              <a:t>load factor</a:t>
            </a:r>
            <a:r>
              <a:rPr lang="en-US" altLang="en-US" sz="2000" dirty="0"/>
              <a:t> </a:t>
            </a:r>
            <a:r>
              <a:rPr lang="en-US" altLang="en-US" sz="2000" b="1" i="1" dirty="0">
                <a:latin typeface="Symbol" pitchFamily="2" charset="2"/>
              </a:rPr>
              <a:t>a</a:t>
            </a:r>
            <a:r>
              <a:rPr lang="en-US" altLang="en-US" sz="2000" dirty="0">
                <a:latin typeface="Times New Roman" panose="02020603050405020304" pitchFamily="18" charset="0"/>
              </a:rPr>
              <a:t> </a:t>
            </a:r>
            <a:r>
              <a:rPr lang="en-US" altLang="en-US" sz="2000" dirty="0">
                <a:latin typeface="Symbol" pitchFamily="2" charset="2"/>
              </a:rPr>
              <a:t>=</a:t>
            </a:r>
            <a:r>
              <a:rPr lang="en-US" altLang="en-US" sz="2000" dirty="0">
                <a:latin typeface="Times New Roman" panose="02020603050405020304" pitchFamily="18" charset="0"/>
              </a:rPr>
              <a:t> </a:t>
            </a:r>
            <a:r>
              <a:rPr lang="en-US" altLang="en-US" sz="2000" b="1" i="1" dirty="0">
                <a:latin typeface="Times New Roman" panose="02020603050405020304" pitchFamily="18" charset="0"/>
              </a:rPr>
              <a:t>n</a:t>
            </a:r>
            <a:r>
              <a:rPr lang="en-US" altLang="en-US" sz="2000" dirty="0">
                <a:latin typeface="Symbol" pitchFamily="2" charset="2"/>
              </a:rPr>
              <a:t>/</a:t>
            </a:r>
            <a:r>
              <a:rPr lang="en-US" altLang="en-US" sz="2000" b="1" i="1" dirty="0">
                <a:latin typeface="Times New Roman" panose="02020603050405020304" pitchFamily="18" charset="0"/>
              </a:rPr>
              <a:t>N </a:t>
            </a:r>
            <a:r>
              <a:rPr lang="en-US" altLang="en-US" sz="2000" dirty="0"/>
              <a:t>affects the performance of a hash table</a:t>
            </a:r>
          </a:p>
          <a:p>
            <a:pPr eaLnBrk="1" hangingPunct="1">
              <a:lnSpc>
                <a:spcPct val="90000"/>
              </a:lnSpc>
            </a:pPr>
            <a:endParaRPr lang="en-US" altLang="en-US" sz="1800" dirty="0"/>
          </a:p>
          <a:p>
            <a:pPr eaLnBrk="1" hangingPunct="1">
              <a:lnSpc>
                <a:spcPct val="90000"/>
              </a:lnSpc>
            </a:pPr>
            <a:r>
              <a:rPr lang="en-US" altLang="en-US" sz="2000" dirty="0">
                <a:solidFill>
                  <a:schemeClr val="bg1"/>
                </a:solidFill>
              </a:rPr>
              <a:t>Inserting a new element to a hash table with load factor larger than a certain constant (i.e., 0.75) requires extra space,  hence </a:t>
            </a:r>
            <a:r>
              <a:rPr lang="en-US" altLang="en-US" sz="2000" b="1" dirty="0">
                <a:solidFill>
                  <a:schemeClr val="bg1"/>
                </a:solidFill>
              </a:rPr>
              <a:t>rehashing</a:t>
            </a:r>
            <a:r>
              <a:rPr lang="en-US" altLang="en-US" sz="2000" dirty="0">
                <a:solidFill>
                  <a:schemeClr val="bg1"/>
                </a:solidFill>
              </a:rPr>
              <a:t>.</a:t>
            </a:r>
          </a:p>
        </p:txBody>
      </p:sp>
      <p:sp>
        <p:nvSpPr>
          <p:cNvPr id="30724" name="Rectangle 4">
            <a:extLst>
              <a:ext uri="{FF2B5EF4-FFF2-40B4-BE49-F238E27FC236}">
                <a16:creationId xmlns:a16="http://schemas.microsoft.com/office/drawing/2014/main" id="{DF234ABA-1A84-40C6-A2EC-AD3222BB1BE1}"/>
              </a:ext>
            </a:extLst>
          </p:cNvPr>
          <p:cNvSpPr>
            <a:spLocks noGrp="1" noChangeArrowheads="1"/>
          </p:cNvSpPr>
          <p:nvPr>
            <p:ph type="body" sz="half" idx="2"/>
          </p:nvPr>
        </p:nvSpPr>
        <p:spPr>
          <a:xfrm>
            <a:off x="4953000" y="1219200"/>
            <a:ext cx="3810000" cy="4800600"/>
          </a:xfrm>
        </p:spPr>
        <p:txBody>
          <a:bodyPr/>
          <a:lstStyle/>
          <a:p>
            <a:pPr eaLnBrk="1" hangingPunct="1">
              <a:lnSpc>
                <a:spcPct val="90000"/>
              </a:lnSpc>
            </a:pPr>
            <a:r>
              <a:rPr lang="en-US" altLang="en-US" sz="2000"/>
              <a:t>The expected running time of all the dictionary ADT operations in a hash table is </a:t>
            </a:r>
            <a:r>
              <a:rPr lang="en-US" altLang="en-US" sz="2000" b="1" i="1">
                <a:latin typeface="Times New Roman" panose="02020603050405020304" pitchFamily="18" charset="0"/>
              </a:rPr>
              <a:t>O</a:t>
            </a:r>
            <a:r>
              <a:rPr lang="en-US" altLang="en-US" sz="2000">
                <a:latin typeface="Times New Roman" panose="02020603050405020304" pitchFamily="18" charset="0"/>
              </a:rPr>
              <a:t>(1)</a:t>
            </a:r>
            <a:r>
              <a:rPr lang="en-US" altLang="en-US" sz="2000"/>
              <a:t> </a:t>
            </a:r>
          </a:p>
          <a:p>
            <a:pPr eaLnBrk="1" hangingPunct="1">
              <a:lnSpc>
                <a:spcPct val="90000"/>
              </a:lnSpc>
            </a:pPr>
            <a:endParaRPr lang="en-US" altLang="en-US" sz="1800"/>
          </a:p>
          <a:p>
            <a:pPr eaLnBrk="1" hangingPunct="1">
              <a:lnSpc>
                <a:spcPct val="90000"/>
              </a:lnSpc>
            </a:pPr>
            <a:r>
              <a:rPr lang="en-US" altLang="en-US" sz="2000"/>
              <a:t>In practice, hashing is very fast provided the load factor is not close to 100%</a:t>
            </a:r>
          </a:p>
          <a:p>
            <a:pPr eaLnBrk="1" hangingPunct="1">
              <a:lnSpc>
                <a:spcPct val="90000"/>
              </a:lnSpc>
            </a:pPr>
            <a:endParaRPr lang="en-US" altLang="en-US" sz="1800"/>
          </a:p>
          <a:p>
            <a:pPr eaLnBrk="1" hangingPunct="1">
              <a:lnSpc>
                <a:spcPct val="90000"/>
              </a:lnSpc>
            </a:pPr>
            <a:r>
              <a:rPr lang="en-US" altLang="en-US" sz="2000"/>
              <a:t>Applications of hash tables:</a:t>
            </a:r>
          </a:p>
          <a:p>
            <a:pPr lvl="1" eaLnBrk="1" hangingPunct="1">
              <a:lnSpc>
                <a:spcPct val="90000"/>
              </a:lnSpc>
            </a:pPr>
            <a:r>
              <a:rPr lang="en-US" altLang="en-US" sz="1800"/>
              <a:t>small databases</a:t>
            </a:r>
          </a:p>
          <a:p>
            <a:pPr lvl="1" eaLnBrk="1" hangingPunct="1">
              <a:lnSpc>
                <a:spcPct val="90000"/>
              </a:lnSpc>
            </a:pPr>
            <a:r>
              <a:rPr lang="en-US" altLang="en-US" sz="1800"/>
              <a:t>compilers</a:t>
            </a:r>
          </a:p>
          <a:p>
            <a:pPr lvl="1" eaLnBrk="1" hangingPunct="1">
              <a:lnSpc>
                <a:spcPct val="90000"/>
              </a:lnSpc>
            </a:pPr>
            <a:r>
              <a:rPr lang="en-US" altLang="en-US" sz="1800"/>
              <a:t>browser caches</a:t>
            </a:r>
            <a:endParaRPr lang="en-US" altLang="en-US" sz="18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8451D92-B8C4-1CD6-16DC-FDD96CD40327}"/>
              </a:ext>
            </a:extLst>
          </p:cNvPr>
          <p:cNvSpPr>
            <a:spLocks noGrp="1"/>
          </p:cNvSpPr>
          <p:nvPr>
            <p:ph type="title"/>
          </p:nvPr>
        </p:nvSpPr>
        <p:spPr/>
        <p:txBody>
          <a:bodyPr/>
          <a:lstStyle/>
          <a:p>
            <a:r>
              <a:rPr lang="en-US" altLang="en-US"/>
              <a:t>Extra Slides</a:t>
            </a:r>
          </a:p>
        </p:txBody>
      </p:sp>
      <p:sp>
        <p:nvSpPr>
          <p:cNvPr id="31747" name="Content Placeholder 2">
            <a:extLst>
              <a:ext uri="{FF2B5EF4-FFF2-40B4-BE49-F238E27FC236}">
                <a16:creationId xmlns:a16="http://schemas.microsoft.com/office/drawing/2014/main" id="{F87AB5FC-8F6E-460C-96C8-E33C27FD53E6}"/>
              </a:ext>
            </a:extLst>
          </p:cNvPr>
          <p:cNvSpPr>
            <a:spLocks noGrp="1"/>
          </p:cNvSpPr>
          <p:nvPr>
            <p:ph sz="half" idx="1"/>
          </p:nvPr>
        </p:nvSpPr>
        <p:spPr/>
        <p:txBody>
          <a:bodyPr/>
          <a:lstStyle/>
          <a:p>
            <a:endParaRPr lang="en-US" altLang="en-US"/>
          </a:p>
        </p:txBody>
      </p:sp>
      <p:sp>
        <p:nvSpPr>
          <p:cNvPr id="31748" name="Content Placeholder 3">
            <a:extLst>
              <a:ext uri="{FF2B5EF4-FFF2-40B4-BE49-F238E27FC236}">
                <a16:creationId xmlns:a16="http://schemas.microsoft.com/office/drawing/2014/main" id="{A272E47A-8E78-5858-2267-4DC365A91037}"/>
              </a:ext>
            </a:extLst>
          </p:cNvPr>
          <p:cNvSpPr>
            <a:spLocks noGrp="1"/>
          </p:cNvSpPr>
          <p:nvPr>
            <p:ph sz="half" idx="2"/>
          </p:nvPr>
        </p:nvSpPr>
        <p:spPr/>
        <p:txBody>
          <a:bodyPr/>
          <a:lstStyle/>
          <a:p>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84C34D3-A16F-F40F-77DE-D4F8D76FB005}"/>
              </a:ext>
            </a:extLst>
          </p:cNvPr>
          <p:cNvSpPr>
            <a:spLocks noGrp="1" noChangeArrowheads="1"/>
          </p:cNvSpPr>
          <p:nvPr>
            <p:ph type="title"/>
          </p:nvPr>
        </p:nvSpPr>
        <p:spPr>
          <a:xfrm>
            <a:off x="609600" y="152400"/>
            <a:ext cx="7543800" cy="1371600"/>
          </a:xfrm>
        </p:spPr>
        <p:txBody>
          <a:bodyPr/>
          <a:lstStyle/>
          <a:p>
            <a:pPr eaLnBrk="1" hangingPunct="1"/>
            <a:r>
              <a:rPr lang="en-US" altLang="en-US" sz="2400"/>
              <a:t>Universal Hashing</a:t>
            </a:r>
            <a:br>
              <a:rPr lang="en-US" altLang="en-US" sz="2400"/>
            </a:br>
            <a:endParaRPr lang="en-US" altLang="en-US" sz="2400"/>
          </a:p>
        </p:txBody>
      </p:sp>
      <p:sp>
        <p:nvSpPr>
          <p:cNvPr id="32771" name="Rectangle 3">
            <a:extLst>
              <a:ext uri="{FF2B5EF4-FFF2-40B4-BE49-F238E27FC236}">
                <a16:creationId xmlns:a16="http://schemas.microsoft.com/office/drawing/2014/main" id="{118500C7-0CC2-A49A-9D5F-2D9A52BD8CC4}"/>
              </a:ext>
            </a:extLst>
          </p:cNvPr>
          <p:cNvSpPr>
            <a:spLocks noGrp="1" noChangeArrowheads="1"/>
          </p:cNvSpPr>
          <p:nvPr>
            <p:ph type="body" sz="half" idx="1"/>
          </p:nvPr>
        </p:nvSpPr>
        <p:spPr>
          <a:xfrm>
            <a:off x="1828800" y="1524000"/>
            <a:ext cx="5562600" cy="2667000"/>
          </a:xfrm>
        </p:spPr>
        <p:txBody>
          <a:bodyPr/>
          <a:lstStyle/>
          <a:p>
            <a:pPr eaLnBrk="1" hangingPunct="1"/>
            <a:r>
              <a:rPr lang="en-US" altLang="en-US" sz="2000"/>
              <a:t>A family of hash functions is </a:t>
            </a:r>
            <a:r>
              <a:rPr lang="en-US" altLang="en-US" sz="2000" b="1"/>
              <a:t>universal</a:t>
            </a:r>
            <a:r>
              <a:rPr lang="en-US" altLang="en-US" sz="2000"/>
              <a:t> if, for any 0</a:t>
            </a:r>
            <a:r>
              <a:rPr lang="en-US" altLang="en-US" sz="2000" u="sng"/>
              <a:t>&lt;</a:t>
            </a:r>
            <a:r>
              <a:rPr lang="en-US" altLang="en-US" sz="2000"/>
              <a:t>i,j</a:t>
            </a:r>
            <a:r>
              <a:rPr lang="en-US" altLang="en-US" sz="2000" u="sng"/>
              <a:t>&lt;</a:t>
            </a:r>
            <a:r>
              <a:rPr lang="en-US" altLang="en-US" sz="2000"/>
              <a:t>M-1, Pr(h(j)=h(k)) </a:t>
            </a:r>
            <a:r>
              <a:rPr lang="en-US" altLang="en-US" sz="2000" u="sng"/>
              <a:t>&lt;</a:t>
            </a:r>
            <a:r>
              <a:rPr lang="en-US" altLang="en-US" sz="2000"/>
              <a:t> 1/N.</a:t>
            </a:r>
          </a:p>
          <a:p>
            <a:pPr eaLnBrk="1" hangingPunct="1"/>
            <a:endParaRPr lang="en-US" altLang="en-US" sz="2000"/>
          </a:p>
          <a:p>
            <a:pPr eaLnBrk="1" hangingPunct="1"/>
            <a:r>
              <a:rPr lang="en-US" altLang="en-US" sz="2000"/>
              <a:t>Choose p as a prime between M and 2M.</a:t>
            </a:r>
          </a:p>
          <a:p>
            <a:pPr eaLnBrk="1" hangingPunct="1"/>
            <a:endParaRPr lang="en-US" altLang="en-US" sz="2000"/>
          </a:p>
          <a:p>
            <a:pPr eaLnBrk="1" hangingPunct="1"/>
            <a:r>
              <a:rPr lang="en-US" altLang="en-US" sz="2000"/>
              <a:t>Randomly select 0&lt;a&lt;p and 0</a:t>
            </a:r>
            <a:r>
              <a:rPr lang="en-US" altLang="en-US" sz="2000" u="sng"/>
              <a:t>&lt;</a:t>
            </a:r>
            <a:r>
              <a:rPr lang="en-US" altLang="en-US" sz="2000"/>
              <a:t>b&lt;p, and define h(k)=(ak+b mod p) mod N</a:t>
            </a:r>
          </a:p>
        </p:txBody>
      </p:sp>
      <p:sp>
        <p:nvSpPr>
          <p:cNvPr id="32772" name="Rectangle 4">
            <a:extLst>
              <a:ext uri="{FF2B5EF4-FFF2-40B4-BE49-F238E27FC236}">
                <a16:creationId xmlns:a16="http://schemas.microsoft.com/office/drawing/2014/main" id="{C464CB1D-02F4-2FA2-4BFF-B2D7712BEC4A}"/>
              </a:ext>
            </a:extLst>
          </p:cNvPr>
          <p:cNvSpPr>
            <a:spLocks noGrp="1" noChangeArrowheads="1"/>
          </p:cNvSpPr>
          <p:nvPr>
            <p:ph type="body" sz="half" idx="2"/>
          </p:nvPr>
        </p:nvSpPr>
        <p:spPr>
          <a:xfrm>
            <a:off x="914400" y="5105400"/>
            <a:ext cx="7848600" cy="685800"/>
          </a:xfrm>
        </p:spPr>
        <p:txBody>
          <a:bodyPr/>
          <a:lstStyle/>
          <a:p>
            <a:pPr eaLnBrk="1" hangingPunct="1">
              <a:buFontTx/>
              <a:buNone/>
            </a:pPr>
            <a:r>
              <a:rPr lang="en-US" altLang="en-US" sz="2000" b="1">
                <a:solidFill>
                  <a:schemeClr val="tx2"/>
                </a:solidFill>
              </a:rPr>
              <a:t>Theorem</a:t>
            </a:r>
            <a:r>
              <a:rPr lang="en-US" altLang="en-US" sz="2000">
                <a:solidFill>
                  <a:schemeClr val="tx2"/>
                </a:solidFill>
              </a:rPr>
              <a:t>: The set of all functions, h, as defined here, is universal.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0DED5937-56DC-2F0E-138F-3846D9169D88}"/>
              </a:ext>
            </a:extLst>
          </p:cNvPr>
          <p:cNvSpPr>
            <a:spLocks noGrp="1" noChangeArrowheads="1"/>
          </p:cNvSpPr>
          <p:nvPr>
            <p:ph type="title"/>
          </p:nvPr>
        </p:nvSpPr>
        <p:spPr/>
        <p:txBody>
          <a:bodyPr/>
          <a:lstStyle/>
          <a:p>
            <a:pPr eaLnBrk="1" hangingPunct="1"/>
            <a:r>
              <a:rPr lang="en-US" altLang="en-US" sz="2400"/>
              <a:t>Proof of Universality (Part 1)</a:t>
            </a:r>
          </a:p>
        </p:txBody>
      </p:sp>
      <p:sp>
        <p:nvSpPr>
          <p:cNvPr id="2053" name="Rectangle 3">
            <a:extLst>
              <a:ext uri="{FF2B5EF4-FFF2-40B4-BE49-F238E27FC236}">
                <a16:creationId xmlns:a16="http://schemas.microsoft.com/office/drawing/2014/main" id="{DE7CF196-5C5D-3AFF-5981-C27E1A6B0859}"/>
              </a:ext>
            </a:extLst>
          </p:cNvPr>
          <p:cNvSpPr>
            <a:spLocks noGrp="1" noChangeArrowheads="1"/>
          </p:cNvSpPr>
          <p:nvPr>
            <p:ph type="body" idx="1"/>
          </p:nvPr>
        </p:nvSpPr>
        <p:spPr>
          <a:xfrm>
            <a:off x="533400" y="1524000"/>
            <a:ext cx="4953000" cy="4343400"/>
          </a:xfrm>
        </p:spPr>
        <p:txBody>
          <a:bodyPr/>
          <a:lstStyle/>
          <a:p>
            <a:pPr eaLnBrk="1" hangingPunct="1"/>
            <a:r>
              <a:rPr lang="en-US" altLang="en-US" sz="1800">
                <a:solidFill>
                  <a:srgbClr val="000000"/>
                </a:solidFill>
              </a:rPr>
              <a:t>Let f(k) = ak+b mod p</a:t>
            </a:r>
          </a:p>
          <a:p>
            <a:pPr eaLnBrk="1" hangingPunct="1"/>
            <a:r>
              <a:rPr lang="en-US" altLang="en-US" sz="1800">
                <a:solidFill>
                  <a:srgbClr val="000000"/>
                </a:solidFill>
              </a:rPr>
              <a:t>Let g(k) = k mod N</a:t>
            </a:r>
          </a:p>
          <a:p>
            <a:pPr eaLnBrk="1" hangingPunct="1"/>
            <a:r>
              <a:rPr lang="en-US" altLang="en-US" sz="1800">
                <a:solidFill>
                  <a:srgbClr val="000000"/>
                </a:solidFill>
              </a:rPr>
              <a:t>So h(k) = g(f(k)).</a:t>
            </a:r>
          </a:p>
          <a:p>
            <a:pPr eaLnBrk="1" hangingPunct="1"/>
            <a:r>
              <a:rPr lang="en-US" altLang="en-US" sz="1800">
                <a:solidFill>
                  <a:srgbClr val="000000"/>
                </a:solidFill>
              </a:rPr>
              <a:t>f causes no collisions:</a:t>
            </a:r>
          </a:p>
          <a:p>
            <a:pPr lvl="1" eaLnBrk="1" hangingPunct="1"/>
            <a:r>
              <a:rPr lang="en-US" altLang="en-US" sz="1800">
                <a:solidFill>
                  <a:srgbClr val="000000"/>
                </a:solidFill>
              </a:rPr>
              <a:t>Let f(k) = f(j).</a:t>
            </a:r>
          </a:p>
          <a:p>
            <a:pPr lvl="1" eaLnBrk="1" hangingPunct="1"/>
            <a:r>
              <a:rPr lang="en-US" altLang="en-US" sz="1800">
                <a:solidFill>
                  <a:srgbClr val="000000"/>
                </a:solidFill>
              </a:rPr>
              <a:t>Suppose k&lt;j. Then</a:t>
            </a:r>
          </a:p>
          <a:p>
            <a:pPr eaLnBrk="1" hangingPunct="1"/>
            <a:endParaRPr lang="en-US" altLang="en-US" sz="1800">
              <a:solidFill>
                <a:srgbClr val="000000"/>
              </a:solidFill>
            </a:endParaRPr>
          </a:p>
        </p:txBody>
      </p:sp>
      <p:graphicFrame>
        <p:nvGraphicFramePr>
          <p:cNvPr id="2050" name="Object 4">
            <a:extLst>
              <a:ext uri="{FF2B5EF4-FFF2-40B4-BE49-F238E27FC236}">
                <a16:creationId xmlns:a16="http://schemas.microsoft.com/office/drawing/2014/main" id="{24703871-1E8B-BFD9-1C2E-466E0AC0458F}"/>
              </a:ext>
            </a:extLst>
          </p:cNvPr>
          <p:cNvGraphicFramePr>
            <a:graphicFrameLocks noChangeAspect="1"/>
          </p:cNvGraphicFramePr>
          <p:nvPr/>
        </p:nvGraphicFramePr>
        <p:xfrm>
          <a:off x="2286000" y="4267200"/>
          <a:ext cx="4419600" cy="838200"/>
        </p:xfrm>
        <a:graphic>
          <a:graphicData uri="http://schemas.openxmlformats.org/presentationml/2006/ole">
            <mc:AlternateContent xmlns:mc="http://schemas.openxmlformats.org/markup-compatibility/2006">
              <mc:Choice xmlns:v="urn:schemas-microsoft-com:vml" Requires="v">
                <p:oleObj name="Equation" r:id="rId2" imgW="55587900" imgH="10528300" progId="Equation.3">
                  <p:embed/>
                </p:oleObj>
              </mc:Choice>
              <mc:Fallback>
                <p:oleObj name="Equation" r:id="rId2" imgW="55587900" imgH="10528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267200"/>
                        <a:ext cx="4419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5">
            <a:extLst>
              <a:ext uri="{FF2B5EF4-FFF2-40B4-BE49-F238E27FC236}">
                <a16:creationId xmlns:a16="http://schemas.microsoft.com/office/drawing/2014/main" id="{2C14B330-5F72-4516-12B2-30FEFBC5E70A}"/>
              </a:ext>
            </a:extLst>
          </p:cNvPr>
          <p:cNvGraphicFramePr>
            <a:graphicFrameLocks noChangeAspect="1"/>
          </p:cNvGraphicFramePr>
          <p:nvPr/>
        </p:nvGraphicFramePr>
        <p:xfrm>
          <a:off x="2286000" y="5257800"/>
          <a:ext cx="4095750" cy="939800"/>
        </p:xfrm>
        <a:graphic>
          <a:graphicData uri="http://schemas.openxmlformats.org/presentationml/2006/ole">
            <mc:AlternateContent xmlns:mc="http://schemas.openxmlformats.org/markup-compatibility/2006">
              <mc:Choice xmlns:v="urn:schemas-microsoft-com:vml" Requires="v">
                <p:oleObj name="Equation" r:id="rId4" imgW="48272700" imgH="11112500" progId="Equation.3">
                  <p:embed/>
                </p:oleObj>
              </mc:Choice>
              <mc:Fallback>
                <p:oleObj name="Equation" r:id="rId4" imgW="48272700" imgH="11112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5257800"/>
                        <a:ext cx="409575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Rectangle 6" descr="Rectangle: Click to edit Master text styles&#13;&#10;Second level&#13;&#10;Third level&#13;&#10;Fourth level&#13;&#10;Fifth level">
            <a:extLst>
              <a:ext uri="{FF2B5EF4-FFF2-40B4-BE49-F238E27FC236}">
                <a16:creationId xmlns:a16="http://schemas.microsoft.com/office/drawing/2014/main" id="{8A26B2AA-4603-1D95-0E1C-CB02520565F3}"/>
              </a:ext>
            </a:extLst>
          </p:cNvPr>
          <p:cNvSpPr>
            <a:spLocks noChangeArrowheads="1"/>
          </p:cNvSpPr>
          <p:nvPr/>
        </p:nvSpPr>
        <p:spPr bwMode="auto">
          <a:xfrm>
            <a:off x="4495800" y="1676400"/>
            <a:ext cx="4419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20000"/>
              </a:spcBef>
              <a:buFontTx/>
              <a:buChar char="•"/>
            </a:pPr>
            <a:r>
              <a:rPr lang="en-US" altLang="en-US">
                <a:solidFill>
                  <a:srgbClr val="000000"/>
                </a:solidFill>
              </a:rPr>
              <a:t>So a(j-k) is a multiple of p</a:t>
            </a:r>
          </a:p>
          <a:p>
            <a:pPr algn="l" eaLnBrk="1" hangingPunct="1">
              <a:spcBef>
                <a:spcPct val="20000"/>
              </a:spcBef>
              <a:buFontTx/>
              <a:buChar char="•"/>
            </a:pPr>
            <a:r>
              <a:rPr lang="en-US" altLang="en-US">
                <a:solidFill>
                  <a:srgbClr val="000000"/>
                </a:solidFill>
              </a:rPr>
              <a:t>But both are less than p</a:t>
            </a:r>
          </a:p>
          <a:p>
            <a:pPr algn="l" eaLnBrk="1" hangingPunct="1">
              <a:spcBef>
                <a:spcPct val="20000"/>
              </a:spcBef>
              <a:buFontTx/>
              <a:buChar char="•"/>
            </a:pPr>
            <a:r>
              <a:rPr lang="en-US" altLang="en-US">
                <a:solidFill>
                  <a:srgbClr val="000000"/>
                </a:solidFill>
              </a:rPr>
              <a:t>So a(j-k) = 0. I.e., j=k. (contradiction)</a:t>
            </a:r>
          </a:p>
          <a:p>
            <a:pPr algn="l" eaLnBrk="1" hangingPunct="1">
              <a:spcBef>
                <a:spcPct val="20000"/>
              </a:spcBef>
              <a:buFontTx/>
              <a:buChar char="•"/>
            </a:pPr>
            <a:r>
              <a:rPr lang="en-US" altLang="en-US">
                <a:solidFill>
                  <a:srgbClr val="000000"/>
                </a:solidFill>
              </a:rPr>
              <a:t>Thus, f causes no collisions.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a:extLst>
              <a:ext uri="{FF2B5EF4-FFF2-40B4-BE49-F238E27FC236}">
                <a16:creationId xmlns:a16="http://schemas.microsoft.com/office/drawing/2014/main" id="{60E6001E-84AF-AD9C-C099-AA8E06BDDF10}"/>
              </a:ext>
            </a:extLst>
          </p:cNvPr>
          <p:cNvSpPr>
            <a:spLocks noGrp="1" noChangeArrowheads="1"/>
          </p:cNvSpPr>
          <p:nvPr>
            <p:ph type="title"/>
          </p:nvPr>
        </p:nvSpPr>
        <p:spPr/>
        <p:txBody>
          <a:bodyPr/>
          <a:lstStyle/>
          <a:p>
            <a:pPr eaLnBrk="1" hangingPunct="1"/>
            <a:r>
              <a:rPr lang="en-US" altLang="en-US" sz="2400"/>
              <a:t>Proof of Universality (Part 2)</a:t>
            </a:r>
          </a:p>
        </p:txBody>
      </p:sp>
      <p:sp>
        <p:nvSpPr>
          <p:cNvPr id="3078" name="Rectangle 3">
            <a:extLst>
              <a:ext uri="{FF2B5EF4-FFF2-40B4-BE49-F238E27FC236}">
                <a16:creationId xmlns:a16="http://schemas.microsoft.com/office/drawing/2014/main" id="{9F9D9F0A-0580-6356-6FB7-C5860B87D5C0}"/>
              </a:ext>
            </a:extLst>
          </p:cNvPr>
          <p:cNvSpPr>
            <a:spLocks noGrp="1" noChangeArrowheads="1"/>
          </p:cNvSpPr>
          <p:nvPr>
            <p:ph type="body" idx="1"/>
          </p:nvPr>
        </p:nvSpPr>
        <p:spPr>
          <a:xfrm>
            <a:off x="304800" y="1371600"/>
            <a:ext cx="8534400" cy="4953000"/>
          </a:xfrm>
        </p:spPr>
        <p:txBody>
          <a:bodyPr/>
          <a:lstStyle/>
          <a:p>
            <a:pPr eaLnBrk="1" hangingPunct="1"/>
            <a:r>
              <a:rPr lang="en-US" altLang="en-US" sz="1800">
                <a:solidFill>
                  <a:srgbClr val="000000"/>
                </a:solidFill>
              </a:rPr>
              <a:t>If f causes no collisions, only g can make h cause collisions. </a:t>
            </a:r>
          </a:p>
          <a:p>
            <a:pPr eaLnBrk="1" hangingPunct="1"/>
            <a:r>
              <a:rPr lang="en-US" altLang="en-US" sz="1800">
                <a:solidFill>
                  <a:srgbClr val="000000"/>
                </a:solidFill>
              </a:rPr>
              <a:t>Fix a number x. Of the p integers y=f(k), different from x, the number such that g(y)=g(x) is at most </a:t>
            </a:r>
          </a:p>
          <a:p>
            <a:pPr eaLnBrk="1" hangingPunct="1"/>
            <a:endParaRPr lang="en-US" altLang="en-US" sz="1800">
              <a:solidFill>
                <a:srgbClr val="000000"/>
              </a:solidFill>
            </a:endParaRPr>
          </a:p>
          <a:p>
            <a:pPr eaLnBrk="1" hangingPunct="1"/>
            <a:endParaRPr lang="en-US" altLang="en-US" sz="1800">
              <a:solidFill>
                <a:srgbClr val="000000"/>
              </a:solidFill>
            </a:endParaRPr>
          </a:p>
          <a:p>
            <a:pPr eaLnBrk="1" hangingPunct="1"/>
            <a:r>
              <a:rPr lang="en-US" altLang="en-US" sz="1800">
                <a:solidFill>
                  <a:srgbClr val="000000"/>
                </a:solidFill>
              </a:rPr>
              <a:t>Since there are p choices for x, the number of h’s that will cause a collision between j and k is at most</a:t>
            </a:r>
          </a:p>
          <a:p>
            <a:pPr eaLnBrk="1" hangingPunct="1"/>
            <a:endParaRPr lang="en-US" altLang="en-US">
              <a:solidFill>
                <a:srgbClr val="000000"/>
              </a:solidFill>
            </a:endParaRPr>
          </a:p>
          <a:p>
            <a:pPr eaLnBrk="1" hangingPunct="1"/>
            <a:endParaRPr lang="en-US" altLang="en-US">
              <a:solidFill>
                <a:srgbClr val="000000"/>
              </a:solidFill>
            </a:endParaRPr>
          </a:p>
          <a:p>
            <a:pPr eaLnBrk="1" hangingPunct="1"/>
            <a:r>
              <a:rPr lang="en-US" altLang="en-US" sz="1800">
                <a:solidFill>
                  <a:srgbClr val="000000"/>
                </a:solidFill>
              </a:rPr>
              <a:t>There are p(p-1) functions h. So probability of collision is at most</a:t>
            </a:r>
          </a:p>
          <a:p>
            <a:pPr eaLnBrk="1" hangingPunct="1"/>
            <a:endParaRPr lang="en-US" altLang="en-US" sz="1800">
              <a:solidFill>
                <a:srgbClr val="000000"/>
              </a:solidFill>
            </a:endParaRPr>
          </a:p>
          <a:p>
            <a:pPr eaLnBrk="1" hangingPunct="1"/>
            <a:endParaRPr lang="en-US" altLang="en-US" sz="1800">
              <a:solidFill>
                <a:srgbClr val="000000"/>
              </a:solidFill>
            </a:endParaRPr>
          </a:p>
          <a:p>
            <a:pPr eaLnBrk="1" hangingPunct="1"/>
            <a:endParaRPr lang="en-US" altLang="en-US" sz="1800">
              <a:solidFill>
                <a:srgbClr val="000000"/>
              </a:solidFill>
            </a:endParaRPr>
          </a:p>
          <a:p>
            <a:pPr eaLnBrk="1" hangingPunct="1"/>
            <a:r>
              <a:rPr lang="en-US" altLang="en-US" sz="1800">
                <a:solidFill>
                  <a:srgbClr val="000000"/>
                </a:solidFill>
              </a:rPr>
              <a:t>Therefore, the set of possible h functions is universal.</a:t>
            </a:r>
          </a:p>
        </p:txBody>
      </p:sp>
      <p:graphicFrame>
        <p:nvGraphicFramePr>
          <p:cNvPr id="3074" name="Object 4">
            <a:extLst>
              <a:ext uri="{FF2B5EF4-FFF2-40B4-BE49-F238E27FC236}">
                <a16:creationId xmlns:a16="http://schemas.microsoft.com/office/drawing/2014/main" id="{E83B40B8-F1E3-278E-86EB-D5167DB3A9D8}"/>
              </a:ext>
            </a:extLst>
          </p:cNvPr>
          <p:cNvGraphicFramePr>
            <a:graphicFrameLocks noChangeAspect="1"/>
          </p:cNvGraphicFramePr>
          <p:nvPr/>
        </p:nvGraphicFramePr>
        <p:xfrm>
          <a:off x="3429000" y="2362200"/>
          <a:ext cx="1143000" cy="395288"/>
        </p:xfrm>
        <a:graphic>
          <a:graphicData uri="http://schemas.openxmlformats.org/presentationml/2006/ole">
            <mc:AlternateContent xmlns:mc="http://schemas.openxmlformats.org/markup-compatibility/2006">
              <mc:Choice xmlns:v="urn:schemas-microsoft-com:vml" Requires="v">
                <p:oleObj name="Equation" r:id="rId2" imgW="15214600" imgH="5270500" progId="Equation.3">
                  <p:embed/>
                </p:oleObj>
              </mc:Choice>
              <mc:Fallback>
                <p:oleObj name="Equation" r:id="rId2" imgW="15214600" imgH="5270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362200"/>
                        <a:ext cx="11430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a:extLst>
              <a:ext uri="{FF2B5EF4-FFF2-40B4-BE49-F238E27FC236}">
                <a16:creationId xmlns:a16="http://schemas.microsoft.com/office/drawing/2014/main" id="{CBDC3DB6-C51A-1D1E-3F06-590B3BDF5601}"/>
              </a:ext>
            </a:extLst>
          </p:cNvPr>
          <p:cNvGraphicFramePr>
            <a:graphicFrameLocks noChangeAspect="1"/>
          </p:cNvGraphicFramePr>
          <p:nvPr/>
        </p:nvGraphicFramePr>
        <p:xfrm>
          <a:off x="3048000" y="3581400"/>
          <a:ext cx="3054350" cy="779463"/>
        </p:xfrm>
        <a:graphic>
          <a:graphicData uri="http://schemas.openxmlformats.org/presentationml/2006/ole">
            <mc:AlternateContent xmlns:mc="http://schemas.openxmlformats.org/markup-compatibility/2006">
              <mc:Choice xmlns:v="urn:schemas-microsoft-com:vml" Requires="v">
                <p:oleObj name="Equation" r:id="rId4" imgW="35394900" imgH="9067800" progId="Equation.3">
                  <p:embed/>
                </p:oleObj>
              </mc:Choice>
              <mc:Fallback>
                <p:oleObj name="Equation" r:id="rId4" imgW="35394900" imgH="9067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581400"/>
                        <a:ext cx="3054350"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6">
            <a:extLst>
              <a:ext uri="{FF2B5EF4-FFF2-40B4-BE49-F238E27FC236}">
                <a16:creationId xmlns:a16="http://schemas.microsoft.com/office/drawing/2014/main" id="{F9277C9F-4819-5CE8-0DCA-D26B163DBD2C}"/>
              </a:ext>
            </a:extLst>
          </p:cNvPr>
          <p:cNvGraphicFramePr>
            <a:graphicFrameLocks noChangeAspect="1"/>
          </p:cNvGraphicFramePr>
          <p:nvPr/>
        </p:nvGraphicFramePr>
        <p:xfrm>
          <a:off x="3124200" y="4876800"/>
          <a:ext cx="2070100" cy="795338"/>
        </p:xfrm>
        <a:graphic>
          <a:graphicData uri="http://schemas.openxmlformats.org/presentationml/2006/ole">
            <mc:AlternateContent xmlns:mc="http://schemas.openxmlformats.org/markup-compatibility/2006">
              <mc:Choice xmlns:v="urn:schemas-microsoft-com:vml" Requires="v">
                <p:oleObj name="Equation" r:id="rId6" imgW="25158700" imgH="9652000" progId="Equation.3">
                  <p:embed/>
                </p:oleObj>
              </mc:Choice>
              <mc:Fallback>
                <p:oleObj name="Equation" r:id="rId6" imgW="25158700" imgH="96520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4876800"/>
                        <a:ext cx="2070100"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FF0066"/>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rgbClr val="FF0066"/>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2667</TotalTime>
  <Words>2311</Words>
  <Application>Microsoft Macintosh PowerPoint</Application>
  <PresentationFormat>On-screen Show (4:3)</PresentationFormat>
  <Paragraphs>367</Paragraphs>
  <Slides>21</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21</vt:i4>
      </vt:variant>
    </vt:vector>
  </HeadingPairs>
  <TitlesOfParts>
    <vt:vector size="33" baseType="lpstr">
      <vt:lpstr>CMR10</vt:lpstr>
      <vt:lpstr>CMSY8</vt:lpstr>
      <vt:lpstr>Arial</vt:lpstr>
      <vt:lpstr>Comic Sans MS</vt:lpstr>
      <vt:lpstr>Symbol</vt:lpstr>
      <vt:lpstr>Tahoma</vt:lpstr>
      <vt:lpstr>Times New Roman</vt:lpstr>
      <vt:lpstr>Verdana</vt:lpstr>
      <vt:lpstr>Wingdings</vt:lpstr>
      <vt:lpstr>Default Design</vt:lpstr>
      <vt:lpstr>Worksheet</vt:lpstr>
      <vt:lpstr>Equation</vt:lpstr>
      <vt:lpstr>Quiz #3</vt:lpstr>
      <vt:lpstr>CS535: Algorithm Design and Analysis   Dictionaries and Hash Tables</vt:lpstr>
      <vt:lpstr>Dictionary ADT</vt:lpstr>
      <vt:lpstr>Log File</vt:lpstr>
      <vt:lpstr>Hash Functions and Hash Tables</vt:lpstr>
      <vt:lpstr>Example</vt:lpstr>
      <vt:lpstr>Hash Functions</vt:lpstr>
      <vt:lpstr>Hash Code Maps</vt:lpstr>
      <vt:lpstr>Hash Code Maps (cont.)</vt:lpstr>
      <vt:lpstr>Compression Maps</vt:lpstr>
      <vt:lpstr>Collision Handling</vt:lpstr>
      <vt:lpstr>Linear Probing</vt:lpstr>
      <vt:lpstr>Search with Linear Probing</vt:lpstr>
      <vt:lpstr>Updates with Linear Probing</vt:lpstr>
      <vt:lpstr>Double Hashing</vt:lpstr>
      <vt:lpstr>Example of Double Hashing</vt:lpstr>
      <vt:lpstr>Performance of Hashing</vt:lpstr>
      <vt:lpstr>Extra Slides</vt:lpstr>
      <vt:lpstr>Universal Hashing </vt:lpstr>
      <vt:lpstr>Proof of Universality (Part 1)</vt:lpstr>
      <vt:lpstr>Proof of Universality (Part 2)</vt:lpstr>
    </vt:vector>
  </TitlesOfParts>
  <Company>UT-Austin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Mesh Generation</dc:title>
  <dc:creator>Yu</dc:creator>
  <cp:lastModifiedBy>Zeyun Yu</cp:lastModifiedBy>
  <cp:revision>608</cp:revision>
  <dcterms:created xsi:type="dcterms:W3CDTF">2006-12-14T06:02:28Z</dcterms:created>
  <dcterms:modified xsi:type="dcterms:W3CDTF">2024-02-15T15:36:56Z</dcterms:modified>
</cp:coreProperties>
</file>