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9" r:id="rId2"/>
    <p:sldId id="256" r:id="rId3"/>
    <p:sldId id="258" r:id="rId4"/>
    <p:sldId id="294" r:id="rId5"/>
    <p:sldId id="259" r:id="rId6"/>
    <p:sldId id="260" r:id="rId7"/>
    <p:sldId id="261" r:id="rId8"/>
    <p:sldId id="271" r:id="rId9"/>
    <p:sldId id="272" r:id="rId10"/>
    <p:sldId id="273" r:id="rId11"/>
    <p:sldId id="274" r:id="rId12"/>
    <p:sldId id="275" r:id="rId13"/>
    <p:sldId id="276" r:id="rId14"/>
    <p:sldId id="283" r:id="rId15"/>
    <p:sldId id="284" r:id="rId16"/>
    <p:sldId id="285" r:id="rId17"/>
    <p:sldId id="286" r:id="rId18"/>
    <p:sldId id="289" r:id="rId19"/>
    <p:sldId id="290" r:id="rId20"/>
    <p:sldId id="291" r:id="rId21"/>
    <p:sldId id="292" r:id="rId22"/>
    <p:sldId id="293" r:id="rId23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81" autoAdjust="0"/>
    <p:restoredTop sz="94580" autoAdjust="0"/>
  </p:normalViewPr>
  <p:slideViewPr>
    <p:cSldViewPr>
      <p:cViewPr varScale="1">
        <p:scale>
          <a:sx n="107" d="100"/>
          <a:sy n="107" d="100"/>
        </p:scale>
        <p:origin x="1552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824" y="-8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9F254E88-8ADB-DF17-7A19-CE0DBA3EAC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DE925DCF-6419-1C12-B44C-9780C63D420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A56976E8-F381-628D-2273-EA38F9A0FC4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D63F4F21-3C95-D724-6BC7-0F3564FA99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A85F3C1D-9593-2345-BC4D-C7FF6C3D1E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2563AC9-55EB-2130-EDEA-35665DFF3D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FE9F5C4-3C0C-5B34-C94B-FFAE0FBB2E6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CC9C960D-2188-BB28-4749-DE1725F960F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C0CB583D-828E-9D11-6457-4410163EA11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9B06DE93-C63C-7896-C402-DBCA17529A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2156BC4B-7DF3-7997-0F3E-CAAB58708F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2305587D-5E4F-FD47-A4F1-8FA242F6A4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2006DD92-E49B-D4AE-095D-CA95BF4E1B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42092D40-F5C2-591F-861D-9419A6617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50C6C082-843E-7838-9146-14426CD1B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960C9DA-EC78-8A46-8A61-A5954E81D7F7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ADB21-D25F-CDF0-7AAB-5FF3896B4F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8218368D-DC70-A146-8EFD-470E00F7F926}" type="slidenum">
              <a:rPr lang="en-US" altLang="en-US" sz="1100"/>
              <a:pPr/>
              <a:t>‹#›</a:t>
            </a:fld>
            <a:r>
              <a:rPr lang="en-US" altLang="en-US" sz="110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54807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B7B34-A95D-14B1-06C3-6E549AAF42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6092D960-9F58-D64F-87AF-E6214B61202E}" type="slidenum">
              <a:rPr lang="en-US" altLang="en-US" sz="1100"/>
              <a:pPr/>
              <a:t>‹#›</a:t>
            </a:fld>
            <a:r>
              <a:rPr lang="en-US" altLang="en-US" sz="110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3303546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3E937-377C-E1B8-3CA1-3B551871C7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78642F28-11D7-5341-9AD1-2A673C655810}" type="slidenum">
              <a:rPr lang="en-US" altLang="en-US" sz="1100"/>
              <a:pPr/>
              <a:t>‹#›</a:t>
            </a:fld>
            <a:r>
              <a:rPr lang="en-US" altLang="en-US" sz="110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372434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C2757-647B-6B9D-6EE4-2F044512B7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07787DB5-6833-4048-A3EC-7B221D0D8511}" type="slidenum">
              <a:rPr lang="en-US" altLang="en-US" sz="1100"/>
              <a:pPr/>
              <a:t>‹#›</a:t>
            </a:fld>
            <a:r>
              <a:rPr lang="en-US" altLang="en-US" sz="110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432234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F30BFE2-CD5F-BE81-89A9-A88FCF0726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9381629D-0000-F647-96E1-8EEDD5779E7F}" type="slidenum">
              <a:rPr lang="en-US" altLang="en-US" sz="1100"/>
              <a:pPr/>
              <a:t>‹#›</a:t>
            </a:fld>
            <a:r>
              <a:rPr lang="en-US" altLang="en-US" sz="110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75708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D7CFB-B041-0F62-C9AA-172899E3A6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0E701ADD-AF26-6840-A271-EB3B49CAF03B}" type="slidenum">
              <a:rPr lang="en-US" altLang="en-US" sz="1100"/>
              <a:pPr/>
              <a:t>‹#›</a:t>
            </a:fld>
            <a:r>
              <a:rPr lang="en-US" altLang="en-US" sz="110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379372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7B440D-1444-8EE9-4D5F-75CF761C46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82647F71-4721-D64E-AC18-0622C3921DE8}" type="slidenum">
              <a:rPr lang="en-US" altLang="en-US" sz="1100"/>
              <a:pPr/>
              <a:t>‹#›</a:t>
            </a:fld>
            <a:r>
              <a:rPr lang="en-US" altLang="en-US" sz="110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90533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676F-05DB-5085-F0B9-04980FFC29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31540043-1BAB-8743-9B54-3D365E29E9DA}" type="slidenum">
              <a:rPr lang="en-US" altLang="en-US" sz="1100"/>
              <a:pPr/>
              <a:t>‹#›</a:t>
            </a:fld>
            <a:r>
              <a:rPr lang="en-US" altLang="en-US" sz="110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87171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53489-AE56-5603-41EB-49C571D94A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B125BEA4-8604-434C-8180-2BF2DD56D9B6}" type="slidenum">
              <a:rPr lang="en-US" altLang="en-US" sz="1100"/>
              <a:pPr/>
              <a:t>‹#›</a:t>
            </a:fld>
            <a:r>
              <a:rPr lang="en-US" altLang="en-US" sz="110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38895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F866D-1AA3-B724-FF02-DC22F68C30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8E17595F-8C37-B243-80A8-F6253364A646}" type="slidenum">
              <a:rPr lang="en-US" altLang="en-US" sz="1100"/>
              <a:pPr/>
              <a:t>‹#›</a:t>
            </a:fld>
            <a:r>
              <a:rPr lang="en-US" altLang="en-US" sz="110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52056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BE64F-18F0-50B4-9B27-336E9E91F8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9AEE0B52-ADB2-544A-8807-C4EFA2832C7B}" type="slidenum">
              <a:rPr lang="en-US" altLang="en-US" sz="1100"/>
              <a:pPr/>
              <a:t>‹#›</a:t>
            </a:fld>
            <a:r>
              <a:rPr lang="en-US" altLang="en-US" sz="110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857557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EB00C-2D9E-1A2E-E3B8-EA10DAA194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20820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5798C903-89EE-5282-DE3C-3627DC2D7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Rectangle 8">
            <a:extLst>
              <a:ext uri="{FF2B5EF4-FFF2-40B4-BE49-F238E27FC236}">
                <a16:creationId xmlns:a16="http://schemas.microsoft.com/office/drawing/2014/main" id="{6B0657FB-4BD9-6043-2725-9EFD12D31D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068520D0-FEDD-8466-6E9C-458738F603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pic>
        <p:nvPicPr>
          <p:cNvPr id="5125" name="Picture 14" descr="logo-1">
            <a:extLst>
              <a:ext uri="{FF2B5EF4-FFF2-40B4-BE49-F238E27FC236}">
                <a16:creationId xmlns:a16="http://schemas.microsoft.com/office/drawing/2014/main" id="{CA123A5F-1E69-67CE-EDD6-6E338F9EA9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CE0F96E-B447-3A42-7DC7-F5C9E5318619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2192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1100" dirty="0">
                <a:solidFill>
                  <a:schemeClr val="accent2"/>
                </a:solidFill>
              </a:rPr>
              <a:t>     Algorithm Design and Analysis (Spring 2024)                                       Lecture 13                                     Slides </a:t>
            </a:r>
            <a:fld id="{74E47CE7-11C6-334F-BAF8-56C026BA99DE}" type="slidenum">
              <a:rPr lang="en-US" altLang="en-US" sz="1100">
                <a:solidFill>
                  <a:schemeClr val="accent2"/>
                </a:solidFill>
              </a:rPr>
              <a:pPr algn="l"/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4A309FC-2A3A-49A8-D843-6F4064F06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727776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Quiz #</a:t>
            </a:r>
            <a:r>
              <a:rPr lang="en-US" altLang="zh-CN" sz="2400" dirty="0"/>
              <a:t>6</a:t>
            </a:r>
            <a:endParaRPr lang="en-US" altLang="en-US" sz="2400" dirty="0"/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CD506CAF-27BF-9438-4DD8-5D5799BBDF2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47700" y="914400"/>
            <a:ext cx="8039100" cy="5715000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en-US" sz="1800" dirty="0"/>
              <a:t>Draw the red-black tree after </a:t>
            </a:r>
            <a:r>
              <a:rPr lang="en-US" altLang="en-US" sz="1800" dirty="0">
                <a:solidFill>
                  <a:srgbClr val="FF0000"/>
                </a:solidFill>
              </a:rPr>
              <a:t>inserting</a:t>
            </a:r>
            <a:r>
              <a:rPr lang="en-US" altLang="en-US" sz="1800" dirty="0"/>
              <a:t> </a:t>
            </a:r>
          </a:p>
          <a:p>
            <a:pPr marL="0" indent="0" eaLnBrk="1" hangingPunct="1">
              <a:buNone/>
              <a:defRPr/>
            </a:pPr>
            <a:r>
              <a:rPr lang="en-US" altLang="en-US" sz="1800" dirty="0"/>
              <a:t>        the </a:t>
            </a:r>
            <a:r>
              <a:rPr lang="en-US" altLang="en-US" sz="1800" dirty="0">
                <a:solidFill>
                  <a:srgbClr val="FF0000"/>
                </a:solidFill>
              </a:rPr>
              <a:t>key 6 </a:t>
            </a:r>
            <a:r>
              <a:rPr lang="en-US" altLang="en-US" sz="1800" dirty="0"/>
              <a:t>into the tree on the right.</a:t>
            </a:r>
          </a:p>
          <a:p>
            <a:pPr marL="0" indent="0" eaLnBrk="1" hangingPunct="1">
              <a:buNone/>
              <a:defRPr/>
            </a:pPr>
            <a:r>
              <a:rPr lang="en-US" altLang="en-US" sz="1800" dirty="0"/>
              <a:t>       Note: use </a:t>
            </a:r>
            <a:r>
              <a:rPr lang="en-US" altLang="en-US" sz="1800" b="1" dirty="0"/>
              <a:t>bold line </a:t>
            </a:r>
            <a:r>
              <a:rPr lang="en-US" altLang="en-US" sz="1800" dirty="0"/>
              <a:t>to indicate red nodes</a:t>
            </a:r>
          </a:p>
          <a:p>
            <a:pPr marL="0" indent="0" eaLnBrk="1" hangingPunct="1">
              <a:buNone/>
              <a:defRPr/>
            </a:pPr>
            <a:r>
              <a:rPr lang="en-US" altLang="en-US" sz="1800" dirty="0"/>
              <a:t>                 in your tree.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en-US" altLang="en-US" sz="1800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en-US" altLang="en-US" sz="1800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en-US" altLang="en-US" sz="1200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en-US" altLang="en-US" sz="1200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en-US" altLang="en-US" sz="1800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en-US" altLang="en-US" sz="1800" dirty="0"/>
          </a:p>
          <a:p>
            <a:pPr marL="457200" indent="-457200" eaLnBrk="1" hangingPunct="1">
              <a:buFont typeface="+mj-lt"/>
              <a:buAutoNum type="arabicPeriod" startAt="2"/>
              <a:defRPr/>
            </a:pPr>
            <a:r>
              <a:rPr lang="en-US" altLang="en-US" sz="1800" dirty="0"/>
              <a:t>Given the tree on the right, </a:t>
            </a:r>
          </a:p>
          <a:p>
            <a:pPr marL="400050" lvl="1" indent="0" eaLnBrk="1" hangingPunct="1">
              <a:buNone/>
              <a:defRPr/>
            </a:pPr>
            <a:r>
              <a:rPr lang="en-US" altLang="en-US" sz="1600" dirty="0"/>
              <a:t> Draw the splay tree after </a:t>
            </a:r>
            <a:r>
              <a:rPr lang="en-US" altLang="en-US" sz="1600" dirty="0">
                <a:solidFill>
                  <a:srgbClr val="FF0000"/>
                </a:solidFill>
              </a:rPr>
              <a:t>deleting</a:t>
            </a:r>
          </a:p>
          <a:p>
            <a:pPr marL="400050" lvl="1" indent="0" eaLnBrk="1" hangingPunct="1">
              <a:buNone/>
              <a:defRPr/>
            </a:pPr>
            <a:r>
              <a:rPr lang="en-US" altLang="en-US" sz="1600" dirty="0"/>
              <a:t> the </a:t>
            </a:r>
            <a:r>
              <a:rPr lang="en-US" altLang="en-US" sz="1600" dirty="0">
                <a:solidFill>
                  <a:srgbClr val="FF0000"/>
                </a:solidFill>
              </a:rPr>
              <a:t>key (5, H).  </a:t>
            </a:r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0" indent="0" eaLnBrk="1" hangingPunct="1">
              <a:buNone/>
              <a:defRPr/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en-US" altLang="en-US" sz="1800" dirty="0"/>
          </a:p>
        </p:txBody>
      </p:sp>
      <p:pic>
        <p:nvPicPr>
          <p:cNvPr id="16387" name="Picture 16386">
            <a:extLst>
              <a:ext uri="{FF2B5EF4-FFF2-40B4-BE49-F238E27FC236}">
                <a16:creationId xmlns:a16="http://schemas.microsoft.com/office/drawing/2014/main" id="{61EF2304-9823-D729-94D8-EE3E75C01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766" y="709688"/>
            <a:ext cx="3388234" cy="223545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0FE0B87-9847-4E22-A5A1-B4082451BE37}"/>
              </a:ext>
            </a:extLst>
          </p:cNvPr>
          <p:cNvGrpSpPr/>
          <p:nvPr/>
        </p:nvGrpSpPr>
        <p:grpSpPr>
          <a:xfrm>
            <a:off x="5035162" y="2775528"/>
            <a:ext cx="3222887" cy="3701471"/>
            <a:chOff x="5450152" y="3149187"/>
            <a:chExt cx="2813956" cy="3327813"/>
          </a:xfrm>
        </p:grpSpPr>
        <p:sp>
          <p:nvSpPr>
            <p:cNvPr id="16389" name="Oval 181">
              <a:extLst>
                <a:ext uri="{FF2B5EF4-FFF2-40B4-BE49-F238E27FC236}">
                  <a16:creationId xmlns:a16="http://schemas.microsoft.com/office/drawing/2014/main" id="{93FAB88E-55CC-F885-CF62-54EC69582D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47906" y="3725938"/>
              <a:ext cx="636095" cy="2918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 b="1" dirty="0">
                  <a:latin typeface="Times New Roman" panose="02020603050405020304" pitchFamily="18" charset="0"/>
                </a:rPr>
                <a:t>(10, A)</a:t>
              </a:r>
            </a:p>
          </p:txBody>
        </p:sp>
        <p:cxnSp>
          <p:nvCxnSpPr>
            <p:cNvPr id="16391" name="AutoShape 183">
              <a:extLst>
                <a:ext uri="{FF2B5EF4-FFF2-40B4-BE49-F238E27FC236}">
                  <a16:creationId xmlns:a16="http://schemas.microsoft.com/office/drawing/2014/main" id="{3EDC886B-8658-75AF-E7DD-09CF9F8BA1F5}"/>
                </a:ext>
              </a:extLst>
            </p:cNvPr>
            <p:cNvCxnSpPr>
              <a:cxnSpLocks noChangeAspect="1" noChangeShapeType="1"/>
              <a:stCxn id="16418" idx="4"/>
              <a:endCxn id="16445" idx="0"/>
            </p:cNvCxnSpPr>
            <p:nvPr/>
          </p:nvCxnSpPr>
          <p:spPr bwMode="auto">
            <a:xfrm flipH="1">
              <a:off x="6411588" y="3441014"/>
              <a:ext cx="587978" cy="27879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2" name="AutoShape 184">
              <a:extLst>
                <a:ext uri="{FF2B5EF4-FFF2-40B4-BE49-F238E27FC236}">
                  <a16:creationId xmlns:a16="http://schemas.microsoft.com/office/drawing/2014/main" id="{DD43C296-A966-DA71-8078-902EFEF9A11B}"/>
                </a:ext>
              </a:extLst>
            </p:cNvPr>
            <p:cNvCxnSpPr>
              <a:cxnSpLocks noChangeAspect="1" noChangeShapeType="1"/>
              <a:stCxn id="16389" idx="4"/>
              <a:endCxn id="16440" idx="0"/>
            </p:cNvCxnSpPr>
            <p:nvPr/>
          </p:nvCxnSpPr>
          <p:spPr bwMode="auto">
            <a:xfrm>
              <a:off x="7465954" y="4017765"/>
              <a:ext cx="495914" cy="2235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6416" name="Group 208">
              <a:extLst>
                <a:ext uri="{FF2B5EF4-FFF2-40B4-BE49-F238E27FC236}">
                  <a16:creationId xmlns:a16="http://schemas.microsoft.com/office/drawing/2014/main" id="{95380D8C-C7A6-92F8-D7DA-00AD91ED9A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450152" y="3719808"/>
              <a:ext cx="2324122" cy="2757192"/>
              <a:chOff x="1657" y="2646"/>
              <a:chExt cx="1338" cy="1623"/>
            </a:xfrm>
          </p:grpSpPr>
          <p:sp>
            <p:nvSpPr>
              <p:cNvPr id="16445" name="Oval 209">
                <a:extLst>
                  <a:ext uri="{FF2B5EF4-FFF2-40B4-BE49-F238E27FC236}">
                    <a16:creationId xmlns:a16="http://schemas.microsoft.com/office/drawing/2014/main" id="{0AAA30C0-DD2E-F3EB-16F1-88BFBBB33B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50" y="2646"/>
                <a:ext cx="321" cy="1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 b="1" dirty="0">
                    <a:latin typeface="Times New Roman" panose="02020603050405020304" pitchFamily="18" charset="0"/>
                  </a:rPr>
                  <a:t>(7, T)</a:t>
                </a:r>
              </a:p>
            </p:txBody>
          </p:sp>
          <p:sp>
            <p:nvSpPr>
              <p:cNvPr id="16446" name="Oval 210">
                <a:extLst>
                  <a:ext uri="{FF2B5EF4-FFF2-40B4-BE49-F238E27FC236}">
                    <a16:creationId xmlns:a16="http://schemas.microsoft.com/office/drawing/2014/main" id="{5CE648EA-B1B7-C170-E358-E6279873A6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57" y="3304"/>
                <a:ext cx="325" cy="1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 b="1" dirty="0">
                    <a:latin typeface="Times New Roman" panose="02020603050405020304" pitchFamily="18" charset="0"/>
                  </a:rPr>
                  <a:t>(1, C)</a:t>
                </a:r>
              </a:p>
            </p:txBody>
          </p:sp>
          <p:sp>
            <p:nvSpPr>
              <p:cNvPr id="16447" name="Oval 211">
                <a:extLst>
                  <a:ext uri="{FF2B5EF4-FFF2-40B4-BE49-F238E27FC236}">
                    <a16:creationId xmlns:a16="http://schemas.microsoft.com/office/drawing/2014/main" id="{B3EB5ACD-E5A2-639B-6F92-3E03152754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7" y="2927"/>
                <a:ext cx="330" cy="1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 b="1" dirty="0">
                    <a:latin typeface="Times New Roman" panose="02020603050405020304" pitchFamily="18" charset="0"/>
                  </a:rPr>
                  <a:t>(1, Q)</a:t>
                </a:r>
              </a:p>
            </p:txBody>
          </p:sp>
          <p:cxnSp>
            <p:nvCxnSpPr>
              <p:cNvPr id="17408" name="AutoShape 212">
                <a:extLst>
                  <a:ext uri="{FF2B5EF4-FFF2-40B4-BE49-F238E27FC236}">
                    <a16:creationId xmlns:a16="http://schemas.microsoft.com/office/drawing/2014/main" id="{CE761789-F392-8D7B-4C59-F5600BB121AC}"/>
                  </a:ext>
                </a:extLst>
              </p:cNvPr>
              <p:cNvCxnSpPr>
                <a:cxnSpLocks noChangeAspect="1" noChangeShapeType="1"/>
                <a:stCxn id="16447" idx="4"/>
                <a:endCxn id="16446" idx="0"/>
              </p:cNvCxnSpPr>
              <p:nvPr/>
            </p:nvCxnSpPr>
            <p:spPr bwMode="auto">
              <a:xfrm flipH="1">
                <a:off x="1820" y="3099"/>
                <a:ext cx="203" cy="20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09" name="AutoShape 213">
                <a:extLst>
                  <a:ext uri="{FF2B5EF4-FFF2-40B4-BE49-F238E27FC236}">
                    <a16:creationId xmlns:a16="http://schemas.microsoft.com/office/drawing/2014/main" id="{BEF21435-B616-B825-BCB3-D9F27F30EEEF}"/>
                  </a:ext>
                </a:extLst>
              </p:cNvPr>
              <p:cNvCxnSpPr>
                <a:cxnSpLocks noChangeAspect="1" noChangeShapeType="1"/>
                <a:stCxn id="16447" idx="4"/>
                <a:endCxn id="17414" idx="0"/>
              </p:cNvCxnSpPr>
              <p:nvPr/>
            </p:nvCxnSpPr>
            <p:spPr bwMode="auto">
              <a:xfrm>
                <a:off x="2022" y="3099"/>
                <a:ext cx="203" cy="217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11" name="AutoShape 214">
                <a:extLst>
                  <a:ext uri="{FF2B5EF4-FFF2-40B4-BE49-F238E27FC236}">
                    <a16:creationId xmlns:a16="http://schemas.microsoft.com/office/drawing/2014/main" id="{3E9A03BC-F5E5-5CDE-7E9F-792C31E1B74F}"/>
                  </a:ext>
                </a:extLst>
              </p:cNvPr>
              <p:cNvCxnSpPr>
                <a:cxnSpLocks noChangeAspect="1" noChangeShapeType="1"/>
                <a:stCxn id="16445" idx="4"/>
                <a:endCxn id="16447" idx="0"/>
              </p:cNvCxnSpPr>
              <p:nvPr/>
            </p:nvCxnSpPr>
            <p:spPr bwMode="auto">
              <a:xfrm flipH="1">
                <a:off x="2022" y="2818"/>
                <a:ext cx="188" cy="109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412" name="Oval 215">
                <a:extLst>
                  <a:ext uri="{FF2B5EF4-FFF2-40B4-BE49-F238E27FC236}">
                    <a16:creationId xmlns:a16="http://schemas.microsoft.com/office/drawing/2014/main" id="{0D0EA830-56F7-D51E-EBE2-40D441BF9F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42" y="3701"/>
                <a:ext cx="330" cy="1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 b="1" dirty="0">
                    <a:latin typeface="Times New Roman" panose="02020603050405020304" pitchFamily="18" charset="0"/>
                  </a:rPr>
                  <a:t>(5, G)</a:t>
                </a:r>
              </a:p>
            </p:txBody>
          </p:sp>
          <p:sp>
            <p:nvSpPr>
              <p:cNvPr id="17413" name="Oval 216">
                <a:extLst>
                  <a:ext uri="{FF2B5EF4-FFF2-40B4-BE49-F238E27FC236}">
                    <a16:creationId xmlns:a16="http://schemas.microsoft.com/office/drawing/2014/main" id="{615603D8-2D1C-40D7-9F8F-B67BA54E2D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10" y="3699"/>
                <a:ext cx="325" cy="1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 b="1" dirty="0">
                    <a:latin typeface="Times New Roman" panose="02020603050405020304" pitchFamily="18" charset="0"/>
                  </a:rPr>
                  <a:t>(2, R)</a:t>
                </a:r>
              </a:p>
            </p:txBody>
          </p:sp>
          <p:sp>
            <p:nvSpPr>
              <p:cNvPr id="17414" name="Oval 217">
                <a:extLst>
                  <a:ext uri="{FF2B5EF4-FFF2-40B4-BE49-F238E27FC236}">
                    <a16:creationId xmlns:a16="http://schemas.microsoft.com/office/drawing/2014/main" id="{071482CB-AC22-1F2C-1C56-597B5DF52D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60" y="3316"/>
                <a:ext cx="330" cy="1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 b="1" dirty="0">
                    <a:latin typeface="Times New Roman" panose="02020603050405020304" pitchFamily="18" charset="0"/>
                  </a:rPr>
                  <a:t>(5, H)</a:t>
                </a:r>
              </a:p>
            </p:txBody>
          </p:sp>
          <p:cxnSp>
            <p:nvCxnSpPr>
              <p:cNvPr id="17415" name="AutoShape 218">
                <a:extLst>
                  <a:ext uri="{FF2B5EF4-FFF2-40B4-BE49-F238E27FC236}">
                    <a16:creationId xmlns:a16="http://schemas.microsoft.com/office/drawing/2014/main" id="{3CE76B45-A946-62BF-CC17-6882B6A2B1FF}"/>
                  </a:ext>
                </a:extLst>
              </p:cNvPr>
              <p:cNvCxnSpPr>
                <a:cxnSpLocks noChangeAspect="1" noChangeShapeType="1"/>
                <a:stCxn id="17414" idx="4"/>
                <a:endCxn id="17413" idx="0"/>
              </p:cNvCxnSpPr>
              <p:nvPr/>
            </p:nvCxnSpPr>
            <p:spPr bwMode="auto">
              <a:xfrm flipH="1">
                <a:off x="1973" y="3488"/>
                <a:ext cx="253" cy="211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16" name="AutoShape 219">
                <a:extLst>
                  <a:ext uri="{FF2B5EF4-FFF2-40B4-BE49-F238E27FC236}">
                    <a16:creationId xmlns:a16="http://schemas.microsoft.com/office/drawing/2014/main" id="{859C2108-2489-03EC-4043-E72F2F48B0E2}"/>
                  </a:ext>
                </a:extLst>
              </p:cNvPr>
              <p:cNvCxnSpPr>
                <a:cxnSpLocks noChangeAspect="1" noChangeShapeType="1"/>
                <a:stCxn id="17414" idx="4"/>
                <a:endCxn id="17412" idx="0"/>
              </p:cNvCxnSpPr>
              <p:nvPr/>
            </p:nvCxnSpPr>
            <p:spPr bwMode="auto">
              <a:xfrm>
                <a:off x="2225" y="3488"/>
                <a:ext cx="282" cy="213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417" name="Oval 220">
                <a:extLst>
                  <a:ext uri="{FF2B5EF4-FFF2-40B4-BE49-F238E27FC236}">
                    <a16:creationId xmlns:a16="http://schemas.microsoft.com/office/drawing/2014/main" id="{9E0EBD81-0490-1868-DAC2-D4F107C9FB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55" y="3943"/>
                <a:ext cx="325" cy="1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 b="1" dirty="0">
                    <a:latin typeface="Times New Roman" panose="02020603050405020304" pitchFamily="18" charset="0"/>
                  </a:rPr>
                  <a:t>(6, Y)</a:t>
                </a:r>
              </a:p>
            </p:txBody>
          </p:sp>
          <p:sp>
            <p:nvSpPr>
              <p:cNvPr id="17418" name="Oval 221">
                <a:extLst>
                  <a:ext uri="{FF2B5EF4-FFF2-40B4-BE49-F238E27FC236}">
                    <a16:creationId xmlns:a16="http://schemas.microsoft.com/office/drawing/2014/main" id="{F5FCDF79-63A6-C406-2704-08934E4B4E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72" y="3953"/>
                <a:ext cx="298" cy="1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 b="1" dirty="0">
                    <a:latin typeface="Times New Roman" panose="02020603050405020304" pitchFamily="18" charset="0"/>
                  </a:rPr>
                  <a:t>(5, I)</a:t>
                </a:r>
              </a:p>
            </p:txBody>
          </p:sp>
          <p:cxnSp>
            <p:nvCxnSpPr>
              <p:cNvPr id="17419" name="AutoShape 222">
                <a:extLst>
                  <a:ext uri="{FF2B5EF4-FFF2-40B4-BE49-F238E27FC236}">
                    <a16:creationId xmlns:a16="http://schemas.microsoft.com/office/drawing/2014/main" id="{D84F80D6-D578-5CF5-DD55-12C3A4ABEDB7}"/>
                  </a:ext>
                </a:extLst>
              </p:cNvPr>
              <p:cNvCxnSpPr>
                <a:cxnSpLocks noChangeAspect="1" noChangeShapeType="1"/>
                <a:stCxn id="17412" idx="4"/>
                <a:endCxn id="17418" idx="0"/>
              </p:cNvCxnSpPr>
              <p:nvPr/>
            </p:nvCxnSpPr>
            <p:spPr bwMode="auto">
              <a:xfrm flipH="1">
                <a:off x="2321" y="3873"/>
                <a:ext cx="186" cy="8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20" name="AutoShape 223">
                <a:extLst>
                  <a:ext uri="{FF2B5EF4-FFF2-40B4-BE49-F238E27FC236}">
                    <a16:creationId xmlns:a16="http://schemas.microsoft.com/office/drawing/2014/main" id="{F82CDD8A-15A0-B8E1-6985-B671BF1F608B}"/>
                  </a:ext>
                </a:extLst>
              </p:cNvPr>
              <p:cNvCxnSpPr>
                <a:cxnSpLocks noChangeAspect="1" noChangeShapeType="1"/>
                <a:stCxn id="17412" idx="4"/>
                <a:endCxn id="17417" idx="0"/>
              </p:cNvCxnSpPr>
              <p:nvPr/>
            </p:nvCxnSpPr>
            <p:spPr bwMode="auto">
              <a:xfrm>
                <a:off x="2507" y="3873"/>
                <a:ext cx="210" cy="7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421" name="Rectangle 224">
                <a:extLst>
                  <a:ext uri="{FF2B5EF4-FFF2-40B4-BE49-F238E27FC236}">
                    <a16:creationId xmlns:a16="http://schemas.microsoft.com/office/drawing/2014/main" id="{A20CAC09-BA39-FCBE-DBA6-923DF14F3E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15" y="3584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22" name="Rectangle 225">
                <a:extLst>
                  <a:ext uri="{FF2B5EF4-FFF2-40B4-BE49-F238E27FC236}">
                    <a16:creationId xmlns:a16="http://schemas.microsoft.com/office/drawing/2014/main" id="{3CA67C8F-AB0F-F27A-C79E-4FDB7E7838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9" y="3981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23" name="Rectangle 226">
                <a:extLst>
                  <a:ext uri="{FF2B5EF4-FFF2-40B4-BE49-F238E27FC236}">
                    <a16:creationId xmlns:a16="http://schemas.microsoft.com/office/drawing/2014/main" id="{104E684D-DA67-D11C-4A04-15FC06D94E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03" y="3981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24" name="Rectangle 227">
                <a:extLst>
                  <a:ext uri="{FF2B5EF4-FFF2-40B4-BE49-F238E27FC236}">
                    <a16:creationId xmlns:a16="http://schemas.microsoft.com/office/drawing/2014/main" id="{04998A84-90D3-B598-5ACE-1D4A989D22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9" y="3584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25" name="Rectangle 228">
                <a:extLst>
                  <a:ext uri="{FF2B5EF4-FFF2-40B4-BE49-F238E27FC236}">
                    <a16:creationId xmlns:a16="http://schemas.microsoft.com/office/drawing/2014/main" id="{E71088BC-130D-3222-02FE-5B041CF059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19" y="4197"/>
                <a:ext cx="73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26" name="Rectangle 229">
                <a:extLst>
                  <a:ext uri="{FF2B5EF4-FFF2-40B4-BE49-F238E27FC236}">
                    <a16:creationId xmlns:a16="http://schemas.microsoft.com/office/drawing/2014/main" id="{429129E3-4941-D620-4DD0-58B85BC735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4" y="419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27" name="Rectangle 230">
                <a:extLst>
                  <a:ext uri="{FF2B5EF4-FFF2-40B4-BE49-F238E27FC236}">
                    <a16:creationId xmlns:a16="http://schemas.microsoft.com/office/drawing/2014/main" id="{FB4F904E-033B-7344-6740-436DE34990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16" y="419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28" name="Rectangle 231">
                <a:extLst>
                  <a:ext uri="{FF2B5EF4-FFF2-40B4-BE49-F238E27FC236}">
                    <a16:creationId xmlns:a16="http://schemas.microsoft.com/office/drawing/2014/main" id="{E3BE220F-D128-4642-85E3-3E276B94D4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0" y="419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17429" name="AutoShape 232">
                <a:extLst>
                  <a:ext uri="{FF2B5EF4-FFF2-40B4-BE49-F238E27FC236}">
                    <a16:creationId xmlns:a16="http://schemas.microsoft.com/office/drawing/2014/main" id="{EAFD6408-3449-D2B6-0414-69446BD7CE1C}"/>
                  </a:ext>
                </a:extLst>
              </p:cNvPr>
              <p:cNvCxnSpPr>
                <a:cxnSpLocks noChangeAspect="1" noChangeShapeType="1"/>
                <a:stCxn id="16446" idx="4"/>
                <a:endCxn id="17421" idx="0"/>
              </p:cNvCxnSpPr>
              <p:nvPr/>
            </p:nvCxnSpPr>
            <p:spPr bwMode="auto">
              <a:xfrm flipH="1">
                <a:off x="1751" y="3476"/>
                <a:ext cx="69" cy="10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0" name="AutoShape 233">
                <a:extLst>
                  <a:ext uri="{FF2B5EF4-FFF2-40B4-BE49-F238E27FC236}">
                    <a16:creationId xmlns:a16="http://schemas.microsoft.com/office/drawing/2014/main" id="{35C4DCD9-7EC5-65F8-FDF5-959DDB9FBE17}"/>
                  </a:ext>
                </a:extLst>
              </p:cNvPr>
              <p:cNvCxnSpPr>
                <a:cxnSpLocks noChangeAspect="1" noChangeShapeType="1"/>
                <a:stCxn id="16446" idx="4"/>
                <a:endCxn id="17424" idx="0"/>
              </p:cNvCxnSpPr>
              <p:nvPr/>
            </p:nvCxnSpPr>
            <p:spPr bwMode="auto">
              <a:xfrm>
                <a:off x="1820" y="3476"/>
                <a:ext cx="76" cy="10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1" name="AutoShape 234">
                <a:extLst>
                  <a:ext uri="{FF2B5EF4-FFF2-40B4-BE49-F238E27FC236}">
                    <a16:creationId xmlns:a16="http://schemas.microsoft.com/office/drawing/2014/main" id="{E3C03806-0789-98B2-F09B-4736AE44269B}"/>
                  </a:ext>
                </a:extLst>
              </p:cNvPr>
              <p:cNvCxnSpPr>
                <a:cxnSpLocks noChangeAspect="1" noChangeShapeType="1"/>
                <a:stCxn id="17413" idx="4"/>
                <a:endCxn id="17422" idx="0"/>
              </p:cNvCxnSpPr>
              <p:nvPr/>
            </p:nvCxnSpPr>
            <p:spPr bwMode="auto">
              <a:xfrm flipH="1">
                <a:off x="1895" y="3871"/>
                <a:ext cx="77" cy="11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2" name="AutoShape 235">
                <a:extLst>
                  <a:ext uri="{FF2B5EF4-FFF2-40B4-BE49-F238E27FC236}">
                    <a16:creationId xmlns:a16="http://schemas.microsoft.com/office/drawing/2014/main" id="{9C2EA827-09DD-D0DB-5081-53A6962AD489}"/>
                  </a:ext>
                </a:extLst>
              </p:cNvPr>
              <p:cNvCxnSpPr>
                <a:cxnSpLocks noChangeAspect="1" noChangeShapeType="1"/>
                <a:stCxn id="17413" idx="4"/>
                <a:endCxn id="17423" idx="0"/>
              </p:cNvCxnSpPr>
              <p:nvPr/>
            </p:nvCxnSpPr>
            <p:spPr bwMode="auto">
              <a:xfrm>
                <a:off x="1973" y="3871"/>
                <a:ext cx="67" cy="11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3" name="AutoShape 236">
                <a:extLst>
                  <a:ext uri="{FF2B5EF4-FFF2-40B4-BE49-F238E27FC236}">
                    <a16:creationId xmlns:a16="http://schemas.microsoft.com/office/drawing/2014/main" id="{73284D58-1597-7C9C-663E-46872C0C3348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995" y="3338"/>
                <a:ext cx="0" cy="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4" name="AutoShape 237">
                <a:extLst>
                  <a:ext uri="{FF2B5EF4-FFF2-40B4-BE49-F238E27FC236}">
                    <a16:creationId xmlns:a16="http://schemas.microsoft.com/office/drawing/2014/main" id="{E5ACEB8F-1583-6B72-57A5-0923167948E2}"/>
                  </a:ext>
                </a:extLst>
              </p:cNvPr>
              <p:cNvCxnSpPr>
                <a:cxnSpLocks noChangeAspect="1" noChangeShapeType="1"/>
                <a:stCxn id="17418" idx="4"/>
                <a:endCxn id="17425" idx="0"/>
              </p:cNvCxnSpPr>
              <p:nvPr/>
            </p:nvCxnSpPr>
            <p:spPr bwMode="auto">
              <a:xfrm flipH="1">
                <a:off x="2256" y="4125"/>
                <a:ext cx="65" cy="7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5" name="AutoShape 238">
                <a:extLst>
                  <a:ext uri="{FF2B5EF4-FFF2-40B4-BE49-F238E27FC236}">
                    <a16:creationId xmlns:a16="http://schemas.microsoft.com/office/drawing/2014/main" id="{76063017-DF05-0C44-77E7-3D69B135BDE2}"/>
                  </a:ext>
                </a:extLst>
              </p:cNvPr>
              <p:cNvCxnSpPr>
                <a:cxnSpLocks noChangeAspect="1" noChangeShapeType="1"/>
                <a:stCxn id="17418" idx="4"/>
                <a:endCxn id="17426" idx="0"/>
              </p:cNvCxnSpPr>
              <p:nvPr/>
            </p:nvCxnSpPr>
            <p:spPr bwMode="auto">
              <a:xfrm>
                <a:off x="2321" y="4125"/>
                <a:ext cx="79" cy="7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6" name="AutoShape 239">
                <a:extLst>
                  <a:ext uri="{FF2B5EF4-FFF2-40B4-BE49-F238E27FC236}">
                    <a16:creationId xmlns:a16="http://schemas.microsoft.com/office/drawing/2014/main" id="{B0A0B149-4D94-4AD3-0C30-7D625C539CDC}"/>
                  </a:ext>
                </a:extLst>
              </p:cNvPr>
              <p:cNvCxnSpPr>
                <a:cxnSpLocks noChangeAspect="1" noChangeShapeType="1"/>
                <a:stCxn id="17417" idx="4"/>
                <a:endCxn id="17427" idx="0"/>
              </p:cNvCxnSpPr>
              <p:nvPr/>
            </p:nvCxnSpPr>
            <p:spPr bwMode="auto">
              <a:xfrm flipH="1">
                <a:off x="2652" y="4115"/>
                <a:ext cx="65" cy="8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7" name="AutoShape 240">
                <a:extLst>
                  <a:ext uri="{FF2B5EF4-FFF2-40B4-BE49-F238E27FC236}">
                    <a16:creationId xmlns:a16="http://schemas.microsoft.com/office/drawing/2014/main" id="{5EF42E42-A2B0-5D77-8C81-1092FDD6BA39}"/>
                  </a:ext>
                </a:extLst>
              </p:cNvPr>
              <p:cNvCxnSpPr>
                <a:cxnSpLocks noChangeAspect="1" noChangeShapeType="1"/>
                <a:stCxn id="17417" idx="4"/>
                <a:endCxn id="17428" idx="0"/>
              </p:cNvCxnSpPr>
              <p:nvPr/>
            </p:nvCxnSpPr>
            <p:spPr bwMode="auto">
              <a:xfrm>
                <a:off x="2718" y="4115"/>
                <a:ext cx="79" cy="8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6417" name="Group 241">
              <a:extLst>
                <a:ext uri="{FF2B5EF4-FFF2-40B4-BE49-F238E27FC236}">
                  <a16:creationId xmlns:a16="http://schemas.microsoft.com/office/drawing/2014/main" id="{D5B1F43F-5AB0-EDD3-794A-FA6FB0A2F9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659628" y="4241347"/>
              <a:ext cx="604480" cy="536829"/>
              <a:chOff x="2495" y="2583"/>
              <a:chExt cx="348" cy="316"/>
            </a:xfrm>
          </p:grpSpPr>
          <p:sp>
            <p:nvSpPr>
              <p:cNvPr id="16440" name="Oval 242">
                <a:extLst>
                  <a:ext uri="{FF2B5EF4-FFF2-40B4-BE49-F238E27FC236}">
                    <a16:creationId xmlns:a16="http://schemas.microsoft.com/office/drawing/2014/main" id="{613861E0-7104-D213-F504-BDF9A7B443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95" y="2583"/>
                <a:ext cx="348" cy="1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 b="1" dirty="0">
                    <a:latin typeface="Times New Roman" panose="02020603050405020304" pitchFamily="18" charset="0"/>
                  </a:rPr>
                  <a:t>(14, J)</a:t>
                </a:r>
              </a:p>
            </p:txBody>
          </p:sp>
          <p:sp>
            <p:nvSpPr>
              <p:cNvPr id="16441" name="Rectangle 243">
                <a:extLst>
                  <a:ext uri="{FF2B5EF4-FFF2-40B4-BE49-F238E27FC236}">
                    <a16:creationId xmlns:a16="http://schemas.microsoft.com/office/drawing/2014/main" id="{007C0611-AE08-0F6E-157B-6B03B0673C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52" y="282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442" name="Rectangle 244">
                <a:extLst>
                  <a:ext uri="{FF2B5EF4-FFF2-40B4-BE49-F238E27FC236}">
                    <a16:creationId xmlns:a16="http://schemas.microsoft.com/office/drawing/2014/main" id="{C48938CB-A1AA-27A8-0B3B-F247630FFA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0" y="282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16443" name="AutoShape 245">
                <a:extLst>
                  <a:ext uri="{FF2B5EF4-FFF2-40B4-BE49-F238E27FC236}">
                    <a16:creationId xmlns:a16="http://schemas.microsoft.com/office/drawing/2014/main" id="{CA65856F-338F-D204-C355-EF7A84C08097}"/>
                  </a:ext>
                </a:extLst>
              </p:cNvPr>
              <p:cNvCxnSpPr>
                <a:cxnSpLocks noChangeAspect="1" noChangeShapeType="1"/>
                <a:stCxn id="16442" idx="0"/>
                <a:endCxn id="16440" idx="4"/>
              </p:cNvCxnSpPr>
              <p:nvPr/>
            </p:nvCxnSpPr>
            <p:spPr bwMode="auto">
              <a:xfrm flipH="1" flipV="1">
                <a:off x="2669" y="2755"/>
                <a:ext cx="127" cy="7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44" name="AutoShape 246">
                <a:extLst>
                  <a:ext uri="{FF2B5EF4-FFF2-40B4-BE49-F238E27FC236}">
                    <a16:creationId xmlns:a16="http://schemas.microsoft.com/office/drawing/2014/main" id="{F896E67C-EE41-BF8A-7BCE-7F8F276FE7B5}"/>
                  </a:ext>
                </a:extLst>
              </p:cNvPr>
              <p:cNvCxnSpPr>
                <a:cxnSpLocks noChangeAspect="1" noChangeShapeType="1"/>
                <a:stCxn id="16440" idx="4"/>
                <a:endCxn id="16441" idx="0"/>
              </p:cNvCxnSpPr>
              <p:nvPr/>
            </p:nvCxnSpPr>
            <p:spPr bwMode="auto">
              <a:xfrm>
                <a:off x="2669" y="2755"/>
                <a:ext cx="19" cy="7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6418" name="Oval 247">
              <a:extLst>
                <a:ext uri="{FF2B5EF4-FFF2-40B4-BE49-F238E27FC236}">
                  <a16:creationId xmlns:a16="http://schemas.microsoft.com/office/drawing/2014/main" id="{B6D8F9D5-B785-AFC4-F8C1-6DB056014F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716944" y="3149187"/>
              <a:ext cx="565243" cy="2918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 b="1" dirty="0">
                  <a:latin typeface="Times New Roman" panose="02020603050405020304" pitchFamily="18" charset="0"/>
                </a:rPr>
                <a:t>(8, N)</a:t>
              </a:r>
            </a:p>
          </p:txBody>
        </p:sp>
        <p:cxnSp>
          <p:nvCxnSpPr>
            <p:cNvPr id="16419" name="AutoShape 248">
              <a:extLst>
                <a:ext uri="{FF2B5EF4-FFF2-40B4-BE49-F238E27FC236}">
                  <a16:creationId xmlns:a16="http://schemas.microsoft.com/office/drawing/2014/main" id="{09D8F586-2521-C460-40E8-954025C7377E}"/>
                </a:ext>
              </a:extLst>
            </p:cNvPr>
            <p:cNvCxnSpPr>
              <a:cxnSpLocks noChangeAspect="1" noChangeShapeType="1"/>
              <a:stCxn id="16445" idx="4"/>
              <a:endCxn id="16435" idx="0"/>
            </p:cNvCxnSpPr>
            <p:nvPr/>
          </p:nvCxnSpPr>
          <p:spPr bwMode="auto">
            <a:xfrm>
              <a:off x="6411588" y="4012006"/>
              <a:ext cx="480280" cy="21065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0" name="AutoShape 249">
              <a:extLst>
                <a:ext uri="{FF2B5EF4-FFF2-40B4-BE49-F238E27FC236}">
                  <a16:creationId xmlns:a16="http://schemas.microsoft.com/office/drawing/2014/main" id="{E640EDA4-5342-DBAF-955C-81D851437AAF}"/>
                </a:ext>
              </a:extLst>
            </p:cNvPr>
            <p:cNvCxnSpPr>
              <a:cxnSpLocks noChangeAspect="1" noChangeShapeType="1"/>
              <a:stCxn id="16389" idx="4"/>
              <a:endCxn id="16430" idx="0"/>
            </p:cNvCxnSpPr>
            <p:nvPr/>
          </p:nvCxnSpPr>
          <p:spPr bwMode="auto">
            <a:xfrm>
              <a:off x="7465954" y="4017765"/>
              <a:ext cx="146776" cy="80627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6421" name="Group 250">
              <a:extLst>
                <a:ext uri="{FF2B5EF4-FFF2-40B4-BE49-F238E27FC236}">
                  <a16:creationId xmlns:a16="http://schemas.microsoft.com/office/drawing/2014/main" id="{085CBEA8-AF81-0965-4AC0-F2CDB7742C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17420" y="4222660"/>
              <a:ext cx="548895" cy="507949"/>
              <a:chOff x="2462" y="3321"/>
              <a:chExt cx="316" cy="299"/>
            </a:xfrm>
          </p:grpSpPr>
          <p:sp>
            <p:nvSpPr>
              <p:cNvPr id="16435" name="Oval 251">
                <a:extLst>
                  <a:ext uri="{FF2B5EF4-FFF2-40B4-BE49-F238E27FC236}">
                    <a16:creationId xmlns:a16="http://schemas.microsoft.com/office/drawing/2014/main" id="{AFDBB4F7-4F50-8135-F42D-A6C14DF205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62" y="3321"/>
                <a:ext cx="316" cy="1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 b="1" dirty="0">
                    <a:latin typeface="Times New Roman" panose="02020603050405020304" pitchFamily="18" charset="0"/>
                  </a:rPr>
                  <a:t>(7, P)</a:t>
                </a:r>
              </a:p>
            </p:txBody>
          </p:sp>
          <p:sp>
            <p:nvSpPr>
              <p:cNvPr id="16436" name="Rectangle 252">
                <a:extLst>
                  <a:ext uri="{FF2B5EF4-FFF2-40B4-BE49-F238E27FC236}">
                    <a16:creationId xmlns:a16="http://schemas.microsoft.com/office/drawing/2014/main" id="{EAFCEA29-763A-60F5-4B18-B30FDE155E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08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437" name="Rectangle 253">
                <a:extLst>
                  <a:ext uri="{FF2B5EF4-FFF2-40B4-BE49-F238E27FC236}">
                    <a16:creationId xmlns:a16="http://schemas.microsoft.com/office/drawing/2014/main" id="{AE78C3B7-89F5-15B6-5100-2FAF20DA92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88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16438" name="AutoShape 254">
                <a:extLst>
                  <a:ext uri="{FF2B5EF4-FFF2-40B4-BE49-F238E27FC236}">
                    <a16:creationId xmlns:a16="http://schemas.microsoft.com/office/drawing/2014/main" id="{65287D4E-0F8F-0F32-77F0-A82656A6F682}"/>
                  </a:ext>
                </a:extLst>
              </p:cNvPr>
              <p:cNvCxnSpPr>
                <a:cxnSpLocks noChangeAspect="1" noChangeShapeType="1"/>
                <a:stCxn id="16435" idx="4"/>
                <a:endCxn id="16437" idx="0"/>
              </p:cNvCxnSpPr>
              <p:nvPr/>
            </p:nvCxnSpPr>
            <p:spPr bwMode="auto">
              <a:xfrm>
                <a:off x="2620" y="3493"/>
                <a:ext cx="104" cy="5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39" name="AutoShape 255">
                <a:extLst>
                  <a:ext uri="{FF2B5EF4-FFF2-40B4-BE49-F238E27FC236}">
                    <a16:creationId xmlns:a16="http://schemas.microsoft.com/office/drawing/2014/main" id="{8BA4805C-4B1C-0952-C52F-79520B41A4C0}"/>
                  </a:ext>
                </a:extLst>
              </p:cNvPr>
              <p:cNvCxnSpPr>
                <a:cxnSpLocks noChangeAspect="1" noChangeShapeType="1"/>
                <a:stCxn id="16435" idx="4"/>
                <a:endCxn id="16436" idx="0"/>
              </p:cNvCxnSpPr>
              <p:nvPr/>
            </p:nvCxnSpPr>
            <p:spPr bwMode="auto">
              <a:xfrm flipH="1">
                <a:off x="2544" y="3493"/>
                <a:ext cx="76" cy="5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6422" name="Group 256">
              <a:extLst>
                <a:ext uri="{FF2B5EF4-FFF2-40B4-BE49-F238E27FC236}">
                  <a16:creationId xmlns:a16="http://schemas.microsoft.com/office/drawing/2014/main" id="{532EC6DE-71AA-DB76-16F7-B9BDC8C9AD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94857" y="4824041"/>
              <a:ext cx="635746" cy="524937"/>
              <a:chOff x="2871" y="3311"/>
              <a:chExt cx="366" cy="309"/>
            </a:xfrm>
          </p:grpSpPr>
          <p:sp>
            <p:nvSpPr>
              <p:cNvPr id="16430" name="Oval 257">
                <a:extLst>
                  <a:ext uri="{FF2B5EF4-FFF2-40B4-BE49-F238E27FC236}">
                    <a16:creationId xmlns:a16="http://schemas.microsoft.com/office/drawing/2014/main" id="{BA60DCA9-1F0F-C1DE-0E03-0019B67C13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71" y="3311"/>
                <a:ext cx="366" cy="1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 b="1" dirty="0">
                    <a:latin typeface="Times New Roman" panose="02020603050405020304" pitchFamily="18" charset="0"/>
                  </a:rPr>
                  <a:t>(10, U)</a:t>
                </a:r>
              </a:p>
            </p:txBody>
          </p:sp>
          <p:sp>
            <p:nvSpPr>
              <p:cNvPr id="16431" name="Rectangle 258">
                <a:extLst>
                  <a:ext uri="{FF2B5EF4-FFF2-40B4-BE49-F238E27FC236}">
                    <a16:creationId xmlns:a16="http://schemas.microsoft.com/office/drawing/2014/main" id="{DBBF0128-02A0-4175-D69B-C2904C9F83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41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432" name="Rectangle 259">
                <a:extLst>
                  <a:ext uri="{FF2B5EF4-FFF2-40B4-BE49-F238E27FC236}">
                    <a16:creationId xmlns:a16="http://schemas.microsoft.com/office/drawing/2014/main" id="{7BB86FFA-47A2-4A92-BC48-0E2FB53102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16433" name="AutoShape 260">
                <a:extLst>
                  <a:ext uri="{FF2B5EF4-FFF2-40B4-BE49-F238E27FC236}">
                    <a16:creationId xmlns:a16="http://schemas.microsoft.com/office/drawing/2014/main" id="{F213AB29-AAC5-8E38-6969-7F8820CC6CD1}"/>
                  </a:ext>
                </a:extLst>
              </p:cNvPr>
              <p:cNvCxnSpPr>
                <a:cxnSpLocks noChangeAspect="1" noChangeShapeType="1"/>
                <a:stCxn id="16430" idx="4"/>
                <a:endCxn id="16431" idx="0"/>
              </p:cNvCxnSpPr>
              <p:nvPr/>
            </p:nvCxnSpPr>
            <p:spPr bwMode="auto">
              <a:xfrm flipH="1">
                <a:off x="2977" y="3483"/>
                <a:ext cx="77" cy="6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34" name="AutoShape 261">
                <a:extLst>
                  <a:ext uri="{FF2B5EF4-FFF2-40B4-BE49-F238E27FC236}">
                    <a16:creationId xmlns:a16="http://schemas.microsoft.com/office/drawing/2014/main" id="{C164C00E-2A07-CFDC-7AC7-5A29673269B9}"/>
                  </a:ext>
                </a:extLst>
              </p:cNvPr>
              <p:cNvCxnSpPr>
                <a:cxnSpLocks noChangeAspect="1" noChangeShapeType="1"/>
                <a:stCxn id="16430" idx="4"/>
                <a:endCxn id="16432" idx="0"/>
              </p:cNvCxnSpPr>
              <p:nvPr/>
            </p:nvCxnSpPr>
            <p:spPr bwMode="auto">
              <a:xfrm>
                <a:off x="3054" y="3483"/>
                <a:ext cx="103" cy="6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6429" name="AutoShape 268">
              <a:extLst>
                <a:ext uri="{FF2B5EF4-FFF2-40B4-BE49-F238E27FC236}">
                  <a16:creationId xmlns:a16="http://schemas.microsoft.com/office/drawing/2014/main" id="{2870D907-03D6-83EE-088C-A728F8D1122A}"/>
                </a:ext>
              </a:extLst>
            </p:cNvPr>
            <p:cNvCxnSpPr>
              <a:cxnSpLocks noChangeAspect="1" noChangeShapeType="1"/>
              <a:stCxn id="16389" idx="0"/>
              <a:endCxn id="16418" idx="4"/>
            </p:cNvCxnSpPr>
            <p:nvPr/>
          </p:nvCxnSpPr>
          <p:spPr bwMode="auto">
            <a:xfrm flipH="1" flipV="1">
              <a:off x="6999565" y="3441014"/>
              <a:ext cx="466388" cy="28492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8BAECB6-3C9A-6B20-CC08-CD7248C564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 sz="2400"/>
              <a:t>Merge-Sort and Quick-Sort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DF39FA1-C53E-1289-0B6B-7317CE9465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Zane Yu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March 5,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1E609F37-A9D7-7A03-9D67-010A8A8A1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4.1, 4.3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9D85D63-CC73-73B1-B390-548B92437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Divide-and-Conquer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F2F401B-51C7-7130-1ADC-AB15186531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219200"/>
            <a:ext cx="7579659" cy="49530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chemeClr val="tx2"/>
                </a:solidFill>
              </a:rPr>
              <a:t>Divide-and-conquer</a:t>
            </a:r>
            <a:r>
              <a:rPr lang="en-US" altLang="en-US" sz="2400" dirty="0"/>
              <a:t> is a general algorithm design strategy:</a:t>
            </a:r>
          </a:p>
          <a:p>
            <a:pPr lvl="1" eaLnBrk="1" hangingPunct="1"/>
            <a:r>
              <a:rPr lang="en-US" altLang="en-US" sz="2000" b="1" dirty="0">
                <a:solidFill>
                  <a:schemeClr val="tx2"/>
                </a:solidFill>
              </a:rPr>
              <a:t>Divide</a:t>
            </a:r>
            <a:r>
              <a:rPr lang="en-US" altLang="en-US" sz="2000" dirty="0"/>
              <a:t>: divide the input data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in two disjoint subsets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</a:t>
            </a:r>
            <a:endParaRPr lang="en-US" altLang="en-US" sz="2000" dirty="0"/>
          </a:p>
          <a:p>
            <a:pPr lvl="1" eaLnBrk="1" hangingPunct="1"/>
            <a:r>
              <a:rPr lang="en-US" altLang="en-US" sz="2000" b="1" dirty="0">
                <a:solidFill>
                  <a:schemeClr val="tx2"/>
                </a:solidFill>
              </a:rPr>
              <a:t>Recur</a:t>
            </a:r>
            <a:r>
              <a:rPr lang="en-US" altLang="en-US" sz="2000" dirty="0"/>
              <a:t>: solve the subproblems associated with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</a:t>
            </a:r>
            <a:endParaRPr lang="en-US" altLang="en-US" sz="2000" dirty="0"/>
          </a:p>
          <a:p>
            <a:pPr lvl="1" eaLnBrk="1" hangingPunct="1"/>
            <a:r>
              <a:rPr lang="en-US" altLang="en-US" sz="2000" b="1" dirty="0">
                <a:solidFill>
                  <a:schemeClr val="tx2"/>
                </a:solidFill>
              </a:rPr>
              <a:t>Conquer</a:t>
            </a:r>
            <a:r>
              <a:rPr lang="en-US" altLang="en-US" sz="2000" dirty="0"/>
              <a:t>: combine the solutions for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en-US" sz="2000" dirty="0"/>
              <a:t> into a solution for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</a:p>
          <a:p>
            <a:pPr lvl="1" eaLnBrk="1" hangingPunct="1"/>
            <a:endParaRPr lang="en-US" altLang="en-US" sz="2000" b="1" i="1" dirty="0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en-US" sz="1600" b="1" i="1" dirty="0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en-US" sz="1600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400" dirty="0"/>
              <a:t>The base case for the recursion are subproblems of size 0 or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9D85D63-CC73-73B1-B390-548B92437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Divide-and-Conquer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F0A2EE69-3CC3-5B8F-8614-7B711F46805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705970" y="1295400"/>
            <a:ext cx="7732059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Like heap-sort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It uses a comparator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It has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log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dirty="0"/>
              <a:t>running time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Unlike heap-sort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It does not use a priority queue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It accesses data in a sequential manner (suitable to sort data on a disk)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AAFBCA52-8FF0-11DB-BF64-546C4A8CC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293421"/>
            <a:ext cx="3962400" cy="300082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400" dirty="0">
                <a:latin typeface="Times New Roman" panose="02020603050405020304" pitchFamily="18" charset="0"/>
              </a:rPr>
              <a:t> </a:t>
            </a:r>
            <a:r>
              <a:rPr lang="en-US" altLang="en-US" sz="1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PQ-Sort</a:t>
            </a:r>
            <a:r>
              <a:rPr lang="en-US" altLang="en-US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S, C</a:t>
            </a:r>
            <a:r>
              <a:rPr lang="en-US" altLang="en-US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spcBef>
                <a:spcPct val="0"/>
              </a:spcBef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400" dirty="0">
                <a:latin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, comparator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for the elements of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 sz="14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spcBef>
                <a:spcPct val="0"/>
              </a:spcBef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400" dirty="0">
                <a:latin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sorted  in increasing order according to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sz="14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priority queue with 		comparator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sz="1400" b="1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S.isEmpty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S.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first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())</a:t>
            </a:r>
            <a:endParaRPr lang="en-US" altLang="en-US" sz="14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algn="l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P.insertItem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P.isEmpty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P.removeMin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14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algn="l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98524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B36ED85-A0F9-0E2B-E67E-2AB6EF803D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Merge-Sort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D1D2643-840A-46F4-90F1-159B4E70574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76400"/>
            <a:ext cx="38100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Merge-sort on an input sequence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elements consists of three steps: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Divide</a:t>
            </a:r>
            <a:r>
              <a:rPr lang="en-US" altLang="en-US" sz="1800"/>
              <a:t>: partition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into two sequences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and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/>
              <a:t> of about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/>
              <a:t> elements each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Recur</a:t>
            </a:r>
            <a:r>
              <a:rPr lang="en-US" altLang="en-US" sz="1800"/>
              <a:t>: recursively sort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and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Conquer</a:t>
            </a:r>
            <a:r>
              <a:rPr lang="en-US" altLang="en-US" sz="1800"/>
              <a:t>: merge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and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2 </a:t>
            </a:r>
            <a:r>
              <a:rPr lang="en-US" altLang="en-US" sz="1800"/>
              <a:t>into a unique sorted sequence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288500AA-AAA1-4429-7C9B-F0F224812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676400"/>
            <a:ext cx="4038600" cy="33004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mergeSort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S, C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with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					elements, comparator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sorted</a:t>
            </a:r>
          </a:p>
          <a:p>
            <a:pPr lvl="1" algn="l" eaLnBrk="1" hangingPunct="1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according to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sz="20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S.size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() </a:t>
            </a:r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&gt;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partition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/2)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mergeSort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C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mergeSort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C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merge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20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0815066-2675-CEC8-B2E1-F100607BC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Merging Two Sorted Sequences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D258DFE-2B5E-48EA-1492-468083BD91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31242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conquer step of merge-sort consists of merging two sorted sequences </a:t>
            </a:r>
            <a:r>
              <a:rPr lang="en-US" altLang="en-US" sz="2000" b="1" i="1">
                <a:latin typeface="Times New Roman" panose="02020603050405020304" pitchFamily="18" charset="0"/>
              </a:rPr>
              <a:t>A </a:t>
            </a:r>
            <a:r>
              <a:rPr lang="en-US" altLang="en-US" sz="2000"/>
              <a:t>and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  <a:r>
              <a:rPr lang="en-US" altLang="en-US" sz="2000"/>
              <a:t> into a sorted sequence </a:t>
            </a:r>
            <a:r>
              <a:rPr lang="en-US" altLang="en-US" sz="2000" b="1" i="1">
                <a:latin typeface="Times New Roman" panose="02020603050405020304" pitchFamily="18" charset="0"/>
              </a:rPr>
              <a:t>S </a:t>
            </a:r>
            <a:r>
              <a:rPr lang="en-US" altLang="en-US" sz="2000"/>
              <a:t>containing the union of the elements of </a:t>
            </a:r>
            <a:r>
              <a:rPr lang="en-US" altLang="en-US" sz="2000" b="1" i="1">
                <a:latin typeface="Times New Roman" panose="02020603050405020304" pitchFamily="18" charset="0"/>
              </a:rPr>
              <a:t>A </a:t>
            </a:r>
            <a:r>
              <a:rPr lang="en-US" altLang="en-US" sz="2000"/>
              <a:t>and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Merging two sorted sequences, each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Symbol" pitchFamily="2" charset="2"/>
              </a:rPr>
              <a:t>/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/>
              <a:t> elements and implemented by means of a doubly linked list, takes </a:t>
            </a:r>
            <a:r>
              <a:rPr lang="en-US" altLang="en-US" sz="2000" b="1" i="1">
                <a:solidFill>
                  <a:srgbClr val="FF0066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rgbClr val="FF00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6EF8C970-7452-DE41-2E25-CDD982158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587500"/>
            <a:ext cx="4876800" cy="4624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merge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A, B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sequences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and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with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</a:rPr>
              <a:t>/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2 elements each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sorted sequence of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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B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altLang="en-US" sz="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empty sequence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  </a:t>
            </a:r>
            <a:r>
              <a:rPr lang="en-US" altLang="en-US" sz="2000" b="1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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.element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&lt;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.element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3E6F418-ABE4-2B0A-7470-DEF77004C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Merge-Sort Tree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1E82351-B6BB-EFFD-4C41-E88959E62E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077200" cy="2200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An execution of merge-sort is depicted by a binary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each node represents a recursive call of merge-sort and stores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unsorted sequence before the execution and its partition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sorted sequence at the end of the execution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root is the initial call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leaves are calls on subsequences of size 0 or 1</a:t>
            </a:r>
          </a:p>
        </p:txBody>
      </p:sp>
      <p:sp>
        <p:nvSpPr>
          <p:cNvPr id="21508" name="AutoShape 4">
            <a:extLst>
              <a:ext uri="{FF2B5EF4-FFF2-40B4-BE49-F238E27FC236}">
                <a16:creationId xmlns:a16="http://schemas.microsoft.com/office/drawing/2014/main" id="{F53D2531-F76E-938E-AB24-0A7ED97A9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810000"/>
            <a:ext cx="36576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7  2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 sz="2400">
                <a:latin typeface="Tahoma" panose="020B0604030504040204" pitchFamily="34" charset="0"/>
              </a:rPr>
              <a:t> 9  4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2  4  7  9</a:t>
            </a:r>
          </a:p>
        </p:txBody>
      </p:sp>
      <p:sp>
        <p:nvSpPr>
          <p:cNvPr id="21509" name="AutoShape 5">
            <a:extLst>
              <a:ext uri="{FF2B5EF4-FFF2-40B4-BE49-F238E27FC236}">
                <a16:creationId xmlns:a16="http://schemas.microsoft.com/office/drawing/2014/main" id="{2ADE9A3E-8A38-8ED8-B6B8-B76584106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724400"/>
            <a:ext cx="21336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7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 sz="2400">
                <a:latin typeface="Tahoma" panose="020B0604030504040204" pitchFamily="34" charset="0"/>
              </a:rPr>
              <a:t> 2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2  7</a:t>
            </a:r>
          </a:p>
        </p:txBody>
      </p:sp>
      <p:sp>
        <p:nvSpPr>
          <p:cNvPr id="21510" name="AutoShape 6">
            <a:extLst>
              <a:ext uri="{FF2B5EF4-FFF2-40B4-BE49-F238E27FC236}">
                <a16:creationId xmlns:a16="http://schemas.microsoft.com/office/drawing/2014/main" id="{6D695C7D-5253-03EE-FFB6-97294B54B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724400"/>
            <a:ext cx="21336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9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 sz="2400">
                <a:latin typeface="Tahoma" panose="020B0604030504040204" pitchFamily="34" charset="0"/>
              </a:rPr>
              <a:t> 4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4  9</a:t>
            </a:r>
          </a:p>
        </p:txBody>
      </p:sp>
      <p:sp>
        <p:nvSpPr>
          <p:cNvPr id="21511" name="AutoShape 7">
            <a:extLst>
              <a:ext uri="{FF2B5EF4-FFF2-40B4-BE49-F238E27FC236}">
                <a16:creationId xmlns:a16="http://schemas.microsoft.com/office/drawing/2014/main" id="{D1E238AB-0C39-3C42-A0CF-61B1D7397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5638800"/>
            <a:ext cx="1028700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7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21512" name="AutoShape 8">
            <a:extLst>
              <a:ext uri="{FF2B5EF4-FFF2-40B4-BE49-F238E27FC236}">
                <a16:creationId xmlns:a16="http://schemas.microsoft.com/office/drawing/2014/main" id="{2AA3ABCE-CCC9-39AD-B35B-32ACF3762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638800"/>
            <a:ext cx="990600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2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1513" name="AutoShape 9">
            <a:extLst>
              <a:ext uri="{FF2B5EF4-FFF2-40B4-BE49-F238E27FC236}">
                <a16:creationId xmlns:a16="http://schemas.microsoft.com/office/drawing/2014/main" id="{EF419FBE-1F81-5416-F466-7C4156E48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638800"/>
            <a:ext cx="1009650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9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1514" name="AutoShape 10">
            <a:extLst>
              <a:ext uri="{FF2B5EF4-FFF2-40B4-BE49-F238E27FC236}">
                <a16:creationId xmlns:a16="http://schemas.microsoft.com/office/drawing/2014/main" id="{5552D03B-B9A3-AD66-2B01-832893FF3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638800"/>
            <a:ext cx="981075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4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4</a:t>
            </a:r>
          </a:p>
        </p:txBody>
      </p:sp>
      <p:cxnSp>
        <p:nvCxnSpPr>
          <p:cNvPr id="21515" name="AutoShape 11">
            <a:extLst>
              <a:ext uri="{FF2B5EF4-FFF2-40B4-BE49-F238E27FC236}">
                <a16:creationId xmlns:a16="http://schemas.microsoft.com/office/drawing/2014/main" id="{ACFA5FFB-EA52-257B-ECDA-A24C89187C84}"/>
              </a:ext>
            </a:extLst>
          </p:cNvPr>
          <p:cNvCxnSpPr>
            <a:cxnSpLocks noChangeShapeType="1"/>
            <a:stCxn id="21509" idx="0"/>
            <a:endCxn id="21508" idx="2"/>
          </p:cNvCxnSpPr>
          <p:nvPr/>
        </p:nvCxnSpPr>
        <p:spPr bwMode="auto">
          <a:xfrm flipV="1">
            <a:off x="3048000" y="4429125"/>
            <a:ext cx="15240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6" name="AutoShape 12">
            <a:extLst>
              <a:ext uri="{FF2B5EF4-FFF2-40B4-BE49-F238E27FC236}">
                <a16:creationId xmlns:a16="http://schemas.microsoft.com/office/drawing/2014/main" id="{63060A05-BEDD-FD9E-93AB-1BC813F1FECB}"/>
              </a:ext>
            </a:extLst>
          </p:cNvPr>
          <p:cNvCxnSpPr>
            <a:cxnSpLocks noChangeShapeType="1"/>
            <a:stCxn id="21510" idx="0"/>
            <a:endCxn id="21508" idx="2"/>
          </p:cNvCxnSpPr>
          <p:nvPr/>
        </p:nvCxnSpPr>
        <p:spPr bwMode="auto">
          <a:xfrm flipH="1" flipV="1">
            <a:off x="4572000" y="4429125"/>
            <a:ext cx="15240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3">
            <a:extLst>
              <a:ext uri="{FF2B5EF4-FFF2-40B4-BE49-F238E27FC236}">
                <a16:creationId xmlns:a16="http://schemas.microsoft.com/office/drawing/2014/main" id="{5DEE7AD1-42E0-6792-18DF-2A06C77E15A6}"/>
              </a:ext>
            </a:extLst>
          </p:cNvPr>
          <p:cNvCxnSpPr>
            <a:cxnSpLocks noChangeShapeType="1"/>
            <a:stCxn id="21511" idx="0"/>
            <a:endCxn id="21509" idx="2"/>
          </p:cNvCxnSpPr>
          <p:nvPr/>
        </p:nvCxnSpPr>
        <p:spPr bwMode="auto">
          <a:xfrm flipV="1">
            <a:off x="2381250" y="5343525"/>
            <a:ext cx="6667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4">
            <a:extLst>
              <a:ext uri="{FF2B5EF4-FFF2-40B4-BE49-F238E27FC236}">
                <a16:creationId xmlns:a16="http://schemas.microsoft.com/office/drawing/2014/main" id="{603FD3BF-BC1A-DEB3-FB73-C1E27470438E}"/>
              </a:ext>
            </a:extLst>
          </p:cNvPr>
          <p:cNvCxnSpPr>
            <a:cxnSpLocks noChangeShapeType="1"/>
            <a:stCxn id="21513" idx="0"/>
            <a:endCxn id="21510" idx="2"/>
          </p:cNvCxnSpPr>
          <p:nvPr/>
        </p:nvCxnSpPr>
        <p:spPr bwMode="auto">
          <a:xfrm flipV="1">
            <a:off x="5410200" y="5343525"/>
            <a:ext cx="6858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5">
            <a:extLst>
              <a:ext uri="{FF2B5EF4-FFF2-40B4-BE49-F238E27FC236}">
                <a16:creationId xmlns:a16="http://schemas.microsoft.com/office/drawing/2014/main" id="{C5F1E841-273C-8677-6E8D-2AB3F2C0701C}"/>
              </a:ext>
            </a:extLst>
          </p:cNvPr>
          <p:cNvCxnSpPr>
            <a:cxnSpLocks noChangeShapeType="1"/>
            <a:stCxn id="21509" idx="2"/>
            <a:endCxn id="21512" idx="0"/>
          </p:cNvCxnSpPr>
          <p:nvPr/>
        </p:nvCxnSpPr>
        <p:spPr bwMode="auto">
          <a:xfrm>
            <a:off x="3048000" y="5343525"/>
            <a:ext cx="7239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6">
            <a:extLst>
              <a:ext uri="{FF2B5EF4-FFF2-40B4-BE49-F238E27FC236}">
                <a16:creationId xmlns:a16="http://schemas.microsoft.com/office/drawing/2014/main" id="{36DCF5A1-94AC-D461-84B4-8CF673D40C1D}"/>
              </a:ext>
            </a:extLst>
          </p:cNvPr>
          <p:cNvCxnSpPr>
            <a:cxnSpLocks noChangeShapeType="1"/>
            <a:stCxn id="21510" idx="2"/>
            <a:endCxn id="21514" idx="0"/>
          </p:cNvCxnSpPr>
          <p:nvPr/>
        </p:nvCxnSpPr>
        <p:spPr bwMode="auto">
          <a:xfrm>
            <a:off x="6096000" y="5343525"/>
            <a:ext cx="719138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BD29C67-359B-F6A2-27B0-62099A33A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Execution Example</a:t>
            </a:r>
          </a:p>
        </p:txBody>
      </p:sp>
      <p:cxnSp>
        <p:nvCxnSpPr>
          <p:cNvPr id="22531" name="AutoShape 4">
            <a:extLst>
              <a:ext uri="{FF2B5EF4-FFF2-40B4-BE49-F238E27FC236}">
                <a16:creationId xmlns:a16="http://schemas.microsoft.com/office/drawing/2014/main" id="{1E7F46B8-82CC-594F-336C-736F95532B54}"/>
              </a:ext>
            </a:extLst>
          </p:cNvPr>
          <p:cNvCxnSpPr>
            <a:cxnSpLocks noChangeShapeType="1"/>
            <a:stCxn id="22539" idx="0"/>
            <a:endCxn id="22537" idx="2"/>
          </p:cNvCxnSpPr>
          <p:nvPr/>
        </p:nvCxnSpPr>
        <p:spPr bwMode="auto">
          <a:xfrm flipV="1">
            <a:off x="1284288" y="35210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2" name="AutoShape 5">
            <a:extLst>
              <a:ext uri="{FF2B5EF4-FFF2-40B4-BE49-F238E27FC236}">
                <a16:creationId xmlns:a16="http://schemas.microsoft.com/office/drawing/2014/main" id="{242CF246-2C58-7282-E8E5-C8F3757131B4}"/>
              </a:ext>
            </a:extLst>
          </p:cNvPr>
          <p:cNvCxnSpPr>
            <a:cxnSpLocks noChangeShapeType="1"/>
            <a:stCxn id="22540" idx="0"/>
            <a:endCxn id="22537" idx="2"/>
          </p:cNvCxnSpPr>
          <p:nvPr/>
        </p:nvCxnSpPr>
        <p:spPr bwMode="auto">
          <a:xfrm flipH="1" flipV="1">
            <a:off x="2352675" y="3521075"/>
            <a:ext cx="109855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3" name="AutoShape 6">
            <a:extLst>
              <a:ext uri="{FF2B5EF4-FFF2-40B4-BE49-F238E27FC236}">
                <a16:creationId xmlns:a16="http://schemas.microsoft.com/office/drawing/2014/main" id="{9CB80CA0-4CC5-8FCE-5D9D-3D4A77216506}"/>
              </a:ext>
            </a:extLst>
          </p:cNvPr>
          <p:cNvCxnSpPr>
            <a:cxnSpLocks noChangeShapeType="1"/>
            <a:stCxn id="22543" idx="0"/>
            <a:endCxn id="22539" idx="2"/>
          </p:cNvCxnSpPr>
          <p:nvPr/>
        </p:nvCxnSpPr>
        <p:spPr bwMode="auto">
          <a:xfrm flipV="1">
            <a:off x="817563" y="45466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4" name="AutoShape 7">
            <a:extLst>
              <a:ext uri="{FF2B5EF4-FFF2-40B4-BE49-F238E27FC236}">
                <a16:creationId xmlns:a16="http://schemas.microsoft.com/office/drawing/2014/main" id="{E8E4E9AC-2C5A-8D32-6845-66D87E1AD062}"/>
              </a:ext>
            </a:extLst>
          </p:cNvPr>
          <p:cNvCxnSpPr>
            <a:cxnSpLocks noChangeShapeType="1"/>
            <a:stCxn id="22545" idx="0"/>
            <a:endCxn id="22540" idx="2"/>
          </p:cNvCxnSpPr>
          <p:nvPr/>
        </p:nvCxnSpPr>
        <p:spPr bwMode="auto">
          <a:xfrm flipV="1">
            <a:off x="2940050" y="4546600"/>
            <a:ext cx="5111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5" name="AutoShape 8">
            <a:extLst>
              <a:ext uri="{FF2B5EF4-FFF2-40B4-BE49-F238E27FC236}">
                <a16:creationId xmlns:a16="http://schemas.microsoft.com/office/drawing/2014/main" id="{192533B7-35CA-2A79-44E6-D91955A8FC97}"/>
              </a:ext>
            </a:extLst>
          </p:cNvPr>
          <p:cNvCxnSpPr>
            <a:cxnSpLocks noChangeShapeType="1"/>
            <a:stCxn id="22539" idx="2"/>
            <a:endCxn id="22544" idx="0"/>
          </p:cNvCxnSpPr>
          <p:nvPr/>
        </p:nvCxnSpPr>
        <p:spPr bwMode="auto">
          <a:xfrm>
            <a:off x="1284288" y="4546600"/>
            <a:ext cx="5064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6" name="AutoShape 9">
            <a:extLst>
              <a:ext uri="{FF2B5EF4-FFF2-40B4-BE49-F238E27FC236}">
                <a16:creationId xmlns:a16="http://schemas.microsoft.com/office/drawing/2014/main" id="{528E2D42-E057-284B-01C6-DCFAAD9E7FBE}"/>
              </a:ext>
            </a:extLst>
          </p:cNvPr>
          <p:cNvCxnSpPr>
            <a:cxnSpLocks noChangeShapeType="1"/>
            <a:stCxn id="22540" idx="2"/>
            <a:endCxn id="22546" idx="0"/>
          </p:cNvCxnSpPr>
          <p:nvPr/>
        </p:nvCxnSpPr>
        <p:spPr bwMode="auto">
          <a:xfrm>
            <a:off x="3451225" y="4546600"/>
            <a:ext cx="473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7" name="AutoShape 10">
            <a:extLst>
              <a:ext uri="{FF2B5EF4-FFF2-40B4-BE49-F238E27FC236}">
                <a16:creationId xmlns:a16="http://schemas.microsoft.com/office/drawing/2014/main" id="{3CCEBB88-FBC1-8573-04B9-1050DE5EA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30845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 7  2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9  4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2  4  7  9</a:t>
            </a:r>
          </a:p>
        </p:txBody>
      </p:sp>
      <p:sp>
        <p:nvSpPr>
          <p:cNvPr id="22538" name="AutoShape 11">
            <a:extLst>
              <a:ext uri="{FF2B5EF4-FFF2-40B4-BE49-F238E27FC236}">
                <a16:creationId xmlns:a16="http://schemas.microsoft.com/office/drawing/2014/main" id="{6250DF5A-0D51-174B-9D06-BBE4B881A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1163" y="3084513"/>
            <a:ext cx="25860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3  8 </a:t>
            </a:r>
            <a:r>
              <a:rPr lang="en-US" altLang="en-US" b="1">
                <a:solidFill>
                  <a:schemeClr val="tx2"/>
                </a:solidFill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6  1 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1  3  6  8</a:t>
            </a:r>
          </a:p>
        </p:txBody>
      </p:sp>
      <p:sp>
        <p:nvSpPr>
          <p:cNvPr id="22539" name="AutoShape 12">
            <a:extLst>
              <a:ext uri="{FF2B5EF4-FFF2-40B4-BE49-F238E27FC236}">
                <a16:creationId xmlns:a16="http://schemas.microsoft.com/office/drawing/2014/main" id="{0895066D-C778-1DED-D58E-A9ACE6D33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41100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7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2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2  7</a:t>
            </a:r>
          </a:p>
        </p:txBody>
      </p:sp>
      <p:sp>
        <p:nvSpPr>
          <p:cNvPr id="22540" name="AutoShape 13">
            <a:extLst>
              <a:ext uri="{FF2B5EF4-FFF2-40B4-BE49-F238E27FC236}">
                <a16:creationId xmlns:a16="http://schemas.microsoft.com/office/drawing/2014/main" id="{BE9E1B8D-64AD-C856-940C-96DFAB2CC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1100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9 </a:t>
            </a:r>
            <a:r>
              <a:rPr lang="en-US" altLang="en-US" b="1">
                <a:solidFill>
                  <a:schemeClr val="tx2"/>
                </a:solidFill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4 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4  9</a:t>
            </a:r>
          </a:p>
        </p:txBody>
      </p:sp>
      <p:sp>
        <p:nvSpPr>
          <p:cNvPr id="22541" name="AutoShape 14">
            <a:extLst>
              <a:ext uri="{FF2B5EF4-FFF2-40B4-BE49-F238E27FC236}">
                <a16:creationId xmlns:a16="http://schemas.microsoft.com/office/drawing/2014/main" id="{DB1F4DA5-8B44-FEB3-9F42-BF0150C67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110038"/>
            <a:ext cx="1524000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3 </a:t>
            </a:r>
            <a:r>
              <a:rPr lang="en-US" altLang="en-US" b="1">
                <a:solidFill>
                  <a:schemeClr val="tx2"/>
                </a:solidFill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8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3  8</a:t>
            </a:r>
          </a:p>
        </p:txBody>
      </p:sp>
      <p:sp>
        <p:nvSpPr>
          <p:cNvPr id="22542" name="AutoShape 15">
            <a:extLst>
              <a:ext uri="{FF2B5EF4-FFF2-40B4-BE49-F238E27FC236}">
                <a16:creationId xmlns:a16="http://schemas.microsoft.com/office/drawing/2014/main" id="{649E58D5-1684-52D7-D8B1-20DD46856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1363" y="41100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6  1 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1  6</a:t>
            </a:r>
          </a:p>
        </p:txBody>
      </p:sp>
      <p:sp>
        <p:nvSpPr>
          <p:cNvPr id="22543" name="AutoShape 16">
            <a:extLst>
              <a:ext uri="{FF2B5EF4-FFF2-40B4-BE49-F238E27FC236}">
                <a16:creationId xmlns:a16="http://schemas.microsoft.com/office/drawing/2014/main" id="{176AA3E6-14BE-CA5B-AE5E-0171EBC0A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1355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7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22544" name="AutoShape 17">
            <a:extLst>
              <a:ext uri="{FF2B5EF4-FFF2-40B4-BE49-F238E27FC236}">
                <a16:creationId xmlns:a16="http://schemas.microsoft.com/office/drawing/2014/main" id="{C3DAF533-2324-D0E7-66AA-AA366ED80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1355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2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2545" name="AutoShape 18">
            <a:extLst>
              <a:ext uri="{FF2B5EF4-FFF2-40B4-BE49-F238E27FC236}">
                <a16:creationId xmlns:a16="http://schemas.microsoft.com/office/drawing/2014/main" id="{93CF5AB4-884D-BC03-7B60-E8725868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8" y="51355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9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2546" name="AutoShape 19">
            <a:extLst>
              <a:ext uri="{FF2B5EF4-FFF2-40B4-BE49-F238E27FC236}">
                <a16:creationId xmlns:a16="http://schemas.microsoft.com/office/drawing/2014/main" id="{3D99DD30-F0E1-B4B3-7498-18320B4B3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51355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4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2547" name="AutoShape 20">
            <a:extLst>
              <a:ext uri="{FF2B5EF4-FFF2-40B4-BE49-F238E27FC236}">
                <a16:creationId xmlns:a16="http://schemas.microsoft.com/office/drawing/2014/main" id="{CBF2BECD-168A-A4F4-731E-B9293A349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1355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3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22548" name="AutoShape 21">
            <a:extLst>
              <a:ext uri="{FF2B5EF4-FFF2-40B4-BE49-F238E27FC236}">
                <a16:creationId xmlns:a16="http://schemas.microsoft.com/office/drawing/2014/main" id="{01863023-5E89-C078-54AA-F65EE06A5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4225" y="51355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8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2549" name="AutoShape 22">
            <a:extLst>
              <a:ext uri="{FF2B5EF4-FFF2-40B4-BE49-F238E27FC236}">
                <a16:creationId xmlns:a16="http://schemas.microsoft.com/office/drawing/2014/main" id="{DDBEBCCE-4EBB-F3FA-66AA-CA4E5D109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638" y="51355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6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2550" name="AutoShape 23">
            <a:extLst>
              <a:ext uri="{FF2B5EF4-FFF2-40B4-BE49-F238E27FC236}">
                <a16:creationId xmlns:a16="http://schemas.microsoft.com/office/drawing/2014/main" id="{83ECDBBD-8918-1D45-7553-431FA4798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51355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1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</a:t>
            </a:r>
          </a:p>
        </p:txBody>
      </p:sp>
      <p:cxnSp>
        <p:nvCxnSpPr>
          <p:cNvPr id="22551" name="AutoShape 24">
            <a:extLst>
              <a:ext uri="{FF2B5EF4-FFF2-40B4-BE49-F238E27FC236}">
                <a16:creationId xmlns:a16="http://schemas.microsoft.com/office/drawing/2014/main" id="{E7FDD185-A2C0-78DB-2D8D-8C0CF9E33631}"/>
              </a:ext>
            </a:extLst>
          </p:cNvPr>
          <p:cNvCxnSpPr>
            <a:cxnSpLocks noChangeShapeType="1"/>
            <a:stCxn id="22541" idx="0"/>
            <a:endCxn id="22538" idx="2"/>
          </p:cNvCxnSpPr>
          <p:nvPr/>
        </p:nvCxnSpPr>
        <p:spPr bwMode="auto">
          <a:xfrm flipV="1">
            <a:off x="5715000" y="3521075"/>
            <a:ext cx="10699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2" name="AutoShape 25">
            <a:extLst>
              <a:ext uri="{FF2B5EF4-FFF2-40B4-BE49-F238E27FC236}">
                <a16:creationId xmlns:a16="http://schemas.microsoft.com/office/drawing/2014/main" id="{5BA7F2BE-E4C8-1173-490F-F8C52212ED47}"/>
              </a:ext>
            </a:extLst>
          </p:cNvPr>
          <p:cNvCxnSpPr>
            <a:cxnSpLocks noChangeShapeType="1"/>
            <a:stCxn id="22542" idx="0"/>
            <a:endCxn id="22538" idx="2"/>
          </p:cNvCxnSpPr>
          <p:nvPr/>
        </p:nvCxnSpPr>
        <p:spPr bwMode="auto">
          <a:xfrm flipH="1" flipV="1">
            <a:off x="6784975" y="3521075"/>
            <a:ext cx="10541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3" name="AutoShape 26">
            <a:extLst>
              <a:ext uri="{FF2B5EF4-FFF2-40B4-BE49-F238E27FC236}">
                <a16:creationId xmlns:a16="http://schemas.microsoft.com/office/drawing/2014/main" id="{07250B72-ED1A-7AC6-127B-8277A216D475}"/>
              </a:ext>
            </a:extLst>
          </p:cNvPr>
          <p:cNvCxnSpPr>
            <a:cxnSpLocks noChangeShapeType="1"/>
            <a:stCxn id="22547" idx="0"/>
            <a:endCxn id="22541" idx="2"/>
          </p:cNvCxnSpPr>
          <p:nvPr/>
        </p:nvCxnSpPr>
        <p:spPr bwMode="auto">
          <a:xfrm flipV="1">
            <a:off x="5237163" y="4546600"/>
            <a:ext cx="47783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4" name="AutoShape 27">
            <a:extLst>
              <a:ext uri="{FF2B5EF4-FFF2-40B4-BE49-F238E27FC236}">
                <a16:creationId xmlns:a16="http://schemas.microsoft.com/office/drawing/2014/main" id="{8A1D90A7-0957-DD52-DCFF-A192F88E47B0}"/>
              </a:ext>
            </a:extLst>
          </p:cNvPr>
          <p:cNvCxnSpPr>
            <a:cxnSpLocks noChangeShapeType="1"/>
            <a:stCxn id="22549" idx="0"/>
            <a:endCxn id="22542" idx="2"/>
          </p:cNvCxnSpPr>
          <p:nvPr/>
        </p:nvCxnSpPr>
        <p:spPr bwMode="auto">
          <a:xfrm flipV="1">
            <a:off x="7359650" y="45466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5" name="AutoShape 28">
            <a:extLst>
              <a:ext uri="{FF2B5EF4-FFF2-40B4-BE49-F238E27FC236}">
                <a16:creationId xmlns:a16="http://schemas.microsoft.com/office/drawing/2014/main" id="{F9371799-7F18-2C66-D4F9-1B9C9CC78704}"/>
              </a:ext>
            </a:extLst>
          </p:cNvPr>
          <p:cNvCxnSpPr>
            <a:cxnSpLocks noChangeShapeType="1"/>
            <a:stCxn id="22541" idx="2"/>
            <a:endCxn id="22548" idx="0"/>
          </p:cNvCxnSpPr>
          <p:nvPr/>
        </p:nvCxnSpPr>
        <p:spPr bwMode="auto">
          <a:xfrm>
            <a:off x="5715000" y="4546600"/>
            <a:ext cx="496888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6" name="AutoShape 29">
            <a:extLst>
              <a:ext uri="{FF2B5EF4-FFF2-40B4-BE49-F238E27FC236}">
                <a16:creationId xmlns:a16="http://schemas.microsoft.com/office/drawing/2014/main" id="{F97E4BD2-9569-A904-6C90-1CA9EA893414}"/>
              </a:ext>
            </a:extLst>
          </p:cNvPr>
          <p:cNvCxnSpPr>
            <a:cxnSpLocks noChangeShapeType="1"/>
            <a:stCxn id="22542" idx="2"/>
            <a:endCxn id="22550" idx="0"/>
          </p:cNvCxnSpPr>
          <p:nvPr/>
        </p:nvCxnSpPr>
        <p:spPr bwMode="auto">
          <a:xfrm>
            <a:off x="7839075" y="45466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7" name="AutoShape 30">
            <a:extLst>
              <a:ext uri="{FF2B5EF4-FFF2-40B4-BE49-F238E27FC236}">
                <a16:creationId xmlns:a16="http://schemas.microsoft.com/office/drawing/2014/main" id="{BDA1F55F-BF44-2BD5-E94B-909ECD037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0574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7  2  9  4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3  8  6  1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1  2  3  4  6  7  8  9</a:t>
            </a:r>
          </a:p>
        </p:txBody>
      </p:sp>
      <p:cxnSp>
        <p:nvCxnSpPr>
          <p:cNvPr id="22558" name="AutoShape 31">
            <a:extLst>
              <a:ext uri="{FF2B5EF4-FFF2-40B4-BE49-F238E27FC236}">
                <a16:creationId xmlns:a16="http://schemas.microsoft.com/office/drawing/2014/main" id="{8C31E2EA-3775-6CD7-7B76-E4D73F29716A}"/>
              </a:ext>
            </a:extLst>
          </p:cNvPr>
          <p:cNvCxnSpPr>
            <a:cxnSpLocks noChangeShapeType="1"/>
            <a:stCxn id="22537" idx="0"/>
            <a:endCxn id="22557" idx="2"/>
          </p:cNvCxnSpPr>
          <p:nvPr/>
        </p:nvCxnSpPr>
        <p:spPr bwMode="auto">
          <a:xfrm flipV="1">
            <a:off x="2352675" y="2506663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9" name="AutoShape 32">
            <a:extLst>
              <a:ext uri="{FF2B5EF4-FFF2-40B4-BE49-F238E27FC236}">
                <a16:creationId xmlns:a16="http://schemas.microsoft.com/office/drawing/2014/main" id="{69859C95-2EE6-7D4C-169A-607EC501CD96}"/>
              </a:ext>
            </a:extLst>
          </p:cNvPr>
          <p:cNvCxnSpPr>
            <a:cxnSpLocks noChangeShapeType="1"/>
            <a:stCxn id="22538" idx="0"/>
            <a:endCxn id="22557" idx="2"/>
          </p:cNvCxnSpPr>
          <p:nvPr/>
        </p:nvCxnSpPr>
        <p:spPr bwMode="auto">
          <a:xfrm flipH="1" flipV="1">
            <a:off x="4572000" y="2506663"/>
            <a:ext cx="22129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60" name="Line 33">
            <a:extLst>
              <a:ext uri="{FF2B5EF4-FFF2-40B4-BE49-F238E27FC236}">
                <a16:creationId xmlns:a16="http://schemas.microsoft.com/office/drawing/2014/main" id="{F20F2630-82DE-AE81-F4B7-F0648214CE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5725" y="262255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1" name="Line 34">
            <a:extLst>
              <a:ext uri="{FF2B5EF4-FFF2-40B4-BE49-F238E27FC236}">
                <a16:creationId xmlns:a16="http://schemas.microsoft.com/office/drawing/2014/main" id="{F19306B2-C8AA-9FC4-247B-1476C36BD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743200"/>
            <a:ext cx="685800" cy="228600"/>
          </a:xfrm>
          <a:prstGeom prst="line">
            <a:avLst/>
          </a:prstGeom>
          <a:noFill/>
          <a:ln w="76200">
            <a:solidFill>
              <a:srgbClr val="FF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2" name="Line 36">
            <a:extLst>
              <a:ext uri="{FF2B5EF4-FFF2-40B4-BE49-F238E27FC236}">
                <a16:creationId xmlns:a16="http://schemas.microsoft.com/office/drawing/2014/main" id="{CBB75F46-A3BF-561D-A54F-1A33280D4E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92525" y="2681288"/>
            <a:ext cx="685800" cy="228600"/>
          </a:xfrm>
          <a:prstGeom prst="line">
            <a:avLst/>
          </a:prstGeom>
          <a:noFill/>
          <a:ln w="76200">
            <a:solidFill>
              <a:srgbClr val="FF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3" name="Line 37">
            <a:extLst>
              <a:ext uri="{FF2B5EF4-FFF2-40B4-BE49-F238E27FC236}">
                <a16:creationId xmlns:a16="http://schemas.microsoft.com/office/drawing/2014/main" id="{BF9DC234-C4B7-3F1A-197D-AA3F12B4CB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5908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55E442C-2403-4A72-22BB-4D9276560A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Analysis of Merge-Sort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C4E4FB8-DBF4-501F-6CDE-BBA929672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924800" cy="2514600"/>
          </a:xfrm>
        </p:spPr>
        <p:txBody>
          <a:bodyPr/>
          <a:lstStyle/>
          <a:p>
            <a:pPr eaLnBrk="1" hangingPunct="1"/>
            <a:r>
              <a:rPr lang="en-US" altLang="en-US" sz="2000"/>
              <a:t>The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h</a:t>
            </a:r>
            <a:r>
              <a:rPr lang="en-US" altLang="en-US" sz="2000"/>
              <a:t> of the merge-sort tree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</a:t>
            </a:r>
          </a:p>
          <a:p>
            <a:pPr lvl="1" eaLnBrk="1" hangingPunct="1"/>
            <a:r>
              <a:rPr lang="en-US" altLang="en-US" sz="1800"/>
              <a:t>at each recursive call we divide in half the sequence</a:t>
            </a:r>
          </a:p>
          <a:p>
            <a:pPr lvl="1" eaLnBrk="1" hangingPunct="1"/>
            <a:endParaRPr lang="en-US" altLang="en-US" sz="1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/>
              <a:t>The overall amount or work done at the nodes of depth </a:t>
            </a:r>
            <a:r>
              <a:rPr lang="en-US" altLang="en-US" sz="2000" b="1" i="1">
                <a:latin typeface="Times New Roman" panose="02020603050405020304" pitchFamily="18" charset="0"/>
              </a:rPr>
              <a:t>i </a:t>
            </a:r>
            <a:r>
              <a:rPr lang="en-US" altLang="en-US" sz="2000"/>
              <a:t>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</a:t>
            </a:r>
          </a:p>
          <a:p>
            <a:pPr lvl="1" eaLnBrk="1" hangingPunct="1"/>
            <a:r>
              <a:rPr lang="en-US" altLang="en-US" sz="1800"/>
              <a:t>we partition and merge 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sequences of size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 b="1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</a:t>
            </a:r>
          </a:p>
          <a:p>
            <a:pPr lvl="1" eaLnBrk="1" hangingPunct="1">
              <a:buFontTx/>
              <a:buNone/>
            </a:pPr>
            <a:endParaRPr lang="en-US" altLang="en-US" sz="1000"/>
          </a:p>
          <a:p>
            <a:pPr eaLnBrk="1" hangingPunct="1"/>
            <a:r>
              <a:rPr lang="en-US" altLang="en-US" sz="2000"/>
              <a:t>Thus, the total running time of merge-sort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 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23556" name="Group 4">
            <a:extLst>
              <a:ext uri="{FF2B5EF4-FFF2-40B4-BE49-F238E27FC236}">
                <a16:creationId xmlns:a16="http://schemas.microsoft.com/office/drawing/2014/main" id="{1DF9D859-3EF0-87CB-F384-3068821A01C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391025"/>
            <a:ext cx="4191000" cy="1785938"/>
            <a:chOff x="384" y="1632"/>
            <a:chExt cx="5184" cy="2208"/>
          </a:xfrm>
        </p:grpSpPr>
        <p:cxnSp>
          <p:nvCxnSpPr>
            <p:cNvPr id="23573" name="AutoShape 5">
              <a:extLst>
                <a:ext uri="{FF2B5EF4-FFF2-40B4-BE49-F238E27FC236}">
                  <a16:creationId xmlns:a16="http://schemas.microsoft.com/office/drawing/2014/main" id="{5D43A6C8-73C8-04B9-D210-BEC9CD3254C6}"/>
                </a:ext>
              </a:extLst>
            </p:cNvPr>
            <p:cNvCxnSpPr>
              <a:cxnSpLocks noChangeShapeType="1"/>
              <a:stCxn id="23600" idx="0"/>
              <a:endCxn id="23579" idx="2"/>
            </p:cNvCxnSpPr>
            <p:nvPr/>
          </p:nvCxnSpPr>
          <p:spPr bwMode="auto">
            <a:xfrm flipV="1">
              <a:off x="905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4" name="AutoShape 6">
              <a:extLst>
                <a:ext uri="{FF2B5EF4-FFF2-40B4-BE49-F238E27FC236}">
                  <a16:creationId xmlns:a16="http://schemas.microsoft.com/office/drawing/2014/main" id="{2EEAA426-C84F-45DA-D8F0-21CD540EB498}"/>
                </a:ext>
              </a:extLst>
            </p:cNvPr>
            <p:cNvCxnSpPr>
              <a:cxnSpLocks noChangeShapeType="1"/>
              <a:stCxn id="23601" idx="0"/>
              <a:endCxn id="23579" idx="2"/>
            </p:cNvCxnSpPr>
            <p:nvPr/>
          </p:nvCxnSpPr>
          <p:spPr bwMode="auto">
            <a:xfrm flipH="1" flipV="1">
              <a:off x="1578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5" name="AutoShape 7">
              <a:extLst>
                <a:ext uri="{FF2B5EF4-FFF2-40B4-BE49-F238E27FC236}">
                  <a16:creationId xmlns:a16="http://schemas.microsoft.com/office/drawing/2014/main" id="{608ED5EE-1FE7-2D68-F4D6-E4CB024FB553}"/>
                </a:ext>
              </a:extLst>
            </p:cNvPr>
            <p:cNvCxnSpPr>
              <a:cxnSpLocks noChangeShapeType="1"/>
              <a:stCxn id="23592" idx="0"/>
              <a:endCxn id="23600" idx="2"/>
            </p:cNvCxnSpPr>
            <p:nvPr/>
          </p:nvCxnSpPr>
          <p:spPr bwMode="auto">
            <a:xfrm flipV="1">
              <a:off x="611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6" name="AutoShape 8">
              <a:extLst>
                <a:ext uri="{FF2B5EF4-FFF2-40B4-BE49-F238E27FC236}">
                  <a16:creationId xmlns:a16="http://schemas.microsoft.com/office/drawing/2014/main" id="{D985D555-2C56-157D-BC22-D3465F1953B8}"/>
                </a:ext>
              </a:extLst>
            </p:cNvPr>
            <p:cNvCxnSpPr>
              <a:cxnSpLocks noChangeShapeType="1"/>
              <a:stCxn id="23594" idx="0"/>
              <a:endCxn id="23601" idx="2"/>
            </p:cNvCxnSpPr>
            <p:nvPr/>
          </p:nvCxnSpPr>
          <p:spPr bwMode="auto">
            <a:xfrm flipV="1">
              <a:off x="1948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7" name="AutoShape 9">
              <a:extLst>
                <a:ext uri="{FF2B5EF4-FFF2-40B4-BE49-F238E27FC236}">
                  <a16:creationId xmlns:a16="http://schemas.microsoft.com/office/drawing/2014/main" id="{36C9E1D3-8E51-B904-7904-DB2F817CE312}"/>
                </a:ext>
              </a:extLst>
            </p:cNvPr>
            <p:cNvCxnSpPr>
              <a:cxnSpLocks noChangeShapeType="1"/>
              <a:stCxn id="23600" idx="2"/>
              <a:endCxn id="23593" idx="0"/>
            </p:cNvCxnSpPr>
            <p:nvPr/>
          </p:nvCxnSpPr>
          <p:spPr bwMode="auto">
            <a:xfrm>
              <a:off x="905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8" name="AutoShape 10">
              <a:extLst>
                <a:ext uri="{FF2B5EF4-FFF2-40B4-BE49-F238E27FC236}">
                  <a16:creationId xmlns:a16="http://schemas.microsoft.com/office/drawing/2014/main" id="{0FEAAF5A-60F7-4192-CC93-0B3C6E6EC020}"/>
                </a:ext>
              </a:extLst>
            </p:cNvPr>
            <p:cNvCxnSpPr>
              <a:cxnSpLocks noChangeShapeType="1"/>
              <a:stCxn id="23601" idx="2"/>
              <a:endCxn id="23595" idx="0"/>
            </p:cNvCxnSpPr>
            <p:nvPr/>
          </p:nvCxnSpPr>
          <p:spPr bwMode="auto">
            <a:xfrm>
              <a:off x="2250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9" name="AutoShape 11">
              <a:extLst>
                <a:ext uri="{FF2B5EF4-FFF2-40B4-BE49-F238E27FC236}">
                  <a16:creationId xmlns:a16="http://schemas.microsoft.com/office/drawing/2014/main" id="{CBFA89E8-EB63-5104-1D82-1715A2415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80" name="AutoShape 12">
              <a:extLst>
                <a:ext uri="{FF2B5EF4-FFF2-40B4-BE49-F238E27FC236}">
                  <a16:creationId xmlns:a16="http://schemas.microsoft.com/office/drawing/2014/main" id="{B6522D9D-B75A-216E-A3A1-F980B03D8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5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23581" name="Group 13">
              <a:extLst>
                <a:ext uri="{FF2B5EF4-FFF2-40B4-BE49-F238E27FC236}">
                  <a16:creationId xmlns:a16="http://schemas.microsoft.com/office/drawing/2014/main" id="{D52FA5E0-8D5D-AAD5-FCA7-7C35A8991B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" y="2925"/>
              <a:ext cx="5037" cy="269"/>
              <a:chOff x="468" y="3168"/>
              <a:chExt cx="5037" cy="269"/>
            </a:xfrm>
          </p:grpSpPr>
          <p:sp>
            <p:nvSpPr>
              <p:cNvPr id="23600" name="AutoShape 14">
                <a:extLst>
                  <a:ext uri="{FF2B5EF4-FFF2-40B4-BE49-F238E27FC236}">
                    <a16:creationId xmlns:a16="http://schemas.microsoft.com/office/drawing/2014/main" id="{2750AE53-5363-1612-D119-CD0CFE38B0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601" name="AutoShape 15">
                <a:extLst>
                  <a:ext uri="{FF2B5EF4-FFF2-40B4-BE49-F238E27FC236}">
                    <a16:creationId xmlns:a16="http://schemas.microsoft.com/office/drawing/2014/main" id="{6818A0AA-5EF6-2D98-78EA-841FCFB49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602" name="AutoShape 16">
                <a:extLst>
                  <a:ext uri="{FF2B5EF4-FFF2-40B4-BE49-F238E27FC236}">
                    <a16:creationId xmlns:a16="http://schemas.microsoft.com/office/drawing/2014/main" id="{BD7F60B4-B19E-CB93-08ED-88A712783B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2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603" name="AutoShape 17">
                <a:extLst>
                  <a:ext uri="{FF2B5EF4-FFF2-40B4-BE49-F238E27FC236}">
                    <a16:creationId xmlns:a16="http://schemas.microsoft.com/office/drawing/2014/main" id="{2E60C3BA-A9C1-757D-E2AC-61B9231602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3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3582" name="Group 18">
              <a:extLst>
                <a:ext uri="{FF2B5EF4-FFF2-40B4-BE49-F238E27FC236}">
                  <a16:creationId xmlns:a16="http://schemas.microsoft.com/office/drawing/2014/main" id="{9DBDA770-CF41-A858-E689-CBCBEFD81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3571"/>
              <a:ext cx="5184" cy="269"/>
              <a:chOff x="384" y="3571"/>
              <a:chExt cx="5184" cy="269"/>
            </a:xfrm>
          </p:grpSpPr>
          <p:sp>
            <p:nvSpPr>
              <p:cNvPr id="23592" name="AutoShape 19">
                <a:extLst>
                  <a:ext uri="{FF2B5EF4-FFF2-40B4-BE49-F238E27FC236}">
                    <a16:creationId xmlns:a16="http://schemas.microsoft.com/office/drawing/2014/main" id="{1E310414-1E84-C1A5-3AEC-0911042637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3" name="AutoShape 20">
                <a:extLst>
                  <a:ext uri="{FF2B5EF4-FFF2-40B4-BE49-F238E27FC236}">
                    <a16:creationId xmlns:a16="http://schemas.microsoft.com/office/drawing/2014/main" id="{CD5407C5-E500-9566-95A7-C2DFB9D01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4" name="AutoShape 21">
                <a:extLst>
                  <a:ext uri="{FF2B5EF4-FFF2-40B4-BE49-F238E27FC236}">
                    <a16:creationId xmlns:a16="http://schemas.microsoft.com/office/drawing/2014/main" id="{582A25D6-7922-DECF-B322-42ED491A2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5" name="AutoShape 22">
                <a:extLst>
                  <a:ext uri="{FF2B5EF4-FFF2-40B4-BE49-F238E27FC236}">
                    <a16:creationId xmlns:a16="http://schemas.microsoft.com/office/drawing/2014/main" id="{09565CB8-5DDB-5299-7966-DDC4ACE0B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1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6" name="AutoShape 23">
                <a:extLst>
                  <a:ext uri="{FF2B5EF4-FFF2-40B4-BE49-F238E27FC236}">
                    <a16:creationId xmlns:a16="http://schemas.microsoft.com/office/drawing/2014/main" id="{F9C1B94E-5729-E916-A5D4-0F7499251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7" name="AutoShape 24">
                <a:extLst>
                  <a:ext uri="{FF2B5EF4-FFF2-40B4-BE49-F238E27FC236}">
                    <a16:creationId xmlns:a16="http://schemas.microsoft.com/office/drawing/2014/main" id="{FD291C39-5589-F836-32C2-65958B0EF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0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8" name="AutoShape 25">
                <a:extLst>
                  <a:ext uri="{FF2B5EF4-FFF2-40B4-BE49-F238E27FC236}">
                    <a16:creationId xmlns:a16="http://schemas.microsoft.com/office/drawing/2014/main" id="{7592B9CC-2DB3-AB45-D09E-DB82D396D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9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9" name="AutoShape 26">
                <a:extLst>
                  <a:ext uri="{FF2B5EF4-FFF2-40B4-BE49-F238E27FC236}">
                    <a16:creationId xmlns:a16="http://schemas.microsoft.com/office/drawing/2014/main" id="{2DBE9F7C-BA06-580D-1135-3A99E5898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5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23583" name="AutoShape 27">
              <a:extLst>
                <a:ext uri="{FF2B5EF4-FFF2-40B4-BE49-F238E27FC236}">
                  <a16:creationId xmlns:a16="http://schemas.microsoft.com/office/drawing/2014/main" id="{529DF210-7CB8-DD85-E36B-A0F684B918D8}"/>
                </a:ext>
              </a:extLst>
            </p:cNvPr>
            <p:cNvCxnSpPr>
              <a:cxnSpLocks noChangeShapeType="1"/>
              <a:stCxn id="23602" idx="0"/>
              <a:endCxn id="23580" idx="2"/>
            </p:cNvCxnSpPr>
            <p:nvPr/>
          </p:nvCxnSpPr>
          <p:spPr bwMode="auto">
            <a:xfrm flipV="1">
              <a:off x="3689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84" name="AutoShape 28">
              <a:extLst>
                <a:ext uri="{FF2B5EF4-FFF2-40B4-BE49-F238E27FC236}">
                  <a16:creationId xmlns:a16="http://schemas.microsoft.com/office/drawing/2014/main" id="{7DE95931-2EDD-39F1-0E48-A2C72BBF8409}"/>
                </a:ext>
              </a:extLst>
            </p:cNvPr>
            <p:cNvCxnSpPr>
              <a:cxnSpLocks noChangeShapeType="1"/>
              <a:stCxn id="23603" idx="0"/>
              <a:endCxn id="23580" idx="2"/>
            </p:cNvCxnSpPr>
            <p:nvPr/>
          </p:nvCxnSpPr>
          <p:spPr bwMode="auto">
            <a:xfrm flipH="1" flipV="1">
              <a:off x="4362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85" name="AutoShape 29">
              <a:extLst>
                <a:ext uri="{FF2B5EF4-FFF2-40B4-BE49-F238E27FC236}">
                  <a16:creationId xmlns:a16="http://schemas.microsoft.com/office/drawing/2014/main" id="{28DA4B01-94F5-5F44-1A6A-B4717181D3DD}"/>
                </a:ext>
              </a:extLst>
            </p:cNvPr>
            <p:cNvCxnSpPr>
              <a:cxnSpLocks noChangeShapeType="1"/>
              <a:stCxn id="23596" idx="0"/>
              <a:endCxn id="23602" idx="2"/>
            </p:cNvCxnSpPr>
            <p:nvPr/>
          </p:nvCxnSpPr>
          <p:spPr bwMode="auto">
            <a:xfrm flipV="1">
              <a:off x="3395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86" name="AutoShape 30">
              <a:extLst>
                <a:ext uri="{FF2B5EF4-FFF2-40B4-BE49-F238E27FC236}">
                  <a16:creationId xmlns:a16="http://schemas.microsoft.com/office/drawing/2014/main" id="{241D6C1E-A59A-B4CF-6124-A71D38D392F2}"/>
                </a:ext>
              </a:extLst>
            </p:cNvPr>
            <p:cNvCxnSpPr>
              <a:cxnSpLocks noChangeShapeType="1"/>
              <a:stCxn id="23598" idx="0"/>
              <a:endCxn id="23603" idx="2"/>
            </p:cNvCxnSpPr>
            <p:nvPr/>
          </p:nvCxnSpPr>
          <p:spPr bwMode="auto">
            <a:xfrm flipV="1">
              <a:off x="4732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87" name="AutoShape 31">
              <a:extLst>
                <a:ext uri="{FF2B5EF4-FFF2-40B4-BE49-F238E27FC236}">
                  <a16:creationId xmlns:a16="http://schemas.microsoft.com/office/drawing/2014/main" id="{B4B83DBE-F989-E8BF-B9DF-3F123FA3FBED}"/>
                </a:ext>
              </a:extLst>
            </p:cNvPr>
            <p:cNvCxnSpPr>
              <a:cxnSpLocks noChangeShapeType="1"/>
              <a:stCxn id="23602" idx="2"/>
              <a:endCxn id="23597" idx="0"/>
            </p:cNvCxnSpPr>
            <p:nvPr/>
          </p:nvCxnSpPr>
          <p:spPr bwMode="auto">
            <a:xfrm>
              <a:off x="3689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88" name="AutoShape 32">
              <a:extLst>
                <a:ext uri="{FF2B5EF4-FFF2-40B4-BE49-F238E27FC236}">
                  <a16:creationId xmlns:a16="http://schemas.microsoft.com/office/drawing/2014/main" id="{B2C66DCC-FC5B-4D49-CBDD-04B904FCB04F}"/>
                </a:ext>
              </a:extLst>
            </p:cNvPr>
            <p:cNvCxnSpPr>
              <a:cxnSpLocks noChangeShapeType="1"/>
              <a:stCxn id="23603" idx="2"/>
              <a:endCxn id="23599" idx="0"/>
            </p:cNvCxnSpPr>
            <p:nvPr/>
          </p:nvCxnSpPr>
          <p:spPr bwMode="auto">
            <a:xfrm>
              <a:off x="5034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89" name="AutoShape 33">
              <a:extLst>
                <a:ext uri="{FF2B5EF4-FFF2-40B4-BE49-F238E27FC236}">
                  <a16:creationId xmlns:a16="http://schemas.microsoft.com/office/drawing/2014/main" id="{B3A26AE6-0C9F-B516-26F0-CD395F3E7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632"/>
              <a:ext cx="3072" cy="2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23590" name="AutoShape 34">
              <a:extLst>
                <a:ext uri="{FF2B5EF4-FFF2-40B4-BE49-F238E27FC236}">
                  <a16:creationId xmlns:a16="http://schemas.microsoft.com/office/drawing/2014/main" id="{61882502-67DC-50B1-B9DC-B6650DD66E2D}"/>
                </a:ext>
              </a:extLst>
            </p:cNvPr>
            <p:cNvCxnSpPr>
              <a:cxnSpLocks noChangeShapeType="1"/>
              <a:stCxn id="23579" idx="0"/>
              <a:endCxn id="23589" idx="2"/>
            </p:cNvCxnSpPr>
            <p:nvPr/>
          </p:nvCxnSpPr>
          <p:spPr bwMode="auto">
            <a:xfrm flipV="1">
              <a:off x="1578" y="1903"/>
              <a:ext cx="1398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91" name="AutoShape 35">
              <a:extLst>
                <a:ext uri="{FF2B5EF4-FFF2-40B4-BE49-F238E27FC236}">
                  <a16:creationId xmlns:a16="http://schemas.microsoft.com/office/drawing/2014/main" id="{0263150F-72A4-4A26-0B8D-E6F4A26870B3}"/>
                </a:ext>
              </a:extLst>
            </p:cNvPr>
            <p:cNvCxnSpPr>
              <a:cxnSpLocks noChangeShapeType="1"/>
              <a:stCxn id="23580" idx="0"/>
              <a:endCxn id="23589" idx="2"/>
            </p:cNvCxnSpPr>
            <p:nvPr/>
          </p:nvCxnSpPr>
          <p:spPr bwMode="auto">
            <a:xfrm flipH="1" flipV="1">
              <a:off x="2976" y="1903"/>
              <a:ext cx="1386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38276" name="Group 36">
            <a:extLst>
              <a:ext uri="{FF2B5EF4-FFF2-40B4-BE49-F238E27FC236}">
                <a16:creationId xmlns:a16="http://schemas.microsoft.com/office/drawing/2014/main" id="{26811F76-1FA4-FBB7-0EF6-1530F8C2D0EC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3943350"/>
          <a:ext cx="2057400" cy="2381251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depth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#seqs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size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</a:rPr>
                        <a:t>/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4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4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</a:t>
                      </a:r>
                      <a:endParaRPr kumimoji="0" lang="en-US" sz="14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</a:rPr>
                        <a:t>/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4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D992ED5-5F2C-19CB-1084-EE4E362F8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Summary of Sorting Algorithms</a:t>
            </a:r>
          </a:p>
        </p:txBody>
      </p:sp>
      <p:graphicFrame>
        <p:nvGraphicFramePr>
          <p:cNvPr id="139293" name="Group 29">
            <a:extLst>
              <a:ext uri="{FF2B5EF4-FFF2-40B4-BE49-F238E27FC236}">
                <a16:creationId xmlns:a16="http://schemas.microsoft.com/office/drawing/2014/main" id="{C18992A1-81D9-D9DF-B8ED-94056719F0C9}"/>
              </a:ext>
            </a:extLst>
          </p:cNvPr>
          <p:cNvGraphicFramePr>
            <a:graphicFrameLocks noGrp="1"/>
          </p:cNvGraphicFramePr>
          <p:nvPr/>
        </p:nvGraphicFramePr>
        <p:xfrm>
          <a:off x="857250" y="1628775"/>
          <a:ext cx="7543800" cy="4148138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Algorithm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Time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Notes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selection-sort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(unsorted priority queue)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slow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for small data sets (&lt; 1K)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insertion-sort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(sorted priority queue)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slow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for small data sets (&lt; 1K)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heap-sort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(using a heap)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fast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trees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for large data sets (1K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ahoma" pitchFamily="34" charset="0"/>
                        </a:rPr>
                        <a:t>—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1M)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merge-sort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fast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sequential data access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for huge data sets (&gt; 1M)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1CCDEA1-0750-FBB0-238F-DB516807B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600" y="5670550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34738BF-3A25-1CA8-C29B-2C3D822D4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Quick-Sort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227FF42B-06CE-DCDA-6A22-2D89E491C1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76400"/>
            <a:ext cx="4114800" cy="4572000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solidFill>
                  <a:schemeClr val="tx2"/>
                </a:solidFill>
              </a:rPr>
              <a:t>Quick-sort</a:t>
            </a:r>
            <a:r>
              <a:rPr lang="en-US" altLang="en-US" sz="2000" dirty="0"/>
              <a:t> is a randomized sorting algorithm based on the divide-and-conquer strategy:</a:t>
            </a:r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Divide</a:t>
            </a:r>
            <a:r>
              <a:rPr lang="en-US" altLang="en-US" sz="1800" dirty="0"/>
              <a:t>: pick a random element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1800" dirty="0"/>
              <a:t> (called </a:t>
            </a:r>
            <a:r>
              <a:rPr lang="en-US" altLang="en-US" sz="1800" dirty="0">
                <a:solidFill>
                  <a:srgbClr val="FF0000"/>
                </a:solidFill>
              </a:rPr>
              <a:t>pivot</a:t>
            </a:r>
            <a:r>
              <a:rPr lang="en-US" altLang="en-US" sz="1800" dirty="0"/>
              <a:t>) and partition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/>
              <a:t> into</a:t>
            </a:r>
            <a:r>
              <a:rPr lang="en-US" altLang="en-US" sz="1600" dirty="0"/>
              <a:t> </a:t>
            </a:r>
          </a:p>
          <a:p>
            <a:pPr lvl="2" eaLnBrk="1" hangingPunct="1"/>
            <a:r>
              <a:rPr lang="en-US" altLang="en-US" sz="1600" b="1" i="1" dirty="0">
                <a:latin typeface="Times New Roman" panose="02020603050405020304" pitchFamily="18" charset="0"/>
              </a:rPr>
              <a:t>L </a:t>
            </a:r>
            <a:r>
              <a:rPr lang="en-US" altLang="en-US" sz="1600" dirty="0"/>
              <a:t>elements less than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x</a:t>
            </a:r>
          </a:p>
          <a:p>
            <a:pPr lvl="2" eaLnBrk="1" hangingPunct="1"/>
            <a:r>
              <a:rPr lang="en-US" altLang="en-US" sz="1600" b="1" i="1" dirty="0">
                <a:latin typeface="Times New Roman" panose="02020603050405020304" pitchFamily="18" charset="0"/>
              </a:rPr>
              <a:t>E </a:t>
            </a:r>
            <a:r>
              <a:rPr lang="en-US" altLang="en-US" sz="1600" dirty="0"/>
              <a:t>elements equal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x</a:t>
            </a:r>
            <a:endParaRPr lang="en-US" altLang="en-US" sz="1600" dirty="0"/>
          </a:p>
          <a:p>
            <a:pPr lvl="2" eaLnBrk="1" hangingPunct="1"/>
            <a:r>
              <a:rPr lang="en-US" altLang="en-US" sz="1600" b="1" i="1" dirty="0">
                <a:latin typeface="Times New Roman" panose="02020603050405020304" pitchFamily="18" charset="0"/>
              </a:rPr>
              <a:t>G </a:t>
            </a:r>
            <a:r>
              <a:rPr lang="en-US" altLang="en-US" sz="1600" dirty="0"/>
              <a:t>elements greater than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x</a:t>
            </a:r>
            <a:endParaRPr lang="en-US" altLang="en-US" sz="1600" dirty="0"/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Recur</a:t>
            </a:r>
            <a:r>
              <a:rPr lang="en-US" altLang="en-US" sz="1800" dirty="0"/>
              <a:t>: sort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L </a:t>
            </a:r>
            <a:r>
              <a:rPr lang="en-US" altLang="en-US" sz="1800" dirty="0"/>
              <a:t>and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G</a:t>
            </a:r>
            <a:endParaRPr lang="en-US" altLang="en-US" sz="1800" dirty="0"/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Conquer</a:t>
            </a:r>
            <a:r>
              <a:rPr lang="en-US" altLang="en-US" sz="1800" dirty="0"/>
              <a:t>: join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1800" dirty="0"/>
              <a:t>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i="1" dirty="0"/>
              <a:t> </a:t>
            </a:r>
            <a:r>
              <a:rPr lang="en-US" altLang="en-US" sz="1800" dirty="0"/>
              <a:t>and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3A319955-0B26-A427-3FF8-54226026A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6351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4D65663C-8BF8-4491-6DC5-817A3AB99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600" y="2238375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483605-BB9A-1CAA-C68F-CF6D293D0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409825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7FB8028B-A481-21A7-CBDA-80034259B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00" y="206692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65D011CD-B96B-DAE3-1C71-0D270F64C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0" y="17240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F37AFD25-E9E1-28F8-5B39-86519E043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352675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E890A707-DE42-CDBF-EB05-4B9A8B2BC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18954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26902DE0-969F-6368-ADE7-96F643E5B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30956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3" name="Rectangle 13">
            <a:extLst>
              <a:ext uri="{FF2B5EF4-FFF2-40B4-BE49-F238E27FC236}">
                <a16:creationId xmlns:a16="http://schemas.microsoft.com/office/drawing/2014/main" id="{1279B698-BE09-CC74-A601-66E4D29D8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1845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4" name="Rectangle 14">
            <a:extLst>
              <a:ext uri="{FF2B5EF4-FFF2-40B4-BE49-F238E27FC236}">
                <a16:creationId xmlns:a16="http://schemas.microsoft.com/office/drawing/2014/main" id="{C7A906AD-A13F-438C-B097-F84A4424D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900" y="33559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5615" name="Group 15">
            <a:extLst>
              <a:ext uri="{FF2B5EF4-FFF2-40B4-BE49-F238E27FC236}">
                <a16:creationId xmlns:a16="http://schemas.microsoft.com/office/drawing/2014/main" id="{0E150C76-F12F-D758-CBFD-D46878CE4F8E}"/>
              </a:ext>
            </a:extLst>
          </p:cNvPr>
          <p:cNvGrpSpPr>
            <a:grpSpLocks/>
          </p:cNvGrpSpPr>
          <p:nvPr/>
        </p:nvGrpSpPr>
        <p:grpSpPr bwMode="auto">
          <a:xfrm>
            <a:off x="5111750" y="3705225"/>
            <a:ext cx="1054100" cy="457200"/>
            <a:chOff x="3320" y="2304"/>
            <a:chExt cx="664" cy="384"/>
          </a:xfrm>
        </p:grpSpPr>
        <p:sp>
          <p:nvSpPr>
            <p:cNvPr id="25626" name="Rectangle 16">
              <a:extLst>
                <a:ext uri="{FF2B5EF4-FFF2-40B4-BE49-F238E27FC236}">
                  <a16:creationId xmlns:a16="http://schemas.microsoft.com/office/drawing/2014/main" id="{0E12A96D-5F4F-9B0A-1CE4-BA0BD74CE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2304"/>
              <a:ext cx="14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7" name="Rectangle 17">
              <a:extLst>
                <a:ext uri="{FF2B5EF4-FFF2-40B4-BE49-F238E27FC236}">
                  <a16:creationId xmlns:a16="http://schemas.microsoft.com/office/drawing/2014/main" id="{726A822E-19F6-EAA9-8676-0015F6ED5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2448"/>
              <a:ext cx="144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8" name="Rectangle 18">
              <a:extLst>
                <a:ext uri="{FF2B5EF4-FFF2-40B4-BE49-F238E27FC236}">
                  <a16:creationId xmlns:a16="http://schemas.microsoft.com/office/drawing/2014/main" id="{0FD622D1-1E59-32D3-A78A-DD7FDD21D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400"/>
              <a:ext cx="144" cy="28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5616" name="Rectangle 19">
            <a:extLst>
              <a:ext uri="{FF2B5EF4-FFF2-40B4-BE49-F238E27FC236}">
                <a16:creationId xmlns:a16="http://schemas.microsoft.com/office/drawing/2014/main" id="{94B7AD0E-764B-1D87-0288-4C7AB7E53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353377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5617" name="AutoShape 20">
            <a:extLst>
              <a:ext uri="{FF2B5EF4-FFF2-40B4-BE49-F238E27FC236}">
                <a16:creationId xmlns:a16="http://schemas.microsoft.com/office/drawing/2014/main" id="{31ACF70B-4FF3-9BA3-272B-A79541D90658}"/>
              </a:ext>
            </a:extLst>
          </p:cNvPr>
          <p:cNvSpPr>
            <a:spLocks/>
          </p:cNvSpPr>
          <p:nvPr/>
        </p:nvSpPr>
        <p:spPr bwMode="auto">
          <a:xfrm rot="-5400000">
            <a:off x="54864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25618" name="AutoShape 21">
            <a:extLst>
              <a:ext uri="{FF2B5EF4-FFF2-40B4-BE49-F238E27FC236}">
                <a16:creationId xmlns:a16="http://schemas.microsoft.com/office/drawing/2014/main" id="{FA021186-FEA5-BEA7-A049-C282D0AD1879}"/>
              </a:ext>
            </a:extLst>
          </p:cNvPr>
          <p:cNvSpPr>
            <a:spLocks/>
          </p:cNvSpPr>
          <p:nvPr/>
        </p:nvSpPr>
        <p:spPr bwMode="auto">
          <a:xfrm rot="-5400000">
            <a:off x="79248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5619" name="AutoShape 22">
            <a:extLst>
              <a:ext uri="{FF2B5EF4-FFF2-40B4-BE49-F238E27FC236}">
                <a16:creationId xmlns:a16="http://schemas.microsoft.com/office/drawing/2014/main" id="{F021AD0E-13CA-C69A-30FA-5E4D0AF3FC2D}"/>
              </a:ext>
            </a:extLst>
          </p:cNvPr>
          <p:cNvSpPr>
            <a:spLocks/>
          </p:cNvSpPr>
          <p:nvPr/>
        </p:nvSpPr>
        <p:spPr bwMode="auto">
          <a:xfrm rot="-5400000">
            <a:off x="6705600" y="3990975"/>
            <a:ext cx="304800" cy="609600"/>
          </a:xfrm>
          <a:prstGeom prst="leftBrace">
            <a:avLst>
              <a:gd name="adj1" fmla="val 1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5620" name="Rectangle 23">
            <a:extLst>
              <a:ext uri="{FF2B5EF4-FFF2-40B4-BE49-F238E27FC236}">
                <a16:creationId xmlns:a16="http://schemas.microsoft.com/office/drawing/2014/main" id="{4E6E9922-3FD5-DAAF-A014-238E15903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0" y="5041900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1" name="Rectangle 24">
            <a:extLst>
              <a:ext uri="{FF2B5EF4-FFF2-40B4-BE49-F238E27FC236}">
                <a16:creationId xmlns:a16="http://schemas.microsoft.com/office/drawing/2014/main" id="{85F26660-462B-327C-7821-E763F9A37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953000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2" name="Rectangle 25">
            <a:extLst>
              <a:ext uri="{FF2B5EF4-FFF2-40B4-BE49-F238E27FC236}">
                <a16:creationId xmlns:a16="http://schemas.microsoft.com/office/drawing/2014/main" id="{5F32A44E-17BF-D12F-25BA-674CF8EEF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5556250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3" name="Rectangle 26">
            <a:extLst>
              <a:ext uri="{FF2B5EF4-FFF2-40B4-BE49-F238E27FC236}">
                <a16:creationId xmlns:a16="http://schemas.microsoft.com/office/drawing/2014/main" id="{22F67D8A-F3B4-257D-DA69-5F3B6669C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384800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5624" name="Rectangle 27">
            <a:extLst>
              <a:ext uri="{FF2B5EF4-FFF2-40B4-BE49-F238E27FC236}">
                <a16:creationId xmlns:a16="http://schemas.microsoft.com/office/drawing/2014/main" id="{80847993-BC49-29FF-E729-1D4C55B34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727700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5" name="Rectangle 28">
            <a:extLst>
              <a:ext uri="{FF2B5EF4-FFF2-40B4-BE49-F238E27FC236}">
                <a16:creationId xmlns:a16="http://schemas.microsoft.com/office/drawing/2014/main" id="{E05509E8-F9FF-0912-F786-D6E26AB9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00" y="5213350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0203FAE-CB50-AEFD-97A2-EB20D9704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Partition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11EAAB1-FC4C-220A-64C4-2BB3DD9D0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3962400" cy="5029200"/>
          </a:xfrm>
        </p:spPr>
        <p:txBody>
          <a:bodyPr/>
          <a:lstStyle/>
          <a:p>
            <a:pPr eaLnBrk="1" hangingPunct="1"/>
            <a:r>
              <a:rPr lang="en-US" altLang="en-US" sz="2000"/>
              <a:t>We partition an input sequence as follows:</a:t>
            </a:r>
          </a:p>
          <a:p>
            <a:pPr lvl="1" eaLnBrk="1" hangingPunct="1"/>
            <a:r>
              <a:rPr lang="en-US" altLang="en-US" sz="1800"/>
              <a:t>We remove, in turn, each element </a:t>
            </a:r>
            <a:r>
              <a:rPr lang="en-US" altLang="en-US" sz="1800" b="1" i="1">
                <a:latin typeface="Times New Roman" panose="02020603050405020304" pitchFamily="18" charset="0"/>
              </a:rPr>
              <a:t>y</a:t>
            </a:r>
            <a:r>
              <a:rPr lang="en-US" altLang="en-US" sz="1800"/>
              <a:t> from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and </a:t>
            </a:r>
          </a:p>
          <a:p>
            <a:pPr lvl="1" eaLnBrk="1" hangingPunct="1"/>
            <a:r>
              <a:rPr lang="en-US" altLang="en-US" sz="1800"/>
              <a:t>We insert </a:t>
            </a:r>
            <a:r>
              <a:rPr lang="en-US" altLang="en-US" sz="1800" b="1" i="1">
                <a:latin typeface="Times New Roman" panose="02020603050405020304" pitchFamily="18" charset="0"/>
              </a:rPr>
              <a:t>y</a:t>
            </a:r>
            <a:r>
              <a:rPr lang="en-US" altLang="en-US" sz="1800"/>
              <a:t> into </a:t>
            </a:r>
            <a:r>
              <a:rPr lang="en-US" altLang="en-US" sz="1800" b="1" i="1">
                <a:latin typeface="Times New Roman" panose="02020603050405020304" pitchFamily="18" charset="0"/>
              </a:rPr>
              <a:t>L</a:t>
            </a:r>
            <a:r>
              <a:rPr lang="en-US" altLang="en-US" sz="1800"/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 b="1" i="1"/>
              <a:t> </a:t>
            </a:r>
            <a:r>
              <a:rPr lang="en-US" altLang="en-US" sz="1800"/>
              <a:t>or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,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depending on the result of the comparison with the pivot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</a:p>
          <a:p>
            <a:pPr lvl="1" eaLnBrk="1" hangingPunct="1"/>
            <a:endParaRPr lang="en-US" altLang="en-US" sz="1600" b="1" i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/>
              <a:t>Each insertion and removal is at the beginning or at the end of a sequence, and hence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(1)</a:t>
            </a:r>
            <a:r>
              <a:rPr lang="en-US" altLang="en-US" sz="2000"/>
              <a:t> time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Thus, the partition step of quick-sort takes </a:t>
            </a:r>
            <a:r>
              <a:rPr lang="en-US" altLang="en-US" sz="2000" b="1" i="1">
                <a:solidFill>
                  <a:srgbClr val="FF0066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rgbClr val="FF00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89A1C310-2D72-64EE-77F8-96314C36D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371600"/>
            <a:ext cx="4114800" cy="47863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partition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S,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position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pivot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subsequences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the 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elements of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less than, equal to,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or greater than the pivot, resp.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empty sequences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&lt;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 if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{ </a:t>
            </a:r>
            <a:r>
              <a:rPr lang="en-US" altLang="en-US" b="1" i="1">
                <a:latin typeface="Times New Roman" panose="02020603050405020304" pitchFamily="18" charset="0"/>
              </a:rPr>
              <a:t>y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&gt; </a:t>
            </a:r>
            <a:r>
              <a:rPr lang="en-US" altLang="en-US" b="1" i="1">
                <a:latin typeface="Times New Roman" panose="02020603050405020304" pitchFamily="18" charset="0"/>
              </a:rPr>
              <a:t>x </a:t>
            </a:r>
            <a:r>
              <a:rPr lang="en-US" altLang="en-US">
                <a:latin typeface="Times New Roman" panose="02020603050405020304" pitchFamily="18" charset="0"/>
              </a:rPr>
              <a:t>}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G.insertLast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78019DB-FE3D-243A-F5E6-463FAF0A5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Quick-Sort Tree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C96B301-9094-0DAC-7990-CA79EEAE1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7924800" cy="2743200"/>
          </a:xfrm>
        </p:spPr>
        <p:txBody>
          <a:bodyPr/>
          <a:lstStyle/>
          <a:p>
            <a:pPr eaLnBrk="1" hangingPunct="1"/>
            <a:r>
              <a:rPr lang="en-US" altLang="en-US" sz="2000"/>
              <a:t>An execution of quick-sort is depicted by a binary tree</a:t>
            </a:r>
          </a:p>
          <a:p>
            <a:pPr lvl="1" eaLnBrk="1" hangingPunct="1"/>
            <a:r>
              <a:rPr lang="en-US" altLang="en-US" sz="1800"/>
              <a:t>Each node represents a recursive call of quick-sort and stores</a:t>
            </a:r>
          </a:p>
          <a:p>
            <a:pPr lvl="2" eaLnBrk="1" hangingPunct="1"/>
            <a:r>
              <a:rPr lang="en-US" altLang="en-US" sz="1600"/>
              <a:t>Unsorted sequence before the execution and its pivot</a:t>
            </a:r>
          </a:p>
          <a:p>
            <a:pPr lvl="2" eaLnBrk="1" hangingPunct="1"/>
            <a:r>
              <a:rPr lang="en-US" altLang="en-US" sz="1600"/>
              <a:t>Sorted sequence at the end of the execution</a:t>
            </a:r>
          </a:p>
          <a:p>
            <a:pPr lvl="1" eaLnBrk="1" hangingPunct="1"/>
            <a:r>
              <a:rPr lang="en-US" altLang="en-US" sz="1800"/>
              <a:t>The root is the initial call </a:t>
            </a:r>
          </a:p>
          <a:p>
            <a:pPr lvl="1" eaLnBrk="1" hangingPunct="1"/>
            <a:r>
              <a:rPr lang="en-US" altLang="en-US" sz="1800"/>
              <a:t>The leaves are calls on subsequences of size 0 or 1</a:t>
            </a:r>
          </a:p>
        </p:txBody>
      </p:sp>
      <p:sp>
        <p:nvSpPr>
          <p:cNvPr id="27652" name="AutoShape 4">
            <a:extLst>
              <a:ext uri="{FF2B5EF4-FFF2-40B4-BE49-F238E27FC236}">
                <a16:creationId xmlns:a16="http://schemas.microsoft.com/office/drawing/2014/main" id="{AD9394CF-49BD-3456-A06F-806B0D328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700" y="3962400"/>
            <a:ext cx="42672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7  4  9  </a:t>
            </a:r>
            <a:r>
              <a:rPr lang="en-US" altLang="en-US" sz="2400" u="sng">
                <a:solidFill>
                  <a:srgbClr val="FF0066"/>
                </a:solidFill>
                <a:latin typeface="Tahoma" panose="020B0604030504040204" pitchFamily="34" charset="0"/>
              </a:rPr>
              <a:t>6</a:t>
            </a:r>
            <a:r>
              <a:rPr lang="en-US" altLang="en-US" sz="2400">
                <a:latin typeface="Tahoma" panose="020B0604030504040204" pitchFamily="34" charset="0"/>
              </a:rPr>
              <a:t>  2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2  4  </a:t>
            </a:r>
            <a:r>
              <a:rPr lang="en-US" altLang="en-US" sz="2400" u="sng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  7  9</a:t>
            </a:r>
          </a:p>
        </p:txBody>
      </p:sp>
      <p:sp>
        <p:nvSpPr>
          <p:cNvPr id="27653" name="AutoShape 5">
            <a:extLst>
              <a:ext uri="{FF2B5EF4-FFF2-40B4-BE49-F238E27FC236}">
                <a16:creationId xmlns:a16="http://schemas.microsoft.com/office/drawing/2014/main" id="{AEBB7034-D30B-8843-72CA-267FC3FE3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876800"/>
            <a:ext cx="21336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u="sng">
                <a:solidFill>
                  <a:srgbClr val="FF0066"/>
                </a:solidFill>
                <a:latin typeface="Tahoma" panose="020B0604030504040204" pitchFamily="34" charset="0"/>
              </a:rPr>
              <a:t>4</a:t>
            </a:r>
            <a:r>
              <a:rPr lang="en-US" altLang="en-US" sz="2400">
                <a:latin typeface="Tahoma" panose="020B0604030504040204" pitchFamily="34" charset="0"/>
              </a:rPr>
              <a:t>  2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  </a:t>
            </a:r>
            <a:r>
              <a:rPr lang="en-US" altLang="en-US" sz="2400" u="sng">
                <a:solidFill>
                  <a:srgbClr val="0000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7654" name="AutoShape 6">
            <a:extLst>
              <a:ext uri="{FF2B5EF4-FFF2-40B4-BE49-F238E27FC236}">
                <a16:creationId xmlns:a16="http://schemas.microsoft.com/office/drawing/2014/main" id="{51EEE80E-DCDB-8DB4-0996-9E55EA7BA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876800"/>
            <a:ext cx="21336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u="sng">
                <a:solidFill>
                  <a:srgbClr val="FF0066"/>
                </a:solidFill>
                <a:latin typeface="Tahoma" panose="020B0604030504040204" pitchFamily="34" charset="0"/>
              </a:rPr>
              <a:t>7</a:t>
            </a:r>
            <a:r>
              <a:rPr lang="en-US" altLang="en-US" sz="2400">
                <a:latin typeface="Tahoma" panose="020B0604030504040204" pitchFamily="34" charset="0"/>
              </a:rPr>
              <a:t>  9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 u="sng">
                <a:solidFill>
                  <a:srgbClr val="000000"/>
                </a:solidFill>
                <a:latin typeface="Tahoma" panose="020B0604030504040204" pitchFamily="34" charset="0"/>
              </a:rPr>
              <a:t>7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  9</a:t>
            </a:r>
          </a:p>
        </p:txBody>
      </p:sp>
      <p:sp>
        <p:nvSpPr>
          <p:cNvPr id="27655" name="AutoShape 7">
            <a:extLst>
              <a:ext uri="{FF2B5EF4-FFF2-40B4-BE49-F238E27FC236}">
                <a16:creationId xmlns:a16="http://schemas.microsoft.com/office/drawing/2014/main" id="{8E6DF8AD-C6A0-6395-2402-786D4AAC4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5791200"/>
            <a:ext cx="1028700" cy="4572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2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7656" name="AutoShape 8">
            <a:extLst>
              <a:ext uri="{FF2B5EF4-FFF2-40B4-BE49-F238E27FC236}">
                <a16:creationId xmlns:a16="http://schemas.microsoft.com/office/drawing/2014/main" id="{D40788E5-F191-1AF9-DA61-2E64C825F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791200"/>
            <a:ext cx="990600" cy="4572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7657" name="AutoShape 9">
            <a:extLst>
              <a:ext uri="{FF2B5EF4-FFF2-40B4-BE49-F238E27FC236}">
                <a16:creationId xmlns:a16="http://schemas.microsoft.com/office/drawing/2014/main" id="{41BED969-F27D-9C00-00D2-458D45E0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791200"/>
            <a:ext cx="1009650" cy="4572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7658" name="AutoShape 10">
            <a:extLst>
              <a:ext uri="{FF2B5EF4-FFF2-40B4-BE49-F238E27FC236}">
                <a16:creationId xmlns:a16="http://schemas.microsoft.com/office/drawing/2014/main" id="{96D2AD91-D102-6323-BE72-559E9B55E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791200"/>
            <a:ext cx="981075" cy="4572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9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cxnSp>
        <p:nvCxnSpPr>
          <p:cNvPr id="27659" name="AutoShape 11">
            <a:extLst>
              <a:ext uri="{FF2B5EF4-FFF2-40B4-BE49-F238E27FC236}">
                <a16:creationId xmlns:a16="http://schemas.microsoft.com/office/drawing/2014/main" id="{892BE54D-8C9F-2F0C-C7FB-E07EF4349CF8}"/>
              </a:ext>
            </a:extLst>
          </p:cNvPr>
          <p:cNvCxnSpPr>
            <a:cxnSpLocks noChangeShapeType="1"/>
            <a:stCxn id="27653" idx="0"/>
            <a:endCxn id="27652" idx="2"/>
          </p:cNvCxnSpPr>
          <p:nvPr/>
        </p:nvCxnSpPr>
        <p:spPr bwMode="auto">
          <a:xfrm flipV="1">
            <a:off x="3048000" y="4429125"/>
            <a:ext cx="15113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0" name="AutoShape 12">
            <a:extLst>
              <a:ext uri="{FF2B5EF4-FFF2-40B4-BE49-F238E27FC236}">
                <a16:creationId xmlns:a16="http://schemas.microsoft.com/office/drawing/2014/main" id="{9206D3B9-1DC1-8B01-FA70-B8BC03C949CE}"/>
              </a:ext>
            </a:extLst>
          </p:cNvPr>
          <p:cNvCxnSpPr>
            <a:cxnSpLocks noChangeShapeType="1"/>
            <a:stCxn id="27654" idx="0"/>
            <a:endCxn id="27652" idx="2"/>
          </p:cNvCxnSpPr>
          <p:nvPr/>
        </p:nvCxnSpPr>
        <p:spPr bwMode="auto">
          <a:xfrm flipH="1" flipV="1">
            <a:off x="4559300" y="4429125"/>
            <a:ext cx="15367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1" name="AutoShape 13">
            <a:extLst>
              <a:ext uri="{FF2B5EF4-FFF2-40B4-BE49-F238E27FC236}">
                <a16:creationId xmlns:a16="http://schemas.microsoft.com/office/drawing/2014/main" id="{C3A957CB-2471-4576-F7C3-B78D5C78A84A}"/>
              </a:ext>
            </a:extLst>
          </p:cNvPr>
          <p:cNvCxnSpPr>
            <a:cxnSpLocks noChangeShapeType="1"/>
            <a:stCxn id="27655" idx="0"/>
            <a:endCxn id="27653" idx="2"/>
          </p:cNvCxnSpPr>
          <p:nvPr/>
        </p:nvCxnSpPr>
        <p:spPr bwMode="auto">
          <a:xfrm flipV="1">
            <a:off x="2381250" y="5343525"/>
            <a:ext cx="6667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2" name="AutoShape 14">
            <a:extLst>
              <a:ext uri="{FF2B5EF4-FFF2-40B4-BE49-F238E27FC236}">
                <a16:creationId xmlns:a16="http://schemas.microsoft.com/office/drawing/2014/main" id="{CB6A5BD0-F7B0-CCFC-640C-0E5B1C8E73FD}"/>
              </a:ext>
            </a:extLst>
          </p:cNvPr>
          <p:cNvCxnSpPr>
            <a:cxnSpLocks noChangeShapeType="1"/>
            <a:stCxn id="27657" idx="0"/>
            <a:endCxn id="27654" idx="2"/>
          </p:cNvCxnSpPr>
          <p:nvPr/>
        </p:nvCxnSpPr>
        <p:spPr bwMode="auto">
          <a:xfrm flipV="1">
            <a:off x="5410200" y="5343525"/>
            <a:ext cx="6858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3" name="AutoShape 15">
            <a:extLst>
              <a:ext uri="{FF2B5EF4-FFF2-40B4-BE49-F238E27FC236}">
                <a16:creationId xmlns:a16="http://schemas.microsoft.com/office/drawing/2014/main" id="{9494CC3E-CD49-56F0-6876-B02D0898020B}"/>
              </a:ext>
            </a:extLst>
          </p:cNvPr>
          <p:cNvCxnSpPr>
            <a:cxnSpLocks noChangeShapeType="1"/>
            <a:stCxn id="27653" idx="2"/>
            <a:endCxn id="27656" idx="0"/>
          </p:cNvCxnSpPr>
          <p:nvPr/>
        </p:nvCxnSpPr>
        <p:spPr bwMode="auto">
          <a:xfrm>
            <a:off x="3048000" y="5343525"/>
            <a:ext cx="7239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4" name="AutoShape 16">
            <a:extLst>
              <a:ext uri="{FF2B5EF4-FFF2-40B4-BE49-F238E27FC236}">
                <a16:creationId xmlns:a16="http://schemas.microsoft.com/office/drawing/2014/main" id="{3F82823A-325C-2D03-4AEA-08519D55FBF6}"/>
              </a:ext>
            </a:extLst>
          </p:cNvPr>
          <p:cNvCxnSpPr>
            <a:cxnSpLocks noChangeShapeType="1"/>
            <a:stCxn id="27654" idx="2"/>
            <a:endCxn id="27658" idx="0"/>
          </p:cNvCxnSpPr>
          <p:nvPr/>
        </p:nvCxnSpPr>
        <p:spPr bwMode="auto">
          <a:xfrm>
            <a:off x="6096000" y="5343525"/>
            <a:ext cx="719138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8750480-7F5D-D501-633B-D79970B71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Execution Example</a:t>
            </a:r>
          </a:p>
        </p:txBody>
      </p:sp>
      <p:sp>
        <p:nvSpPr>
          <p:cNvPr id="28675" name="AutoShape 4">
            <a:extLst>
              <a:ext uri="{FF2B5EF4-FFF2-40B4-BE49-F238E27FC236}">
                <a16:creationId xmlns:a16="http://schemas.microsoft.com/office/drawing/2014/main" id="{3951D883-4FE8-7BF8-826A-413534643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1163" y="33131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t>7</a:t>
            </a:r>
            <a:r>
              <a:rPr lang="en-US" altLang="en-US">
                <a:latin typeface="Tahoma" panose="020B0604030504040204" pitchFamily="34" charset="0"/>
              </a:rPr>
              <a:t>  9  </a:t>
            </a:r>
            <a:r>
              <a:rPr lang="en-US" altLang="en-US" u="sng">
                <a:solidFill>
                  <a:srgbClr val="000000"/>
                </a:solidFill>
                <a:latin typeface="Tahoma" panose="020B0604030504040204" pitchFamily="34" charset="0"/>
              </a:rPr>
              <a:t>7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17  </a:t>
            </a:r>
            <a:r>
              <a:rPr lang="en-US" altLang="en-US" u="sng">
                <a:solidFill>
                  <a:srgbClr val="FF0066"/>
                </a:solidFill>
                <a:latin typeface="Tahoma" panose="020B0604030504040204" pitchFamily="34" charset="0"/>
              </a:rPr>
              <a:t>7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  9</a:t>
            </a:r>
          </a:p>
        </p:txBody>
      </p:sp>
      <p:sp>
        <p:nvSpPr>
          <p:cNvPr id="28676" name="AutoShape 5">
            <a:extLst>
              <a:ext uri="{FF2B5EF4-FFF2-40B4-BE49-F238E27FC236}">
                <a16:creationId xmlns:a16="http://schemas.microsoft.com/office/drawing/2014/main" id="{A965D452-E21A-72A8-6886-C9A8CA941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338638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8 </a:t>
            </a:r>
            <a:r>
              <a:rPr lang="en-US" altLang="en-US" b="1">
                <a:solidFill>
                  <a:schemeClr val="folHlink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8</a:t>
            </a:r>
          </a:p>
        </p:txBody>
      </p:sp>
      <p:cxnSp>
        <p:nvCxnSpPr>
          <p:cNvPr id="28677" name="AutoShape 6">
            <a:extLst>
              <a:ext uri="{FF2B5EF4-FFF2-40B4-BE49-F238E27FC236}">
                <a16:creationId xmlns:a16="http://schemas.microsoft.com/office/drawing/2014/main" id="{5EDF6202-946C-A6EC-3C70-49BE2027568D}"/>
              </a:ext>
            </a:extLst>
          </p:cNvPr>
          <p:cNvCxnSpPr>
            <a:cxnSpLocks noChangeShapeType="1"/>
            <a:stCxn id="28676" idx="0"/>
            <a:endCxn id="28675" idx="2"/>
          </p:cNvCxnSpPr>
          <p:nvPr/>
        </p:nvCxnSpPr>
        <p:spPr bwMode="auto">
          <a:xfrm flipV="1">
            <a:off x="5681663" y="3749675"/>
            <a:ext cx="10906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8" name="AutoShape 7">
            <a:extLst>
              <a:ext uri="{FF2B5EF4-FFF2-40B4-BE49-F238E27FC236}">
                <a16:creationId xmlns:a16="http://schemas.microsoft.com/office/drawing/2014/main" id="{44A38C74-47D5-DEB4-879B-CC421B4AD98E}"/>
              </a:ext>
            </a:extLst>
          </p:cNvPr>
          <p:cNvCxnSpPr>
            <a:cxnSpLocks noChangeShapeType="1"/>
            <a:stCxn id="28691" idx="0"/>
            <a:endCxn id="28675" idx="2"/>
          </p:cNvCxnSpPr>
          <p:nvPr/>
        </p:nvCxnSpPr>
        <p:spPr bwMode="auto">
          <a:xfrm flipH="1" flipV="1">
            <a:off x="6772275" y="3749675"/>
            <a:ext cx="1042988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79" name="AutoShape 8">
            <a:extLst>
              <a:ext uri="{FF2B5EF4-FFF2-40B4-BE49-F238E27FC236}">
                <a16:creationId xmlns:a16="http://schemas.microsoft.com/office/drawing/2014/main" id="{BB453F73-8A8A-3DD8-218C-C84995DD0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2860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7  2  9  4  3  7  </a:t>
            </a:r>
            <a:r>
              <a:rPr lang="en-US" altLang="en-US" u="sng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lang="en-US" altLang="en-US">
                <a:latin typeface="Tahoma" panose="020B0604030504040204" pitchFamily="34" charset="0"/>
              </a:rPr>
              <a:t>  1 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1  2  3  4  </a:t>
            </a:r>
            <a:r>
              <a:rPr lang="en-US" altLang="en-US" u="sng">
                <a:solidFill>
                  <a:srgbClr val="FF0066"/>
                </a:solidFill>
                <a:latin typeface="Tahoma" panose="020B0604030504040204" pitchFamily="34" charset="0"/>
              </a:rPr>
              <a:t>6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  7  7  9</a:t>
            </a:r>
          </a:p>
        </p:txBody>
      </p:sp>
      <p:cxnSp>
        <p:nvCxnSpPr>
          <p:cNvPr id="28680" name="AutoShape 9">
            <a:extLst>
              <a:ext uri="{FF2B5EF4-FFF2-40B4-BE49-F238E27FC236}">
                <a16:creationId xmlns:a16="http://schemas.microsoft.com/office/drawing/2014/main" id="{BE58E778-C659-D85C-273E-40AF6F6D82D3}"/>
              </a:ext>
            </a:extLst>
          </p:cNvPr>
          <p:cNvCxnSpPr>
            <a:cxnSpLocks noChangeShapeType="1"/>
            <a:stCxn id="28686" idx="0"/>
            <a:endCxn id="28679" idx="2"/>
          </p:cNvCxnSpPr>
          <p:nvPr/>
        </p:nvCxnSpPr>
        <p:spPr bwMode="auto">
          <a:xfrm flipV="1">
            <a:off x="2352675" y="2735263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1" name="AutoShape 10">
            <a:extLst>
              <a:ext uri="{FF2B5EF4-FFF2-40B4-BE49-F238E27FC236}">
                <a16:creationId xmlns:a16="http://schemas.microsoft.com/office/drawing/2014/main" id="{23A0D299-0340-6955-14B5-CAE78687E2D0}"/>
              </a:ext>
            </a:extLst>
          </p:cNvPr>
          <p:cNvCxnSpPr>
            <a:cxnSpLocks noChangeShapeType="1"/>
            <a:stCxn id="28675" idx="0"/>
            <a:endCxn id="28679" idx="2"/>
          </p:cNvCxnSpPr>
          <p:nvPr/>
        </p:nvCxnSpPr>
        <p:spPr bwMode="auto">
          <a:xfrm flipH="1" flipV="1">
            <a:off x="4572000" y="2735263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2" name="AutoShape 11">
            <a:extLst>
              <a:ext uri="{FF2B5EF4-FFF2-40B4-BE49-F238E27FC236}">
                <a16:creationId xmlns:a16="http://schemas.microsoft.com/office/drawing/2014/main" id="{3A1B910A-B0A4-E8A8-7287-6F5E75574811}"/>
              </a:ext>
            </a:extLst>
          </p:cNvPr>
          <p:cNvCxnSpPr>
            <a:cxnSpLocks noChangeShapeType="1"/>
            <a:stCxn id="28687" idx="0"/>
            <a:endCxn id="28686" idx="2"/>
          </p:cNvCxnSpPr>
          <p:nvPr/>
        </p:nvCxnSpPr>
        <p:spPr bwMode="auto">
          <a:xfrm flipV="1">
            <a:off x="1371600" y="3749675"/>
            <a:ext cx="981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3" name="AutoShape 12">
            <a:extLst>
              <a:ext uri="{FF2B5EF4-FFF2-40B4-BE49-F238E27FC236}">
                <a16:creationId xmlns:a16="http://schemas.microsoft.com/office/drawing/2014/main" id="{165C9BE6-2349-4F4D-BB17-8E217EFF91FF}"/>
              </a:ext>
            </a:extLst>
          </p:cNvPr>
          <p:cNvCxnSpPr>
            <a:cxnSpLocks noChangeShapeType="1"/>
            <a:stCxn id="28688" idx="0"/>
            <a:endCxn id="28686" idx="2"/>
          </p:cNvCxnSpPr>
          <p:nvPr/>
        </p:nvCxnSpPr>
        <p:spPr bwMode="auto">
          <a:xfrm flipH="1" flipV="1">
            <a:off x="2352675" y="37496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4" name="AutoShape 13">
            <a:extLst>
              <a:ext uri="{FF2B5EF4-FFF2-40B4-BE49-F238E27FC236}">
                <a16:creationId xmlns:a16="http://schemas.microsoft.com/office/drawing/2014/main" id="{85C59C3B-68DA-C911-EAC9-1A7102D1F855}"/>
              </a:ext>
            </a:extLst>
          </p:cNvPr>
          <p:cNvCxnSpPr>
            <a:cxnSpLocks noChangeShapeType="1"/>
            <a:stCxn id="28689" idx="0"/>
            <a:endCxn id="28688" idx="2"/>
          </p:cNvCxnSpPr>
          <p:nvPr/>
        </p:nvCxnSpPr>
        <p:spPr bwMode="auto">
          <a:xfrm flipV="1">
            <a:off x="2940050" y="47752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5" name="AutoShape 14">
            <a:extLst>
              <a:ext uri="{FF2B5EF4-FFF2-40B4-BE49-F238E27FC236}">
                <a16:creationId xmlns:a16="http://schemas.microsoft.com/office/drawing/2014/main" id="{4D5C322A-F199-4271-7016-26E0BDE3D9A4}"/>
              </a:ext>
            </a:extLst>
          </p:cNvPr>
          <p:cNvCxnSpPr>
            <a:cxnSpLocks noChangeShapeType="1"/>
            <a:stCxn id="28688" idx="2"/>
            <a:endCxn id="28690" idx="0"/>
          </p:cNvCxnSpPr>
          <p:nvPr/>
        </p:nvCxnSpPr>
        <p:spPr bwMode="auto">
          <a:xfrm>
            <a:off x="3419475" y="47752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6" name="AutoShape 15">
            <a:extLst>
              <a:ext uri="{FF2B5EF4-FFF2-40B4-BE49-F238E27FC236}">
                <a16:creationId xmlns:a16="http://schemas.microsoft.com/office/drawing/2014/main" id="{765C3580-9B9B-B53A-E556-ACFB511E3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33131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u="sng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  <a:r>
              <a:rPr lang="en-US" altLang="en-US">
                <a:latin typeface="Tahoma" panose="020B0604030504040204" pitchFamily="34" charset="0"/>
              </a:rPr>
              <a:t>  4  3  1 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  </a:t>
            </a:r>
            <a:r>
              <a:rPr lang="en-US" altLang="en-US" u="sng">
                <a:solidFill>
                  <a:srgbClr val="FF0066"/>
                </a:solidFill>
                <a:latin typeface="Tahoma" panose="020B0604030504040204" pitchFamily="34" charset="0"/>
              </a:rPr>
              <a:t>2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  3  4</a:t>
            </a:r>
          </a:p>
        </p:txBody>
      </p:sp>
      <p:sp>
        <p:nvSpPr>
          <p:cNvPr id="28687" name="AutoShape 16">
            <a:extLst>
              <a:ext uri="{FF2B5EF4-FFF2-40B4-BE49-F238E27FC236}">
                <a16:creationId xmlns:a16="http://schemas.microsoft.com/office/drawing/2014/main" id="{8429A836-5D78-012B-FD6E-E78E7A1A9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3386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1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8688" name="AutoShape 17">
            <a:extLst>
              <a:ext uri="{FF2B5EF4-FFF2-40B4-BE49-F238E27FC236}">
                <a16:creationId xmlns:a16="http://schemas.microsoft.com/office/drawing/2014/main" id="{61209F04-A098-70D5-F770-6D7C494FC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1763" y="43386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4  </a:t>
            </a:r>
            <a:r>
              <a:rPr lang="en-US" altLang="en-US" u="sng">
                <a:solidFill>
                  <a:srgbClr val="000000"/>
                </a:solidFill>
                <a:latin typeface="Tahoma" panose="020B0604030504040204" pitchFamily="34" charset="0"/>
              </a:rPr>
              <a:t>3</a:t>
            </a:r>
            <a:r>
              <a:rPr lang="en-US" altLang="en-US">
                <a:latin typeface="Tahoma" panose="020B0604030504040204" pitchFamily="34" charset="0"/>
              </a:rPr>
              <a:t> 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u="sng">
                <a:solidFill>
                  <a:srgbClr val="FF0066"/>
                </a:solidFill>
                <a:latin typeface="Tahoma" panose="020B0604030504040204" pitchFamily="34" charset="0"/>
              </a:rPr>
              <a:t>3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  4</a:t>
            </a:r>
          </a:p>
        </p:txBody>
      </p:sp>
      <p:sp>
        <p:nvSpPr>
          <p:cNvPr id="28689" name="AutoShape 18">
            <a:extLst>
              <a:ext uri="{FF2B5EF4-FFF2-40B4-BE49-F238E27FC236}">
                <a16:creationId xmlns:a16="http://schemas.microsoft.com/office/drawing/2014/main" id="{BF3FA81C-3642-EFF6-23ED-27D491135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8" y="53641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9 </a:t>
            </a:r>
            <a:r>
              <a:rPr lang="en-US" altLang="en-US" b="1">
                <a:solidFill>
                  <a:schemeClr val="folHlink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9</a:t>
            </a:r>
          </a:p>
        </p:txBody>
      </p:sp>
      <p:sp>
        <p:nvSpPr>
          <p:cNvPr id="28690" name="AutoShape 19">
            <a:extLst>
              <a:ext uri="{FF2B5EF4-FFF2-40B4-BE49-F238E27FC236}">
                <a16:creationId xmlns:a16="http://schemas.microsoft.com/office/drawing/2014/main" id="{3C66E0E3-711D-D94E-65D9-2C3EAED10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53641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4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8691" name="AutoShape 20">
            <a:extLst>
              <a:ext uri="{FF2B5EF4-FFF2-40B4-BE49-F238E27FC236}">
                <a16:creationId xmlns:a16="http://schemas.microsoft.com/office/drawing/2014/main" id="{15A49F03-42A1-C223-319C-7183A1A20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338638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9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8692" name="Line 21">
            <a:extLst>
              <a:ext uri="{FF2B5EF4-FFF2-40B4-BE49-F238E27FC236}">
                <a16:creationId xmlns:a16="http://schemas.microsoft.com/office/drawing/2014/main" id="{ED35D18B-3178-CD51-29AE-4D0879CB49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28194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Line 22">
            <a:extLst>
              <a:ext uri="{FF2B5EF4-FFF2-40B4-BE49-F238E27FC236}">
                <a16:creationId xmlns:a16="http://schemas.microsoft.com/office/drawing/2014/main" id="{44E407C2-6670-9C3A-91FB-9FDCB8E0D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819400"/>
            <a:ext cx="685800" cy="228600"/>
          </a:xfrm>
          <a:prstGeom prst="line">
            <a:avLst/>
          </a:prstGeom>
          <a:noFill/>
          <a:ln w="76200">
            <a:solidFill>
              <a:srgbClr val="FF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4" name="Line 24">
            <a:extLst>
              <a:ext uri="{FF2B5EF4-FFF2-40B4-BE49-F238E27FC236}">
                <a16:creationId xmlns:a16="http://schemas.microsoft.com/office/drawing/2014/main" id="{1BF4039A-658F-B0D1-9D6B-979B73050D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895600"/>
            <a:ext cx="685800" cy="228600"/>
          </a:xfrm>
          <a:prstGeom prst="line">
            <a:avLst/>
          </a:prstGeom>
          <a:noFill/>
          <a:ln w="76200">
            <a:solidFill>
              <a:srgbClr val="FF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5" name="Line 25">
            <a:extLst>
              <a:ext uri="{FF2B5EF4-FFF2-40B4-BE49-F238E27FC236}">
                <a16:creationId xmlns:a16="http://schemas.microsoft.com/office/drawing/2014/main" id="{911414C8-A648-5DE4-4A9D-3FE17A57E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9718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58E2E68-F3C9-AF2E-2D4C-1775F2932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Worst-case Running Time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D1F0DCD-BB84-7E66-0A66-6B0B1E065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001000" cy="2286000"/>
          </a:xfrm>
        </p:spPr>
        <p:txBody>
          <a:bodyPr/>
          <a:lstStyle/>
          <a:p>
            <a:pPr eaLnBrk="1" hangingPunct="1"/>
            <a:r>
              <a:rPr lang="en-US" altLang="en-US" sz="2000"/>
              <a:t>The worst case for quick-sort occurs when the pivot is the unique minimum or maximum element</a:t>
            </a:r>
          </a:p>
          <a:p>
            <a:pPr eaLnBrk="1" hangingPunct="1"/>
            <a:r>
              <a:rPr lang="en-US" altLang="en-US" sz="2000"/>
              <a:t>One of </a:t>
            </a:r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  <a:r>
              <a:rPr lang="en-US" altLang="en-US" sz="2000"/>
              <a:t> and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  <a:r>
              <a:rPr lang="en-US" altLang="en-US" sz="2000"/>
              <a:t> has size 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Symbol" pitchFamily="2" charset="2"/>
              </a:rPr>
              <a:t>- </a:t>
            </a:r>
            <a:r>
              <a:rPr lang="en-US" altLang="en-US" sz="2000">
                <a:latin typeface="Times New Roman" panose="02020603050405020304" pitchFamily="18" charset="0"/>
              </a:rPr>
              <a:t>1 </a:t>
            </a:r>
            <a:r>
              <a:rPr lang="en-US" altLang="en-US" sz="2000"/>
              <a:t>and the other has size </a:t>
            </a:r>
            <a:r>
              <a:rPr lang="en-US" altLang="en-US" sz="2000">
                <a:latin typeface="Times New Roman" panose="02020603050405020304" pitchFamily="18" charset="0"/>
              </a:rPr>
              <a:t>0</a:t>
            </a:r>
          </a:p>
          <a:p>
            <a:pPr eaLnBrk="1" hangingPunct="1"/>
            <a:r>
              <a:rPr lang="en-US" altLang="en-US" sz="2000"/>
              <a:t>The running time is proportional to the sum</a:t>
            </a:r>
          </a:p>
          <a:p>
            <a:pPr algn="ctr" eaLnBrk="1" hangingPunct="1"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1)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…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2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+ 1</a:t>
            </a:r>
            <a:endParaRPr lang="en-US" altLang="en-US" sz="2000"/>
          </a:p>
          <a:p>
            <a:pPr eaLnBrk="1" hangingPunct="1"/>
            <a:r>
              <a:rPr lang="en-US" altLang="en-US" sz="2000"/>
              <a:t>Thus, the worst-case running time of quick-sort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9700" name="AutoShape 4">
            <a:extLst>
              <a:ext uri="{FF2B5EF4-FFF2-40B4-BE49-F238E27FC236}">
                <a16:creationId xmlns:a16="http://schemas.microsoft.com/office/drawing/2014/main" id="{279CBA63-EB2D-3363-833A-293642134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4791075"/>
            <a:ext cx="1304925" cy="217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9701" name="AutoShape 5">
            <a:extLst>
              <a:ext uri="{FF2B5EF4-FFF2-40B4-BE49-F238E27FC236}">
                <a16:creationId xmlns:a16="http://schemas.microsoft.com/office/drawing/2014/main" id="{DD8CD7B3-2682-B502-7BCF-8CEEFF6AB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5600700"/>
            <a:ext cx="762000" cy="217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9702" name="AutoShape 6">
            <a:extLst>
              <a:ext uri="{FF2B5EF4-FFF2-40B4-BE49-F238E27FC236}">
                <a16:creationId xmlns:a16="http://schemas.microsoft.com/office/drawing/2014/main" id="{5044B2B8-A615-B2EB-C1F8-B13855352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791075"/>
            <a:ext cx="360363" cy="217488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03" name="AutoShape 7">
            <a:extLst>
              <a:ext uri="{FF2B5EF4-FFF2-40B4-BE49-F238E27FC236}">
                <a16:creationId xmlns:a16="http://schemas.microsoft.com/office/drawing/2014/main" id="{5DE587C6-2DBC-EAB8-41EB-42A63662A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327650"/>
            <a:ext cx="352425" cy="217488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04" name="AutoShape 8">
            <a:extLst>
              <a:ext uri="{FF2B5EF4-FFF2-40B4-BE49-F238E27FC236}">
                <a16:creationId xmlns:a16="http://schemas.microsoft.com/office/drawing/2014/main" id="{0011B08B-F921-8FCA-0E59-019865757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738" y="6107113"/>
            <a:ext cx="358775" cy="21748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05" name="AutoShape 9">
            <a:extLst>
              <a:ext uri="{FF2B5EF4-FFF2-40B4-BE49-F238E27FC236}">
                <a16:creationId xmlns:a16="http://schemas.microsoft.com/office/drawing/2014/main" id="{4DCADBC7-ECF3-506A-ACB9-891A70816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563" y="6107113"/>
            <a:ext cx="350837" cy="21748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9706" name="AutoShape 10">
            <a:extLst>
              <a:ext uri="{FF2B5EF4-FFF2-40B4-BE49-F238E27FC236}">
                <a16:creationId xmlns:a16="http://schemas.microsoft.com/office/drawing/2014/main" id="{6AB832E2-43E2-856C-DE7E-DAB4E2410DD1}"/>
              </a:ext>
            </a:extLst>
          </p:cNvPr>
          <p:cNvCxnSpPr>
            <a:cxnSpLocks noChangeShapeType="1"/>
            <a:stCxn id="29703" idx="0"/>
            <a:endCxn id="29700" idx="2"/>
          </p:cNvCxnSpPr>
          <p:nvPr/>
        </p:nvCxnSpPr>
        <p:spPr bwMode="auto">
          <a:xfrm flipV="1">
            <a:off x="6119813" y="5008563"/>
            <a:ext cx="525462" cy="3190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7" name="AutoShape 11">
            <a:extLst>
              <a:ext uri="{FF2B5EF4-FFF2-40B4-BE49-F238E27FC236}">
                <a16:creationId xmlns:a16="http://schemas.microsoft.com/office/drawing/2014/main" id="{97D57E3D-320B-2820-95B4-19F6A21C1816}"/>
              </a:ext>
            </a:extLst>
          </p:cNvPr>
          <p:cNvCxnSpPr>
            <a:cxnSpLocks noChangeShapeType="1"/>
            <a:endCxn id="29700" idx="2"/>
          </p:cNvCxnSpPr>
          <p:nvPr/>
        </p:nvCxnSpPr>
        <p:spPr bwMode="auto">
          <a:xfrm flipH="1" flipV="1">
            <a:off x="6645275" y="5008563"/>
            <a:ext cx="593725" cy="2778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8" name="AutoShape 12">
            <a:extLst>
              <a:ext uri="{FF2B5EF4-FFF2-40B4-BE49-F238E27FC236}">
                <a16:creationId xmlns:a16="http://schemas.microsoft.com/office/drawing/2014/main" id="{74890639-94A9-FCCF-A786-91F0F2803C9F}"/>
              </a:ext>
            </a:extLst>
          </p:cNvPr>
          <p:cNvCxnSpPr>
            <a:cxnSpLocks noChangeShapeType="1"/>
            <a:stCxn id="29704" idx="0"/>
            <a:endCxn id="29701" idx="2"/>
          </p:cNvCxnSpPr>
          <p:nvPr/>
        </p:nvCxnSpPr>
        <p:spPr bwMode="auto">
          <a:xfrm flipV="1">
            <a:off x="7477125" y="5818188"/>
            <a:ext cx="244475" cy="288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9" name="AutoShape 13">
            <a:extLst>
              <a:ext uri="{FF2B5EF4-FFF2-40B4-BE49-F238E27FC236}">
                <a16:creationId xmlns:a16="http://schemas.microsoft.com/office/drawing/2014/main" id="{829F0285-FEF1-C718-9E2B-7A71B9E6B213}"/>
              </a:ext>
            </a:extLst>
          </p:cNvPr>
          <p:cNvCxnSpPr>
            <a:cxnSpLocks noChangeShapeType="1"/>
            <a:stCxn id="29701" idx="2"/>
            <a:endCxn id="29705" idx="0"/>
          </p:cNvCxnSpPr>
          <p:nvPr/>
        </p:nvCxnSpPr>
        <p:spPr bwMode="auto">
          <a:xfrm>
            <a:off x="7721600" y="5818188"/>
            <a:ext cx="257175" cy="288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0" name="AutoShape 14">
            <a:extLst>
              <a:ext uri="{FF2B5EF4-FFF2-40B4-BE49-F238E27FC236}">
                <a16:creationId xmlns:a16="http://schemas.microsoft.com/office/drawing/2014/main" id="{3CB61223-847A-D166-9349-7BFF96D82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075" y="4267200"/>
            <a:ext cx="2482850" cy="2190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cxnSp>
        <p:nvCxnSpPr>
          <p:cNvPr id="29711" name="AutoShape 15">
            <a:extLst>
              <a:ext uri="{FF2B5EF4-FFF2-40B4-BE49-F238E27FC236}">
                <a16:creationId xmlns:a16="http://schemas.microsoft.com/office/drawing/2014/main" id="{2A30C384-00EB-88FF-623E-7CB20CA2CD1A}"/>
              </a:ext>
            </a:extLst>
          </p:cNvPr>
          <p:cNvCxnSpPr>
            <a:cxnSpLocks noChangeShapeType="1"/>
            <a:stCxn id="29702" idx="0"/>
            <a:endCxn id="29710" idx="2"/>
          </p:cNvCxnSpPr>
          <p:nvPr/>
        </p:nvCxnSpPr>
        <p:spPr bwMode="auto">
          <a:xfrm flipV="1">
            <a:off x="4371975" y="4486275"/>
            <a:ext cx="115252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2" name="AutoShape 16">
            <a:extLst>
              <a:ext uri="{FF2B5EF4-FFF2-40B4-BE49-F238E27FC236}">
                <a16:creationId xmlns:a16="http://schemas.microsoft.com/office/drawing/2014/main" id="{0C4546F0-AC58-78C7-B2B8-9A84A2584100}"/>
              </a:ext>
            </a:extLst>
          </p:cNvPr>
          <p:cNvCxnSpPr>
            <a:cxnSpLocks noChangeShapeType="1"/>
            <a:stCxn id="29700" idx="0"/>
            <a:endCxn id="29710" idx="2"/>
          </p:cNvCxnSpPr>
          <p:nvPr/>
        </p:nvCxnSpPr>
        <p:spPr bwMode="auto">
          <a:xfrm flipH="1" flipV="1">
            <a:off x="5524500" y="4486275"/>
            <a:ext cx="112077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0545" name="Group 17">
            <a:extLst>
              <a:ext uri="{FF2B5EF4-FFF2-40B4-BE49-F238E27FC236}">
                <a16:creationId xmlns:a16="http://schemas.microsoft.com/office/drawing/2014/main" id="{162ADFDA-3B3F-97B2-510A-87B11B9EDA77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3810000"/>
          <a:ext cx="1371600" cy="2590801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depth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time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  <a:sym typeface="Symbol" pitchFamily="18" charset="2"/>
                        </a:rPr>
                        <a:t>-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  <a:sym typeface="Symbol" pitchFamily="18" charset="2"/>
                        </a:rPr>
                        <a:t>-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 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724" name="Text Box 42">
            <a:extLst>
              <a:ext uri="{FF2B5EF4-FFF2-40B4-BE49-F238E27FC236}">
                <a16:creationId xmlns:a16="http://schemas.microsoft.com/office/drawing/2014/main" id="{124F41A6-D21B-F67D-6B76-357244305003}"/>
              </a:ext>
            </a:extLst>
          </p:cNvPr>
          <p:cNvSpPr txBox="1">
            <a:spLocks noChangeArrowheads="1"/>
          </p:cNvSpPr>
          <p:nvPr/>
        </p:nvSpPr>
        <p:spPr bwMode="auto">
          <a:xfrm rot="2305880">
            <a:off x="7250113" y="5138738"/>
            <a:ext cx="43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3141AB7-DE66-137B-B7D7-36CDE94C4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Expected Running Time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AD5D94D-B2D5-C8D2-04FC-0AF4366757F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066800"/>
            <a:ext cx="8029575" cy="3810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Consider a recursive call of quick-sort on a sequence of size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Good call</a:t>
            </a:r>
            <a:r>
              <a:rPr lang="en-US" altLang="en-US" sz="1800" b="1"/>
              <a:t>:</a:t>
            </a:r>
            <a:r>
              <a:rPr lang="en-US" altLang="en-US" sz="1800"/>
              <a:t> the sizes of </a:t>
            </a:r>
            <a:r>
              <a:rPr lang="en-US" altLang="en-US" sz="1800" b="1" i="1">
                <a:latin typeface="Times New Roman" panose="02020603050405020304" pitchFamily="18" charset="0"/>
              </a:rPr>
              <a:t>L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are each less than 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Bad call</a:t>
            </a:r>
            <a:r>
              <a:rPr lang="en-US" altLang="en-US" sz="1800" b="1"/>
              <a:t>:</a:t>
            </a:r>
            <a:r>
              <a:rPr lang="en-US" altLang="en-US" sz="1800"/>
              <a:t> one of </a:t>
            </a:r>
            <a:r>
              <a:rPr lang="en-US" altLang="en-US" sz="1800" b="1" i="1">
                <a:latin typeface="Times New Roman" panose="02020603050405020304" pitchFamily="18" charset="0"/>
              </a:rPr>
              <a:t>L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has size greater than 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call is </a:t>
            </a:r>
            <a:r>
              <a:rPr lang="en-US" altLang="en-US" sz="2000">
                <a:solidFill>
                  <a:schemeClr val="tx2"/>
                </a:solidFill>
              </a:rPr>
              <a:t>good</a:t>
            </a:r>
            <a:r>
              <a:rPr lang="en-US" altLang="en-US" sz="2000"/>
              <a:t> with probability </a:t>
            </a:r>
            <a:r>
              <a:rPr lang="en-US" altLang="en-US" sz="2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Symbol" pitchFamily="2" charset="2"/>
              </a:rPr>
              <a:t>/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1/2 of the possible pivots cause good calls:</a:t>
            </a:r>
          </a:p>
        </p:txBody>
      </p:sp>
      <p:sp>
        <p:nvSpPr>
          <p:cNvPr id="30724" name="AutoShape 4">
            <a:extLst>
              <a:ext uri="{FF2B5EF4-FFF2-40B4-BE49-F238E27FC236}">
                <a16:creationId xmlns:a16="http://schemas.microsoft.com/office/drawing/2014/main" id="{28CD7E5A-5E47-E395-6F86-B8133D8F7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38" y="2995613"/>
            <a:ext cx="1257300" cy="2254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ahoma" panose="020B0604030504040204" pitchFamily="34" charset="0"/>
              </a:rPr>
              <a:t>7  9  7</a:t>
            </a:r>
            <a:r>
              <a:rPr lang="en-US" altLang="en-US" sz="1200">
                <a:solidFill>
                  <a:schemeClr val="accent1"/>
                </a:solidFill>
                <a:latin typeface="Tahoma" panose="020B0604030504040204" pitchFamily="34" charset="0"/>
              </a:rPr>
              <a:t>  1  </a:t>
            </a:r>
            <a:r>
              <a:rPr lang="en-US" altLang="en-US" sz="1200" b="1">
                <a:solidFill>
                  <a:schemeClr val="accent1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1200">
                <a:solidFill>
                  <a:schemeClr val="accent1"/>
                </a:solidFill>
                <a:latin typeface="Tahoma" panose="020B0604030504040204" pitchFamily="34" charset="0"/>
              </a:rPr>
              <a:t>  1</a:t>
            </a:r>
          </a:p>
        </p:txBody>
      </p:sp>
      <p:sp>
        <p:nvSpPr>
          <p:cNvPr id="30725" name="AutoShape 5">
            <a:extLst>
              <a:ext uri="{FF2B5EF4-FFF2-40B4-BE49-F238E27FC236}">
                <a16:creationId xmlns:a16="http://schemas.microsoft.com/office/drawing/2014/main" id="{F7885397-324C-BA51-AC39-D76C398FE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900" y="2452688"/>
            <a:ext cx="2392363" cy="2270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ahoma" panose="020B0604030504040204" pitchFamily="34" charset="0"/>
              </a:rPr>
              <a:t>7  2  9  4 3  7  </a:t>
            </a:r>
            <a:r>
              <a:rPr lang="en-US" altLang="en-US" sz="1200" u="sng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lang="en-US" altLang="en-US" sz="1200">
                <a:latin typeface="Tahoma" panose="020B0604030504040204" pitchFamily="34" charset="0"/>
              </a:rPr>
              <a:t>  1</a:t>
            </a:r>
            <a:r>
              <a:rPr lang="en-US" altLang="en-US" sz="1200">
                <a:solidFill>
                  <a:schemeClr val="accent1"/>
                </a:solidFill>
                <a:latin typeface="Tahoma" panose="020B0604030504040204" pitchFamily="34" charset="0"/>
              </a:rPr>
              <a:t> 9</a:t>
            </a:r>
          </a:p>
        </p:txBody>
      </p:sp>
      <p:cxnSp>
        <p:nvCxnSpPr>
          <p:cNvPr id="30726" name="AutoShape 6">
            <a:extLst>
              <a:ext uri="{FF2B5EF4-FFF2-40B4-BE49-F238E27FC236}">
                <a16:creationId xmlns:a16="http://schemas.microsoft.com/office/drawing/2014/main" id="{8B25EDCB-3B41-05F6-0273-D41E9E4FA8D7}"/>
              </a:ext>
            </a:extLst>
          </p:cNvPr>
          <p:cNvCxnSpPr>
            <a:cxnSpLocks noChangeShapeType="1"/>
            <a:stCxn id="30728" idx="0"/>
            <a:endCxn id="30725" idx="2"/>
          </p:cNvCxnSpPr>
          <p:nvPr/>
        </p:nvCxnSpPr>
        <p:spPr bwMode="auto">
          <a:xfrm flipV="1">
            <a:off x="1847850" y="2684463"/>
            <a:ext cx="1087438" cy="3063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7" name="AutoShape 7">
            <a:extLst>
              <a:ext uri="{FF2B5EF4-FFF2-40B4-BE49-F238E27FC236}">
                <a16:creationId xmlns:a16="http://schemas.microsoft.com/office/drawing/2014/main" id="{36AC84D6-B503-3877-1066-C77F037DC099}"/>
              </a:ext>
            </a:extLst>
          </p:cNvPr>
          <p:cNvCxnSpPr>
            <a:cxnSpLocks noChangeShapeType="1"/>
            <a:stCxn id="30724" idx="0"/>
            <a:endCxn id="30725" idx="2"/>
          </p:cNvCxnSpPr>
          <p:nvPr/>
        </p:nvCxnSpPr>
        <p:spPr bwMode="auto">
          <a:xfrm flipH="1" flipV="1">
            <a:off x="2936875" y="2689225"/>
            <a:ext cx="1077913" cy="2968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28" name="AutoShape 8">
            <a:extLst>
              <a:ext uri="{FF2B5EF4-FFF2-40B4-BE49-F238E27FC236}">
                <a16:creationId xmlns:a16="http://schemas.microsoft.com/office/drawing/2014/main" id="{A4A52D70-15BE-3776-093C-F2D62DD83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995613"/>
            <a:ext cx="1257300" cy="2254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Tahoma" panose="020B0604030504040204" pitchFamily="34" charset="0"/>
              </a:rPr>
              <a:t>2  4  3  1 </a:t>
            </a:r>
            <a:endParaRPr lang="en-US" altLang="en-US" sz="12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0729" name="Line 9">
            <a:extLst>
              <a:ext uri="{FF2B5EF4-FFF2-40B4-BE49-F238E27FC236}">
                <a16:creationId xmlns:a16="http://schemas.microsoft.com/office/drawing/2014/main" id="{9CDAA10C-ED78-23DD-AD8E-986D2EF783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1875" y="2735263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Line 10">
            <a:extLst>
              <a:ext uri="{FF2B5EF4-FFF2-40B4-BE49-F238E27FC236}">
                <a16:creationId xmlns:a16="http://schemas.microsoft.com/office/drawing/2014/main" id="{AA56601B-E89F-FF64-C144-FF2911C6E6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01838" y="2735263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1" name="AutoShape 11">
            <a:extLst>
              <a:ext uri="{FF2B5EF4-FFF2-40B4-BE49-F238E27FC236}">
                <a16:creationId xmlns:a16="http://schemas.microsoft.com/office/drawing/2014/main" id="{A8BB8B2C-79A6-AD24-F47B-2875D50A2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2976563"/>
            <a:ext cx="1304925" cy="2174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ahoma" panose="020B0604030504040204" pitchFamily="34" charset="0"/>
              </a:rPr>
              <a:t>7 2 9 4 3 7 6</a:t>
            </a:r>
          </a:p>
        </p:txBody>
      </p:sp>
      <p:sp>
        <p:nvSpPr>
          <p:cNvPr id="30732" name="AutoShape 12">
            <a:extLst>
              <a:ext uri="{FF2B5EF4-FFF2-40B4-BE49-F238E27FC236}">
                <a16:creationId xmlns:a16="http://schemas.microsoft.com/office/drawing/2014/main" id="{9ECB794F-F244-C68D-ACEC-C1A0CE036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00" y="2976563"/>
            <a:ext cx="360363" cy="21748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30733" name="AutoShape 13">
            <a:extLst>
              <a:ext uri="{FF2B5EF4-FFF2-40B4-BE49-F238E27FC236}">
                <a16:creationId xmlns:a16="http://schemas.microsoft.com/office/drawing/2014/main" id="{F6EFDED0-9068-29B3-1A5C-581F379CD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5" y="2452688"/>
            <a:ext cx="2482850" cy="2190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ahoma" panose="020B0604030504040204" pitchFamily="34" charset="0"/>
              </a:rPr>
              <a:t>7  </a:t>
            </a:r>
            <a:r>
              <a:rPr lang="en-US" altLang="en-US" sz="1200" u="sng">
                <a:solidFill>
                  <a:srgbClr val="000000"/>
                </a:solidFill>
                <a:latin typeface="Tahoma" panose="020B0604030504040204" pitchFamily="34" charset="0"/>
              </a:rPr>
              <a:t>2 </a:t>
            </a:r>
            <a:r>
              <a:rPr lang="en-US" altLang="en-US" sz="1200">
                <a:latin typeface="Tahoma" panose="020B0604030504040204" pitchFamily="34" charset="0"/>
              </a:rPr>
              <a:t> 9  4 3  7  6  1</a:t>
            </a:r>
            <a:endParaRPr lang="en-US" altLang="en-US" sz="1200" b="1">
              <a:solidFill>
                <a:schemeClr val="accent1"/>
              </a:solidFill>
              <a:latin typeface="Tahoma" panose="020B0604030504040204" pitchFamily="34" charset="0"/>
              <a:sym typeface="Symbol" pitchFamily="2" charset="2"/>
            </a:endParaRPr>
          </a:p>
        </p:txBody>
      </p:sp>
      <p:cxnSp>
        <p:nvCxnSpPr>
          <p:cNvPr id="30734" name="AutoShape 14">
            <a:extLst>
              <a:ext uri="{FF2B5EF4-FFF2-40B4-BE49-F238E27FC236}">
                <a16:creationId xmlns:a16="http://schemas.microsoft.com/office/drawing/2014/main" id="{298CF29E-5DF6-752C-30F0-6D03C29FA980}"/>
              </a:ext>
            </a:extLst>
          </p:cNvPr>
          <p:cNvCxnSpPr>
            <a:cxnSpLocks noChangeShapeType="1"/>
            <a:stCxn id="30732" idx="0"/>
            <a:endCxn id="30733" idx="2"/>
          </p:cNvCxnSpPr>
          <p:nvPr/>
        </p:nvCxnSpPr>
        <p:spPr bwMode="auto">
          <a:xfrm flipV="1">
            <a:off x="5527675" y="2671763"/>
            <a:ext cx="115252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5" name="AutoShape 15">
            <a:extLst>
              <a:ext uri="{FF2B5EF4-FFF2-40B4-BE49-F238E27FC236}">
                <a16:creationId xmlns:a16="http://schemas.microsoft.com/office/drawing/2014/main" id="{EC4935FF-84C0-9745-C982-A8BA0F395620}"/>
              </a:ext>
            </a:extLst>
          </p:cNvPr>
          <p:cNvCxnSpPr>
            <a:cxnSpLocks noChangeShapeType="1"/>
            <a:stCxn id="30731" idx="0"/>
            <a:endCxn id="30733" idx="2"/>
          </p:cNvCxnSpPr>
          <p:nvPr/>
        </p:nvCxnSpPr>
        <p:spPr bwMode="auto">
          <a:xfrm flipH="1" flipV="1">
            <a:off x="6680200" y="2671763"/>
            <a:ext cx="112077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6" name="Line 16">
            <a:extLst>
              <a:ext uri="{FF2B5EF4-FFF2-40B4-BE49-F238E27FC236}">
                <a16:creationId xmlns:a16="http://schemas.microsoft.com/office/drawing/2014/main" id="{E12DEDCB-C711-B820-22C4-4548B162F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1088" y="2757488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Line 17">
            <a:extLst>
              <a:ext uri="{FF2B5EF4-FFF2-40B4-BE49-F238E27FC236}">
                <a16:creationId xmlns:a16="http://schemas.microsoft.com/office/drawing/2014/main" id="{EB8841CD-E336-5073-CC9E-371D1D7DFD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2713038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8" name="Text Box 18">
            <a:extLst>
              <a:ext uri="{FF2B5EF4-FFF2-40B4-BE49-F238E27FC236}">
                <a16:creationId xmlns:a16="http://schemas.microsoft.com/office/drawing/2014/main" id="{01FCAF1A-22AE-8422-AE25-E53133EE3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038" y="3367088"/>
            <a:ext cx="1241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ahoma" panose="020B0604030504040204" pitchFamily="34" charset="0"/>
              </a:rPr>
              <a:t>Good call</a:t>
            </a:r>
          </a:p>
        </p:txBody>
      </p:sp>
      <p:sp>
        <p:nvSpPr>
          <p:cNvPr id="30739" name="Text Box 19">
            <a:extLst>
              <a:ext uri="{FF2B5EF4-FFF2-40B4-BE49-F238E27FC236}">
                <a16:creationId xmlns:a16="http://schemas.microsoft.com/office/drawing/2014/main" id="{86D0FF95-F370-B2EE-A9A0-E3021AA29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1238" y="3367088"/>
            <a:ext cx="1082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ahoma" panose="020B0604030504040204" pitchFamily="34" charset="0"/>
              </a:rPr>
              <a:t>Bad call</a:t>
            </a:r>
          </a:p>
        </p:txBody>
      </p:sp>
      <p:grpSp>
        <p:nvGrpSpPr>
          <p:cNvPr id="30740" name="Group 20">
            <a:extLst>
              <a:ext uri="{FF2B5EF4-FFF2-40B4-BE49-F238E27FC236}">
                <a16:creationId xmlns:a16="http://schemas.microsoft.com/office/drawing/2014/main" id="{9543CBD7-360C-42BB-B604-88823B78CC7D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5195888"/>
            <a:ext cx="4343400" cy="381000"/>
            <a:chOff x="1776" y="3264"/>
            <a:chExt cx="2736" cy="240"/>
          </a:xfrm>
        </p:grpSpPr>
        <p:sp>
          <p:nvSpPr>
            <p:cNvPr id="30747" name="AutoShape 21">
              <a:extLst>
                <a:ext uri="{FF2B5EF4-FFF2-40B4-BE49-F238E27FC236}">
                  <a16:creationId xmlns:a16="http://schemas.microsoft.com/office/drawing/2014/main" id="{7C728C02-D426-D598-D695-77C2360B8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264"/>
              <a:ext cx="912" cy="2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748" name="AutoShape 22">
              <a:extLst>
                <a:ext uri="{FF2B5EF4-FFF2-40B4-BE49-F238E27FC236}">
                  <a16:creationId xmlns:a16="http://schemas.microsoft.com/office/drawing/2014/main" id="{45B7B3CD-592F-296A-9BB7-07123BC5C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64"/>
              <a:ext cx="624" cy="2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749" name="Rectangle 23">
              <a:extLst>
                <a:ext uri="{FF2B5EF4-FFF2-40B4-BE49-F238E27FC236}">
                  <a16:creationId xmlns:a16="http://schemas.microsoft.com/office/drawing/2014/main" id="{A8DB2654-1090-A997-85D3-4B04F0BEB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264"/>
              <a:ext cx="1296" cy="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750" name="AutoShape 24">
              <a:extLst>
                <a:ext uri="{FF2B5EF4-FFF2-40B4-BE49-F238E27FC236}">
                  <a16:creationId xmlns:a16="http://schemas.microsoft.com/office/drawing/2014/main" id="{4D155484-9E38-D7B3-EC3F-9ACB39C30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64"/>
              <a:ext cx="2736" cy="24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ahoma" panose="020B0604030504040204" pitchFamily="34" charset="0"/>
                </a:rPr>
                <a:t>1 2 3 4 5 6 7 8 9 10 11 12 13 14 15 16</a:t>
              </a:r>
              <a:endParaRPr lang="en-US" altLang="en-US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0741" name="Text Box 25">
            <a:extLst>
              <a:ext uri="{FF2B5EF4-FFF2-40B4-BE49-F238E27FC236}">
                <a16:creationId xmlns:a16="http://schemas.microsoft.com/office/drawing/2014/main" id="{A37AF49D-4A0F-7272-DDF4-A44CAE8E1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3988" y="5881688"/>
            <a:ext cx="1546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ahoma" panose="020B0604030504040204" pitchFamily="34" charset="0"/>
              </a:rPr>
              <a:t>Good pivots</a:t>
            </a:r>
          </a:p>
        </p:txBody>
      </p:sp>
      <p:sp>
        <p:nvSpPr>
          <p:cNvPr id="30742" name="Text Box 26">
            <a:extLst>
              <a:ext uri="{FF2B5EF4-FFF2-40B4-BE49-F238E27FC236}">
                <a16:creationId xmlns:a16="http://schemas.microsoft.com/office/drawing/2014/main" id="{876D6366-E2BA-8EEE-4D30-E00CA5B8B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881688"/>
            <a:ext cx="1387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ahoma" panose="020B0604030504040204" pitchFamily="34" charset="0"/>
              </a:rPr>
              <a:t>Bad pivots</a:t>
            </a:r>
          </a:p>
        </p:txBody>
      </p:sp>
      <p:sp>
        <p:nvSpPr>
          <p:cNvPr id="30743" name="Text Box 27">
            <a:extLst>
              <a:ext uri="{FF2B5EF4-FFF2-40B4-BE49-F238E27FC236}">
                <a16:creationId xmlns:a16="http://schemas.microsoft.com/office/drawing/2014/main" id="{A2F16263-8791-EE99-C154-2E6D46B5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5881688"/>
            <a:ext cx="1387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ahoma" panose="020B0604030504040204" pitchFamily="34" charset="0"/>
              </a:rPr>
              <a:t>Bad pivots</a:t>
            </a:r>
          </a:p>
        </p:txBody>
      </p:sp>
      <p:sp>
        <p:nvSpPr>
          <p:cNvPr id="30744" name="AutoShape 28">
            <a:extLst>
              <a:ext uri="{FF2B5EF4-FFF2-40B4-BE49-F238E27FC236}">
                <a16:creationId xmlns:a16="http://schemas.microsoft.com/office/drawing/2014/main" id="{0AE2B256-2EBA-F261-080B-5B803C64334B}"/>
              </a:ext>
            </a:extLst>
          </p:cNvPr>
          <p:cNvSpPr>
            <a:spLocks/>
          </p:cNvSpPr>
          <p:nvPr/>
        </p:nvSpPr>
        <p:spPr bwMode="auto">
          <a:xfrm rot="-5400000">
            <a:off x="4610100" y="4776788"/>
            <a:ext cx="228600" cy="1981200"/>
          </a:xfrm>
          <a:prstGeom prst="leftBrace">
            <a:avLst>
              <a:gd name="adj1" fmla="val 7222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5" name="AutoShape 29">
            <a:extLst>
              <a:ext uri="{FF2B5EF4-FFF2-40B4-BE49-F238E27FC236}">
                <a16:creationId xmlns:a16="http://schemas.microsoft.com/office/drawing/2014/main" id="{F566492B-4A53-1690-D684-67E1D20F7FC6}"/>
              </a:ext>
            </a:extLst>
          </p:cNvPr>
          <p:cNvSpPr>
            <a:spLocks/>
          </p:cNvSpPr>
          <p:nvPr/>
        </p:nvSpPr>
        <p:spPr bwMode="auto">
          <a:xfrm rot="-5400000">
            <a:off x="3124200" y="5348288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6" name="AutoShape 30">
            <a:extLst>
              <a:ext uri="{FF2B5EF4-FFF2-40B4-BE49-F238E27FC236}">
                <a16:creationId xmlns:a16="http://schemas.microsoft.com/office/drawing/2014/main" id="{694482CB-A149-EAF5-EF1F-9E1828993172}"/>
              </a:ext>
            </a:extLst>
          </p:cNvPr>
          <p:cNvSpPr>
            <a:spLocks/>
          </p:cNvSpPr>
          <p:nvPr/>
        </p:nvSpPr>
        <p:spPr bwMode="auto">
          <a:xfrm rot="-5400000">
            <a:off x="6400800" y="5119688"/>
            <a:ext cx="228600" cy="1295400"/>
          </a:xfrm>
          <a:prstGeom prst="leftBrace">
            <a:avLst>
              <a:gd name="adj1" fmla="val 4722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5A0D9458-BF41-CA1A-0783-DB611475A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772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Expected Running Time (Cont’d)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866769FD-95A8-4DB2-6C8E-4B523D85615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90600"/>
            <a:ext cx="8105775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tx2"/>
                </a:solidFill>
              </a:rPr>
              <a:t>Probabilistic Fact:</a:t>
            </a:r>
            <a:r>
              <a:rPr lang="en-US" altLang="en-US" sz="2000"/>
              <a:t> The expected number of coin tosses required in order to get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heads is 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</a:p>
          <a:p>
            <a:pPr eaLnBrk="1" hangingPunct="1">
              <a:lnSpc>
                <a:spcPct val="90000"/>
              </a:lnSpc>
            </a:pPr>
            <a:endParaRPr lang="en-US" altLang="en-US" sz="12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For a node of depth </a:t>
            </a:r>
            <a:r>
              <a:rPr lang="en-US" altLang="en-US" sz="2000" b="1" i="1">
                <a:latin typeface="Times New Roman" panose="02020603050405020304" pitchFamily="18" charset="0"/>
              </a:rPr>
              <a:t>i</a:t>
            </a:r>
            <a:r>
              <a:rPr lang="en-US" altLang="en-US" sz="2000"/>
              <a:t>, we expect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 </a:t>
            </a:r>
            <a:r>
              <a:rPr lang="en-US" altLang="en-US" sz="1800"/>
              <a:t>ancestors are good calls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size of the input sequence for the current call is at most (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4</a:t>
            </a:r>
            <a:r>
              <a:rPr lang="en-US" altLang="en-US" sz="1800"/>
              <a:t>)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Symbol" pitchFamily="2" charset="2"/>
              </a:rPr>
              <a:t>/</a:t>
            </a:r>
            <a:r>
              <a:rPr lang="en-US" altLang="en-US" sz="1800" baseline="30000">
                <a:latin typeface="Times New Roman" panose="02020603050405020304" pitchFamily="18" charset="0"/>
              </a:rPr>
              <a:t>2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4873128C-DEC4-D549-FE21-EA25AA70B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3200400"/>
          <a:ext cx="4876800" cy="305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18400" imgH="4267200" progId="Visio.Drawing.6">
                  <p:embed/>
                </p:oleObj>
              </mc:Choice>
              <mc:Fallback>
                <p:oleObj name="VISIO" r:id="rId2" imgW="7518400" imgH="42672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200400"/>
                        <a:ext cx="4876800" cy="305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Rectangle 5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C191EBDC-98CF-E356-037F-52FB48260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200400"/>
            <a:ext cx="41910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Therefore, we have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/>
              <a:t>1 ≤ (</a:t>
            </a:r>
            <a:r>
              <a:rPr lang="en-US" altLang="en-US">
                <a:latin typeface="Times New Roman" panose="02020603050405020304" pitchFamily="18" charset="0"/>
              </a:rPr>
              <a:t>3</a:t>
            </a:r>
            <a:r>
              <a:rPr lang="en-US" altLang="en-US">
                <a:latin typeface="Symbol" pitchFamily="2" charset="2"/>
              </a:rPr>
              <a:t>/</a:t>
            </a:r>
            <a:r>
              <a:rPr lang="en-US" altLang="en-US">
                <a:latin typeface="Times New Roman" panose="02020603050405020304" pitchFamily="18" charset="0"/>
              </a:rPr>
              <a:t>4</a:t>
            </a:r>
            <a:r>
              <a:rPr lang="en-US" altLang="en-US"/>
              <a:t>)</a:t>
            </a:r>
            <a:r>
              <a:rPr lang="en-US" altLang="en-US" i="1" baseline="30000">
                <a:latin typeface="Times New Roman" panose="02020603050405020304" pitchFamily="18" charset="0"/>
              </a:rPr>
              <a:t>h</a:t>
            </a:r>
            <a:r>
              <a:rPr lang="en-US" altLang="en-US" baseline="30000">
                <a:latin typeface="Symbol" pitchFamily="2" charset="2"/>
              </a:rPr>
              <a:t>/</a:t>
            </a:r>
            <a:r>
              <a:rPr lang="en-US" altLang="en-US" baseline="30000">
                <a:latin typeface="Times New Roman" panose="02020603050405020304" pitchFamily="18" charset="0"/>
              </a:rPr>
              <a:t>2</a:t>
            </a:r>
            <a:r>
              <a:rPr lang="en-US" altLang="en-US" i="1">
                <a:latin typeface="Times New Roman" panose="02020603050405020304" pitchFamily="18" charset="0"/>
              </a:rPr>
              <a:t>n, </a:t>
            </a:r>
            <a:r>
              <a:rPr lang="en-US" altLang="en-US">
                <a:latin typeface="Times New Roman" panose="02020603050405020304" pitchFamily="18" charset="0"/>
              </a:rPr>
              <a:t>where h is the height</a:t>
            </a:r>
            <a:endParaRPr lang="en-US" altLang="en-US"/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/>
              <a:t>The expected height of the quick-sort tree is </a:t>
            </a:r>
            <a:r>
              <a:rPr lang="en-US" altLang="en-US" b="1" i="1">
                <a:latin typeface="Times New Roman" panose="02020603050405020304" pitchFamily="18" charset="0"/>
              </a:rPr>
              <a:t>O</a:t>
            </a:r>
            <a:r>
              <a:rPr lang="en-US" altLang="en-US">
                <a:latin typeface="Times New Roman" panose="02020603050405020304" pitchFamily="18" charset="0"/>
              </a:rPr>
              <a:t>(log </a:t>
            </a:r>
            <a:r>
              <a:rPr lang="en-US" altLang="en-US" b="1" i="1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The amount or work done at the nodes of the same depth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12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Thus, the expected running time of quick-sort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Times New Roman" panose="02020603050405020304" pitchFamily="18" charset="0"/>
              </a:rPr>
              <a:t>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DD15BC5-B789-E6BD-D628-82BBBBFBE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Summary of Sorting Algorithms</a:t>
            </a:r>
          </a:p>
        </p:txBody>
      </p:sp>
      <p:graphicFrame>
        <p:nvGraphicFramePr>
          <p:cNvPr id="155651" name="Group 3">
            <a:extLst>
              <a:ext uri="{FF2B5EF4-FFF2-40B4-BE49-F238E27FC236}">
                <a16:creationId xmlns:a16="http://schemas.microsoft.com/office/drawing/2014/main" id="{57F677F5-379E-097C-99CF-7172B59020BF}"/>
              </a:ext>
            </a:extLst>
          </p:cNvPr>
          <p:cNvGraphicFramePr>
            <a:graphicFrameLocks noGrp="1"/>
          </p:cNvGraphicFramePr>
          <p:nvPr/>
        </p:nvGraphicFramePr>
        <p:xfrm>
          <a:off x="857250" y="1628775"/>
          <a:ext cx="7905750" cy="4435476"/>
        </p:xfrm>
        <a:graphic>
          <a:graphicData uri="http://schemas.openxmlformats.org/drawingml/2006/table">
            <a:tbl>
              <a:tblPr/>
              <a:tblGrid>
                <a:gridCol w="237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Algorithm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Time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Notes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selection-sort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slow (good for small inputs)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insertion-sort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slow (good for small inputs)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quick-sort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expected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in-place, randomized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fastest (good for large inputs)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heap-sort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fast (good for large inputs)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merge-sort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sequential data access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fast  (good for huge inputs)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1A6EB05-DF43-1A54-3F0C-6BEFD76C6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Comparison-Based Sorting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C786B2B-2918-12FA-853A-2DA582BAED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19200"/>
            <a:ext cx="8077200" cy="289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Many sorting algorithms are comparison based.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They sort by making comparisons between pairs of objects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Examples: selection-sort, insertion-sort, heap-sort, merge-sort, quick-sort, ...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us therefore derive a lower bound on the running time of any algorithm that uses comparisons to sort n elements, x</a:t>
            </a:r>
            <a:r>
              <a:rPr lang="en-US" altLang="en-US" sz="2000" baseline="-25000"/>
              <a:t>1</a:t>
            </a:r>
            <a:r>
              <a:rPr lang="en-US" altLang="en-US" sz="2000"/>
              <a:t>, x</a:t>
            </a:r>
            <a:r>
              <a:rPr lang="en-US" altLang="en-US" sz="2000" baseline="-25000"/>
              <a:t>2</a:t>
            </a:r>
            <a:r>
              <a:rPr lang="en-US" altLang="en-US" sz="2000"/>
              <a:t>, …, x</a:t>
            </a:r>
            <a:r>
              <a:rPr lang="en-US" altLang="en-US" sz="2000" baseline="-25000"/>
              <a:t>n</a:t>
            </a:r>
            <a:r>
              <a:rPr lang="en-US" altLang="en-US" sz="2000"/>
              <a:t>.</a:t>
            </a:r>
          </a:p>
        </p:txBody>
      </p:sp>
      <p:sp>
        <p:nvSpPr>
          <p:cNvPr id="32772" name="AutoShape 5">
            <a:extLst>
              <a:ext uri="{FF2B5EF4-FFF2-40B4-BE49-F238E27FC236}">
                <a16:creationId xmlns:a16="http://schemas.microsoft.com/office/drawing/2014/main" id="{7ED1D791-D220-9632-F3CF-603370097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038600"/>
            <a:ext cx="2514600" cy="1447800"/>
          </a:xfrm>
          <a:prstGeom prst="flowChartDecision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Tahoma" panose="020B0604030504040204" pitchFamily="34" charset="0"/>
              </a:rPr>
              <a:t>Is x</a:t>
            </a:r>
            <a:r>
              <a:rPr lang="en-US" altLang="en-US" sz="2000" baseline="-25000">
                <a:latin typeface="Tahoma" panose="020B0604030504040204" pitchFamily="34" charset="0"/>
              </a:rPr>
              <a:t>i</a:t>
            </a:r>
            <a:r>
              <a:rPr lang="en-US" altLang="en-US" sz="2000">
                <a:latin typeface="Tahoma" panose="020B0604030504040204" pitchFamily="34" charset="0"/>
              </a:rPr>
              <a:t> &lt; x</a:t>
            </a:r>
            <a:r>
              <a:rPr lang="en-US" altLang="en-US" sz="2000" baseline="-25000">
                <a:latin typeface="Tahoma" panose="020B0604030504040204" pitchFamily="34" charset="0"/>
              </a:rPr>
              <a:t>j</a:t>
            </a:r>
            <a:r>
              <a:rPr lang="en-US" altLang="en-US" sz="2000">
                <a:latin typeface="Tahoma" panose="020B0604030504040204" pitchFamily="34" charset="0"/>
              </a:rPr>
              <a:t>?</a:t>
            </a:r>
          </a:p>
        </p:txBody>
      </p:sp>
      <p:cxnSp>
        <p:nvCxnSpPr>
          <p:cNvPr id="32773" name="AutoShape 6">
            <a:extLst>
              <a:ext uri="{FF2B5EF4-FFF2-40B4-BE49-F238E27FC236}">
                <a16:creationId xmlns:a16="http://schemas.microsoft.com/office/drawing/2014/main" id="{8E8A1E48-637F-B44B-7494-49107F955C69}"/>
              </a:ext>
            </a:extLst>
          </p:cNvPr>
          <p:cNvCxnSpPr>
            <a:cxnSpLocks noChangeShapeType="1"/>
            <a:stCxn id="32772" idx="2"/>
          </p:cNvCxnSpPr>
          <p:nvPr/>
        </p:nvCxnSpPr>
        <p:spPr bwMode="auto">
          <a:xfrm rot="5400000">
            <a:off x="3224212" y="5091113"/>
            <a:ext cx="447675" cy="1257300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4" name="AutoShape 7">
            <a:extLst>
              <a:ext uri="{FF2B5EF4-FFF2-40B4-BE49-F238E27FC236}">
                <a16:creationId xmlns:a16="http://schemas.microsoft.com/office/drawing/2014/main" id="{71BF4610-B84C-C9B3-5E34-ADE617FEDA26}"/>
              </a:ext>
            </a:extLst>
          </p:cNvPr>
          <p:cNvCxnSpPr>
            <a:cxnSpLocks noChangeShapeType="1"/>
            <a:stCxn id="32772" idx="3"/>
          </p:cNvCxnSpPr>
          <p:nvPr/>
        </p:nvCxnSpPr>
        <p:spPr bwMode="auto">
          <a:xfrm>
            <a:off x="5343525" y="4762500"/>
            <a:ext cx="752475" cy="1181100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5" name="Text Box 8">
            <a:extLst>
              <a:ext uri="{FF2B5EF4-FFF2-40B4-BE49-F238E27FC236}">
                <a16:creationId xmlns:a16="http://schemas.microsoft.com/office/drawing/2014/main" id="{7A92308B-BAD0-BD8D-8861-46EE9EE4D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5546725"/>
            <a:ext cx="557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Tahoma" panose="020B0604030504040204" pitchFamily="34" charset="0"/>
              </a:rPr>
              <a:t>yes</a:t>
            </a:r>
          </a:p>
        </p:txBody>
      </p:sp>
      <p:sp>
        <p:nvSpPr>
          <p:cNvPr id="32776" name="Text Box 9">
            <a:extLst>
              <a:ext uri="{FF2B5EF4-FFF2-40B4-BE49-F238E27FC236}">
                <a16:creationId xmlns:a16="http://schemas.microsoft.com/office/drawing/2014/main" id="{BE48D05B-37FC-AB4B-2A4C-7BD26411F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050" y="4403725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Tahoma" panose="020B0604030504040204" pitchFamily="34" charset="0"/>
              </a:rPr>
              <a:t>no</a:t>
            </a:r>
          </a:p>
        </p:txBody>
      </p:sp>
      <p:cxnSp>
        <p:nvCxnSpPr>
          <p:cNvPr id="32777" name="AutoShape 10">
            <a:extLst>
              <a:ext uri="{FF2B5EF4-FFF2-40B4-BE49-F238E27FC236}">
                <a16:creationId xmlns:a16="http://schemas.microsoft.com/office/drawing/2014/main" id="{4556A999-ECED-5D32-A95D-602B69BFE580}"/>
              </a:ext>
            </a:extLst>
          </p:cNvPr>
          <p:cNvCxnSpPr>
            <a:cxnSpLocks noChangeShapeType="1"/>
            <a:endCxn id="32772" idx="0"/>
          </p:cNvCxnSpPr>
          <p:nvPr/>
        </p:nvCxnSpPr>
        <p:spPr bwMode="auto">
          <a:xfrm rot="10800000" flipV="1">
            <a:off x="4076700" y="3733800"/>
            <a:ext cx="952500" cy="295275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0D6E4773-E121-C346-1DD2-7C4EC8CF1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Counting Comparisons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E4D048FA-1DF8-9CE6-51B5-D488106C11E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143000"/>
            <a:ext cx="7924800" cy="1752600"/>
          </a:xfrm>
        </p:spPr>
        <p:txBody>
          <a:bodyPr/>
          <a:lstStyle/>
          <a:p>
            <a:pPr eaLnBrk="1" hangingPunct="1"/>
            <a:r>
              <a:rPr lang="en-US" altLang="en-US" sz="2000"/>
              <a:t>Let us just count the number of comparisons then.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Each possible run of the algorithm corresponds to a root-to-leaf path in a </a:t>
            </a:r>
            <a:r>
              <a:rPr lang="en-US" altLang="en-US" sz="2000" b="1">
                <a:solidFill>
                  <a:schemeClr val="tx2"/>
                </a:solidFill>
              </a:rPr>
              <a:t>decision tree</a:t>
            </a:r>
            <a:endParaRPr lang="en-US" altLang="en-US" sz="2000"/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CE0293DF-1125-7417-6F7D-0A953FC4C6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3071813"/>
          <a:ext cx="5332413" cy="328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638800" imgH="3467100" progId="Visio.Drawing.6">
                  <p:embed/>
                </p:oleObj>
              </mc:Choice>
              <mc:Fallback>
                <p:oleObj name="VISIO" r:id="rId2" imgW="5638800" imgH="34671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071813"/>
                        <a:ext cx="5332413" cy="328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Box 4">
            <a:extLst>
              <a:ext uri="{FF2B5EF4-FFF2-40B4-BE49-F238E27FC236}">
                <a16:creationId xmlns:a16="http://schemas.microsoft.com/office/drawing/2014/main" id="{DF211D6F-A228-EA00-F3C9-B6FFEAD4A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429000"/>
            <a:ext cx="609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Y</a:t>
            </a:r>
          </a:p>
        </p:txBody>
      </p:sp>
      <p:sp>
        <p:nvSpPr>
          <p:cNvPr id="2054" name="TextBox 5">
            <a:extLst>
              <a:ext uri="{FF2B5EF4-FFF2-40B4-BE49-F238E27FC236}">
                <a16:creationId xmlns:a16="http://schemas.microsoft.com/office/drawing/2014/main" id="{247EDCDD-60CB-CCA1-65B3-9117B84B2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429000"/>
            <a:ext cx="609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0AB99B76-0182-ABE0-D81E-B2AC9B4E15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Decision Tree Height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462951A5-0097-3F05-353D-8E221D633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05800" cy="175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height of this decision tree is a lower bound on the running time</a:t>
            </a:r>
          </a:p>
          <a:p>
            <a:pPr eaLnBrk="1" hangingPunct="1">
              <a:lnSpc>
                <a:spcPct val="90000"/>
              </a:lnSpc>
            </a:pPr>
            <a:endParaRPr lang="en-US" altLang="en-US" sz="12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Every possible input permutation must lead to a separate leaf output. 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2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Since there are n!=1*2*…*n leaves, the height is at least log (n!)</a:t>
            </a:r>
          </a:p>
        </p:txBody>
      </p:sp>
      <p:graphicFrame>
        <p:nvGraphicFramePr>
          <p:cNvPr id="3074" name="Object 4">
            <a:extLst>
              <a:ext uri="{FF2B5EF4-FFF2-40B4-BE49-F238E27FC236}">
                <a16:creationId xmlns:a16="http://schemas.microsoft.com/office/drawing/2014/main" id="{D98B496D-4A38-70F2-77D9-1FC5A4EFD0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1175" y="3300413"/>
          <a:ext cx="5610225" cy="317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213600" imgH="4089400" progId="Visio.Drawing.6">
                  <p:embed/>
                </p:oleObj>
              </mc:Choice>
              <mc:Fallback>
                <p:oleObj name="VISIO" r:id="rId2" imgW="7213600" imgH="40894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3300413"/>
                        <a:ext cx="5610225" cy="317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09493062-5C2D-53A2-B4A1-C73BFC7A7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Lower Bound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98D3066F-AAAA-6539-DDB8-19480C2167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924800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Any comparison-based sorting algorithms takes at least log (n!) time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Therefore, any such algorithm takes time at least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That is, any comparison-based sorting algorithm must run in Ω(n log n) time.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</p:txBody>
      </p:sp>
      <p:graphicFrame>
        <p:nvGraphicFramePr>
          <p:cNvPr id="4098" name="Object 4">
            <a:extLst>
              <a:ext uri="{FF2B5EF4-FFF2-40B4-BE49-F238E27FC236}">
                <a16:creationId xmlns:a16="http://schemas.microsoft.com/office/drawing/2014/main" id="{BAFEEEA7-9DBF-01D3-4AF3-98F54D4935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689225"/>
          <a:ext cx="57150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835300" imgH="12001500" progId="Equation.3">
                  <p:embed/>
                </p:oleObj>
              </mc:Choice>
              <mc:Fallback>
                <p:oleObj name="Equation" r:id="rId2" imgW="53835300" imgH="12001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689225"/>
                        <a:ext cx="5715000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</TotalTime>
  <Words>2044</Words>
  <Application>Microsoft Macintosh PowerPoint</Application>
  <PresentationFormat>On-screen Show (4:3)</PresentationFormat>
  <Paragraphs>355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Comic Sans MS</vt:lpstr>
      <vt:lpstr>Symbol</vt:lpstr>
      <vt:lpstr>Tahoma</vt:lpstr>
      <vt:lpstr>Times New Roman</vt:lpstr>
      <vt:lpstr>Wingdings</vt:lpstr>
      <vt:lpstr>Default Design</vt:lpstr>
      <vt:lpstr>VISIO</vt:lpstr>
      <vt:lpstr>Equation</vt:lpstr>
      <vt:lpstr>Quiz #6</vt:lpstr>
      <vt:lpstr>CS535: Algorithm Design and Analysis   Merge-Sort and Quick-Sort</vt:lpstr>
      <vt:lpstr>Divide-and-Conquer</vt:lpstr>
      <vt:lpstr>Divide-and-Conquer</vt:lpstr>
      <vt:lpstr>Merge-Sort</vt:lpstr>
      <vt:lpstr>Merging Two Sorted Sequences</vt:lpstr>
      <vt:lpstr>Merge-Sort Tree</vt:lpstr>
      <vt:lpstr>Execution Example</vt:lpstr>
      <vt:lpstr>Analysis of Merge-Sort</vt:lpstr>
      <vt:lpstr>Summary of Sorting Algorithms</vt:lpstr>
      <vt:lpstr>Quick-Sort</vt:lpstr>
      <vt:lpstr>Partition</vt:lpstr>
      <vt:lpstr>Quick-Sort Tree</vt:lpstr>
      <vt:lpstr>Execution Example</vt:lpstr>
      <vt:lpstr>Worst-case Running Time</vt:lpstr>
      <vt:lpstr>Expected Running Time</vt:lpstr>
      <vt:lpstr>Expected Running Time (Cont’d)</vt:lpstr>
      <vt:lpstr>Summary of Sorting Algorithms</vt:lpstr>
      <vt:lpstr>Comparison-Based Sorting</vt:lpstr>
      <vt:lpstr>Counting Comparisons</vt:lpstr>
      <vt:lpstr>Decision Tree Height</vt:lpstr>
      <vt:lpstr>The Lower Bound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Zane Yu</cp:lastModifiedBy>
  <cp:revision>597</cp:revision>
  <cp:lastPrinted>2024-03-05T04:03:53Z</cp:lastPrinted>
  <dcterms:created xsi:type="dcterms:W3CDTF">2006-12-14T06:02:28Z</dcterms:created>
  <dcterms:modified xsi:type="dcterms:W3CDTF">2024-03-05T15:41:16Z</dcterms:modified>
</cp:coreProperties>
</file>