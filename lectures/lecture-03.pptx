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3" r:id="rId1"/>
  </p:sldMasterIdLst>
  <p:notesMasterIdLst>
    <p:notesMasterId r:id="rId21"/>
  </p:notesMasterIdLst>
  <p:handoutMasterIdLst>
    <p:handoutMasterId r:id="rId22"/>
  </p:handoutMasterIdLst>
  <p:sldIdLst>
    <p:sldId id="256" r:id="rId2"/>
    <p:sldId id="262" r:id="rId3"/>
    <p:sldId id="263" r:id="rId4"/>
    <p:sldId id="264" r:id="rId5"/>
    <p:sldId id="265" r:id="rId6"/>
    <p:sldId id="266" r:id="rId7"/>
    <p:sldId id="269" r:id="rId8"/>
    <p:sldId id="267" r:id="rId9"/>
    <p:sldId id="268" r:id="rId10"/>
    <p:sldId id="270" r:id="rId11"/>
    <p:sldId id="271" r:id="rId12"/>
    <p:sldId id="257" r:id="rId13"/>
    <p:sldId id="258" r:id="rId14"/>
    <p:sldId id="259" r:id="rId15"/>
    <p:sldId id="261" r:id="rId16"/>
    <p:sldId id="274" r:id="rId17"/>
    <p:sldId id="275" r:id="rId18"/>
    <p:sldId id="272" r:id="rId19"/>
    <p:sldId id="273" r:id="rId20"/>
  </p:sldIdLst>
  <p:sldSz cx="9144000" cy="6858000" type="screen4x3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829" autoAdjust="0"/>
    <p:restoredTop sz="94572" autoAdjust="0"/>
  </p:normalViewPr>
  <p:slideViewPr>
    <p:cSldViewPr>
      <p:cViewPr varScale="1">
        <p:scale>
          <a:sx n="104" d="100"/>
          <a:sy n="104" d="100"/>
        </p:scale>
        <p:origin x="1758" y="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>
            <a:extLst>
              <a:ext uri="{FF2B5EF4-FFF2-40B4-BE49-F238E27FC236}">
                <a16:creationId xmlns:a16="http://schemas.microsoft.com/office/drawing/2014/main" id="{7020CC59-E4FC-AC2D-2EA7-723CCA2195D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3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8787" name="Rectangle 3">
            <a:extLst>
              <a:ext uri="{FF2B5EF4-FFF2-40B4-BE49-F238E27FC236}">
                <a16:creationId xmlns:a16="http://schemas.microsoft.com/office/drawing/2014/main" id="{9E40B37B-BB77-A6DC-DB56-73E06733DC3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8788" name="Rectangle 4">
            <a:extLst>
              <a:ext uri="{FF2B5EF4-FFF2-40B4-BE49-F238E27FC236}">
                <a16:creationId xmlns:a16="http://schemas.microsoft.com/office/drawing/2014/main" id="{5E99DEC5-032F-AAED-5795-D3DD8576B3A5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3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8789" name="Rectangle 5">
            <a:extLst>
              <a:ext uri="{FF2B5EF4-FFF2-40B4-BE49-F238E27FC236}">
                <a16:creationId xmlns:a16="http://schemas.microsoft.com/office/drawing/2014/main" id="{43B634E9-BC36-E0CD-8BF6-135790300061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/>
            </a:lvl1pPr>
          </a:lstStyle>
          <a:p>
            <a:pPr>
              <a:defRPr/>
            </a:pPr>
            <a:fld id="{3A6B32CD-6E2E-0F4C-8387-1BDB48B7305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AB1BFB60-2D29-4AE6-DDB3-74B67C57DAE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3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5CAD2FB6-4843-21ED-B9BA-D088241A8A1B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92" name="Rectangle 4">
            <a:extLst>
              <a:ext uri="{FF2B5EF4-FFF2-40B4-BE49-F238E27FC236}">
                <a16:creationId xmlns:a16="http://schemas.microsoft.com/office/drawing/2014/main" id="{A8013560-01E2-2DE6-3782-7B5C30DE173C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41" name="Rectangle 5">
            <a:extLst>
              <a:ext uri="{FF2B5EF4-FFF2-40B4-BE49-F238E27FC236}">
                <a16:creationId xmlns:a16="http://schemas.microsoft.com/office/drawing/2014/main" id="{B1A43360-37EF-F389-0DAA-7187E7F437D8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9942" name="Rectangle 6">
            <a:extLst>
              <a:ext uri="{FF2B5EF4-FFF2-40B4-BE49-F238E27FC236}">
                <a16:creationId xmlns:a16="http://schemas.microsoft.com/office/drawing/2014/main" id="{4F98C0FD-52E2-D2F1-C559-8CEFBF616C4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3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9943" name="Rectangle 7">
            <a:extLst>
              <a:ext uri="{FF2B5EF4-FFF2-40B4-BE49-F238E27FC236}">
                <a16:creationId xmlns:a16="http://schemas.microsoft.com/office/drawing/2014/main" id="{BB2967BC-5825-99EB-9D5D-3D17746E779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/>
            </a:lvl1pPr>
          </a:lstStyle>
          <a:p>
            <a:pPr>
              <a:defRPr/>
            </a:pPr>
            <a:fld id="{E6D591B3-DCF3-F043-9C59-BB04F9914F0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7">
            <a:extLst>
              <a:ext uri="{FF2B5EF4-FFF2-40B4-BE49-F238E27FC236}">
                <a16:creationId xmlns:a16="http://schemas.microsoft.com/office/drawing/2014/main" id="{75B89C86-2FBE-71B4-22CF-B9BB4D5E677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E096839-9A23-C44E-8760-C5E55BF67D9D}" type="slidenum">
              <a:rPr lang="en-US" altLang="en-US" sz="1300" smtClean="0"/>
              <a:pPr>
                <a:spcBef>
                  <a:spcPct val="0"/>
                </a:spcBef>
              </a:pPr>
              <a:t>5</a:t>
            </a:fld>
            <a:endParaRPr lang="en-US" altLang="en-US" sz="1300"/>
          </a:p>
        </p:txBody>
      </p:sp>
      <p:sp>
        <p:nvSpPr>
          <p:cNvPr id="20482" name="Rectangle 2">
            <a:extLst>
              <a:ext uri="{FF2B5EF4-FFF2-40B4-BE49-F238E27FC236}">
                <a16:creationId xmlns:a16="http://schemas.microsoft.com/office/drawing/2014/main" id="{EE405958-0EF7-9163-6B26-4DE0D812D53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22313"/>
            <a:ext cx="4799012" cy="3598862"/>
          </a:xfrm>
          <a:ln/>
        </p:spPr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88872769-AFD3-B31B-F44B-7F79CE32AD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8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7">
            <a:extLst>
              <a:ext uri="{FF2B5EF4-FFF2-40B4-BE49-F238E27FC236}">
                <a16:creationId xmlns:a16="http://schemas.microsoft.com/office/drawing/2014/main" id="{931475C4-0A1F-CC66-E544-47D9FA94194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ECC619D-10D3-534D-AF2B-BEC13C596363}" type="slidenum">
              <a:rPr lang="en-US" altLang="en-US" sz="1300" smtClean="0"/>
              <a:pPr>
                <a:spcBef>
                  <a:spcPct val="0"/>
                </a:spcBef>
              </a:pPr>
              <a:t>8</a:t>
            </a:fld>
            <a:endParaRPr lang="en-US" altLang="en-US" sz="1300"/>
          </a:p>
        </p:txBody>
      </p:sp>
      <p:sp>
        <p:nvSpPr>
          <p:cNvPr id="24578" name="Rectangle 2">
            <a:extLst>
              <a:ext uri="{FF2B5EF4-FFF2-40B4-BE49-F238E27FC236}">
                <a16:creationId xmlns:a16="http://schemas.microsoft.com/office/drawing/2014/main" id="{78B7C998-D137-A978-21A0-D4A3DD92C32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6ED3839A-F7B9-D026-183A-B990D14363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650" tIns="48324" rIns="96650" bIns="48324"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7">
            <a:extLst>
              <a:ext uri="{FF2B5EF4-FFF2-40B4-BE49-F238E27FC236}">
                <a16:creationId xmlns:a16="http://schemas.microsoft.com/office/drawing/2014/main" id="{8FB70E07-4638-5B6C-5F60-8A186A24FB1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89660F1-4416-404A-B899-B7CBB160ECC6}" type="slidenum">
              <a:rPr lang="en-US" altLang="en-US" sz="1300" smtClean="0"/>
              <a:pPr>
                <a:spcBef>
                  <a:spcPct val="0"/>
                </a:spcBef>
              </a:pPr>
              <a:t>9</a:t>
            </a:fld>
            <a:endParaRPr lang="en-US" altLang="en-US" sz="1300"/>
          </a:p>
        </p:txBody>
      </p:sp>
      <p:sp>
        <p:nvSpPr>
          <p:cNvPr id="26626" name="Rectangle 2">
            <a:extLst>
              <a:ext uri="{FF2B5EF4-FFF2-40B4-BE49-F238E27FC236}">
                <a16:creationId xmlns:a16="http://schemas.microsoft.com/office/drawing/2014/main" id="{E6114296-FD86-F5CF-F75C-403BBDAF271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6CAD5842-D426-E30F-D9E6-C8EAB8DB26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650" tIns="48324" rIns="96650" bIns="48324"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7">
            <a:extLst>
              <a:ext uri="{FF2B5EF4-FFF2-40B4-BE49-F238E27FC236}">
                <a16:creationId xmlns:a16="http://schemas.microsoft.com/office/drawing/2014/main" id="{6A89D58E-EA4E-7D89-2665-C2D984B8560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E92205E-F2D4-6143-AC22-5E9B1F703E9C}" type="slidenum">
              <a:rPr lang="en-US" altLang="en-US" sz="1300" smtClean="0"/>
              <a:pPr>
                <a:spcBef>
                  <a:spcPct val="0"/>
                </a:spcBef>
              </a:pPr>
              <a:t>12</a:t>
            </a:fld>
            <a:endParaRPr lang="en-US" altLang="en-US" sz="1300"/>
          </a:p>
        </p:txBody>
      </p:sp>
      <p:sp>
        <p:nvSpPr>
          <p:cNvPr id="30722" name="Rectangle 2">
            <a:extLst>
              <a:ext uri="{FF2B5EF4-FFF2-40B4-BE49-F238E27FC236}">
                <a16:creationId xmlns:a16="http://schemas.microsoft.com/office/drawing/2014/main" id="{1AE2FF3D-BE0B-803C-5787-3A18DA407DE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22313"/>
            <a:ext cx="4799012" cy="3598862"/>
          </a:xfrm>
          <a:ln/>
        </p:spPr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CAD0968A-BDF7-8428-CCC1-E7D11278A0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8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45393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DF080-5E8C-48AD-84E5-6C08B304C14E}" type="datetimeFigureOut">
              <a:rPr lang="en-US" smtClean="0"/>
              <a:t>10/13/2024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          </a:t>
            </a:r>
            <a:r>
              <a:rPr lang="en-US" sz="1100"/>
              <a:t>Department of Computer Science                        University of Wisconsin - Milwaukee                     CS535 Fall 2008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33891-D5E7-4C7B-BF1D-E855E53CB5A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11865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          </a:t>
            </a:r>
            <a:r>
              <a:rPr lang="en-US" sz="1100"/>
              <a:t>Department of Computer Science                        University of Wisconsin - Milwaukee                     CS535 Fall 2008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99786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          </a:t>
            </a:r>
            <a:r>
              <a:rPr lang="en-US" sz="1100"/>
              <a:t>Department of Computer Science                        University of Wisconsin - Milwaukee                     CS535 Fall 2008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3152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10/13/2024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          </a:t>
            </a:r>
            <a:r>
              <a:rPr lang="en-US" sz="1100"/>
              <a:t>Department of Computer Science                        University of Wisconsin - Milwaukee                     CS535 Fall 2008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0758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10/13/2024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          </a:t>
            </a:r>
            <a:r>
              <a:rPr lang="en-US" sz="1100"/>
              <a:t>Department of Computer Science                        University of Wisconsin - Milwaukee                     CS535 Fall 2008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32033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10/13/2024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          </a:t>
            </a:r>
            <a:r>
              <a:rPr lang="en-US" sz="1100"/>
              <a:t>Department of Computer Science                        University of Wisconsin - Milwaukee                     CS535 Fall 2008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9746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DF080-5E8C-48AD-84E5-6C08B304C14E}" type="datetimeFigureOut">
              <a:rPr lang="en-US" smtClean="0"/>
              <a:t>10/13/2024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          </a:t>
            </a:r>
            <a:r>
              <a:rPr lang="en-US" sz="1100"/>
              <a:t>Department of Computer Science                        University of Wisconsin - Milwaukee                     CS535 Fall 2008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33891-D5E7-4C7B-BF1D-E855E53CB5A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2738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          </a:t>
            </a:r>
            <a:r>
              <a:rPr lang="en-US" sz="1100"/>
              <a:t>Department of Computer Science                        University of Wisconsin - Milwaukee                     CS535 Fall 2008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66508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7474314"/>
      </p:ext>
    </p:extLst>
  </p:cSld>
  <p:clrMapOvr>
    <a:masterClrMapping/>
  </p:clrMapOvr>
  <p:hf sldNum="0"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48214155"/>
      </p:ext>
    </p:extLst>
  </p:cSld>
  <p:clrMapOvr>
    <a:masterClrMapping/>
  </p:clrMapOvr>
  <p:hf sldNum="0"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836940"/>
      </p:ext>
    </p:extLst>
  </p:cSld>
  <p:clrMapOvr>
    <a:masterClrMapping/>
  </p:clrMapOvr>
  <p:hf sldNum="0"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10388198"/>
      </p:ext>
    </p:extLst>
  </p:cSld>
  <p:clrMapOvr>
    <a:masterClrMapping/>
  </p:clrMapOvr>
  <p:hf sldNum="0"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1824093"/>
      </p:ext>
    </p:extLst>
  </p:cSld>
  <p:clrMapOvr>
    <a:masterClrMapping/>
  </p:clrMapOvr>
  <p:hf sldNum="0"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DF080-5E8C-48AD-84E5-6C08B304C14E}" type="datetimeFigureOut">
              <a:rPr lang="en-US" smtClean="0"/>
              <a:t>10/13/2024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          </a:t>
            </a:r>
            <a:r>
              <a:rPr lang="en-US" sz="1100"/>
              <a:t>Department of Computer Science                        University of Wisconsin - Milwaukee                     CS535 Fall 2008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33891-D5E7-4C7B-BF1D-E855E53CB5A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22573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          </a:t>
            </a:r>
            <a:r>
              <a:rPr lang="en-US" sz="1100"/>
              <a:t>Department of Computer Science                        University of Wisconsin - Milwaukee                     CS535 Fall 2008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1458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10/13/2024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Rectangle 9">
            <a:extLst>
              <a:ext uri="{FF2B5EF4-FFF2-40B4-BE49-F238E27FC236}">
                <a16:creationId xmlns:a16="http://schemas.microsoft.com/office/drawing/2014/main" id="{395BC7D1-294A-25E4-736E-98F7A192889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9144000" cy="6591300"/>
          </a:xfrm>
          <a:prstGeom prst="rect">
            <a:avLst/>
          </a:prstGeom>
          <a:noFill/>
          <a:ln w="38100" cmpd="dbl" algn="ctr">
            <a:solidFill>
              <a:srgbClr val="0000FF"/>
            </a:solidFill>
            <a:miter lim="800000"/>
            <a:headEnd/>
            <a:tailEnd/>
          </a:ln>
        </p:spPr>
        <p:txBody>
          <a:bodyPr wrap="none" anchor="ctr"/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/>
          </a:p>
        </p:txBody>
      </p:sp>
      <p:pic>
        <p:nvPicPr>
          <p:cNvPr id="19" name="Picture 14" descr="logo-1">
            <a:extLst>
              <a:ext uri="{FF2B5EF4-FFF2-40B4-BE49-F238E27FC236}">
                <a16:creationId xmlns:a16="http://schemas.microsoft.com/office/drawing/2014/main" id="{0747B17D-AB61-C7E3-1459-DCBCC269C8F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6619875"/>
            <a:ext cx="914400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Footer Placeholder 3">
            <a:extLst>
              <a:ext uri="{FF2B5EF4-FFF2-40B4-BE49-F238E27FC236}">
                <a16:creationId xmlns:a16="http://schemas.microsoft.com/office/drawing/2014/main" id="{32624773-E5ED-9F16-3DEF-E0355B351209}"/>
              </a:ext>
            </a:extLst>
          </p:cNvPr>
          <p:cNvSpPr>
            <a:spLocks noGrp="1"/>
          </p:cNvSpPr>
          <p:nvPr userDrawn="1"/>
        </p:nvSpPr>
        <p:spPr bwMode="auto">
          <a:xfrm>
            <a:off x="1219200" y="6583363"/>
            <a:ext cx="7924800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en-US" sz="1100" dirty="0">
                <a:solidFill>
                  <a:schemeClr val="accent2"/>
                </a:solidFill>
              </a:rPr>
              <a:t>     Algorithm Design and Analysis (Spring 2024)                                       Lecture 3                                     Slides </a:t>
            </a:r>
            <a:fld id="{71D0FC73-B4FC-4E47-A678-29EA7086B23F}" type="slidenum">
              <a:rPr lang="en-US" altLang="en-US" sz="1100" smtClean="0">
                <a:solidFill>
                  <a:schemeClr val="accent2"/>
                </a:solidFill>
              </a:rPr>
              <a:pPr>
                <a:defRPr/>
              </a:pPr>
              <a:t>‹#›</a:t>
            </a:fld>
            <a:r>
              <a:rPr lang="en-US" altLang="en-US" sz="1100" dirty="0">
                <a:solidFill>
                  <a:schemeClr val="accent2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71792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  <p:sldLayoutId id="2147483813" r:id="rId10"/>
    <p:sldLayoutId id="2147483814" r:id="rId11"/>
    <p:sldLayoutId id="2147483815" r:id="rId12"/>
    <p:sldLayoutId id="2147483816" r:id="rId13"/>
    <p:sldLayoutId id="2147483817" r:id="rId14"/>
    <p:sldLayoutId id="2147483818" r:id="rId15"/>
    <p:sldLayoutId id="2147483819" r:id="rId16"/>
  </p:sldLayoutIdLs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2">
            <a:extLst>
              <a:ext uri="{FF2B5EF4-FFF2-40B4-BE49-F238E27FC236}">
                <a16:creationId xmlns:a16="http://schemas.microsoft.com/office/drawing/2014/main" id="{A5979FEF-2503-9FA0-5718-41584D05FB5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04800" y="1066800"/>
            <a:ext cx="8534400" cy="1698625"/>
          </a:xfrm>
        </p:spPr>
        <p:txBody>
          <a:bodyPr/>
          <a:lstStyle/>
          <a:p>
            <a:pPr algn="ctr" eaLnBrk="1" hangingPunct="1"/>
            <a:r>
              <a:rPr lang="en-US" altLang="en-US" sz="2000" dirty="0">
                <a:solidFill>
                  <a:srgbClr val="FF9900"/>
                </a:solidFill>
              </a:rPr>
              <a:t>CS535: Algorithm Design and Analysis</a:t>
            </a: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r>
              <a:rPr lang="en-US" altLang="en-US" dirty="0"/>
              <a:t> </a:t>
            </a:r>
            <a:r>
              <a:rPr lang="en-US" altLang="en-US" sz="2400" dirty="0" err="1"/>
              <a:t>Analysis</a:t>
            </a:r>
            <a:r>
              <a:rPr lang="en-US" altLang="en-US" sz="2400" dirty="0"/>
              <a:t> of Algorithms: </a:t>
            </a:r>
            <a:br>
              <a:rPr lang="en-US" altLang="en-US" sz="2400" dirty="0"/>
            </a:br>
            <a:r>
              <a:rPr lang="en-US" altLang="en-US" sz="2400" dirty="0"/>
              <a:t>Methodologies and Case Studies</a:t>
            </a:r>
          </a:p>
        </p:txBody>
      </p:sp>
      <p:sp>
        <p:nvSpPr>
          <p:cNvPr id="14338" name="Rectangle 3">
            <a:extLst>
              <a:ext uri="{FF2B5EF4-FFF2-40B4-BE49-F238E27FC236}">
                <a16:creationId xmlns:a16="http://schemas.microsoft.com/office/drawing/2014/main" id="{8DD9745C-A673-ACDA-601C-816EAA5298B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657600"/>
            <a:ext cx="6400800" cy="1981200"/>
          </a:xfrm>
        </p:spPr>
        <p:txBody>
          <a:bodyPr/>
          <a:lstStyle/>
          <a:p>
            <a:pPr algn="ctr" eaLnBrk="1" hangingPunct="1"/>
            <a:r>
              <a:rPr lang="en-US" altLang="en-US" sz="2000" b="1" dirty="0">
                <a:solidFill>
                  <a:srgbClr val="0000FF"/>
                </a:solidFill>
              </a:rPr>
              <a:t>Prof. Rohit P. Singh</a:t>
            </a:r>
          </a:p>
          <a:p>
            <a:pPr algn="ctr" eaLnBrk="1" hangingPunct="1"/>
            <a:r>
              <a:rPr lang="en-US" altLang="en-US" sz="1600" b="1" dirty="0">
                <a:solidFill>
                  <a:srgbClr val="0000FF"/>
                </a:solidFill>
              </a:rPr>
              <a:t>Department of Computer Science</a:t>
            </a:r>
          </a:p>
          <a:p>
            <a:pPr algn="ctr" eaLnBrk="1" hangingPunct="1"/>
            <a:r>
              <a:rPr lang="en-US" altLang="en-US" sz="1600" b="1" dirty="0">
                <a:solidFill>
                  <a:srgbClr val="0000FF"/>
                </a:solidFill>
              </a:rPr>
              <a:t>University of Wisconsin, Milwaukee</a:t>
            </a:r>
          </a:p>
          <a:p>
            <a:pPr algn="ctr" eaLnBrk="1" hangingPunct="1"/>
            <a:endParaRPr lang="en-US" altLang="en-US" sz="1600" b="1" dirty="0">
              <a:solidFill>
                <a:srgbClr val="0000FF"/>
              </a:solidFill>
            </a:endParaRPr>
          </a:p>
          <a:p>
            <a:pPr algn="ctr" eaLnBrk="1" hangingPunct="1"/>
            <a:r>
              <a:rPr lang="en-US" altLang="en-US" sz="1600" b="1" dirty="0">
                <a:solidFill>
                  <a:srgbClr val="0000FF"/>
                </a:solidFill>
              </a:rPr>
              <a:t>September 11, 2024</a:t>
            </a:r>
          </a:p>
        </p:txBody>
      </p:sp>
      <p:sp>
        <p:nvSpPr>
          <p:cNvPr id="14339" name="TextBox 3">
            <a:extLst>
              <a:ext uri="{FF2B5EF4-FFF2-40B4-BE49-F238E27FC236}">
                <a16:creationId xmlns:a16="http://schemas.microsoft.com/office/drawing/2014/main" id="{F5F723DD-4DFE-E40C-F07B-D4881AA609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5638800"/>
            <a:ext cx="8610600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Readings: Chapter 1.4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CCBDF2C-DCB5-212E-FE06-B656827C61DF}"/>
              </a:ext>
            </a:extLst>
          </p:cNvPr>
          <p:cNvSpPr/>
          <p:nvPr/>
        </p:nvSpPr>
        <p:spPr bwMode="auto">
          <a:xfrm>
            <a:off x="762000" y="914400"/>
            <a:ext cx="7848600" cy="9906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eaLnBrk="1" hangingPunct="1">
              <a:defRPr/>
            </a:pP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16386" name="Rectangle 2">
            <a:extLst>
              <a:ext uri="{FF2B5EF4-FFF2-40B4-BE49-F238E27FC236}">
                <a16:creationId xmlns:a16="http://schemas.microsoft.com/office/drawing/2014/main" id="{8B1BB6C5-0DC4-A822-2B55-089FEC38D6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90800" y="0"/>
            <a:ext cx="4194175" cy="914400"/>
          </a:xfrm>
        </p:spPr>
        <p:txBody>
          <a:bodyPr/>
          <a:lstStyle/>
          <a:p>
            <a:pPr eaLnBrk="1" hangingPunct="1"/>
            <a:r>
              <a:rPr lang="en-US" altLang="en-US" sz="2400"/>
              <a:t>Review: Big-Oh Rules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406B9F14-8753-5ABC-AB8B-E3657A1411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2133600"/>
            <a:ext cx="8077200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FontTx/>
              <a:buChar char="•"/>
              <a:tabLst>
                <a:tab pos="1028700" algn="l"/>
              </a:tabLst>
              <a:defRPr/>
            </a:pPr>
            <a:r>
              <a:rPr lang="en-US" sz="2200" kern="0" dirty="0">
                <a:latin typeface="+mn-lt"/>
                <a:cs typeface="+mn-cs"/>
              </a:rPr>
              <a:t>In general, the following growth rate applies:</a:t>
            </a:r>
          </a:p>
          <a:p>
            <a:pPr marL="342900" indent="-342900" eaLnBrk="1" hangingPunct="1">
              <a:spcBef>
                <a:spcPct val="20000"/>
              </a:spcBef>
              <a:tabLst>
                <a:tab pos="1028700" algn="l"/>
              </a:tabLst>
              <a:defRPr/>
            </a:pPr>
            <a:r>
              <a:rPr lang="en-US" sz="1600" kern="0" dirty="0">
                <a:latin typeface="+mn-lt"/>
                <a:cs typeface="+mn-cs"/>
              </a:rPr>
              <a:t>	O(1)  O(</a:t>
            </a:r>
            <a:r>
              <a:rPr lang="en-US" sz="1600" kern="0" dirty="0" err="1">
                <a:latin typeface="+mn-lt"/>
                <a:cs typeface="+mn-cs"/>
              </a:rPr>
              <a:t>log</a:t>
            </a:r>
            <a:r>
              <a:rPr lang="en-US" sz="1600" i="1" kern="0" dirty="0" err="1">
                <a:latin typeface="+mn-lt"/>
                <a:cs typeface="+mn-cs"/>
              </a:rPr>
              <a:t>n</a:t>
            </a:r>
            <a:r>
              <a:rPr lang="en-US" sz="1600" kern="0" dirty="0">
                <a:latin typeface="+mn-lt"/>
                <a:cs typeface="+mn-cs"/>
              </a:rPr>
              <a:t>)  O(log</a:t>
            </a:r>
            <a:r>
              <a:rPr lang="en-US" sz="1600" kern="0" baseline="30000" dirty="0">
                <a:latin typeface="+mn-lt"/>
                <a:cs typeface="+mn-cs"/>
              </a:rPr>
              <a:t>2</a:t>
            </a:r>
            <a:r>
              <a:rPr lang="en-US" sz="1600" kern="0" dirty="0">
                <a:latin typeface="+mn-lt"/>
                <a:cs typeface="+mn-cs"/>
              </a:rPr>
              <a:t>n)  O(sqrt(n))  O(</a:t>
            </a:r>
            <a:r>
              <a:rPr lang="en-US" sz="1600" i="1" kern="0" dirty="0">
                <a:latin typeface="+mn-lt"/>
                <a:cs typeface="+mn-cs"/>
              </a:rPr>
              <a:t>n</a:t>
            </a:r>
            <a:r>
              <a:rPr lang="en-US" sz="1600" kern="0" dirty="0">
                <a:latin typeface="+mn-lt"/>
                <a:cs typeface="+mn-cs"/>
              </a:rPr>
              <a:t>)  O(</a:t>
            </a:r>
            <a:r>
              <a:rPr lang="en-US" sz="1600" kern="0" dirty="0" err="1">
                <a:latin typeface="+mn-lt"/>
                <a:cs typeface="+mn-cs"/>
              </a:rPr>
              <a:t>nlogn</a:t>
            </a:r>
            <a:r>
              <a:rPr lang="en-US" sz="1600" kern="0" dirty="0">
                <a:latin typeface="+mn-lt"/>
                <a:cs typeface="+mn-cs"/>
              </a:rPr>
              <a:t>)  O(</a:t>
            </a:r>
            <a:r>
              <a:rPr lang="en-US" sz="1600" i="1" kern="0" dirty="0">
                <a:latin typeface="+mn-lt"/>
                <a:cs typeface="+mn-cs"/>
              </a:rPr>
              <a:t>n</a:t>
            </a:r>
            <a:r>
              <a:rPr lang="en-US" sz="1600" i="1" kern="0" baseline="30000" dirty="0">
                <a:latin typeface="+mn-lt"/>
                <a:cs typeface="+mn-cs"/>
              </a:rPr>
              <a:t>2</a:t>
            </a:r>
            <a:r>
              <a:rPr lang="en-US" sz="1600" kern="0" dirty="0">
                <a:latin typeface="+mn-lt"/>
                <a:cs typeface="+mn-cs"/>
              </a:rPr>
              <a:t>)  O(</a:t>
            </a:r>
            <a:r>
              <a:rPr lang="en-US" sz="1600" i="1" kern="0" dirty="0" err="1">
                <a:latin typeface="+mn-lt"/>
                <a:cs typeface="+mn-cs"/>
              </a:rPr>
              <a:t>n</a:t>
            </a:r>
            <a:r>
              <a:rPr lang="en-US" sz="1600" i="1" kern="0" baseline="30000" dirty="0" err="1">
                <a:latin typeface="+mn-lt"/>
                <a:cs typeface="+mn-cs"/>
              </a:rPr>
              <a:t>k</a:t>
            </a:r>
            <a:r>
              <a:rPr lang="en-US" sz="1600" kern="0" dirty="0">
                <a:latin typeface="+mn-lt"/>
                <a:cs typeface="+mn-cs"/>
              </a:rPr>
              <a:t>) (</a:t>
            </a:r>
            <a:r>
              <a:rPr lang="en-US" sz="1600" i="1" kern="0" dirty="0">
                <a:latin typeface="+mn-lt"/>
                <a:cs typeface="+mn-cs"/>
              </a:rPr>
              <a:t>k</a:t>
            </a:r>
            <a:r>
              <a:rPr lang="en-US" sz="1600" kern="0" dirty="0">
                <a:latin typeface="+mn-lt"/>
                <a:cs typeface="+mn-cs"/>
              </a:rPr>
              <a:t>&gt;=2)  O(</a:t>
            </a:r>
            <a:r>
              <a:rPr lang="en-US" sz="1600" i="1" kern="0" dirty="0">
                <a:latin typeface="+mn-lt"/>
                <a:cs typeface="+mn-cs"/>
              </a:rPr>
              <a:t>a</a:t>
            </a:r>
            <a:r>
              <a:rPr lang="en-US" sz="1600" i="1" kern="0" baseline="30000" dirty="0">
                <a:latin typeface="+mn-lt"/>
                <a:cs typeface="+mn-cs"/>
              </a:rPr>
              <a:t>n</a:t>
            </a:r>
            <a:r>
              <a:rPr lang="en-US" sz="1600" kern="0" dirty="0">
                <a:latin typeface="+mn-lt"/>
                <a:cs typeface="+mn-cs"/>
              </a:rPr>
              <a:t>) (</a:t>
            </a:r>
            <a:r>
              <a:rPr lang="en-US" sz="1600" i="1" kern="0" dirty="0">
                <a:latin typeface="+mn-lt"/>
                <a:cs typeface="+mn-cs"/>
              </a:rPr>
              <a:t>a</a:t>
            </a:r>
            <a:r>
              <a:rPr lang="en-US" sz="1600" kern="0" dirty="0">
                <a:latin typeface="+mn-lt"/>
                <a:cs typeface="+mn-cs"/>
              </a:rPr>
              <a:t>&gt;1)</a:t>
            </a:r>
          </a:p>
          <a:p>
            <a:pPr marL="342900" indent="-342900" eaLnBrk="1" hangingPunct="1">
              <a:spcBef>
                <a:spcPct val="20000"/>
              </a:spcBef>
              <a:buFontTx/>
              <a:buChar char="•"/>
              <a:tabLst>
                <a:tab pos="1028700" algn="l"/>
              </a:tabLst>
              <a:defRPr/>
            </a:pPr>
            <a:endParaRPr lang="en-US" sz="1600" kern="0" dirty="0">
              <a:latin typeface="+mn-lt"/>
              <a:cs typeface="+mn-cs"/>
            </a:endParaRPr>
          </a:p>
          <a:p>
            <a:pPr marL="342900" indent="-342900" eaLnBrk="1" hangingPunct="1">
              <a:spcBef>
                <a:spcPct val="20000"/>
              </a:spcBef>
              <a:buFontTx/>
              <a:buChar char="•"/>
              <a:tabLst>
                <a:tab pos="1028700" algn="l"/>
              </a:tabLst>
              <a:defRPr/>
            </a:pPr>
            <a:r>
              <a:rPr lang="en-US" sz="2200" kern="0" dirty="0">
                <a:latin typeface="+mn-lt"/>
                <a:cs typeface="+mn-cs"/>
              </a:rPr>
              <a:t>If </a:t>
            </a:r>
            <a:r>
              <a:rPr lang="en-US" sz="2200" b="1" i="1" kern="0" dirty="0">
                <a:latin typeface="Times New Roman" pitchFamily="18" charset="0"/>
                <a:cs typeface="+mn-cs"/>
                <a:sym typeface="Symbol" pitchFamily="18" charset="2"/>
              </a:rPr>
              <a:t>f</a:t>
            </a:r>
            <a:r>
              <a:rPr lang="en-US" sz="2200" kern="0" dirty="0">
                <a:latin typeface="Times New Roman" pitchFamily="18" charset="0"/>
                <a:cs typeface="+mn-cs"/>
                <a:sym typeface="Symbol" pitchFamily="18" charset="2"/>
              </a:rPr>
              <a:t>(</a:t>
            </a:r>
            <a:r>
              <a:rPr lang="en-US" sz="2200" b="1" i="1" kern="0" dirty="0">
                <a:latin typeface="Times New Roman" pitchFamily="18" charset="0"/>
                <a:cs typeface="+mn-cs"/>
                <a:sym typeface="Symbol" pitchFamily="18" charset="2"/>
              </a:rPr>
              <a:t>n</a:t>
            </a:r>
            <a:r>
              <a:rPr lang="en-US" sz="2200" kern="0" dirty="0">
                <a:latin typeface="Times New Roman" pitchFamily="18" charset="0"/>
                <a:cs typeface="+mn-cs"/>
                <a:sym typeface="Symbol" pitchFamily="18" charset="2"/>
              </a:rPr>
              <a:t>)</a:t>
            </a:r>
            <a:r>
              <a:rPr lang="en-US" sz="2200" kern="0" dirty="0">
                <a:latin typeface="+mn-lt"/>
                <a:cs typeface="+mn-cs"/>
              </a:rPr>
              <a:t> is a polynomial of degree </a:t>
            </a:r>
            <a:r>
              <a:rPr lang="en-US" sz="2200" b="1" i="1" kern="0" dirty="0">
                <a:latin typeface="Times New Roman" pitchFamily="18" charset="0"/>
                <a:cs typeface="+mn-cs"/>
                <a:sym typeface="Symbol" pitchFamily="18" charset="2"/>
              </a:rPr>
              <a:t>d</a:t>
            </a:r>
            <a:r>
              <a:rPr lang="en-US" sz="2200" kern="0" dirty="0">
                <a:latin typeface="+mn-lt"/>
                <a:cs typeface="+mn-cs"/>
              </a:rPr>
              <a:t>, then </a:t>
            </a:r>
            <a:r>
              <a:rPr lang="en-US" sz="2200" b="1" i="1" kern="0" dirty="0">
                <a:latin typeface="Times New Roman" pitchFamily="18" charset="0"/>
                <a:cs typeface="+mn-cs"/>
                <a:sym typeface="Symbol" pitchFamily="18" charset="2"/>
              </a:rPr>
              <a:t>f</a:t>
            </a:r>
            <a:r>
              <a:rPr lang="en-US" sz="2200" kern="0" dirty="0">
                <a:latin typeface="Times New Roman" pitchFamily="18" charset="0"/>
                <a:cs typeface="+mn-cs"/>
                <a:sym typeface="Symbol" pitchFamily="18" charset="2"/>
              </a:rPr>
              <a:t>(</a:t>
            </a:r>
            <a:r>
              <a:rPr lang="en-US" sz="2200" b="1" i="1" kern="0" dirty="0">
                <a:latin typeface="Times New Roman" pitchFamily="18" charset="0"/>
                <a:cs typeface="+mn-cs"/>
                <a:sym typeface="Symbol" pitchFamily="18" charset="2"/>
              </a:rPr>
              <a:t>n</a:t>
            </a:r>
            <a:r>
              <a:rPr lang="en-US" sz="2200" kern="0" dirty="0">
                <a:latin typeface="Times New Roman" pitchFamily="18" charset="0"/>
                <a:cs typeface="+mn-cs"/>
                <a:sym typeface="Symbol" pitchFamily="18" charset="2"/>
              </a:rPr>
              <a:t>)</a:t>
            </a:r>
            <a:r>
              <a:rPr lang="en-US" sz="2200" kern="0" dirty="0">
                <a:latin typeface="+mn-lt"/>
                <a:cs typeface="+mn-cs"/>
              </a:rPr>
              <a:t> is </a:t>
            </a:r>
            <a:r>
              <a:rPr lang="en-US" sz="2200" b="1" i="1" kern="0" dirty="0">
                <a:latin typeface="Times New Roman" pitchFamily="18" charset="0"/>
                <a:cs typeface="+mn-cs"/>
                <a:sym typeface="Symbol" pitchFamily="18" charset="2"/>
              </a:rPr>
              <a:t>O</a:t>
            </a:r>
            <a:r>
              <a:rPr lang="en-US" sz="2200" kern="0" dirty="0">
                <a:latin typeface="Times New Roman" pitchFamily="18" charset="0"/>
                <a:cs typeface="+mn-cs"/>
                <a:sym typeface="Symbol" pitchFamily="18" charset="2"/>
              </a:rPr>
              <a:t>(</a:t>
            </a:r>
            <a:r>
              <a:rPr lang="en-US" sz="2200" b="1" i="1" kern="0" dirty="0" err="1">
                <a:latin typeface="Times New Roman" pitchFamily="18" charset="0"/>
                <a:cs typeface="+mn-cs"/>
                <a:sym typeface="Symbol" pitchFamily="18" charset="2"/>
              </a:rPr>
              <a:t>n</a:t>
            </a:r>
            <a:r>
              <a:rPr lang="en-US" sz="2200" b="1" i="1" kern="0" baseline="30000" dirty="0" err="1">
                <a:latin typeface="Times New Roman" pitchFamily="18" charset="0"/>
                <a:cs typeface="+mn-cs"/>
                <a:sym typeface="Symbol" pitchFamily="18" charset="2"/>
              </a:rPr>
              <a:t>d</a:t>
            </a:r>
            <a:r>
              <a:rPr lang="en-US" sz="2200" kern="0" dirty="0">
                <a:latin typeface="Times New Roman" pitchFamily="18" charset="0"/>
                <a:cs typeface="+mn-cs"/>
                <a:sym typeface="Symbol" pitchFamily="18" charset="2"/>
              </a:rPr>
              <a:t>)</a:t>
            </a:r>
            <a:r>
              <a:rPr lang="en-US" sz="2200" kern="0" dirty="0">
                <a:latin typeface="+mn-lt"/>
                <a:cs typeface="+mn-cs"/>
              </a:rPr>
              <a:t>, i.e.,</a:t>
            </a:r>
          </a:p>
          <a:p>
            <a:pPr marL="1028700" lvl="1" indent="-285750" eaLnBrk="1" hangingPunct="1">
              <a:spcBef>
                <a:spcPct val="20000"/>
              </a:spcBef>
              <a:buFont typeface="Wingdings" pitchFamily="2" charset="2"/>
              <a:buAutoNum type="arabicPeriod"/>
              <a:tabLst>
                <a:tab pos="1028700" algn="l"/>
              </a:tabLst>
              <a:defRPr/>
            </a:pPr>
            <a:r>
              <a:rPr lang="en-US" kern="0" dirty="0">
                <a:latin typeface="+mn-lt"/>
                <a:cs typeface="+mn-cs"/>
              </a:rPr>
              <a:t>Drop lower-order terms</a:t>
            </a:r>
          </a:p>
          <a:p>
            <a:pPr marL="1028700" lvl="1" indent="-285750" eaLnBrk="1" hangingPunct="1">
              <a:spcBef>
                <a:spcPct val="20000"/>
              </a:spcBef>
              <a:buFont typeface="Wingdings" pitchFamily="2" charset="2"/>
              <a:buAutoNum type="arabicPeriod"/>
              <a:tabLst>
                <a:tab pos="1028700" algn="l"/>
              </a:tabLst>
              <a:defRPr/>
            </a:pPr>
            <a:r>
              <a:rPr lang="en-US" kern="0" dirty="0">
                <a:latin typeface="+mn-lt"/>
                <a:cs typeface="+mn-cs"/>
              </a:rPr>
              <a:t>Drop constant coefficients</a:t>
            </a:r>
          </a:p>
          <a:p>
            <a:pPr marL="1028700" lvl="1" indent="-285750" eaLnBrk="1" hangingPunct="1">
              <a:spcBef>
                <a:spcPct val="20000"/>
              </a:spcBef>
              <a:buFont typeface="Wingdings" pitchFamily="2" charset="2"/>
              <a:buNone/>
              <a:tabLst>
                <a:tab pos="1028700" algn="l"/>
              </a:tabLst>
              <a:defRPr/>
            </a:pPr>
            <a:endParaRPr lang="en-US" kern="0" dirty="0">
              <a:latin typeface="+mn-lt"/>
              <a:cs typeface="+mn-cs"/>
            </a:endParaRPr>
          </a:p>
          <a:p>
            <a:pPr marL="342900" indent="-342900" eaLnBrk="1" hangingPunct="1">
              <a:spcBef>
                <a:spcPct val="20000"/>
              </a:spcBef>
              <a:buFontTx/>
              <a:buChar char="•"/>
              <a:tabLst>
                <a:tab pos="1028700" algn="l"/>
              </a:tabLst>
              <a:defRPr/>
            </a:pPr>
            <a:r>
              <a:rPr lang="en-US" sz="2200" kern="0" dirty="0">
                <a:latin typeface="+mn-lt"/>
                <a:cs typeface="+mn-cs"/>
              </a:rPr>
              <a:t>Use the smallest possible class of functions</a:t>
            </a:r>
          </a:p>
          <a:p>
            <a:pPr marL="1028700" lvl="1" indent="-285750" eaLnBrk="1" hangingPunct="1">
              <a:spcBef>
                <a:spcPct val="20000"/>
              </a:spcBef>
              <a:buFontTx/>
              <a:buChar char="–"/>
              <a:tabLst>
                <a:tab pos="1028700" algn="l"/>
              </a:tabLst>
              <a:defRPr/>
            </a:pPr>
            <a:r>
              <a:rPr lang="en-US" kern="0" dirty="0">
                <a:latin typeface="+mn-lt"/>
                <a:cs typeface="+mn-cs"/>
              </a:rPr>
              <a:t>Say “</a:t>
            </a:r>
            <a:r>
              <a:rPr lang="en-US" kern="0" dirty="0">
                <a:latin typeface="Times New Roman" pitchFamily="18" charset="0"/>
                <a:cs typeface="+mn-cs"/>
                <a:sym typeface="Symbol" pitchFamily="18" charset="2"/>
              </a:rPr>
              <a:t>2</a:t>
            </a:r>
            <a:r>
              <a:rPr lang="en-US" b="1" i="1" kern="0" dirty="0">
                <a:latin typeface="Times New Roman" pitchFamily="18" charset="0"/>
                <a:cs typeface="+mn-cs"/>
                <a:sym typeface="Symbol" pitchFamily="18" charset="2"/>
              </a:rPr>
              <a:t>n</a:t>
            </a:r>
            <a:r>
              <a:rPr lang="en-US" kern="0" dirty="0">
                <a:latin typeface="+mn-lt"/>
                <a:cs typeface="+mn-cs"/>
                <a:sym typeface="Symbol" pitchFamily="18" charset="2"/>
              </a:rPr>
              <a:t> is </a:t>
            </a:r>
            <a:r>
              <a:rPr lang="en-US" b="1" i="1" kern="0" dirty="0">
                <a:latin typeface="Times New Roman" pitchFamily="18" charset="0"/>
                <a:cs typeface="+mn-cs"/>
                <a:sym typeface="Symbol" pitchFamily="18" charset="2"/>
              </a:rPr>
              <a:t>O</a:t>
            </a:r>
            <a:r>
              <a:rPr lang="en-US" kern="0" dirty="0">
                <a:latin typeface="Times New Roman" pitchFamily="18" charset="0"/>
                <a:cs typeface="+mn-cs"/>
                <a:sym typeface="Symbol" pitchFamily="18" charset="2"/>
              </a:rPr>
              <a:t>(</a:t>
            </a:r>
            <a:r>
              <a:rPr lang="en-US" b="1" i="1" kern="0" dirty="0">
                <a:latin typeface="Times New Roman" pitchFamily="18" charset="0"/>
                <a:cs typeface="+mn-cs"/>
                <a:sym typeface="Symbol" pitchFamily="18" charset="2"/>
              </a:rPr>
              <a:t>n</a:t>
            </a:r>
            <a:r>
              <a:rPr lang="en-US" kern="0" dirty="0">
                <a:latin typeface="Times New Roman" pitchFamily="18" charset="0"/>
                <a:cs typeface="+mn-cs"/>
                <a:sym typeface="Symbol" pitchFamily="18" charset="2"/>
              </a:rPr>
              <a:t>)</a:t>
            </a:r>
            <a:r>
              <a:rPr lang="en-US" kern="0" dirty="0">
                <a:latin typeface="+mn-lt"/>
                <a:cs typeface="+mn-cs"/>
                <a:sym typeface="Symbol" pitchFamily="18" charset="2"/>
              </a:rPr>
              <a:t>”</a:t>
            </a:r>
            <a:r>
              <a:rPr lang="en-US" kern="0" dirty="0">
                <a:latin typeface="Times New Roman" pitchFamily="18" charset="0"/>
                <a:cs typeface="+mn-cs"/>
                <a:sym typeface="Symbol" pitchFamily="18" charset="2"/>
              </a:rPr>
              <a:t> </a:t>
            </a:r>
            <a:r>
              <a:rPr lang="en-US" kern="0" dirty="0">
                <a:latin typeface="+mn-lt"/>
                <a:cs typeface="+mn-cs"/>
              </a:rPr>
              <a:t>instead of “</a:t>
            </a:r>
            <a:r>
              <a:rPr lang="en-US" kern="0" dirty="0">
                <a:latin typeface="Times New Roman" pitchFamily="18" charset="0"/>
                <a:cs typeface="+mn-cs"/>
                <a:sym typeface="Symbol" pitchFamily="18" charset="2"/>
              </a:rPr>
              <a:t>2</a:t>
            </a:r>
            <a:r>
              <a:rPr lang="en-US" b="1" i="1" kern="0" dirty="0">
                <a:latin typeface="Times New Roman" pitchFamily="18" charset="0"/>
                <a:cs typeface="+mn-cs"/>
                <a:sym typeface="Symbol" pitchFamily="18" charset="2"/>
              </a:rPr>
              <a:t>n</a:t>
            </a:r>
            <a:r>
              <a:rPr lang="en-US" kern="0" dirty="0">
                <a:latin typeface="+mn-lt"/>
                <a:cs typeface="+mn-cs"/>
                <a:sym typeface="Symbol" pitchFamily="18" charset="2"/>
              </a:rPr>
              <a:t> is </a:t>
            </a:r>
            <a:r>
              <a:rPr lang="en-US" b="1" i="1" kern="0" dirty="0">
                <a:latin typeface="Times New Roman" pitchFamily="18" charset="0"/>
                <a:cs typeface="+mn-cs"/>
                <a:sym typeface="Symbol" pitchFamily="18" charset="2"/>
              </a:rPr>
              <a:t>O</a:t>
            </a:r>
            <a:r>
              <a:rPr lang="en-US" kern="0" dirty="0">
                <a:latin typeface="Times New Roman" pitchFamily="18" charset="0"/>
                <a:cs typeface="+mn-cs"/>
                <a:sym typeface="Symbol" pitchFamily="18" charset="2"/>
              </a:rPr>
              <a:t>(</a:t>
            </a:r>
            <a:r>
              <a:rPr lang="en-US" b="1" i="1" kern="0" dirty="0">
                <a:latin typeface="Times New Roman" pitchFamily="18" charset="0"/>
                <a:cs typeface="+mn-cs"/>
                <a:sym typeface="Symbol" pitchFamily="18" charset="2"/>
              </a:rPr>
              <a:t>n</a:t>
            </a:r>
            <a:r>
              <a:rPr lang="en-US" kern="0" baseline="30000" dirty="0">
                <a:latin typeface="Times New Roman" pitchFamily="18" charset="0"/>
                <a:cs typeface="+mn-cs"/>
                <a:sym typeface="Symbol" pitchFamily="18" charset="2"/>
              </a:rPr>
              <a:t>2</a:t>
            </a:r>
            <a:r>
              <a:rPr lang="en-US" kern="0" dirty="0">
                <a:latin typeface="Times New Roman" pitchFamily="18" charset="0"/>
                <a:cs typeface="+mn-cs"/>
                <a:sym typeface="Symbol" pitchFamily="18" charset="2"/>
              </a:rPr>
              <a:t>)</a:t>
            </a:r>
            <a:r>
              <a:rPr lang="en-US" kern="0" dirty="0">
                <a:latin typeface="+mn-lt"/>
                <a:cs typeface="+mn-cs"/>
                <a:sym typeface="Symbol" pitchFamily="18" charset="2"/>
              </a:rPr>
              <a:t>”</a:t>
            </a:r>
          </a:p>
          <a:p>
            <a:pPr marL="1028700" lvl="1" indent="-285750" eaLnBrk="1" hangingPunct="1">
              <a:spcBef>
                <a:spcPct val="20000"/>
              </a:spcBef>
              <a:buFontTx/>
              <a:buChar char="–"/>
              <a:tabLst>
                <a:tab pos="1028700" algn="l"/>
              </a:tabLst>
              <a:defRPr/>
            </a:pPr>
            <a:endParaRPr lang="en-US" kern="0" dirty="0">
              <a:latin typeface="+mn-lt"/>
              <a:cs typeface="+mn-cs"/>
              <a:sym typeface="Symbol" pitchFamily="18" charset="2"/>
            </a:endParaRPr>
          </a:p>
          <a:p>
            <a:pPr marL="342900" indent="-342900" eaLnBrk="1" hangingPunct="1">
              <a:spcBef>
                <a:spcPct val="20000"/>
              </a:spcBef>
              <a:buFontTx/>
              <a:buChar char="•"/>
              <a:tabLst>
                <a:tab pos="1028700" algn="l"/>
              </a:tabLst>
              <a:defRPr/>
            </a:pPr>
            <a:r>
              <a:rPr lang="en-US" sz="2200" kern="0" dirty="0">
                <a:latin typeface="+mn-lt"/>
                <a:cs typeface="+mn-cs"/>
                <a:sym typeface="Symbol" pitchFamily="18" charset="2"/>
              </a:rPr>
              <a:t>Use the simplest expression of the class</a:t>
            </a:r>
          </a:p>
          <a:p>
            <a:pPr marL="1028700" lvl="1" indent="-285750" eaLnBrk="1" hangingPunct="1">
              <a:spcBef>
                <a:spcPct val="20000"/>
              </a:spcBef>
              <a:buFontTx/>
              <a:buChar char="–"/>
              <a:tabLst>
                <a:tab pos="1028700" algn="l"/>
              </a:tabLst>
              <a:defRPr/>
            </a:pPr>
            <a:r>
              <a:rPr lang="en-US" kern="0" dirty="0">
                <a:latin typeface="+mn-lt"/>
                <a:cs typeface="+mn-cs"/>
              </a:rPr>
              <a:t>Say “</a:t>
            </a:r>
            <a:r>
              <a:rPr lang="en-US" kern="0" dirty="0">
                <a:latin typeface="Times New Roman" pitchFamily="18" charset="0"/>
                <a:cs typeface="+mn-cs"/>
                <a:sym typeface="Symbol" pitchFamily="18" charset="2"/>
              </a:rPr>
              <a:t>3</a:t>
            </a:r>
            <a:r>
              <a:rPr lang="en-US" b="1" i="1" kern="0" dirty="0">
                <a:latin typeface="Times New Roman" pitchFamily="18" charset="0"/>
                <a:cs typeface="+mn-cs"/>
                <a:sym typeface="Symbol" pitchFamily="18" charset="2"/>
              </a:rPr>
              <a:t>n</a:t>
            </a:r>
            <a:r>
              <a:rPr lang="en-US" b="1" kern="0" dirty="0">
                <a:latin typeface="Times New Roman" pitchFamily="18" charset="0"/>
                <a:cs typeface="+mn-cs"/>
                <a:sym typeface="Symbol" pitchFamily="18" charset="2"/>
              </a:rPr>
              <a:t> </a:t>
            </a:r>
            <a:r>
              <a:rPr lang="en-US" kern="0" dirty="0">
                <a:latin typeface="Symbol" pitchFamily="18" charset="2"/>
                <a:cs typeface="+mn-cs"/>
                <a:sym typeface="Symbol" pitchFamily="18" charset="2"/>
              </a:rPr>
              <a:t>+</a:t>
            </a:r>
            <a:r>
              <a:rPr lang="en-US" b="1" kern="0" dirty="0">
                <a:latin typeface="Times New Roman" pitchFamily="18" charset="0"/>
                <a:cs typeface="+mn-cs"/>
                <a:sym typeface="Symbol" pitchFamily="18" charset="2"/>
              </a:rPr>
              <a:t> </a:t>
            </a:r>
            <a:r>
              <a:rPr lang="en-US" kern="0" dirty="0">
                <a:latin typeface="Times New Roman" pitchFamily="18" charset="0"/>
                <a:cs typeface="+mn-cs"/>
                <a:sym typeface="Symbol" pitchFamily="18" charset="2"/>
              </a:rPr>
              <a:t>5</a:t>
            </a:r>
            <a:r>
              <a:rPr lang="en-US" kern="0" dirty="0">
                <a:latin typeface="+mn-lt"/>
                <a:cs typeface="+mn-cs"/>
                <a:sym typeface="Symbol" pitchFamily="18" charset="2"/>
              </a:rPr>
              <a:t> is </a:t>
            </a:r>
            <a:r>
              <a:rPr lang="en-US" b="1" i="1" kern="0" dirty="0">
                <a:latin typeface="Times New Roman" pitchFamily="18" charset="0"/>
                <a:cs typeface="+mn-cs"/>
                <a:sym typeface="Symbol" pitchFamily="18" charset="2"/>
              </a:rPr>
              <a:t>O</a:t>
            </a:r>
            <a:r>
              <a:rPr lang="en-US" kern="0" dirty="0">
                <a:latin typeface="Times New Roman" pitchFamily="18" charset="0"/>
                <a:cs typeface="+mn-cs"/>
                <a:sym typeface="Symbol" pitchFamily="18" charset="2"/>
              </a:rPr>
              <a:t>(</a:t>
            </a:r>
            <a:r>
              <a:rPr lang="en-US" b="1" i="1" kern="0" dirty="0">
                <a:latin typeface="Times New Roman" pitchFamily="18" charset="0"/>
                <a:cs typeface="+mn-cs"/>
                <a:sym typeface="Symbol" pitchFamily="18" charset="2"/>
              </a:rPr>
              <a:t>n</a:t>
            </a:r>
            <a:r>
              <a:rPr lang="en-US" kern="0" dirty="0">
                <a:latin typeface="Times New Roman" pitchFamily="18" charset="0"/>
                <a:cs typeface="+mn-cs"/>
                <a:sym typeface="Symbol" pitchFamily="18" charset="2"/>
              </a:rPr>
              <a:t>)</a:t>
            </a:r>
            <a:r>
              <a:rPr lang="en-US" kern="0" dirty="0">
                <a:latin typeface="+mn-lt"/>
                <a:cs typeface="+mn-cs"/>
                <a:sym typeface="Symbol" pitchFamily="18" charset="2"/>
              </a:rPr>
              <a:t>”</a:t>
            </a:r>
            <a:r>
              <a:rPr lang="en-US" kern="0" dirty="0">
                <a:latin typeface="Times New Roman" pitchFamily="18" charset="0"/>
                <a:cs typeface="+mn-cs"/>
                <a:sym typeface="Symbol" pitchFamily="18" charset="2"/>
              </a:rPr>
              <a:t> </a:t>
            </a:r>
            <a:r>
              <a:rPr lang="en-US" kern="0" dirty="0">
                <a:latin typeface="+mn-lt"/>
                <a:cs typeface="+mn-cs"/>
              </a:rPr>
              <a:t>instead of “</a:t>
            </a:r>
            <a:r>
              <a:rPr lang="en-US" kern="0" dirty="0">
                <a:latin typeface="Times New Roman" pitchFamily="18" charset="0"/>
                <a:cs typeface="+mn-cs"/>
                <a:sym typeface="Symbol" pitchFamily="18" charset="2"/>
              </a:rPr>
              <a:t>3</a:t>
            </a:r>
            <a:r>
              <a:rPr lang="en-US" b="1" i="1" kern="0" dirty="0">
                <a:latin typeface="Times New Roman" pitchFamily="18" charset="0"/>
                <a:cs typeface="+mn-cs"/>
                <a:sym typeface="Symbol" pitchFamily="18" charset="2"/>
              </a:rPr>
              <a:t>n</a:t>
            </a:r>
            <a:r>
              <a:rPr lang="en-US" b="1" kern="0" dirty="0">
                <a:latin typeface="Times New Roman" pitchFamily="18" charset="0"/>
                <a:cs typeface="+mn-cs"/>
                <a:sym typeface="Symbol" pitchFamily="18" charset="2"/>
              </a:rPr>
              <a:t> </a:t>
            </a:r>
            <a:r>
              <a:rPr lang="en-US" kern="0" dirty="0">
                <a:latin typeface="Symbol" pitchFamily="18" charset="2"/>
                <a:cs typeface="+mn-cs"/>
                <a:sym typeface="Symbol" pitchFamily="18" charset="2"/>
              </a:rPr>
              <a:t>+</a:t>
            </a:r>
            <a:r>
              <a:rPr lang="en-US" b="1" kern="0" dirty="0">
                <a:latin typeface="Times New Roman" pitchFamily="18" charset="0"/>
                <a:cs typeface="+mn-cs"/>
                <a:sym typeface="Symbol" pitchFamily="18" charset="2"/>
              </a:rPr>
              <a:t> </a:t>
            </a:r>
            <a:r>
              <a:rPr lang="en-US" kern="0" dirty="0">
                <a:latin typeface="Times New Roman" pitchFamily="18" charset="0"/>
                <a:cs typeface="+mn-cs"/>
                <a:sym typeface="Symbol" pitchFamily="18" charset="2"/>
              </a:rPr>
              <a:t>5</a:t>
            </a:r>
            <a:r>
              <a:rPr lang="en-US" kern="0" dirty="0">
                <a:latin typeface="+mn-lt"/>
                <a:cs typeface="+mn-cs"/>
                <a:sym typeface="Symbol" pitchFamily="18" charset="2"/>
              </a:rPr>
              <a:t> is </a:t>
            </a:r>
            <a:r>
              <a:rPr lang="en-US" b="1" i="1" kern="0" dirty="0">
                <a:latin typeface="Times New Roman" pitchFamily="18" charset="0"/>
                <a:cs typeface="+mn-cs"/>
                <a:sym typeface="Symbol" pitchFamily="18" charset="2"/>
              </a:rPr>
              <a:t>O</a:t>
            </a:r>
            <a:r>
              <a:rPr lang="en-US" kern="0" dirty="0">
                <a:latin typeface="Times New Roman" pitchFamily="18" charset="0"/>
                <a:cs typeface="+mn-cs"/>
                <a:sym typeface="Symbol" pitchFamily="18" charset="2"/>
              </a:rPr>
              <a:t>(3</a:t>
            </a:r>
            <a:r>
              <a:rPr lang="en-US" b="1" i="1" kern="0" dirty="0">
                <a:latin typeface="Times New Roman" pitchFamily="18" charset="0"/>
                <a:cs typeface="+mn-cs"/>
                <a:sym typeface="Symbol" pitchFamily="18" charset="2"/>
              </a:rPr>
              <a:t>n</a:t>
            </a:r>
            <a:r>
              <a:rPr lang="en-US" kern="0" dirty="0">
                <a:latin typeface="Times New Roman" pitchFamily="18" charset="0"/>
                <a:cs typeface="+mn-cs"/>
                <a:sym typeface="Symbol" pitchFamily="18" charset="2"/>
              </a:rPr>
              <a:t>)</a:t>
            </a:r>
            <a:r>
              <a:rPr lang="en-US" kern="0" dirty="0">
                <a:latin typeface="+mn-lt"/>
                <a:cs typeface="+mn-cs"/>
                <a:sym typeface="Symbol" pitchFamily="18" charset="2"/>
              </a:rPr>
              <a:t>”</a:t>
            </a:r>
          </a:p>
        </p:txBody>
      </p:sp>
      <p:sp>
        <p:nvSpPr>
          <p:cNvPr id="16388" name="Line 5">
            <a:extLst>
              <a:ext uri="{FF2B5EF4-FFF2-40B4-BE49-F238E27FC236}">
                <a16:creationId xmlns:a16="http://schemas.microsoft.com/office/drawing/2014/main" id="{E8859CDD-481B-10A8-C559-13355194FBA2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" y="2895600"/>
            <a:ext cx="7467600" cy="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89" name="Rectangle 4">
            <a:extLst>
              <a:ext uri="{FF2B5EF4-FFF2-40B4-BE49-F238E27FC236}">
                <a16:creationId xmlns:a16="http://schemas.microsoft.com/office/drawing/2014/main" id="{0319142A-1DF1-068C-598E-153DB2B068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030288"/>
            <a:ext cx="79248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/>
              <a:t>Given functions </a:t>
            </a:r>
            <a:r>
              <a:rPr lang="en-US" altLang="en-US" sz="2000" i="1" dirty="0">
                <a:solidFill>
                  <a:srgbClr val="FF6600"/>
                </a:solidFill>
                <a:sym typeface="Symbol" pitchFamily="2" charset="2"/>
              </a:rPr>
              <a:t>f</a:t>
            </a:r>
            <a:r>
              <a:rPr lang="en-US" altLang="en-US" sz="2000" dirty="0">
                <a:solidFill>
                  <a:srgbClr val="FF6600"/>
                </a:solidFill>
                <a:sym typeface="Symbol" pitchFamily="2" charset="2"/>
              </a:rPr>
              <a:t>(</a:t>
            </a:r>
            <a:r>
              <a:rPr lang="en-US" altLang="en-US" sz="2000" i="1" dirty="0">
                <a:solidFill>
                  <a:srgbClr val="FF6600"/>
                </a:solidFill>
                <a:sym typeface="Symbol" pitchFamily="2" charset="2"/>
              </a:rPr>
              <a:t>n</a:t>
            </a:r>
            <a:r>
              <a:rPr lang="en-US" altLang="en-US" sz="2000" dirty="0">
                <a:solidFill>
                  <a:srgbClr val="FF6600"/>
                </a:solidFill>
                <a:sym typeface="Symbol" pitchFamily="2" charset="2"/>
              </a:rPr>
              <a:t>)</a:t>
            </a:r>
            <a:r>
              <a:rPr lang="en-US" altLang="en-US" sz="2000" dirty="0">
                <a:sym typeface="Symbol" pitchFamily="2" charset="2"/>
              </a:rPr>
              <a:t> </a:t>
            </a:r>
            <a:r>
              <a:rPr lang="en-US" altLang="en-US" sz="2000" dirty="0"/>
              <a:t>and </a:t>
            </a:r>
            <a:r>
              <a:rPr lang="en-US" altLang="en-US" sz="2000" i="1" dirty="0">
                <a:solidFill>
                  <a:srgbClr val="FF6600"/>
                </a:solidFill>
                <a:sym typeface="Symbol" pitchFamily="2" charset="2"/>
              </a:rPr>
              <a:t>g</a:t>
            </a:r>
            <a:r>
              <a:rPr lang="en-US" altLang="en-US" sz="2000" dirty="0">
                <a:solidFill>
                  <a:srgbClr val="FF6600"/>
                </a:solidFill>
                <a:sym typeface="Symbol" pitchFamily="2" charset="2"/>
              </a:rPr>
              <a:t>(</a:t>
            </a:r>
            <a:r>
              <a:rPr lang="en-US" altLang="en-US" sz="2000" i="1" dirty="0">
                <a:solidFill>
                  <a:srgbClr val="FF6600"/>
                </a:solidFill>
                <a:sym typeface="Symbol" pitchFamily="2" charset="2"/>
              </a:rPr>
              <a:t>n</a:t>
            </a:r>
            <a:r>
              <a:rPr lang="en-US" altLang="en-US" sz="2000" dirty="0">
                <a:solidFill>
                  <a:srgbClr val="FF6600"/>
                </a:solidFill>
                <a:sym typeface="Symbol" pitchFamily="2" charset="2"/>
              </a:rPr>
              <a:t>)</a:t>
            </a:r>
            <a:r>
              <a:rPr lang="en-US" altLang="en-US" sz="2000" dirty="0">
                <a:sym typeface="Symbol" pitchFamily="2" charset="2"/>
              </a:rPr>
              <a:t>, </a:t>
            </a:r>
            <a:r>
              <a:rPr lang="en-US" altLang="en-US" sz="2000" dirty="0"/>
              <a:t>we say that </a:t>
            </a:r>
            <a:r>
              <a:rPr lang="en-US" altLang="en-US" sz="2000" i="1" dirty="0">
                <a:solidFill>
                  <a:srgbClr val="FF6600"/>
                </a:solidFill>
                <a:sym typeface="Symbol" pitchFamily="2" charset="2"/>
              </a:rPr>
              <a:t>f</a:t>
            </a:r>
            <a:r>
              <a:rPr lang="en-US" altLang="en-US" sz="2000" dirty="0">
                <a:solidFill>
                  <a:srgbClr val="FF6600"/>
                </a:solidFill>
                <a:sym typeface="Symbol" pitchFamily="2" charset="2"/>
              </a:rPr>
              <a:t>(</a:t>
            </a:r>
            <a:r>
              <a:rPr lang="en-US" altLang="en-US" sz="2000" i="1" dirty="0">
                <a:solidFill>
                  <a:srgbClr val="FF6600"/>
                </a:solidFill>
                <a:sym typeface="Symbol" pitchFamily="2" charset="2"/>
              </a:rPr>
              <a:t>n</a:t>
            </a:r>
            <a:r>
              <a:rPr lang="en-US" altLang="en-US" sz="2000" dirty="0">
                <a:solidFill>
                  <a:srgbClr val="FF6600"/>
                </a:solidFill>
                <a:sym typeface="Symbol" pitchFamily="2" charset="2"/>
              </a:rPr>
              <a:t>)</a:t>
            </a:r>
            <a:r>
              <a:rPr lang="en-US" altLang="en-US" sz="2000" dirty="0">
                <a:sym typeface="Symbol" pitchFamily="2" charset="2"/>
              </a:rPr>
              <a:t> </a:t>
            </a:r>
            <a:r>
              <a:rPr lang="en-US" altLang="en-US" sz="2000" dirty="0"/>
              <a:t>is </a:t>
            </a:r>
            <a:r>
              <a:rPr lang="en-US" altLang="en-US" sz="2000" i="1" dirty="0">
                <a:solidFill>
                  <a:srgbClr val="FF6600"/>
                </a:solidFill>
                <a:sym typeface="Symbol" pitchFamily="2" charset="2"/>
              </a:rPr>
              <a:t>O</a:t>
            </a:r>
            <a:r>
              <a:rPr lang="en-US" altLang="en-US" sz="2000" dirty="0">
                <a:solidFill>
                  <a:srgbClr val="FF6600"/>
                </a:solidFill>
                <a:sym typeface="Symbol" pitchFamily="2" charset="2"/>
              </a:rPr>
              <a:t>(</a:t>
            </a:r>
            <a:r>
              <a:rPr lang="en-US" altLang="en-US" sz="2000" i="1" dirty="0">
                <a:solidFill>
                  <a:srgbClr val="FF6600"/>
                </a:solidFill>
                <a:sym typeface="Symbol" pitchFamily="2" charset="2"/>
              </a:rPr>
              <a:t>g</a:t>
            </a:r>
            <a:r>
              <a:rPr lang="en-US" altLang="en-US" sz="2000" dirty="0">
                <a:solidFill>
                  <a:srgbClr val="FF6600"/>
                </a:solidFill>
                <a:sym typeface="Symbol" pitchFamily="2" charset="2"/>
              </a:rPr>
              <a:t>(</a:t>
            </a:r>
            <a:r>
              <a:rPr lang="en-US" altLang="en-US" sz="2000" i="1" dirty="0">
                <a:solidFill>
                  <a:srgbClr val="FF6600"/>
                </a:solidFill>
                <a:sym typeface="Symbol" pitchFamily="2" charset="2"/>
              </a:rPr>
              <a:t>n</a:t>
            </a:r>
            <a:r>
              <a:rPr lang="en-US" altLang="en-US" sz="2000" dirty="0">
                <a:solidFill>
                  <a:srgbClr val="FF6600"/>
                </a:solidFill>
                <a:sym typeface="Symbol" pitchFamily="2" charset="2"/>
              </a:rPr>
              <a:t>))</a:t>
            </a:r>
            <a:r>
              <a:rPr lang="en-US" altLang="en-US" sz="2000" dirty="0">
                <a:sym typeface="Symbol" pitchFamily="2" charset="2"/>
              </a:rPr>
              <a:t> </a:t>
            </a:r>
            <a:r>
              <a:rPr lang="en-US" altLang="en-US" sz="2000" dirty="0"/>
              <a:t>if there are positive constants </a:t>
            </a:r>
            <a:r>
              <a:rPr lang="en-US" altLang="en-US" sz="2000" i="1" dirty="0">
                <a:solidFill>
                  <a:srgbClr val="FF6600"/>
                </a:solidFill>
                <a:sym typeface="Symbol" pitchFamily="2" charset="2"/>
              </a:rPr>
              <a:t>c</a:t>
            </a:r>
            <a:r>
              <a:rPr lang="en-US" altLang="en-US" sz="2000" dirty="0">
                <a:solidFill>
                  <a:srgbClr val="FF6600"/>
                </a:solidFill>
              </a:rPr>
              <a:t> </a:t>
            </a:r>
            <a:r>
              <a:rPr lang="en-US" altLang="en-US" sz="2000" dirty="0"/>
              <a:t>and </a:t>
            </a:r>
            <a:r>
              <a:rPr lang="en-US" altLang="en-US" sz="2000" i="1" dirty="0">
                <a:solidFill>
                  <a:srgbClr val="FF6600"/>
                </a:solidFill>
                <a:sym typeface="Symbol" pitchFamily="2" charset="2"/>
              </a:rPr>
              <a:t>n</a:t>
            </a:r>
            <a:r>
              <a:rPr lang="en-US" altLang="en-US" sz="2000" baseline="-25000" dirty="0">
                <a:solidFill>
                  <a:srgbClr val="FF6600"/>
                </a:solidFill>
                <a:sym typeface="Symbol" pitchFamily="2" charset="2"/>
              </a:rPr>
              <a:t>0</a:t>
            </a:r>
            <a:r>
              <a:rPr lang="en-US" altLang="en-US" sz="2000" dirty="0"/>
              <a:t> such that:  </a:t>
            </a:r>
            <a:r>
              <a:rPr lang="en-US" altLang="en-US" sz="2000" i="1" dirty="0">
                <a:sym typeface="Symbol" pitchFamily="2" charset="2"/>
              </a:rPr>
              <a:t>f</a:t>
            </a:r>
            <a:r>
              <a:rPr lang="en-US" altLang="en-US" sz="2000" dirty="0">
                <a:sym typeface="Symbol" pitchFamily="2" charset="2"/>
              </a:rPr>
              <a:t>(</a:t>
            </a:r>
            <a:r>
              <a:rPr lang="en-US" altLang="en-US" sz="2000" i="1" dirty="0">
                <a:sym typeface="Symbol" pitchFamily="2" charset="2"/>
              </a:rPr>
              <a:t>n</a:t>
            </a:r>
            <a:r>
              <a:rPr lang="en-US" altLang="en-US" sz="2000" dirty="0">
                <a:sym typeface="Symbol" pitchFamily="2" charset="2"/>
              </a:rPr>
              <a:t>)</a:t>
            </a:r>
            <a:r>
              <a:rPr lang="en-US" altLang="en-US" sz="2000" dirty="0"/>
              <a:t> </a:t>
            </a:r>
            <a:r>
              <a:rPr lang="en-US" altLang="en-US" sz="2000" dirty="0">
                <a:sym typeface="Symbol" pitchFamily="2" charset="2"/>
              </a:rPr>
              <a:t></a:t>
            </a:r>
            <a:r>
              <a:rPr lang="en-US" altLang="en-US" sz="2000" dirty="0"/>
              <a:t> </a:t>
            </a:r>
            <a:r>
              <a:rPr lang="en-US" altLang="en-US" sz="2000" i="1" dirty="0">
                <a:sym typeface="Symbol" pitchFamily="2" charset="2"/>
              </a:rPr>
              <a:t>cg</a:t>
            </a:r>
            <a:r>
              <a:rPr lang="en-US" altLang="en-US" sz="2000" dirty="0">
                <a:sym typeface="Symbol" pitchFamily="2" charset="2"/>
              </a:rPr>
              <a:t>(</a:t>
            </a:r>
            <a:r>
              <a:rPr lang="en-US" altLang="en-US" sz="2000" i="1" dirty="0">
                <a:sym typeface="Symbol" pitchFamily="2" charset="2"/>
              </a:rPr>
              <a:t>n</a:t>
            </a:r>
            <a:r>
              <a:rPr lang="en-US" altLang="en-US" sz="2000" dirty="0">
                <a:sym typeface="Symbol" pitchFamily="2" charset="2"/>
              </a:rPr>
              <a:t>)  </a:t>
            </a:r>
            <a:r>
              <a:rPr lang="en-US" altLang="en-US" sz="2000" dirty="0"/>
              <a:t>for </a:t>
            </a:r>
            <a:r>
              <a:rPr lang="en-US" altLang="en-US" sz="2000" i="1" dirty="0">
                <a:sym typeface="Symbol" pitchFamily="2" charset="2"/>
              </a:rPr>
              <a:t>n </a:t>
            </a:r>
            <a:r>
              <a:rPr lang="en-US" altLang="en-US" sz="2000" dirty="0">
                <a:sym typeface="Symbol" pitchFamily="2" charset="2"/>
              </a:rPr>
              <a:t></a:t>
            </a:r>
            <a:r>
              <a:rPr lang="en-US" altLang="en-US" sz="2000" dirty="0"/>
              <a:t> </a:t>
            </a:r>
            <a:r>
              <a:rPr lang="en-US" altLang="en-US" sz="2000" i="1" dirty="0">
                <a:sym typeface="Symbol" pitchFamily="2" charset="2"/>
              </a:rPr>
              <a:t>n</a:t>
            </a:r>
            <a:r>
              <a:rPr lang="en-US" altLang="en-US" sz="2000" baseline="-25000" dirty="0">
                <a:sym typeface="Symbol" pitchFamily="2" charset="2"/>
              </a:rPr>
              <a:t>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>
            <a:extLst>
              <a:ext uri="{FF2B5EF4-FFF2-40B4-BE49-F238E27FC236}">
                <a16:creationId xmlns:a16="http://schemas.microsoft.com/office/drawing/2014/main" id="{DAFF45EC-07F1-E886-0C06-5B4FC9039E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5334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2400"/>
              <a:t>Review: Some Other Useful Rules</a:t>
            </a:r>
            <a:r>
              <a:rPr lang="en-US" altLang="en-US"/>
              <a:t> </a:t>
            </a:r>
          </a:p>
        </p:txBody>
      </p:sp>
      <p:sp>
        <p:nvSpPr>
          <p:cNvPr id="17410" name="Rectangle 3">
            <a:extLst>
              <a:ext uri="{FF2B5EF4-FFF2-40B4-BE49-F238E27FC236}">
                <a16:creationId xmlns:a16="http://schemas.microsoft.com/office/drawing/2014/main" id="{C9B47718-C0E6-2DAF-20D0-15B62CC69DE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5800" y="1371600"/>
            <a:ext cx="7772400" cy="4114800"/>
          </a:xfrm>
        </p:spPr>
        <p:txBody>
          <a:bodyPr>
            <a:normAutofit fontScale="92500"/>
          </a:bodyPr>
          <a:lstStyle/>
          <a:p>
            <a:pPr eaLnBrk="1" hangingPunct="1">
              <a:buFontTx/>
              <a:buNone/>
            </a:pPr>
            <a:r>
              <a:rPr lang="en-US" altLang="en-US" sz="2000" dirty="0"/>
              <a:t>Let d, e, f, g are </a:t>
            </a:r>
            <a:r>
              <a:rPr lang="en-US" altLang="en-US" sz="2000" dirty="0">
                <a:solidFill>
                  <a:srgbClr val="C00000"/>
                </a:solidFill>
              </a:rPr>
              <a:t>nonnegative</a:t>
            </a:r>
            <a:r>
              <a:rPr lang="en-US" altLang="en-US" sz="2000" dirty="0"/>
              <a:t> functions:</a:t>
            </a:r>
          </a:p>
          <a:p>
            <a:pPr eaLnBrk="1" hangingPunct="1"/>
            <a:endParaRPr lang="en-US" altLang="en-US" sz="2000" dirty="0"/>
          </a:p>
          <a:p>
            <a:pPr eaLnBrk="1" hangingPunct="1"/>
            <a:r>
              <a:rPr lang="en-US" altLang="en-US" sz="2000" dirty="0"/>
              <a:t>If d(n) is O(f(n)), then a*d(n) is O(f(n)) for any constant a&gt;0.</a:t>
            </a:r>
          </a:p>
          <a:p>
            <a:pPr eaLnBrk="1" hangingPunct="1"/>
            <a:endParaRPr lang="en-US" altLang="en-US" sz="2000" dirty="0"/>
          </a:p>
          <a:p>
            <a:pPr eaLnBrk="1" hangingPunct="1"/>
            <a:r>
              <a:rPr lang="en-US" altLang="en-US" sz="2000" dirty="0"/>
              <a:t>If d(n) is O(f(n)) and e(n) is O(g(n)), then d(n)+e(n) is O(f(n)+g(n)).</a:t>
            </a:r>
          </a:p>
          <a:p>
            <a:pPr eaLnBrk="1" hangingPunct="1"/>
            <a:endParaRPr lang="en-US" altLang="en-US" sz="2000" dirty="0"/>
          </a:p>
          <a:p>
            <a:pPr eaLnBrk="1" hangingPunct="1"/>
            <a:r>
              <a:rPr lang="en-US" altLang="en-US" sz="2000" dirty="0"/>
              <a:t>If d(n) is O(f(n)) and e(n) is O(g(n)), then d(n)*e(n) is O(f(n)*g(n)).</a:t>
            </a:r>
          </a:p>
          <a:p>
            <a:pPr eaLnBrk="1" hangingPunct="1"/>
            <a:endParaRPr lang="en-US" altLang="en-US" sz="2000" dirty="0"/>
          </a:p>
          <a:p>
            <a:pPr eaLnBrk="1" hangingPunct="1"/>
            <a:r>
              <a:rPr lang="en-US" altLang="en-US" sz="2000" dirty="0"/>
              <a:t>If d(n) is O(f(n)) and f(n) is O(g(n)), then d(n) is O(g(n))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3B1A900F-3AB2-2731-A696-5ACF0BD771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228600"/>
            <a:ext cx="62484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rgbClr val="0000FF"/>
                </a:solidFill>
                <a:latin typeface="Comic Sans MS" panose="030F0902030302020204" pitchFamily="66" charset="0"/>
              </a:rPr>
              <a:t>More Big-Oh Examples</a:t>
            </a:r>
          </a:p>
        </p:txBody>
      </p:sp>
      <p:sp>
        <p:nvSpPr>
          <p:cNvPr id="18434" name="Rectangle 3">
            <a:extLst>
              <a:ext uri="{FF2B5EF4-FFF2-40B4-BE49-F238E27FC236}">
                <a16:creationId xmlns:a16="http://schemas.microsoft.com/office/drawing/2014/main" id="{23C9C7C7-E00F-AD73-CBF6-198DD5458A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371600"/>
            <a:ext cx="7818438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Clr>
                <a:schemeClr val="accent2"/>
              </a:buClr>
              <a:buSzPct val="75000"/>
              <a:buFont typeface="Wingdings" pitchFamily="2" charset="2"/>
              <a:buNone/>
            </a:pPr>
            <a:r>
              <a:rPr lang="en-US" altLang="en-US" sz="2000" i="1" dirty="0">
                <a:solidFill>
                  <a:srgbClr val="FF6600"/>
                </a:solidFill>
              </a:rPr>
              <a:t>Example 1</a:t>
            </a:r>
            <a:r>
              <a:rPr lang="en-US" altLang="en-US" sz="2000" dirty="0"/>
              <a:t>: 7n-2 is O(n)</a:t>
            </a:r>
          </a:p>
        </p:txBody>
      </p:sp>
      <p:sp>
        <p:nvSpPr>
          <p:cNvPr id="130052" name="Rectangle 4">
            <a:extLst>
              <a:ext uri="{FF2B5EF4-FFF2-40B4-BE49-F238E27FC236}">
                <a16:creationId xmlns:a16="http://schemas.microsoft.com/office/drawing/2014/main" id="{E8CF7CCE-8FF6-268E-4C55-F759D63D44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363" y="1905000"/>
            <a:ext cx="7818437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2865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lvl="1" eaLnBrk="1" hangingPunct="1">
              <a:buClr>
                <a:schemeClr val="accent2"/>
              </a:buClr>
              <a:buSzPct val="75000"/>
              <a:buFont typeface="Wingdings" pitchFamily="2" charset="2"/>
              <a:buNone/>
            </a:pPr>
            <a:r>
              <a:rPr lang="en-US" altLang="en-US" sz="1800" dirty="0"/>
              <a:t>need c &gt; 0 and n</a:t>
            </a:r>
            <a:r>
              <a:rPr lang="en-US" altLang="en-US" sz="1800" baseline="-25000" dirty="0"/>
              <a:t>0</a:t>
            </a:r>
            <a:r>
              <a:rPr lang="en-US" altLang="en-US" sz="1800" dirty="0"/>
              <a:t> </a:t>
            </a:r>
            <a:r>
              <a:rPr lang="en-US" altLang="en-US" sz="1800" dirty="0">
                <a:sym typeface="Symbol" pitchFamily="2" charset="2"/>
              </a:rPr>
              <a:t> 1 such that</a:t>
            </a:r>
            <a:r>
              <a:rPr lang="en-US" altLang="en-US" sz="1800" dirty="0"/>
              <a:t> 7n-2 </a:t>
            </a:r>
            <a:r>
              <a:rPr lang="en-US" altLang="en-US" sz="1800" dirty="0">
                <a:sym typeface="Symbol" pitchFamily="2" charset="2"/>
              </a:rPr>
              <a:t> </a:t>
            </a:r>
            <a:r>
              <a:rPr lang="en-US" altLang="en-US" sz="1800" dirty="0" err="1">
                <a:sym typeface="Symbol" pitchFamily="2" charset="2"/>
              </a:rPr>
              <a:t>c•n</a:t>
            </a:r>
            <a:r>
              <a:rPr lang="en-US" altLang="en-US" sz="1800" dirty="0">
                <a:sym typeface="Symbol" pitchFamily="2" charset="2"/>
              </a:rPr>
              <a:t> for n  n</a:t>
            </a:r>
            <a:r>
              <a:rPr lang="en-US" altLang="en-US" sz="1800" baseline="-25000" dirty="0">
                <a:sym typeface="Symbol" pitchFamily="2" charset="2"/>
              </a:rPr>
              <a:t>0</a:t>
            </a:r>
            <a:endParaRPr lang="en-US" altLang="en-US" sz="1800" dirty="0">
              <a:sym typeface="Symbol" pitchFamily="2" charset="2"/>
            </a:endParaRPr>
          </a:p>
          <a:p>
            <a:pPr lvl="1" eaLnBrk="1" hangingPunct="1">
              <a:buClr>
                <a:schemeClr val="accent2"/>
              </a:buClr>
              <a:buSzPct val="75000"/>
              <a:buFont typeface="Wingdings" pitchFamily="2" charset="2"/>
              <a:buNone/>
            </a:pPr>
            <a:r>
              <a:rPr lang="en-US" altLang="en-US" sz="1800" dirty="0">
                <a:sym typeface="Symbol" pitchFamily="2" charset="2"/>
              </a:rPr>
              <a:t>this is true for c = 7 and </a:t>
            </a:r>
            <a:r>
              <a:rPr lang="en-US" altLang="en-US" sz="1800" dirty="0"/>
              <a:t>n</a:t>
            </a:r>
            <a:r>
              <a:rPr lang="en-US" altLang="en-US" sz="1800" baseline="-25000" dirty="0"/>
              <a:t>0</a:t>
            </a:r>
            <a:r>
              <a:rPr lang="en-US" altLang="en-US" sz="1800" dirty="0">
                <a:sym typeface="Symbol" pitchFamily="2" charset="2"/>
              </a:rPr>
              <a:t> = 1</a:t>
            </a:r>
            <a:endParaRPr lang="en-US" altLang="en-US" sz="1800" dirty="0"/>
          </a:p>
        </p:txBody>
      </p:sp>
      <p:sp>
        <p:nvSpPr>
          <p:cNvPr id="18436" name="Rectangle 5">
            <a:extLst>
              <a:ext uri="{FF2B5EF4-FFF2-40B4-BE49-F238E27FC236}">
                <a16:creationId xmlns:a16="http://schemas.microsoft.com/office/drawing/2014/main" id="{1520851C-6EA8-26CC-D31D-2DFB278C6C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971800"/>
            <a:ext cx="7818438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85750" indent="-28575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Clr>
                <a:schemeClr val="accent2"/>
              </a:buClr>
              <a:buSzPct val="75000"/>
              <a:buNone/>
            </a:pPr>
            <a:r>
              <a:rPr lang="en-US" altLang="en-US" sz="2000" i="1" dirty="0">
                <a:solidFill>
                  <a:srgbClr val="FF6600"/>
                </a:solidFill>
              </a:rPr>
              <a:t>Example 2</a:t>
            </a:r>
            <a:r>
              <a:rPr lang="en-US" altLang="en-US" sz="2000" dirty="0"/>
              <a:t>: 3n</a:t>
            </a:r>
            <a:r>
              <a:rPr lang="en-US" altLang="en-US" sz="2000" baseline="30000" dirty="0"/>
              <a:t>3</a:t>
            </a:r>
            <a:r>
              <a:rPr lang="en-US" altLang="en-US" sz="2000" dirty="0"/>
              <a:t> + 20n</a:t>
            </a:r>
            <a:r>
              <a:rPr lang="en-US" altLang="en-US" sz="2000" baseline="30000" dirty="0"/>
              <a:t>2</a:t>
            </a:r>
            <a:r>
              <a:rPr lang="en-US" altLang="en-US" sz="2000" dirty="0"/>
              <a:t> + 5 is O(n</a:t>
            </a:r>
            <a:r>
              <a:rPr lang="en-US" altLang="en-US" sz="2000" baseline="30000" dirty="0"/>
              <a:t>3</a:t>
            </a:r>
            <a:r>
              <a:rPr lang="en-US" altLang="en-US" sz="2000" dirty="0"/>
              <a:t>)</a:t>
            </a:r>
          </a:p>
          <a:p>
            <a:pPr eaLnBrk="1" hangingPunct="1">
              <a:buClr>
                <a:schemeClr val="accent2"/>
              </a:buClr>
              <a:buSzPct val="75000"/>
              <a:buFont typeface="Wingdings" pitchFamily="2" charset="2"/>
              <a:buNone/>
            </a:pPr>
            <a:endParaRPr lang="en-US" altLang="en-US" sz="2000" dirty="0"/>
          </a:p>
        </p:txBody>
      </p:sp>
      <p:sp>
        <p:nvSpPr>
          <p:cNvPr id="130054" name="Rectangle 6">
            <a:extLst>
              <a:ext uri="{FF2B5EF4-FFF2-40B4-BE49-F238E27FC236}">
                <a16:creationId xmlns:a16="http://schemas.microsoft.com/office/drawing/2014/main" id="{D1308567-DB2E-B6F3-A61E-E2560622F3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3505200"/>
            <a:ext cx="73914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2865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lvl="1" eaLnBrk="1" hangingPunct="1">
              <a:buClr>
                <a:schemeClr val="accent2"/>
              </a:buClr>
              <a:buSzPct val="75000"/>
              <a:buFont typeface="Wingdings" pitchFamily="2" charset="2"/>
              <a:buNone/>
            </a:pPr>
            <a:r>
              <a:rPr lang="en-US" altLang="en-US" sz="1800" dirty="0"/>
              <a:t>need c &gt; 0 and n</a:t>
            </a:r>
            <a:r>
              <a:rPr lang="en-US" altLang="en-US" sz="1800" baseline="-25000" dirty="0"/>
              <a:t>0</a:t>
            </a:r>
            <a:r>
              <a:rPr lang="en-US" altLang="en-US" sz="1800" dirty="0"/>
              <a:t> </a:t>
            </a:r>
            <a:r>
              <a:rPr lang="en-US" altLang="en-US" sz="1800" dirty="0">
                <a:sym typeface="Symbol" pitchFamily="2" charset="2"/>
              </a:rPr>
              <a:t> 1 such that</a:t>
            </a:r>
            <a:r>
              <a:rPr lang="en-US" altLang="en-US" sz="1800" dirty="0"/>
              <a:t> 3n</a:t>
            </a:r>
            <a:r>
              <a:rPr lang="en-US" altLang="en-US" sz="1800" baseline="30000" dirty="0"/>
              <a:t>3</a:t>
            </a:r>
            <a:r>
              <a:rPr lang="en-US" altLang="en-US" sz="1800" dirty="0"/>
              <a:t> + 20n</a:t>
            </a:r>
            <a:r>
              <a:rPr lang="en-US" altLang="en-US" sz="1800" baseline="30000" dirty="0"/>
              <a:t>2</a:t>
            </a:r>
            <a:r>
              <a:rPr lang="en-US" altLang="en-US" sz="1800" dirty="0"/>
              <a:t> + 5 </a:t>
            </a:r>
            <a:r>
              <a:rPr lang="en-US" altLang="en-US" sz="1800" dirty="0">
                <a:sym typeface="Symbol" pitchFamily="2" charset="2"/>
              </a:rPr>
              <a:t> c•n</a:t>
            </a:r>
            <a:r>
              <a:rPr lang="en-US" altLang="en-US" sz="1800" baseline="30000" dirty="0">
                <a:sym typeface="Symbol" pitchFamily="2" charset="2"/>
              </a:rPr>
              <a:t>3</a:t>
            </a:r>
            <a:r>
              <a:rPr lang="en-US" altLang="en-US" sz="1800" dirty="0">
                <a:sym typeface="Symbol" pitchFamily="2" charset="2"/>
              </a:rPr>
              <a:t> for n  n</a:t>
            </a:r>
            <a:r>
              <a:rPr lang="en-US" altLang="en-US" sz="1800" baseline="-25000" dirty="0">
                <a:sym typeface="Symbol" pitchFamily="2" charset="2"/>
              </a:rPr>
              <a:t>0</a:t>
            </a:r>
            <a:endParaRPr lang="en-US" altLang="en-US" sz="1800" dirty="0">
              <a:sym typeface="Symbol" pitchFamily="2" charset="2"/>
            </a:endParaRPr>
          </a:p>
          <a:p>
            <a:pPr lvl="1" eaLnBrk="1" hangingPunct="1">
              <a:buClr>
                <a:schemeClr val="accent2"/>
              </a:buClr>
              <a:buSzPct val="75000"/>
              <a:buFont typeface="Wingdings" pitchFamily="2" charset="2"/>
              <a:buNone/>
            </a:pPr>
            <a:r>
              <a:rPr lang="en-US" altLang="en-US" sz="1800" dirty="0">
                <a:sym typeface="Symbol" pitchFamily="2" charset="2"/>
              </a:rPr>
              <a:t>this is true for c = 4 and </a:t>
            </a:r>
            <a:r>
              <a:rPr lang="en-US" altLang="en-US" sz="1800" dirty="0"/>
              <a:t>n</a:t>
            </a:r>
            <a:r>
              <a:rPr lang="en-US" altLang="en-US" sz="1800" baseline="-25000" dirty="0"/>
              <a:t>0</a:t>
            </a:r>
            <a:r>
              <a:rPr lang="en-US" altLang="en-US" sz="1800" dirty="0">
                <a:sym typeface="Symbol" pitchFamily="2" charset="2"/>
              </a:rPr>
              <a:t> = 21</a:t>
            </a:r>
            <a:endParaRPr lang="en-US" altLang="en-US" sz="1800" dirty="0"/>
          </a:p>
        </p:txBody>
      </p:sp>
      <p:sp>
        <p:nvSpPr>
          <p:cNvPr id="18438" name="Rectangle 7">
            <a:extLst>
              <a:ext uri="{FF2B5EF4-FFF2-40B4-BE49-F238E27FC236}">
                <a16:creationId xmlns:a16="http://schemas.microsoft.com/office/drawing/2014/main" id="{340A3498-4613-8501-4495-EE26131153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4724400"/>
            <a:ext cx="7818438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85750" indent="-28575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Clr>
                <a:schemeClr val="accent2"/>
              </a:buClr>
              <a:buSzPct val="75000"/>
              <a:buNone/>
            </a:pPr>
            <a:r>
              <a:rPr lang="en-US" altLang="en-US" sz="2000" i="1" dirty="0">
                <a:solidFill>
                  <a:srgbClr val="FF6600"/>
                </a:solidFill>
              </a:rPr>
              <a:t>Example 3</a:t>
            </a:r>
            <a:r>
              <a:rPr lang="en-US" altLang="en-US" sz="2000" dirty="0"/>
              <a:t>: 3 log n + log log n is O(log n)</a:t>
            </a:r>
          </a:p>
          <a:p>
            <a:pPr eaLnBrk="1" hangingPunct="1">
              <a:buClr>
                <a:schemeClr val="accent2"/>
              </a:buClr>
              <a:buSzPct val="75000"/>
              <a:buFont typeface="Wingdings" pitchFamily="2" charset="2"/>
              <a:buNone/>
            </a:pPr>
            <a:endParaRPr lang="en-US" altLang="en-US" sz="2000" dirty="0"/>
          </a:p>
        </p:txBody>
      </p:sp>
      <p:sp>
        <p:nvSpPr>
          <p:cNvPr id="130056" name="Rectangle 8">
            <a:extLst>
              <a:ext uri="{FF2B5EF4-FFF2-40B4-BE49-F238E27FC236}">
                <a16:creationId xmlns:a16="http://schemas.microsoft.com/office/drawing/2014/main" id="{45F29479-A922-50BA-066F-C7B3E6D2E7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5257800"/>
            <a:ext cx="79248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2865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lvl="1" eaLnBrk="1" hangingPunct="1">
              <a:buClr>
                <a:schemeClr val="accent2"/>
              </a:buClr>
              <a:buSzPct val="75000"/>
              <a:buFont typeface="Wingdings" pitchFamily="2" charset="2"/>
              <a:buNone/>
            </a:pPr>
            <a:r>
              <a:rPr lang="en-US" altLang="en-US" sz="1800" dirty="0"/>
              <a:t>need c &gt; 0 and n</a:t>
            </a:r>
            <a:r>
              <a:rPr lang="en-US" altLang="en-US" sz="1800" baseline="-25000" dirty="0"/>
              <a:t>0</a:t>
            </a:r>
            <a:r>
              <a:rPr lang="en-US" altLang="en-US" sz="1800" dirty="0"/>
              <a:t> </a:t>
            </a:r>
            <a:r>
              <a:rPr lang="en-US" altLang="en-US" sz="1800" dirty="0">
                <a:sym typeface="Symbol" pitchFamily="2" charset="2"/>
              </a:rPr>
              <a:t> 1 such that</a:t>
            </a:r>
            <a:r>
              <a:rPr lang="en-US" altLang="en-US" sz="1800" dirty="0"/>
              <a:t> 3 log n + log log n </a:t>
            </a:r>
            <a:r>
              <a:rPr lang="en-US" altLang="en-US" sz="1800" dirty="0">
                <a:sym typeface="Symbol" pitchFamily="2" charset="2"/>
              </a:rPr>
              <a:t> </a:t>
            </a:r>
            <a:r>
              <a:rPr lang="en-US" altLang="en-US" sz="1800" dirty="0" err="1">
                <a:sym typeface="Symbol" pitchFamily="2" charset="2"/>
              </a:rPr>
              <a:t>c•log</a:t>
            </a:r>
            <a:r>
              <a:rPr lang="en-US" altLang="en-US" sz="1800" dirty="0">
                <a:sym typeface="Symbol" pitchFamily="2" charset="2"/>
              </a:rPr>
              <a:t> n for n  n</a:t>
            </a:r>
            <a:r>
              <a:rPr lang="en-US" altLang="en-US" sz="1800" baseline="-25000" dirty="0">
                <a:sym typeface="Symbol" pitchFamily="2" charset="2"/>
              </a:rPr>
              <a:t>0</a:t>
            </a:r>
            <a:endParaRPr lang="en-US" altLang="en-US" sz="1800" dirty="0">
              <a:sym typeface="Symbol" pitchFamily="2" charset="2"/>
            </a:endParaRPr>
          </a:p>
          <a:p>
            <a:pPr lvl="1" eaLnBrk="1" hangingPunct="1">
              <a:buClr>
                <a:schemeClr val="accent2"/>
              </a:buClr>
              <a:buSzPct val="75000"/>
              <a:buFont typeface="Wingdings" pitchFamily="2" charset="2"/>
              <a:buNone/>
            </a:pPr>
            <a:r>
              <a:rPr lang="en-US" altLang="en-US" sz="1800" dirty="0">
                <a:sym typeface="Symbol" pitchFamily="2" charset="2"/>
              </a:rPr>
              <a:t>this is true for c = 4 and </a:t>
            </a:r>
            <a:r>
              <a:rPr lang="en-US" altLang="en-US" sz="1800" dirty="0"/>
              <a:t>n</a:t>
            </a:r>
            <a:r>
              <a:rPr lang="en-US" altLang="en-US" sz="1800" baseline="-25000" dirty="0"/>
              <a:t>0</a:t>
            </a:r>
            <a:r>
              <a:rPr lang="en-US" altLang="en-US" sz="1800" dirty="0">
                <a:sym typeface="Symbol" pitchFamily="2" charset="2"/>
              </a:rPr>
              <a:t> = 2</a:t>
            </a:r>
            <a:endParaRPr lang="en-US" alt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0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0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00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00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00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00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052" grpId="0" autoUpdateAnimBg="0"/>
      <p:bldP spid="130054" grpId="0" autoUpdateAnimBg="0"/>
      <p:bldP spid="130056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>
            <a:extLst>
              <a:ext uri="{FF2B5EF4-FFF2-40B4-BE49-F238E27FC236}">
                <a16:creationId xmlns:a16="http://schemas.microsoft.com/office/drawing/2014/main" id="{918CF9DA-E047-F8F5-7ECD-F412CD7B5F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Asymptotic Algorithm Analysis</a:t>
            </a:r>
          </a:p>
        </p:txBody>
      </p:sp>
      <p:sp>
        <p:nvSpPr>
          <p:cNvPr id="19458" name="Rectangle 3">
            <a:extLst>
              <a:ext uri="{FF2B5EF4-FFF2-40B4-BE49-F238E27FC236}">
                <a16:creationId xmlns:a16="http://schemas.microsoft.com/office/drawing/2014/main" id="{AB7A7D51-B3F3-CF4F-F438-9D8C5C936E8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5800" y="1143000"/>
            <a:ext cx="8001000" cy="4724400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The asymptotic analysis of an algorithm determines the running time in big-Oh notation</a:t>
            </a:r>
          </a:p>
          <a:p>
            <a:pPr eaLnBrk="1" hangingPunct="1">
              <a:lnSpc>
                <a:spcPct val="90000"/>
              </a:lnSpc>
            </a:pPr>
            <a:endParaRPr lang="en-US" altLang="en-US" sz="18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To perform the asymptotic analysis</a:t>
            </a:r>
          </a:p>
          <a:p>
            <a:pPr marL="1028700" lvl="1" indent="-228600" eaLnBrk="1" hangingPunct="1">
              <a:lnSpc>
                <a:spcPct val="90000"/>
              </a:lnSpc>
            </a:pPr>
            <a:r>
              <a:rPr lang="en-US" altLang="en-US" sz="1800"/>
              <a:t>We find the worst-case number of primitive operations executed as a function of the input size</a:t>
            </a:r>
          </a:p>
          <a:p>
            <a:pPr marL="1028700" lvl="1" indent="-228600" eaLnBrk="1" hangingPunct="1">
              <a:lnSpc>
                <a:spcPct val="90000"/>
              </a:lnSpc>
            </a:pPr>
            <a:r>
              <a:rPr lang="en-US" altLang="en-US" sz="1800"/>
              <a:t>We express this function with big-Oh notation</a:t>
            </a:r>
          </a:p>
          <a:p>
            <a:pPr marL="1028700" lvl="1" indent="-228600" eaLnBrk="1" hangingPunct="1">
              <a:lnSpc>
                <a:spcPct val="90000"/>
              </a:lnSpc>
            </a:pPr>
            <a:endParaRPr lang="en-US" altLang="en-US" sz="1600"/>
          </a:p>
          <a:p>
            <a:pPr eaLnBrk="1" hangingPunct="1">
              <a:lnSpc>
                <a:spcPct val="90000"/>
              </a:lnSpc>
            </a:pPr>
            <a:r>
              <a:rPr lang="en-US" altLang="en-US" sz="2000" i="1"/>
              <a:t>Example</a:t>
            </a:r>
            <a:r>
              <a:rPr lang="en-US" altLang="en-US" sz="2000"/>
              <a:t>:</a:t>
            </a:r>
          </a:p>
          <a:p>
            <a:pPr marL="1028700" lvl="1" indent="-228600" eaLnBrk="1" hangingPunct="1">
              <a:lnSpc>
                <a:spcPct val="90000"/>
              </a:lnSpc>
            </a:pPr>
            <a:r>
              <a:rPr lang="en-US" altLang="en-US" sz="1800"/>
              <a:t>We determine that algorithm </a:t>
            </a:r>
            <a:r>
              <a:rPr lang="en-US" altLang="en-US" sz="1800" b="1" i="1">
                <a:latin typeface="Times New Roman" panose="02020603050405020304" pitchFamily="18" charset="0"/>
              </a:rPr>
              <a:t>arrayMax</a:t>
            </a:r>
            <a:r>
              <a:rPr lang="en-US" altLang="en-US" sz="1800"/>
              <a:t> executes at most </a:t>
            </a: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7</a:t>
            </a:r>
            <a:r>
              <a:rPr lang="en-US" altLang="en-US" sz="1800" b="1" i="1">
                <a:latin typeface="Times New Roman" panose="02020603050405020304" pitchFamily="18" charset="0"/>
                <a:sym typeface="Symbol" pitchFamily="2" charset="2"/>
              </a:rPr>
              <a:t>n</a:t>
            </a: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800">
                <a:latin typeface="Symbol" pitchFamily="2" charset="2"/>
                <a:sym typeface="Symbol" pitchFamily="2" charset="2"/>
              </a:rPr>
              <a:t></a:t>
            </a: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 2 </a:t>
            </a:r>
            <a:r>
              <a:rPr lang="en-US" altLang="en-US" sz="1800"/>
              <a:t>primitive operations</a:t>
            </a:r>
          </a:p>
          <a:p>
            <a:pPr marL="1028700" lvl="1" indent="-228600" eaLnBrk="1" hangingPunct="1">
              <a:lnSpc>
                <a:spcPct val="90000"/>
              </a:lnSpc>
            </a:pPr>
            <a:r>
              <a:rPr lang="en-US" altLang="en-US" sz="1800"/>
              <a:t>We say that algorithm </a:t>
            </a:r>
            <a:r>
              <a:rPr lang="en-US" altLang="en-US" sz="1800" b="1" i="1">
                <a:latin typeface="Times New Roman" panose="02020603050405020304" pitchFamily="18" charset="0"/>
              </a:rPr>
              <a:t>arrayMax</a:t>
            </a:r>
            <a:r>
              <a:rPr lang="en-US" altLang="en-US" sz="1800"/>
              <a:t> “runs in </a:t>
            </a:r>
            <a:r>
              <a:rPr lang="en-US" altLang="en-US" sz="1800" b="1" i="1">
                <a:latin typeface="Times New Roman" panose="02020603050405020304" pitchFamily="18" charset="0"/>
                <a:sym typeface="Symbol" pitchFamily="2" charset="2"/>
              </a:rPr>
              <a:t>O</a:t>
            </a: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(</a:t>
            </a:r>
            <a:r>
              <a:rPr lang="en-US" altLang="en-US" sz="1800" b="1" i="1">
                <a:latin typeface="Times New Roman" panose="02020603050405020304" pitchFamily="18" charset="0"/>
                <a:sym typeface="Symbol" pitchFamily="2" charset="2"/>
              </a:rPr>
              <a:t>n</a:t>
            </a: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) </a:t>
            </a:r>
            <a:r>
              <a:rPr lang="en-US" altLang="en-US" sz="1800"/>
              <a:t>time”</a:t>
            </a:r>
          </a:p>
          <a:p>
            <a:pPr marL="1028700" lvl="1" indent="-228600" eaLnBrk="1" hangingPunct="1">
              <a:lnSpc>
                <a:spcPct val="90000"/>
              </a:lnSpc>
            </a:pPr>
            <a:endParaRPr lang="en-US" altLang="en-US" sz="16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Since constant factors and lower-order terms are eventually dropped anyhow, we can disregard them when counting primitive operations. This is also the weakness of the big-Oh notation: </a:t>
            </a:r>
          </a:p>
          <a:p>
            <a:pPr eaLnBrk="1" hangingPunct="1">
              <a:lnSpc>
                <a:spcPct val="90000"/>
              </a:lnSpc>
            </a:pPr>
            <a:endParaRPr lang="en-US" altLang="en-US" sz="2000"/>
          </a:p>
        </p:txBody>
      </p:sp>
      <p:sp>
        <p:nvSpPr>
          <p:cNvPr id="19459" name="TextBox 1">
            <a:extLst>
              <a:ext uri="{FF2B5EF4-FFF2-40B4-BE49-F238E27FC236}">
                <a16:creationId xmlns:a16="http://schemas.microsoft.com/office/drawing/2014/main" id="{EAAB7623-AB15-3093-FA94-605B92A90A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5892800"/>
            <a:ext cx="4595813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200">
                <a:solidFill>
                  <a:srgbClr val="C00000"/>
                </a:solidFill>
                <a:latin typeface="Caveat"/>
              </a:rPr>
              <a:t>Ex: 10</a:t>
            </a:r>
            <a:r>
              <a:rPr lang="en-US" altLang="en-US" sz="2200" baseline="30000">
                <a:solidFill>
                  <a:srgbClr val="C00000"/>
                </a:solidFill>
                <a:latin typeface="Caveat"/>
              </a:rPr>
              <a:t>100</a:t>
            </a:r>
            <a:r>
              <a:rPr lang="en-US" altLang="en-US" sz="2200">
                <a:solidFill>
                  <a:srgbClr val="C00000"/>
                </a:solidFill>
                <a:latin typeface="Caveat"/>
              </a:rPr>
              <a:t> n  vs  n log n </a:t>
            </a:r>
            <a:endParaRPr lang="en-US" altLang="en-US" sz="220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>
            <a:extLst>
              <a:ext uri="{FF2B5EF4-FFF2-40B4-BE49-F238E27FC236}">
                <a16:creationId xmlns:a16="http://schemas.microsoft.com/office/drawing/2014/main" id="{93048AB3-C3C4-0D76-CCAF-773175DDDD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228600"/>
            <a:ext cx="66294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rgbClr val="0000FF"/>
                </a:solidFill>
                <a:latin typeface="Comic Sans MS" panose="030F0902030302020204" pitchFamily="66" charset="0"/>
              </a:rPr>
              <a:t>Relatives of Big-Oh</a:t>
            </a:r>
          </a:p>
        </p:txBody>
      </p:sp>
      <p:sp>
        <p:nvSpPr>
          <p:cNvPr id="21506" name="Rectangle 3">
            <a:extLst>
              <a:ext uri="{FF2B5EF4-FFF2-40B4-BE49-F238E27FC236}">
                <a16:creationId xmlns:a16="http://schemas.microsoft.com/office/drawing/2014/main" id="{90681623-7BD3-01C3-524E-23D909351A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1219200"/>
            <a:ext cx="77724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 dirty="0"/>
              <a:t>big-Omega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dirty="0"/>
              <a:t>f(n) is </a:t>
            </a:r>
            <a:r>
              <a:rPr lang="en-US" altLang="en-US" sz="1800" dirty="0">
                <a:sym typeface="Symbol" pitchFamily="2" charset="2"/>
              </a:rPr>
              <a:t>(g(n)) if </a:t>
            </a:r>
            <a:r>
              <a:rPr lang="en-US" altLang="en-US" sz="1800" dirty="0">
                <a:solidFill>
                  <a:srgbClr val="C00000"/>
                </a:solidFill>
                <a:sym typeface="Symbol" pitchFamily="2" charset="2"/>
              </a:rPr>
              <a:t>there is a constant </a:t>
            </a:r>
            <a:r>
              <a:rPr lang="en-US" altLang="en-US" sz="1800" dirty="0">
                <a:sym typeface="Symbol" pitchFamily="2" charset="2"/>
              </a:rPr>
              <a:t>c &gt; 0 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1800" dirty="0">
                <a:sym typeface="Symbol" pitchFamily="2" charset="2"/>
              </a:rPr>
              <a:t>	and an integer constant n</a:t>
            </a:r>
            <a:r>
              <a:rPr lang="en-US" altLang="en-US" sz="1800" baseline="-25000" dirty="0">
                <a:sym typeface="Symbol" pitchFamily="2" charset="2"/>
              </a:rPr>
              <a:t>0</a:t>
            </a:r>
            <a:r>
              <a:rPr lang="en-US" altLang="en-US" sz="1800" dirty="0">
                <a:sym typeface="Symbol" pitchFamily="2" charset="2"/>
              </a:rPr>
              <a:t>  1 such that 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1800" dirty="0">
                <a:sym typeface="Symbol" pitchFamily="2" charset="2"/>
              </a:rPr>
              <a:t>	f(n)  </a:t>
            </a:r>
            <a:r>
              <a:rPr lang="en-US" altLang="en-US" sz="1800" dirty="0" err="1">
                <a:sym typeface="Symbol" pitchFamily="2" charset="2"/>
              </a:rPr>
              <a:t>c•g</a:t>
            </a:r>
            <a:r>
              <a:rPr lang="en-US" altLang="en-US" sz="1800" dirty="0">
                <a:sym typeface="Symbol" pitchFamily="2" charset="2"/>
              </a:rPr>
              <a:t>(n) for n  n</a:t>
            </a:r>
            <a:r>
              <a:rPr lang="en-US" altLang="en-US" sz="1800" baseline="-25000" dirty="0">
                <a:sym typeface="Symbol" pitchFamily="2" charset="2"/>
              </a:rPr>
              <a:t>0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endParaRPr lang="en-US" altLang="en-US" sz="1600" baseline="-25000" dirty="0">
              <a:sym typeface="Symbol" pitchFamily="2" charset="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000" b="1" dirty="0"/>
              <a:t>big-Theta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dirty="0"/>
              <a:t>f(n) is </a:t>
            </a:r>
            <a:r>
              <a:rPr lang="en-US" altLang="en-US" sz="1800" dirty="0">
                <a:sym typeface="Symbol" pitchFamily="2" charset="2"/>
              </a:rPr>
              <a:t>(g(n)) if </a:t>
            </a:r>
            <a:r>
              <a:rPr lang="en-US" altLang="en-US" sz="1800" dirty="0">
                <a:solidFill>
                  <a:srgbClr val="C00000"/>
                </a:solidFill>
                <a:sym typeface="Symbol" pitchFamily="2" charset="2"/>
              </a:rPr>
              <a:t>there are constants </a:t>
            </a:r>
            <a:r>
              <a:rPr lang="en-US" altLang="en-US" sz="1800" dirty="0">
                <a:sym typeface="Symbol" pitchFamily="2" charset="2"/>
              </a:rPr>
              <a:t>c’ &gt; 0 and c’’ &gt; 0 and an integer constant n</a:t>
            </a:r>
            <a:r>
              <a:rPr lang="en-US" altLang="en-US" sz="1800" baseline="-25000" dirty="0">
                <a:sym typeface="Symbol" pitchFamily="2" charset="2"/>
              </a:rPr>
              <a:t>0</a:t>
            </a:r>
            <a:r>
              <a:rPr lang="en-US" altLang="en-US" sz="1800" dirty="0">
                <a:sym typeface="Symbol" pitchFamily="2" charset="2"/>
              </a:rPr>
              <a:t>  1 such that </a:t>
            </a:r>
            <a:r>
              <a:rPr lang="en-US" altLang="en-US" sz="1800" dirty="0" err="1">
                <a:sym typeface="Symbol" pitchFamily="2" charset="2"/>
              </a:rPr>
              <a:t>c’•g</a:t>
            </a:r>
            <a:r>
              <a:rPr lang="en-US" altLang="en-US" sz="1800" dirty="0">
                <a:sym typeface="Symbol" pitchFamily="2" charset="2"/>
              </a:rPr>
              <a:t>(n)  f(n)  </a:t>
            </a:r>
            <a:r>
              <a:rPr lang="en-US" altLang="en-US" sz="1800" dirty="0" err="1">
                <a:sym typeface="Symbol" pitchFamily="2" charset="2"/>
              </a:rPr>
              <a:t>c’’•g</a:t>
            </a:r>
            <a:r>
              <a:rPr lang="en-US" altLang="en-US" sz="1800" dirty="0">
                <a:sym typeface="Symbol" pitchFamily="2" charset="2"/>
              </a:rPr>
              <a:t>(n) for n  n</a:t>
            </a:r>
            <a:r>
              <a:rPr lang="en-US" altLang="en-US" sz="1800" baseline="-25000" dirty="0">
                <a:sym typeface="Symbol" pitchFamily="2" charset="2"/>
              </a:rPr>
              <a:t>0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16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000" b="1" dirty="0"/>
              <a:t>little-oh</a:t>
            </a:r>
            <a:endParaRPr lang="en-US" altLang="en-US" sz="2000" dirty="0"/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dirty="0"/>
              <a:t>f(n) is </a:t>
            </a:r>
            <a:r>
              <a:rPr lang="en-US" altLang="en-US" sz="1800" dirty="0">
                <a:sym typeface="Symbol" pitchFamily="2" charset="2"/>
              </a:rPr>
              <a:t>o(g(n)) if, </a:t>
            </a:r>
            <a:r>
              <a:rPr lang="en-US" altLang="en-US" sz="1800" dirty="0">
                <a:solidFill>
                  <a:srgbClr val="C00000"/>
                </a:solidFill>
                <a:sym typeface="Symbol" pitchFamily="2" charset="2"/>
              </a:rPr>
              <a:t>for any constant </a:t>
            </a:r>
            <a:r>
              <a:rPr lang="en-US" altLang="en-US" sz="1800" dirty="0">
                <a:sym typeface="Symbol" pitchFamily="2" charset="2"/>
              </a:rPr>
              <a:t>c &gt; 0, there is an integer constant n</a:t>
            </a:r>
            <a:r>
              <a:rPr lang="en-US" altLang="en-US" sz="1800" baseline="-25000" dirty="0">
                <a:sym typeface="Symbol" pitchFamily="2" charset="2"/>
              </a:rPr>
              <a:t>0</a:t>
            </a:r>
            <a:r>
              <a:rPr lang="en-US" altLang="en-US" sz="1800" dirty="0">
                <a:sym typeface="Symbol" pitchFamily="2" charset="2"/>
              </a:rPr>
              <a:t>  1 such that f(n) &lt; </a:t>
            </a:r>
            <a:r>
              <a:rPr lang="en-US" altLang="en-US" sz="1800" dirty="0" err="1">
                <a:sym typeface="Symbol" pitchFamily="2" charset="2"/>
              </a:rPr>
              <a:t>c•g</a:t>
            </a:r>
            <a:r>
              <a:rPr lang="en-US" altLang="en-US" sz="1800" dirty="0">
                <a:sym typeface="Symbol" pitchFamily="2" charset="2"/>
              </a:rPr>
              <a:t>(n) for n  n</a:t>
            </a:r>
            <a:r>
              <a:rPr lang="en-US" altLang="en-US" sz="1800" baseline="-25000" dirty="0">
                <a:sym typeface="Symbol" pitchFamily="2" charset="2"/>
              </a:rPr>
              <a:t>0.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1600" baseline="-25000" dirty="0">
              <a:sym typeface="Symbol" pitchFamily="2" charset="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000" b="1" dirty="0"/>
              <a:t>little-omega</a:t>
            </a:r>
            <a:endParaRPr lang="en-US" altLang="en-US" sz="2000" dirty="0"/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dirty="0"/>
              <a:t>f(n) is </a:t>
            </a:r>
            <a:r>
              <a:rPr lang="en-US" altLang="en-US" sz="1800" dirty="0">
                <a:sym typeface="Symbol" pitchFamily="2" charset="2"/>
              </a:rPr>
              <a:t>(g(n)) if, </a:t>
            </a:r>
            <a:r>
              <a:rPr lang="en-US" altLang="en-US" sz="1800" dirty="0">
                <a:solidFill>
                  <a:srgbClr val="C00000"/>
                </a:solidFill>
                <a:sym typeface="Symbol" pitchFamily="2" charset="2"/>
              </a:rPr>
              <a:t>for any constant </a:t>
            </a:r>
            <a:r>
              <a:rPr lang="en-US" altLang="en-US" sz="1800" dirty="0">
                <a:sym typeface="Symbol" pitchFamily="2" charset="2"/>
              </a:rPr>
              <a:t>c &gt; 0, there is an integer constant n</a:t>
            </a:r>
            <a:r>
              <a:rPr lang="en-US" altLang="en-US" sz="1800" baseline="-25000" dirty="0">
                <a:sym typeface="Symbol" pitchFamily="2" charset="2"/>
              </a:rPr>
              <a:t>0</a:t>
            </a:r>
            <a:r>
              <a:rPr lang="en-US" altLang="en-US" sz="1800" dirty="0">
                <a:sym typeface="Symbol" pitchFamily="2" charset="2"/>
              </a:rPr>
              <a:t>  1 such that f(n) &gt; </a:t>
            </a:r>
            <a:r>
              <a:rPr lang="en-US" altLang="en-US" sz="1800" dirty="0" err="1">
                <a:sym typeface="Symbol" pitchFamily="2" charset="2"/>
              </a:rPr>
              <a:t>c•g</a:t>
            </a:r>
            <a:r>
              <a:rPr lang="en-US" altLang="en-US" sz="1800" dirty="0">
                <a:sym typeface="Symbol" pitchFamily="2" charset="2"/>
              </a:rPr>
              <a:t>(n) for n  n</a:t>
            </a:r>
            <a:r>
              <a:rPr lang="en-US" altLang="en-US" sz="1800" baseline="-25000" dirty="0">
                <a:sym typeface="Symbol" pitchFamily="2" charset="2"/>
              </a:rPr>
              <a:t>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>
            <a:extLst>
              <a:ext uri="{FF2B5EF4-FFF2-40B4-BE49-F238E27FC236}">
                <a16:creationId xmlns:a16="http://schemas.microsoft.com/office/drawing/2014/main" id="{82DCA92E-F065-194D-3563-EB1F4C0C48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71600" y="76200"/>
            <a:ext cx="6553200" cy="914400"/>
          </a:xfrm>
        </p:spPr>
        <p:txBody>
          <a:bodyPr/>
          <a:lstStyle/>
          <a:p>
            <a:pPr eaLnBrk="1" hangingPunct="1"/>
            <a:r>
              <a:rPr lang="en-US" altLang="en-US" sz="2400"/>
              <a:t>Intuition for Asymptotic Notation</a:t>
            </a:r>
          </a:p>
        </p:txBody>
      </p:sp>
      <p:sp>
        <p:nvSpPr>
          <p:cNvPr id="22530" name="Rectangle 3">
            <a:extLst>
              <a:ext uri="{FF2B5EF4-FFF2-40B4-BE49-F238E27FC236}">
                <a16:creationId xmlns:a16="http://schemas.microsoft.com/office/drawing/2014/main" id="{317D893B-8149-AD98-F3D8-3B89B25FE2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143000"/>
            <a:ext cx="7848600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000" b="1"/>
              <a:t>	</a:t>
            </a:r>
            <a:r>
              <a:rPr lang="en-US" altLang="en-US" sz="2000" b="1">
                <a:solidFill>
                  <a:schemeClr val="tx2"/>
                </a:solidFill>
              </a:rPr>
              <a:t>Big-Oh</a:t>
            </a:r>
            <a:endParaRPr lang="en-US" altLang="en-US" sz="2000" b="1"/>
          </a:p>
          <a:p>
            <a:pPr lvl="1" eaLnBrk="1" hangingPunct="1"/>
            <a:r>
              <a:rPr lang="en-US" altLang="en-US" sz="1800"/>
              <a:t>f(n) is </a:t>
            </a:r>
            <a:r>
              <a:rPr lang="en-US" altLang="en-US" sz="1800">
                <a:sym typeface="Symbol" pitchFamily="2" charset="2"/>
              </a:rPr>
              <a:t>O(g(n)) if f(n) is asymptotically </a:t>
            </a:r>
            <a:r>
              <a:rPr lang="en-US" altLang="en-US" sz="1800" b="1">
                <a:sym typeface="Symbol" pitchFamily="2" charset="2"/>
              </a:rPr>
              <a:t>less than or equal</a:t>
            </a:r>
            <a:r>
              <a:rPr lang="en-US" altLang="en-US" sz="1800">
                <a:sym typeface="Symbol" pitchFamily="2" charset="2"/>
              </a:rPr>
              <a:t> to g(n)</a:t>
            </a:r>
          </a:p>
          <a:p>
            <a:pPr lvl="1" eaLnBrk="1" hangingPunct="1"/>
            <a:endParaRPr lang="en-US" altLang="en-US" sz="1400" b="1"/>
          </a:p>
          <a:p>
            <a:pPr eaLnBrk="1" hangingPunct="1">
              <a:buFontTx/>
              <a:buNone/>
            </a:pPr>
            <a:r>
              <a:rPr lang="en-US" altLang="en-US" sz="2000" b="1"/>
              <a:t>	</a:t>
            </a:r>
            <a:r>
              <a:rPr lang="en-US" altLang="en-US" sz="2000" b="1">
                <a:solidFill>
                  <a:schemeClr val="tx2"/>
                </a:solidFill>
              </a:rPr>
              <a:t>big-Omega</a:t>
            </a:r>
            <a:endParaRPr lang="en-US" altLang="en-US" sz="2000" b="1"/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f(n) is </a:t>
            </a:r>
            <a:r>
              <a:rPr lang="en-US" altLang="en-US" sz="1800">
                <a:sym typeface="Symbol" pitchFamily="2" charset="2"/>
              </a:rPr>
              <a:t>(g(n)) if f(n) is asymptotically </a:t>
            </a:r>
            <a:r>
              <a:rPr lang="en-US" altLang="en-US" sz="1800" b="1">
                <a:sym typeface="Symbol" pitchFamily="2" charset="2"/>
              </a:rPr>
              <a:t>greater than or equal</a:t>
            </a:r>
            <a:r>
              <a:rPr lang="en-US" altLang="en-US" sz="1800">
                <a:sym typeface="Symbol" pitchFamily="2" charset="2"/>
              </a:rPr>
              <a:t> to g(n)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1600" baseline="-25000">
              <a:sym typeface="Symbol" pitchFamily="2" charset="2"/>
            </a:endParaRPr>
          </a:p>
          <a:p>
            <a:pPr lvl="1" eaLnBrk="1" hangingPunct="1">
              <a:lnSpc>
                <a:spcPct val="90000"/>
              </a:lnSpc>
            </a:pPr>
            <a:endParaRPr lang="en-US" altLang="en-US" sz="1600" baseline="-25000">
              <a:sym typeface="Symbol" pitchFamily="2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000" b="1"/>
              <a:t>	</a:t>
            </a:r>
            <a:r>
              <a:rPr lang="en-US" altLang="en-US" sz="2000" b="1">
                <a:solidFill>
                  <a:schemeClr val="tx2"/>
                </a:solidFill>
              </a:rPr>
              <a:t>big-Theta</a:t>
            </a:r>
            <a:endParaRPr lang="en-US" altLang="en-US" sz="2000" b="1"/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f(n) is </a:t>
            </a:r>
            <a:r>
              <a:rPr lang="en-US" altLang="en-US" sz="1800">
                <a:sym typeface="Symbol" pitchFamily="2" charset="2"/>
              </a:rPr>
              <a:t>(g(n)) if f(n) is asymptotically </a:t>
            </a:r>
            <a:r>
              <a:rPr lang="en-US" altLang="en-US" sz="1800" b="1">
                <a:sym typeface="Symbol" pitchFamily="2" charset="2"/>
              </a:rPr>
              <a:t>equal</a:t>
            </a:r>
            <a:r>
              <a:rPr lang="en-US" altLang="en-US" sz="1800">
                <a:sym typeface="Symbol" pitchFamily="2" charset="2"/>
              </a:rPr>
              <a:t> to g(n)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160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000" b="1"/>
              <a:t>	</a:t>
            </a:r>
            <a:r>
              <a:rPr lang="en-US" altLang="en-US" sz="2000" b="1">
                <a:solidFill>
                  <a:schemeClr val="tx2"/>
                </a:solidFill>
              </a:rPr>
              <a:t>little-oh</a:t>
            </a:r>
            <a:endParaRPr lang="en-US" altLang="en-US" sz="2000"/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f(n) is </a:t>
            </a:r>
            <a:r>
              <a:rPr lang="en-US" altLang="en-US" sz="1800">
                <a:sym typeface="Symbol" pitchFamily="2" charset="2"/>
              </a:rPr>
              <a:t>o(g(n)) if f(n) is asymptotically </a:t>
            </a:r>
            <a:r>
              <a:rPr lang="en-US" altLang="en-US" sz="1800" b="1">
                <a:sym typeface="Symbol" pitchFamily="2" charset="2"/>
              </a:rPr>
              <a:t>strictly less</a:t>
            </a:r>
            <a:r>
              <a:rPr lang="en-US" altLang="en-US" sz="1800">
                <a:sym typeface="Symbol" pitchFamily="2" charset="2"/>
              </a:rPr>
              <a:t> than g(n)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1600" baseline="-25000">
              <a:sym typeface="Symbol" pitchFamily="2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000" b="1"/>
              <a:t>	</a:t>
            </a:r>
            <a:r>
              <a:rPr lang="en-US" altLang="en-US" sz="2000" b="1">
                <a:solidFill>
                  <a:schemeClr val="tx2"/>
                </a:solidFill>
              </a:rPr>
              <a:t>little-omega</a:t>
            </a:r>
            <a:endParaRPr lang="en-US" altLang="en-US" sz="2000"/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f(n) is </a:t>
            </a:r>
            <a:r>
              <a:rPr lang="en-US" altLang="en-US" sz="1800">
                <a:sym typeface="Symbol" pitchFamily="2" charset="2"/>
              </a:rPr>
              <a:t>(g(n)) if is asymptotically </a:t>
            </a:r>
            <a:r>
              <a:rPr lang="en-US" altLang="en-US" sz="1800" b="1">
                <a:sym typeface="Symbol" pitchFamily="2" charset="2"/>
              </a:rPr>
              <a:t>strictly greater</a:t>
            </a:r>
            <a:r>
              <a:rPr lang="en-US" altLang="en-US" sz="1800">
                <a:sym typeface="Symbol" pitchFamily="2" charset="2"/>
              </a:rPr>
              <a:t> than g(n)</a:t>
            </a:r>
          </a:p>
        </p:txBody>
      </p:sp>
      <p:grpSp>
        <p:nvGrpSpPr>
          <p:cNvPr id="2" name="Group 6">
            <a:extLst>
              <a:ext uri="{FF2B5EF4-FFF2-40B4-BE49-F238E27FC236}">
                <a16:creationId xmlns:a16="http://schemas.microsoft.com/office/drawing/2014/main" id="{03CF1CD1-46CC-80B6-12B1-0DAFBD3BF1CC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5834063"/>
            <a:ext cx="7848600" cy="414337"/>
            <a:chOff x="685800" y="5833646"/>
            <a:chExt cx="7848600" cy="41475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9EEC893-C368-5A1E-F64A-E9410A2A2FF0}"/>
                </a:ext>
              </a:extLst>
            </p:cNvPr>
            <p:cNvSpPr/>
            <p:nvPr/>
          </p:nvSpPr>
          <p:spPr>
            <a:xfrm>
              <a:off x="685800" y="5833646"/>
              <a:ext cx="7848600" cy="33847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marL="342900" indent="-342900" eaLnBrk="1" hangingPunct="1">
                <a:spcBef>
                  <a:spcPct val="20000"/>
                </a:spcBef>
                <a:tabLst>
                  <a:tab pos="1028700" algn="l"/>
                </a:tabLst>
                <a:defRPr/>
              </a:pPr>
              <a:r>
                <a:rPr lang="en-US" sz="1600" kern="0" dirty="0">
                  <a:latin typeface="Arial" charset="0"/>
                  <a:cs typeface="Arial" charset="0"/>
                </a:rPr>
                <a:t>O(1)  O(</a:t>
              </a:r>
              <a:r>
                <a:rPr lang="en-US" sz="1600" kern="0" dirty="0" err="1">
                  <a:latin typeface="Arial" charset="0"/>
                  <a:cs typeface="Arial" charset="0"/>
                </a:rPr>
                <a:t>log</a:t>
              </a:r>
              <a:r>
                <a:rPr lang="en-US" sz="1600" i="1" kern="0" dirty="0" err="1">
                  <a:latin typeface="Arial" charset="0"/>
                  <a:cs typeface="Arial" charset="0"/>
                </a:rPr>
                <a:t>n</a:t>
              </a:r>
              <a:r>
                <a:rPr lang="en-US" sz="1600" kern="0" dirty="0">
                  <a:latin typeface="Arial" charset="0"/>
                  <a:cs typeface="Arial" charset="0"/>
                </a:rPr>
                <a:t>)  O(log</a:t>
              </a:r>
              <a:r>
                <a:rPr lang="en-US" sz="1600" kern="0" baseline="30000" dirty="0">
                  <a:latin typeface="Arial" charset="0"/>
                  <a:cs typeface="Arial" charset="0"/>
                </a:rPr>
                <a:t>2</a:t>
              </a:r>
              <a:r>
                <a:rPr lang="en-US" sz="1600" kern="0" dirty="0">
                  <a:latin typeface="Arial" charset="0"/>
                  <a:cs typeface="Arial" charset="0"/>
                </a:rPr>
                <a:t>n)  O(sqrt(n))  O(</a:t>
              </a:r>
              <a:r>
                <a:rPr lang="en-US" sz="1600" i="1" kern="0" dirty="0">
                  <a:latin typeface="Arial" charset="0"/>
                  <a:cs typeface="Arial" charset="0"/>
                </a:rPr>
                <a:t>n</a:t>
              </a:r>
              <a:r>
                <a:rPr lang="en-US" sz="1600" kern="0" dirty="0">
                  <a:latin typeface="Arial" charset="0"/>
                  <a:cs typeface="Arial" charset="0"/>
                </a:rPr>
                <a:t>)  O(</a:t>
              </a:r>
              <a:r>
                <a:rPr lang="en-US" sz="1600" kern="0" dirty="0" err="1">
                  <a:latin typeface="Arial" charset="0"/>
                  <a:cs typeface="Arial" charset="0"/>
                </a:rPr>
                <a:t>nlogn</a:t>
              </a:r>
              <a:r>
                <a:rPr lang="en-US" sz="1600" kern="0" dirty="0">
                  <a:latin typeface="Arial" charset="0"/>
                  <a:cs typeface="Arial" charset="0"/>
                </a:rPr>
                <a:t>)  O(</a:t>
              </a:r>
              <a:r>
                <a:rPr lang="en-US" sz="1600" i="1" kern="0" dirty="0">
                  <a:latin typeface="Arial" charset="0"/>
                  <a:cs typeface="Arial" charset="0"/>
                </a:rPr>
                <a:t>n</a:t>
              </a:r>
              <a:r>
                <a:rPr lang="en-US" sz="1600" i="1" kern="0" baseline="30000" dirty="0">
                  <a:latin typeface="Arial" charset="0"/>
                  <a:cs typeface="Arial" charset="0"/>
                </a:rPr>
                <a:t>2</a:t>
              </a:r>
              <a:r>
                <a:rPr lang="en-US" sz="1600" kern="0" dirty="0">
                  <a:latin typeface="Arial" charset="0"/>
                  <a:cs typeface="Arial" charset="0"/>
                </a:rPr>
                <a:t>)  O(</a:t>
              </a:r>
              <a:r>
                <a:rPr lang="en-US" sz="1600" i="1" kern="0" dirty="0" err="1">
                  <a:latin typeface="Arial" charset="0"/>
                  <a:cs typeface="Arial" charset="0"/>
                </a:rPr>
                <a:t>n</a:t>
              </a:r>
              <a:r>
                <a:rPr lang="en-US" sz="1600" i="1" kern="0" baseline="30000" dirty="0" err="1">
                  <a:latin typeface="Arial" charset="0"/>
                  <a:cs typeface="Arial" charset="0"/>
                </a:rPr>
                <a:t>k</a:t>
              </a:r>
              <a:r>
                <a:rPr lang="en-US" sz="1600" kern="0" dirty="0">
                  <a:latin typeface="Arial" charset="0"/>
                  <a:cs typeface="Arial" charset="0"/>
                </a:rPr>
                <a:t>) (</a:t>
              </a:r>
              <a:r>
                <a:rPr lang="en-US" sz="1600" i="1" kern="0" dirty="0">
                  <a:latin typeface="Arial" charset="0"/>
                  <a:cs typeface="Arial" charset="0"/>
                </a:rPr>
                <a:t>k</a:t>
              </a:r>
              <a:r>
                <a:rPr lang="en-US" sz="1600" kern="0" dirty="0">
                  <a:latin typeface="Arial" charset="0"/>
                  <a:cs typeface="Arial" charset="0"/>
                </a:rPr>
                <a:t>&gt;2)  O(</a:t>
              </a:r>
              <a:r>
                <a:rPr lang="en-US" sz="1600" i="1" kern="0" dirty="0">
                  <a:latin typeface="Arial" charset="0"/>
                  <a:cs typeface="Arial" charset="0"/>
                </a:rPr>
                <a:t>a</a:t>
              </a:r>
              <a:r>
                <a:rPr lang="en-US" sz="1600" i="1" kern="0" baseline="30000" dirty="0">
                  <a:latin typeface="Arial" charset="0"/>
                  <a:cs typeface="Arial" charset="0"/>
                </a:rPr>
                <a:t>n</a:t>
              </a:r>
              <a:r>
                <a:rPr lang="en-US" sz="1600" kern="0" dirty="0">
                  <a:latin typeface="Arial" charset="0"/>
                  <a:cs typeface="Arial" charset="0"/>
                </a:rPr>
                <a:t>) (</a:t>
              </a:r>
              <a:r>
                <a:rPr lang="en-US" sz="1600" i="1" kern="0" dirty="0">
                  <a:latin typeface="Arial" charset="0"/>
                  <a:cs typeface="Arial" charset="0"/>
                </a:rPr>
                <a:t>a</a:t>
              </a:r>
              <a:r>
                <a:rPr lang="en-US" sz="1600" kern="0" dirty="0">
                  <a:latin typeface="Arial" charset="0"/>
                  <a:cs typeface="Arial" charset="0"/>
                </a:rPr>
                <a:t>&gt;1)</a:t>
              </a:r>
            </a:p>
          </p:txBody>
        </p:sp>
        <p:sp>
          <p:nvSpPr>
            <p:cNvPr id="22533" name="Line 5">
              <a:extLst>
                <a:ext uri="{FF2B5EF4-FFF2-40B4-BE49-F238E27FC236}">
                  <a16:creationId xmlns:a16="http://schemas.microsoft.com/office/drawing/2014/main" id="{B9080970-AE69-4436-8602-3F9D89109F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2000" y="6248400"/>
              <a:ext cx="7467600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>
            <a:extLst>
              <a:ext uri="{FF2B5EF4-FFF2-40B4-BE49-F238E27FC236}">
                <a16:creationId xmlns:a16="http://schemas.microsoft.com/office/drawing/2014/main" id="{5DDAF732-92BB-B7B3-2857-DD21ADD863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228600"/>
            <a:ext cx="6477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rgbClr val="0000FF"/>
                </a:solidFill>
                <a:latin typeface="Comic Sans MS" panose="030F0902030302020204" pitchFamily="66" charset="0"/>
              </a:rPr>
              <a:t>Examples of the Relatives of Big-Oh</a:t>
            </a:r>
          </a:p>
        </p:txBody>
      </p:sp>
      <p:sp>
        <p:nvSpPr>
          <p:cNvPr id="134147" name="Rectangle 3">
            <a:extLst>
              <a:ext uri="{FF2B5EF4-FFF2-40B4-BE49-F238E27FC236}">
                <a16:creationId xmlns:a16="http://schemas.microsoft.com/office/drawing/2014/main" id="{F176B748-941D-784B-0AAC-B8C014756E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5410200"/>
            <a:ext cx="79248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2865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lvl="1" eaLnBrk="1" hangingPunct="1">
              <a:lnSpc>
                <a:spcPct val="90000"/>
              </a:lnSpc>
              <a:buClr>
                <a:schemeClr val="accent2"/>
              </a:buClr>
              <a:buSzPct val="75000"/>
              <a:buFont typeface="Wingdings" pitchFamily="2" charset="2"/>
              <a:buNone/>
            </a:pPr>
            <a:r>
              <a:rPr lang="en-US" altLang="en-US">
                <a:latin typeface="Times New Roman" panose="02020603050405020304" pitchFamily="18" charset="0"/>
              </a:rPr>
              <a:t>f(n) is </a:t>
            </a:r>
            <a:r>
              <a:rPr lang="en-US" altLang="en-US">
                <a:latin typeface="Times New Roman" panose="02020603050405020304" pitchFamily="18" charset="0"/>
                <a:sym typeface="Symbol" pitchFamily="2" charset="2"/>
              </a:rPr>
              <a:t>(g(n)) if, for any constant c &gt; 0, there is an integer constant n</a:t>
            </a:r>
            <a:r>
              <a:rPr lang="en-US" altLang="en-US" baseline="-25000">
                <a:latin typeface="Times New Roman" panose="02020603050405020304" pitchFamily="18" charset="0"/>
                <a:sym typeface="Symbol" pitchFamily="2" charset="2"/>
              </a:rPr>
              <a:t>0</a:t>
            </a:r>
            <a:r>
              <a:rPr lang="en-US" altLang="en-US">
                <a:latin typeface="Times New Roman" panose="02020603050405020304" pitchFamily="18" charset="0"/>
                <a:sym typeface="Symbol" pitchFamily="2" charset="2"/>
              </a:rPr>
              <a:t>  1 such that f(n)  c•g(n) for n  n</a:t>
            </a:r>
            <a:r>
              <a:rPr lang="en-US" altLang="en-US" baseline="-25000">
                <a:latin typeface="Times New Roman" panose="02020603050405020304" pitchFamily="18" charset="0"/>
                <a:sym typeface="Symbol" pitchFamily="2" charset="2"/>
              </a:rPr>
              <a:t>0</a:t>
            </a:r>
          </a:p>
          <a:p>
            <a:pPr lvl="1" eaLnBrk="1" hangingPunct="1">
              <a:lnSpc>
                <a:spcPct val="90000"/>
              </a:lnSpc>
              <a:buClr>
                <a:schemeClr val="accent2"/>
              </a:buClr>
              <a:buSzPct val="75000"/>
              <a:buFont typeface="Wingdings" pitchFamily="2" charset="2"/>
              <a:buNone/>
            </a:pPr>
            <a:r>
              <a:rPr lang="en-US" altLang="en-US">
                <a:latin typeface="Times New Roman" panose="02020603050405020304" pitchFamily="18" charset="0"/>
                <a:sym typeface="Symbol" pitchFamily="2" charset="2"/>
              </a:rPr>
              <a:t>For any c, take </a:t>
            </a:r>
            <a:r>
              <a:rPr lang="en-US" altLang="en-US" sz="1800">
                <a:sym typeface="Symbol" pitchFamily="2" charset="2"/>
              </a:rPr>
              <a:t>n0 = c/12, then 12n</a:t>
            </a:r>
            <a:r>
              <a:rPr lang="en-US" altLang="en-US" sz="1800" baseline="30000">
                <a:sym typeface="Symbol" pitchFamily="2" charset="2"/>
              </a:rPr>
              <a:t>2</a:t>
            </a:r>
            <a:r>
              <a:rPr lang="en-US" altLang="en-US" sz="1800">
                <a:sym typeface="Symbol" pitchFamily="2" charset="2"/>
              </a:rPr>
              <a:t>+6n &gt;= 12n</a:t>
            </a:r>
            <a:r>
              <a:rPr lang="en-US" altLang="en-US" sz="1800" baseline="30000">
                <a:sym typeface="Symbol" pitchFamily="2" charset="2"/>
              </a:rPr>
              <a:t>2</a:t>
            </a:r>
            <a:r>
              <a:rPr lang="en-US" altLang="en-US" sz="1800">
                <a:sym typeface="Symbol" pitchFamily="2" charset="2"/>
              </a:rPr>
              <a:t> &gt;= cn</a:t>
            </a:r>
          </a:p>
        </p:txBody>
      </p:sp>
      <p:sp>
        <p:nvSpPr>
          <p:cNvPr id="23555" name="Rectangle 4">
            <a:extLst>
              <a:ext uri="{FF2B5EF4-FFF2-40B4-BE49-F238E27FC236}">
                <a16:creationId xmlns:a16="http://schemas.microsoft.com/office/drawing/2014/main" id="{562D0A4B-3F24-6469-E4A5-4B60F35CDF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5003800"/>
            <a:ext cx="79248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85750" indent="-28575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Clr>
                <a:schemeClr val="accent2"/>
              </a:buClr>
              <a:buSzPct val="75000"/>
              <a:buFont typeface="Wingdings" pitchFamily="2" charset="2"/>
              <a:buChar char="n"/>
            </a:pPr>
            <a:r>
              <a:rPr lang="en-US" altLang="en-US" sz="2000" b="1">
                <a:latin typeface="Times New Roman" panose="02020603050405020304" pitchFamily="18" charset="0"/>
              </a:rPr>
              <a:t>12n</a:t>
            </a:r>
            <a:r>
              <a:rPr lang="en-US" altLang="en-US" sz="2000" b="1" baseline="30000">
                <a:latin typeface="Times New Roman" panose="02020603050405020304" pitchFamily="18" charset="0"/>
              </a:rPr>
              <a:t>2</a:t>
            </a:r>
            <a:r>
              <a:rPr lang="en-US" altLang="en-US" sz="2000" b="1">
                <a:latin typeface="Times New Roman" panose="02020603050405020304" pitchFamily="18" charset="0"/>
              </a:rPr>
              <a:t>+6n is </a:t>
            </a:r>
            <a:r>
              <a:rPr lang="en-US" altLang="en-US" sz="2000" b="1">
                <a:latin typeface="Times New Roman" panose="02020603050405020304" pitchFamily="18" charset="0"/>
                <a:sym typeface="Symbol" pitchFamily="2" charset="2"/>
              </a:rPr>
              <a:t></a:t>
            </a:r>
            <a:r>
              <a:rPr lang="en-US" altLang="en-US" sz="2000" b="1">
                <a:latin typeface="Times New Roman" panose="02020603050405020304" pitchFamily="18" charset="0"/>
              </a:rPr>
              <a:t>(n)</a:t>
            </a:r>
          </a:p>
        </p:txBody>
      </p:sp>
      <p:sp>
        <p:nvSpPr>
          <p:cNvPr id="134149" name="Rectangle 5">
            <a:extLst>
              <a:ext uri="{FF2B5EF4-FFF2-40B4-BE49-F238E27FC236}">
                <a16:creationId xmlns:a16="http://schemas.microsoft.com/office/drawing/2014/main" id="{1C6BB166-A098-A71F-65D1-09372E971A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2844800"/>
            <a:ext cx="79248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2865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lvl="1" eaLnBrk="1" hangingPunct="1">
              <a:lnSpc>
                <a:spcPct val="90000"/>
              </a:lnSpc>
              <a:buClr>
                <a:schemeClr val="accent2"/>
              </a:buClr>
              <a:buSzPct val="75000"/>
              <a:buFont typeface="Wingdings" pitchFamily="2" charset="2"/>
              <a:buNone/>
            </a:pPr>
            <a:r>
              <a:rPr lang="en-US" altLang="en-US" sz="1800"/>
              <a:t>f(n) is </a:t>
            </a:r>
            <a:r>
              <a:rPr lang="en-US" altLang="en-US" sz="1800">
                <a:sym typeface="Symbol" pitchFamily="2" charset="2"/>
              </a:rPr>
              <a:t>(g(n)) if there are constants c’ &gt; 0 and c’’ &gt; 0 and an integer constant n0  1 such that c’•g(n)  f(n)  c’’•g(n) for n  n0	</a:t>
            </a:r>
            <a:endParaRPr lang="en-US" altLang="en-US" baseline="-25000">
              <a:latin typeface="Times New Roman" panose="02020603050405020304" pitchFamily="18" charset="0"/>
              <a:sym typeface="Symbol" pitchFamily="2" charset="2"/>
            </a:endParaRPr>
          </a:p>
          <a:p>
            <a:pPr lvl="1" eaLnBrk="1" hangingPunct="1">
              <a:lnSpc>
                <a:spcPct val="90000"/>
              </a:lnSpc>
              <a:buClr>
                <a:schemeClr val="accent2"/>
              </a:buClr>
              <a:buSzPct val="75000"/>
              <a:buFont typeface="Wingdings" pitchFamily="2" charset="2"/>
              <a:buNone/>
            </a:pPr>
            <a:r>
              <a:rPr lang="en-US" altLang="en-US" sz="1800"/>
              <a:t>3logn+loglogn &lt;= 4logn for n&gt;=2</a:t>
            </a:r>
          </a:p>
        </p:txBody>
      </p:sp>
      <p:sp>
        <p:nvSpPr>
          <p:cNvPr id="23557" name="Rectangle 6">
            <a:extLst>
              <a:ext uri="{FF2B5EF4-FFF2-40B4-BE49-F238E27FC236}">
                <a16:creationId xmlns:a16="http://schemas.microsoft.com/office/drawing/2014/main" id="{208C2C60-6C8F-AA68-C6A1-51FC3FB00F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2428875"/>
            <a:ext cx="79248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85750" indent="-28575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Clr>
                <a:schemeClr val="accent2"/>
              </a:buClr>
              <a:buSzPct val="75000"/>
              <a:buFont typeface="Wingdings" pitchFamily="2" charset="2"/>
              <a:buChar char="n"/>
            </a:pPr>
            <a:r>
              <a:rPr lang="en-US" altLang="en-US" sz="1800" b="1"/>
              <a:t>3logn+loglogn is </a:t>
            </a:r>
            <a:r>
              <a:rPr lang="el-GR" altLang="en-US" sz="1800" b="1">
                <a:sym typeface="Symbol" pitchFamily="2" charset="2"/>
              </a:rPr>
              <a:t>Θ</a:t>
            </a:r>
            <a:r>
              <a:rPr lang="en-US" altLang="en-US" sz="1800" b="1"/>
              <a:t>(logn)</a:t>
            </a:r>
          </a:p>
        </p:txBody>
      </p:sp>
      <p:sp>
        <p:nvSpPr>
          <p:cNvPr id="134151" name="Rectangle 7">
            <a:extLst>
              <a:ext uri="{FF2B5EF4-FFF2-40B4-BE49-F238E27FC236}">
                <a16:creationId xmlns:a16="http://schemas.microsoft.com/office/drawing/2014/main" id="{B874BB26-129A-78B1-EAF8-4E006BA40E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1481138"/>
            <a:ext cx="79248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2865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lvl="1" eaLnBrk="1" hangingPunct="1">
              <a:lnSpc>
                <a:spcPct val="90000"/>
              </a:lnSpc>
              <a:buClr>
                <a:schemeClr val="accent2"/>
              </a:buClr>
              <a:buSzPct val="75000"/>
              <a:buFont typeface="Wingdings" pitchFamily="2" charset="2"/>
              <a:buNone/>
            </a:pPr>
            <a:r>
              <a:rPr lang="en-US" altLang="en-US">
                <a:latin typeface="Times New Roman" panose="02020603050405020304" pitchFamily="18" charset="0"/>
              </a:rPr>
              <a:t>f(n) is </a:t>
            </a:r>
            <a:r>
              <a:rPr lang="en-US" altLang="en-US">
                <a:latin typeface="Times New Roman" panose="02020603050405020304" pitchFamily="18" charset="0"/>
                <a:sym typeface="Symbol" pitchFamily="2" charset="2"/>
              </a:rPr>
              <a:t>(g(n)) if there is a constant c &gt; 0 and an integer constant n</a:t>
            </a:r>
            <a:r>
              <a:rPr lang="en-US" altLang="en-US" baseline="-25000">
                <a:latin typeface="Times New Roman" panose="02020603050405020304" pitchFamily="18" charset="0"/>
                <a:sym typeface="Symbol" pitchFamily="2" charset="2"/>
              </a:rPr>
              <a:t>0</a:t>
            </a:r>
            <a:r>
              <a:rPr lang="en-US" altLang="en-US">
                <a:latin typeface="Times New Roman" panose="02020603050405020304" pitchFamily="18" charset="0"/>
                <a:sym typeface="Symbol" pitchFamily="2" charset="2"/>
              </a:rPr>
              <a:t>  1 such that f(n)  c•g(n) for n  n</a:t>
            </a:r>
            <a:r>
              <a:rPr lang="en-US" altLang="en-US" baseline="-25000">
                <a:latin typeface="Times New Roman" panose="02020603050405020304" pitchFamily="18" charset="0"/>
                <a:sym typeface="Symbol" pitchFamily="2" charset="2"/>
              </a:rPr>
              <a:t>0</a:t>
            </a:r>
          </a:p>
          <a:p>
            <a:pPr lvl="1" eaLnBrk="1" hangingPunct="1">
              <a:lnSpc>
                <a:spcPct val="90000"/>
              </a:lnSpc>
              <a:buClr>
                <a:schemeClr val="accent2"/>
              </a:buClr>
              <a:buSzPct val="75000"/>
              <a:buFont typeface="Wingdings" pitchFamily="2" charset="2"/>
              <a:buNone/>
            </a:pPr>
            <a:r>
              <a:rPr lang="en-US" altLang="en-US" sz="1800"/>
              <a:t>3logn+loglogn &gt;= 3logn for n&gt;=2</a:t>
            </a:r>
          </a:p>
        </p:txBody>
      </p:sp>
      <p:sp>
        <p:nvSpPr>
          <p:cNvPr id="23559" name="Rectangle 8">
            <a:extLst>
              <a:ext uri="{FF2B5EF4-FFF2-40B4-BE49-F238E27FC236}">
                <a16:creationId xmlns:a16="http://schemas.microsoft.com/office/drawing/2014/main" id="{71D9FFD8-BBA4-3974-A28F-A271F7B7CC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1066800"/>
            <a:ext cx="79248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85750" indent="-28575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Clr>
                <a:schemeClr val="accent2"/>
              </a:buClr>
              <a:buSzPct val="75000"/>
              <a:buFont typeface="Wingdings" pitchFamily="2" charset="2"/>
              <a:buChar char="n"/>
            </a:pPr>
            <a:r>
              <a:rPr lang="en-US" altLang="en-US" sz="2000" b="1">
                <a:latin typeface="Times New Roman" panose="02020603050405020304" pitchFamily="18" charset="0"/>
              </a:rPr>
              <a:t>3logn+loglogn is </a:t>
            </a:r>
            <a:r>
              <a:rPr lang="en-US" altLang="en-US" sz="2000" b="1">
                <a:latin typeface="Times New Roman" panose="02020603050405020304" pitchFamily="18" charset="0"/>
                <a:sym typeface="Symbol" pitchFamily="2" charset="2"/>
              </a:rPr>
              <a:t></a:t>
            </a:r>
            <a:r>
              <a:rPr lang="en-US" altLang="en-US" sz="2000" b="1">
                <a:latin typeface="Times New Roman" panose="02020603050405020304" pitchFamily="18" charset="0"/>
              </a:rPr>
              <a:t>(logn)</a:t>
            </a:r>
          </a:p>
        </p:txBody>
      </p:sp>
      <p:sp>
        <p:nvSpPr>
          <p:cNvPr id="22536" name="Rectangle 9">
            <a:extLst>
              <a:ext uri="{FF2B5EF4-FFF2-40B4-BE49-F238E27FC236}">
                <a16:creationId xmlns:a16="http://schemas.microsoft.com/office/drawing/2014/main" id="{8C682E89-AA04-54F8-173B-945CF66350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3962400"/>
            <a:ext cx="7696200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f(n) is </a:t>
            </a:r>
            <a:r>
              <a:rPr lang="en-US" altLang="en-US" sz="1800">
                <a:sym typeface="Symbol" pitchFamily="2" charset="2"/>
              </a:rPr>
              <a:t>o(g(n)) if, for any constant c &gt; 0, there is an integer constant n0  1   such that f(n)  c•g(n) for n  n0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ym typeface="Symbol" pitchFamily="2" charset="2"/>
              </a:rPr>
              <a:t>Let c&gt;0, take n</a:t>
            </a:r>
            <a:r>
              <a:rPr lang="en-US" altLang="en-US" sz="1800" baseline="-25000">
                <a:sym typeface="Symbol" pitchFamily="2" charset="2"/>
              </a:rPr>
              <a:t>0</a:t>
            </a:r>
            <a:r>
              <a:rPr lang="en-US" altLang="en-US" sz="1800">
                <a:sym typeface="Symbol" pitchFamily="2" charset="2"/>
              </a:rPr>
              <a:t> = (12+6)/c, then cn</a:t>
            </a:r>
            <a:r>
              <a:rPr lang="en-US" altLang="en-US" sz="1800" baseline="30000">
                <a:sym typeface="Symbol" pitchFamily="2" charset="2"/>
              </a:rPr>
              <a:t>3</a:t>
            </a:r>
            <a:r>
              <a:rPr lang="en-US" altLang="en-US" sz="1800">
                <a:sym typeface="Symbol" pitchFamily="2" charset="2"/>
              </a:rPr>
              <a:t> &gt;= 12n</a:t>
            </a:r>
            <a:r>
              <a:rPr lang="en-US" altLang="en-US" sz="1800" baseline="30000">
                <a:sym typeface="Symbol" pitchFamily="2" charset="2"/>
              </a:rPr>
              <a:t>2</a:t>
            </a:r>
            <a:r>
              <a:rPr lang="en-US" altLang="en-US" sz="1800">
                <a:sym typeface="Symbol" pitchFamily="2" charset="2"/>
              </a:rPr>
              <a:t>+6n</a:t>
            </a:r>
            <a:r>
              <a:rPr lang="en-US" altLang="en-US" sz="1800" baseline="30000">
                <a:sym typeface="Symbol" pitchFamily="2" charset="2"/>
              </a:rPr>
              <a:t>2</a:t>
            </a:r>
            <a:r>
              <a:rPr lang="en-US" altLang="en-US" sz="1800">
                <a:sym typeface="Symbol" pitchFamily="2" charset="2"/>
              </a:rPr>
              <a:t> &gt;= 12n</a:t>
            </a:r>
            <a:r>
              <a:rPr lang="en-US" altLang="en-US" sz="1800" baseline="30000">
                <a:sym typeface="Symbol" pitchFamily="2" charset="2"/>
              </a:rPr>
              <a:t>2</a:t>
            </a:r>
            <a:r>
              <a:rPr lang="en-US" altLang="en-US" sz="1800">
                <a:sym typeface="Symbol" pitchFamily="2" charset="2"/>
              </a:rPr>
              <a:t>+6n</a:t>
            </a:r>
          </a:p>
        </p:txBody>
      </p:sp>
      <p:sp>
        <p:nvSpPr>
          <p:cNvPr id="23561" name="Rectangle 10">
            <a:extLst>
              <a:ext uri="{FF2B5EF4-FFF2-40B4-BE49-F238E27FC236}">
                <a16:creationId xmlns:a16="http://schemas.microsoft.com/office/drawing/2014/main" id="{E5AF239A-DAF9-6CE9-AAE9-3BB9DE16EA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3657600"/>
            <a:ext cx="79248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85750" indent="-28575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Clr>
                <a:schemeClr val="accent2"/>
              </a:buClr>
              <a:buSzPct val="75000"/>
              <a:buFont typeface="Wingdings" pitchFamily="2" charset="2"/>
              <a:buChar char="n"/>
            </a:pPr>
            <a:r>
              <a:rPr lang="en-US" altLang="en-US" sz="2000" b="1">
                <a:latin typeface="Times New Roman" panose="02020603050405020304" pitchFamily="18" charset="0"/>
              </a:rPr>
              <a:t>12n</a:t>
            </a:r>
            <a:r>
              <a:rPr lang="en-US" altLang="en-US" sz="2000" b="1" baseline="30000">
                <a:latin typeface="Times New Roman" panose="02020603050405020304" pitchFamily="18" charset="0"/>
              </a:rPr>
              <a:t>2</a:t>
            </a:r>
            <a:r>
              <a:rPr lang="en-US" altLang="en-US" sz="2000" b="1">
                <a:latin typeface="Times New Roman" panose="02020603050405020304" pitchFamily="18" charset="0"/>
              </a:rPr>
              <a:t>+6n is o(n</a:t>
            </a:r>
            <a:r>
              <a:rPr lang="en-US" altLang="en-US" sz="2000" b="1" baseline="30000">
                <a:latin typeface="Times New Roman" panose="02020603050405020304" pitchFamily="18" charset="0"/>
              </a:rPr>
              <a:t>3</a:t>
            </a:r>
            <a:r>
              <a:rPr lang="en-US" altLang="en-US" sz="2000" b="1">
                <a:latin typeface="Times New Roman" panose="02020603050405020304" pitchFamily="18" charset="0"/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147" grpId="0" autoUpdateAnimBg="0"/>
      <p:bldP spid="134147" grpId="1"/>
      <p:bldP spid="134149" grpId="0" autoUpdateAnimBg="0"/>
      <p:bldP spid="134149" grpId="1"/>
      <p:bldP spid="134151" grpId="0" autoUpdateAnimBg="0"/>
      <p:bldP spid="134151" grpId="1"/>
      <p:bldP spid="2253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>
            <a:extLst>
              <a:ext uri="{FF2B5EF4-FFF2-40B4-BE49-F238E27FC236}">
                <a16:creationId xmlns:a16="http://schemas.microsoft.com/office/drawing/2014/main" id="{C0E6596F-B32A-D205-2081-DEE8CC1553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152400"/>
            <a:ext cx="6477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rgbClr val="0000FF"/>
                </a:solidFill>
                <a:latin typeface="Comic Sans MS" panose="030F0902030302020204" pitchFamily="66" charset="0"/>
              </a:rPr>
              <a:t>More Examples</a:t>
            </a:r>
          </a:p>
        </p:txBody>
      </p:sp>
      <p:sp>
        <p:nvSpPr>
          <p:cNvPr id="136195" name="Rectangle 3">
            <a:extLst>
              <a:ext uri="{FF2B5EF4-FFF2-40B4-BE49-F238E27FC236}">
                <a16:creationId xmlns:a16="http://schemas.microsoft.com/office/drawing/2014/main" id="{08249798-C85D-5DA3-8F15-DD3CA45B8E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5029200"/>
            <a:ext cx="79248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2865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lvl="1" eaLnBrk="1" hangingPunct="1">
              <a:lnSpc>
                <a:spcPct val="90000"/>
              </a:lnSpc>
              <a:buClr>
                <a:schemeClr val="accent2"/>
              </a:buClr>
              <a:buSzPct val="75000"/>
              <a:buFont typeface="Wingdings" pitchFamily="2" charset="2"/>
              <a:buNone/>
            </a:pPr>
            <a:r>
              <a:rPr lang="en-US" altLang="en-US" dirty="0">
                <a:latin typeface="Times New Roman" panose="02020603050405020304" pitchFamily="18" charset="0"/>
              </a:rPr>
              <a:t>f(n) is </a:t>
            </a:r>
            <a:r>
              <a:rPr lang="en-US" altLang="en-US" dirty="0">
                <a:latin typeface="Times New Roman" panose="02020603050405020304" pitchFamily="18" charset="0"/>
                <a:sym typeface="Symbol" pitchFamily="2" charset="2"/>
              </a:rPr>
              <a:t>(g(n)) if, for any constant c &gt; 0, there is an integer constant n</a:t>
            </a:r>
            <a:r>
              <a:rPr lang="en-US" altLang="en-US" baseline="-25000" dirty="0">
                <a:latin typeface="Times New Roman" panose="02020603050405020304" pitchFamily="18" charset="0"/>
                <a:sym typeface="Symbol" pitchFamily="2" charset="2"/>
              </a:rPr>
              <a:t>0</a:t>
            </a:r>
            <a:r>
              <a:rPr lang="en-US" altLang="en-US" dirty="0">
                <a:latin typeface="Times New Roman" panose="02020603050405020304" pitchFamily="18" charset="0"/>
                <a:sym typeface="Symbol" pitchFamily="2" charset="2"/>
              </a:rPr>
              <a:t>  0 such that f(n) &gt; </a:t>
            </a:r>
            <a:r>
              <a:rPr lang="en-US" altLang="en-US" dirty="0" err="1">
                <a:latin typeface="Times New Roman" panose="02020603050405020304" pitchFamily="18" charset="0"/>
                <a:sym typeface="Symbol" pitchFamily="2" charset="2"/>
              </a:rPr>
              <a:t>c•g</a:t>
            </a:r>
            <a:r>
              <a:rPr lang="en-US" altLang="en-US" dirty="0">
                <a:latin typeface="Times New Roman" panose="02020603050405020304" pitchFamily="18" charset="0"/>
                <a:sym typeface="Symbol" pitchFamily="2" charset="2"/>
              </a:rPr>
              <a:t>(n) for n  n</a:t>
            </a:r>
            <a:r>
              <a:rPr lang="en-US" altLang="en-US" baseline="-25000" dirty="0">
                <a:latin typeface="Times New Roman" panose="02020603050405020304" pitchFamily="18" charset="0"/>
                <a:sym typeface="Symbol" pitchFamily="2" charset="2"/>
              </a:rPr>
              <a:t>0</a:t>
            </a:r>
          </a:p>
          <a:p>
            <a:pPr lvl="1" eaLnBrk="1" hangingPunct="1">
              <a:lnSpc>
                <a:spcPct val="90000"/>
              </a:lnSpc>
              <a:buClr>
                <a:schemeClr val="accent2"/>
              </a:buClr>
              <a:buSzPct val="75000"/>
              <a:buFont typeface="Wingdings" pitchFamily="2" charset="2"/>
              <a:buNone/>
            </a:pPr>
            <a:r>
              <a:rPr lang="en-US" altLang="en-US" dirty="0">
                <a:latin typeface="Times New Roman" panose="02020603050405020304" pitchFamily="18" charset="0"/>
                <a:sym typeface="Symbol" pitchFamily="2" charset="2"/>
              </a:rPr>
              <a:t>need 5n</a:t>
            </a:r>
            <a:r>
              <a:rPr lang="en-US" altLang="en-US" baseline="-25000" dirty="0">
                <a:latin typeface="Times New Roman" panose="02020603050405020304" pitchFamily="18" charset="0"/>
                <a:sym typeface="Symbol" pitchFamily="2" charset="2"/>
              </a:rPr>
              <a:t>0</a:t>
            </a:r>
            <a:r>
              <a:rPr lang="en-US" altLang="en-US" baseline="30000" dirty="0">
                <a:latin typeface="Times New Roman" panose="02020603050405020304" pitchFamily="18" charset="0"/>
                <a:sym typeface="Symbol" pitchFamily="2" charset="2"/>
              </a:rPr>
              <a:t>2</a:t>
            </a:r>
            <a:r>
              <a:rPr lang="en-US" altLang="en-US" dirty="0">
                <a:latin typeface="Times New Roman" panose="02020603050405020304" pitchFamily="18" charset="0"/>
                <a:sym typeface="Symbol" pitchFamily="2" charset="2"/>
              </a:rPr>
              <a:t> &gt; c•n</a:t>
            </a:r>
            <a:r>
              <a:rPr lang="en-US" altLang="en-US" baseline="-25000" dirty="0">
                <a:latin typeface="Times New Roman" panose="02020603050405020304" pitchFamily="18" charset="0"/>
                <a:sym typeface="Symbol" pitchFamily="2" charset="2"/>
              </a:rPr>
              <a:t>0</a:t>
            </a:r>
            <a:r>
              <a:rPr lang="en-US" altLang="en-US" dirty="0">
                <a:latin typeface="Times New Roman" panose="02020603050405020304" pitchFamily="18" charset="0"/>
                <a:sym typeface="Symbol" pitchFamily="2" charset="2"/>
              </a:rPr>
              <a:t>  given c, the n</a:t>
            </a:r>
            <a:r>
              <a:rPr lang="en-US" altLang="en-US" baseline="-25000" dirty="0">
                <a:latin typeface="Times New Roman" panose="02020603050405020304" pitchFamily="18" charset="0"/>
                <a:sym typeface="Symbol" pitchFamily="2" charset="2"/>
              </a:rPr>
              <a:t>0</a:t>
            </a:r>
            <a:r>
              <a:rPr lang="en-US" altLang="en-US" dirty="0">
                <a:latin typeface="Times New Roman" panose="02020603050405020304" pitchFamily="18" charset="0"/>
                <a:sym typeface="Symbol" pitchFamily="2" charset="2"/>
              </a:rPr>
              <a:t> that </a:t>
            </a:r>
            <a:r>
              <a:rPr lang="en-US" altLang="en-US" dirty="0" err="1">
                <a:latin typeface="Times New Roman" panose="02020603050405020304" pitchFamily="18" charset="0"/>
                <a:sym typeface="Symbol" pitchFamily="2" charset="2"/>
              </a:rPr>
              <a:t>satifies</a:t>
            </a:r>
            <a:r>
              <a:rPr lang="en-US" altLang="en-US" dirty="0">
                <a:latin typeface="Times New Roman" panose="02020603050405020304" pitchFamily="18" charset="0"/>
                <a:sym typeface="Symbol" pitchFamily="2" charset="2"/>
              </a:rPr>
              <a:t> this is n</a:t>
            </a:r>
            <a:r>
              <a:rPr lang="en-US" altLang="en-US" baseline="-25000" dirty="0">
                <a:latin typeface="Times New Roman" panose="02020603050405020304" pitchFamily="18" charset="0"/>
                <a:sym typeface="Symbol" pitchFamily="2" charset="2"/>
              </a:rPr>
              <a:t>0</a:t>
            </a:r>
            <a:r>
              <a:rPr lang="en-US" altLang="en-US" dirty="0">
                <a:latin typeface="Times New Roman" panose="02020603050405020304" pitchFamily="18" charset="0"/>
                <a:sym typeface="Symbol" pitchFamily="2" charset="2"/>
              </a:rPr>
              <a:t>  c/5  0</a:t>
            </a:r>
          </a:p>
        </p:txBody>
      </p:sp>
      <p:sp>
        <p:nvSpPr>
          <p:cNvPr id="25603" name="Rectangle 4">
            <a:extLst>
              <a:ext uri="{FF2B5EF4-FFF2-40B4-BE49-F238E27FC236}">
                <a16:creationId xmlns:a16="http://schemas.microsoft.com/office/drawing/2014/main" id="{8A4471B4-F650-4CE5-5834-670CB41FA5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4622800"/>
            <a:ext cx="79248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85750" indent="-28575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Clr>
                <a:schemeClr val="accent2"/>
              </a:buClr>
              <a:buSzPct val="75000"/>
              <a:buFont typeface="Wingdings" pitchFamily="2" charset="2"/>
              <a:buChar char="n"/>
            </a:pPr>
            <a:r>
              <a:rPr lang="en-US" altLang="en-US" sz="2000" b="1">
                <a:latin typeface="Times New Roman" panose="02020603050405020304" pitchFamily="18" charset="0"/>
              </a:rPr>
              <a:t>5n</a:t>
            </a:r>
            <a:r>
              <a:rPr lang="en-US" altLang="en-US" sz="2000" b="1" baseline="30000">
                <a:latin typeface="Times New Roman" panose="02020603050405020304" pitchFamily="18" charset="0"/>
              </a:rPr>
              <a:t>2</a:t>
            </a:r>
            <a:r>
              <a:rPr lang="en-US" altLang="en-US" sz="2000" b="1">
                <a:latin typeface="Times New Roman" panose="02020603050405020304" pitchFamily="18" charset="0"/>
              </a:rPr>
              <a:t> is </a:t>
            </a:r>
            <a:r>
              <a:rPr lang="en-US" altLang="en-US" sz="2000" b="1">
                <a:latin typeface="Times New Roman" panose="02020603050405020304" pitchFamily="18" charset="0"/>
                <a:sym typeface="Symbol" pitchFamily="2" charset="2"/>
              </a:rPr>
              <a:t></a:t>
            </a:r>
            <a:r>
              <a:rPr lang="en-US" altLang="en-US" sz="2000" b="1">
                <a:latin typeface="Times New Roman" panose="02020603050405020304" pitchFamily="18" charset="0"/>
              </a:rPr>
              <a:t>(n)</a:t>
            </a:r>
          </a:p>
        </p:txBody>
      </p:sp>
      <p:sp>
        <p:nvSpPr>
          <p:cNvPr id="136197" name="Rectangle 5">
            <a:extLst>
              <a:ext uri="{FF2B5EF4-FFF2-40B4-BE49-F238E27FC236}">
                <a16:creationId xmlns:a16="http://schemas.microsoft.com/office/drawing/2014/main" id="{F1785E9E-437E-73C3-DB54-E0DDC75719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3387725"/>
            <a:ext cx="79248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2865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lvl="1" eaLnBrk="1" hangingPunct="1">
              <a:lnSpc>
                <a:spcPct val="90000"/>
              </a:lnSpc>
              <a:buClr>
                <a:schemeClr val="accent2"/>
              </a:buClr>
              <a:buSzPct val="75000"/>
              <a:buFont typeface="Wingdings" pitchFamily="2" charset="2"/>
              <a:buNone/>
            </a:pPr>
            <a:r>
              <a:rPr lang="en-US" altLang="en-US">
                <a:latin typeface="Times New Roman" panose="02020603050405020304" pitchFamily="18" charset="0"/>
              </a:rPr>
              <a:t>f(n) is </a:t>
            </a:r>
            <a:r>
              <a:rPr lang="en-US" altLang="en-US">
                <a:latin typeface="Times New Roman" panose="02020603050405020304" pitchFamily="18" charset="0"/>
                <a:sym typeface="Symbol" pitchFamily="2" charset="2"/>
              </a:rPr>
              <a:t>(g(n)) if there is a constant c &gt; 0 and an integer constant n</a:t>
            </a:r>
            <a:r>
              <a:rPr lang="en-US" altLang="en-US" baseline="-25000">
                <a:latin typeface="Times New Roman" panose="02020603050405020304" pitchFamily="18" charset="0"/>
                <a:sym typeface="Symbol" pitchFamily="2" charset="2"/>
              </a:rPr>
              <a:t>0</a:t>
            </a:r>
            <a:r>
              <a:rPr lang="en-US" altLang="en-US">
                <a:latin typeface="Times New Roman" panose="02020603050405020304" pitchFamily="18" charset="0"/>
                <a:sym typeface="Symbol" pitchFamily="2" charset="2"/>
              </a:rPr>
              <a:t>  1 such that f(n)  c•g(n) for n  n</a:t>
            </a:r>
            <a:r>
              <a:rPr lang="en-US" altLang="en-US" baseline="-25000">
                <a:latin typeface="Times New Roman" panose="02020603050405020304" pitchFamily="18" charset="0"/>
                <a:sym typeface="Symbol" pitchFamily="2" charset="2"/>
              </a:rPr>
              <a:t>0</a:t>
            </a:r>
          </a:p>
          <a:p>
            <a:pPr lvl="1" eaLnBrk="1" hangingPunct="1">
              <a:lnSpc>
                <a:spcPct val="90000"/>
              </a:lnSpc>
              <a:buClr>
                <a:schemeClr val="accent2"/>
              </a:buClr>
              <a:buSzPct val="75000"/>
              <a:buFont typeface="Wingdings" pitchFamily="2" charset="2"/>
              <a:buNone/>
            </a:pPr>
            <a:r>
              <a:rPr lang="en-US" altLang="en-US">
                <a:latin typeface="Times New Roman" panose="02020603050405020304" pitchFamily="18" charset="0"/>
                <a:sym typeface="Symbol" pitchFamily="2" charset="2"/>
              </a:rPr>
              <a:t>let c = 1 and n</a:t>
            </a:r>
            <a:r>
              <a:rPr lang="en-US" altLang="en-US" baseline="-25000">
                <a:latin typeface="Times New Roman" panose="02020603050405020304" pitchFamily="18" charset="0"/>
                <a:sym typeface="Symbol" pitchFamily="2" charset="2"/>
              </a:rPr>
              <a:t>0</a:t>
            </a:r>
            <a:r>
              <a:rPr lang="en-US" altLang="en-US">
                <a:latin typeface="Times New Roman" panose="02020603050405020304" pitchFamily="18" charset="0"/>
                <a:sym typeface="Symbol" pitchFamily="2" charset="2"/>
              </a:rPr>
              <a:t> = 1</a:t>
            </a:r>
            <a:endParaRPr lang="en-US" altLang="en-US" baseline="-25000">
              <a:latin typeface="Times New Roman" panose="02020603050405020304" pitchFamily="18" charset="0"/>
              <a:sym typeface="Symbol" pitchFamily="2" charset="2"/>
            </a:endParaRPr>
          </a:p>
        </p:txBody>
      </p:sp>
      <p:sp>
        <p:nvSpPr>
          <p:cNvPr id="25605" name="Rectangle 6">
            <a:extLst>
              <a:ext uri="{FF2B5EF4-FFF2-40B4-BE49-F238E27FC236}">
                <a16:creationId xmlns:a16="http://schemas.microsoft.com/office/drawing/2014/main" id="{171A9C08-0AC6-A24A-23AA-20D3FB6771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2971800"/>
            <a:ext cx="79248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85750" indent="-28575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Clr>
                <a:schemeClr val="accent2"/>
              </a:buClr>
              <a:buSzPct val="75000"/>
              <a:buFont typeface="Wingdings" pitchFamily="2" charset="2"/>
              <a:buChar char="n"/>
            </a:pPr>
            <a:r>
              <a:rPr lang="en-US" altLang="en-US" sz="2000" b="1">
                <a:latin typeface="Times New Roman" panose="02020603050405020304" pitchFamily="18" charset="0"/>
              </a:rPr>
              <a:t>5n</a:t>
            </a:r>
            <a:r>
              <a:rPr lang="en-US" altLang="en-US" sz="2000" b="1" baseline="30000">
                <a:latin typeface="Times New Roman" panose="02020603050405020304" pitchFamily="18" charset="0"/>
              </a:rPr>
              <a:t>2</a:t>
            </a:r>
            <a:r>
              <a:rPr lang="en-US" altLang="en-US" sz="2000" b="1">
                <a:latin typeface="Times New Roman" panose="02020603050405020304" pitchFamily="18" charset="0"/>
              </a:rPr>
              <a:t> is </a:t>
            </a:r>
            <a:r>
              <a:rPr lang="en-US" altLang="en-US" sz="2000" b="1">
                <a:latin typeface="Times New Roman" panose="02020603050405020304" pitchFamily="18" charset="0"/>
                <a:sym typeface="Symbol" pitchFamily="2" charset="2"/>
              </a:rPr>
              <a:t></a:t>
            </a:r>
            <a:r>
              <a:rPr lang="en-US" altLang="en-US" sz="2000" b="1">
                <a:latin typeface="Times New Roman" panose="02020603050405020304" pitchFamily="18" charset="0"/>
              </a:rPr>
              <a:t>(n)</a:t>
            </a:r>
          </a:p>
        </p:txBody>
      </p:sp>
      <p:sp>
        <p:nvSpPr>
          <p:cNvPr id="136199" name="Rectangle 7">
            <a:extLst>
              <a:ext uri="{FF2B5EF4-FFF2-40B4-BE49-F238E27FC236}">
                <a16:creationId xmlns:a16="http://schemas.microsoft.com/office/drawing/2014/main" id="{1348073F-EAD8-6D7D-4BFF-71665A78B9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1709738"/>
            <a:ext cx="79248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2865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lvl="1" eaLnBrk="1" hangingPunct="1">
              <a:lnSpc>
                <a:spcPct val="90000"/>
              </a:lnSpc>
              <a:buClr>
                <a:schemeClr val="accent2"/>
              </a:buClr>
              <a:buSzPct val="75000"/>
              <a:buFont typeface="Wingdings" pitchFamily="2" charset="2"/>
              <a:buNone/>
            </a:pPr>
            <a:r>
              <a:rPr lang="en-US" altLang="en-US">
                <a:latin typeface="Times New Roman" panose="02020603050405020304" pitchFamily="18" charset="0"/>
              </a:rPr>
              <a:t>f(n) is </a:t>
            </a:r>
            <a:r>
              <a:rPr lang="en-US" altLang="en-US">
                <a:latin typeface="Times New Roman" panose="02020603050405020304" pitchFamily="18" charset="0"/>
                <a:sym typeface="Symbol" pitchFamily="2" charset="2"/>
              </a:rPr>
              <a:t>(g(n)) if there is a constant c &gt; 0 and an integer constant n</a:t>
            </a:r>
            <a:r>
              <a:rPr lang="en-US" altLang="en-US" baseline="-25000">
                <a:latin typeface="Times New Roman" panose="02020603050405020304" pitchFamily="18" charset="0"/>
                <a:sym typeface="Symbol" pitchFamily="2" charset="2"/>
              </a:rPr>
              <a:t>0</a:t>
            </a:r>
            <a:r>
              <a:rPr lang="en-US" altLang="en-US">
                <a:latin typeface="Times New Roman" panose="02020603050405020304" pitchFamily="18" charset="0"/>
                <a:sym typeface="Symbol" pitchFamily="2" charset="2"/>
              </a:rPr>
              <a:t>  1 such that f(n)  c•g(n) for n  n</a:t>
            </a:r>
            <a:r>
              <a:rPr lang="en-US" altLang="en-US" baseline="-25000">
                <a:latin typeface="Times New Roman" panose="02020603050405020304" pitchFamily="18" charset="0"/>
                <a:sym typeface="Symbol" pitchFamily="2" charset="2"/>
              </a:rPr>
              <a:t>0</a:t>
            </a:r>
          </a:p>
          <a:p>
            <a:pPr lvl="1" eaLnBrk="1" hangingPunct="1">
              <a:lnSpc>
                <a:spcPct val="90000"/>
              </a:lnSpc>
              <a:buClr>
                <a:schemeClr val="accent2"/>
              </a:buClr>
              <a:buSzPct val="75000"/>
              <a:buFont typeface="Wingdings" pitchFamily="2" charset="2"/>
              <a:buNone/>
            </a:pPr>
            <a:r>
              <a:rPr lang="en-US" altLang="en-US">
                <a:latin typeface="Times New Roman" panose="02020603050405020304" pitchFamily="18" charset="0"/>
                <a:sym typeface="Symbol" pitchFamily="2" charset="2"/>
              </a:rPr>
              <a:t>let c = 5 and n</a:t>
            </a:r>
            <a:r>
              <a:rPr lang="en-US" altLang="en-US" baseline="-25000">
                <a:latin typeface="Times New Roman" panose="02020603050405020304" pitchFamily="18" charset="0"/>
                <a:sym typeface="Symbol" pitchFamily="2" charset="2"/>
              </a:rPr>
              <a:t>0</a:t>
            </a:r>
            <a:r>
              <a:rPr lang="en-US" altLang="en-US">
                <a:latin typeface="Times New Roman" panose="02020603050405020304" pitchFamily="18" charset="0"/>
                <a:sym typeface="Symbol" pitchFamily="2" charset="2"/>
              </a:rPr>
              <a:t> = 1</a:t>
            </a:r>
          </a:p>
        </p:txBody>
      </p:sp>
      <p:sp>
        <p:nvSpPr>
          <p:cNvPr id="25607" name="Rectangle 8">
            <a:extLst>
              <a:ext uri="{FF2B5EF4-FFF2-40B4-BE49-F238E27FC236}">
                <a16:creationId xmlns:a16="http://schemas.microsoft.com/office/drawing/2014/main" id="{15A4C80D-5A1A-7994-5E78-FFC137A7C7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1295400"/>
            <a:ext cx="79248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85750" indent="-28575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Clr>
                <a:schemeClr val="accent2"/>
              </a:buClr>
              <a:buSzPct val="75000"/>
              <a:buFont typeface="Wingdings" pitchFamily="2" charset="2"/>
              <a:buChar char="n"/>
            </a:pPr>
            <a:r>
              <a:rPr lang="en-US" altLang="en-US" sz="2000" b="1" dirty="0">
                <a:latin typeface="Times New Roman" panose="02020603050405020304" pitchFamily="18" charset="0"/>
              </a:rPr>
              <a:t>5n</a:t>
            </a:r>
            <a:r>
              <a:rPr lang="en-US" altLang="en-US" sz="2000" b="1" baseline="30000" dirty="0">
                <a:latin typeface="Times New Roman" panose="02020603050405020304" pitchFamily="18" charset="0"/>
              </a:rPr>
              <a:t>2</a:t>
            </a:r>
            <a:r>
              <a:rPr lang="en-US" altLang="en-US" sz="2000" b="1" dirty="0">
                <a:latin typeface="Times New Roman" panose="02020603050405020304" pitchFamily="18" charset="0"/>
              </a:rPr>
              <a:t> is </a:t>
            </a:r>
            <a:r>
              <a:rPr lang="en-US" altLang="en-US" sz="2000" b="1" dirty="0">
                <a:latin typeface="Times New Roman" panose="02020603050405020304" pitchFamily="18" charset="0"/>
                <a:sym typeface="Symbol" pitchFamily="2" charset="2"/>
              </a:rPr>
              <a:t></a:t>
            </a:r>
            <a:r>
              <a:rPr lang="en-US" altLang="en-US" sz="2000" b="1" dirty="0">
                <a:latin typeface="Times New Roman" panose="02020603050405020304" pitchFamily="18" charset="0"/>
              </a:rPr>
              <a:t>(n</a:t>
            </a:r>
            <a:r>
              <a:rPr lang="en-US" altLang="en-US" sz="2000" b="1" baseline="30000" dirty="0">
                <a:latin typeface="Times New Roman" panose="02020603050405020304" pitchFamily="18" charset="0"/>
              </a:rPr>
              <a:t>2</a:t>
            </a:r>
            <a:r>
              <a:rPr lang="en-US" altLang="en-US" sz="2000" b="1" dirty="0">
                <a:latin typeface="Times New Roman" panose="02020603050405020304" pitchFamily="18" charset="0"/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61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61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61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6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6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6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195" grpId="0" autoUpdateAnimBg="0"/>
      <p:bldP spid="136197" grpId="0" autoUpdateAnimBg="0"/>
      <p:bldP spid="136199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>
            <a:extLst>
              <a:ext uri="{FF2B5EF4-FFF2-40B4-BE49-F238E27FC236}">
                <a16:creationId xmlns:a16="http://schemas.microsoft.com/office/drawing/2014/main" id="{6562C6A8-E8AE-8E45-DA40-005F3E8932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3500" y="217488"/>
            <a:ext cx="6477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rgbClr val="0000FF"/>
                </a:solidFill>
                <a:latin typeface="Comic Sans MS" panose="030F0902030302020204" pitchFamily="66" charset="0"/>
              </a:rPr>
              <a:t>Limit-Ratio Tests</a:t>
            </a:r>
          </a:p>
        </p:txBody>
      </p:sp>
      <p:pic>
        <p:nvPicPr>
          <p:cNvPr id="27650" name="Picture 3">
            <a:extLst>
              <a:ext uri="{FF2B5EF4-FFF2-40B4-BE49-F238E27FC236}">
                <a16:creationId xmlns:a16="http://schemas.microsoft.com/office/drawing/2014/main" id="{BE284373-7808-7CB6-C01C-0A6E672CC6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858838"/>
            <a:ext cx="7010400" cy="239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1" name="Picture 4">
            <a:extLst>
              <a:ext uri="{FF2B5EF4-FFF2-40B4-BE49-F238E27FC236}">
                <a16:creationId xmlns:a16="http://schemas.microsoft.com/office/drawing/2014/main" id="{9D7922F0-FF7D-ED9F-00A2-5219296590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475" y="3959225"/>
            <a:ext cx="8655050" cy="74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2" name="Rectangle 3">
            <a:extLst>
              <a:ext uri="{FF2B5EF4-FFF2-40B4-BE49-F238E27FC236}">
                <a16:creationId xmlns:a16="http://schemas.microsoft.com/office/drawing/2014/main" id="{E01F8D7F-956D-FDB5-673C-1C4DA94633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875" y="3414713"/>
            <a:ext cx="7818438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Clr>
                <a:schemeClr val="accent2"/>
              </a:buClr>
              <a:buSzPct val="75000"/>
              <a:buFont typeface="Wingdings" pitchFamily="2" charset="2"/>
              <a:buNone/>
            </a:pPr>
            <a:r>
              <a:rPr lang="en-US" altLang="en-US">
                <a:solidFill>
                  <a:srgbClr val="FF6600"/>
                </a:solidFill>
              </a:rPr>
              <a:t>Additionally,</a:t>
            </a:r>
            <a:endParaRPr lang="en-US" altLang="en-US"/>
          </a:p>
        </p:txBody>
      </p:sp>
      <p:sp>
        <p:nvSpPr>
          <p:cNvPr id="27653" name="TextBox 7">
            <a:extLst>
              <a:ext uri="{FF2B5EF4-FFF2-40B4-BE49-F238E27FC236}">
                <a16:creationId xmlns:a16="http://schemas.microsoft.com/office/drawing/2014/main" id="{0D135E2F-5C01-2074-9121-0437E6E4F2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788" y="5313363"/>
            <a:ext cx="792480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200">
                <a:solidFill>
                  <a:srgbClr val="F44747"/>
                </a:solidFill>
                <a:latin typeface="Caveat"/>
              </a:rPr>
              <a:t>NOTE: </a:t>
            </a:r>
            <a:r>
              <a:rPr lang="en-US" altLang="en-US" sz="2200">
                <a:latin typeface="Caveat"/>
              </a:rPr>
              <a:t>When f(n) is o(g(n)), f(n) is O(g(n)) but not </a:t>
            </a:r>
            <a:r>
              <a:rPr lang="en-US" altLang="en-US" sz="2200">
                <a:latin typeface="FreeSerif"/>
              </a:rPr>
              <a:t>𝚹</a:t>
            </a:r>
            <a:r>
              <a:rPr lang="en-US" altLang="en-US" sz="2200">
                <a:latin typeface="Caveat"/>
              </a:rPr>
              <a:t>(g(n)).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200">
                <a:latin typeface="Caveat"/>
              </a:rPr>
              <a:t>             Similarly, when f(n) is </a:t>
            </a:r>
            <a:r>
              <a:rPr lang="el-GR" altLang="en-US" sz="2200">
                <a:latin typeface="ArialMT"/>
              </a:rPr>
              <a:t>ω</a:t>
            </a:r>
            <a:r>
              <a:rPr lang="el-GR" altLang="en-US" sz="2200">
                <a:latin typeface="Caveat"/>
              </a:rPr>
              <a:t>(</a:t>
            </a:r>
            <a:r>
              <a:rPr lang="en-US" altLang="en-US" sz="2200">
                <a:latin typeface="Caveat"/>
              </a:rPr>
              <a:t>g(n)), f(n) is </a:t>
            </a:r>
            <a:r>
              <a:rPr lang="el-GR" altLang="en-US" sz="2200">
                <a:latin typeface="ArialMT"/>
              </a:rPr>
              <a:t>Ω</a:t>
            </a:r>
            <a:r>
              <a:rPr lang="el-GR" altLang="en-US" sz="2200">
                <a:latin typeface="Caveat"/>
              </a:rPr>
              <a:t>(</a:t>
            </a:r>
            <a:r>
              <a:rPr lang="en-US" altLang="en-US" sz="2200">
                <a:latin typeface="Caveat"/>
              </a:rPr>
              <a:t>g(n)) but not </a:t>
            </a:r>
            <a:r>
              <a:rPr lang="en-US" altLang="en-US" sz="2200">
                <a:latin typeface="FreeSerif"/>
              </a:rPr>
              <a:t>𝚹</a:t>
            </a:r>
            <a:r>
              <a:rPr lang="en-US" altLang="en-US" sz="2200">
                <a:latin typeface="Caveat"/>
              </a:rPr>
              <a:t>(g(n)). </a:t>
            </a:r>
            <a:endParaRPr lang="en-US" altLang="en-US" sz="22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>
            <a:extLst>
              <a:ext uri="{FF2B5EF4-FFF2-40B4-BE49-F238E27FC236}">
                <a16:creationId xmlns:a16="http://schemas.microsoft.com/office/drawing/2014/main" id="{F0B11257-5D36-FE6E-4FAA-C187808E12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587375"/>
            <a:ext cx="6477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rgbClr val="0000FF"/>
                </a:solidFill>
                <a:latin typeface="Comic Sans MS" panose="030F0902030302020204" pitchFamily="66" charset="0"/>
              </a:rPr>
              <a:t>Very Useful Facts</a:t>
            </a:r>
          </a:p>
        </p:txBody>
      </p:sp>
      <p:pic>
        <p:nvPicPr>
          <p:cNvPr id="28674" name="Picture 3">
            <a:extLst>
              <a:ext uri="{FF2B5EF4-FFF2-40B4-BE49-F238E27FC236}">
                <a16:creationId xmlns:a16="http://schemas.microsoft.com/office/drawing/2014/main" id="{4EE45F32-D28F-B1BB-8451-6573F5AC18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057400"/>
            <a:ext cx="7772400" cy="3065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>
            <a:extLst>
              <a:ext uri="{FF2B5EF4-FFF2-40B4-BE49-F238E27FC236}">
                <a16:creationId xmlns:a16="http://schemas.microsoft.com/office/drawing/2014/main" id="{8CB90E9A-DF07-3840-0542-8F21637E75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Case Study</a:t>
            </a:r>
          </a:p>
        </p:txBody>
      </p:sp>
      <p:sp>
        <p:nvSpPr>
          <p:cNvPr id="29698" name="Rectangle 3">
            <a:extLst>
              <a:ext uri="{FF2B5EF4-FFF2-40B4-BE49-F238E27FC236}">
                <a16:creationId xmlns:a16="http://schemas.microsoft.com/office/drawing/2014/main" id="{15000015-FED5-E377-6158-E964E032076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66800" y="1752600"/>
            <a:ext cx="7086600" cy="2895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/>
              <a:t>Computing prefix averages:</a:t>
            </a:r>
          </a:p>
          <a:p>
            <a:pPr eaLnBrk="1" hangingPunct="1">
              <a:lnSpc>
                <a:spcPct val="90000"/>
              </a:lnSpc>
            </a:pPr>
            <a:endParaRPr lang="en-US" altLang="en-US"/>
          </a:p>
          <a:p>
            <a:pPr eaLnBrk="1" hangingPunct="1">
              <a:lnSpc>
                <a:spcPct val="90000"/>
              </a:lnSpc>
            </a:pPr>
            <a:endParaRPr lang="en-US" altLang="en-US" sz="200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000"/>
              <a:t>	The </a:t>
            </a:r>
            <a:r>
              <a:rPr lang="en-US" altLang="en-US" sz="2000" b="1" i="1">
                <a:latin typeface="Times New Roman" panose="02020603050405020304" pitchFamily="18" charset="0"/>
              </a:rPr>
              <a:t>i</a:t>
            </a:r>
            <a:r>
              <a:rPr lang="en-US" altLang="en-US" sz="2000"/>
              <a:t>-th prefix average of an array </a:t>
            </a:r>
            <a:r>
              <a:rPr lang="en-US" altLang="en-US" sz="2000" b="1" i="1">
                <a:latin typeface="Times New Roman" panose="02020603050405020304" pitchFamily="18" charset="0"/>
              </a:rPr>
              <a:t>X</a:t>
            </a:r>
            <a:r>
              <a:rPr lang="en-US" altLang="en-US" sz="2000"/>
              <a:t> is average of the first </a:t>
            </a:r>
            <a:r>
              <a:rPr lang="en-US" altLang="en-US" sz="2000">
                <a:latin typeface="Times New Roman" panose="02020603050405020304" pitchFamily="18" charset="0"/>
                <a:sym typeface="Symbol" pitchFamily="2" charset="2"/>
              </a:rPr>
              <a:t>(</a:t>
            </a:r>
            <a:r>
              <a:rPr lang="en-US" altLang="en-US" sz="2000" b="1" i="1">
                <a:latin typeface="Times New Roman" panose="02020603050405020304" pitchFamily="18" charset="0"/>
                <a:sym typeface="Symbol" pitchFamily="2" charset="2"/>
              </a:rPr>
              <a:t>i</a:t>
            </a:r>
            <a:r>
              <a:rPr lang="en-US" altLang="en-US" sz="2000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2000">
                <a:latin typeface="Symbol" pitchFamily="2" charset="2"/>
                <a:sym typeface="Symbol" pitchFamily="2" charset="2"/>
              </a:rPr>
              <a:t>+</a:t>
            </a:r>
            <a:r>
              <a:rPr lang="en-US" altLang="en-US" sz="2000">
                <a:latin typeface="Times New Roman" panose="02020603050405020304" pitchFamily="18" charset="0"/>
                <a:sym typeface="Symbol" pitchFamily="2" charset="2"/>
              </a:rPr>
              <a:t> 1) </a:t>
            </a:r>
            <a:r>
              <a:rPr lang="en-US" altLang="en-US" sz="2000"/>
              <a:t>elements of </a:t>
            </a:r>
            <a:r>
              <a:rPr lang="en-US" altLang="en-US" sz="2000" b="1" i="1">
                <a:latin typeface="Times New Roman" panose="02020603050405020304" pitchFamily="18" charset="0"/>
              </a:rPr>
              <a:t>X</a:t>
            </a:r>
            <a:r>
              <a:rPr lang="en-US" altLang="en-US" sz="2000" b="1">
                <a:latin typeface="Times New Roman" panose="02020603050405020304" pitchFamily="18" charset="0"/>
              </a:rPr>
              <a:t>: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z="2000"/>
          </a:p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en-US" altLang="en-US" sz="2000" b="1" i="1">
                <a:latin typeface="Times New Roman" panose="02020603050405020304" pitchFamily="18" charset="0"/>
                <a:sym typeface="Symbol" pitchFamily="2" charset="2"/>
              </a:rPr>
              <a:t>A</a:t>
            </a:r>
            <a:r>
              <a:rPr lang="en-US" altLang="en-US" sz="2000">
                <a:latin typeface="Times New Roman" panose="02020603050405020304" pitchFamily="18" charset="0"/>
                <a:sym typeface="Symbol" pitchFamily="2" charset="2"/>
              </a:rPr>
              <a:t>[</a:t>
            </a:r>
            <a:r>
              <a:rPr lang="en-US" altLang="en-US" sz="2000" b="1" i="1">
                <a:latin typeface="Times New Roman" panose="02020603050405020304" pitchFamily="18" charset="0"/>
                <a:sym typeface="Symbol" pitchFamily="2" charset="2"/>
              </a:rPr>
              <a:t>i</a:t>
            </a:r>
            <a:r>
              <a:rPr lang="en-US" altLang="en-US" sz="2000">
                <a:latin typeface="Times New Roman" panose="02020603050405020304" pitchFamily="18" charset="0"/>
                <a:sym typeface="Symbol" pitchFamily="2" charset="2"/>
              </a:rPr>
              <a:t>]</a:t>
            </a:r>
            <a:r>
              <a:rPr lang="en-US" altLang="en-US" sz="2000" b="1" i="1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2000">
                <a:latin typeface="Symbol" pitchFamily="2" charset="2"/>
                <a:sym typeface="Symbol" pitchFamily="2" charset="2"/>
              </a:rPr>
              <a:t>= (</a:t>
            </a:r>
            <a:r>
              <a:rPr lang="en-US" altLang="en-US" sz="2000" b="1" i="1">
                <a:latin typeface="Times New Roman" panose="02020603050405020304" pitchFamily="18" charset="0"/>
                <a:sym typeface="Symbol" pitchFamily="2" charset="2"/>
              </a:rPr>
              <a:t>X</a:t>
            </a:r>
            <a:r>
              <a:rPr lang="en-US" altLang="en-US" sz="2000">
                <a:latin typeface="Times New Roman" panose="02020603050405020304" pitchFamily="18" charset="0"/>
                <a:sym typeface="Symbol" pitchFamily="2" charset="2"/>
              </a:rPr>
              <a:t>[0] </a:t>
            </a:r>
            <a:r>
              <a:rPr lang="en-US" altLang="en-US" sz="2000">
                <a:latin typeface="Symbol" pitchFamily="2" charset="2"/>
                <a:sym typeface="Symbol" pitchFamily="2" charset="2"/>
              </a:rPr>
              <a:t>+</a:t>
            </a:r>
            <a:r>
              <a:rPr lang="en-US" altLang="en-US" sz="2000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2000" b="1" i="1">
                <a:latin typeface="Times New Roman" panose="02020603050405020304" pitchFamily="18" charset="0"/>
                <a:sym typeface="Symbol" pitchFamily="2" charset="2"/>
              </a:rPr>
              <a:t>X</a:t>
            </a:r>
            <a:r>
              <a:rPr lang="en-US" altLang="en-US" sz="2000">
                <a:latin typeface="Times New Roman" panose="02020603050405020304" pitchFamily="18" charset="0"/>
                <a:sym typeface="Symbol" pitchFamily="2" charset="2"/>
              </a:rPr>
              <a:t>[1] </a:t>
            </a:r>
            <a:r>
              <a:rPr lang="en-US" altLang="en-US" sz="2000">
                <a:latin typeface="Symbol" pitchFamily="2" charset="2"/>
                <a:sym typeface="Symbol" pitchFamily="2" charset="2"/>
              </a:rPr>
              <a:t>+</a:t>
            </a:r>
            <a:r>
              <a:rPr lang="en-US" altLang="en-US" sz="2000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2000">
                <a:latin typeface="Times New Roman" panose="02020603050405020304" pitchFamily="18" charset="0"/>
              </a:rPr>
              <a:t>… </a:t>
            </a:r>
            <a:r>
              <a:rPr lang="en-US" altLang="en-US" sz="2000">
                <a:latin typeface="Symbol" pitchFamily="2" charset="2"/>
                <a:sym typeface="Symbol" pitchFamily="2" charset="2"/>
              </a:rPr>
              <a:t>+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  <a:r>
              <a:rPr lang="en-US" altLang="en-US" sz="2000" b="1" i="1">
                <a:latin typeface="Times New Roman" panose="02020603050405020304" pitchFamily="18" charset="0"/>
                <a:sym typeface="Symbol" pitchFamily="2" charset="2"/>
              </a:rPr>
              <a:t>X</a:t>
            </a:r>
            <a:r>
              <a:rPr lang="en-US" altLang="en-US" sz="2000">
                <a:latin typeface="Times New Roman" panose="02020603050405020304" pitchFamily="18" charset="0"/>
                <a:sym typeface="Symbol" pitchFamily="2" charset="2"/>
              </a:rPr>
              <a:t>[</a:t>
            </a:r>
            <a:r>
              <a:rPr lang="en-US" altLang="en-US" sz="2000" b="1" i="1">
                <a:latin typeface="Times New Roman" panose="02020603050405020304" pitchFamily="18" charset="0"/>
                <a:sym typeface="Symbol" pitchFamily="2" charset="2"/>
              </a:rPr>
              <a:t>i</a:t>
            </a:r>
            <a:r>
              <a:rPr lang="en-US" altLang="en-US" sz="2000">
                <a:latin typeface="Times New Roman" panose="02020603050405020304" pitchFamily="18" charset="0"/>
                <a:sym typeface="Symbol" pitchFamily="2" charset="2"/>
              </a:rPr>
              <a:t>])/(</a:t>
            </a:r>
            <a:r>
              <a:rPr lang="en-US" altLang="en-US" sz="2000" i="1">
                <a:latin typeface="Times New Roman" panose="02020603050405020304" pitchFamily="18" charset="0"/>
                <a:sym typeface="Symbol" pitchFamily="2" charset="2"/>
              </a:rPr>
              <a:t>i</a:t>
            </a:r>
            <a:r>
              <a:rPr lang="en-US" altLang="en-US" sz="2000">
                <a:latin typeface="Times New Roman" panose="02020603050405020304" pitchFamily="18" charset="0"/>
                <a:sym typeface="Symbol" pitchFamily="2" charset="2"/>
              </a:rPr>
              <a:t>+1)</a:t>
            </a:r>
          </a:p>
          <a:p>
            <a:pPr algn="ctr" eaLnBrk="1" hangingPunct="1">
              <a:lnSpc>
                <a:spcPct val="90000"/>
              </a:lnSpc>
              <a:buFontTx/>
              <a:buNone/>
            </a:pPr>
            <a:endParaRPr lang="en-US" altLang="en-US" sz="2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>
            <a:extLst>
              <a:ext uri="{FF2B5EF4-FFF2-40B4-BE49-F238E27FC236}">
                <a16:creationId xmlns:a16="http://schemas.microsoft.com/office/drawing/2014/main" id="{8709E833-7F9E-DD83-126A-F566507B96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Examples</a:t>
            </a:r>
          </a:p>
        </p:txBody>
      </p:sp>
      <p:graphicFrame>
        <p:nvGraphicFramePr>
          <p:cNvPr id="31746" name="Object 4">
            <a:extLst>
              <a:ext uri="{FF2B5EF4-FFF2-40B4-BE49-F238E27FC236}">
                <a16:creationId xmlns:a16="http://schemas.microsoft.com/office/drawing/2014/main" id="{EB930B4B-29B9-FADC-E91E-266446F4AC7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600" y="1447800"/>
          <a:ext cx="3657600" cy="3348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3162300" imgH="3606800" progId="Excel.Sheet.8">
                  <p:embed/>
                </p:oleObj>
              </mc:Choice>
              <mc:Fallback>
                <p:oleObj name="Worksheet" r:id="rId2" imgW="3162300" imgH="3606800" progId="Excel.Shee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1447800"/>
                        <a:ext cx="3657600" cy="3348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47" name="Text Box 8">
            <a:extLst>
              <a:ext uri="{FF2B5EF4-FFF2-40B4-BE49-F238E27FC236}">
                <a16:creationId xmlns:a16="http://schemas.microsoft.com/office/drawing/2014/main" id="{290D41A5-1668-DC45-7F93-8C0CE048C7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5257800"/>
            <a:ext cx="5105400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000"/>
              <a:t> Applications: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000"/>
              <a:t>   Finance, Data smoothing, etc. </a:t>
            </a:r>
          </a:p>
        </p:txBody>
      </p:sp>
      <p:sp>
        <p:nvSpPr>
          <p:cNvPr id="31748" name="Rectangle 9">
            <a:extLst>
              <a:ext uri="{FF2B5EF4-FFF2-40B4-BE49-F238E27FC236}">
                <a16:creationId xmlns:a16="http://schemas.microsoft.com/office/drawing/2014/main" id="{A5644D16-37E5-6750-8772-92367ED633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1752600"/>
            <a:ext cx="3352800" cy="2438400"/>
          </a:xfrm>
          <a:prstGeom prst="rect">
            <a:avLst/>
          </a:prstGeom>
          <a:solidFill>
            <a:srgbClr val="FFFF99"/>
          </a:solidFill>
          <a:ln w="12700" algn="ctr">
            <a:solidFill>
              <a:srgbClr val="FF00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1749" name="Freeform 10">
            <a:extLst>
              <a:ext uri="{FF2B5EF4-FFF2-40B4-BE49-F238E27FC236}">
                <a16:creationId xmlns:a16="http://schemas.microsoft.com/office/drawing/2014/main" id="{FC945829-8D9C-37C4-A527-B50A3BAA2972}"/>
              </a:ext>
            </a:extLst>
          </p:cNvPr>
          <p:cNvSpPr>
            <a:spLocks/>
          </p:cNvSpPr>
          <p:nvPr/>
        </p:nvSpPr>
        <p:spPr bwMode="auto">
          <a:xfrm>
            <a:off x="5029200" y="2362200"/>
            <a:ext cx="3200400" cy="1447800"/>
          </a:xfrm>
          <a:custGeom>
            <a:avLst/>
            <a:gdLst>
              <a:gd name="T0" fmla="*/ 0 w 2016"/>
              <a:gd name="T1" fmla="*/ 2147483646 h 912"/>
              <a:gd name="T2" fmla="*/ 2147483646 w 2016"/>
              <a:gd name="T3" fmla="*/ 2147483646 h 912"/>
              <a:gd name="T4" fmla="*/ 2147483646 w 2016"/>
              <a:gd name="T5" fmla="*/ 2147483646 h 912"/>
              <a:gd name="T6" fmla="*/ 2147483646 w 2016"/>
              <a:gd name="T7" fmla="*/ 2147483646 h 912"/>
              <a:gd name="T8" fmla="*/ 2147483646 w 2016"/>
              <a:gd name="T9" fmla="*/ 2147483646 h 912"/>
              <a:gd name="T10" fmla="*/ 2147483646 w 2016"/>
              <a:gd name="T11" fmla="*/ 2147483646 h 912"/>
              <a:gd name="T12" fmla="*/ 2147483646 w 2016"/>
              <a:gd name="T13" fmla="*/ 2147483646 h 912"/>
              <a:gd name="T14" fmla="*/ 2147483646 w 2016"/>
              <a:gd name="T15" fmla="*/ 2147483646 h 912"/>
              <a:gd name="T16" fmla="*/ 2147483646 w 2016"/>
              <a:gd name="T17" fmla="*/ 0 h 912"/>
              <a:gd name="T18" fmla="*/ 2147483646 w 2016"/>
              <a:gd name="T19" fmla="*/ 2147483646 h 912"/>
              <a:gd name="T20" fmla="*/ 2147483646 w 2016"/>
              <a:gd name="T21" fmla="*/ 2147483646 h 912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016"/>
              <a:gd name="T34" fmla="*/ 0 h 912"/>
              <a:gd name="T35" fmla="*/ 2016 w 2016"/>
              <a:gd name="T36" fmla="*/ 912 h 912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016" h="912">
                <a:moveTo>
                  <a:pt x="0" y="864"/>
                </a:moveTo>
                <a:lnTo>
                  <a:pt x="288" y="528"/>
                </a:lnTo>
                <a:lnTo>
                  <a:pt x="528" y="768"/>
                </a:lnTo>
                <a:lnTo>
                  <a:pt x="672" y="288"/>
                </a:lnTo>
                <a:lnTo>
                  <a:pt x="960" y="912"/>
                </a:lnTo>
                <a:lnTo>
                  <a:pt x="1200" y="672"/>
                </a:lnTo>
                <a:lnTo>
                  <a:pt x="1296" y="480"/>
                </a:lnTo>
                <a:lnTo>
                  <a:pt x="1440" y="672"/>
                </a:lnTo>
                <a:lnTo>
                  <a:pt x="1632" y="0"/>
                </a:lnTo>
                <a:lnTo>
                  <a:pt x="1776" y="624"/>
                </a:lnTo>
                <a:lnTo>
                  <a:pt x="2016" y="912"/>
                </a:lnTo>
              </a:path>
            </a:pathLst>
          </a:custGeom>
          <a:noFill/>
          <a:ln w="19050" cap="flat" cmpd="sng">
            <a:solidFill>
              <a:srgbClr val="FF0066"/>
            </a:solidFill>
            <a:prstDash val="dash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50" name="Freeform 11">
            <a:extLst>
              <a:ext uri="{FF2B5EF4-FFF2-40B4-BE49-F238E27FC236}">
                <a16:creationId xmlns:a16="http://schemas.microsoft.com/office/drawing/2014/main" id="{C47C136A-1674-E735-2D63-838191A45954}"/>
              </a:ext>
            </a:extLst>
          </p:cNvPr>
          <p:cNvSpPr>
            <a:spLocks/>
          </p:cNvSpPr>
          <p:nvPr/>
        </p:nvSpPr>
        <p:spPr bwMode="auto">
          <a:xfrm>
            <a:off x="5029200" y="3200400"/>
            <a:ext cx="3200400" cy="533400"/>
          </a:xfrm>
          <a:custGeom>
            <a:avLst/>
            <a:gdLst>
              <a:gd name="T0" fmla="*/ 0 w 2016"/>
              <a:gd name="T1" fmla="*/ 2147483646 h 336"/>
              <a:gd name="T2" fmla="*/ 2147483646 w 2016"/>
              <a:gd name="T3" fmla="*/ 2147483646 h 336"/>
              <a:gd name="T4" fmla="*/ 2147483646 w 2016"/>
              <a:gd name="T5" fmla="*/ 2147483646 h 336"/>
              <a:gd name="T6" fmla="*/ 2147483646 w 2016"/>
              <a:gd name="T7" fmla="*/ 2147483646 h 336"/>
              <a:gd name="T8" fmla="*/ 2147483646 w 2016"/>
              <a:gd name="T9" fmla="*/ 2147483646 h 336"/>
              <a:gd name="T10" fmla="*/ 2147483646 w 2016"/>
              <a:gd name="T11" fmla="*/ 2147483646 h 336"/>
              <a:gd name="T12" fmla="*/ 2147483646 w 2016"/>
              <a:gd name="T13" fmla="*/ 2147483646 h 336"/>
              <a:gd name="T14" fmla="*/ 2147483646 w 2016"/>
              <a:gd name="T15" fmla="*/ 2147483646 h 336"/>
              <a:gd name="T16" fmla="*/ 2147483646 w 2016"/>
              <a:gd name="T17" fmla="*/ 2147483646 h 336"/>
              <a:gd name="T18" fmla="*/ 2147483646 w 2016"/>
              <a:gd name="T19" fmla="*/ 2147483646 h 336"/>
              <a:gd name="T20" fmla="*/ 2147483646 w 2016"/>
              <a:gd name="T21" fmla="*/ 0 h 3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016"/>
              <a:gd name="T34" fmla="*/ 0 h 336"/>
              <a:gd name="T35" fmla="*/ 2016 w 2016"/>
              <a:gd name="T36" fmla="*/ 336 h 3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016" h="336">
                <a:moveTo>
                  <a:pt x="0" y="336"/>
                </a:moveTo>
                <a:lnTo>
                  <a:pt x="240" y="192"/>
                </a:lnTo>
                <a:lnTo>
                  <a:pt x="528" y="144"/>
                </a:lnTo>
                <a:lnTo>
                  <a:pt x="672" y="48"/>
                </a:lnTo>
                <a:lnTo>
                  <a:pt x="960" y="144"/>
                </a:lnTo>
                <a:lnTo>
                  <a:pt x="1152" y="144"/>
                </a:lnTo>
                <a:lnTo>
                  <a:pt x="1296" y="96"/>
                </a:lnTo>
                <a:lnTo>
                  <a:pt x="1440" y="96"/>
                </a:lnTo>
                <a:lnTo>
                  <a:pt x="1632" y="96"/>
                </a:lnTo>
                <a:lnTo>
                  <a:pt x="1776" y="96"/>
                </a:lnTo>
                <a:lnTo>
                  <a:pt x="2016" y="0"/>
                </a:lnTo>
              </a:path>
            </a:pathLst>
          </a:custGeom>
          <a:noFill/>
          <a:ln w="28575" cap="flat" cmpd="sng">
            <a:solidFill>
              <a:srgbClr val="FF0066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51" name="Text Box 12">
            <a:extLst>
              <a:ext uri="{FF2B5EF4-FFF2-40B4-BE49-F238E27FC236}">
                <a16:creationId xmlns:a16="http://schemas.microsoft.com/office/drawing/2014/main" id="{4A27630E-BDE3-F9E2-12ED-C8906C12D4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0" y="4191000"/>
            <a:ext cx="3581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/>
              <a:t> 1     2    3   4     5    6    7    8    9   10</a:t>
            </a:r>
          </a:p>
        </p:txBody>
      </p:sp>
      <p:sp>
        <p:nvSpPr>
          <p:cNvPr id="31752" name="TextBox 9">
            <a:extLst>
              <a:ext uri="{FF2B5EF4-FFF2-40B4-BE49-F238E27FC236}">
                <a16:creationId xmlns:a16="http://schemas.microsoft.com/office/drawing/2014/main" id="{B3516EF6-980B-F56E-E988-5544F82F72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000" y="2068513"/>
            <a:ext cx="6096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X</a:t>
            </a:r>
          </a:p>
        </p:txBody>
      </p:sp>
      <p:sp>
        <p:nvSpPr>
          <p:cNvPr id="31753" name="TextBox 10">
            <a:extLst>
              <a:ext uri="{FF2B5EF4-FFF2-40B4-BE49-F238E27FC236}">
                <a16:creationId xmlns:a16="http://schemas.microsoft.com/office/drawing/2014/main" id="{A1E4E9A5-054A-BFBD-60B6-89052A5BB4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48600" y="2895600"/>
            <a:ext cx="609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>
            <a:extLst>
              <a:ext uri="{FF2B5EF4-FFF2-40B4-BE49-F238E27FC236}">
                <a16:creationId xmlns:a16="http://schemas.microsoft.com/office/drawing/2014/main" id="{6B3D039F-84C4-4959-304F-46DBEF72B1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152400"/>
            <a:ext cx="77724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rgbClr val="0000FF"/>
                </a:solidFill>
                <a:latin typeface="Comic Sans MS" panose="030F0902030302020204" pitchFamily="66" charset="0"/>
              </a:rPr>
              <a:t>Prefix Averages (Quadratic)</a:t>
            </a:r>
          </a:p>
        </p:txBody>
      </p:sp>
      <p:sp>
        <p:nvSpPr>
          <p:cNvPr id="32770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0FBF96E-8668-ACEC-AAC2-2C62881BC5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219200"/>
            <a:ext cx="81534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en-US" sz="2000"/>
              <a:t>The following algorithm computes prefix averages in quadratic time by applying the definition</a:t>
            </a:r>
          </a:p>
        </p:txBody>
      </p:sp>
      <p:sp>
        <p:nvSpPr>
          <p:cNvPr id="32771" name="Rectangle 4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DBCF9301-F1B0-BCF0-2A90-7C985C244A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2362200"/>
            <a:ext cx="7924800" cy="3429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Algorithm</a:t>
            </a:r>
            <a:r>
              <a:rPr lang="en-US" altLang="en-US" sz="1800" dirty="0">
                <a:latin typeface="Times New Roman" panose="02020603050405020304" pitchFamily="18" charset="0"/>
              </a:rPr>
              <a:t> </a:t>
            </a:r>
            <a:r>
              <a:rPr lang="en-US" altLang="en-US" sz="1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prefixAverages1</a:t>
            </a:r>
            <a:r>
              <a:rPr lang="en-US" altLang="en-US" sz="1800" dirty="0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X, n</a:t>
            </a:r>
            <a:r>
              <a:rPr lang="en-US" altLang="en-US" sz="1800" dirty="0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Input</a:t>
            </a:r>
            <a:r>
              <a:rPr lang="en-US" altLang="en-US" sz="1800" dirty="0">
                <a:latin typeface="Times New Roman" panose="02020603050405020304" pitchFamily="18" charset="0"/>
              </a:rPr>
              <a:t> </a:t>
            </a:r>
            <a:r>
              <a:rPr lang="en-US" altLang="en-US" sz="1800" dirty="0">
                <a:solidFill>
                  <a:schemeClr val="accent2"/>
                </a:solidFill>
                <a:latin typeface="Times New Roman" panose="02020603050405020304" pitchFamily="18" charset="0"/>
              </a:rPr>
              <a:t>array </a:t>
            </a:r>
            <a:r>
              <a:rPr lang="en-US" altLang="en-US" sz="18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X</a:t>
            </a:r>
            <a:r>
              <a:rPr lang="en-US" altLang="en-US" sz="1800" dirty="0">
                <a:solidFill>
                  <a:schemeClr val="accent2"/>
                </a:solidFill>
                <a:latin typeface="Times New Roman" panose="02020603050405020304" pitchFamily="18" charset="0"/>
              </a:rPr>
              <a:t> of </a:t>
            </a:r>
            <a:r>
              <a:rPr lang="en-US" altLang="en-US" sz="18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US" sz="1800" dirty="0">
                <a:solidFill>
                  <a:schemeClr val="accent2"/>
                </a:solidFill>
                <a:latin typeface="Times New Roman" panose="02020603050405020304" pitchFamily="18" charset="0"/>
              </a:rPr>
              <a:t> integers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Output</a:t>
            </a:r>
            <a:r>
              <a:rPr lang="en-US" altLang="en-US" sz="1800" dirty="0">
                <a:latin typeface="Times New Roman" panose="02020603050405020304" pitchFamily="18" charset="0"/>
              </a:rPr>
              <a:t> </a:t>
            </a:r>
            <a:r>
              <a:rPr lang="en-US" altLang="en-US" sz="1800" dirty="0">
                <a:solidFill>
                  <a:schemeClr val="accent2"/>
                </a:solidFill>
                <a:latin typeface="Times New Roman" panose="02020603050405020304" pitchFamily="18" charset="0"/>
              </a:rPr>
              <a:t>array </a:t>
            </a:r>
            <a:r>
              <a:rPr lang="en-US" altLang="en-US" sz="18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A</a:t>
            </a:r>
            <a:r>
              <a:rPr lang="en-US" altLang="en-US" sz="1800" dirty="0">
                <a:solidFill>
                  <a:schemeClr val="accent2"/>
                </a:solidFill>
                <a:latin typeface="Times New Roman" panose="02020603050405020304" pitchFamily="18" charset="0"/>
              </a:rPr>
              <a:t> of prefix averages of </a:t>
            </a:r>
            <a:r>
              <a:rPr lang="en-US" altLang="en-US" sz="1800" b="1" i="1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X	    </a:t>
            </a:r>
            <a:r>
              <a:rPr lang="en-US" altLang="en-US" sz="1600" dirty="0">
                <a:sym typeface="Symbol" pitchFamily="2" charset="2"/>
              </a:rPr>
              <a:t>#operations</a:t>
            </a:r>
            <a:endParaRPr lang="en-US" altLang="en-US" sz="1800" dirty="0">
              <a:solidFill>
                <a:schemeClr val="accent2"/>
              </a:solidFill>
              <a:latin typeface="Times New Roman" panose="02020603050405020304" pitchFamily="18" charset="0"/>
              <a:sym typeface="Symbol" pitchFamily="2" charset="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	</a:t>
            </a:r>
            <a:r>
              <a:rPr lang="en-US" altLang="en-US" sz="1800" dirty="0">
                <a:latin typeface="Times New Roman" panose="02020603050405020304" pitchFamily="18" charset="0"/>
              </a:rPr>
              <a:t> </a:t>
            </a:r>
            <a:r>
              <a:rPr lang="en-US" altLang="en-US" sz="18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A</a:t>
            </a:r>
            <a:r>
              <a:rPr lang="en-US" altLang="en-US" sz="1800" dirty="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dirty="0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 </a:t>
            </a:r>
            <a:r>
              <a:rPr lang="en-US" altLang="en-US" sz="1800" dirty="0">
                <a:solidFill>
                  <a:schemeClr val="accent2"/>
                </a:solidFill>
                <a:latin typeface="Times New Roman" panose="02020603050405020304" pitchFamily="18" charset="0"/>
              </a:rPr>
              <a:t>new array of </a:t>
            </a:r>
            <a:r>
              <a:rPr lang="en-US" altLang="en-US" sz="18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US" sz="1800" dirty="0">
                <a:solidFill>
                  <a:schemeClr val="accent2"/>
                </a:solidFill>
                <a:latin typeface="Times New Roman" panose="02020603050405020304" pitchFamily="18" charset="0"/>
              </a:rPr>
              <a:t> integers		    O(</a:t>
            </a:r>
            <a:r>
              <a:rPr lang="en-US" altLang="en-US" sz="1800" dirty="0">
                <a:latin typeface="Times New Roman" panose="02020603050405020304" pitchFamily="18" charset="0"/>
                <a:sym typeface="Symbol" pitchFamily="2" charset="2"/>
              </a:rPr>
              <a:t>n)</a:t>
            </a:r>
            <a:r>
              <a:rPr lang="en-US" altLang="en-US" sz="1800" b="1" i="1" dirty="0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600" dirty="0">
                <a:solidFill>
                  <a:srgbClr val="FF0066"/>
                </a:solidFill>
                <a:latin typeface="Times New Roman" panose="02020603050405020304" pitchFamily="18" charset="0"/>
                <a:sym typeface="Symbol" pitchFamily="2" charset="2"/>
              </a:rPr>
              <a:t>(initialization)</a:t>
            </a:r>
            <a:endParaRPr lang="en-US" altLang="en-US" sz="1600" dirty="0">
              <a:solidFill>
                <a:srgbClr val="FF0066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Times New Roman" panose="02020603050405020304" pitchFamily="18" charset="0"/>
              </a:rPr>
              <a:t>	</a:t>
            </a: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 sz="1800" dirty="0">
                <a:latin typeface="Times New Roman" panose="02020603050405020304" pitchFamily="18" charset="0"/>
              </a:rPr>
              <a:t> </a:t>
            </a:r>
            <a:r>
              <a:rPr lang="en-US" altLang="en-US" sz="1800" b="1" i="1" dirty="0" err="1">
                <a:solidFill>
                  <a:schemeClr val="accent2"/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 sz="1800" dirty="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dirty="0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</a:t>
            </a:r>
            <a:r>
              <a:rPr lang="en-US" altLang="en-US" sz="1800" dirty="0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800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0</a:t>
            </a:r>
            <a:r>
              <a:rPr lang="en-US" altLang="en-US" sz="1800" dirty="0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to</a:t>
            </a:r>
            <a:r>
              <a:rPr lang="en-US" altLang="en-US" sz="1800" dirty="0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800" b="1" i="1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n</a:t>
            </a:r>
            <a:r>
              <a:rPr lang="en-US" altLang="en-US" sz="1800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800" dirty="0">
                <a:solidFill>
                  <a:schemeClr val="accent2"/>
                </a:solidFill>
                <a:latin typeface="Symbol" pitchFamily="2" charset="2"/>
                <a:sym typeface="Symbol" pitchFamily="2" charset="2"/>
              </a:rPr>
              <a:t></a:t>
            </a:r>
            <a:r>
              <a:rPr lang="en-US" altLang="en-US" sz="1800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1</a:t>
            </a:r>
            <a:r>
              <a:rPr lang="en-US" altLang="en-US" sz="1800" dirty="0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do		</a:t>
            </a:r>
            <a:r>
              <a:rPr lang="en-US" altLang="en-US" sz="1800" dirty="0">
                <a:solidFill>
                  <a:schemeClr val="accent2"/>
                </a:solidFill>
                <a:latin typeface="Times New Roman" panose="02020603050405020304" pitchFamily="18" charset="0"/>
              </a:rPr>
              <a:t>	    O(</a:t>
            </a:r>
            <a:r>
              <a:rPr lang="en-US" altLang="en-US" sz="1800" dirty="0">
                <a:latin typeface="Times New Roman" panose="02020603050405020304" pitchFamily="18" charset="0"/>
                <a:sym typeface="Symbol" pitchFamily="2" charset="2"/>
              </a:rPr>
              <a:t>n) </a:t>
            </a:r>
            <a:r>
              <a:rPr lang="en-US" altLang="en-US" sz="1600" dirty="0">
                <a:solidFill>
                  <a:srgbClr val="FF0066"/>
                </a:solidFill>
                <a:latin typeface="Times New Roman" panose="02020603050405020304" pitchFamily="18" charset="0"/>
                <a:sym typeface="Symbol" pitchFamily="2" charset="2"/>
              </a:rPr>
              <a:t>(comparison)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Times New Roman" panose="02020603050405020304" pitchFamily="18" charset="0"/>
                <a:sym typeface="Symbol" pitchFamily="2" charset="2"/>
              </a:rPr>
              <a:t>		</a:t>
            </a:r>
            <a:r>
              <a:rPr lang="en-US" altLang="en-US" sz="1800" b="1" i="1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s</a:t>
            </a:r>
            <a:r>
              <a:rPr lang="en-US" altLang="en-US" sz="1800" dirty="0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800" dirty="0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</a:t>
            </a:r>
            <a:r>
              <a:rPr lang="en-US" altLang="en-US" sz="1800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800" b="1" i="1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0</a:t>
            </a:r>
            <a:r>
              <a:rPr lang="en-US" altLang="en-US" sz="1800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			</a:t>
            </a:r>
            <a:r>
              <a:rPr lang="en-US" altLang="en-US" sz="1800" dirty="0">
                <a:solidFill>
                  <a:schemeClr val="accent2"/>
                </a:solidFill>
                <a:latin typeface="Times New Roman" panose="02020603050405020304" pitchFamily="18" charset="0"/>
              </a:rPr>
              <a:t>	    O(</a:t>
            </a:r>
            <a:r>
              <a:rPr lang="en-US" altLang="en-US" sz="1800" dirty="0">
                <a:latin typeface="Times New Roman" panose="02020603050405020304" pitchFamily="18" charset="0"/>
                <a:sym typeface="Symbol" pitchFamily="2" charset="2"/>
              </a:rPr>
              <a:t>n) </a:t>
            </a:r>
            <a:r>
              <a:rPr lang="en-US" altLang="en-US" sz="1600" dirty="0">
                <a:solidFill>
                  <a:srgbClr val="FF0066"/>
                </a:solidFill>
                <a:latin typeface="Times New Roman" panose="02020603050405020304" pitchFamily="18" charset="0"/>
                <a:sym typeface="Symbol" pitchFamily="2" charset="2"/>
              </a:rPr>
              <a:t>(assignment and addition)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Times New Roman" panose="02020603050405020304" pitchFamily="18" charset="0"/>
              </a:rPr>
              <a:t>		</a:t>
            </a: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 sz="1800" dirty="0">
                <a:latin typeface="Times New Roman" panose="02020603050405020304" pitchFamily="18" charset="0"/>
              </a:rPr>
              <a:t> </a:t>
            </a:r>
            <a:r>
              <a:rPr lang="en-US" altLang="en-US" sz="18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j</a:t>
            </a:r>
            <a:r>
              <a:rPr lang="en-US" altLang="en-US" sz="1800" dirty="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dirty="0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</a:t>
            </a:r>
            <a:r>
              <a:rPr lang="en-US" altLang="en-US" sz="1800" dirty="0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800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0</a:t>
            </a:r>
            <a:r>
              <a:rPr lang="en-US" altLang="en-US" sz="1800" dirty="0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to</a:t>
            </a:r>
            <a:r>
              <a:rPr lang="en-US" altLang="en-US" sz="1800" dirty="0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800" b="1" i="1" dirty="0" err="1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i</a:t>
            </a:r>
            <a:r>
              <a:rPr lang="en-US" altLang="en-US" sz="1800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do		   	    </a:t>
            </a:r>
            <a:r>
              <a:rPr lang="en-US" altLang="en-US" sz="1800" dirty="0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(</a:t>
            </a:r>
            <a:r>
              <a:rPr lang="en-US" altLang="en-US" sz="1800" dirty="0">
                <a:latin typeface="Times New Roman" panose="02020603050405020304" pitchFamily="18" charset="0"/>
                <a:sym typeface="Symbol" pitchFamily="2" charset="2"/>
              </a:rPr>
              <a:t>1 </a:t>
            </a:r>
            <a:r>
              <a:rPr lang="en-US" altLang="en-US" sz="1800" dirty="0">
                <a:latin typeface="Symbol" pitchFamily="2" charset="2"/>
                <a:sym typeface="Symbol" pitchFamily="2" charset="2"/>
              </a:rPr>
              <a:t>+ </a:t>
            </a:r>
            <a:r>
              <a:rPr lang="en-US" altLang="en-US" sz="1800" dirty="0">
                <a:latin typeface="Times New Roman" panose="02020603050405020304" pitchFamily="18" charset="0"/>
                <a:sym typeface="Symbol" pitchFamily="2" charset="2"/>
              </a:rPr>
              <a:t>2 </a:t>
            </a:r>
            <a:r>
              <a:rPr lang="en-US" altLang="en-US" sz="1800" dirty="0">
                <a:latin typeface="Symbol" pitchFamily="2" charset="2"/>
                <a:sym typeface="Symbol" pitchFamily="2" charset="2"/>
              </a:rPr>
              <a:t>+ </a:t>
            </a:r>
            <a:r>
              <a:rPr lang="en-US" altLang="en-US" sz="1800" dirty="0">
                <a:latin typeface="Times New Roman" panose="02020603050405020304" pitchFamily="18" charset="0"/>
                <a:sym typeface="Symbol" pitchFamily="2" charset="2"/>
              </a:rPr>
              <a:t>…</a:t>
            </a:r>
            <a:r>
              <a:rPr lang="en-US" altLang="en-US" sz="1800" dirty="0">
                <a:latin typeface="Symbol" pitchFamily="2" charset="2"/>
                <a:sym typeface="Symbol" pitchFamily="2" charset="2"/>
              </a:rPr>
              <a:t>+</a:t>
            </a:r>
            <a:r>
              <a:rPr lang="en-US" altLang="en-US" sz="1800" dirty="0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800" b="1" i="1" dirty="0">
                <a:latin typeface="Times New Roman" panose="02020603050405020304" pitchFamily="18" charset="0"/>
                <a:sym typeface="Symbol" pitchFamily="2" charset="2"/>
              </a:rPr>
              <a:t>n</a:t>
            </a:r>
            <a:r>
              <a:rPr lang="en-US" altLang="en-US" sz="1800" dirty="0">
                <a:latin typeface="Times New Roman" panose="02020603050405020304" pitchFamily="18" charset="0"/>
                <a:sym typeface="Symbol" pitchFamily="2" charset="2"/>
              </a:rPr>
              <a:t>)*c1</a:t>
            </a:r>
            <a:r>
              <a:rPr lang="en-US" altLang="en-US" sz="1800" i="1" dirty="0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800" b="1" i="1" dirty="0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800" dirty="0">
                <a:latin typeface="Times New Roman" panose="02020603050405020304" pitchFamily="18" charset="0"/>
                <a:sym typeface="Symbol" pitchFamily="2" charset="2"/>
              </a:rPr>
              <a:t>        O(n</a:t>
            </a:r>
            <a:r>
              <a:rPr lang="en-US" altLang="en-US" sz="1800" baseline="30000" dirty="0">
                <a:latin typeface="Times New Roman" panose="02020603050405020304" pitchFamily="18" charset="0"/>
                <a:sym typeface="Symbol" pitchFamily="2" charset="2"/>
              </a:rPr>
              <a:t>2</a:t>
            </a:r>
            <a:r>
              <a:rPr lang="en-US" altLang="en-US" sz="1800" dirty="0">
                <a:latin typeface="Times New Roman" panose="02020603050405020304" pitchFamily="18" charset="0"/>
                <a:sym typeface="Symbol" pitchFamily="2" charset="2"/>
              </a:rPr>
              <a:t>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Times New Roman" panose="02020603050405020304" pitchFamily="18" charset="0"/>
                <a:sym typeface="Symbol" pitchFamily="2" charset="2"/>
              </a:rPr>
              <a:t>			</a:t>
            </a:r>
            <a:r>
              <a:rPr lang="en-US" altLang="en-US" sz="1800" b="1" i="1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s</a:t>
            </a:r>
            <a:r>
              <a:rPr lang="en-US" altLang="en-US" sz="1800" dirty="0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800" dirty="0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</a:t>
            </a:r>
            <a:r>
              <a:rPr lang="en-US" altLang="en-US" sz="1800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800" b="1" i="1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s</a:t>
            </a:r>
            <a:r>
              <a:rPr lang="en-US" altLang="en-US" sz="1800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800" dirty="0">
                <a:solidFill>
                  <a:schemeClr val="accent2"/>
                </a:solidFill>
                <a:latin typeface="Symbol" pitchFamily="2" charset="2"/>
                <a:sym typeface="Symbol" pitchFamily="2" charset="2"/>
              </a:rPr>
              <a:t>+</a:t>
            </a:r>
            <a:r>
              <a:rPr lang="en-US" altLang="en-US" sz="1800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800" b="1" i="1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X</a:t>
            </a:r>
            <a:r>
              <a:rPr lang="en-US" altLang="en-US" sz="1800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[</a:t>
            </a:r>
            <a:r>
              <a:rPr lang="en-US" altLang="en-US" sz="1800" b="1" i="1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j</a:t>
            </a:r>
            <a:r>
              <a:rPr lang="en-US" altLang="en-US" sz="1800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]		    (</a:t>
            </a:r>
            <a:r>
              <a:rPr lang="en-US" altLang="en-US" sz="1800" dirty="0">
                <a:latin typeface="Times New Roman" panose="02020603050405020304" pitchFamily="18" charset="0"/>
                <a:sym typeface="Symbol" pitchFamily="2" charset="2"/>
              </a:rPr>
              <a:t>1 </a:t>
            </a:r>
            <a:r>
              <a:rPr lang="en-US" altLang="en-US" sz="1800" dirty="0">
                <a:latin typeface="Symbol" pitchFamily="2" charset="2"/>
                <a:sym typeface="Symbol" pitchFamily="2" charset="2"/>
              </a:rPr>
              <a:t>+ </a:t>
            </a:r>
            <a:r>
              <a:rPr lang="en-US" altLang="en-US" sz="1800" dirty="0">
                <a:latin typeface="Times New Roman" panose="02020603050405020304" pitchFamily="18" charset="0"/>
                <a:sym typeface="Symbol" pitchFamily="2" charset="2"/>
              </a:rPr>
              <a:t>2 </a:t>
            </a:r>
            <a:r>
              <a:rPr lang="en-US" altLang="en-US" sz="1800" dirty="0">
                <a:latin typeface="Symbol" pitchFamily="2" charset="2"/>
                <a:sym typeface="Symbol" pitchFamily="2" charset="2"/>
              </a:rPr>
              <a:t>+ </a:t>
            </a:r>
            <a:r>
              <a:rPr lang="en-US" altLang="en-US" sz="1800" dirty="0">
                <a:latin typeface="Times New Roman" panose="02020603050405020304" pitchFamily="18" charset="0"/>
                <a:sym typeface="Symbol" pitchFamily="2" charset="2"/>
              </a:rPr>
              <a:t>…</a:t>
            </a:r>
            <a:r>
              <a:rPr lang="en-US" altLang="en-US" sz="1800" dirty="0">
                <a:latin typeface="Symbol" pitchFamily="2" charset="2"/>
                <a:sym typeface="Symbol" pitchFamily="2" charset="2"/>
              </a:rPr>
              <a:t>+</a:t>
            </a:r>
            <a:r>
              <a:rPr lang="en-US" altLang="en-US" sz="1800" dirty="0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800" b="1" i="1" dirty="0">
                <a:latin typeface="Times New Roman" panose="02020603050405020304" pitchFamily="18" charset="0"/>
                <a:sym typeface="Symbol" pitchFamily="2" charset="2"/>
              </a:rPr>
              <a:t>n</a:t>
            </a:r>
            <a:r>
              <a:rPr lang="en-US" altLang="en-US" sz="1800" dirty="0">
                <a:latin typeface="Times New Roman" panose="02020603050405020304" pitchFamily="18" charset="0"/>
                <a:sym typeface="Symbol" pitchFamily="2" charset="2"/>
              </a:rPr>
              <a:t>)*c2          O(n</a:t>
            </a:r>
            <a:r>
              <a:rPr lang="en-US" altLang="en-US" sz="1800" baseline="30000" dirty="0">
                <a:latin typeface="Times New Roman" panose="02020603050405020304" pitchFamily="18" charset="0"/>
                <a:sym typeface="Symbol" pitchFamily="2" charset="2"/>
              </a:rPr>
              <a:t>2</a:t>
            </a:r>
            <a:r>
              <a:rPr lang="en-US" altLang="en-US" sz="1800" dirty="0">
                <a:latin typeface="Times New Roman" panose="02020603050405020304" pitchFamily="18" charset="0"/>
                <a:sym typeface="Symbol" pitchFamily="2" charset="2"/>
              </a:rPr>
              <a:t>)</a:t>
            </a:r>
            <a:endParaRPr lang="en-US" altLang="en-US" sz="1800" dirty="0">
              <a:solidFill>
                <a:schemeClr val="accent2"/>
              </a:solidFill>
              <a:latin typeface="Times New Roman" panose="02020603050405020304" pitchFamily="18" charset="0"/>
              <a:sym typeface="Symbol" pitchFamily="2" charset="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Times New Roman" panose="02020603050405020304" pitchFamily="18" charset="0"/>
                <a:sym typeface="Symbol" pitchFamily="2" charset="2"/>
              </a:rPr>
              <a:t>		</a:t>
            </a:r>
            <a:r>
              <a:rPr lang="en-US" altLang="en-US" sz="1800" b="1" i="1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A</a:t>
            </a:r>
            <a:r>
              <a:rPr lang="en-US" altLang="en-US" sz="1800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[</a:t>
            </a:r>
            <a:r>
              <a:rPr lang="en-US" altLang="en-US" sz="1800" b="1" i="1" dirty="0" err="1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i</a:t>
            </a:r>
            <a:r>
              <a:rPr lang="en-US" altLang="en-US" sz="1800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]</a:t>
            </a:r>
            <a:r>
              <a:rPr lang="en-US" altLang="en-US" sz="1800" dirty="0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800" dirty="0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</a:t>
            </a:r>
            <a:r>
              <a:rPr lang="en-US" altLang="en-US" sz="1800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800" b="1" i="1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s</a:t>
            </a:r>
            <a:r>
              <a:rPr lang="en-US" altLang="en-US" sz="1800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800" dirty="0">
                <a:solidFill>
                  <a:schemeClr val="accent2"/>
                </a:solidFill>
                <a:latin typeface="Symbol" pitchFamily="2" charset="2"/>
                <a:sym typeface="Symbol" pitchFamily="2" charset="2"/>
              </a:rPr>
              <a:t>/</a:t>
            </a:r>
            <a:r>
              <a:rPr lang="en-US" altLang="en-US" sz="1800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800" dirty="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 dirty="0" err="1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i</a:t>
            </a:r>
            <a:r>
              <a:rPr lang="en-US" altLang="en-US" sz="1800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800" dirty="0">
                <a:solidFill>
                  <a:schemeClr val="accent2"/>
                </a:solidFill>
                <a:latin typeface="Symbol" pitchFamily="2" charset="2"/>
                <a:sym typeface="Symbol" pitchFamily="2" charset="2"/>
              </a:rPr>
              <a:t>+</a:t>
            </a:r>
            <a:r>
              <a:rPr lang="en-US" altLang="en-US" sz="1800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1</a:t>
            </a:r>
            <a:r>
              <a:rPr lang="en-US" altLang="en-US" sz="1800" dirty="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  <a:r>
              <a:rPr lang="en-US" altLang="en-US" sz="1800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		</a:t>
            </a:r>
            <a:r>
              <a:rPr lang="en-US" altLang="en-US" sz="1800" dirty="0">
                <a:solidFill>
                  <a:schemeClr val="accent2"/>
                </a:solidFill>
                <a:latin typeface="Times New Roman" panose="02020603050405020304" pitchFamily="18" charset="0"/>
              </a:rPr>
              <a:t>	    O(</a:t>
            </a:r>
            <a:r>
              <a:rPr lang="en-US" altLang="en-US" sz="1800" dirty="0">
                <a:latin typeface="Times New Roman" panose="02020603050405020304" pitchFamily="18" charset="0"/>
                <a:sym typeface="Symbol" pitchFamily="2" charset="2"/>
              </a:rPr>
              <a:t>n) </a:t>
            </a:r>
            <a:r>
              <a:rPr lang="en-US" altLang="en-US" sz="1600" dirty="0">
                <a:solidFill>
                  <a:srgbClr val="FF0066"/>
                </a:solidFill>
                <a:latin typeface="Times New Roman" panose="02020603050405020304" pitchFamily="18" charset="0"/>
                <a:sym typeface="Symbol" pitchFamily="2" charset="2"/>
              </a:rPr>
              <a:t>(math, indexing, assignment)</a:t>
            </a:r>
            <a:endParaRPr lang="en-US" altLang="en-US" sz="1800" dirty="0">
              <a:solidFill>
                <a:srgbClr val="FF0066"/>
              </a:solidFill>
              <a:latin typeface="Times New Roman" panose="02020603050405020304" pitchFamily="18" charset="0"/>
              <a:sym typeface="Symbol" pitchFamily="2" charset="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	return</a:t>
            </a:r>
            <a:r>
              <a:rPr lang="en-US" altLang="en-US" sz="1800" dirty="0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800" b="1" i="1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A 			     	    </a:t>
            </a:r>
            <a:r>
              <a:rPr lang="en-US" altLang="en-US" sz="1800" dirty="0">
                <a:latin typeface="Times New Roman" panose="02020603050405020304" pitchFamily="18" charset="0"/>
                <a:sym typeface="Symbol" pitchFamily="2" charset="2"/>
              </a:rPr>
              <a:t>1</a:t>
            </a:r>
          </a:p>
        </p:txBody>
      </p:sp>
      <p:sp>
        <p:nvSpPr>
          <p:cNvPr id="32772" name="Rectangle 5">
            <a:extLst>
              <a:ext uri="{FF2B5EF4-FFF2-40B4-BE49-F238E27FC236}">
                <a16:creationId xmlns:a16="http://schemas.microsoft.com/office/drawing/2014/main" id="{69FAB577-E5AF-3392-83F9-19156C4515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3913" y="6019800"/>
            <a:ext cx="52498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800"/>
              <a:t>    Algorithm </a:t>
            </a:r>
            <a:r>
              <a:rPr lang="en-US" altLang="en-US" sz="1800" b="1" i="1"/>
              <a:t>prefixAverages1 </a:t>
            </a:r>
            <a:r>
              <a:rPr lang="en-US" altLang="en-US" sz="1800"/>
              <a:t>runs in </a:t>
            </a:r>
            <a:r>
              <a:rPr lang="en-US" altLang="en-US" sz="1800" b="1" i="1">
                <a:sym typeface="Symbol" pitchFamily="2" charset="2"/>
              </a:rPr>
              <a:t>O</a:t>
            </a:r>
            <a:r>
              <a:rPr lang="en-US" altLang="en-US" sz="1800">
                <a:sym typeface="Symbol" pitchFamily="2" charset="2"/>
              </a:rPr>
              <a:t>(</a:t>
            </a:r>
            <a:r>
              <a:rPr lang="en-US" altLang="en-US" sz="1800" b="1" i="1">
                <a:sym typeface="Symbol" pitchFamily="2" charset="2"/>
              </a:rPr>
              <a:t>n</a:t>
            </a:r>
            <a:r>
              <a:rPr lang="en-US" altLang="en-US" sz="1800" baseline="30000">
                <a:sym typeface="Symbol" pitchFamily="2" charset="2"/>
              </a:rPr>
              <a:t>2</a:t>
            </a:r>
            <a:r>
              <a:rPr lang="en-US" altLang="en-US" sz="1800">
                <a:sym typeface="Symbol" pitchFamily="2" charset="2"/>
              </a:rPr>
              <a:t>) </a:t>
            </a:r>
            <a:r>
              <a:rPr lang="en-US" altLang="en-US" sz="1800"/>
              <a:t>time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2">
            <a:extLst>
              <a:ext uri="{FF2B5EF4-FFF2-40B4-BE49-F238E27FC236}">
                <a16:creationId xmlns:a16="http://schemas.microsoft.com/office/drawing/2014/main" id="{1F760B83-6922-31E7-13EF-47FA26AE0F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52400"/>
            <a:ext cx="77724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rgbClr val="0000FF"/>
                </a:solidFill>
                <a:latin typeface="Comic Sans MS" panose="030F0902030302020204" pitchFamily="66" charset="0"/>
              </a:rPr>
              <a:t>Prefix Averages (Linear)</a:t>
            </a:r>
          </a:p>
        </p:txBody>
      </p:sp>
      <p:sp>
        <p:nvSpPr>
          <p:cNvPr id="33794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13DDBE8-2E8D-9B64-7599-CBF5E3B1C6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43000"/>
            <a:ext cx="8229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en-US" sz="2000"/>
              <a:t>The following algorithm computes prefix averages in linear time by keeping a running sum</a:t>
            </a:r>
            <a:endParaRPr lang="en-US" altLang="en-US" sz="2000" b="1" i="1">
              <a:latin typeface="Times New Roman" panose="02020603050405020304" pitchFamily="18" charset="0"/>
              <a:sym typeface="Symbol" pitchFamily="2" charset="2"/>
            </a:endParaRPr>
          </a:p>
        </p:txBody>
      </p:sp>
      <p:sp>
        <p:nvSpPr>
          <p:cNvPr id="33795" name="Rectangle 4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558AAF32-6F58-1E50-2E68-8E033FABB2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209800"/>
            <a:ext cx="8001000" cy="3429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Algorithm</a:t>
            </a:r>
            <a:r>
              <a:rPr lang="en-US" altLang="en-US" sz="1800">
                <a:latin typeface="Times New Roman" panose="02020603050405020304" pitchFamily="18" charset="0"/>
              </a:rPr>
              <a:t> </a:t>
            </a:r>
            <a:r>
              <a:rPr lang="en-US" altLang="en-US" sz="1800" b="1" i="1">
                <a:solidFill>
                  <a:schemeClr val="tx2"/>
                </a:solidFill>
                <a:latin typeface="Times New Roman" panose="02020603050405020304" pitchFamily="18" charset="0"/>
              </a:rPr>
              <a:t>prefixAverages2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tx2"/>
                </a:solidFill>
                <a:latin typeface="Times New Roman" panose="02020603050405020304" pitchFamily="18" charset="0"/>
              </a:rPr>
              <a:t>X, n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chemeClr val="tx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Input</a:t>
            </a:r>
            <a:r>
              <a:rPr lang="en-US" altLang="en-US" sz="1800"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array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X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 of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 integers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chemeClr val="tx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Output</a:t>
            </a:r>
            <a:r>
              <a:rPr lang="en-US" altLang="en-US" sz="1800"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array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A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 of prefix averages of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X	    </a:t>
            </a:r>
            <a:r>
              <a:rPr lang="en-US" altLang="en-US" sz="1600">
                <a:sym typeface="Symbol" pitchFamily="2" charset="2"/>
              </a:rPr>
              <a:t>#operations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	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A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 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new array of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 integers		    O(</a:t>
            </a:r>
            <a:r>
              <a:rPr lang="en-US" altLang="en-US" sz="1800" b="1" i="1">
                <a:latin typeface="Times New Roman" panose="02020603050405020304" pitchFamily="18" charset="0"/>
                <a:sym typeface="Symbol" pitchFamily="2" charset="2"/>
              </a:rPr>
              <a:t>n</a:t>
            </a: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) </a:t>
            </a:r>
            <a:r>
              <a:rPr lang="en-US" altLang="en-US" sz="1600">
                <a:solidFill>
                  <a:srgbClr val="FF0066"/>
                </a:solidFill>
                <a:latin typeface="Times New Roman" panose="02020603050405020304" pitchFamily="18" charset="0"/>
                <a:sym typeface="Symbol" pitchFamily="2" charset="2"/>
              </a:rPr>
              <a:t>(initialization)</a:t>
            </a:r>
            <a:endParaRPr lang="en-US" altLang="en-US" sz="1800" b="1" i="1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	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s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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0 				    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O(</a:t>
            </a: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1) </a:t>
            </a:r>
            <a:r>
              <a:rPr lang="en-US" altLang="en-US" sz="1600">
                <a:solidFill>
                  <a:srgbClr val="FF0066"/>
                </a:solidFill>
                <a:latin typeface="Times New Roman" panose="02020603050405020304" pitchFamily="18" charset="0"/>
                <a:sym typeface="Symbol" pitchFamily="2" charset="2"/>
              </a:rPr>
              <a:t>(initialization)</a:t>
            </a:r>
            <a:endParaRPr lang="en-US" altLang="en-US" sz="1800">
              <a:solidFill>
                <a:schemeClr val="accent2"/>
              </a:solidFill>
              <a:latin typeface="Times New Roman" panose="02020603050405020304" pitchFamily="18" charset="0"/>
              <a:sym typeface="Symbol" pitchFamily="2" charset="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	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 sz="1800">
                <a:latin typeface="Times New Roman" panose="02020603050405020304" pitchFamily="18" charset="0"/>
              </a:rPr>
              <a:t>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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0</a:t>
            </a: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to</a:t>
            </a: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n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800">
                <a:solidFill>
                  <a:schemeClr val="accent2"/>
                </a:solidFill>
                <a:latin typeface="Symbol" pitchFamily="2" charset="2"/>
                <a:sym typeface="Symbol" pitchFamily="2" charset="2"/>
              </a:rPr>
              <a:t>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1</a:t>
            </a: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do			    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O(</a:t>
            </a:r>
            <a:r>
              <a:rPr lang="en-US" altLang="en-US" sz="1800" b="1" i="1">
                <a:latin typeface="Times New Roman" panose="02020603050405020304" pitchFamily="18" charset="0"/>
                <a:sym typeface="Symbol" pitchFamily="2" charset="2"/>
              </a:rPr>
              <a:t>n</a:t>
            </a: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) </a:t>
            </a:r>
            <a:r>
              <a:rPr lang="en-US" altLang="en-US" sz="1600">
                <a:solidFill>
                  <a:srgbClr val="FF0066"/>
                </a:solidFill>
                <a:latin typeface="Times New Roman" panose="02020603050405020304" pitchFamily="18" charset="0"/>
                <a:sym typeface="Symbol" pitchFamily="2" charset="2"/>
              </a:rPr>
              <a:t>(comparison)</a:t>
            </a:r>
            <a:endParaRPr lang="en-US" altLang="en-US" sz="1800">
              <a:latin typeface="Times New Roman" panose="02020603050405020304" pitchFamily="18" charset="0"/>
              <a:sym typeface="Symbol" pitchFamily="2" charset="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		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s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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s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800">
                <a:solidFill>
                  <a:schemeClr val="accent2"/>
                </a:solidFill>
                <a:latin typeface="Symbol" pitchFamily="2" charset="2"/>
                <a:sym typeface="Symbol" pitchFamily="2" charset="2"/>
              </a:rPr>
              <a:t>+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X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[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i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]		</a:t>
            </a: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	    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O(</a:t>
            </a:r>
            <a:r>
              <a:rPr lang="en-US" altLang="en-US" sz="1800" b="1" i="1">
                <a:latin typeface="Times New Roman" panose="02020603050405020304" pitchFamily="18" charset="0"/>
                <a:sym typeface="Symbol" pitchFamily="2" charset="2"/>
              </a:rPr>
              <a:t>n</a:t>
            </a: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) </a:t>
            </a:r>
            <a:r>
              <a:rPr lang="en-US" altLang="en-US" sz="1600">
                <a:solidFill>
                  <a:srgbClr val="FF0066"/>
                </a:solidFill>
                <a:latin typeface="Times New Roman" panose="02020603050405020304" pitchFamily="18" charset="0"/>
                <a:sym typeface="Symbol" pitchFamily="2" charset="2"/>
              </a:rPr>
              <a:t>(math, indexing, assignment)</a:t>
            </a:r>
            <a:endParaRPr lang="en-US" altLang="en-US" sz="1800">
              <a:solidFill>
                <a:schemeClr val="accent2"/>
              </a:solidFill>
              <a:latin typeface="Times New Roman" panose="02020603050405020304" pitchFamily="18" charset="0"/>
              <a:sym typeface="Symbol" pitchFamily="2" charset="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		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A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[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i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]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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s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800">
                <a:solidFill>
                  <a:schemeClr val="accent2"/>
                </a:solidFill>
                <a:latin typeface="Symbol" pitchFamily="2" charset="2"/>
                <a:sym typeface="Symbol" pitchFamily="2" charset="2"/>
              </a:rPr>
              <a:t>/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i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800">
                <a:solidFill>
                  <a:schemeClr val="accent2"/>
                </a:solidFill>
                <a:latin typeface="Symbol" pitchFamily="2" charset="2"/>
                <a:sym typeface="Symbol" pitchFamily="2" charset="2"/>
              </a:rPr>
              <a:t>+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1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			    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O(</a:t>
            </a:r>
            <a:r>
              <a:rPr lang="en-US" altLang="en-US" sz="1800" b="1" i="1">
                <a:latin typeface="Times New Roman" panose="02020603050405020304" pitchFamily="18" charset="0"/>
                <a:sym typeface="Symbol" pitchFamily="2" charset="2"/>
              </a:rPr>
              <a:t>n</a:t>
            </a: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) </a:t>
            </a:r>
            <a:r>
              <a:rPr lang="en-US" altLang="en-US" sz="1600">
                <a:solidFill>
                  <a:srgbClr val="FF0066"/>
                </a:solidFill>
                <a:latin typeface="Times New Roman" panose="02020603050405020304" pitchFamily="18" charset="0"/>
                <a:sym typeface="Symbol" pitchFamily="2" charset="2"/>
              </a:rPr>
              <a:t>(math, indexing, assignment)</a:t>
            </a:r>
            <a:endParaRPr lang="en-US" altLang="en-US" sz="1800">
              <a:solidFill>
                <a:schemeClr val="accent2"/>
              </a:solidFill>
              <a:latin typeface="Times New Roman" panose="02020603050405020304" pitchFamily="18" charset="0"/>
              <a:sym typeface="Symbol" pitchFamily="2" charset="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	return</a:t>
            </a: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A 			      	    </a:t>
            </a: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1</a:t>
            </a:r>
          </a:p>
        </p:txBody>
      </p:sp>
      <p:sp>
        <p:nvSpPr>
          <p:cNvPr id="33796" name="Rectangle 5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F96DA517-0381-DAA8-1299-716C1E743C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5867400"/>
            <a:ext cx="7848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en-US" sz="1800"/>
              <a:t>Algorithm </a:t>
            </a:r>
            <a:r>
              <a:rPr lang="en-US" altLang="en-US" sz="1800" b="1" i="1">
                <a:latin typeface="Times New Roman" panose="02020603050405020304" pitchFamily="18" charset="0"/>
                <a:sym typeface="Symbol" pitchFamily="2" charset="2"/>
              </a:rPr>
              <a:t>prefixAverages2 </a:t>
            </a:r>
            <a:r>
              <a:rPr lang="en-US" altLang="en-US" sz="1800"/>
              <a:t>runs in </a:t>
            </a:r>
            <a:r>
              <a:rPr lang="en-US" altLang="en-US" sz="1800" b="1" i="1">
                <a:latin typeface="Times New Roman" panose="02020603050405020304" pitchFamily="18" charset="0"/>
                <a:sym typeface="Symbol" pitchFamily="2" charset="2"/>
              </a:rPr>
              <a:t>O</a:t>
            </a: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(</a:t>
            </a:r>
            <a:r>
              <a:rPr lang="en-US" altLang="en-US" sz="1800" b="1" i="1">
                <a:latin typeface="Times New Roman" panose="02020603050405020304" pitchFamily="18" charset="0"/>
                <a:sym typeface="Symbol" pitchFamily="2" charset="2"/>
              </a:rPr>
              <a:t>n</a:t>
            </a: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) </a:t>
            </a:r>
            <a:r>
              <a:rPr lang="en-US" altLang="en-US" sz="1800"/>
              <a:t>time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9B8487D-B20E-B1D4-AC93-CB24FE114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          </a:t>
            </a:r>
            <a:r>
              <a:rPr lang="en-US" sz="1100"/>
              <a:t>Department of Computer Science                        University of Wisconsin - Milwaukee                     CS535 Fall 2008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846FED-726F-7279-D23F-A979D000E2BA}"/>
              </a:ext>
            </a:extLst>
          </p:cNvPr>
          <p:cNvSpPr txBox="1"/>
          <p:nvPr/>
        </p:nvSpPr>
        <p:spPr>
          <a:xfrm>
            <a:off x="1066800" y="1828800"/>
            <a:ext cx="7239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for</a:t>
            </a:r>
            <a:r>
              <a:rPr lang="en-US" dirty="0"/>
              <a:t>( int bound = 1; bound &lt;= n; bound *= 2 ) {</a:t>
            </a:r>
          </a:p>
          <a:p>
            <a:r>
              <a:rPr lang="en-US" dirty="0"/>
              <a:t>	</a:t>
            </a:r>
            <a:r>
              <a:rPr lang="en-US" b="1" dirty="0"/>
              <a:t>for</a:t>
            </a:r>
            <a:r>
              <a:rPr lang="en-US" dirty="0"/>
              <a:t>( int 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bound; </a:t>
            </a:r>
            <a:r>
              <a:rPr lang="en-US" dirty="0" err="1"/>
              <a:t>i</a:t>
            </a:r>
            <a:r>
              <a:rPr lang="en-US" dirty="0"/>
              <a:t>++ ) {</a:t>
            </a:r>
          </a:p>
          <a:p>
            <a:r>
              <a:rPr lang="en-US" dirty="0"/>
              <a:t>		</a:t>
            </a:r>
            <a:r>
              <a:rPr lang="en-US" b="1" dirty="0"/>
              <a:t>for</a:t>
            </a:r>
            <a:r>
              <a:rPr lang="en-US" dirty="0"/>
              <a:t>( int j = 0; j &lt; n; j += 2 ) {</a:t>
            </a:r>
          </a:p>
          <a:p>
            <a:r>
              <a:rPr lang="en-US" dirty="0"/>
              <a:t>				... // constant number of operations</a:t>
            </a:r>
          </a:p>
          <a:p>
            <a:r>
              <a:rPr lang="en-US" dirty="0"/>
              <a:t>			}</a:t>
            </a:r>
          </a:p>
          <a:p>
            <a:r>
              <a:rPr lang="en-US" dirty="0"/>
              <a:t>		</a:t>
            </a:r>
            <a:r>
              <a:rPr lang="en-US" b="1" dirty="0"/>
              <a:t>for</a:t>
            </a:r>
            <a:r>
              <a:rPr lang="en-US" dirty="0"/>
              <a:t>( int j = 1; j &lt; n; j *= 2 ) {</a:t>
            </a:r>
          </a:p>
          <a:p>
            <a:r>
              <a:rPr lang="en-US" dirty="0"/>
              <a:t>				... // constant number of operations</a:t>
            </a:r>
          </a:p>
          <a:p>
            <a:r>
              <a:rPr lang="en-US" dirty="0"/>
              <a:t>		}</a:t>
            </a:r>
          </a:p>
          <a:p>
            <a:r>
              <a:rPr lang="en-US" dirty="0"/>
              <a:t>	}</a:t>
            </a:r>
          </a:p>
          <a:p>
            <a:r>
              <a:rPr lang="en-US" dirty="0"/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2C7A21-3BDC-212B-55CC-7FD306F34F01}"/>
              </a:ext>
            </a:extLst>
          </p:cNvPr>
          <p:cNvSpPr txBox="1"/>
          <p:nvPr/>
        </p:nvSpPr>
        <p:spPr>
          <a:xfrm>
            <a:off x="519557" y="692015"/>
            <a:ext cx="833348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Find the </a:t>
            </a:r>
            <a:r>
              <a:rPr lang="en-US" b="1" dirty="0"/>
              <a:t>computational complexity </a:t>
            </a:r>
            <a:r>
              <a:rPr lang="en-US" dirty="0"/>
              <a:t>(in “Big-Oh”) of the following code snippet and explain how it is derived using the basic features of the “Big-Oh” notation:</a:t>
            </a:r>
          </a:p>
        </p:txBody>
      </p:sp>
    </p:spTree>
    <p:extLst>
      <p:ext uri="{BB962C8B-B14F-4D97-AF65-F5344CB8AC3E}">
        <p14:creationId xmlns:p14="http://schemas.microsoft.com/office/powerpoint/2010/main" val="520115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41AE53D-FB07-B45A-1EBD-FCB51B61D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          </a:t>
            </a:r>
            <a:r>
              <a:rPr lang="en-US" sz="1100"/>
              <a:t>Department of Computer Science                        University of Wisconsin - Milwaukee                     CS535 Fall 2008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ED132E-6A95-7A5D-0ED7-8B29B1D1F15F}"/>
              </a:ext>
            </a:extLst>
          </p:cNvPr>
          <p:cNvSpPr txBox="1"/>
          <p:nvPr/>
        </p:nvSpPr>
        <p:spPr>
          <a:xfrm>
            <a:off x="990600" y="838200"/>
            <a:ext cx="73914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Outer Loop:</a:t>
            </a:r>
          </a:p>
          <a:p>
            <a:endParaRPr lang="en-US" dirty="0"/>
          </a:p>
          <a:p>
            <a:r>
              <a:rPr lang="en-US" dirty="0"/>
              <a:t>   	</a:t>
            </a:r>
            <a:r>
              <a:rPr lang="en-US" b="1" dirty="0"/>
              <a:t>bound</a:t>
            </a:r>
            <a:r>
              <a:rPr lang="en-US" dirty="0"/>
              <a:t> -&gt; 1, 2, 2</a:t>
            </a:r>
            <a:r>
              <a:rPr lang="en-US" baseline="30000" dirty="0"/>
              <a:t>2</a:t>
            </a:r>
            <a:r>
              <a:rPr lang="en-US" dirty="0"/>
              <a:t>,2</a:t>
            </a:r>
            <a:r>
              <a:rPr lang="en-US" baseline="30000" dirty="0"/>
              <a:t>3</a:t>
            </a:r>
            <a:r>
              <a:rPr lang="en-US" dirty="0"/>
              <a:t> …… n    -&gt; 2</a:t>
            </a:r>
            <a:r>
              <a:rPr lang="en-US" baseline="30000" dirty="0"/>
              <a:t>steps </a:t>
            </a:r>
            <a:r>
              <a:rPr lang="en-US" dirty="0"/>
              <a:t>= n =&gt; Steps = log</a:t>
            </a:r>
            <a:r>
              <a:rPr lang="en-US" baseline="-25000" dirty="0"/>
              <a:t>2</a:t>
            </a:r>
            <a:r>
              <a:rPr lang="en-US" dirty="0"/>
              <a:t>n</a:t>
            </a:r>
            <a:endParaRPr lang="en-US" baseline="30000" dirty="0"/>
          </a:p>
          <a:p>
            <a:endParaRPr lang="en-US" dirty="0"/>
          </a:p>
          <a:p>
            <a:r>
              <a:rPr lang="en-US" b="1" dirty="0"/>
              <a:t>	Inner Loop:</a:t>
            </a:r>
          </a:p>
          <a:p>
            <a:r>
              <a:rPr lang="en-US" dirty="0"/>
              <a:t>                      1-&gt;1</a:t>
            </a:r>
          </a:p>
          <a:p>
            <a:r>
              <a:rPr lang="en-US" dirty="0"/>
              <a:t>			  1-&gt;2 </a:t>
            </a:r>
          </a:p>
          <a:p>
            <a:r>
              <a:rPr lang="en-US" dirty="0"/>
              <a:t>			  1-&gt;2</a:t>
            </a:r>
            <a:r>
              <a:rPr lang="en-US" baseline="30000" dirty="0"/>
              <a:t>2</a:t>
            </a:r>
            <a:endParaRPr lang="en-US" dirty="0"/>
          </a:p>
          <a:p>
            <a:r>
              <a:rPr lang="en-US" dirty="0"/>
              <a:t>				…</a:t>
            </a:r>
          </a:p>
          <a:p>
            <a:r>
              <a:rPr lang="en-US" dirty="0"/>
              <a:t>			  1-&gt;n</a:t>
            </a:r>
          </a:p>
          <a:p>
            <a:r>
              <a:rPr lang="en-US" dirty="0"/>
              <a:t>		</a:t>
            </a:r>
            <a:r>
              <a:rPr lang="en-US" b="1" dirty="0"/>
              <a:t>Innermost loop1: </a:t>
            </a:r>
            <a:r>
              <a:rPr lang="en-US" dirty="0"/>
              <a:t> 0,2,4,6,8 … n    (n/2)</a:t>
            </a:r>
          </a:p>
          <a:p>
            <a:r>
              <a:rPr lang="en-US" dirty="0"/>
              <a:t>		</a:t>
            </a:r>
            <a:r>
              <a:rPr lang="en-US" b="1" dirty="0"/>
              <a:t>Innermost loop2: </a:t>
            </a:r>
            <a:r>
              <a:rPr lang="en-US" dirty="0"/>
              <a:t> 0,2,2</a:t>
            </a:r>
            <a:r>
              <a:rPr lang="en-US" baseline="30000" dirty="0"/>
              <a:t>2</a:t>
            </a:r>
            <a:r>
              <a:rPr lang="en-US" dirty="0"/>
              <a:t>2</a:t>
            </a:r>
            <a:r>
              <a:rPr lang="en-US" baseline="30000" dirty="0"/>
              <a:t>3</a:t>
            </a:r>
            <a:r>
              <a:rPr lang="en-US" dirty="0"/>
              <a:t> … n      (log</a:t>
            </a:r>
            <a:r>
              <a:rPr lang="en-US" baseline="-25000" dirty="0"/>
              <a:t>2</a:t>
            </a:r>
            <a:r>
              <a:rPr lang="en-US" dirty="0"/>
              <a:t>n)</a:t>
            </a:r>
          </a:p>
          <a:p>
            <a:endParaRPr lang="en-US" dirty="0"/>
          </a:p>
          <a:p>
            <a:r>
              <a:rPr lang="en-US" dirty="0"/>
              <a:t>				</a:t>
            </a:r>
          </a:p>
          <a:p>
            <a:r>
              <a:rPr lang="en-US" dirty="0"/>
              <a:t>	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B6E638-4895-D603-DF0B-B44E55D80E39}"/>
              </a:ext>
            </a:extLst>
          </p:cNvPr>
          <p:cNvSpPr txBox="1"/>
          <p:nvPr/>
        </p:nvSpPr>
        <p:spPr>
          <a:xfrm>
            <a:off x="2057400" y="4648200"/>
            <a:ext cx="533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n/2(1+2+2</a:t>
            </a:r>
            <a:r>
              <a:rPr lang="en-US" baseline="30000" dirty="0">
                <a:highlight>
                  <a:srgbClr val="FFFF00"/>
                </a:highlight>
              </a:rPr>
              <a:t>2 </a:t>
            </a:r>
            <a:r>
              <a:rPr lang="en-US" dirty="0">
                <a:highlight>
                  <a:srgbClr val="FFFF00"/>
                </a:highlight>
              </a:rPr>
              <a:t>+</a:t>
            </a:r>
            <a:r>
              <a:rPr lang="en-US" baseline="30000" dirty="0">
                <a:highlight>
                  <a:srgbClr val="FFFF00"/>
                </a:highlight>
              </a:rPr>
              <a:t>….</a:t>
            </a:r>
            <a:r>
              <a:rPr lang="en-US" dirty="0">
                <a:highlight>
                  <a:srgbClr val="FFFF00"/>
                </a:highlight>
              </a:rPr>
              <a:t> + n) =n/2(2</a:t>
            </a:r>
            <a:r>
              <a:rPr lang="en-US" baseline="30000" dirty="0">
                <a:highlight>
                  <a:srgbClr val="FFFF00"/>
                </a:highlight>
              </a:rPr>
              <a:t>log2 n </a:t>
            </a:r>
            <a:r>
              <a:rPr lang="en-US" dirty="0">
                <a:highlight>
                  <a:srgbClr val="FFFF00"/>
                </a:highlight>
              </a:rPr>
              <a:t>-1) = </a:t>
            </a:r>
            <a:r>
              <a:rPr lang="en-US" b="1" dirty="0">
                <a:highlight>
                  <a:srgbClr val="FFFF00"/>
                </a:highlight>
              </a:rPr>
              <a:t>O(n^2)</a:t>
            </a:r>
          </a:p>
        </p:txBody>
      </p:sp>
    </p:spTree>
    <p:extLst>
      <p:ext uri="{BB962C8B-B14F-4D97-AF65-F5344CB8AC3E}">
        <p14:creationId xmlns:p14="http://schemas.microsoft.com/office/powerpoint/2010/main" val="38690393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D536CAB5-E2C1-08C6-3B68-B6E5D056E3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1981200"/>
            <a:ext cx="77724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rgbClr val="0000FF"/>
                </a:solidFill>
                <a:latin typeface="Comic Sans MS" panose="030F0902030302020204" pitchFamily="66" charset="0"/>
              </a:rPr>
              <a:t>Extra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>
            <a:extLst>
              <a:ext uri="{FF2B5EF4-FFF2-40B4-BE49-F238E27FC236}">
                <a16:creationId xmlns:a16="http://schemas.microsoft.com/office/drawing/2014/main" id="{73689B71-CDDD-F972-E2E8-355A08001A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219200"/>
            <a:ext cx="7772400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3" name="Picture 5">
            <a:extLst>
              <a:ext uri="{FF2B5EF4-FFF2-40B4-BE49-F238E27FC236}">
                <a16:creationId xmlns:a16="http://schemas.microsoft.com/office/drawing/2014/main" id="{4F5BADD5-9775-3271-7276-786DE09E7D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632075"/>
            <a:ext cx="8247063" cy="982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3260</TotalTime>
  <Words>2318</Words>
  <Application>Microsoft Office PowerPoint</Application>
  <PresentationFormat>On-screen Show (4:3)</PresentationFormat>
  <Paragraphs>185</Paragraphs>
  <Slides>19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32" baseType="lpstr">
      <vt:lpstr>Arial</vt:lpstr>
      <vt:lpstr>ArialMT</vt:lpstr>
      <vt:lpstr>Calibri</vt:lpstr>
      <vt:lpstr>Caveat</vt:lpstr>
      <vt:lpstr>Comic Sans MS</vt:lpstr>
      <vt:lpstr>FreeSerif</vt:lpstr>
      <vt:lpstr>Symbol</vt:lpstr>
      <vt:lpstr>Times New Roman</vt:lpstr>
      <vt:lpstr>Trebuchet MS</vt:lpstr>
      <vt:lpstr>Wingdings</vt:lpstr>
      <vt:lpstr>Wingdings 3</vt:lpstr>
      <vt:lpstr>Facet</vt:lpstr>
      <vt:lpstr>Worksheet</vt:lpstr>
      <vt:lpstr>CS535: Algorithm Design and Analysis    Analysis of Algorithms:  Methodologies and Case Studies</vt:lpstr>
      <vt:lpstr>Review: Big-Oh Rules</vt:lpstr>
      <vt:lpstr>Review: Some Other Useful Rules </vt:lpstr>
      <vt:lpstr>PowerPoint Presentation</vt:lpstr>
      <vt:lpstr>Asymptotic Algorithm Analysis</vt:lpstr>
      <vt:lpstr>PowerPoint Presentation</vt:lpstr>
      <vt:lpstr>Intuition for Asymptotic Notation</vt:lpstr>
      <vt:lpstr>PowerPoint Presentation</vt:lpstr>
      <vt:lpstr>PowerPoint Presentation</vt:lpstr>
      <vt:lpstr>PowerPoint Presentation</vt:lpstr>
      <vt:lpstr>PowerPoint Presentation</vt:lpstr>
      <vt:lpstr>Case Study</vt:lpstr>
      <vt:lpstr>Examples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UT-Austin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Mesh Generation</dc:title>
  <dc:creator>Yu</dc:creator>
  <cp:lastModifiedBy>Singh, Rohit (singh2ro)</cp:lastModifiedBy>
  <cp:revision>656</cp:revision>
  <dcterms:created xsi:type="dcterms:W3CDTF">2006-12-14T06:02:28Z</dcterms:created>
  <dcterms:modified xsi:type="dcterms:W3CDTF">2024-10-13T05:00:36Z</dcterms:modified>
</cp:coreProperties>
</file>