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6" r:id="rId10"/>
    <p:sldId id="307" r:id="rId11"/>
    <p:sldId id="328" r:id="rId12"/>
    <p:sldId id="308" r:id="rId13"/>
    <p:sldId id="309" r:id="rId14"/>
    <p:sldId id="310" r:id="rId15"/>
    <p:sldId id="311" r:id="rId16"/>
    <p:sldId id="312" r:id="rId17"/>
    <p:sldId id="313" r:id="rId18"/>
    <p:sldId id="330" r:id="rId19"/>
    <p:sldId id="316" r:id="rId20"/>
    <p:sldId id="317" r:id="rId21"/>
    <p:sldId id="329" r:id="rId22"/>
    <p:sldId id="331" r:id="rId23"/>
    <p:sldId id="332" r:id="rId24"/>
    <p:sldId id="333" r:id="rId25"/>
    <p:sldId id="33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9FD49-DE06-404C-980C-BDC34F3F74A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5C833-A8A1-40C3-B1B5-5E3C3271D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EB392C35-B7AE-DE01-F436-D2237A643C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43270A0-0B66-3FBF-FC24-EA5414C4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Example: calculate the maximum of a sequence.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088725E5-68E8-0A10-86D4-A5121BAC2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B97DB6-493F-C347-8CD5-64FED9304609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7A2812C0-BD7E-4FA8-E039-C5D6319F60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62EFC828-7576-62F1-B564-92EE4191C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What if person A implements algorithm A and person B implements algorithm B for the same problem?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5E26E181-BF0B-EAFC-BDBA-245AF8B06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D80489-011D-5B40-8621-76830928110D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E68-381B-722A-311D-3278CDF78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C2F7F-328F-1EB5-353E-74FFB5632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3DCC-9F65-61EC-7FB4-02895BB1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116FA-EC21-044F-736A-282DE554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8737A-F7BB-4B89-E01C-406AE873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3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B24F-2A3A-F71A-2569-729CB40E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1B73-4020-6697-C8F6-68DAD4C6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ABD6D-8511-D4D6-8912-BADDE3EE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971D4-7D3B-87AC-959D-0A27F1B2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EE76D-3420-D672-1C70-D3B28CFD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7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C9A2-9DFF-6A22-3028-6ACB90A8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8D71-4D7D-E30A-4B3A-5E984E357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726FB-F292-1735-EF90-5A47870F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BD37-54EC-1385-5076-9161A7A4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2DCB2-9AE4-CA63-D078-F859F72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184A-361C-14A1-AE9C-10923624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59E8-F898-1C18-BBF3-307787441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542D5-3936-5BA9-D4F0-0D0507BE8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95428-7999-4702-B978-1B5C7C9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8D9C8-48BB-B719-EFE6-70AE7C9A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B6BA7-1CBE-321C-DC14-D011EAF7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6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7D15-F789-88E9-7E4E-4F954E12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98B60-70DF-8349-B809-DB0BA0C25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A5CB-3F3D-12CC-9FC3-A515FF8F6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13A79-44D0-B162-B1DD-F369933F3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ADF56-6350-E032-ECEC-EBC9FEA52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6021C-531C-DE55-7C44-CE0A56CA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9FB61-D6FA-F15C-F8BA-B272B300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B34BD6-DF34-44D5-976F-71DAA27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8438-807B-8957-49A8-DCB28F2B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09167-491F-BC75-09E0-B92F1C19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EE539-19DE-83C2-4B9D-82DF854F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39352-BA31-6875-F986-1E8171E8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8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07565-E735-CA3D-D66B-5747C0C5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FEFAD-70BA-EABA-1AAC-84988A31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89389-60D0-8D20-49D4-CC65F454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5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E117-AB84-E637-6754-CA9B741C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4E69-9597-DB58-E174-A0EE6DE26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5FF07-FEF5-CD6E-3B8B-CB7529EDE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1F182-26C7-3F63-5BFE-8EFDEE60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4DBBA-8C60-D76A-9218-125CD032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A8075-D77C-D4DC-3E0D-D5B31B7B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8986-EABB-1FA4-B45A-2A742DE7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54FAF-AE54-5D72-C73B-B225C5303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BC1D5-5F4E-B3E6-6AFA-0709AC3B1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F947B-7DC3-D8D5-07A9-EF2E8C2F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68015-41D9-B5D0-209E-52F39594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F57FD-2E11-DD39-62B1-F332A5FF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8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E1B2-7C7D-04C3-FF37-BA8B7FBB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49E10-2B6C-092B-DD33-577BAE46B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3CD6-3220-09D7-C3DB-9DA1B129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BAEFD-2D69-5AB5-6E20-A7284EB0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C9C4-0CC4-4A00-DCA1-01D6D712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7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14D7B-434C-0FEF-DB9E-490483392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E2F1C-DBC3-38A1-9DBD-D9ECCAA28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C1616-8004-91E8-8FC0-AC9CCF8A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5854-E1C6-436D-C5AC-22BFD7A3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AB55-D177-1578-FEA4-4DCBB848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7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79F93-2C8C-4A6F-8E8A-671334DAA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72D5-0DB3-9F60-8190-67330B2A7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428F9-C44F-2846-4161-87A70F533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44B96-EA43-40CB-93F2-8AF54C742EF6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19496-498A-C17F-FB2A-5E1C0F464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B259A-1DC4-738C-6BC6-E042F778D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2FC65-BA26-4514-8AAD-5FE863484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2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9D4A8C6A-2256-939F-C1B2-D030EC801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000" dirty="0">
                <a:solidFill>
                  <a:srgbClr val="FF9900"/>
                </a:solidFill>
              </a:rPr>
              <a:t>CS-535: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Analysis of Algorithms: Methodologies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D72AEFCD-B2A9-2767-7DDF-F2589DBB01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3528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 Rohit P. Singh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</a:t>
            </a:r>
            <a:r>
              <a:rPr lang="en-US" altLang="en-US" sz="1600" b="1" dirty="0">
                <a:solidFill>
                  <a:srgbClr val="0000FF"/>
                </a:solidFill>
                <a:ea typeface="SimSun" panose="02010600030101010101" pitchFamily="2" charset="-122"/>
              </a:rPr>
              <a:t>9</a:t>
            </a:r>
            <a:r>
              <a:rPr lang="en-US" altLang="en-US" sz="1600" b="1" dirty="0">
                <a:solidFill>
                  <a:srgbClr val="0000FF"/>
                </a:solidFill>
              </a:rPr>
              <a:t>, 202</a:t>
            </a:r>
            <a:r>
              <a:rPr lang="en-US" altLang="en-US" sz="1600" b="1" dirty="0">
                <a:solidFill>
                  <a:srgbClr val="0000FF"/>
                </a:solidFill>
                <a:ea typeface="SimSun" panose="02010600030101010101" pitchFamily="2" charset="-122"/>
              </a:rPr>
              <a:t>4</a:t>
            </a:r>
            <a:endParaRPr lang="en-US" altLang="en-US" sz="1600" b="1" dirty="0">
              <a:solidFill>
                <a:srgbClr val="0000FF"/>
              </a:solidFill>
            </a:endParaRPr>
          </a:p>
        </p:txBody>
      </p:sp>
      <p:sp>
        <p:nvSpPr>
          <p:cNvPr id="4099" name="TextBox 3">
            <a:extLst>
              <a:ext uri="{FF2B5EF4-FFF2-40B4-BE49-F238E27FC236}">
                <a16:creationId xmlns:a16="http://schemas.microsoft.com/office/drawing/2014/main" id="{4A63734D-64F6-F052-8B9C-9088C3F6F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1.1, 1.2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E9D5D26-856C-273C-C409-7B4F57664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Some Definitions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A7DAC92-AB00-2853-C814-E75AE9E31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066800"/>
            <a:ext cx="7696200" cy="5410200"/>
          </a:xfrm>
        </p:spPr>
        <p:txBody>
          <a:bodyPr/>
          <a:lstStyle/>
          <a:p>
            <a:pPr eaLnBrk="1" hangingPunct="1"/>
            <a:r>
              <a:rPr lang="en-US" altLang="en-US" sz="2200"/>
              <a:t>An </a:t>
            </a:r>
            <a:r>
              <a:rPr lang="en-US" altLang="en-US" sz="2200">
                <a:solidFill>
                  <a:srgbClr val="FF6600"/>
                </a:solidFill>
              </a:rPr>
              <a:t>algorithm</a:t>
            </a:r>
            <a:r>
              <a:rPr lang="en-US" altLang="en-US" sz="2200"/>
              <a:t> is a </a:t>
            </a:r>
            <a:r>
              <a:rPr lang="en-US" altLang="en-US" sz="2200" u="sng"/>
              <a:t>step-by-step</a:t>
            </a:r>
            <a:r>
              <a:rPr lang="en-US" altLang="en-US" sz="2200"/>
              <a:t> procedure for solving a problem in a </a:t>
            </a:r>
            <a:r>
              <a:rPr lang="en-US" altLang="en-US" sz="2200" u="sng"/>
              <a:t>finite</a:t>
            </a:r>
            <a:r>
              <a:rPr lang="en-US" altLang="en-US" sz="2200"/>
              <a:t> amount of time</a:t>
            </a:r>
          </a:p>
          <a:p>
            <a:pPr lvl="1"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A </a:t>
            </a:r>
            <a:r>
              <a:rPr lang="en-US" altLang="en-US" sz="2200">
                <a:solidFill>
                  <a:srgbClr val="FF6600"/>
                </a:solidFill>
              </a:rPr>
              <a:t>data structure</a:t>
            </a:r>
            <a:r>
              <a:rPr lang="en-US" altLang="en-US" sz="2200"/>
              <a:t> is a systematic way of </a:t>
            </a:r>
            <a:r>
              <a:rPr lang="en-US" altLang="en-US" sz="2200" u="sng"/>
              <a:t>organizing</a:t>
            </a:r>
            <a:r>
              <a:rPr lang="en-US" altLang="en-US" sz="2200"/>
              <a:t> and </a:t>
            </a:r>
            <a:r>
              <a:rPr lang="en-US" altLang="en-US" sz="2200" u="sng"/>
              <a:t>accessing</a:t>
            </a:r>
            <a:r>
              <a:rPr lang="en-US" altLang="en-US" sz="2200"/>
              <a:t> data required in an algorithm</a:t>
            </a:r>
          </a:p>
          <a:p>
            <a:pPr lvl="1"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Different algorithms for the same problem</a:t>
            </a:r>
          </a:p>
          <a:p>
            <a:pPr lvl="1" eaLnBrk="1" hangingPunct="1"/>
            <a:r>
              <a:rPr lang="en-US" altLang="en-US" sz="1800" i="1"/>
              <a:t>Example</a:t>
            </a:r>
            <a:r>
              <a:rPr lang="en-US" altLang="en-US" sz="1800"/>
              <a:t>: Finding the maximum of an array 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/>
            <a:r>
              <a:rPr lang="en-US" altLang="en-US" sz="2200"/>
              <a:t>Analysis of</a:t>
            </a:r>
            <a:r>
              <a:rPr lang="en-US" altLang="en-US" sz="2200">
                <a:solidFill>
                  <a:srgbClr val="FF6600"/>
                </a:solidFill>
              </a:rPr>
              <a:t> </a:t>
            </a:r>
            <a:r>
              <a:rPr lang="en-US" altLang="en-US" sz="2200"/>
              <a:t>algorithm: </a:t>
            </a:r>
            <a:r>
              <a:rPr lang="en-US" altLang="en-US" sz="2200">
                <a:solidFill>
                  <a:srgbClr val="FF6600"/>
                </a:solidFill>
              </a:rPr>
              <a:t>good</a:t>
            </a:r>
            <a:r>
              <a:rPr lang="en-US" altLang="en-US" sz="2200"/>
              <a:t> vs. </a:t>
            </a:r>
            <a:r>
              <a:rPr lang="en-US" altLang="en-US" sz="2200">
                <a:solidFill>
                  <a:srgbClr val="FF6600"/>
                </a:solidFill>
              </a:rPr>
              <a:t>bad</a:t>
            </a:r>
            <a:r>
              <a:rPr lang="en-US" altLang="en-US" sz="2200"/>
              <a:t> algorithms</a:t>
            </a:r>
          </a:p>
          <a:p>
            <a:pPr lvl="1" eaLnBrk="1" hangingPunct="1"/>
            <a:r>
              <a:rPr lang="en-US" altLang="en-US" sz="1800" b="1"/>
              <a:t>Running time</a:t>
            </a:r>
          </a:p>
          <a:p>
            <a:pPr lvl="1" eaLnBrk="1" hangingPunct="1"/>
            <a:r>
              <a:rPr lang="en-US" altLang="en-US" sz="1800"/>
              <a:t>Memory space</a:t>
            </a:r>
          </a:p>
          <a:p>
            <a:pPr lvl="1" eaLnBrk="1" hangingPunct="1"/>
            <a:r>
              <a:rPr lang="en-US" altLang="en-US" sz="1800"/>
              <a:t>Robustness (stability)</a:t>
            </a:r>
          </a:p>
          <a:p>
            <a:pPr lvl="1" eaLnBrk="1" hangingPunct="1"/>
            <a:r>
              <a:rPr lang="en-US" altLang="en-US" sz="1800"/>
              <a:t>Complexity</a:t>
            </a:r>
          </a:p>
          <a:p>
            <a:pPr lvl="1" eaLnBrk="1" hangingPunct="1"/>
            <a:r>
              <a:rPr lang="en-US" altLang="en-US" sz="1800"/>
              <a:t>….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B1C587C8-8C19-0168-9CF4-882EB8E60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Running Time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9B5E564-08E1-FB40-CAEB-33671F7BC3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066800"/>
            <a:ext cx="4572000" cy="5257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An algorithm transforms inputs into outputs. 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000" dirty="0"/>
              <a:t>The running time of an algorithm typically grows with the input size. Even with the same input size, the running time can be different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sz="2000" dirty="0">
                <a:solidFill>
                  <a:srgbClr val="C00000"/>
                </a:solidFill>
              </a:rPr>
              <a:t>Our big goal is to design algorithms that scale well (or efficient algorithms)</a:t>
            </a:r>
            <a:endParaRPr lang="en-US" altLang="en-US" sz="2000" dirty="0">
              <a:solidFill>
                <a:srgbClr val="C00000"/>
              </a:solidFill>
            </a:endParaRP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000" dirty="0"/>
              <a:t>We often consider the worst-case running time.</a:t>
            </a:r>
          </a:p>
          <a:p>
            <a:pPr lvl="1" eaLnBrk="1" hangingPunct="1"/>
            <a:r>
              <a:rPr lang="en-US" altLang="en-US" sz="1800" dirty="0"/>
              <a:t>Easier to analyze</a:t>
            </a:r>
          </a:p>
          <a:p>
            <a:pPr lvl="1" eaLnBrk="1" hangingPunct="1"/>
            <a:r>
              <a:rPr lang="en-US" altLang="en-US" sz="1800" dirty="0"/>
              <a:t>Crucial to some applications as games, finance and robotics</a:t>
            </a:r>
            <a:endParaRPr lang="en-US" altLang="en-US" sz="1600" dirty="0"/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9BB5D1F5-6704-B65A-B38A-CA3948216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1666876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929254" imgH="5250634" progId="MSGraph.Chart.8">
                  <p:embed followColorScheme="full"/>
                </p:oleObj>
              </mc:Choice>
              <mc:Fallback>
                <p:oleObj name="Chart" r:id="rId3" imgW="4929254" imgH="5250634" progId="MSGraph.Chart.8">
                  <p:embed followColorScheme="full"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9BB5D1F5-6704-B65A-B38A-CA3948216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666876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0FC2F7E4-6FC4-C05C-9D6A-0E17EB00E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86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FF"/>
                </a:solidFill>
                <a:latin typeface="Comic Sans MS" panose="030F0902030302020204" pitchFamily="66" charset="0"/>
              </a:rPr>
              <a:t>Estimation of Running Time</a:t>
            </a:r>
          </a:p>
        </p:txBody>
      </p:sp>
      <p:sp>
        <p:nvSpPr>
          <p:cNvPr id="2052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06DE050-8D78-B3FB-4809-460426ABC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447800"/>
            <a:ext cx="434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>
                <a:solidFill>
                  <a:srgbClr val="C00000"/>
                </a:solidFill>
              </a:rPr>
              <a:t>    Experimental approach: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Write a program implementing the algorithm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Run the program with inputs of varying sizes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Use a method to get an accurate measure of the actual running time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Plot the results</a:t>
            </a:r>
          </a:p>
        </p:txBody>
      </p:sp>
      <p:graphicFrame>
        <p:nvGraphicFramePr>
          <p:cNvPr id="2050" name="Object 6">
            <a:extLst>
              <a:ext uri="{FF2B5EF4-FFF2-40B4-BE49-F238E27FC236}">
                <a16:creationId xmlns:a16="http://schemas.microsoft.com/office/drawing/2014/main" id="{4C214B28-F259-D623-B222-A6A7C0502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1" y="1600200"/>
          <a:ext cx="442912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536373" imgH="5810289" progId="MSGraph.Chart.8">
                  <p:embed followColorScheme="full"/>
                </p:oleObj>
              </mc:Choice>
              <mc:Fallback>
                <p:oleObj name="Chart" r:id="rId2" imgW="5536373" imgH="5810289" progId="MSGraph.Chart.8">
                  <p:embed followColorScheme="full"/>
                  <p:pic>
                    <p:nvPicPr>
                      <p:cNvPr id="2050" name="Object 6">
                        <a:extLst>
                          <a:ext uri="{FF2B5EF4-FFF2-40B4-BE49-F238E27FC236}">
                            <a16:creationId xmlns:a16="http://schemas.microsoft.com/office/drawing/2014/main" id="{4C214B28-F259-D623-B222-A6A7C0502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600200"/>
                        <a:ext cx="442912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20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C2C683DF-2738-5887-5671-8336CADF8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6096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Limitations of Experimental Approach</a:t>
            </a:r>
          </a:p>
        </p:txBody>
      </p:sp>
      <p:sp>
        <p:nvSpPr>
          <p:cNvPr id="22531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778D0D-209B-D430-628D-D66901A99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1295400"/>
            <a:ext cx="7315200" cy="5105400"/>
          </a:xfrm>
          <a:noFill/>
        </p:spPr>
        <p:txBody>
          <a:bodyPr/>
          <a:lstStyle/>
          <a:p>
            <a:pPr eaLnBrk="1" hangingPunct="1"/>
            <a:r>
              <a:rPr lang="en-US" altLang="en-US" sz="2200">
                <a:solidFill>
                  <a:srgbClr val="C00000"/>
                </a:solidFill>
              </a:rPr>
              <a:t>It is necessary to implement the algorithm, which may be difficult and time consuming. </a:t>
            </a:r>
            <a:r>
              <a:rPr lang="en-US" altLang="en-US" sz="2200"/>
              <a:t>If you have several algorithms to choose for a specific problem, you’ll need to know the implementations of all of them.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Even if you have all the implementations available, in order to compare two algorithms, </a:t>
            </a:r>
            <a:r>
              <a:rPr lang="en-US" altLang="en-US" sz="2200">
                <a:solidFill>
                  <a:srgbClr val="C00000"/>
                </a:solidFill>
              </a:rPr>
              <a:t>the same hardware and software environments must be used</a:t>
            </a:r>
            <a:r>
              <a:rPr lang="en-US" altLang="en-US" sz="2200"/>
              <a:t>. 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>
                <a:solidFill>
                  <a:srgbClr val="C00000"/>
                </a:solidFill>
              </a:rPr>
              <a:t>Experiments can be done only on a limited number of test inputs</a:t>
            </a:r>
            <a:r>
              <a:rPr lang="en-US" altLang="en-US" sz="2200"/>
              <a:t>. Results may not accurately indicate the running time on other inputs not included in the experiment. </a:t>
            </a:r>
          </a:p>
          <a:p>
            <a:pPr eaLnBrk="1" hangingPunct="1"/>
            <a:endParaRPr lang="en-US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DAF59758-35F5-219A-93B2-2F0EB4523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6096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Theoretical Analysis</a:t>
            </a:r>
          </a:p>
        </p:txBody>
      </p:sp>
      <p:sp>
        <p:nvSpPr>
          <p:cNvPr id="23555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FC3CAE-35D5-6F36-55D7-A9C847ECB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066800"/>
            <a:ext cx="7620000" cy="5334000"/>
          </a:xfrm>
          <a:noFill/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200" dirty="0"/>
              <a:t>Uses a high-level description of the algorithm instead of an implementation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Takes into account all possible inputs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Allows us to evaluate the speed of an algorithm independent of the hardware/software environment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Characterizes running time as a function of the input size, such as </a:t>
            </a:r>
            <a:r>
              <a:rPr lang="en-US" altLang="en-US" sz="2200" i="1" dirty="0">
                <a:solidFill>
                  <a:srgbClr val="FF6600"/>
                </a:solidFill>
              </a:rPr>
              <a:t>f(n)</a:t>
            </a:r>
            <a:r>
              <a:rPr lang="en-US" altLang="en-US" sz="2200" i="1" dirty="0"/>
              <a:t>.</a:t>
            </a:r>
          </a:p>
          <a:p>
            <a:pPr eaLnBrk="1" hangingPunct="1"/>
            <a:endParaRPr lang="en-US" altLang="en-US" sz="1600" i="1" dirty="0"/>
          </a:p>
          <a:p>
            <a:pPr eaLnBrk="1" hangingPunct="1">
              <a:buFontTx/>
              <a:buNone/>
            </a:pPr>
            <a:r>
              <a:rPr lang="en-US" altLang="en-US" sz="2000" i="1" dirty="0"/>
              <a:t>	</a:t>
            </a:r>
            <a:r>
              <a:rPr lang="en-US" altLang="en-US" sz="1800" b="1" i="1" dirty="0"/>
              <a:t>Example 1:</a:t>
            </a:r>
            <a:r>
              <a:rPr lang="en-US" altLang="en-US" sz="1800" i="1" dirty="0"/>
              <a:t> </a:t>
            </a:r>
            <a:r>
              <a:rPr lang="en-US" altLang="en-US" sz="1800" dirty="0"/>
              <a:t>Algorithm A running in time proportional to </a:t>
            </a:r>
            <a:r>
              <a:rPr lang="en-US" altLang="en-US" sz="1800" i="1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means that the running time of A on any input of size </a:t>
            </a:r>
            <a:r>
              <a:rPr lang="en-US" altLang="en-US" sz="1800" i="1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is </a:t>
            </a:r>
            <a:r>
              <a:rPr lang="en-US" altLang="en-US" sz="1800" i="1" dirty="0" err="1">
                <a:solidFill>
                  <a:srgbClr val="FF6600"/>
                </a:solidFill>
              </a:rPr>
              <a:t>cn</a:t>
            </a:r>
            <a:r>
              <a:rPr lang="en-US" altLang="en-US" sz="1800" dirty="0"/>
              <a:t>, where </a:t>
            </a:r>
            <a:r>
              <a:rPr lang="en-US" altLang="en-US" sz="1800" i="1" dirty="0">
                <a:solidFill>
                  <a:srgbClr val="FF6600"/>
                </a:solidFill>
              </a:rPr>
              <a:t>c</a:t>
            </a:r>
            <a:r>
              <a:rPr lang="en-US" altLang="en-US" sz="1800" dirty="0"/>
              <a:t> a constant.</a:t>
            </a:r>
          </a:p>
          <a:p>
            <a:pPr eaLnBrk="1" hangingPunct="1">
              <a:buFontTx/>
              <a:buNone/>
            </a:pPr>
            <a:endParaRPr lang="en-US" altLang="en-US" sz="1200" dirty="0"/>
          </a:p>
          <a:p>
            <a:pPr eaLnBrk="1" hangingPunct="1"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b="1" i="1" dirty="0"/>
              <a:t>Example 2</a:t>
            </a:r>
            <a:r>
              <a:rPr lang="en-US" altLang="en-US" sz="1800" dirty="0"/>
              <a:t>: If A runs in time proportional to </a:t>
            </a:r>
            <a:r>
              <a:rPr lang="en-US" altLang="en-US" sz="1800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and B runs in time proportional to </a:t>
            </a:r>
            <a:r>
              <a:rPr lang="en-US" altLang="en-US" sz="1800" dirty="0">
                <a:solidFill>
                  <a:srgbClr val="FF6600"/>
                </a:solidFill>
              </a:rPr>
              <a:t>n</a:t>
            </a:r>
            <a:r>
              <a:rPr lang="en-US" altLang="en-US" sz="1800" baseline="30000" dirty="0">
                <a:solidFill>
                  <a:srgbClr val="FF6600"/>
                </a:solidFill>
              </a:rPr>
              <a:t>2</a:t>
            </a:r>
            <a:r>
              <a:rPr lang="en-US" altLang="en-US" sz="1800" dirty="0"/>
              <a:t>, then A is preferred.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">
            <a:extLst>
              <a:ext uri="{FF2B5EF4-FFF2-40B4-BE49-F238E27FC236}">
                <a16:creationId xmlns:a16="http://schemas.microsoft.com/office/drawing/2014/main" id="{52274F2B-FDAA-4CC9-D8BB-A5A47EAC5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6096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Pseudocode</a:t>
            </a:r>
          </a:p>
        </p:txBody>
      </p:sp>
      <p:sp>
        <p:nvSpPr>
          <p:cNvPr id="24579" name="Rectangle 1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4E1D9E-701E-69F7-3F42-08A26A39CE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4267200" cy="4648200"/>
          </a:xfrm>
          <a:noFill/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High-level description of an algorithm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More structured than English words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Less detailed and more readable than a program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Preferred notation for describing algorithms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Hides program design issues</a:t>
            </a:r>
          </a:p>
        </p:txBody>
      </p:sp>
      <p:sp>
        <p:nvSpPr>
          <p:cNvPr id="24580" name="Text Box 14">
            <a:extLst>
              <a:ext uri="{FF2B5EF4-FFF2-40B4-BE49-F238E27FC236}">
                <a16:creationId xmlns:a16="http://schemas.microsoft.com/office/drawing/2014/main" id="{CE92CC6F-6C46-AC64-8770-2934DB769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668588"/>
            <a:ext cx="3733800" cy="2436812"/>
          </a:xfrm>
          <a:prstGeom prst="rect">
            <a:avLst/>
          </a:prstGeom>
          <a:noFill/>
          <a:ln w="9525">
            <a:solidFill>
              <a:srgbClr val="57705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/>
            <a:r>
              <a:rPr lang="en-US" altLang="en-US" b="1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 integers</a:t>
            </a:r>
          </a:p>
          <a:p>
            <a:pPr algn="l" eaLnBrk="1" hangingPunct="1"/>
            <a:r>
              <a:rPr lang="en-US" altLang="en-US" b="1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maximum element of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A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[0]</a:t>
            </a:r>
            <a:endParaRPr lang="en-US" altLang="en-US">
              <a:solidFill>
                <a:srgbClr val="57705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  1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] 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>
              <a:solidFill>
                <a:srgbClr val="40458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Text Box 15">
            <a:extLst>
              <a:ext uri="{FF2B5EF4-FFF2-40B4-BE49-F238E27FC236}">
                <a16:creationId xmlns:a16="http://schemas.microsoft.com/office/drawing/2014/main" id="{666F84A7-88AD-F72D-B481-7CC10A6F2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595439"/>
            <a:ext cx="3581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40458C"/>
                </a:solidFill>
                <a:latin typeface="Tahoma" panose="020B0604030504040204" pitchFamily="34" charset="0"/>
              </a:rPr>
              <a:t>Example of Pseudocode: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 i="1">
                <a:solidFill>
                  <a:srgbClr val="40458C"/>
                </a:solidFill>
                <a:latin typeface="Tahoma" panose="020B0604030504040204" pitchFamily="34" charset="0"/>
              </a:rPr>
              <a:t>Find max element of an array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8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allAtOnce" animBg="1"/>
      <p:bldP spid="24581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F7E74BC-6A7F-A13C-FEF7-D6E859ECE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Pseudocode Details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6BD6881-E686-B13C-413E-DB618F66AFB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676400"/>
            <a:ext cx="4267200" cy="4419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200"/>
              <a:t>Method declaration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Algorithm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method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[,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…])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	Input …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	Output …</a:t>
            </a:r>
          </a:p>
          <a:p>
            <a:pPr lvl="1" eaLnBrk="1" hangingPunct="1">
              <a:buFontTx/>
              <a:buNone/>
            </a:pPr>
            <a:endParaRPr lang="en-US" altLang="en-US" sz="18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200"/>
              <a:t>Control flow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if … then … [else …]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while … do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repeat … until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for … do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Indentation replaces braces</a:t>
            </a:r>
          </a:p>
          <a:p>
            <a:pPr lvl="1" eaLnBrk="1" hangingPunct="1"/>
            <a:endParaRPr lang="en-US" altLang="en-US" sz="1600">
              <a:solidFill>
                <a:srgbClr val="0000FF"/>
              </a:solidFill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9DA98C26-0BD6-44F3-C2F1-75228AB96FF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0" y="1676400"/>
            <a:ext cx="3657600" cy="43370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Method call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 i="1">
                <a:solidFill>
                  <a:srgbClr val="0000FF"/>
                </a:solidFill>
                <a:latin typeface="Times New Roman" panose="02020603050405020304" pitchFamily="18" charset="0"/>
              </a:rPr>
              <a:t>object.method 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Return value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expression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Expressions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Char char="¬"/>
            </a:pPr>
            <a:r>
              <a:rPr lang="en-US" altLang="en-US" sz="1800">
                <a:sym typeface="Symbol" pitchFamily="2" charset="2"/>
              </a:rPr>
              <a:t>Assignment</a:t>
            </a:r>
            <a:br>
              <a:rPr lang="en-US" altLang="en-US" sz="1800">
                <a:sym typeface="Symbol" pitchFamily="2" charset="2"/>
              </a:rPr>
            </a:br>
            <a:r>
              <a:rPr lang="en-US" altLang="en-US" sz="1800">
                <a:sym typeface="Symbol" pitchFamily="2" charset="2"/>
              </a:rPr>
              <a:t>(like 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 </a:t>
            </a:r>
            <a:r>
              <a:rPr lang="en-US" altLang="en-US" sz="1800">
                <a:sym typeface="Symbol" pitchFamily="2" charset="2"/>
              </a:rPr>
              <a:t>in C)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Char char="="/>
            </a:pPr>
            <a:r>
              <a:rPr lang="en-US" altLang="en-US" sz="1800">
                <a:sym typeface="Symbol" pitchFamily="2" charset="2"/>
              </a:rPr>
              <a:t>Equality testing</a:t>
            </a:r>
            <a:br>
              <a:rPr lang="en-US" altLang="en-US" sz="1800">
                <a:sym typeface="Symbol" pitchFamily="2" charset="2"/>
              </a:rPr>
            </a:br>
            <a:r>
              <a:rPr lang="en-US" altLang="en-US" sz="1800">
                <a:sym typeface="Symbol" pitchFamily="2" charset="2"/>
              </a:rPr>
              <a:t>(like 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 in C)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itchFamily="2" charset="2"/>
              </a:rPr>
              <a:t>n</a:t>
            </a:r>
            <a:r>
              <a:rPr lang="en-US" altLang="en-US" sz="1800" baseline="30000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itchFamily="2" charset="2"/>
              </a:rPr>
              <a:t>2	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Superscripts and other mathematical formatting allowed</a:t>
            </a:r>
            <a:endParaRPr lang="en-US" altLang="en-US" sz="1800" baseline="30000">
              <a:cs typeface="Tahoma" panose="020B0604030504040204" pitchFamily="34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427A844-8709-F847-9D1B-0F1C0A789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Primitive Operations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3602999-3842-5F44-3BF2-DF3C90D5785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05000" y="1219200"/>
            <a:ext cx="3962400" cy="33528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Basic computations performed by an algorithm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Identifiable in pseudocode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Largely independent from the programming language or hardware environment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D15ABA05-4762-2E03-21F0-ACEA5FFEF92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0" y="1219200"/>
            <a:ext cx="4038600" cy="4191000"/>
          </a:xfrm>
        </p:spPr>
        <p:txBody>
          <a:bodyPr/>
          <a:lstStyle/>
          <a:p>
            <a:pPr eaLnBrk="1" hangingPunct="1"/>
            <a:r>
              <a:rPr lang="en-US" altLang="en-US" sz="2200"/>
              <a:t>Examples:</a:t>
            </a:r>
          </a:p>
          <a:p>
            <a:pPr lvl="1" eaLnBrk="1" hangingPunct="1"/>
            <a:r>
              <a:rPr lang="en-US" altLang="en-US" sz="1800"/>
              <a:t>Evaluating an expression (e.g., addition, subtraction, etc.)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Assigning a value to a variable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Comparing two numbers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Indexing into an array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Calling a method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Returning from a method</a:t>
            </a:r>
          </a:p>
        </p:txBody>
      </p:sp>
      <p:sp>
        <p:nvSpPr>
          <p:cNvPr id="26629" name="Text Box 6">
            <a:extLst>
              <a:ext uri="{FF2B5EF4-FFF2-40B4-BE49-F238E27FC236}">
                <a16:creationId xmlns:a16="http://schemas.microsoft.com/office/drawing/2014/main" id="{F6F232A0-AD9F-7C8F-0891-09C18C33E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410200"/>
            <a:ext cx="82296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</a:rPr>
              <a:t>The idea: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Count the number of primitive operations, to estimate the running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BC0689D-DCA4-EBD4-C679-D640248CC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Counting Primitive Operations: Iterative Algorithms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A2DABF6-E12D-1348-39BF-E5755045F2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219200"/>
            <a:ext cx="8077200" cy="99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By inspecting the pseudocode, we can determine the </a:t>
            </a:r>
            <a:r>
              <a:rPr lang="en-US" altLang="en-US" sz="2200">
                <a:solidFill>
                  <a:srgbClr val="C00000"/>
                </a:solidFill>
              </a:rPr>
              <a:t>maximum number of primitive operations </a:t>
            </a:r>
            <a:r>
              <a:rPr lang="en-US" altLang="en-US" sz="2200"/>
              <a:t>executed by an algorithm</a:t>
            </a:r>
            <a:r>
              <a:rPr lang="en-US" altLang="en-US" sz="2200">
                <a:solidFill>
                  <a:srgbClr val="C00000"/>
                </a:solidFill>
              </a:rPr>
              <a:t>, as a function of the input size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45CEFA29-8A56-1ADC-A861-0A0F84B47FB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514600" y="2743200"/>
            <a:ext cx="7010400" cy="3276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1800" dirty="0"/>
              <a:t># operations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[0]	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	    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(if </a:t>
            </a:r>
            <a:r>
              <a:rPr lang="en-US" altLang="en-US" sz="1800" dirty="0" err="1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 &lt; n?)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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</a:t>
            </a:r>
            <a:endParaRPr lang="en-US" altLang="en-US" sz="1800" b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(Y/N?)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{ increment counter </a:t>
            </a:r>
            <a:r>
              <a:rPr lang="en-US" altLang="en-US" sz="1800" b="1" i="1" dirty="0" err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}			     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at least:         5n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(N)</a:t>
            </a: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at most:	     7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 2 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(Y)</a:t>
            </a: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5E0D297-64D8-A032-30F7-4704E5825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Counting Primitive Operations: Recursive Algorithms</a:t>
            </a: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06AB725E-4452-D983-E43B-FB95D63873E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2743200"/>
            <a:ext cx="7620000" cy="35814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recursive</a:t>
            </a:r>
            <a:r>
              <a:rPr lang="en-US" altLang="en-US" sz="2000" b="1" i="1">
                <a:latin typeface="Times New Roman" panose="02020603050405020304" pitchFamily="18" charset="0"/>
              </a:rPr>
              <a:t>Max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000"/>
              <a:t># operations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n = 1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    	    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1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return A[0]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     	    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max{recursiveMax(A,n-1),A[n-1]}  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6 + 1 (the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above)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base (n=1):  3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recursive:    T(n) = T(n-1) + 7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                                                         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Total:          T(n) = 7n - 4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267813-0CB5-C6F6-8FF4-961C1F156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19200"/>
            <a:ext cx="8077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200" kern="0"/>
              <a:t>By inspecting the pseudocode, we can determine the </a:t>
            </a:r>
            <a:r>
              <a:rPr lang="en-US" sz="2200" kern="0">
                <a:solidFill>
                  <a:srgbClr val="C00000"/>
                </a:solidFill>
              </a:rPr>
              <a:t>maximum number of primitive operations </a:t>
            </a:r>
            <a:r>
              <a:rPr lang="en-US" sz="2200" kern="0"/>
              <a:t>executed by an algorithm</a:t>
            </a:r>
            <a:r>
              <a:rPr lang="en-US" sz="2200" kern="0">
                <a:solidFill>
                  <a:srgbClr val="C00000"/>
                </a:solidFill>
              </a:rPr>
              <a:t>, as a function of the input size</a:t>
            </a:r>
            <a:endParaRPr lang="en-US" sz="2200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1513DE3-B444-BF78-2F5F-CDDF4B131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Estimating Running Time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77030FD-84A9-9651-F4FE-43BB1B9EBCA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752600"/>
            <a:ext cx="8001000" cy="4648200"/>
          </a:xfrm>
        </p:spPr>
        <p:txBody>
          <a:bodyPr/>
          <a:lstStyle/>
          <a:p>
            <a:pPr eaLnBrk="1" hangingPunct="1"/>
            <a:r>
              <a:rPr lang="en-US" altLang="en-US" sz="2200"/>
              <a:t>Algorithm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</a:t>
            </a:r>
            <a:r>
              <a:rPr lang="en-US" altLang="en-US" sz="2200"/>
              <a:t> executes 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7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2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2200"/>
              <a:t>primitive operations in the worst case.  Define:</a:t>
            </a:r>
          </a:p>
          <a:p>
            <a:pPr lvl="1" eaLnBrk="1" hangingPunct="1">
              <a:buFont typeface="Times New Roman" panose="02020603050405020304" pitchFamily="18" charset="0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/>
              <a:t>	= Actual time taken by the fastest primitive operation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/>
              <a:t> 	= Actual time taken by the slowest primitive operation</a:t>
            </a:r>
          </a:p>
          <a:p>
            <a:pPr lvl="1" eaLnBrk="1" hangingPunct="1">
              <a:buFontTx/>
              <a:buNone/>
            </a:pPr>
            <a:endParaRPr lang="en-US" altLang="en-US" sz="1800"/>
          </a:p>
          <a:p>
            <a:pPr eaLnBrk="1" hangingPunct="1"/>
            <a:r>
              <a:rPr lang="en-US" altLang="en-US" sz="2200"/>
              <a:t>Let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be worst-case time of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arrayMax.</a:t>
            </a:r>
            <a:r>
              <a:rPr lang="en-US" altLang="en-US" sz="2200" b="1">
                <a:latin typeface="Times New Roman" panose="02020603050405020304" pitchFamily="18" charset="0"/>
              </a:rPr>
              <a:t> </a:t>
            </a:r>
            <a:r>
              <a:rPr lang="en-US" altLang="en-US" sz="2200"/>
              <a:t>Then</a:t>
            </a:r>
            <a:br>
              <a:rPr lang="en-US" altLang="en-US" sz="2000"/>
            </a:br>
            <a:r>
              <a:rPr lang="en-US" altLang="en-US" sz="2000"/>
              <a:t>		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a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(7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/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(7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2)</a:t>
            </a:r>
          </a:p>
          <a:p>
            <a:pPr eaLnBrk="1" hangingPunct="1"/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en-US" sz="2200"/>
              <a:t>Hence, the running time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bounded by two linear functions</a:t>
            </a:r>
            <a:endParaRPr lang="en-US" altLang="en-US" sz="22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21AB556-0471-3409-17A3-7DEABF212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Growth Rate of Running Time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D8D21D0-7227-A190-E80D-F3A537C1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905000"/>
            <a:ext cx="7620000" cy="3048000"/>
          </a:xfrm>
        </p:spPr>
        <p:txBody>
          <a:bodyPr/>
          <a:lstStyle/>
          <a:p>
            <a:pPr eaLnBrk="1" hangingPunct="1"/>
            <a:r>
              <a:rPr lang="en-US" altLang="en-US" sz="2200"/>
              <a:t>Changing the hardware/software environments </a:t>
            </a:r>
          </a:p>
          <a:p>
            <a:pPr lvl="1" eaLnBrk="1" hangingPunct="1"/>
            <a:r>
              <a:rPr lang="en-US" altLang="en-US" sz="1800"/>
              <a:t>Affects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/>
              <a:t> by a constant factor, but</a:t>
            </a:r>
          </a:p>
          <a:p>
            <a:pPr lvl="1" eaLnBrk="1" hangingPunct="1"/>
            <a:r>
              <a:rPr lang="en-US" altLang="en-US" sz="1800"/>
              <a:t>Does not alter the growth rate of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2200"/>
              <a:t>The </a:t>
            </a:r>
            <a:r>
              <a:rPr lang="en-US" altLang="en-US" sz="2200">
                <a:solidFill>
                  <a:srgbClr val="C00000"/>
                </a:solidFill>
              </a:rPr>
              <a:t>linear growth rate </a:t>
            </a:r>
            <a:r>
              <a:rPr lang="en-US" altLang="en-US" sz="2200"/>
              <a:t>of the running time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an intrinsic property of algorithm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</a:t>
            </a:r>
            <a:endParaRPr lang="en-US" altLang="en-US"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C6D7ECC0-57FB-7541-B2B9-3355A84A2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6858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Growth Rates</a:t>
            </a:r>
          </a:p>
        </p:txBody>
      </p:sp>
      <p:sp>
        <p:nvSpPr>
          <p:cNvPr id="3076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B0AB0F5-16A8-79BB-D829-0E128DD5E2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524000"/>
            <a:ext cx="3733800" cy="4419600"/>
          </a:xfrm>
          <a:noFill/>
        </p:spPr>
        <p:txBody>
          <a:bodyPr/>
          <a:lstStyle/>
          <a:p>
            <a:pPr eaLnBrk="1" hangingPunct="1"/>
            <a:r>
              <a:rPr lang="en-US" altLang="en-US" sz="2200"/>
              <a:t>Growth rates of functions:</a:t>
            </a:r>
          </a:p>
          <a:p>
            <a:pPr lvl="1" eaLnBrk="1" hangingPunct="1"/>
            <a:r>
              <a:rPr lang="en-US" altLang="en-US"/>
              <a:t>Linear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lvl="1" eaLnBrk="1" hangingPunct="1"/>
            <a:r>
              <a:rPr lang="en-US" altLang="en-US"/>
              <a:t>Quadratic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  <a:p>
            <a:pPr lvl="1" eaLnBrk="1" hangingPunct="1"/>
            <a:r>
              <a:rPr lang="en-US" altLang="en-US"/>
              <a:t>Cubic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baseline="30000"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  <a:p>
            <a:pPr lvl="1" eaLnBrk="1" hangingPunct="1"/>
            <a:endParaRPr lang="en-US" altLang="en-US" sz="1600" b="1" baseline="3000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baseline="30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200"/>
              <a:t>In a log-log chart, the slope of the line corresponds to the growth rate of the function</a:t>
            </a:r>
          </a:p>
          <a:p>
            <a:pPr eaLnBrk="1" hangingPunct="1"/>
            <a:endParaRPr lang="en-US" altLang="en-US" sz="1800"/>
          </a:p>
        </p:txBody>
      </p:sp>
      <p:graphicFrame>
        <p:nvGraphicFramePr>
          <p:cNvPr id="3074" name="Object 6">
            <a:extLst>
              <a:ext uri="{FF2B5EF4-FFF2-40B4-BE49-F238E27FC236}">
                <a16:creationId xmlns:a16="http://schemas.microsoft.com/office/drawing/2014/main" id="{81CC0E09-9217-4F19-C1A8-B25408D65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6" y="1447801"/>
          <a:ext cx="51339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465643" imgH="7536267" progId="Excel.Chart.8">
                  <p:embed followColorScheme="full"/>
                </p:oleObj>
              </mc:Choice>
              <mc:Fallback>
                <p:oleObj name="Chart" r:id="rId2" imgW="8465643" imgH="7536267" progId="Excel.Chart.8">
                  <p:embed followColorScheme="full"/>
                  <p:pic>
                    <p:nvPicPr>
                      <p:cNvPr id="3074" name="Object 6">
                        <a:extLst>
                          <a:ext uri="{FF2B5EF4-FFF2-40B4-BE49-F238E27FC236}">
                            <a16:creationId xmlns:a16="http://schemas.microsoft.com/office/drawing/2014/main" id="{81CC0E09-9217-4F19-C1A8-B25408D65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6" y="1447801"/>
                        <a:ext cx="5133975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8008ECAB-885C-FF5B-26D5-456831A36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1" y="1524000"/>
          <a:ext cx="53054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084997" imgH="6880884" progId="Excel.Chart.8">
                  <p:embed followColorScheme="full"/>
                </p:oleObj>
              </mc:Choice>
              <mc:Fallback>
                <p:oleObj name="Chart" r:id="rId2" imgW="8084997" imgH="6880884" progId="Excel.Chart.8">
                  <p:embed followColorScheme="full"/>
                  <p:pic>
                    <p:nvPicPr>
                      <p:cNvPr id="4098" name="Object 4">
                        <a:extLst>
                          <a:ext uri="{FF2B5EF4-FFF2-40B4-BE49-F238E27FC236}">
                            <a16:creationId xmlns:a16="http://schemas.microsoft.com/office/drawing/2014/main" id="{8008ECAB-885C-FF5B-26D5-456831A36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1524000"/>
                        <a:ext cx="530542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5">
            <a:extLst>
              <a:ext uri="{FF2B5EF4-FFF2-40B4-BE49-F238E27FC236}">
                <a16:creationId xmlns:a16="http://schemas.microsoft.com/office/drawing/2014/main" id="{32C1A671-0840-1E93-D965-BACF5CA1F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6858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Constant Factors</a:t>
            </a:r>
          </a:p>
        </p:txBody>
      </p:sp>
      <p:sp>
        <p:nvSpPr>
          <p:cNvPr id="4100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5C61520-874A-F9E1-DFF2-A224B5AD5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3048000" cy="35052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200"/>
              <a:t>The growth rate is not affected by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constant factors or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lower-order terms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br>
              <a:rPr lang="en-US" altLang="en-US" sz="1800"/>
            </a:b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2200"/>
              <a:t>Examples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Symbol" pitchFamily="2" charset="2"/>
              </a:rPr>
              <a:t>102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="1">
                <a:sym typeface="Symbol" pitchFamily="2" charset="2"/>
              </a:rPr>
              <a:t> + </a:t>
            </a:r>
            <a:r>
              <a:rPr lang="en-US" altLang="en-US" sz="1800">
                <a:sym typeface="Symbol" pitchFamily="2" charset="2"/>
              </a:rPr>
              <a:t>105 </a:t>
            </a:r>
            <a:r>
              <a:rPr lang="en-US" altLang="en-US" sz="1800"/>
              <a:t>is a linear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Symbol" pitchFamily="2" charset="2"/>
              </a:rPr>
              <a:t>105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</a:t>
            </a:r>
            <a:r>
              <a:rPr lang="en-US" altLang="en-US" sz="1800" b="1">
                <a:sym typeface="Symbol" pitchFamily="2" charset="2"/>
              </a:rPr>
              <a:t>+</a:t>
            </a:r>
            <a:r>
              <a:rPr lang="en-US" altLang="en-US" sz="1800">
                <a:sym typeface="Symbol" pitchFamily="2" charset="2"/>
              </a:rPr>
              <a:t> 108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</a:t>
            </a:r>
            <a:r>
              <a:rPr lang="en-US" altLang="en-US" sz="1800"/>
              <a:t>is a quadratic 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86EFEC2D-F2F2-D5EF-825B-E0445D3A7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3526" y="1447800"/>
          <a:ext cx="532447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380043" imgH="7619842" progId="Excel.Chart.8">
                  <p:embed followColorScheme="full"/>
                </p:oleObj>
              </mc:Choice>
              <mc:Fallback>
                <p:oleObj name="Chart" r:id="rId2" imgW="9380043" imgH="7619842" progId="Excel.Chart.8">
                  <p:embed followColorScheme="full"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86EFEC2D-F2F2-D5EF-825B-E0445D3A7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6" y="1447800"/>
                        <a:ext cx="5324475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5">
            <a:extLst>
              <a:ext uri="{FF2B5EF4-FFF2-40B4-BE49-F238E27FC236}">
                <a16:creationId xmlns:a16="http://schemas.microsoft.com/office/drawing/2014/main" id="{EB897365-0B01-6FC7-8B93-60A8B8372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6096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Big-Oh Notation</a:t>
            </a:r>
          </a:p>
        </p:txBody>
      </p:sp>
      <p:sp>
        <p:nvSpPr>
          <p:cNvPr id="5124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6CD84C-531A-B80B-195F-BE95F5DD7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3733800" cy="4876800"/>
          </a:xfrm>
          <a:noFill/>
        </p:spPr>
        <p:txBody>
          <a:bodyPr/>
          <a:lstStyle/>
          <a:p>
            <a:pPr eaLnBrk="1" hangingPunct="1"/>
            <a:r>
              <a:rPr lang="en-US" altLang="en-US" sz="2000" dirty="0"/>
              <a:t>Given functions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, </a:t>
            </a:r>
            <a:r>
              <a:rPr lang="en-US" altLang="en-US" sz="2000" dirty="0"/>
              <a:t>we say that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if there are positive constants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c</a:t>
            </a:r>
            <a:r>
              <a:rPr lang="en-US" altLang="en-US" sz="2000" dirty="0">
                <a:solidFill>
                  <a:srgbClr val="FF66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baseline="-25000" dirty="0">
                <a:solidFill>
                  <a:srgbClr val="FF6600"/>
                </a:solidFill>
                <a:sym typeface="Symbol" pitchFamily="2" charset="2"/>
              </a:rPr>
              <a:t>0</a:t>
            </a:r>
            <a:r>
              <a:rPr lang="en-US" altLang="en-US" sz="2000" dirty="0"/>
              <a:t> such that:</a:t>
            </a:r>
          </a:p>
          <a:p>
            <a:pPr eaLnBrk="1" hangingPunct="1">
              <a:buFontTx/>
              <a:buNone/>
            </a:pPr>
            <a:r>
              <a:rPr lang="en-US" altLang="en-US" sz="2000" i="1" dirty="0">
                <a:sym typeface="Symbol" pitchFamily="2" charset="2"/>
              </a:rPr>
              <a:t>	f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2" charset="2"/>
              </a:rPr>
              <a:t>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cg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  </a:t>
            </a:r>
            <a:r>
              <a:rPr lang="en-US" altLang="en-US" sz="2000" dirty="0"/>
              <a:t>for </a:t>
            </a:r>
            <a:r>
              <a:rPr lang="en-US" altLang="en-US" sz="2000" i="1" dirty="0">
                <a:sym typeface="Symbol" pitchFamily="2" charset="2"/>
              </a:rPr>
              <a:t>n </a:t>
            </a:r>
            <a:r>
              <a:rPr lang="en-US" altLang="en-US" sz="2000" dirty="0">
                <a:sym typeface="Symbol" pitchFamily="2" charset="2"/>
              </a:rPr>
              <a:t>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baseline="-25000" dirty="0">
                <a:sym typeface="Symbol" pitchFamily="2" charset="2"/>
              </a:rPr>
              <a:t>0</a:t>
            </a:r>
          </a:p>
          <a:p>
            <a:pPr eaLnBrk="1" hangingPunct="1"/>
            <a:endParaRPr lang="en-US" altLang="en-US" sz="2000" dirty="0">
              <a:sym typeface="Symbol" pitchFamily="2" charset="2"/>
            </a:endParaRPr>
          </a:p>
          <a:p>
            <a:pPr eaLnBrk="1" hangingPunct="1"/>
            <a:r>
              <a:rPr lang="en-US" altLang="en-US" sz="2000" dirty="0"/>
              <a:t>Example: </a:t>
            </a:r>
            <a:r>
              <a:rPr lang="en-US" altLang="en-US" sz="2000" dirty="0">
                <a:sym typeface="Symbol" pitchFamily="2" charset="2"/>
              </a:rPr>
              <a:t>2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 + 10 is </a:t>
            </a:r>
            <a:r>
              <a:rPr lang="en-US" altLang="en-US" sz="2000" i="1" dirty="0">
                <a:sym typeface="Symbol" pitchFamily="2" charset="2"/>
              </a:rPr>
              <a:t>O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2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dirty="0">
                <a:sym typeface="Symbol" pitchFamily="2" charset="2"/>
              </a:rPr>
              <a:t> + 10</a:t>
            </a:r>
            <a:r>
              <a:rPr lang="en-US" altLang="en-US" i="1" dirty="0">
                <a:sym typeface="Symbol" pitchFamily="2" charset="2"/>
              </a:rPr>
              <a:t> </a:t>
            </a:r>
            <a:r>
              <a:rPr lang="en-US" altLang="en-US" dirty="0">
                <a:sym typeface="Symbol" pitchFamily="2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i="1" dirty="0" err="1">
                <a:sym typeface="Symbol" pitchFamily="2" charset="2"/>
              </a:rPr>
              <a:t>cn</a:t>
            </a:r>
            <a:endParaRPr lang="en-US" altLang="en-US" i="1" dirty="0">
              <a:sym typeface="Symbol" pitchFamily="2" charset="2"/>
            </a:endParaRP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(</a:t>
            </a:r>
            <a:r>
              <a:rPr lang="en-US" altLang="en-US" i="1" dirty="0">
                <a:sym typeface="Symbol" pitchFamily="2" charset="2"/>
              </a:rPr>
              <a:t>c</a:t>
            </a:r>
            <a:r>
              <a:rPr lang="en-US" altLang="en-US" dirty="0">
                <a:sym typeface="Symbol" pitchFamily="2" charset="2"/>
              </a:rPr>
              <a:t>  2) </a:t>
            </a:r>
            <a:r>
              <a:rPr lang="en-US" altLang="en-US" i="1" dirty="0">
                <a:sym typeface="Symbol" pitchFamily="2" charset="2"/>
              </a:rPr>
              <a:t>n </a:t>
            </a:r>
            <a:r>
              <a:rPr lang="en-US" altLang="en-US" dirty="0">
                <a:sym typeface="Symbol" pitchFamily="2" charset="2"/>
              </a:rPr>
              <a:t> 10</a:t>
            </a:r>
          </a:p>
          <a:p>
            <a:pPr lvl="1" eaLnBrk="1" hangingPunct="1"/>
            <a:r>
              <a:rPr lang="en-US" altLang="en-US" i="1" dirty="0">
                <a:sym typeface="Symbol" pitchFamily="2" charset="2"/>
              </a:rPr>
              <a:t>n </a:t>
            </a:r>
            <a:r>
              <a:rPr lang="en-US" altLang="en-US" dirty="0">
                <a:sym typeface="Symbol" pitchFamily="2" charset="2"/>
              </a:rPr>
              <a:t> 10/(</a:t>
            </a:r>
            <a:r>
              <a:rPr lang="en-US" altLang="en-US" i="1" dirty="0">
                <a:sym typeface="Symbol" pitchFamily="2" charset="2"/>
              </a:rPr>
              <a:t>c</a:t>
            </a:r>
            <a:r>
              <a:rPr lang="en-US" altLang="en-US" dirty="0">
                <a:sym typeface="Symbol" pitchFamily="2" charset="2"/>
              </a:rPr>
              <a:t>  2)</a:t>
            </a:r>
          </a:p>
          <a:p>
            <a:pPr lvl="1" eaLnBrk="1" hangingPunct="1"/>
            <a:r>
              <a:rPr lang="en-US" altLang="en-US" dirty="0"/>
              <a:t>Pick </a:t>
            </a:r>
            <a:r>
              <a:rPr lang="en-US" altLang="en-US" i="1" dirty="0">
                <a:sym typeface="Symbol" pitchFamily="2" charset="2"/>
              </a:rPr>
              <a:t>c </a:t>
            </a:r>
            <a:r>
              <a:rPr lang="en-US" altLang="en-US" dirty="0">
                <a:sym typeface="Symbol" pitchFamily="2" charset="2"/>
              </a:rPr>
              <a:t>= 3 </a:t>
            </a:r>
            <a:r>
              <a:rPr lang="en-US" altLang="en-US" dirty="0"/>
              <a:t>and 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baseline="-25000" dirty="0">
                <a:sym typeface="Symbol" pitchFamily="2" charset="2"/>
              </a:rPr>
              <a:t>0</a:t>
            </a:r>
            <a:r>
              <a:rPr lang="en-US" altLang="en-US" dirty="0">
                <a:sym typeface="Symbol" pitchFamily="2" charset="2"/>
              </a:rPr>
              <a:t> = 10</a:t>
            </a: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Or pick c = 4 and 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baseline="-25000" dirty="0">
                <a:sym typeface="Symbol" pitchFamily="2" charset="2"/>
              </a:rPr>
              <a:t>0</a:t>
            </a:r>
            <a:r>
              <a:rPr lang="en-US" altLang="en-US" dirty="0">
                <a:sym typeface="Symbol" pitchFamily="2" charset="2"/>
              </a:rPr>
              <a:t> = 5</a:t>
            </a:r>
            <a:endParaRPr lang="en-US" altLang="en-US" dirty="0"/>
          </a:p>
          <a:p>
            <a:pPr eaLnBrk="1" hangingPunct="1"/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BA2B8C81-163C-FA13-E24F-D8AEDD67F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1" y="1562101"/>
          <a:ext cx="5153025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633637" imgH="7795094" progId="Excel.Chart.8">
                  <p:embed followColorScheme="full"/>
                </p:oleObj>
              </mc:Choice>
              <mc:Fallback>
                <p:oleObj name="Chart" r:id="rId2" imgW="8633637" imgH="7795094" progId="Excel.Chart.8">
                  <p:embed followColorScheme="full"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BA2B8C81-163C-FA13-E24F-D8AEDD67FD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562101"/>
                        <a:ext cx="5153025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5">
            <a:extLst>
              <a:ext uri="{FF2B5EF4-FFF2-40B4-BE49-F238E27FC236}">
                <a16:creationId xmlns:a16="http://schemas.microsoft.com/office/drawing/2014/main" id="{5D2C717C-17EE-4812-35A8-A058B8902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6858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/>
              <a:t>Big-Oh Example</a:t>
            </a:r>
          </a:p>
        </p:txBody>
      </p:sp>
      <p:sp>
        <p:nvSpPr>
          <p:cNvPr id="6148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487B468-5D1E-34F1-4F85-79CE548890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905000"/>
            <a:ext cx="3581400" cy="3657600"/>
          </a:xfrm>
          <a:noFill/>
        </p:spPr>
        <p:txBody>
          <a:bodyPr/>
          <a:lstStyle/>
          <a:p>
            <a:pPr eaLnBrk="1" hangingPunct="1"/>
            <a:r>
              <a:rPr lang="en-US" altLang="en-US" sz="2200"/>
              <a:t>Example: </a:t>
            </a:r>
          </a:p>
          <a:p>
            <a:pPr eaLnBrk="1" hangingPunct="1">
              <a:buFontTx/>
              <a:buNone/>
            </a:pPr>
            <a:r>
              <a:rPr lang="en-US" altLang="en-US" sz="1800"/>
              <a:t>	the function </a:t>
            </a:r>
            <a:r>
              <a:rPr lang="en-US" altLang="en-US" sz="1800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is not </a:t>
            </a:r>
            <a:r>
              <a:rPr lang="en-US" altLang="en-US" sz="1800" i="1">
                <a:sym typeface="Symbol" pitchFamily="2" charset="2"/>
              </a:rPr>
              <a:t>O</a:t>
            </a:r>
            <a:r>
              <a:rPr lang="en-US" altLang="en-US" sz="1800">
                <a:sym typeface="Symbol" pitchFamily="2" charset="2"/>
              </a:rPr>
              <a:t>(</a:t>
            </a:r>
            <a:r>
              <a:rPr lang="en-US" altLang="en-US" sz="1800" i="1"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 i="1">
                <a:sym typeface="Symbol" pitchFamily="2" charset="2"/>
              </a:rPr>
              <a:t>n</a:t>
            </a:r>
            <a:r>
              <a:rPr lang="en-US" altLang="en-US" baseline="30000">
                <a:sym typeface="Symbol" pitchFamily="2" charset="2"/>
              </a:rPr>
              <a:t>2</a:t>
            </a:r>
            <a:r>
              <a:rPr lang="en-US" altLang="en-US" i="1">
                <a:sym typeface="Symbol" pitchFamily="2" charset="2"/>
              </a:rPr>
              <a:t> </a:t>
            </a:r>
            <a:r>
              <a:rPr lang="en-US" altLang="en-US">
                <a:sym typeface="Symbol" pitchFamily="2" charset="2"/>
              </a:rPr>
              <a:t></a:t>
            </a:r>
            <a:r>
              <a:rPr lang="en-US" altLang="en-US"/>
              <a:t> </a:t>
            </a:r>
            <a:r>
              <a:rPr lang="en-US" altLang="en-US" i="1">
                <a:sym typeface="Symbol" pitchFamily="2" charset="2"/>
              </a:rPr>
              <a:t>cn</a:t>
            </a:r>
          </a:p>
          <a:p>
            <a:pPr lvl="1" eaLnBrk="1" hangingPunct="1"/>
            <a:r>
              <a:rPr lang="en-US" altLang="en-US" i="1">
                <a:sym typeface="Symbol" pitchFamily="2" charset="2"/>
              </a:rPr>
              <a:t>n </a:t>
            </a:r>
            <a:r>
              <a:rPr lang="en-US" altLang="en-US">
                <a:sym typeface="Symbol" pitchFamily="2" charset="2"/>
              </a:rPr>
              <a:t></a:t>
            </a:r>
            <a:r>
              <a:rPr lang="en-US" altLang="en-US"/>
              <a:t> </a:t>
            </a:r>
            <a:r>
              <a:rPr lang="en-US" altLang="en-US" i="1">
                <a:sym typeface="Symbol" pitchFamily="2" charset="2"/>
              </a:rPr>
              <a:t>c</a:t>
            </a:r>
            <a:endParaRPr lang="en-US" altLang="en-US">
              <a:sym typeface="Symbol" pitchFamily="2" charset="2"/>
            </a:endParaRPr>
          </a:p>
          <a:p>
            <a:pPr lvl="1" eaLnBrk="1" hangingPunct="1"/>
            <a:r>
              <a:rPr lang="en-US" altLang="en-US"/>
              <a:t>The above inequality cannot be satisfied since </a:t>
            </a:r>
            <a:r>
              <a:rPr lang="en-US" altLang="en-US" b="1" i="1">
                <a:sym typeface="Symbol" pitchFamily="2" charset="2"/>
              </a:rPr>
              <a:t>c</a:t>
            </a:r>
            <a:r>
              <a:rPr lang="en-US" altLang="en-US"/>
              <a:t> must be a constant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2956-32A0-81C5-942B-DC7A9D5C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>
            <a:extLst>
              <a:ext uri="{FF2B5EF4-FFF2-40B4-BE49-F238E27FC236}">
                <a16:creationId xmlns:a16="http://schemas.microsoft.com/office/drawing/2014/main" id="{5E06BE6C-AFC2-B403-D14A-EA92BD71A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6858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dirty="0"/>
              <a:t>Big-Oh Example (on your own)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4D0286-620C-33A9-42B2-F2284DD1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447800"/>
            <a:ext cx="77724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</a:rPr>
              <a:t>Show that 1000n is O(2</a:t>
            </a:r>
            <a:r>
              <a:rPr lang="en-US" baseline="30000" dirty="0">
                <a:effectLst/>
              </a:rPr>
              <a:t>n</a:t>
            </a:r>
            <a:r>
              <a:rPr lang="en-US" dirty="0">
                <a:effectLst/>
              </a:rPr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200" dirty="0">
                <a:solidFill>
                  <a:srgbClr val="F44747"/>
                </a:solidFill>
                <a:latin typeface="Caveat"/>
              </a:rPr>
              <a:t>      </a:t>
            </a:r>
            <a:r>
              <a:rPr lang="en-US" sz="2200" dirty="0">
                <a:solidFill>
                  <a:srgbClr val="C00000"/>
                </a:solidFill>
                <a:latin typeface="Caveat"/>
              </a:rPr>
              <a:t>But when n = 14, 1000n = 14,000 while 2^14 = 16,384. </a:t>
            </a: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aveat"/>
              </a:rPr>
              <a:t>      So, when c = ____ and n0 = ____, we have:</a:t>
            </a:r>
          </a:p>
          <a:p>
            <a:pPr marL="0" indent="0">
              <a:buNone/>
            </a:pP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   	1000n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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c</a:t>
            </a:r>
            <a:r>
              <a:rPr lang="en-US" dirty="0">
                <a:solidFill>
                  <a:srgbClr val="C00000"/>
                </a:solidFill>
                <a:effectLst/>
              </a:rPr>
              <a:t> 2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  </a:t>
            </a:r>
            <a:r>
              <a:rPr lang="en-US" altLang="en-US" sz="2400" dirty="0">
                <a:solidFill>
                  <a:srgbClr val="C00000"/>
                </a:solidFill>
              </a:rPr>
              <a:t>for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n 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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n</a:t>
            </a:r>
            <a:r>
              <a:rPr lang="en-US" altLang="en-US" sz="2400" baseline="-25000" dirty="0">
                <a:solidFill>
                  <a:srgbClr val="C00000"/>
                </a:solidFill>
                <a:sym typeface="Symbol" pitchFamily="2" charset="2"/>
              </a:rPr>
              <a:t>0</a:t>
            </a:r>
            <a:r>
              <a:rPr lang="en-US" sz="2200" dirty="0">
                <a:solidFill>
                  <a:srgbClr val="C00000"/>
                </a:solidFill>
                <a:latin typeface="Caveat"/>
              </a:rPr>
              <a:t> </a:t>
            </a: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2DDCF-6B32-8608-E6DA-868CE1CB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09801"/>
            <a:ext cx="7772400" cy="171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21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1A635A0-9E56-C8F5-2536-C62182CE3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Big-Oh and Growth Rate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820D1F5-74C3-E785-C085-28C0DA2A99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2000"/>
              <a:t>The big-Oh notation gives an upper bound on the growth rate of a function</a:t>
            </a:r>
          </a:p>
          <a:p>
            <a:pPr eaLnBrk="1" hangingPunct="1"/>
            <a:r>
              <a:rPr lang="en-US" altLang="en-US" sz="2000"/>
              <a:t>The statement “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2000"/>
              <a:t>is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))</a:t>
            </a:r>
            <a:r>
              <a:rPr lang="en-US" altLang="en-US" sz="2000"/>
              <a:t>” means that the growth rate of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2000"/>
              <a:t>is no more than the growth rate of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/>
            <a:r>
              <a:rPr lang="en-US" altLang="en-US" sz="2000"/>
              <a:t>We can use the big-Oh notation to rank functions according to their growth rate</a:t>
            </a:r>
          </a:p>
        </p:txBody>
      </p:sp>
      <p:graphicFrame>
        <p:nvGraphicFramePr>
          <p:cNvPr id="140292" name="Group 4">
            <a:extLst>
              <a:ext uri="{FF2B5EF4-FFF2-40B4-BE49-F238E27FC236}">
                <a16:creationId xmlns:a16="http://schemas.microsoft.com/office/drawing/2014/main" id="{45209B76-FA90-ADC4-BD8F-44ADBB38360E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3962400"/>
          <a:ext cx="7239000" cy="1890714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is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is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grows more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grows more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Same growth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795" name="Text Box 27">
            <a:extLst>
              <a:ext uri="{FF2B5EF4-FFF2-40B4-BE49-F238E27FC236}">
                <a16:creationId xmlns:a16="http://schemas.microsoft.com/office/drawing/2014/main" id="{706D274E-70A5-B053-71A6-2BA2C6B95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096000"/>
            <a:ext cx="213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i="1">
                <a:solidFill>
                  <a:srgbClr val="FF6600"/>
                </a:solidFill>
              </a:rPr>
              <a:t>Examples 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EC8AB4D-07BD-0EB2-E516-6284A4304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4801" y="152400"/>
            <a:ext cx="4194175" cy="914400"/>
          </a:xfrm>
        </p:spPr>
        <p:txBody>
          <a:bodyPr/>
          <a:lstStyle/>
          <a:p>
            <a:pPr eaLnBrk="1" hangingPunct="1"/>
            <a:r>
              <a:rPr lang="en-US" altLang="en-US"/>
              <a:t>Big-Oh Rules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E73B4D1-8C81-FD22-6C04-8051204F61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8077200" cy="4648200"/>
          </a:xfrm>
        </p:spPr>
        <p:txBody>
          <a:bodyPr/>
          <a:lstStyle/>
          <a:p>
            <a:pPr>
              <a:tabLst>
                <a:tab pos="1028700" algn="l"/>
              </a:tabLst>
            </a:pPr>
            <a:r>
              <a:rPr lang="en-US" altLang="en-US" sz="2200"/>
              <a:t>In general, the following growth rate applies:</a:t>
            </a:r>
          </a:p>
          <a:p>
            <a:pPr>
              <a:buNone/>
              <a:tabLst>
                <a:tab pos="1028700" algn="l"/>
              </a:tabLst>
            </a:pPr>
            <a:r>
              <a:rPr lang="en-US" altLang="en-US" sz="1600"/>
              <a:t>	O(1)  O(log</a:t>
            </a:r>
            <a:r>
              <a:rPr lang="en-US" altLang="en-US" sz="1600" i="1"/>
              <a:t>n</a:t>
            </a:r>
            <a:r>
              <a:rPr lang="en-US" altLang="en-US" sz="1600"/>
              <a:t>)  O(log</a:t>
            </a:r>
            <a:r>
              <a:rPr lang="en-US" altLang="en-US" sz="1600" baseline="30000"/>
              <a:t>2</a:t>
            </a:r>
            <a:r>
              <a:rPr lang="en-US" altLang="en-US" sz="1600"/>
              <a:t>n)  O(sqrt(n))  O(</a:t>
            </a:r>
            <a:r>
              <a:rPr lang="en-US" altLang="en-US" sz="1600" i="1"/>
              <a:t>n</a:t>
            </a:r>
            <a:r>
              <a:rPr lang="en-US" altLang="en-US" sz="1600"/>
              <a:t>)  O(nlogn)  O(</a:t>
            </a:r>
            <a:r>
              <a:rPr lang="en-US" altLang="en-US" sz="1600" i="1"/>
              <a:t>n</a:t>
            </a:r>
            <a:r>
              <a:rPr lang="en-US" altLang="en-US" sz="1600" i="1" baseline="30000"/>
              <a:t>2</a:t>
            </a:r>
            <a:r>
              <a:rPr lang="en-US" altLang="en-US" sz="1600"/>
              <a:t>)  O(</a:t>
            </a:r>
            <a:r>
              <a:rPr lang="en-US" altLang="en-US" sz="1600" i="1"/>
              <a:t>n</a:t>
            </a:r>
            <a:r>
              <a:rPr lang="en-US" altLang="en-US" sz="1600" i="1" baseline="30000"/>
              <a:t>k</a:t>
            </a:r>
            <a:r>
              <a:rPr lang="en-US" altLang="en-US" sz="1600"/>
              <a:t>) (</a:t>
            </a:r>
            <a:r>
              <a:rPr lang="en-US" altLang="en-US" sz="1600" i="1"/>
              <a:t>k</a:t>
            </a:r>
            <a:r>
              <a:rPr lang="en-US" altLang="en-US" sz="1600"/>
              <a:t>&gt;=2)  O(</a:t>
            </a:r>
            <a:r>
              <a:rPr lang="en-US" altLang="en-US" sz="1600" i="1"/>
              <a:t>a</a:t>
            </a:r>
            <a:r>
              <a:rPr lang="en-US" altLang="en-US" sz="1600" i="1" baseline="30000"/>
              <a:t>n</a:t>
            </a:r>
            <a:r>
              <a:rPr lang="en-US" altLang="en-US" sz="1600"/>
              <a:t>) (</a:t>
            </a:r>
            <a:r>
              <a:rPr lang="en-US" altLang="en-US" sz="1600" i="1"/>
              <a:t>a</a:t>
            </a:r>
            <a:r>
              <a:rPr lang="en-US" altLang="en-US" sz="1600"/>
              <a:t>&gt;1)</a:t>
            </a:r>
          </a:p>
          <a:p>
            <a:pPr>
              <a:tabLst>
                <a:tab pos="1028700" algn="l"/>
              </a:tabLst>
            </a:pPr>
            <a:endParaRPr lang="en-US" altLang="en-US" sz="1600"/>
          </a:p>
          <a:p>
            <a:pPr>
              <a:tabLst>
                <a:tab pos="1028700" algn="l"/>
              </a:tabLst>
            </a:pPr>
            <a:r>
              <a:rPr lang="en-US" altLang="en-US" sz="2200"/>
              <a:t>If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a polynomial of degree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en-US" sz="2200"/>
              <a:t>, then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 b="1" i="1" baseline="30000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, i.e.,</a:t>
            </a:r>
          </a:p>
          <a:p>
            <a:pPr marL="1028700" lvl="1">
              <a:buFont typeface="Wingdings" pitchFamily="2" charset="2"/>
              <a:buAutoNum type="arabicPeriod"/>
              <a:tabLst>
                <a:tab pos="1028700" algn="l"/>
              </a:tabLst>
            </a:pPr>
            <a:r>
              <a:rPr lang="en-US" altLang="en-US" sz="1800"/>
              <a:t>Drop lower-order terms</a:t>
            </a:r>
          </a:p>
          <a:p>
            <a:pPr marL="1028700" lvl="1">
              <a:buFont typeface="Wingdings" pitchFamily="2" charset="2"/>
              <a:buAutoNum type="arabicPeriod"/>
              <a:tabLst>
                <a:tab pos="1028700" algn="l"/>
              </a:tabLst>
            </a:pPr>
            <a:r>
              <a:rPr lang="en-US" altLang="en-US" sz="1800"/>
              <a:t>Drop constant factors</a:t>
            </a:r>
          </a:p>
          <a:p>
            <a:pPr marL="1028700" lvl="1">
              <a:buNone/>
              <a:tabLst>
                <a:tab pos="1028700" algn="l"/>
              </a:tabLst>
            </a:pPr>
            <a:endParaRPr lang="en-US" altLang="en-US" sz="1800"/>
          </a:p>
          <a:p>
            <a:pPr>
              <a:tabLst>
                <a:tab pos="1028700" algn="l"/>
              </a:tabLst>
            </a:pPr>
            <a:r>
              <a:rPr lang="en-US" altLang="en-US" sz="2200"/>
              <a:t>Use the smallest possible class of functions</a:t>
            </a:r>
          </a:p>
          <a:p>
            <a:pPr marL="1028700" lvl="1">
              <a:tabLst>
                <a:tab pos="1028700" algn="l"/>
              </a:tabLst>
            </a:pPr>
            <a:r>
              <a:rPr lang="en-US" altLang="en-US" sz="1800"/>
              <a:t>Say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/>
              <a:t>instead of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</a:p>
          <a:p>
            <a:pPr marL="1028700" lvl="1">
              <a:tabLst>
                <a:tab pos="1028700" algn="l"/>
              </a:tabLst>
            </a:pPr>
            <a:endParaRPr lang="en-US" altLang="en-US" sz="1800">
              <a:sym typeface="Symbol" pitchFamily="2" charset="2"/>
            </a:endParaRPr>
          </a:p>
          <a:p>
            <a:pPr>
              <a:tabLst>
                <a:tab pos="1028700" algn="l"/>
              </a:tabLst>
            </a:pPr>
            <a:r>
              <a:rPr lang="en-US" altLang="en-US" sz="2200">
                <a:sym typeface="Symbol" pitchFamily="2" charset="2"/>
              </a:rPr>
              <a:t>Use the simplest expression of the class</a:t>
            </a:r>
          </a:p>
          <a:p>
            <a:pPr marL="1028700" lvl="1">
              <a:tabLst>
                <a:tab pos="1028700" algn="l"/>
              </a:tabLst>
            </a:pPr>
            <a:r>
              <a:rPr lang="en-US" altLang="en-US" sz="1800"/>
              <a:t>Say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/>
              <a:t>instead of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05CE768B-59EF-3F12-D61A-EE00D0CB1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209800"/>
            <a:ext cx="7467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967B393-D215-44B1-2870-1E026AC7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Some Other Useful Rules 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880B906-73F7-AD31-DAD4-0A5BA1879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If d(n) is O(f(n)), then a*d(n) is O(f(n)) for any constant a&gt;0.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e(n) is O(g(n)), then d(n)+e(n) is O(f(n)+g(n)).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e(n) is O(g(n)), then d(n)*e(n) is O(f(n)*g(n)).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f(n) is O(g(n)), then d(n) is O(g(n))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B12-54B2-5404-2E53-D0B8EBC1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1336-DDBC-423C-9EC6-4D092723E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77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5857-FC1F-6A9C-1CC9-B7AD49F6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DF50-C18F-7579-06F4-A97377CA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4</a:t>
            </a:r>
            <a:r>
              <a:rPr lang="en-US" dirty="0">
                <a:solidFill>
                  <a:srgbClr val="194484"/>
                </a:solidFill>
                <a:effectLst/>
              </a:rPr>
              <a:t> + 1000 is O(n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).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solidFill>
                  <a:srgbClr val="F44747"/>
                </a:solidFill>
              </a:rPr>
              <a:t>	</a:t>
            </a:r>
            <a:r>
              <a:rPr lang="en-US" sz="2200" dirty="0">
                <a:solidFill>
                  <a:srgbClr val="C00000"/>
                </a:solidFill>
              </a:rPr>
              <a:t>That is, find n0 ≥ 1 and c &gt; 0 so that</a:t>
            </a:r>
            <a:br>
              <a:rPr lang="en-US" sz="22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	 8n</a:t>
            </a:r>
            <a:r>
              <a:rPr lang="en-US" sz="2200" baseline="30000" dirty="0">
                <a:solidFill>
                  <a:srgbClr val="C00000"/>
                </a:solidFill>
              </a:rPr>
              <a:t>5</a:t>
            </a:r>
            <a:r>
              <a:rPr lang="en-US" sz="2200" dirty="0">
                <a:solidFill>
                  <a:srgbClr val="C00000"/>
                </a:solidFill>
              </a:rPr>
              <a:t> + 32n</a:t>
            </a:r>
            <a:r>
              <a:rPr lang="en-US" sz="2200" baseline="30000" dirty="0">
                <a:solidFill>
                  <a:srgbClr val="C00000"/>
                </a:solidFill>
              </a:rPr>
              <a:t>4</a:t>
            </a:r>
            <a:r>
              <a:rPr lang="en-US" sz="2200" dirty="0">
                <a:solidFill>
                  <a:srgbClr val="C00000"/>
                </a:solidFill>
              </a:rPr>
              <a:t> + 1000 ≤ c n</a:t>
            </a:r>
            <a:r>
              <a:rPr lang="en-US" sz="2200" baseline="30000" dirty="0">
                <a:solidFill>
                  <a:srgbClr val="C00000"/>
                </a:solidFill>
              </a:rPr>
              <a:t>5</a:t>
            </a:r>
            <a:r>
              <a:rPr lang="en-US" sz="2200" dirty="0">
                <a:solidFill>
                  <a:srgbClr val="C00000"/>
                </a:solidFill>
              </a:rPr>
              <a:t> when n ≥ n0 . 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9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1A22-615E-829C-D38A-E2922A85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D78E6-F0A2-4721-DB4F-8B53EBEA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4</a:t>
            </a:r>
            <a:r>
              <a:rPr lang="en-US" dirty="0">
                <a:solidFill>
                  <a:srgbClr val="194484"/>
                </a:solidFill>
                <a:effectLst/>
              </a:rPr>
              <a:t> + 1000 is </a:t>
            </a:r>
            <a:r>
              <a:rPr lang="el-GR" dirty="0">
                <a:solidFill>
                  <a:srgbClr val="194484"/>
                </a:solidFill>
                <a:effectLst/>
              </a:rPr>
              <a:t>Θ(</a:t>
            </a:r>
            <a:r>
              <a:rPr lang="en-US" dirty="0">
                <a:solidFill>
                  <a:srgbClr val="194484"/>
                </a:solidFill>
                <a:effectLst/>
              </a:rPr>
              <a:t>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).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(1) </a:t>
            </a:r>
            <a:r>
              <a:rPr lang="en-US" dirty="0">
                <a:solidFill>
                  <a:srgbClr val="C00000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4</a:t>
            </a:r>
            <a:r>
              <a:rPr lang="en-US" dirty="0">
                <a:solidFill>
                  <a:srgbClr val="C00000"/>
                </a:solidFill>
                <a:effectLst/>
              </a:rPr>
              <a:t> + 1000 is O(n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).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(2) </a:t>
            </a:r>
            <a:r>
              <a:rPr lang="en-US" dirty="0">
                <a:solidFill>
                  <a:srgbClr val="C00000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4</a:t>
            </a:r>
            <a:r>
              <a:rPr lang="en-US" dirty="0">
                <a:solidFill>
                  <a:srgbClr val="C00000"/>
                </a:solidFill>
                <a:effectLst/>
              </a:rPr>
              <a:t> + 1000 is </a:t>
            </a:r>
            <a:r>
              <a:rPr lang="el-GR" dirty="0">
                <a:solidFill>
                  <a:srgbClr val="C00000"/>
                </a:solidFill>
                <a:effectLst/>
              </a:rPr>
              <a:t>Ω(</a:t>
            </a:r>
            <a:r>
              <a:rPr lang="en-US" dirty="0">
                <a:solidFill>
                  <a:srgbClr val="C00000"/>
                </a:solidFill>
                <a:effectLst/>
              </a:rPr>
              <a:t>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).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0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F84C-8990-CB38-A306-E5C71FFC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8E55-7A23-294D-9735-30117DA55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For a positive integer n, let f(n) = 1 + 2 + 3 + ... + n, </a:t>
            </a:r>
            <a:r>
              <a:rPr lang="en-US" dirty="0">
                <a:solidFill>
                  <a:srgbClr val="C00000"/>
                </a:solidFill>
                <a:effectLst/>
              </a:rPr>
              <a:t>	What is f(n) equal to?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How fast does it grow? 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94484"/>
                </a:solidFill>
                <a:effectLst/>
              </a:rPr>
              <a:t>Let a &gt; 0 be a constant. For a positive integer n, define g(n) = 1 + a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2</a:t>
            </a:r>
            <a:r>
              <a:rPr lang="en-US" dirty="0">
                <a:solidFill>
                  <a:srgbClr val="194484"/>
                </a:solidFill>
                <a:effectLst/>
              </a:rPr>
              <a:t>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3</a:t>
            </a:r>
            <a:r>
              <a:rPr lang="en-US" dirty="0">
                <a:solidFill>
                  <a:srgbClr val="194484"/>
                </a:solidFill>
                <a:effectLst/>
              </a:rPr>
              <a:t>+ ...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n</a:t>
            </a:r>
            <a:r>
              <a:rPr lang="en-US" dirty="0">
                <a:solidFill>
                  <a:srgbClr val="194484"/>
                </a:solidFill>
                <a:effectLst/>
              </a:rPr>
              <a:t>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What is g(n) equal to?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How fast does it grow?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3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2010</Words>
  <Application>Microsoft Office PowerPoint</Application>
  <PresentationFormat>Widescreen</PresentationFormat>
  <Paragraphs>261</Paragraphs>
  <Slides>25</Slides>
  <Notes>2</Notes>
  <HiddenSlides>4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SimSun</vt:lpstr>
      <vt:lpstr>Aptos</vt:lpstr>
      <vt:lpstr>Aptos Display</vt:lpstr>
      <vt:lpstr>Arial</vt:lpstr>
      <vt:lpstr>Caveat</vt:lpstr>
      <vt:lpstr>Comic Sans MS</vt:lpstr>
      <vt:lpstr>Symbol</vt:lpstr>
      <vt:lpstr>Tahoma</vt:lpstr>
      <vt:lpstr>Times New Roman</vt:lpstr>
      <vt:lpstr>Wingdings</vt:lpstr>
      <vt:lpstr>Office Theme</vt:lpstr>
      <vt:lpstr>Chart</vt:lpstr>
      <vt:lpstr>CS-535: Algorithm Design and Analysis   Analysis of Algorithms: Methodologies</vt:lpstr>
      <vt:lpstr>Some Definitions</vt:lpstr>
      <vt:lpstr>Running Time</vt:lpstr>
      <vt:lpstr>PowerPoint Presentation</vt:lpstr>
      <vt:lpstr>Limitations of Experimental Approach</vt:lpstr>
      <vt:lpstr>Theoretical Analysis</vt:lpstr>
      <vt:lpstr>Pseudocode</vt:lpstr>
      <vt:lpstr>Pseudocode Details</vt:lpstr>
      <vt:lpstr>Primitive Operations</vt:lpstr>
      <vt:lpstr>Counting Primitive Operations: Iterative Algorithms</vt:lpstr>
      <vt:lpstr>Counting Primitive Operations: Recursive Algorithms</vt:lpstr>
      <vt:lpstr>Estimating Running Time</vt:lpstr>
      <vt:lpstr>Growth Rate of Running Time</vt:lpstr>
      <vt:lpstr>Growth Rates</vt:lpstr>
      <vt:lpstr>Constant Factors</vt:lpstr>
      <vt:lpstr>Big-Oh Notation</vt:lpstr>
      <vt:lpstr>Big-Oh Example</vt:lpstr>
      <vt:lpstr>Big-Oh Example (on your own)</vt:lpstr>
      <vt:lpstr>Big-Oh and Growth Rate</vt:lpstr>
      <vt:lpstr>Big-Oh Rules</vt:lpstr>
      <vt:lpstr>Some Other Useful Rules </vt:lpstr>
      <vt:lpstr>More</vt:lpstr>
      <vt:lpstr>Quiz</vt:lpstr>
      <vt:lpstr>Quiz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4</cp:revision>
  <dcterms:created xsi:type="dcterms:W3CDTF">2024-09-09T06:45:27Z</dcterms:created>
  <dcterms:modified xsi:type="dcterms:W3CDTF">2024-09-24T02:36:50Z</dcterms:modified>
</cp:coreProperties>
</file>