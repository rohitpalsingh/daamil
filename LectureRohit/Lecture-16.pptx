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76" r:id="rId5"/>
    <p:sldId id="277" r:id="rId6"/>
    <p:sldId id="275" r:id="rId7"/>
    <p:sldId id="27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3" r:id="rId19"/>
    <p:sldId id="274" r:id="rId20"/>
    <p:sldId id="279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F624A-5A06-44CD-BB09-4CF6ED851BA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03959-E03A-4EEB-A0EA-5BAFD4B60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6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FE6F67A5-4B39-4AA8-9D56-52C1C8A852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9430E7D-6C17-70CB-8FC2-24A0CF2B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Footer Placeholder 5">
            <a:extLst>
              <a:ext uri="{FF2B5EF4-FFF2-40B4-BE49-F238E27FC236}">
                <a16:creationId xmlns:a16="http://schemas.microsoft.com/office/drawing/2014/main" id="{81880EE4-0795-FC27-CFCE-D3A2B6262A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70272BB7-0FBC-A042-8DF6-33A70CCFC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7EB6966-1684-3E5A-8BDC-FC4823F92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Footer Placeholder 5">
            <a:extLst>
              <a:ext uri="{FF2B5EF4-FFF2-40B4-BE49-F238E27FC236}">
                <a16:creationId xmlns:a16="http://schemas.microsoft.com/office/drawing/2014/main" id="{4A826F79-C00B-16DB-A54D-4B34674FD2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2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7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0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1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1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9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2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2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2485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5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0827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09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96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1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65CA0-CF26-4951-8A44-58A62AEC07E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220E70-2385-4C1D-9809-33FC738CF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7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EB1D9589-2E2A-AB60-176E-1A7C8581B1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Divide-and-Conquer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23C3DC9-5CB6-5A4E-DAD1-2C1FE065EA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6,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0C26D9FF-EAF4-F9FF-0150-2C3F25F2D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5.2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E9305545-1CF2-699C-EF02-8007C342B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Divide-and-Conquer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1253585-BAFF-70A2-4508-B3DAD377ECD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219200"/>
            <a:ext cx="47244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tx2"/>
                </a:solidFill>
              </a:rPr>
              <a:t>Divide-and conquer</a:t>
            </a:r>
            <a:r>
              <a:rPr lang="en-US" altLang="en-US" sz="2400"/>
              <a:t> is a general algorithm design paradigm: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Divide</a:t>
            </a:r>
            <a:r>
              <a:rPr lang="en-US" altLang="en-US" sz="2000"/>
              <a:t>: divide the input data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 two or more disjoint subsets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, S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…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Recur</a:t>
            </a:r>
            <a:r>
              <a:rPr lang="en-US" altLang="en-US" sz="2000"/>
              <a:t>: solve the subproblems recursively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Conquer</a:t>
            </a:r>
            <a:r>
              <a:rPr lang="en-US" altLang="en-US" sz="2000"/>
              <a:t>: combine the solutions for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,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, …, into a solution for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base case for the recursion are subproblems of constant size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Analysis can be done using </a:t>
            </a:r>
            <a:r>
              <a:rPr lang="en-US" altLang="en-US" sz="2400" b="1">
                <a:solidFill>
                  <a:schemeClr val="tx2"/>
                </a:solidFill>
              </a:rPr>
              <a:t>recurrence equations</a:t>
            </a:r>
          </a:p>
        </p:txBody>
      </p:sp>
      <p:grpSp>
        <p:nvGrpSpPr>
          <p:cNvPr id="17411" name="Group 54">
            <a:extLst>
              <a:ext uri="{FF2B5EF4-FFF2-40B4-BE49-F238E27FC236}">
                <a16:creationId xmlns:a16="http://schemas.microsoft.com/office/drawing/2014/main" id="{0DA7BEF6-37AA-319C-89D0-8F57DCB7980D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286000"/>
            <a:ext cx="3429000" cy="1676400"/>
            <a:chOff x="3342" y="1584"/>
            <a:chExt cx="1698" cy="816"/>
          </a:xfrm>
        </p:grpSpPr>
        <p:sp>
          <p:nvSpPr>
            <p:cNvPr id="17412" name="Oval 9">
              <a:extLst>
                <a:ext uri="{FF2B5EF4-FFF2-40B4-BE49-F238E27FC236}">
                  <a16:creationId xmlns:a16="http://schemas.microsoft.com/office/drawing/2014/main" id="{5881D82F-84FF-05A6-681E-339A75783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7413" name="AutoShape 16">
              <a:extLst>
                <a:ext uri="{FF2B5EF4-FFF2-40B4-BE49-F238E27FC236}">
                  <a16:creationId xmlns:a16="http://schemas.microsoft.com/office/drawing/2014/main" id="{D5D7C1DB-1877-B8C9-57D8-3CA3FB5D75F0}"/>
                </a:ext>
              </a:extLst>
            </p:cNvPr>
            <p:cNvCxnSpPr>
              <a:cxnSpLocks noChangeShapeType="1"/>
              <a:stCxn id="17417" idx="7"/>
              <a:endCxn id="17412" idx="3"/>
            </p:cNvCxnSpPr>
            <p:nvPr/>
          </p:nvCxnSpPr>
          <p:spPr bwMode="auto">
            <a:xfrm flipV="1">
              <a:off x="3688" y="1772"/>
              <a:ext cx="441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14" name="AutoShape 17">
              <a:extLst>
                <a:ext uri="{FF2B5EF4-FFF2-40B4-BE49-F238E27FC236}">
                  <a16:creationId xmlns:a16="http://schemas.microsoft.com/office/drawing/2014/main" id="{792E1CE2-63C8-EC08-7C6B-463310B74001}"/>
                </a:ext>
              </a:extLst>
            </p:cNvPr>
            <p:cNvCxnSpPr>
              <a:cxnSpLocks noChangeShapeType="1"/>
              <a:stCxn id="17424" idx="0"/>
              <a:endCxn id="17412" idx="4"/>
            </p:cNvCxnSpPr>
            <p:nvPr/>
          </p:nvCxnSpPr>
          <p:spPr bwMode="auto">
            <a:xfrm flipV="1">
              <a:off x="4198" y="1803"/>
              <a:ext cx="7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15" name="AutoShape 18">
              <a:extLst>
                <a:ext uri="{FF2B5EF4-FFF2-40B4-BE49-F238E27FC236}">
                  <a16:creationId xmlns:a16="http://schemas.microsoft.com/office/drawing/2014/main" id="{F7DF60CF-C3FE-9DC3-FD2D-EB079C5B68DD}"/>
                </a:ext>
              </a:extLst>
            </p:cNvPr>
            <p:cNvCxnSpPr>
              <a:cxnSpLocks noChangeShapeType="1"/>
              <a:stCxn id="17418" idx="0"/>
              <a:endCxn id="17417" idx="4"/>
            </p:cNvCxnSpPr>
            <p:nvPr/>
          </p:nvCxnSpPr>
          <p:spPr bwMode="auto">
            <a:xfrm flipV="1">
              <a:off x="3611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16" name="AutoShape 19">
              <a:extLst>
                <a:ext uri="{FF2B5EF4-FFF2-40B4-BE49-F238E27FC236}">
                  <a16:creationId xmlns:a16="http://schemas.microsoft.com/office/drawing/2014/main" id="{866F39E7-42AF-1444-11BA-60CF53B3C36A}"/>
                </a:ext>
              </a:extLst>
            </p:cNvPr>
            <p:cNvCxnSpPr>
              <a:cxnSpLocks noChangeShapeType="1"/>
              <a:stCxn id="17419" idx="0"/>
              <a:endCxn id="17417" idx="3"/>
            </p:cNvCxnSpPr>
            <p:nvPr/>
          </p:nvCxnSpPr>
          <p:spPr bwMode="auto">
            <a:xfrm flipV="1">
              <a:off x="3419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17" name="Oval 24">
              <a:extLst>
                <a:ext uri="{FF2B5EF4-FFF2-40B4-BE49-F238E27FC236}">
                  <a16:creationId xmlns:a16="http://schemas.microsoft.com/office/drawing/2014/main" id="{3A6D718F-13E3-263A-BCBA-8F0BE0A28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418" name="Rectangle 31">
              <a:extLst>
                <a:ext uri="{FF2B5EF4-FFF2-40B4-BE49-F238E27FC236}">
                  <a16:creationId xmlns:a16="http://schemas.microsoft.com/office/drawing/2014/main" id="{5C4AE50E-0E73-E66B-71C2-95185F87E6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19" name="Rectangle 36">
              <a:extLst>
                <a:ext uri="{FF2B5EF4-FFF2-40B4-BE49-F238E27FC236}">
                  <a16:creationId xmlns:a16="http://schemas.microsoft.com/office/drawing/2014/main" id="{AF7875B7-702A-CA9D-3EA3-2AF11231DF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20" name="Rectangle 37">
              <a:extLst>
                <a:ext uri="{FF2B5EF4-FFF2-40B4-BE49-F238E27FC236}">
                  <a16:creationId xmlns:a16="http://schemas.microsoft.com/office/drawing/2014/main" id="{8DFDE21C-9C09-AF5B-4B0F-00FD28878F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7421" name="AutoShape 38">
              <a:extLst>
                <a:ext uri="{FF2B5EF4-FFF2-40B4-BE49-F238E27FC236}">
                  <a16:creationId xmlns:a16="http://schemas.microsoft.com/office/drawing/2014/main" id="{E1F79F8E-65D9-9002-200B-68CF3A245B60}"/>
                </a:ext>
              </a:extLst>
            </p:cNvPr>
            <p:cNvCxnSpPr>
              <a:cxnSpLocks noChangeShapeType="1"/>
              <a:stCxn id="17420" idx="0"/>
              <a:endCxn id="17417" idx="5"/>
            </p:cNvCxnSpPr>
            <p:nvPr/>
          </p:nvCxnSpPr>
          <p:spPr bwMode="auto">
            <a:xfrm flipH="1" flipV="1">
              <a:off x="3688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2" name="AutoShape 39">
              <a:extLst>
                <a:ext uri="{FF2B5EF4-FFF2-40B4-BE49-F238E27FC236}">
                  <a16:creationId xmlns:a16="http://schemas.microsoft.com/office/drawing/2014/main" id="{2B8A589F-7F9F-81DC-21F6-453BF87D722D}"/>
                </a:ext>
              </a:extLst>
            </p:cNvPr>
            <p:cNvCxnSpPr>
              <a:cxnSpLocks noChangeShapeType="1"/>
              <a:stCxn id="17425" idx="0"/>
              <a:endCxn id="17424" idx="4"/>
            </p:cNvCxnSpPr>
            <p:nvPr/>
          </p:nvCxnSpPr>
          <p:spPr bwMode="auto">
            <a:xfrm flipV="1">
              <a:off x="4196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3" name="AutoShape 40">
              <a:extLst>
                <a:ext uri="{FF2B5EF4-FFF2-40B4-BE49-F238E27FC236}">
                  <a16:creationId xmlns:a16="http://schemas.microsoft.com/office/drawing/2014/main" id="{6EFF326E-585D-408A-6580-E2AA30A39B6D}"/>
                </a:ext>
              </a:extLst>
            </p:cNvPr>
            <p:cNvCxnSpPr>
              <a:cxnSpLocks noChangeShapeType="1"/>
              <a:stCxn id="17426" idx="0"/>
              <a:endCxn id="17424" idx="3"/>
            </p:cNvCxnSpPr>
            <p:nvPr/>
          </p:nvCxnSpPr>
          <p:spPr bwMode="auto">
            <a:xfrm flipV="1">
              <a:off x="4004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4" name="Oval 41">
              <a:extLst>
                <a:ext uri="{FF2B5EF4-FFF2-40B4-BE49-F238E27FC236}">
                  <a16:creationId xmlns:a16="http://schemas.microsoft.com/office/drawing/2014/main" id="{ED2ED6B1-7A85-7458-2CDC-761ABF2F8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425" name="Rectangle 42">
              <a:extLst>
                <a:ext uri="{FF2B5EF4-FFF2-40B4-BE49-F238E27FC236}">
                  <a16:creationId xmlns:a16="http://schemas.microsoft.com/office/drawing/2014/main" id="{586559AD-682F-2F49-97AE-14A4FF4180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26" name="Rectangle 43">
              <a:extLst>
                <a:ext uri="{FF2B5EF4-FFF2-40B4-BE49-F238E27FC236}">
                  <a16:creationId xmlns:a16="http://schemas.microsoft.com/office/drawing/2014/main" id="{D85AC56D-D815-4AE7-6169-F581EADF26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27" name="Rectangle 44">
              <a:extLst>
                <a:ext uri="{FF2B5EF4-FFF2-40B4-BE49-F238E27FC236}">
                  <a16:creationId xmlns:a16="http://schemas.microsoft.com/office/drawing/2014/main" id="{7E664991-C405-97F9-F2AF-8BE1DC1112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7428" name="AutoShape 45">
              <a:extLst>
                <a:ext uri="{FF2B5EF4-FFF2-40B4-BE49-F238E27FC236}">
                  <a16:creationId xmlns:a16="http://schemas.microsoft.com/office/drawing/2014/main" id="{CAE6F925-2ED0-7BE1-B66C-C2CF7F5DDF82}"/>
                </a:ext>
              </a:extLst>
            </p:cNvPr>
            <p:cNvCxnSpPr>
              <a:cxnSpLocks noChangeShapeType="1"/>
              <a:stCxn id="17427" idx="0"/>
              <a:endCxn id="17424" idx="5"/>
            </p:cNvCxnSpPr>
            <p:nvPr/>
          </p:nvCxnSpPr>
          <p:spPr bwMode="auto">
            <a:xfrm flipH="1" flipV="1">
              <a:off x="4273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9" name="AutoShape 46">
              <a:extLst>
                <a:ext uri="{FF2B5EF4-FFF2-40B4-BE49-F238E27FC236}">
                  <a16:creationId xmlns:a16="http://schemas.microsoft.com/office/drawing/2014/main" id="{58667D02-3073-B41C-95B0-A252142F0E61}"/>
                </a:ext>
              </a:extLst>
            </p:cNvPr>
            <p:cNvCxnSpPr>
              <a:cxnSpLocks noChangeShapeType="1"/>
              <a:stCxn id="17432" idx="0"/>
              <a:endCxn id="17431" idx="4"/>
            </p:cNvCxnSpPr>
            <p:nvPr/>
          </p:nvCxnSpPr>
          <p:spPr bwMode="auto">
            <a:xfrm flipV="1">
              <a:off x="4772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0" name="AutoShape 47">
              <a:extLst>
                <a:ext uri="{FF2B5EF4-FFF2-40B4-BE49-F238E27FC236}">
                  <a16:creationId xmlns:a16="http://schemas.microsoft.com/office/drawing/2014/main" id="{0BCFF7A5-2E95-FDC0-23EF-90C1123EB90F}"/>
                </a:ext>
              </a:extLst>
            </p:cNvPr>
            <p:cNvCxnSpPr>
              <a:cxnSpLocks noChangeShapeType="1"/>
              <a:stCxn id="17433" idx="0"/>
              <a:endCxn id="17431" idx="3"/>
            </p:cNvCxnSpPr>
            <p:nvPr/>
          </p:nvCxnSpPr>
          <p:spPr bwMode="auto">
            <a:xfrm flipV="1">
              <a:off x="4580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1" name="Oval 48">
              <a:extLst>
                <a:ext uri="{FF2B5EF4-FFF2-40B4-BE49-F238E27FC236}">
                  <a16:creationId xmlns:a16="http://schemas.microsoft.com/office/drawing/2014/main" id="{7D759042-20EA-2031-4E13-1A787D4BF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432" name="Rectangle 49">
              <a:extLst>
                <a:ext uri="{FF2B5EF4-FFF2-40B4-BE49-F238E27FC236}">
                  <a16:creationId xmlns:a16="http://schemas.microsoft.com/office/drawing/2014/main" id="{18889E75-9808-5C69-FF85-37FF2CE871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33" name="Rectangle 50">
              <a:extLst>
                <a:ext uri="{FF2B5EF4-FFF2-40B4-BE49-F238E27FC236}">
                  <a16:creationId xmlns:a16="http://schemas.microsoft.com/office/drawing/2014/main" id="{69D951E2-AE81-235D-FE13-F4352EC9CD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7434" name="Rectangle 51">
              <a:extLst>
                <a:ext uri="{FF2B5EF4-FFF2-40B4-BE49-F238E27FC236}">
                  <a16:creationId xmlns:a16="http://schemas.microsoft.com/office/drawing/2014/main" id="{876840CE-AC32-BAC2-4745-EEDA1AEDA8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7435" name="AutoShape 52">
              <a:extLst>
                <a:ext uri="{FF2B5EF4-FFF2-40B4-BE49-F238E27FC236}">
                  <a16:creationId xmlns:a16="http://schemas.microsoft.com/office/drawing/2014/main" id="{D22796EF-1E42-214D-D1A3-4CC7C5CB9D86}"/>
                </a:ext>
              </a:extLst>
            </p:cNvPr>
            <p:cNvCxnSpPr>
              <a:cxnSpLocks noChangeShapeType="1"/>
              <a:stCxn id="17434" idx="0"/>
              <a:endCxn id="17431" idx="5"/>
            </p:cNvCxnSpPr>
            <p:nvPr/>
          </p:nvCxnSpPr>
          <p:spPr bwMode="auto">
            <a:xfrm flipH="1" flipV="1">
              <a:off x="4849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6" name="AutoShape 53">
              <a:extLst>
                <a:ext uri="{FF2B5EF4-FFF2-40B4-BE49-F238E27FC236}">
                  <a16:creationId xmlns:a16="http://schemas.microsoft.com/office/drawing/2014/main" id="{083362C6-2A41-AB1D-5B45-8DE6055FAA91}"/>
                </a:ext>
              </a:extLst>
            </p:cNvPr>
            <p:cNvCxnSpPr>
              <a:cxnSpLocks noChangeShapeType="1"/>
              <a:stCxn id="17412" idx="5"/>
              <a:endCxn id="17431" idx="1"/>
            </p:cNvCxnSpPr>
            <p:nvPr/>
          </p:nvCxnSpPr>
          <p:spPr bwMode="auto">
            <a:xfrm>
              <a:off x="4280" y="1772"/>
              <a:ext cx="418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172A8DF8-F1E0-CC0D-4224-DB53D6DA0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 Review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4BB92EC-B88B-7A8C-A26C-48814C4A51B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676400"/>
            <a:ext cx="3810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Merge-sort on an input sequence </a:t>
            </a:r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/>
              <a:t> with 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/>
              <a:t> elements consists of three steps: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Divide</a:t>
            </a:r>
            <a:r>
              <a:rPr lang="en-US" altLang="en-US" sz="2000"/>
              <a:t>: partition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into two sequences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 of about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Symbol" panose="05050102010706020507" pitchFamily="18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 elements each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Recur</a:t>
            </a:r>
            <a:r>
              <a:rPr lang="en-US" altLang="en-US" sz="2000"/>
              <a:t>: recursively sort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</a:rPr>
              <a:t>Conquer</a:t>
            </a:r>
            <a:r>
              <a:rPr lang="en-US" altLang="en-US" sz="2000"/>
              <a:t>: merge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2 </a:t>
            </a:r>
            <a:r>
              <a:rPr lang="en-US" altLang="en-US" sz="2000"/>
              <a:t>into a unique sorted sequence</a:t>
            </a:r>
          </a:p>
        </p:txBody>
      </p:sp>
      <p:sp>
        <p:nvSpPr>
          <p:cNvPr id="19459" name="Text Box 6">
            <a:extLst>
              <a:ext uri="{FF2B5EF4-FFF2-40B4-BE49-F238E27FC236}">
                <a16:creationId xmlns:a16="http://schemas.microsoft.com/office/drawing/2014/main" id="{402B1E66-E056-9B46-F4FD-15D3BC7D1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33601"/>
            <a:ext cx="4038600" cy="3300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with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					elements, comparator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according 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S.size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/2)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S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A7F1F22-75E9-E9C9-30D0-DBCA35901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 Tree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E76EB490-BEDC-2603-BC1B-342DC330F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066801"/>
            <a:ext cx="8077200" cy="25050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An execution of merge-sort is depicted by a binary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each node represents a recursive call of merge-sort and stores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unsorted sequence before the execution and its partition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sorted sequence at the end of the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root is the initial call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leaves are calls on subsequences of size 0 or 1</a:t>
            </a:r>
          </a:p>
        </p:txBody>
      </p:sp>
      <p:sp>
        <p:nvSpPr>
          <p:cNvPr id="20483" name="AutoShape 4">
            <a:extLst>
              <a:ext uri="{FF2B5EF4-FFF2-40B4-BE49-F238E27FC236}">
                <a16:creationId xmlns:a16="http://schemas.microsoft.com/office/drawing/2014/main" id="{1E8F01A3-9E0B-E4A2-9E19-D8DADC30E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3657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9  4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4F4B39BF-41C7-FF57-04FE-CEF6CE44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2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F309B81D-B262-BF4D-438D-7B4FC726F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4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0486" name="AutoShape 7">
            <a:extLst>
              <a:ext uri="{FF2B5EF4-FFF2-40B4-BE49-F238E27FC236}">
                <a16:creationId xmlns:a16="http://schemas.microsoft.com/office/drawing/2014/main" id="{4CB8EB4E-79D2-889B-B2B3-387645050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5638800"/>
            <a:ext cx="10287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7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0487" name="AutoShape 8">
            <a:extLst>
              <a:ext uri="{FF2B5EF4-FFF2-40B4-BE49-F238E27FC236}">
                <a16:creationId xmlns:a16="http://schemas.microsoft.com/office/drawing/2014/main" id="{183D1886-916E-3FBE-95E8-946A7D7F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638800"/>
            <a:ext cx="9906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2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0488" name="AutoShape 9">
            <a:extLst>
              <a:ext uri="{FF2B5EF4-FFF2-40B4-BE49-F238E27FC236}">
                <a16:creationId xmlns:a16="http://schemas.microsoft.com/office/drawing/2014/main" id="{A409D5FC-A922-A092-4CF6-4474C26BC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5638800"/>
            <a:ext cx="100965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0489" name="AutoShape 10">
            <a:extLst>
              <a:ext uri="{FF2B5EF4-FFF2-40B4-BE49-F238E27FC236}">
                <a16:creationId xmlns:a16="http://schemas.microsoft.com/office/drawing/2014/main" id="{558F3CF3-C4AE-43FD-AF31-C4A4982E6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1" y="5638800"/>
            <a:ext cx="981075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4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cxnSp>
        <p:nvCxnSpPr>
          <p:cNvPr id="20490" name="AutoShape 11">
            <a:extLst>
              <a:ext uri="{FF2B5EF4-FFF2-40B4-BE49-F238E27FC236}">
                <a16:creationId xmlns:a16="http://schemas.microsoft.com/office/drawing/2014/main" id="{7093B6FD-5B00-B055-4CC5-0FBA9D975880}"/>
              </a:ext>
            </a:extLst>
          </p:cNvPr>
          <p:cNvCxnSpPr>
            <a:cxnSpLocks noChangeShapeType="1"/>
            <a:stCxn id="20484" idx="0"/>
            <a:endCxn id="20483" idx="2"/>
          </p:cNvCxnSpPr>
          <p:nvPr/>
        </p:nvCxnSpPr>
        <p:spPr bwMode="auto">
          <a:xfrm flipV="1">
            <a:off x="4572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1" name="AutoShape 12">
            <a:extLst>
              <a:ext uri="{FF2B5EF4-FFF2-40B4-BE49-F238E27FC236}">
                <a16:creationId xmlns:a16="http://schemas.microsoft.com/office/drawing/2014/main" id="{BDBE76E9-4D1D-07D6-636E-B0A6F95C0C02}"/>
              </a:ext>
            </a:extLst>
          </p:cNvPr>
          <p:cNvCxnSpPr>
            <a:cxnSpLocks noChangeShapeType="1"/>
            <a:stCxn id="20485" idx="0"/>
            <a:endCxn id="20483" idx="2"/>
          </p:cNvCxnSpPr>
          <p:nvPr/>
        </p:nvCxnSpPr>
        <p:spPr bwMode="auto">
          <a:xfrm flipH="1" flipV="1">
            <a:off x="6096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3">
            <a:extLst>
              <a:ext uri="{FF2B5EF4-FFF2-40B4-BE49-F238E27FC236}">
                <a16:creationId xmlns:a16="http://schemas.microsoft.com/office/drawing/2014/main" id="{0DA228A4-DB84-03E4-E3B3-CAA73326BE8F}"/>
              </a:ext>
            </a:extLst>
          </p:cNvPr>
          <p:cNvCxnSpPr>
            <a:cxnSpLocks noChangeShapeType="1"/>
            <a:stCxn id="20486" idx="0"/>
            <a:endCxn id="20484" idx="2"/>
          </p:cNvCxnSpPr>
          <p:nvPr/>
        </p:nvCxnSpPr>
        <p:spPr bwMode="auto">
          <a:xfrm flipV="1">
            <a:off x="3905250" y="5343525"/>
            <a:ext cx="6667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4">
            <a:extLst>
              <a:ext uri="{FF2B5EF4-FFF2-40B4-BE49-F238E27FC236}">
                <a16:creationId xmlns:a16="http://schemas.microsoft.com/office/drawing/2014/main" id="{076029D3-7DAD-67CE-A64C-3A133880B767}"/>
              </a:ext>
            </a:extLst>
          </p:cNvPr>
          <p:cNvCxnSpPr>
            <a:cxnSpLocks noChangeShapeType="1"/>
            <a:stCxn id="20488" idx="0"/>
            <a:endCxn id="20485" idx="2"/>
          </p:cNvCxnSpPr>
          <p:nvPr/>
        </p:nvCxnSpPr>
        <p:spPr bwMode="auto">
          <a:xfrm flipV="1">
            <a:off x="6934200" y="5343525"/>
            <a:ext cx="6858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5">
            <a:extLst>
              <a:ext uri="{FF2B5EF4-FFF2-40B4-BE49-F238E27FC236}">
                <a16:creationId xmlns:a16="http://schemas.microsoft.com/office/drawing/2014/main" id="{964E21AA-180F-E9A8-0906-70C462C65704}"/>
              </a:ext>
            </a:extLst>
          </p:cNvPr>
          <p:cNvCxnSpPr>
            <a:cxnSpLocks noChangeShapeType="1"/>
            <a:stCxn id="20484" idx="2"/>
            <a:endCxn id="20487" idx="0"/>
          </p:cNvCxnSpPr>
          <p:nvPr/>
        </p:nvCxnSpPr>
        <p:spPr bwMode="auto">
          <a:xfrm>
            <a:off x="4572000" y="5343525"/>
            <a:ext cx="7239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6">
            <a:extLst>
              <a:ext uri="{FF2B5EF4-FFF2-40B4-BE49-F238E27FC236}">
                <a16:creationId xmlns:a16="http://schemas.microsoft.com/office/drawing/2014/main" id="{5848BA26-0F38-A0E1-6655-95A50D5667B7}"/>
              </a:ext>
            </a:extLst>
          </p:cNvPr>
          <p:cNvCxnSpPr>
            <a:cxnSpLocks noChangeShapeType="1"/>
            <a:stCxn id="20485" idx="2"/>
            <a:endCxn id="20489" idx="0"/>
          </p:cNvCxnSpPr>
          <p:nvPr/>
        </p:nvCxnSpPr>
        <p:spPr bwMode="auto">
          <a:xfrm>
            <a:off x="7620000" y="5343525"/>
            <a:ext cx="719138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F0CA2C5-9E26-94E8-7A34-82503C3F4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Execution Example</a:t>
            </a:r>
          </a:p>
        </p:txBody>
      </p:sp>
      <p:cxnSp>
        <p:nvCxnSpPr>
          <p:cNvPr id="21506" name="AutoShape 4">
            <a:extLst>
              <a:ext uri="{FF2B5EF4-FFF2-40B4-BE49-F238E27FC236}">
                <a16:creationId xmlns:a16="http://schemas.microsoft.com/office/drawing/2014/main" id="{B9E6A324-05CB-4C77-FE36-D9D0CEFC26B0}"/>
              </a:ext>
            </a:extLst>
          </p:cNvPr>
          <p:cNvCxnSpPr>
            <a:cxnSpLocks noChangeShapeType="1"/>
            <a:stCxn id="21514" idx="0"/>
            <a:endCxn id="21512" idx="2"/>
          </p:cNvCxnSpPr>
          <p:nvPr/>
        </p:nvCxnSpPr>
        <p:spPr bwMode="auto">
          <a:xfrm flipV="1">
            <a:off x="2808289" y="35210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7" name="AutoShape 5">
            <a:extLst>
              <a:ext uri="{FF2B5EF4-FFF2-40B4-BE49-F238E27FC236}">
                <a16:creationId xmlns:a16="http://schemas.microsoft.com/office/drawing/2014/main" id="{4C149750-178F-9E9E-A2D8-BC1E09E88B1F}"/>
              </a:ext>
            </a:extLst>
          </p:cNvPr>
          <p:cNvCxnSpPr>
            <a:cxnSpLocks noChangeShapeType="1"/>
            <a:stCxn id="21515" idx="0"/>
            <a:endCxn id="21512" idx="2"/>
          </p:cNvCxnSpPr>
          <p:nvPr/>
        </p:nvCxnSpPr>
        <p:spPr bwMode="auto">
          <a:xfrm flipH="1" flipV="1">
            <a:off x="3876675" y="35210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8" name="AutoShape 6">
            <a:extLst>
              <a:ext uri="{FF2B5EF4-FFF2-40B4-BE49-F238E27FC236}">
                <a16:creationId xmlns:a16="http://schemas.microsoft.com/office/drawing/2014/main" id="{2678C8DB-2BCE-BF83-7CDF-D9F0BD43FAC3}"/>
              </a:ext>
            </a:extLst>
          </p:cNvPr>
          <p:cNvCxnSpPr>
            <a:cxnSpLocks noChangeShapeType="1"/>
            <a:stCxn id="21518" idx="0"/>
            <a:endCxn id="21514" idx="2"/>
          </p:cNvCxnSpPr>
          <p:nvPr/>
        </p:nvCxnSpPr>
        <p:spPr bwMode="auto">
          <a:xfrm flipV="1">
            <a:off x="2341564" y="45466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9" name="AutoShape 7">
            <a:extLst>
              <a:ext uri="{FF2B5EF4-FFF2-40B4-BE49-F238E27FC236}">
                <a16:creationId xmlns:a16="http://schemas.microsoft.com/office/drawing/2014/main" id="{6D5180F3-2BFE-FD15-169D-1C02FC3CA694}"/>
              </a:ext>
            </a:extLst>
          </p:cNvPr>
          <p:cNvCxnSpPr>
            <a:cxnSpLocks noChangeShapeType="1"/>
            <a:stCxn id="21520" idx="0"/>
            <a:endCxn id="21515" idx="2"/>
          </p:cNvCxnSpPr>
          <p:nvPr/>
        </p:nvCxnSpPr>
        <p:spPr bwMode="auto">
          <a:xfrm flipV="1">
            <a:off x="4464051" y="45466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AutoShape 8">
            <a:extLst>
              <a:ext uri="{FF2B5EF4-FFF2-40B4-BE49-F238E27FC236}">
                <a16:creationId xmlns:a16="http://schemas.microsoft.com/office/drawing/2014/main" id="{350B040B-ACD9-95AF-3E2E-0F077461E7C5}"/>
              </a:ext>
            </a:extLst>
          </p:cNvPr>
          <p:cNvCxnSpPr>
            <a:cxnSpLocks noChangeShapeType="1"/>
            <a:stCxn id="21514" idx="2"/>
            <a:endCxn id="21519" idx="0"/>
          </p:cNvCxnSpPr>
          <p:nvPr/>
        </p:nvCxnSpPr>
        <p:spPr bwMode="auto">
          <a:xfrm>
            <a:off x="2808288" y="45466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AutoShape 9">
            <a:extLst>
              <a:ext uri="{FF2B5EF4-FFF2-40B4-BE49-F238E27FC236}">
                <a16:creationId xmlns:a16="http://schemas.microsoft.com/office/drawing/2014/main" id="{B5952D93-73A0-2E1F-9AA4-1545DA75BAB1}"/>
              </a:ext>
            </a:extLst>
          </p:cNvPr>
          <p:cNvCxnSpPr>
            <a:cxnSpLocks noChangeShapeType="1"/>
            <a:stCxn id="21515" idx="2"/>
            <a:endCxn id="21521" idx="0"/>
          </p:cNvCxnSpPr>
          <p:nvPr/>
        </p:nvCxnSpPr>
        <p:spPr bwMode="auto">
          <a:xfrm>
            <a:off x="4975226" y="45466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2" name="AutoShape 10">
            <a:extLst>
              <a:ext uri="{FF2B5EF4-FFF2-40B4-BE49-F238E27FC236}">
                <a16:creationId xmlns:a16="http://schemas.microsoft.com/office/drawing/2014/main" id="{2F293172-0E70-9979-96AB-BBBCFEEFE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4" y="3084514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9  4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1513" name="AutoShape 11">
            <a:extLst>
              <a:ext uri="{FF2B5EF4-FFF2-40B4-BE49-F238E27FC236}">
                <a16:creationId xmlns:a16="http://schemas.microsoft.com/office/drawing/2014/main" id="{2FEE2F29-F1BD-FD72-2908-78A3D7304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164" y="3084514"/>
            <a:ext cx="25860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3  8 </a:t>
            </a:r>
            <a:r>
              <a:rPr lang="en-US" altLang="en-US" sz="1800" b="1">
                <a:solidFill>
                  <a:schemeClr val="tx2"/>
                </a:solidFill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6  1 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1  3  6  8</a:t>
            </a:r>
          </a:p>
        </p:txBody>
      </p:sp>
      <p:sp>
        <p:nvSpPr>
          <p:cNvPr id="21514" name="AutoShape 12">
            <a:extLst>
              <a:ext uri="{FF2B5EF4-FFF2-40B4-BE49-F238E27FC236}">
                <a16:creationId xmlns:a16="http://schemas.microsoft.com/office/drawing/2014/main" id="{9D9325A6-DFAA-B838-06BB-B5BBF0E2F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1" y="4110039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2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1515" name="AutoShape 13">
            <a:extLst>
              <a:ext uri="{FF2B5EF4-FFF2-40B4-BE49-F238E27FC236}">
                <a16:creationId xmlns:a16="http://schemas.microsoft.com/office/drawing/2014/main" id="{8F0082A5-6603-87CF-14D8-5EA88BACB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4" y="4110039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9 </a:t>
            </a:r>
            <a:r>
              <a:rPr lang="en-US" altLang="en-US" sz="1800" b="1">
                <a:solidFill>
                  <a:schemeClr val="tx2"/>
                </a:solidFill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4 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1516" name="AutoShape 14">
            <a:extLst>
              <a:ext uri="{FF2B5EF4-FFF2-40B4-BE49-F238E27FC236}">
                <a16:creationId xmlns:a16="http://schemas.microsoft.com/office/drawing/2014/main" id="{B864BF71-C029-5505-C5B7-D6D089EFB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110039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3 </a:t>
            </a:r>
            <a:r>
              <a:rPr lang="en-US" altLang="en-US" sz="1800" b="1">
                <a:solidFill>
                  <a:schemeClr val="tx2"/>
                </a:solidFill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8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3  8</a:t>
            </a:r>
          </a:p>
        </p:txBody>
      </p:sp>
      <p:sp>
        <p:nvSpPr>
          <p:cNvPr id="21517" name="AutoShape 15">
            <a:extLst>
              <a:ext uri="{FF2B5EF4-FFF2-40B4-BE49-F238E27FC236}">
                <a16:creationId xmlns:a16="http://schemas.microsoft.com/office/drawing/2014/main" id="{BDAC75D7-F8D4-66A4-4E84-367DB234A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364" y="4110039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6  1 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1  6</a:t>
            </a:r>
          </a:p>
        </p:txBody>
      </p:sp>
      <p:sp>
        <p:nvSpPr>
          <p:cNvPr id="21518" name="AutoShape 16">
            <a:extLst>
              <a:ext uri="{FF2B5EF4-FFF2-40B4-BE49-F238E27FC236}">
                <a16:creationId xmlns:a16="http://schemas.microsoft.com/office/drawing/2014/main" id="{EC16EDCF-A37B-4964-A6FE-AE08C6343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5135564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7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1519" name="AutoShape 17">
            <a:extLst>
              <a:ext uri="{FF2B5EF4-FFF2-40B4-BE49-F238E27FC236}">
                <a16:creationId xmlns:a16="http://schemas.microsoft.com/office/drawing/2014/main" id="{DEB73669-728D-EFC8-8775-40A831A68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135564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2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1520" name="AutoShape 18">
            <a:extLst>
              <a:ext uri="{FF2B5EF4-FFF2-40B4-BE49-F238E27FC236}">
                <a16:creationId xmlns:a16="http://schemas.microsoft.com/office/drawing/2014/main" id="{518EFCBA-2794-AF8D-076F-387D098CF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9" y="5135564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9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1521" name="AutoShape 19">
            <a:extLst>
              <a:ext uri="{FF2B5EF4-FFF2-40B4-BE49-F238E27FC236}">
                <a16:creationId xmlns:a16="http://schemas.microsoft.com/office/drawing/2014/main" id="{7BF26094-F4FE-100B-8662-91BAE7CA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4" y="5135564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4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1522" name="AutoShape 20">
            <a:extLst>
              <a:ext uri="{FF2B5EF4-FFF2-40B4-BE49-F238E27FC236}">
                <a16:creationId xmlns:a16="http://schemas.microsoft.com/office/drawing/2014/main" id="{73D43797-63EE-803C-D426-AE4AC0542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5135564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3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1523" name="AutoShape 21">
            <a:extLst>
              <a:ext uri="{FF2B5EF4-FFF2-40B4-BE49-F238E27FC236}">
                <a16:creationId xmlns:a16="http://schemas.microsoft.com/office/drawing/2014/main" id="{9C8E7597-12CE-3C79-07E2-1B392BE9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5" y="5135564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8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1524" name="AutoShape 22">
            <a:extLst>
              <a:ext uri="{FF2B5EF4-FFF2-40B4-BE49-F238E27FC236}">
                <a16:creationId xmlns:a16="http://schemas.microsoft.com/office/drawing/2014/main" id="{4D4E5FA1-4DAE-DFCC-FB90-A1DF07A06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639" y="5135564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6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1525" name="AutoShape 23">
            <a:extLst>
              <a:ext uri="{FF2B5EF4-FFF2-40B4-BE49-F238E27FC236}">
                <a16:creationId xmlns:a16="http://schemas.microsoft.com/office/drawing/2014/main" id="{9CF03D06-3574-2D9D-6672-F5D729D5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3414" y="5135564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1</a:t>
            </a:r>
          </a:p>
        </p:txBody>
      </p:sp>
      <p:cxnSp>
        <p:nvCxnSpPr>
          <p:cNvPr id="21526" name="AutoShape 24">
            <a:extLst>
              <a:ext uri="{FF2B5EF4-FFF2-40B4-BE49-F238E27FC236}">
                <a16:creationId xmlns:a16="http://schemas.microsoft.com/office/drawing/2014/main" id="{0A644388-91F4-B14F-163A-DC5D444AD5B8}"/>
              </a:ext>
            </a:extLst>
          </p:cNvPr>
          <p:cNvCxnSpPr>
            <a:cxnSpLocks noChangeShapeType="1"/>
            <a:stCxn id="21516" idx="0"/>
            <a:endCxn id="21513" idx="2"/>
          </p:cNvCxnSpPr>
          <p:nvPr/>
        </p:nvCxnSpPr>
        <p:spPr bwMode="auto">
          <a:xfrm flipV="1">
            <a:off x="7239001" y="3521075"/>
            <a:ext cx="10699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7" name="AutoShape 25">
            <a:extLst>
              <a:ext uri="{FF2B5EF4-FFF2-40B4-BE49-F238E27FC236}">
                <a16:creationId xmlns:a16="http://schemas.microsoft.com/office/drawing/2014/main" id="{C114F865-DA9B-C326-5FE2-F6266771FB4E}"/>
              </a:ext>
            </a:extLst>
          </p:cNvPr>
          <p:cNvCxnSpPr>
            <a:cxnSpLocks noChangeShapeType="1"/>
            <a:stCxn id="21517" idx="0"/>
            <a:endCxn id="21513" idx="2"/>
          </p:cNvCxnSpPr>
          <p:nvPr/>
        </p:nvCxnSpPr>
        <p:spPr bwMode="auto">
          <a:xfrm flipH="1" flipV="1">
            <a:off x="8308975" y="3521075"/>
            <a:ext cx="10541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8" name="AutoShape 26">
            <a:extLst>
              <a:ext uri="{FF2B5EF4-FFF2-40B4-BE49-F238E27FC236}">
                <a16:creationId xmlns:a16="http://schemas.microsoft.com/office/drawing/2014/main" id="{0631352D-02CC-8A71-B7A9-DD93883FB716}"/>
              </a:ext>
            </a:extLst>
          </p:cNvPr>
          <p:cNvCxnSpPr>
            <a:cxnSpLocks noChangeShapeType="1"/>
            <a:stCxn id="21522" idx="0"/>
            <a:endCxn id="21516" idx="2"/>
          </p:cNvCxnSpPr>
          <p:nvPr/>
        </p:nvCxnSpPr>
        <p:spPr bwMode="auto">
          <a:xfrm flipV="1">
            <a:off x="6761164" y="4546600"/>
            <a:ext cx="47783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7">
            <a:extLst>
              <a:ext uri="{FF2B5EF4-FFF2-40B4-BE49-F238E27FC236}">
                <a16:creationId xmlns:a16="http://schemas.microsoft.com/office/drawing/2014/main" id="{C12B260A-CC51-F4C1-8268-4FF7582A62CF}"/>
              </a:ext>
            </a:extLst>
          </p:cNvPr>
          <p:cNvCxnSpPr>
            <a:cxnSpLocks noChangeShapeType="1"/>
            <a:stCxn id="21524" idx="0"/>
            <a:endCxn id="21517" idx="2"/>
          </p:cNvCxnSpPr>
          <p:nvPr/>
        </p:nvCxnSpPr>
        <p:spPr bwMode="auto">
          <a:xfrm flipV="1">
            <a:off x="8883651" y="45466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8">
            <a:extLst>
              <a:ext uri="{FF2B5EF4-FFF2-40B4-BE49-F238E27FC236}">
                <a16:creationId xmlns:a16="http://schemas.microsoft.com/office/drawing/2014/main" id="{34783D14-635C-008F-E5C2-97C09C5794A4}"/>
              </a:ext>
            </a:extLst>
          </p:cNvPr>
          <p:cNvCxnSpPr>
            <a:cxnSpLocks noChangeShapeType="1"/>
            <a:stCxn id="21516" idx="2"/>
            <a:endCxn id="21523" idx="0"/>
          </p:cNvCxnSpPr>
          <p:nvPr/>
        </p:nvCxnSpPr>
        <p:spPr bwMode="auto">
          <a:xfrm>
            <a:off x="7239000" y="4546600"/>
            <a:ext cx="4968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9">
            <a:extLst>
              <a:ext uri="{FF2B5EF4-FFF2-40B4-BE49-F238E27FC236}">
                <a16:creationId xmlns:a16="http://schemas.microsoft.com/office/drawing/2014/main" id="{EEF919DC-4AEB-FCB1-DC41-66F27ED00901}"/>
              </a:ext>
            </a:extLst>
          </p:cNvPr>
          <p:cNvCxnSpPr>
            <a:cxnSpLocks noChangeShapeType="1"/>
            <a:stCxn id="21517" idx="2"/>
            <a:endCxn id="21525" idx="0"/>
          </p:cNvCxnSpPr>
          <p:nvPr/>
        </p:nvCxnSpPr>
        <p:spPr bwMode="auto">
          <a:xfrm>
            <a:off x="9363076" y="45466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AutoShape 30">
            <a:extLst>
              <a:ext uri="{FF2B5EF4-FFF2-40B4-BE49-F238E27FC236}">
                <a16:creationId xmlns:a16="http://schemas.microsoft.com/office/drawing/2014/main" id="{18F63572-EC35-D865-90D3-AFF329A3C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0574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>
                <a:latin typeface="Tahoma" panose="020B0604030504040204" pitchFamily="34" charset="0"/>
              </a:rPr>
              <a:t> 3  8  6  1</a:t>
            </a:r>
            <a:r>
              <a:rPr lang="en-US" altLang="en-US" sz="1800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1800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1800">
                <a:latin typeface="Tahoma" panose="020B0604030504040204" pitchFamily="34" charset="0"/>
              </a:rPr>
              <a:t>  </a:t>
            </a:r>
            <a:r>
              <a:rPr lang="en-US" altLang="en-US" sz="1800">
                <a:solidFill>
                  <a:srgbClr val="FF0066"/>
                </a:solidFill>
                <a:latin typeface="Tahoma" panose="020B0604030504040204" pitchFamily="34" charset="0"/>
              </a:rPr>
              <a:t>1  2  3  4  6  7  8  9</a:t>
            </a:r>
          </a:p>
        </p:txBody>
      </p:sp>
      <p:cxnSp>
        <p:nvCxnSpPr>
          <p:cNvPr id="21533" name="AutoShape 31">
            <a:extLst>
              <a:ext uri="{FF2B5EF4-FFF2-40B4-BE49-F238E27FC236}">
                <a16:creationId xmlns:a16="http://schemas.microsoft.com/office/drawing/2014/main" id="{836E385B-BAAC-1533-C4D2-38F2CAFF5AE5}"/>
              </a:ext>
            </a:extLst>
          </p:cNvPr>
          <p:cNvCxnSpPr>
            <a:cxnSpLocks noChangeShapeType="1"/>
            <a:stCxn id="21512" idx="0"/>
            <a:endCxn id="21532" idx="2"/>
          </p:cNvCxnSpPr>
          <p:nvPr/>
        </p:nvCxnSpPr>
        <p:spPr bwMode="auto">
          <a:xfrm flipV="1">
            <a:off x="3876676" y="25066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32">
            <a:extLst>
              <a:ext uri="{FF2B5EF4-FFF2-40B4-BE49-F238E27FC236}">
                <a16:creationId xmlns:a16="http://schemas.microsoft.com/office/drawing/2014/main" id="{9447AA5A-282E-9BBD-D036-7120B613B799}"/>
              </a:ext>
            </a:extLst>
          </p:cNvPr>
          <p:cNvCxnSpPr>
            <a:cxnSpLocks noChangeShapeType="1"/>
            <a:stCxn id="21513" idx="0"/>
            <a:endCxn id="21532" idx="2"/>
          </p:cNvCxnSpPr>
          <p:nvPr/>
        </p:nvCxnSpPr>
        <p:spPr bwMode="auto">
          <a:xfrm flipH="1" flipV="1">
            <a:off x="6096001" y="2506664"/>
            <a:ext cx="22129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5" name="Line 33">
            <a:extLst>
              <a:ext uri="{FF2B5EF4-FFF2-40B4-BE49-F238E27FC236}">
                <a16:creationId xmlns:a16="http://schemas.microsoft.com/office/drawing/2014/main" id="{F418D08C-6742-C689-665F-96CB6E2CE2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9725" y="262255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6" name="Line 34">
            <a:extLst>
              <a:ext uri="{FF2B5EF4-FFF2-40B4-BE49-F238E27FC236}">
                <a16:creationId xmlns:a16="http://schemas.microsoft.com/office/drawing/2014/main" id="{44854B70-2B51-A2A6-9DA4-90656BACF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36">
            <a:extLst>
              <a:ext uri="{FF2B5EF4-FFF2-40B4-BE49-F238E27FC236}">
                <a16:creationId xmlns:a16="http://schemas.microsoft.com/office/drawing/2014/main" id="{59AC5AC7-1D4B-7A98-A3A6-23A7A052E3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6525" y="2681288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Line 37">
            <a:extLst>
              <a:ext uri="{FF2B5EF4-FFF2-40B4-BE49-F238E27FC236}">
                <a16:creationId xmlns:a16="http://schemas.microsoft.com/office/drawing/2014/main" id="{891A7C75-B755-BD82-9E62-717EA5AC0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743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D622772-9B60-DE0C-E8A7-0FC1B71CB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Analysis of Merge-Sort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23EFA73-071F-0BD6-76AD-39985E212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95400"/>
            <a:ext cx="7924800" cy="2514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The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h</a:t>
            </a:r>
            <a:r>
              <a:rPr lang="en-US" altLang="en-US" sz="2000"/>
              <a:t> of the merge-sort tree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at each recursive call we divide in half the sequence</a:t>
            </a:r>
          </a:p>
          <a:p>
            <a:pPr lvl="1" eaLnBrk="1" hangingPunct="1"/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The overall amount or work done at the nodes of depth </a:t>
            </a:r>
            <a:r>
              <a:rPr lang="en-US" altLang="en-US" sz="2000" b="1" i="1">
                <a:latin typeface="Times New Roman" panose="02020603050405020304" pitchFamily="18" charset="0"/>
              </a:rPr>
              <a:t>i </a:t>
            </a:r>
            <a:r>
              <a:rPr lang="en-US" altLang="en-US" sz="2000"/>
              <a:t>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we partition and merge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sequences of size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 b="1">
                <a:latin typeface="Symbol" panose="05050102010706020507" pitchFamily="18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</a:t>
            </a:r>
          </a:p>
          <a:p>
            <a:pPr lvl="1" eaLnBrk="1" hangingPunct="1">
              <a:buFontTx/>
              <a:buNone/>
            </a:pPr>
            <a:endParaRPr lang="en-US" altLang="en-US" sz="1000"/>
          </a:p>
          <a:p>
            <a:pPr eaLnBrk="1" hangingPunct="1"/>
            <a:r>
              <a:rPr lang="en-US" altLang="en-US" sz="2000"/>
              <a:t>Thus, the total running time of merge-sort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2FEAC867-853E-9E9B-9A24-44DB5A444025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391025"/>
            <a:ext cx="4191000" cy="1785938"/>
            <a:chOff x="384" y="1632"/>
            <a:chExt cx="5184" cy="2208"/>
          </a:xfrm>
        </p:grpSpPr>
        <p:cxnSp>
          <p:nvCxnSpPr>
            <p:cNvPr id="22548" name="AutoShape 5">
              <a:extLst>
                <a:ext uri="{FF2B5EF4-FFF2-40B4-BE49-F238E27FC236}">
                  <a16:creationId xmlns:a16="http://schemas.microsoft.com/office/drawing/2014/main" id="{720C2F14-90A8-FA8D-64BA-B0DF067184B7}"/>
                </a:ext>
              </a:extLst>
            </p:cNvPr>
            <p:cNvCxnSpPr>
              <a:cxnSpLocks noChangeShapeType="1"/>
              <a:stCxn id="22575" idx="0"/>
              <a:endCxn id="22554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6">
              <a:extLst>
                <a:ext uri="{FF2B5EF4-FFF2-40B4-BE49-F238E27FC236}">
                  <a16:creationId xmlns:a16="http://schemas.microsoft.com/office/drawing/2014/main" id="{FF32AA9C-DDE3-C494-34B4-8F4A0403AF54}"/>
                </a:ext>
              </a:extLst>
            </p:cNvPr>
            <p:cNvCxnSpPr>
              <a:cxnSpLocks noChangeShapeType="1"/>
              <a:stCxn id="22576" idx="0"/>
              <a:endCxn id="22554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0" name="AutoShape 7">
              <a:extLst>
                <a:ext uri="{FF2B5EF4-FFF2-40B4-BE49-F238E27FC236}">
                  <a16:creationId xmlns:a16="http://schemas.microsoft.com/office/drawing/2014/main" id="{DC013AF4-271B-2B28-E7C1-4EA721803F93}"/>
                </a:ext>
              </a:extLst>
            </p:cNvPr>
            <p:cNvCxnSpPr>
              <a:cxnSpLocks noChangeShapeType="1"/>
              <a:stCxn id="22567" idx="0"/>
              <a:endCxn id="22575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1" name="AutoShape 8">
              <a:extLst>
                <a:ext uri="{FF2B5EF4-FFF2-40B4-BE49-F238E27FC236}">
                  <a16:creationId xmlns:a16="http://schemas.microsoft.com/office/drawing/2014/main" id="{ACA98788-9D85-3342-0D55-C3ADF8F0040E}"/>
                </a:ext>
              </a:extLst>
            </p:cNvPr>
            <p:cNvCxnSpPr>
              <a:cxnSpLocks noChangeShapeType="1"/>
              <a:stCxn id="22569" idx="0"/>
              <a:endCxn id="22576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2" name="AutoShape 9">
              <a:extLst>
                <a:ext uri="{FF2B5EF4-FFF2-40B4-BE49-F238E27FC236}">
                  <a16:creationId xmlns:a16="http://schemas.microsoft.com/office/drawing/2014/main" id="{84D2E072-3742-94D3-B103-B83D84CA2EE9}"/>
                </a:ext>
              </a:extLst>
            </p:cNvPr>
            <p:cNvCxnSpPr>
              <a:cxnSpLocks noChangeShapeType="1"/>
              <a:stCxn id="22575" idx="2"/>
              <a:endCxn id="22568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3" name="AutoShape 10">
              <a:extLst>
                <a:ext uri="{FF2B5EF4-FFF2-40B4-BE49-F238E27FC236}">
                  <a16:creationId xmlns:a16="http://schemas.microsoft.com/office/drawing/2014/main" id="{B9A67D0F-4CC1-9D61-6C63-A6AF952B0120}"/>
                </a:ext>
              </a:extLst>
            </p:cNvPr>
            <p:cNvCxnSpPr>
              <a:cxnSpLocks noChangeShapeType="1"/>
              <a:stCxn id="22576" idx="2"/>
              <a:endCxn id="22570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4" name="AutoShape 11">
              <a:extLst>
                <a:ext uri="{FF2B5EF4-FFF2-40B4-BE49-F238E27FC236}">
                  <a16:creationId xmlns:a16="http://schemas.microsoft.com/office/drawing/2014/main" id="{8E870AE5-E4E3-390E-D879-7258C8F96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55" name="AutoShape 12">
              <a:extLst>
                <a:ext uri="{FF2B5EF4-FFF2-40B4-BE49-F238E27FC236}">
                  <a16:creationId xmlns:a16="http://schemas.microsoft.com/office/drawing/2014/main" id="{4CB4A276-E6E3-CAF8-CAA8-D69173868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2556" name="Group 13">
              <a:extLst>
                <a:ext uri="{FF2B5EF4-FFF2-40B4-BE49-F238E27FC236}">
                  <a16:creationId xmlns:a16="http://schemas.microsoft.com/office/drawing/2014/main" id="{55AC8113-60BC-506B-05AA-32165EDE5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22575" name="AutoShape 14">
                <a:extLst>
                  <a:ext uri="{FF2B5EF4-FFF2-40B4-BE49-F238E27FC236}">
                    <a16:creationId xmlns:a16="http://schemas.microsoft.com/office/drawing/2014/main" id="{C805400B-4CA3-734A-41B2-AD46268B4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6" name="AutoShape 15">
                <a:extLst>
                  <a:ext uri="{FF2B5EF4-FFF2-40B4-BE49-F238E27FC236}">
                    <a16:creationId xmlns:a16="http://schemas.microsoft.com/office/drawing/2014/main" id="{E2845339-15F8-FE1C-89F4-DD989EFCF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7" name="AutoShape 16">
                <a:extLst>
                  <a:ext uri="{FF2B5EF4-FFF2-40B4-BE49-F238E27FC236}">
                    <a16:creationId xmlns:a16="http://schemas.microsoft.com/office/drawing/2014/main" id="{4BDEBAC2-A392-BF6A-9294-E71A576F4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8" name="AutoShape 17">
                <a:extLst>
                  <a:ext uri="{FF2B5EF4-FFF2-40B4-BE49-F238E27FC236}">
                    <a16:creationId xmlns:a16="http://schemas.microsoft.com/office/drawing/2014/main" id="{B8A88516-4001-B26F-8EE4-521B9C093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2557" name="Group 18">
              <a:extLst>
                <a:ext uri="{FF2B5EF4-FFF2-40B4-BE49-F238E27FC236}">
                  <a16:creationId xmlns:a16="http://schemas.microsoft.com/office/drawing/2014/main" id="{454EDA18-E4AD-7200-9A1F-24508CF31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22567" name="AutoShape 19">
                <a:extLst>
                  <a:ext uri="{FF2B5EF4-FFF2-40B4-BE49-F238E27FC236}">
                    <a16:creationId xmlns:a16="http://schemas.microsoft.com/office/drawing/2014/main" id="{8DC33F37-76DD-B414-2917-29A7F5B1B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68" name="AutoShape 20">
                <a:extLst>
                  <a:ext uri="{FF2B5EF4-FFF2-40B4-BE49-F238E27FC236}">
                    <a16:creationId xmlns:a16="http://schemas.microsoft.com/office/drawing/2014/main" id="{617F46C2-6F49-C1D7-C15B-D52A6BCFD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69" name="AutoShape 21">
                <a:extLst>
                  <a:ext uri="{FF2B5EF4-FFF2-40B4-BE49-F238E27FC236}">
                    <a16:creationId xmlns:a16="http://schemas.microsoft.com/office/drawing/2014/main" id="{637FD83C-59D5-95D9-3EDA-B20410CFE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0" name="AutoShape 22">
                <a:extLst>
                  <a:ext uri="{FF2B5EF4-FFF2-40B4-BE49-F238E27FC236}">
                    <a16:creationId xmlns:a16="http://schemas.microsoft.com/office/drawing/2014/main" id="{A85058F6-E8BD-B7D6-19D1-A7ACA57C6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1" name="AutoShape 23">
                <a:extLst>
                  <a:ext uri="{FF2B5EF4-FFF2-40B4-BE49-F238E27FC236}">
                    <a16:creationId xmlns:a16="http://schemas.microsoft.com/office/drawing/2014/main" id="{8DA6AD63-1846-06CB-0DF5-780B0D484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2" name="AutoShape 24">
                <a:extLst>
                  <a:ext uri="{FF2B5EF4-FFF2-40B4-BE49-F238E27FC236}">
                    <a16:creationId xmlns:a16="http://schemas.microsoft.com/office/drawing/2014/main" id="{78BF4C26-DD17-39A7-6068-FBBFF03CF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3" name="AutoShape 25">
                <a:extLst>
                  <a:ext uri="{FF2B5EF4-FFF2-40B4-BE49-F238E27FC236}">
                    <a16:creationId xmlns:a16="http://schemas.microsoft.com/office/drawing/2014/main" id="{FB629ED2-B374-6955-C210-C2E06C1BF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574" name="AutoShape 26">
                <a:extLst>
                  <a:ext uri="{FF2B5EF4-FFF2-40B4-BE49-F238E27FC236}">
                    <a16:creationId xmlns:a16="http://schemas.microsoft.com/office/drawing/2014/main" id="{57B05220-154D-596F-5468-CA55D38B8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2558" name="AutoShape 27">
              <a:extLst>
                <a:ext uri="{FF2B5EF4-FFF2-40B4-BE49-F238E27FC236}">
                  <a16:creationId xmlns:a16="http://schemas.microsoft.com/office/drawing/2014/main" id="{B36ACCA5-4E4F-B98B-EBFC-3AB47C98A226}"/>
                </a:ext>
              </a:extLst>
            </p:cNvPr>
            <p:cNvCxnSpPr>
              <a:cxnSpLocks noChangeShapeType="1"/>
              <a:stCxn id="22577" idx="0"/>
              <a:endCxn id="22555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9" name="AutoShape 28">
              <a:extLst>
                <a:ext uri="{FF2B5EF4-FFF2-40B4-BE49-F238E27FC236}">
                  <a16:creationId xmlns:a16="http://schemas.microsoft.com/office/drawing/2014/main" id="{6A5A8959-853B-1D92-11A7-1E11C162C07E}"/>
                </a:ext>
              </a:extLst>
            </p:cNvPr>
            <p:cNvCxnSpPr>
              <a:cxnSpLocks noChangeShapeType="1"/>
              <a:stCxn id="22578" idx="0"/>
              <a:endCxn id="22555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0" name="AutoShape 29">
              <a:extLst>
                <a:ext uri="{FF2B5EF4-FFF2-40B4-BE49-F238E27FC236}">
                  <a16:creationId xmlns:a16="http://schemas.microsoft.com/office/drawing/2014/main" id="{1AF0FE85-CC64-2AF2-F869-A96ECC9E5E5C}"/>
                </a:ext>
              </a:extLst>
            </p:cNvPr>
            <p:cNvCxnSpPr>
              <a:cxnSpLocks noChangeShapeType="1"/>
              <a:stCxn id="22571" idx="0"/>
              <a:endCxn id="22577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1" name="AutoShape 30">
              <a:extLst>
                <a:ext uri="{FF2B5EF4-FFF2-40B4-BE49-F238E27FC236}">
                  <a16:creationId xmlns:a16="http://schemas.microsoft.com/office/drawing/2014/main" id="{0051256C-D598-CBA0-5A57-4E6D6F6F2756}"/>
                </a:ext>
              </a:extLst>
            </p:cNvPr>
            <p:cNvCxnSpPr>
              <a:cxnSpLocks noChangeShapeType="1"/>
              <a:stCxn id="22573" idx="0"/>
              <a:endCxn id="22578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2" name="AutoShape 31">
              <a:extLst>
                <a:ext uri="{FF2B5EF4-FFF2-40B4-BE49-F238E27FC236}">
                  <a16:creationId xmlns:a16="http://schemas.microsoft.com/office/drawing/2014/main" id="{F2636FE5-87D7-0D9D-8CC9-FE7F4B772A40}"/>
                </a:ext>
              </a:extLst>
            </p:cNvPr>
            <p:cNvCxnSpPr>
              <a:cxnSpLocks noChangeShapeType="1"/>
              <a:stCxn id="22577" idx="2"/>
              <a:endCxn id="22572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3" name="AutoShape 32">
              <a:extLst>
                <a:ext uri="{FF2B5EF4-FFF2-40B4-BE49-F238E27FC236}">
                  <a16:creationId xmlns:a16="http://schemas.microsoft.com/office/drawing/2014/main" id="{FBF36C00-5EA7-854E-7AE6-E5F69DFC2544}"/>
                </a:ext>
              </a:extLst>
            </p:cNvPr>
            <p:cNvCxnSpPr>
              <a:cxnSpLocks noChangeShapeType="1"/>
              <a:stCxn id="22578" idx="2"/>
              <a:endCxn id="22574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4" name="AutoShape 33">
              <a:extLst>
                <a:ext uri="{FF2B5EF4-FFF2-40B4-BE49-F238E27FC236}">
                  <a16:creationId xmlns:a16="http://schemas.microsoft.com/office/drawing/2014/main" id="{F4A6B0C5-0D40-7847-4D2F-94CB7DF04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22565" name="AutoShape 34">
              <a:extLst>
                <a:ext uri="{FF2B5EF4-FFF2-40B4-BE49-F238E27FC236}">
                  <a16:creationId xmlns:a16="http://schemas.microsoft.com/office/drawing/2014/main" id="{4C9B421E-1F41-F889-9F45-D4E49519CFBB}"/>
                </a:ext>
              </a:extLst>
            </p:cNvPr>
            <p:cNvCxnSpPr>
              <a:cxnSpLocks noChangeShapeType="1"/>
              <a:stCxn id="22554" idx="0"/>
              <a:endCxn id="22564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6" name="AutoShape 35">
              <a:extLst>
                <a:ext uri="{FF2B5EF4-FFF2-40B4-BE49-F238E27FC236}">
                  <a16:creationId xmlns:a16="http://schemas.microsoft.com/office/drawing/2014/main" id="{EEA7E8C8-F4B1-C205-6A35-099D3D4E7D89}"/>
                </a:ext>
              </a:extLst>
            </p:cNvPr>
            <p:cNvCxnSpPr>
              <a:cxnSpLocks noChangeShapeType="1"/>
              <a:stCxn id="22555" idx="0"/>
              <a:endCxn id="22564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38276" name="Group 36">
            <a:extLst>
              <a:ext uri="{FF2B5EF4-FFF2-40B4-BE49-F238E27FC236}">
                <a16:creationId xmlns:a16="http://schemas.microsoft.com/office/drawing/2014/main" id="{83505142-57DE-7659-BAC4-7EC6E1216866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943350"/>
          <a:ext cx="2057400" cy="238125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seqs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88FBED94-C60E-7CF7-5850-125B513AC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9248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Recurrence Equation Analysis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3DD64E7-58ED-E6FB-3B95-2E095F1B4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80772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conquer step of merge-sort consists of merging two sorted sequences, each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Symbol" panose="05050102010706020507" pitchFamily="18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 elements and implemented by means of a doubly linked list, takes at most </a:t>
            </a:r>
            <a:r>
              <a:rPr lang="en-US" altLang="en-US" sz="2000" b="1" i="1">
                <a:latin typeface="Times New Roman" panose="02020603050405020304" pitchFamily="18" charset="0"/>
              </a:rPr>
              <a:t>bn</a:t>
            </a:r>
            <a:r>
              <a:rPr lang="en-US" altLang="en-US" sz="2000"/>
              <a:t> steps, for some constant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Likewise, the basis case 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&lt; 2) </a:t>
            </a:r>
            <a:r>
              <a:rPr lang="en-US" altLang="en-US" sz="2000"/>
              <a:t>will take at most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 steps.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Therefore, if we let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 b="1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="1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denote the running time of merge-sort: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therefore analyze the running time of merge-sort by finding a </a:t>
            </a:r>
            <a:r>
              <a:rPr lang="en-US" altLang="en-US" sz="2000" b="1">
                <a:solidFill>
                  <a:schemeClr val="tx2"/>
                </a:solidFill>
              </a:rPr>
              <a:t>closed form solution</a:t>
            </a:r>
            <a:r>
              <a:rPr lang="en-US" altLang="en-US" sz="2000"/>
              <a:t> to the above equation.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That is, a solution that has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 b="1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 b="1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only on the left-hand side.</a:t>
            </a:r>
            <a:endParaRPr lang="en-US" altLang="en-US" sz="1800" b="1">
              <a:latin typeface="Times New Roman" panose="02020603050405020304" pitchFamily="18" charset="0"/>
            </a:endParaRPr>
          </a:p>
        </p:txBody>
      </p:sp>
      <p:graphicFrame>
        <p:nvGraphicFramePr>
          <p:cNvPr id="23555" name="Object 2">
            <a:extLst>
              <a:ext uri="{FF2B5EF4-FFF2-40B4-BE49-F238E27FC236}">
                <a16:creationId xmlns:a16="http://schemas.microsoft.com/office/drawing/2014/main" id="{95EF99D0-AC40-4BF6-0FA1-971E2BF55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1450" y="3581400"/>
          <a:ext cx="44005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3555" name="Object 2">
                        <a:extLst>
                          <a:ext uri="{FF2B5EF4-FFF2-40B4-BE49-F238E27FC236}">
                            <a16:creationId xmlns:a16="http://schemas.microsoft.com/office/drawing/2014/main" id="{95EF99D0-AC40-4BF6-0FA1-971E2BF557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3581400"/>
                        <a:ext cx="44005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3BF43A7-C8D1-1CA8-EA8E-7E8DB9C8D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76200"/>
            <a:ext cx="79248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Iterative Substitution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589F34-0B26-124C-0D68-3FD08C27A2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066800"/>
            <a:ext cx="8077200" cy="4953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iterative substitution technique, we iteratively apply the recurrence equation to itself and see if we can find a pattern: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Note that the base case, T(n)=b, occurs when 2</a:t>
            </a:r>
            <a:r>
              <a:rPr lang="en-US" altLang="en-US" sz="2000" baseline="30000" dirty="0"/>
              <a:t>i</a:t>
            </a:r>
            <a:r>
              <a:rPr lang="en-US" altLang="en-US" sz="2000" dirty="0"/>
              <a:t>=n.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	That is,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= log n when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reaches the base case.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So,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Thus, T(n) is O(n log n).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579" name="Object 2">
            <a:extLst>
              <a:ext uri="{FF2B5EF4-FFF2-40B4-BE49-F238E27FC236}">
                <a16:creationId xmlns:a16="http://schemas.microsoft.com/office/drawing/2014/main" id="{13B7519F-5F30-EE03-9774-F87780CBD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865375"/>
              </p:ext>
            </p:extLst>
          </p:nvPr>
        </p:nvGraphicFramePr>
        <p:xfrm>
          <a:off x="4904170" y="1633729"/>
          <a:ext cx="3544887" cy="2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4579" name="Object 2">
                        <a:extLst>
                          <a:ext uri="{FF2B5EF4-FFF2-40B4-BE49-F238E27FC236}">
                            <a16:creationId xmlns:a16="http://schemas.microsoft.com/office/drawing/2014/main" id="{13B7519F-5F30-EE03-9774-F87780CBD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4170" y="1633729"/>
                        <a:ext cx="3544887" cy="270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3">
            <a:extLst>
              <a:ext uri="{FF2B5EF4-FFF2-40B4-BE49-F238E27FC236}">
                <a16:creationId xmlns:a16="http://schemas.microsoft.com/office/drawing/2014/main" id="{49625B54-007E-2C98-472C-E1FA7D8DC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98570"/>
              </p:ext>
            </p:extLst>
          </p:nvPr>
        </p:nvGraphicFramePr>
        <p:xfrm>
          <a:off x="5064125" y="5737225"/>
          <a:ext cx="22161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4580" name="Object 3">
                        <a:extLst>
                          <a:ext uri="{FF2B5EF4-FFF2-40B4-BE49-F238E27FC236}">
                            <a16:creationId xmlns:a16="http://schemas.microsoft.com/office/drawing/2014/main" id="{49625B54-007E-2C98-472C-E1FA7D8DC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25" y="5737225"/>
                        <a:ext cx="22161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7F468C29-4FD0-012E-AA30-B3112D540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9248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The Recursion Tree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103D28-FAC2-0866-758C-FA70B9F6D3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19200"/>
            <a:ext cx="7924800" cy="2209800"/>
          </a:xfrm>
        </p:spPr>
        <p:txBody>
          <a:bodyPr/>
          <a:lstStyle/>
          <a:p>
            <a:pPr eaLnBrk="1" hangingPunct="1"/>
            <a:r>
              <a:rPr lang="en-US" altLang="en-US" sz="2000"/>
              <a:t>Draw the recursion tree for the recurrence relation and look for a pattern: </a:t>
            </a:r>
          </a:p>
        </p:txBody>
      </p:sp>
      <p:grpSp>
        <p:nvGrpSpPr>
          <p:cNvPr id="25603" name="Group 36">
            <a:extLst>
              <a:ext uri="{FF2B5EF4-FFF2-40B4-BE49-F238E27FC236}">
                <a16:creationId xmlns:a16="http://schemas.microsoft.com/office/drawing/2014/main" id="{6C881955-6C67-E8CC-98B3-361475B6631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629025"/>
            <a:ext cx="4191000" cy="1785938"/>
            <a:chOff x="384" y="1632"/>
            <a:chExt cx="5184" cy="2208"/>
          </a:xfrm>
        </p:grpSpPr>
        <p:cxnSp>
          <p:nvCxnSpPr>
            <p:cNvPr id="25629" name="AutoShape 4">
              <a:extLst>
                <a:ext uri="{FF2B5EF4-FFF2-40B4-BE49-F238E27FC236}">
                  <a16:creationId xmlns:a16="http://schemas.microsoft.com/office/drawing/2014/main" id="{ED8FF495-8609-B9DA-1C04-34EC15320E0D}"/>
                </a:ext>
              </a:extLst>
            </p:cNvPr>
            <p:cNvCxnSpPr>
              <a:cxnSpLocks noChangeShapeType="1"/>
              <a:stCxn id="25656" idx="0"/>
              <a:endCxn id="25635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30" name="AutoShape 5">
              <a:extLst>
                <a:ext uri="{FF2B5EF4-FFF2-40B4-BE49-F238E27FC236}">
                  <a16:creationId xmlns:a16="http://schemas.microsoft.com/office/drawing/2014/main" id="{158FEBD8-BE2A-EC1F-420F-ADB9B0FBC486}"/>
                </a:ext>
              </a:extLst>
            </p:cNvPr>
            <p:cNvCxnSpPr>
              <a:cxnSpLocks noChangeShapeType="1"/>
              <a:stCxn id="25657" idx="0"/>
              <a:endCxn id="25635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31" name="AutoShape 6">
              <a:extLst>
                <a:ext uri="{FF2B5EF4-FFF2-40B4-BE49-F238E27FC236}">
                  <a16:creationId xmlns:a16="http://schemas.microsoft.com/office/drawing/2014/main" id="{0CA1EA31-CB36-7C06-B5B2-D6C61B76138B}"/>
                </a:ext>
              </a:extLst>
            </p:cNvPr>
            <p:cNvCxnSpPr>
              <a:cxnSpLocks noChangeShapeType="1"/>
              <a:stCxn id="25648" idx="0"/>
              <a:endCxn id="25656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32" name="AutoShape 7">
              <a:extLst>
                <a:ext uri="{FF2B5EF4-FFF2-40B4-BE49-F238E27FC236}">
                  <a16:creationId xmlns:a16="http://schemas.microsoft.com/office/drawing/2014/main" id="{B2B483E6-A6CF-E240-1E9C-BB5F3A6B8084}"/>
                </a:ext>
              </a:extLst>
            </p:cNvPr>
            <p:cNvCxnSpPr>
              <a:cxnSpLocks noChangeShapeType="1"/>
              <a:stCxn id="25650" idx="0"/>
              <a:endCxn id="25657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33" name="AutoShape 8">
              <a:extLst>
                <a:ext uri="{FF2B5EF4-FFF2-40B4-BE49-F238E27FC236}">
                  <a16:creationId xmlns:a16="http://schemas.microsoft.com/office/drawing/2014/main" id="{05B6D315-F956-EA0D-AFDC-6CD0B13743FF}"/>
                </a:ext>
              </a:extLst>
            </p:cNvPr>
            <p:cNvCxnSpPr>
              <a:cxnSpLocks noChangeShapeType="1"/>
              <a:stCxn id="25656" idx="2"/>
              <a:endCxn id="25649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34" name="AutoShape 9">
              <a:extLst>
                <a:ext uri="{FF2B5EF4-FFF2-40B4-BE49-F238E27FC236}">
                  <a16:creationId xmlns:a16="http://schemas.microsoft.com/office/drawing/2014/main" id="{572C4EFE-A5B9-B89C-D2FA-FC40EC888ED6}"/>
                </a:ext>
              </a:extLst>
            </p:cNvPr>
            <p:cNvCxnSpPr>
              <a:cxnSpLocks noChangeShapeType="1"/>
              <a:stCxn id="25657" idx="2"/>
              <a:endCxn id="25651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35" name="AutoShape 10">
              <a:extLst>
                <a:ext uri="{FF2B5EF4-FFF2-40B4-BE49-F238E27FC236}">
                  <a16:creationId xmlns:a16="http://schemas.microsoft.com/office/drawing/2014/main" id="{E5783E7E-D8BD-89FD-3D91-CAD3896F0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sp>
          <p:nvSpPr>
            <p:cNvPr id="25636" name="AutoShape 11">
              <a:extLst>
                <a:ext uri="{FF2B5EF4-FFF2-40B4-BE49-F238E27FC236}">
                  <a16:creationId xmlns:a16="http://schemas.microsoft.com/office/drawing/2014/main" id="{7EC3E3FE-9D33-CB30-7E70-EED383EA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grpSp>
          <p:nvGrpSpPr>
            <p:cNvPr id="25637" name="Group 12">
              <a:extLst>
                <a:ext uri="{FF2B5EF4-FFF2-40B4-BE49-F238E27FC236}">
                  <a16:creationId xmlns:a16="http://schemas.microsoft.com/office/drawing/2014/main" id="{76A1B8CA-C3D5-9A98-DCB2-7E70F4A7F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25656" name="AutoShape 13">
                <a:extLst>
                  <a:ext uri="{FF2B5EF4-FFF2-40B4-BE49-F238E27FC236}">
                    <a16:creationId xmlns:a16="http://schemas.microsoft.com/office/drawing/2014/main" id="{92E7779D-DC1C-5F88-3948-63C22F066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657" name="AutoShape 14">
                <a:extLst>
                  <a:ext uri="{FF2B5EF4-FFF2-40B4-BE49-F238E27FC236}">
                    <a16:creationId xmlns:a16="http://schemas.microsoft.com/office/drawing/2014/main" id="{187837AA-DC4D-A5FE-FBE5-2715E4743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658" name="AutoShape 15">
                <a:extLst>
                  <a:ext uri="{FF2B5EF4-FFF2-40B4-BE49-F238E27FC236}">
                    <a16:creationId xmlns:a16="http://schemas.microsoft.com/office/drawing/2014/main" id="{10775C7F-6EB6-4187-C7A6-59FAAC2A9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659" name="AutoShape 16">
                <a:extLst>
                  <a:ext uri="{FF2B5EF4-FFF2-40B4-BE49-F238E27FC236}">
                    <a16:creationId xmlns:a16="http://schemas.microsoft.com/office/drawing/2014/main" id="{188B2ECC-94B6-1689-CC5A-1C833CF5B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5638" name="Group 17">
              <a:extLst>
                <a:ext uri="{FF2B5EF4-FFF2-40B4-BE49-F238E27FC236}">
                  <a16:creationId xmlns:a16="http://schemas.microsoft.com/office/drawing/2014/main" id="{1D978441-13AC-7034-EC61-CCD1ACC9FF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25648" name="AutoShape 18">
                <a:extLst>
                  <a:ext uri="{FF2B5EF4-FFF2-40B4-BE49-F238E27FC236}">
                    <a16:creationId xmlns:a16="http://schemas.microsoft.com/office/drawing/2014/main" id="{DCC20DBF-9DE6-69A5-691C-A8BB5F02D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49" name="AutoShape 19">
                <a:extLst>
                  <a:ext uri="{FF2B5EF4-FFF2-40B4-BE49-F238E27FC236}">
                    <a16:creationId xmlns:a16="http://schemas.microsoft.com/office/drawing/2014/main" id="{40A8AD41-18CE-076B-8DE1-57BD43EF7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0" name="AutoShape 20">
                <a:extLst>
                  <a:ext uri="{FF2B5EF4-FFF2-40B4-BE49-F238E27FC236}">
                    <a16:creationId xmlns:a16="http://schemas.microsoft.com/office/drawing/2014/main" id="{EC9F7A82-E416-5D98-5AC5-D8917B21B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1" name="AutoShape 21">
                <a:extLst>
                  <a:ext uri="{FF2B5EF4-FFF2-40B4-BE49-F238E27FC236}">
                    <a16:creationId xmlns:a16="http://schemas.microsoft.com/office/drawing/2014/main" id="{B12F1E79-C769-C4D4-1306-40151C08C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2" name="AutoShape 22">
                <a:extLst>
                  <a:ext uri="{FF2B5EF4-FFF2-40B4-BE49-F238E27FC236}">
                    <a16:creationId xmlns:a16="http://schemas.microsoft.com/office/drawing/2014/main" id="{8367A08E-B360-5669-828E-EB701304D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3" name="AutoShape 23">
                <a:extLst>
                  <a:ext uri="{FF2B5EF4-FFF2-40B4-BE49-F238E27FC236}">
                    <a16:creationId xmlns:a16="http://schemas.microsoft.com/office/drawing/2014/main" id="{58F41970-B72A-A7DF-8669-FB6914E8A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4" name="AutoShape 24">
                <a:extLst>
                  <a:ext uri="{FF2B5EF4-FFF2-40B4-BE49-F238E27FC236}">
                    <a16:creationId xmlns:a16="http://schemas.microsoft.com/office/drawing/2014/main" id="{6570D6FE-315E-D1C6-DE0E-B88B1AED5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25655" name="AutoShape 25">
                <a:extLst>
                  <a:ext uri="{FF2B5EF4-FFF2-40B4-BE49-F238E27FC236}">
                    <a16:creationId xmlns:a16="http://schemas.microsoft.com/office/drawing/2014/main" id="{C4F1A3BB-567F-1130-7C01-7CDA4FAFF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</p:grpSp>
        <p:cxnSp>
          <p:nvCxnSpPr>
            <p:cNvPr id="25639" name="AutoShape 26">
              <a:extLst>
                <a:ext uri="{FF2B5EF4-FFF2-40B4-BE49-F238E27FC236}">
                  <a16:creationId xmlns:a16="http://schemas.microsoft.com/office/drawing/2014/main" id="{211D1D66-0E8F-66C7-6CF7-383C375FDA29}"/>
                </a:ext>
              </a:extLst>
            </p:cNvPr>
            <p:cNvCxnSpPr>
              <a:cxnSpLocks noChangeShapeType="1"/>
              <a:stCxn id="25658" idx="0"/>
              <a:endCxn id="25636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0" name="AutoShape 27">
              <a:extLst>
                <a:ext uri="{FF2B5EF4-FFF2-40B4-BE49-F238E27FC236}">
                  <a16:creationId xmlns:a16="http://schemas.microsoft.com/office/drawing/2014/main" id="{1E42BCD5-52AE-F1AF-569B-8774D0984C36}"/>
                </a:ext>
              </a:extLst>
            </p:cNvPr>
            <p:cNvCxnSpPr>
              <a:cxnSpLocks noChangeShapeType="1"/>
              <a:stCxn id="25659" idx="0"/>
              <a:endCxn id="25636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1" name="AutoShape 28">
              <a:extLst>
                <a:ext uri="{FF2B5EF4-FFF2-40B4-BE49-F238E27FC236}">
                  <a16:creationId xmlns:a16="http://schemas.microsoft.com/office/drawing/2014/main" id="{3892F89E-152A-C3AE-7FCB-72D4EB4F7B20}"/>
                </a:ext>
              </a:extLst>
            </p:cNvPr>
            <p:cNvCxnSpPr>
              <a:cxnSpLocks noChangeShapeType="1"/>
              <a:stCxn id="25652" idx="0"/>
              <a:endCxn id="25658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2" name="AutoShape 29">
              <a:extLst>
                <a:ext uri="{FF2B5EF4-FFF2-40B4-BE49-F238E27FC236}">
                  <a16:creationId xmlns:a16="http://schemas.microsoft.com/office/drawing/2014/main" id="{D28BF5C1-9809-FD2C-0C88-9089FF645C1D}"/>
                </a:ext>
              </a:extLst>
            </p:cNvPr>
            <p:cNvCxnSpPr>
              <a:cxnSpLocks noChangeShapeType="1"/>
              <a:stCxn id="25654" idx="0"/>
              <a:endCxn id="25659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3" name="AutoShape 30">
              <a:extLst>
                <a:ext uri="{FF2B5EF4-FFF2-40B4-BE49-F238E27FC236}">
                  <a16:creationId xmlns:a16="http://schemas.microsoft.com/office/drawing/2014/main" id="{6CC210E9-B49D-B676-A262-AC4A77420F34}"/>
                </a:ext>
              </a:extLst>
            </p:cNvPr>
            <p:cNvCxnSpPr>
              <a:cxnSpLocks noChangeShapeType="1"/>
              <a:stCxn id="25658" idx="2"/>
              <a:endCxn id="25653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4" name="AutoShape 31">
              <a:extLst>
                <a:ext uri="{FF2B5EF4-FFF2-40B4-BE49-F238E27FC236}">
                  <a16:creationId xmlns:a16="http://schemas.microsoft.com/office/drawing/2014/main" id="{9685703C-4EA0-BDF2-4C4F-912CDCEC71B5}"/>
                </a:ext>
              </a:extLst>
            </p:cNvPr>
            <p:cNvCxnSpPr>
              <a:cxnSpLocks noChangeShapeType="1"/>
              <a:stCxn id="25659" idx="2"/>
              <a:endCxn id="25655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45" name="AutoShape 32">
              <a:extLst>
                <a:ext uri="{FF2B5EF4-FFF2-40B4-BE49-F238E27FC236}">
                  <a16:creationId xmlns:a16="http://schemas.microsoft.com/office/drawing/2014/main" id="{2E856F11-6645-F40D-89D1-6A135EF4A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cxnSp>
          <p:nvCxnSpPr>
            <p:cNvPr id="25646" name="AutoShape 33">
              <a:extLst>
                <a:ext uri="{FF2B5EF4-FFF2-40B4-BE49-F238E27FC236}">
                  <a16:creationId xmlns:a16="http://schemas.microsoft.com/office/drawing/2014/main" id="{87E36BD0-756A-606A-F0B4-B26A292B04C2}"/>
                </a:ext>
              </a:extLst>
            </p:cNvPr>
            <p:cNvCxnSpPr>
              <a:cxnSpLocks noChangeShapeType="1"/>
              <a:stCxn id="25635" idx="0"/>
              <a:endCxn id="25645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7" name="AutoShape 34">
              <a:extLst>
                <a:ext uri="{FF2B5EF4-FFF2-40B4-BE49-F238E27FC236}">
                  <a16:creationId xmlns:a16="http://schemas.microsoft.com/office/drawing/2014/main" id="{CEC38BFA-9F54-E330-0F55-177E176D8233}"/>
                </a:ext>
              </a:extLst>
            </p:cNvPr>
            <p:cNvCxnSpPr>
              <a:cxnSpLocks noChangeShapeType="1"/>
              <a:stCxn id="25636" idx="0"/>
              <a:endCxn id="25645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61957" name="Group 165">
            <a:extLst>
              <a:ext uri="{FF2B5EF4-FFF2-40B4-BE49-F238E27FC236}">
                <a16:creationId xmlns:a16="http://schemas.microsoft.com/office/drawing/2014/main" id="{39DA5279-2126-328F-D889-66518A060E84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3181350"/>
          <a:ext cx="2590800" cy="238125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# of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seqs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/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18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en-US" sz="1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/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620" name="Object 2">
            <a:extLst>
              <a:ext uri="{FF2B5EF4-FFF2-40B4-BE49-F238E27FC236}">
                <a16:creationId xmlns:a16="http://schemas.microsoft.com/office/drawing/2014/main" id="{1E57C9AE-C28C-5A7D-D57A-583F261E42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1981201"/>
          <a:ext cx="32004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5620" name="Object 2">
                        <a:extLst>
                          <a:ext uri="{FF2B5EF4-FFF2-40B4-BE49-F238E27FC236}">
                            <a16:creationId xmlns:a16="http://schemas.microsoft.com/office/drawing/2014/main" id="{1E57C9AE-C28C-5A7D-D57A-583F261E42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81201"/>
                        <a:ext cx="32004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993" name="Group 201">
            <a:extLst>
              <a:ext uri="{FF2B5EF4-FFF2-40B4-BE49-F238E27FC236}">
                <a16:creationId xmlns:a16="http://schemas.microsoft.com/office/drawing/2014/main" id="{E76AA301-41E4-E44A-2773-5A9978F499CB}"/>
              </a:ext>
            </a:extLst>
          </p:cNvPr>
          <p:cNvGraphicFramePr>
            <a:graphicFrameLocks noGrp="1"/>
          </p:cNvGraphicFramePr>
          <p:nvPr/>
        </p:nvGraphicFramePr>
        <p:xfrm>
          <a:off x="9296400" y="3048000"/>
          <a:ext cx="685800" cy="2438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bn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27" name="Text Box 202">
            <a:extLst>
              <a:ext uri="{FF2B5EF4-FFF2-40B4-BE49-F238E27FC236}">
                <a16:creationId xmlns:a16="http://schemas.microsoft.com/office/drawing/2014/main" id="{D94CFFB0-19E9-B328-ACB9-38164CF33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367" y="5638800"/>
            <a:ext cx="27062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Total time = </a:t>
            </a:r>
            <a:r>
              <a:rPr lang="en-US" altLang="en-US" sz="1800" b="1" i="1">
                <a:latin typeface="Times New Roman" panose="02020603050405020304" pitchFamily="18" charset="0"/>
              </a:rPr>
              <a:t>bn</a:t>
            </a:r>
            <a:r>
              <a:rPr lang="en-US" altLang="en-US" sz="1800">
                <a:latin typeface="Times New Roman" panose="02020603050405020304" pitchFamily="18" charset="0"/>
              </a:rPr>
              <a:t> + </a:t>
            </a:r>
            <a:r>
              <a:rPr lang="en-US" altLang="en-US" sz="1800" b="1" i="1">
                <a:latin typeface="Times New Roman" panose="02020603050405020304" pitchFamily="18" charset="0"/>
              </a:rPr>
              <a:t>bn</a:t>
            </a:r>
            <a:r>
              <a:rPr lang="en-US" altLang="en-US" sz="1800">
                <a:latin typeface="Times New Roman" panose="02020603050405020304" pitchFamily="18" charset="0"/>
              </a:rPr>
              <a:t> 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5628" name="Text Box 203">
            <a:extLst>
              <a:ext uri="{FF2B5EF4-FFF2-40B4-BE49-F238E27FC236}">
                <a16:creationId xmlns:a16="http://schemas.microsoft.com/office/drawing/2014/main" id="{E1AE6CED-34C4-D901-7EA7-AE53F863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398" y="6034088"/>
            <a:ext cx="3608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(last level plus all previous levels)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184A34E-6E41-68AA-CAFE-C0EC606FB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Guess-and-Test Method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78D36FB-E2A5-BA8F-72DF-E2E970C2F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371600"/>
            <a:ext cx="80772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 the guess-and-test method, we guess a closed form solution and then try to prove it is true by induction: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Guess: T(n) &lt; cn log 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Wrong: we cannot make this last line less than cn log n</a:t>
            </a:r>
          </a:p>
        </p:txBody>
      </p:sp>
      <p:graphicFrame>
        <p:nvGraphicFramePr>
          <p:cNvPr id="26627" name="Object 2">
            <a:extLst>
              <a:ext uri="{FF2B5EF4-FFF2-40B4-BE49-F238E27FC236}">
                <a16:creationId xmlns:a16="http://schemas.microsoft.com/office/drawing/2014/main" id="{8AF9FCA3-272D-D63D-90A0-0E204068E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3513" y="3733800"/>
          <a:ext cx="396240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6627" name="Object 2">
                        <a:extLst>
                          <a:ext uri="{FF2B5EF4-FFF2-40B4-BE49-F238E27FC236}">
                            <a16:creationId xmlns:a16="http://schemas.microsoft.com/office/drawing/2014/main" id="{8AF9FCA3-272D-D63D-90A0-0E204068E1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3733800"/>
                        <a:ext cx="3962400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>
            <a:extLst>
              <a:ext uri="{FF2B5EF4-FFF2-40B4-BE49-F238E27FC236}">
                <a16:creationId xmlns:a16="http://schemas.microsoft.com/office/drawing/2014/main" id="{2E18A50F-B6AD-445A-B889-73777F67A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133601"/>
          <a:ext cx="37004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6628" name="Object 3">
                        <a:extLst>
                          <a:ext uri="{FF2B5EF4-FFF2-40B4-BE49-F238E27FC236}">
                            <a16:creationId xmlns:a16="http://schemas.microsoft.com/office/drawing/2014/main" id="{2E18A50F-B6AD-445A-B889-73777F67AE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133601"/>
                        <a:ext cx="37004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9CAC9493-31BE-FF05-4F7B-A655C4F5D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848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Guess-and-Test Method, Part 2</a:t>
            </a:r>
          </a:p>
        </p:txBody>
      </p:sp>
      <p:sp>
        <p:nvSpPr>
          <p:cNvPr id="27650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F6EC2DC-30D4-7AF1-8D41-896489E612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8077200" cy="5181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Recall the recurrence equation: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Guess #2: T(n) &lt; cn log</a:t>
            </a:r>
            <a:r>
              <a:rPr lang="en-US" altLang="en-US" sz="2000" baseline="30000"/>
              <a:t>2</a:t>
            </a:r>
            <a:r>
              <a:rPr lang="en-US" altLang="en-US" sz="2000"/>
              <a:t> 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So, T(n) is O(n log</a:t>
            </a:r>
            <a:r>
              <a:rPr lang="en-US" altLang="en-US" sz="2000" baseline="30000"/>
              <a:t>2</a:t>
            </a:r>
            <a:r>
              <a:rPr lang="en-US" altLang="en-US" sz="2000"/>
              <a:t> n).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 general, to use this method, you need to have a good guess and you must know how to use the induction proof.</a:t>
            </a:r>
          </a:p>
        </p:txBody>
      </p:sp>
      <p:graphicFrame>
        <p:nvGraphicFramePr>
          <p:cNvPr id="27651" name="Object 2">
            <a:extLst>
              <a:ext uri="{FF2B5EF4-FFF2-40B4-BE49-F238E27FC236}">
                <a16:creationId xmlns:a16="http://schemas.microsoft.com/office/drawing/2014/main" id="{6EFAE85E-705B-54BF-D248-34943D6D4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074988"/>
          <a:ext cx="4478338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7651" name="Object 2">
                        <a:extLst>
                          <a:ext uri="{FF2B5EF4-FFF2-40B4-BE49-F238E27FC236}">
                            <a16:creationId xmlns:a16="http://schemas.microsoft.com/office/drawing/2014/main" id="{6EFAE85E-705B-54BF-D248-34943D6D4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074988"/>
                        <a:ext cx="4478338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3">
            <a:extLst>
              <a:ext uri="{FF2B5EF4-FFF2-40B4-BE49-F238E27FC236}">
                <a16:creationId xmlns:a16="http://schemas.microsoft.com/office/drawing/2014/main" id="{B382E071-D8C0-272B-583F-1FF2DA132A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1676401"/>
          <a:ext cx="37004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7652" name="Object 3">
                        <a:extLst>
                          <a:ext uri="{FF2B5EF4-FFF2-40B4-BE49-F238E27FC236}">
                            <a16:creationId xmlns:a16="http://schemas.microsoft.com/office/drawing/2014/main" id="{B382E071-D8C0-272B-583F-1FF2DA132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1676401"/>
                        <a:ext cx="37004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5">
            <a:extLst>
              <a:ext uri="{FF2B5EF4-FFF2-40B4-BE49-F238E27FC236}">
                <a16:creationId xmlns:a16="http://schemas.microsoft.com/office/drawing/2014/main" id="{9EC3A7DB-FF08-A185-F888-1DD0B823C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00600"/>
            <a:ext cx="1023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(if c &gt; 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E4FA9ECD-D884-B26B-1336-02EF62820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9248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</a:t>
            </a:r>
          </a:p>
        </p:txBody>
      </p:sp>
      <p:sp>
        <p:nvSpPr>
          <p:cNvPr id="2867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B5B5BDD-513B-906F-C7A3-505FF09538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3716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Many divide-and-conquer recurrence equations have 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3200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0ED13851-EEA0-58AB-AA66-06F4A2084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0464" y="2057401"/>
          <a:ext cx="51387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8675" name="Object 2">
                        <a:extLst>
                          <a:ext uri="{FF2B5EF4-FFF2-40B4-BE49-F238E27FC236}">
                            <a16:creationId xmlns:a16="http://schemas.microsoft.com/office/drawing/2014/main" id="{0ED13851-EEA0-58AB-AA66-06F4A2084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4" y="2057401"/>
                        <a:ext cx="51387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>
            <a:extLst>
              <a:ext uri="{FF2B5EF4-FFF2-40B4-BE49-F238E27FC236}">
                <a16:creationId xmlns:a16="http://schemas.microsoft.com/office/drawing/2014/main" id="{6452C7F5-08C6-720F-BE8A-ACDD78AC6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1" y="4083050"/>
          <a:ext cx="803592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28676" name="Object 3">
                        <a:extLst>
                          <a:ext uri="{FF2B5EF4-FFF2-40B4-BE49-F238E27FC236}">
                            <a16:creationId xmlns:a16="http://schemas.microsoft.com/office/drawing/2014/main" id="{6452C7F5-08C6-720F-BE8A-ACDD78AC6D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4083050"/>
                        <a:ext cx="8035925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A4692D4-9AD0-BFB5-75BF-1AD84A48E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Method, Example 1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3E055DC-A2C7-C633-FEB1-50AE67F44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8077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29699" name="Object 2">
            <a:extLst>
              <a:ext uri="{FF2B5EF4-FFF2-40B4-BE49-F238E27FC236}">
                <a16:creationId xmlns:a16="http://schemas.microsoft.com/office/drawing/2014/main" id="{155DA679-2519-4791-A25C-288FAF105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447801"/>
          <a:ext cx="39195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9699" name="Object 2">
                        <a:extLst>
                          <a:ext uri="{FF2B5EF4-FFF2-40B4-BE49-F238E27FC236}">
                            <a16:creationId xmlns:a16="http://schemas.microsoft.com/office/drawing/2014/main" id="{155DA679-2519-4791-A25C-288FAF105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47801"/>
                        <a:ext cx="39195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>
            <a:extLst>
              <a:ext uri="{FF2B5EF4-FFF2-40B4-BE49-F238E27FC236}">
                <a16:creationId xmlns:a16="http://schemas.microsoft.com/office/drawing/2014/main" id="{766440A9-05FA-DCD5-3ADB-3038AD557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021014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9700" name="Object 3">
                        <a:extLst>
                          <a:ext uri="{FF2B5EF4-FFF2-40B4-BE49-F238E27FC236}">
                            <a16:creationId xmlns:a16="http://schemas.microsoft.com/office/drawing/2014/main" id="{766440A9-05FA-DCD5-3ADB-3038AD557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21014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">
            <a:extLst>
              <a:ext uri="{FF2B5EF4-FFF2-40B4-BE49-F238E27FC236}">
                <a16:creationId xmlns:a16="http://schemas.microsoft.com/office/drawing/2014/main" id="{9A4A3E95-96CB-A231-19A0-5982DC314B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372100"/>
          <a:ext cx="3429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29701" name="Object 4">
                        <a:extLst>
                          <a:ext uri="{FF2B5EF4-FFF2-40B4-BE49-F238E27FC236}">
                            <a16:creationId xmlns:a16="http://schemas.microsoft.com/office/drawing/2014/main" id="{9A4A3E95-96CB-A231-19A0-5982DC314B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372100"/>
                        <a:ext cx="3429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9">
            <a:extLst>
              <a:ext uri="{FF2B5EF4-FFF2-40B4-BE49-F238E27FC236}">
                <a16:creationId xmlns:a16="http://schemas.microsoft.com/office/drawing/2014/main" id="{DD320188-F0EA-4C71-B93D-8095EE871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43" y="5943600"/>
            <a:ext cx="4973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 log</a:t>
            </a:r>
            <a:r>
              <a:rPr lang="en-US" altLang="en-US" sz="1800" baseline="-25000"/>
              <a:t>b</a:t>
            </a:r>
            <a:r>
              <a:rPr lang="en-US" altLang="en-US" sz="1800"/>
              <a:t>a=2, so case 1 says T(n) is O(n</a:t>
            </a:r>
            <a:r>
              <a:rPr lang="en-US" altLang="en-US" sz="1800" baseline="30000"/>
              <a:t>2</a:t>
            </a:r>
            <a:r>
              <a:rPr lang="en-US" altLang="en-US" sz="1800"/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4227DC8D-09B8-B8F2-02C6-1FE13E446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Method, Example 2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FC62EA2-81FE-3E77-E178-546BB05CD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19200"/>
            <a:ext cx="8077200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30723" name="Object 2">
            <a:extLst>
              <a:ext uri="{FF2B5EF4-FFF2-40B4-BE49-F238E27FC236}">
                <a16:creationId xmlns:a16="http://schemas.microsoft.com/office/drawing/2014/main" id="{196CEF0A-D68B-3085-9050-7EC88CB9D6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371601"/>
          <a:ext cx="39195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0723" name="Object 2">
                        <a:extLst>
                          <a:ext uri="{FF2B5EF4-FFF2-40B4-BE49-F238E27FC236}">
                            <a16:creationId xmlns:a16="http://schemas.microsoft.com/office/drawing/2014/main" id="{196CEF0A-D68B-3085-9050-7EC88CB9D6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371601"/>
                        <a:ext cx="39195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3">
            <a:extLst>
              <a:ext uri="{FF2B5EF4-FFF2-40B4-BE49-F238E27FC236}">
                <a16:creationId xmlns:a16="http://schemas.microsoft.com/office/drawing/2014/main" id="{A06A84B5-ABF4-3C65-D9C5-84CF054EFB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944814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0724" name="Object 3">
                        <a:extLst>
                          <a:ext uri="{FF2B5EF4-FFF2-40B4-BE49-F238E27FC236}">
                            <a16:creationId xmlns:a16="http://schemas.microsoft.com/office/drawing/2014/main" id="{A06A84B5-ABF4-3C65-D9C5-84CF054EFB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44814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4">
            <a:extLst>
              <a:ext uri="{FF2B5EF4-FFF2-40B4-BE49-F238E27FC236}">
                <a16:creationId xmlns:a16="http://schemas.microsoft.com/office/drawing/2014/main" id="{663EDAC0-3587-8E60-4F7F-BC1FCAEED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2513" y="5295900"/>
          <a:ext cx="43227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0725" name="Object 4">
                        <a:extLst>
                          <a:ext uri="{FF2B5EF4-FFF2-40B4-BE49-F238E27FC236}">
                            <a16:creationId xmlns:a16="http://schemas.microsoft.com/office/drawing/2014/main" id="{663EDAC0-3587-8E60-4F7F-BC1FCAEED1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5295900"/>
                        <a:ext cx="43227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8">
            <a:extLst>
              <a:ext uri="{FF2B5EF4-FFF2-40B4-BE49-F238E27FC236}">
                <a16:creationId xmlns:a16="http://schemas.microsoft.com/office/drawing/2014/main" id="{8415FCA5-2663-F171-7858-57F1D7C7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8328" y="5943600"/>
            <a:ext cx="55168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 log</a:t>
            </a:r>
            <a:r>
              <a:rPr lang="en-US" altLang="en-US" sz="1800" baseline="-25000"/>
              <a:t>b</a:t>
            </a:r>
            <a:r>
              <a:rPr lang="en-US" altLang="en-US" sz="1800"/>
              <a:t>a=1, so case 2 says T(n) is O(n log</a:t>
            </a:r>
            <a:r>
              <a:rPr lang="en-US" altLang="en-US" sz="1800" baseline="30000"/>
              <a:t>2 </a:t>
            </a:r>
            <a:r>
              <a:rPr lang="en-US" altLang="en-US" sz="1800"/>
              <a:t>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2DBBE0B-70B8-CA34-E833-C9FE4DA07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Method, Example 3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AD8F4DF-3224-3ED3-FCFE-555F10BF5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8077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70C0EA92-6842-0500-27E5-840490659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371601"/>
          <a:ext cx="39195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1747" name="Object 2">
                        <a:extLst>
                          <a:ext uri="{FF2B5EF4-FFF2-40B4-BE49-F238E27FC236}">
                            <a16:creationId xmlns:a16="http://schemas.microsoft.com/office/drawing/2014/main" id="{70C0EA92-6842-0500-27E5-8404906598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371601"/>
                        <a:ext cx="39195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2094CDE6-806E-C803-37BF-4D2BA8153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021014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1748" name="Object 3">
                        <a:extLst>
                          <a:ext uri="{FF2B5EF4-FFF2-40B4-BE49-F238E27FC236}">
                            <a16:creationId xmlns:a16="http://schemas.microsoft.com/office/drawing/2014/main" id="{2094CDE6-806E-C803-37BF-4D2BA8153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21014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4">
            <a:extLst>
              <a:ext uri="{FF2B5EF4-FFF2-40B4-BE49-F238E27FC236}">
                <a16:creationId xmlns:a16="http://schemas.microsoft.com/office/drawing/2014/main" id="{ABA59619-A259-2D3C-AAA2-886DBCABE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014" y="5448300"/>
          <a:ext cx="3178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1749" name="Object 4">
                        <a:extLst>
                          <a:ext uri="{FF2B5EF4-FFF2-40B4-BE49-F238E27FC236}">
                            <a16:creationId xmlns:a16="http://schemas.microsoft.com/office/drawing/2014/main" id="{ABA59619-A259-2D3C-AAA2-886DBCABE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4" y="5448300"/>
                        <a:ext cx="31781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8">
            <a:extLst>
              <a:ext uri="{FF2B5EF4-FFF2-40B4-BE49-F238E27FC236}">
                <a16:creationId xmlns:a16="http://schemas.microsoft.com/office/drawing/2014/main" id="{9BF33238-B4DE-E902-9017-FE71B0502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6096000"/>
            <a:ext cx="4413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 log</a:t>
            </a:r>
            <a:r>
              <a:rPr lang="en-US" altLang="en-US" sz="1800" baseline="-25000"/>
              <a:t>b</a:t>
            </a:r>
            <a:r>
              <a:rPr lang="en-US" altLang="en-US" sz="1800"/>
              <a:t>a=0, so case 3, T(n) is Θ(n).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FAC792F-86FF-E2F0-EA41-BF6092C16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Method, Example 4</a:t>
            </a:r>
          </a:p>
        </p:txBody>
      </p:sp>
      <p:sp>
        <p:nvSpPr>
          <p:cNvPr id="3277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4CB83CB-952B-EC53-D5DE-0836F45DA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19200"/>
            <a:ext cx="80772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32771" name="Object 2">
            <a:extLst>
              <a:ext uri="{FF2B5EF4-FFF2-40B4-BE49-F238E27FC236}">
                <a16:creationId xmlns:a16="http://schemas.microsoft.com/office/drawing/2014/main" id="{31B64FAF-5CA9-4388-4D36-283669068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3864" y="1317626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2771" name="Object 2">
                        <a:extLst>
                          <a:ext uri="{FF2B5EF4-FFF2-40B4-BE49-F238E27FC236}">
                            <a16:creationId xmlns:a16="http://schemas.microsoft.com/office/drawing/2014/main" id="{31B64FAF-5CA9-4388-4D36-283669068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4" y="1317626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3">
            <a:extLst>
              <a:ext uri="{FF2B5EF4-FFF2-40B4-BE49-F238E27FC236}">
                <a16:creationId xmlns:a16="http://schemas.microsoft.com/office/drawing/2014/main" id="{807E556A-378F-DD3F-8855-C134240E5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944814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2772" name="Object 3">
                        <a:extLst>
                          <a:ext uri="{FF2B5EF4-FFF2-40B4-BE49-F238E27FC236}">
                            <a16:creationId xmlns:a16="http://schemas.microsoft.com/office/drawing/2014/main" id="{807E556A-378F-DD3F-8855-C134240E5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44814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4">
            <a:extLst>
              <a:ext uri="{FF2B5EF4-FFF2-40B4-BE49-F238E27FC236}">
                <a16:creationId xmlns:a16="http://schemas.microsoft.com/office/drawing/2014/main" id="{33C47C3E-55B1-E872-4865-D6D64F3EB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1475" y="5295900"/>
          <a:ext cx="314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2773" name="Object 4">
                        <a:extLst>
                          <a:ext uri="{FF2B5EF4-FFF2-40B4-BE49-F238E27FC236}">
                            <a16:creationId xmlns:a16="http://schemas.microsoft.com/office/drawing/2014/main" id="{33C47C3E-55B1-E872-4865-D6D64F3EB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5295900"/>
                        <a:ext cx="3143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8">
            <a:extLst>
              <a:ext uri="{FF2B5EF4-FFF2-40B4-BE49-F238E27FC236}">
                <a16:creationId xmlns:a16="http://schemas.microsoft.com/office/drawing/2014/main" id="{C733301F-81F2-3E8A-D5D3-6AA71E534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5774" y="5943600"/>
            <a:ext cx="52604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 log</a:t>
            </a:r>
            <a:r>
              <a:rPr lang="en-US" altLang="en-US" sz="1800" baseline="-25000"/>
              <a:t>b</a:t>
            </a:r>
            <a:r>
              <a:rPr lang="en-US" altLang="en-US" sz="1800"/>
              <a:t>a=0, so case 2 says T(n) is O(log n).</a:t>
            </a:r>
          </a:p>
        </p:txBody>
      </p:sp>
      <p:sp>
        <p:nvSpPr>
          <p:cNvPr id="32775" name="Text Box 9">
            <a:extLst>
              <a:ext uri="{FF2B5EF4-FFF2-40B4-BE49-F238E27FC236}">
                <a16:creationId xmlns:a16="http://schemas.microsoft.com/office/drawing/2014/main" id="{D41D1533-FEF9-5889-1FDB-9D6DC1E54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9" y="5334000"/>
            <a:ext cx="172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</a:t>
            </a:r>
            <a:r>
              <a:rPr lang="en-US" altLang="en-US" sz="1800">
                <a:solidFill>
                  <a:srgbClr val="FF0000"/>
                </a:solidFill>
              </a:rPr>
              <a:t>binary search</a:t>
            </a:r>
            <a:r>
              <a:rPr lang="en-US" altLang="en-US" sz="180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4D973759-26FB-45E3-768C-94920E1D4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9248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Master Method, Example 5</a:t>
            </a:r>
          </a:p>
        </p:txBody>
      </p:sp>
      <p:sp>
        <p:nvSpPr>
          <p:cNvPr id="3379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2FD11CE-B6E9-E1F2-A764-472E26C6D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8077200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form: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Master Theorem: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33795" name="Object 2">
            <a:extLst>
              <a:ext uri="{FF2B5EF4-FFF2-40B4-BE49-F238E27FC236}">
                <a16:creationId xmlns:a16="http://schemas.microsoft.com/office/drawing/2014/main" id="{0F25BEE2-CEBE-59F6-0F62-B24F52E28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3864" y="1524001"/>
          <a:ext cx="39195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3795" name="Object 2">
                        <a:extLst>
                          <a:ext uri="{FF2B5EF4-FFF2-40B4-BE49-F238E27FC236}">
                            <a16:creationId xmlns:a16="http://schemas.microsoft.com/office/drawing/2014/main" id="{0F25BEE2-CEBE-59F6-0F62-B24F52E28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4" y="1524001"/>
                        <a:ext cx="39195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3">
            <a:extLst>
              <a:ext uri="{FF2B5EF4-FFF2-40B4-BE49-F238E27FC236}">
                <a16:creationId xmlns:a16="http://schemas.microsoft.com/office/drawing/2014/main" id="{4BD1EA2E-EC74-FEF5-40B8-720491343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944814"/>
          <a:ext cx="60198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3796" name="Object 3">
                        <a:extLst>
                          <a:ext uri="{FF2B5EF4-FFF2-40B4-BE49-F238E27FC236}">
                            <a16:creationId xmlns:a16="http://schemas.microsoft.com/office/drawing/2014/main" id="{4BD1EA2E-EC74-FEF5-40B8-720491343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44814"/>
                        <a:ext cx="60198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4">
            <a:extLst>
              <a:ext uri="{FF2B5EF4-FFF2-40B4-BE49-F238E27FC236}">
                <a16:creationId xmlns:a16="http://schemas.microsoft.com/office/drawing/2014/main" id="{9D0F58D4-CF09-83AE-E574-B453D24065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1039" y="5372100"/>
          <a:ext cx="4035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3797" name="Object 4">
                        <a:extLst>
                          <a:ext uri="{FF2B5EF4-FFF2-40B4-BE49-F238E27FC236}">
                            <a16:creationId xmlns:a16="http://schemas.microsoft.com/office/drawing/2014/main" id="{9D0F58D4-CF09-83AE-E574-B453D24065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9" y="5372100"/>
                        <a:ext cx="4035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8">
            <a:extLst>
              <a:ext uri="{FF2B5EF4-FFF2-40B4-BE49-F238E27FC236}">
                <a16:creationId xmlns:a16="http://schemas.microsoft.com/office/drawing/2014/main" id="{F10AB5ED-4520-556B-2AEC-E87A9CD85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60" y="5943600"/>
            <a:ext cx="48885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 log</a:t>
            </a:r>
            <a:r>
              <a:rPr lang="en-US" altLang="en-US" sz="1800" baseline="-25000"/>
              <a:t>b</a:t>
            </a:r>
            <a:r>
              <a:rPr lang="en-US" altLang="en-US" sz="1800"/>
              <a:t>a=1, so case 1 says T(n) is O(n).</a:t>
            </a:r>
          </a:p>
        </p:txBody>
      </p:sp>
      <p:sp>
        <p:nvSpPr>
          <p:cNvPr id="33799" name="Text Box 9">
            <a:extLst>
              <a:ext uri="{FF2B5EF4-FFF2-40B4-BE49-F238E27FC236}">
                <a16:creationId xmlns:a16="http://schemas.microsoft.com/office/drawing/2014/main" id="{7D6166BF-C19B-2517-3DEF-A60F90A3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4" y="5410200"/>
            <a:ext cx="216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</a:t>
            </a:r>
            <a:r>
              <a:rPr lang="en-US" altLang="en-US" sz="1800">
                <a:solidFill>
                  <a:srgbClr val="FF0000"/>
                </a:solidFill>
              </a:rPr>
              <a:t>heap construction</a:t>
            </a:r>
            <a:r>
              <a:rPr lang="en-US" altLang="en-US" sz="180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1E10AB77-8A88-BBBF-7812-76E374ABF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Case Study: Integer Multiplication</a:t>
            </a:r>
          </a:p>
        </p:txBody>
      </p:sp>
      <p:sp>
        <p:nvSpPr>
          <p:cNvPr id="3481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9A435B-54DF-18E5-2BD8-CD0E614B9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295400"/>
            <a:ext cx="78486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Algorithm</a:t>
            </a:r>
            <a:r>
              <a:rPr lang="en-US" altLang="en-US"/>
              <a:t>: Multiply two n-bit integers I and J.</a:t>
            </a:r>
          </a:p>
          <a:p>
            <a:pPr lvl="1" eaLnBrk="1" hangingPunct="1"/>
            <a:r>
              <a:rPr lang="en-US" altLang="en-US"/>
              <a:t>Divide step: Split I and J into high-order and low-order bits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We can then define I*J by: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 sz="1000"/>
          </a:p>
          <a:p>
            <a:pPr lvl="1" eaLnBrk="1" hangingPunct="1"/>
            <a:r>
              <a:rPr lang="en-US" altLang="en-US"/>
              <a:t>So, T(n) = 4T(n/2) + n, which implies T(n) is O(n</a:t>
            </a:r>
            <a:r>
              <a:rPr lang="en-US" altLang="en-US" baseline="30000"/>
              <a:t>2</a:t>
            </a:r>
            <a:r>
              <a:rPr lang="en-US" altLang="en-US"/>
              <a:t>).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(Case 1 in the Master method)</a:t>
            </a:r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76D1FEC8-5E00-FBB8-EB4C-9FB9AA7EA7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133600"/>
          <a:ext cx="1779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4819" name="Object 2">
                        <a:extLst>
                          <a:ext uri="{FF2B5EF4-FFF2-40B4-BE49-F238E27FC236}">
                            <a16:creationId xmlns:a16="http://schemas.microsoft.com/office/drawing/2014/main" id="{76D1FEC8-5E00-FBB8-EB4C-9FB9AA7EA7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0"/>
                        <a:ext cx="17795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3">
            <a:extLst>
              <a:ext uri="{FF2B5EF4-FFF2-40B4-BE49-F238E27FC236}">
                <a16:creationId xmlns:a16="http://schemas.microsoft.com/office/drawing/2014/main" id="{DACA4645-C0C9-E94F-2C7B-1A7C8900E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789364"/>
          <a:ext cx="48768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4820" name="Object 3">
                        <a:extLst>
                          <a:ext uri="{FF2B5EF4-FFF2-40B4-BE49-F238E27FC236}">
                            <a16:creationId xmlns:a16="http://schemas.microsoft.com/office/drawing/2014/main" id="{DACA4645-C0C9-E94F-2C7B-1A7C8900E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89364"/>
                        <a:ext cx="48768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991A5257-E613-7F82-925D-F0F0FE352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 Improved Integer Multiplication Algorithm</a:t>
            </a:r>
          </a:p>
        </p:txBody>
      </p:sp>
      <p:sp>
        <p:nvSpPr>
          <p:cNvPr id="3584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63B180B-FDAC-1796-B5DD-EF4FF51ADC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219200"/>
            <a:ext cx="7848600" cy="5029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Algorithm</a:t>
            </a:r>
            <a:r>
              <a:rPr lang="en-US" altLang="en-US"/>
              <a:t>: Multiply two n-bit integers I and J.</a:t>
            </a:r>
          </a:p>
          <a:p>
            <a:pPr lvl="1" eaLnBrk="1" hangingPunct="1"/>
            <a:r>
              <a:rPr lang="en-US" altLang="en-US"/>
              <a:t>Divide step: Split I and J into high-order and low-order bits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Observe that there is a different way to multiply parts: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 sz="1400"/>
          </a:p>
          <a:p>
            <a:pPr lvl="1" eaLnBrk="1" hangingPunct="1"/>
            <a:r>
              <a:rPr lang="en-US" altLang="en-US"/>
              <a:t>So, T(n) = 3T(n/2) + n, which implies T(n) is O(n</a:t>
            </a:r>
            <a:r>
              <a:rPr lang="en-US" altLang="en-US" baseline="30000"/>
              <a:t>log</a:t>
            </a:r>
            <a:r>
              <a:rPr lang="en-US" altLang="en-US" sz="1000"/>
              <a:t>2</a:t>
            </a:r>
            <a:r>
              <a:rPr lang="en-US" altLang="en-US" baseline="30000"/>
              <a:t>3</a:t>
            </a:r>
            <a:r>
              <a:rPr lang="en-US" altLang="en-US"/>
              <a:t>), by the Master Theorem (Case 1).</a:t>
            </a:r>
          </a:p>
          <a:p>
            <a:pPr lvl="1" eaLnBrk="1" hangingPunct="1"/>
            <a:r>
              <a:rPr lang="en-US" altLang="en-US"/>
              <a:t>Thus, T(n) is O(n</a:t>
            </a:r>
            <a:r>
              <a:rPr lang="en-US" altLang="en-US" baseline="30000"/>
              <a:t>1.585</a:t>
            </a:r>
            <a:r>
              <a:rPr lang="en-US" altLang="en-US"/>
              <a:t>).</a:t>
            </a:r>
          </a:p>
        </p:txBody>
      </p:sp>
      <p:graphicFrame>
        <p:nvGraphicFramePr>
          <p:cNvPr id="35843" name="Object 2">
            <a:extLst>
              <a:ext uri="{FF2B5EF4-FFF2-40B4-BE49-F238E27FC236}">
                <a16:creationId xmlns:a16="http://schemas.microsoft.com/office/drawing/2014/main" id="{3AF6CCB9-9763-B9DE-4EB0-20413EF0A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2133600"/>
          <a:ext cx="1779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5843" name="Object 2">
                        <a:extLst>
                          <a:ext uri="{FF2B5EF4-FFF2-40B4-BE49-F238E27FC236}">
                            <a16:creationId xmlns:a16="http://schemas.microsoft.com/office/drawing/2014/main" id="{3AF6CCB9-9763-B9DE-4EB0-20413EF0A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133600"/>
                        <a:ext cx="17795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3">
            <a:extLst>
              <a:ext uri="{FF2B5EF4-FFF2-40B4-BE49-F238E27FC236}">
                <a16:creationId xmlns:a16="http://schemas.microsoft.com/office/drawing/2014/main" id="{530BDF55-D68F-B3CA-B6FC-DC5D8B45A0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581400"/>
          <a:ext cx="7480300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5844" name="Object 3">
                        <a:extLst>
                          <a:ext uri="{FF2B5EF4-FFF2-40B4-BE49-F238E27FC236}">
                            <a16:creationId xmlns:a16="http://schemas.microsoft.com/office/drawing/2014/main" id="{530BDF55-D68F-B3CA-B6FC-DC5D8B45A0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81400"/>
                        <a:ext cx="7480300" cy="136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88BB8C7-6FF0-B2AD-9BE8-998D36053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Extra Slides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62B5C3FC-5902-E88D-EA97-6EA81DC74E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06F7EA3-B99F-2092-56AE-C6754507F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Iterative “Proof” of the Master Theorem</a:t>
            </a:r>
          </a:p>
        </p:txBody>
      </p:sp>
      <p:sp>
        <p:nvSpPr>
          <p:cNvPr id="3789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12539E8-1AC8-CCBE-A22B-E20CB0404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990600"/>
            <a:ext cx="8077200" cy="5410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Using iterative substitution, let us see if we can find a pattern: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then distinguish the three cases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first term is dominant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part of the summation is equally dominant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summation is a geometric series</a:t>
            </a:r>
            <a:endParaRPr lang="en-US" altLang="en-US" sz="1800" b="1">
              <a:latin typeface="Times New Roman" panose="02020603050405020304" pitchFamily="18" charset="0"/>
            </a:endParaRPr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212586F7-06E1-3F1E-BFDC-F7A3674C8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5564" y="1447801"/>
          <a:ext cx="4891087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37891" name="Object 2">
                        <a:extLst>
                          <a:ext uri="{FF2B5EF4-FFF2-40B4-BE49-F238E27FC236}">
                            <a16:creationId xmlns:a16="http://schemas.microsoft.com/office/drawing/2014/main" id="{212586F7-06E1-3F1E-BFDC-F7A3674C8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1447801"/>
                        <a:ext cx="4891087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1248</Words>
  <Application>Microsoft Office PowerPoint</Application>
  <PresentationFormat>Widescreen</PresentationFormat>
  <Paragraphs>290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Equation</vt:lpstr>
      <vt:lpstr>CS535: Algorithm Design and Analysis  Divide-and-Conquer</vt:lpstr>
      <vt:lpstr>Divide-and-Conquer</vt:lpstr>
      <vt:lpstr>Merge-Sort Review</vt:lpstr>
      <vt:lpstr>Merge-Sort Tree</vt:lpstr>
      <vt:lpstr>Execution Example</vt:lpstr>
      <vt:lpstr>Analysis of Merge-Sort</vt:lpstr>
      <vt:lpstr>Recurrence Equation Analysis</vt:lpstr>
      <vt:lpstr>Iterative Substitution</vt:lpstr>
      <vt:lpstr>The Recursion Tree</vt:lpstr>
      <vt:lpstr>Guess-and-Test Method</vt:lpstr>
      <vt:lpstr>Guess-and-Test Method, Part 2</vt:lpstr>
      <vt:lpstr>Master Method</vt:lpstr>
      <vt:lpstr>Master Method, Example 1</vt:lpstr>
      <vt:lpstr>Master Method, Example 2</vt:lpstr>
      <vt:lpstr>Master Method, Example 3</vt:lpstr>
      <vt:lpstr>Master Method, Example 4</vt:lpstr>
      <vt:lpstr>Master Method, Example 5</vt:lpstr>
      <vt:lpstr>Case Study: Integer Multiplication</vt:lpstr>
      <vt:lpstr>An Improved Integer Multiplication Algorithm</vt:lpstr>
      <vt:lpstr>Extra Slides</vt:lpstr>
      <vt:lpstr>Iterative “Proof” of the Master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2024-11-04T00:25:11Z</dcterms:created>
  <dcterms:modified xsi:type="dcterms:W3CDTF">2024-11-06T10:02:51Z</dcterms:modified>
</cp:coreProperties>
</file>