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8B0228-87C0-485F-9370-B99DB55B49B9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742601-F0D2-4DFA-88D0-35A58766D5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3706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>
            <a:extLst>
              <a:ext uri="{FF2B5EF4-FFF2-40B4-BE49-F238E27FC236}">
                <a16:creationId xmlns:a16="http://schemas.microsoft.com/office/drawing/2014/main" id="{229286DB-BAAF-13A2-458F-22513EF2037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9699" name="Notes Placeholder 2">
            <a:extLst>
              <a:ext uri="{FF2B5EF4-FFF2-40B4-BE49-F238E27FC236}">
                <a16:creationId xmlns:a16="http://schemas.microsoft.com/office/drawing/2014/main" id="{5CB717A5-0604-FDAD-A3C5-A2DB428621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700" name="Slide Number Placeholder 3">
            <a:extLst>
              <a:ext uri="{FF2B5EF4-FFF2-40B4-BE49-F238E27FC236}">
                <a16:creationId xmlns:a16="http://schemas.microsoft.com/office/drawing/2014/main" id="{42F2A0BE-D6FC-8F21-FD96-85D1DD3E34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AA91AAE-1198-6B4A-9239-182EFD683EB5}" type="slidenum">
              <a:rPr lang="en-US" altLang="en-US"/>
              <a:pPr eaLnBrk="1" hangingPunct="1"/>
              <a:t>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>
            <a:extLst>
              <a:ext uri="{FF2B5EF4-FFF2-40B4-BE49-F238E27FC236}">
                <a16:creationId xmlns:a16="http://schemas.microsoft.com/office/drawing/2014/main" id="{6BAEB6E5-B3A3-B67E-A673-1F71ED83F3F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0723" name="Notes Placeholder 2">
            <a:extLst>
              <a:ext uri="{FF2B5EF4-FFF2-40B4-BE49-F238E27FC236}">
                <a16:creationId xmlns:a16="http://schemas.microsoft.com/office/drawing/2014/main" id="{0EC8CE66-6E2E-219D-DB99-75A3C4F8C2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724" name="Slide Number Placeholder 3">
            <a:extLst>
              <a:ext uri="{FF2B5EF4-FFF2-40B4-BE49-F238E27FC236}">
                <a16:creationId xmlns:a16="http://schemas.microsoft.com/office/drawing/2014/main" id="{0C8A8221-81E6-8652-3235-ADA1CCC9A5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58884A19-216D-8044-A05F-B9AE62140D2B}" type="slidenum">
              <a:rPr lang="en-US" altLang="en-US"/>
              <a:pPr eaLnBrk="1" hangingPunct="1"/>
              <a:t>15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FC350-0E77-4B65-98D6-657E6CA0872A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A178-EAC4-49B2-B3F0-86302F02E1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00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FC350-0E77-4B65-98D6-657E6CA0872A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A178-EAC4-49B2-B3F0-86302F02E1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93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FC350-0E77-4B65-98D6-657E6CA0872A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A178-EAC4-49B2-B3F0-86302F02E1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444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FC350-0E77-4B65-98D6-657E6CA0872A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A178-EAC4-49B2-B3F0-86302F02E1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297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FC350-0E77-4B65-98D6-657E6CA0872A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A178-EAC4-49B2-B3F0-86302F02E1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208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FC350-0E77-4B65-98D6-657E6CA0872A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A178-EAC4-49B2-B3F0-86302F02E1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5258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FC350-0E77-4B65-98D6-657E6CA0872A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A178-EAC4-49B2-B3F0-86302F02E1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789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FC350-0E77-4B65-98D6-657E6CA0872A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A178-EAC4-49B2-B3F0-86302F02E1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1671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FC350-0E77-4B65-98D6-657E6CA0872A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A178-EAC4-49B2-B3F0-86302F02E1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383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FC350-0E77-4B65-98D6-657E6CA0872A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A178-EAC4-49B2-B3F0-86302F02E1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0901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FC350-0E77-4B65-98D6-657E6CA0872A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A178-EAC4-49B2-B3F0-86302F02E10B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028062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FC350-0E77-4B65-98D6-657E6CA0872A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A178-EAC4-49B2-B3F0-86302F02E1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9432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FC350-0E77-4B65-98D6-657E6CA0872A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A178-EAC4-49B2-B3F0-86302F02E10B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198408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FC350-0E77-4B65-98D6-657E6CA0872A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A178-EAC4-49B2-B3F0-86302F02E1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1469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FC350-0E77-4B65-98D6-657E6CA0872A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A178-EAC4-49B2-B3F0-86302F02E1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4265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FC350-0E77-4B65-98D6-657E6CA0872A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A178-EAC4-49B2-B3F0-86302F02E1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5805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7FC350-0E77-4B65-98D6-657E6CA0872A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56E0A178-EAC4-49B2-B3F0-86302F02E1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760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C6F84062-74B2-BA0A-83CE-C9A27461F60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828800" y="1066801"/>
            <a:ext cx="8534400" cy="1698625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sz="2000" dirty="0">
                <a:solidFill>
                  <a:srgbClr val="FF9900"/>
                </a:solidFill>
              </a:rPr>
              <a:t>CS535: Algorithm Design and Analysis</a:t>
            </a: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r>
              <a:rPr lang="en-US" altLang="en-US" sz="2400" dirty="0"/>
              <a:t> Bucket-Sort, Radix-Sort, and Selection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8C73AA8F-0BCC-E766-06D0-AA2319BE549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895600" y="3657600"/>
            <a:ext cx="6400800" cy="1981200"/>
          </a:xfrm>
        </p:spPr>
        <p:txBody>
          <a:bodyPr/>
          <a:lstStyle/>
          <a:p>
            <a:pPr algn="ctr" eaLnBrk="1" hangingPunct="1"/>
            <a:r>
              <a:rPr lang="en-US" altLang="en-US" sz="2000" b="1" dirty="0">
                <a:solidFill>
                  <a:srgbClr val="0000FF"/>
                </a:solidFill>
              </a:rPr>
              <a:t>Prof. Rohit Pal Singh</a:t>
            </a:r>
          </a:p>
          <a:p>
            <a:pPr algn="ctr" eaLnBrk="1" hangingPunct="1"/>
            <a:r>
              <a:rPr lang="en-US" altLang="en-US" sz="1600" b="1" dirty="0">
                <a:solidFill>
                  <a:srgbClr val="0000FF"/>
                </a:solidFill>
              </a:rPr>
              <a:t>Department of Computer Science</a:t>
            </a:r>
          </a:p>
          <a:p>
            <a:pPr algn="ctr" eaLnBrk="1" hangingPunct="1"/>
            <a:r>
              <a:rPr lang="en-US" altLang="en-US" sz="1600" b="1" dirty="0">
                <a:solidFill>
                  <a:srgbClr val="0000FF"/>
                </a:solidFill>
              </a:rPr>
              <a:t>University of Wisconsin, Milwaukee</a:t>
            </a:r>
          </a:p>
          <a:p>
            <a:pPr algn="ctr" eaLnBrk="1" hangingPunct="1"/>
            <a:endParaRPr lang="en-US" altLang="en-US" sz="1600" b="1" dirty="0">
              <a:solidFill>
                <a:srgbClr val="0000FF"/>
              </a:solidFill>
            </a:endParaRPr>
          </a:p>
          <a:p>
            <a:pPr algn="ctr" eaLnBrk="1" hangingPunct="1"/>
            <a:r>
              <a:rPr lang="en-US" altLang="en-US" sz="1600" b="1" dirty="0">
                <a:solidFill>
                  <a:srgbClr val="0000FF"/>
                </a:solidFill>
              </a:rPr>
              <a:t>October 30, 2024</a:t>
            </a:r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A2957458-8A8D-464C-14B6-2B53C0C6D4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5638800"/>
            <a:ext cx="861060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Readings: Chapter 4.5, 4.7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9A1758C9-AB25-E199-F6BF-7442728B7D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52400"/>
            <a:ext cx="8229600" cy="838200"/>
          </a:xfrm>
        </p:spPr>
        <p:txBody>
          <a:bodyPr/>
          <a:lstStyle/>
          <a:p>
            <a:pPr eaLnBrk="1" hangingPunct="1"/>
            <a:r>
              <a:rPr lang="en-US" altLang="en-US" sz="2400"/>
              <a:t>Bucket-Sort</a:t>
            </a:r>
          </a:p>
        </p:txBody>
      </p:sp>
      <p:sp>
        <p:nvSpPr>
          <p:cNvPr id="14339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BBE1DF33-69F2-32F9-BDEB-82F81D266D0F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1981200" y="1371600"/>
            <a:ext cx="4114800" cy="4800600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Let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S</a:t>
            </a:r>
            <a:r>
              <a:rPr lang="en-US" altLang="en-US" sz="2000" dirty="0"/>
              <a:t> be a sequence of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n</a:t>
            </a:r>
            <a:r>
              <a:rPr lang="en-US" altLang="en-US" sz="2000" dirty="0"/>
              <a:t> (key, element) items with </a:t>
            </a:r>
            <a:r>
              <a:rPr lang="en-US" altLang="en-US" sz="2000" dirty="0">
                <a:solidFill>
                  <a:srgbClr val="FF0000"/>
                </a:solidFill>
              </a:rPr>
              <a:t>integer</a:t>
            </a:r>
            <a:r>
              <a:rPr lang="en-US" altLang="en-US" sz="2000" dirty="0"/>
              <a:t> keys in the range </a:t>
            </a:r>
            <a:r>
              <a:rPr lang="en-US" altLang="en-US" sz="2000" dirty="0">
                <a:latin typeface="Times New Roman" panose="02020603050405020304" pitchFamily="18" charset="0"/>
              </a:rPr>
              <a:t>[0,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N</a:t>
            </a:r>
            <a:r>
              <a:rPr lang="en-US" altLang="en-US" sz="2000" dirty="0">
                <a:latin typeface="Times New Roman" panose="02020603050405020304" pitchFamily="18" charset="0"/>
              </a:rPr>
              <a:t> </a:t>
            </a:r>
            <a:r>
              <a:rPr lang="en-US" altLang="en-US" sz="2000" dirty="0">
                <a:latin typeface="Symbol" pitchFamily="2" charset="2"/>
              </a:rPr>
              <a:t>- </a:t>
            </a:r>
            <a:r>
              <a:rPr lang="en-US" altLang="en-US" sz="2000" dirty="0">
                <a:latin typeface="Times New Roman" panose="02020603050405020304" pitchFamily="18" charset="0"/>
              </a:rPr>
              <a:t>1]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Bucket-sort uses the keys as indices into an auxiliary array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B</a:t>
            </a:r>
            <a:r>
              <a:rPr lang="en-US" altLang="en-US" sz="2000" dirty="0"/>
              <a:t> of sequences (buckets)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1800" dirty="0">
                <a:solidFill>
                  <a:srgbClr val="FF0000"/>
                </a:solidFill>
              </a:rPr>
              <a:t>Phase 1</a:t>
            </a:r>
            <a:r>
              <a:rPr lang="en-US" altLang="en-US" sz="1800" dirty="0"/>
              <a:t>: Empty sequence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S</a:t>
            </a:r>
            <a:r>
              <a:rPr lang="en-US" altLang="en-US" sz="1800" dirty="0"/>
              <a:t> by moving each item </a:t>
            </a:r>
            <a:r>
              <a:rPr lang="en-US" altLang="en-US" sz="1800" dirty="0">
                <a:latin typeface="Times New Roman" panose="02020603050405020304" pitchFamily="18" charset="0"/>
              </a:rPr>
              <a:t>(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k</a:t>
            </a:r>
            <a:r>
              <a:rPr lang="en-US" altLang="en-US" sz="1800" dirty="0">
                <a:latin typeface="Times New Roman" panose="02020603050405020304" pitchFamily="18" charset="0"/>
              </a:rPr>
              <a:t>,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o</a:t>
            </a:r>
            <a:r>
              <a:rPr lang="en-US" altLang="en-US" sz="1800" dirty="0">
                <a:latin typeface="Times New Roman" panose="02020603050405020304" pitchFamily="18" charset="0"/>
              </a:rPr>
              <a:t>)</a:t>
            </a:r>
            <a:r>
              <a:rPr lang="en-US" altLang="en-US" sz="1800" dirty="0"/>
              <a:t> into its bucket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B</a:t>
            </a:r>
            <a:r>
              <a:rPr lang="en-US" altLang="en-US" sz="1800" dirty="0">
                <a:latin typeface="Times New Roman" panose="02020603050405020304" pitchFamily="18" charset="0"/>
              </a:rPr>
              <a:t>[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k</a:t>
            </a:r>
            <a:r>
              <a:rPr lang="en-US" altLang="en-US" sz="1800" dirty="0">
                <a:latin typeface="Times New Roman" panose="02020603050405020304" pitchFamily="18" charset="0"/>
              </a:rPr>
              <a:t>]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1800" dirty="0">
                <a:solidFill>
                  <a:srgbClr val="FF0000"/>
                </a:solidFill>
              </a:rPr>
              <a:t>Phase 2</a:t>
            </a:r>
            <a:r>
              <a:rPr lang="en-US" altLang="en-US" sz="1800" dirty="0"/>
              <a:t>: For </a:t>
            </a:r>
            <a:r>
              <a:rPr lang="en-US" altLang="en-US" sz="1800" b="1" i="1" dirty="0" err="1">
                <a:latin typeface="Times New Roman" panose="02020603050405020304" pitchFamily="18" charset="0"/>
              </a:rPr>
              <a:t>i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 </a:t>
            </a:r>
            <a:r>
              <a:rPr lang="en-US" altLang="en-US" sz="1800" dirty="0">
                <a:latin typeface="Symbol" pitchFamily="2" charset="2"/>
                <a:sym typeface="Symbol" pitchFamily="2" charset="2"/>
              </a:rPr>
              <a:t>=</a:t>
            </a:r>
            <a:r>
              <a:rPr lang="en-US" altLang="en-US" sz="1800" dirty="0">
                <a:latin typeface="Times New Roman" panose="02020603050405020304" pitchFamily="18" charset="0"/>
              </a:rPr>
              <a:t> 0, </a:t>
            </a:r>
            <a:r>
              <a:rPr lang="en-US" altLang="en-US" sz="1800" b="1" dirty="0">
                <a:latin typeface="Times New Roman" panose="02020603050405020304" pitchFamily="18" charset="0"/>
              </a:rPr>
              <a:t>…</a:t>
            </a:r>
            <a:r>
              <a:rPr lang="en-US" altLang="en-US" sz="1800" i="1" dirty="0">
                <a:latin typeface="Times New Roman" panose="02020603050405020304" pitchFamily="18" charset="0"/>
              </a:rPr>
              <a:t>,</a:t>
            </a:r>
            <a:r>
              <a:rPr lang="en-US" altLang="en-US" sz="1800" dirty="0">
                <a:latin typeface="Times New Roman" panose="02020603050405020304" pitchFamily="18" charset="0"/>
              </a:rPr>
              <a:t>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N </a:t>
            </a:r>
            <a:r>
              <a:rPr lang="en-US" altLang="en-US" sz="1800" dirty="0">
                <a:latin typeface="Symbol" pitchFamily="2" charset="2"/>
              </a:rPr>
              <a:t>-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 </a:t>
            </a:r>
            <a:r>
              <a:rPr lang="en-US" altLang="en-US" sz="1800" dirty="0">
                <a:latin typeface="Times New Roman" panose="02020603050405020304" pitchFamily="18" charset="0"/>
              </a:rPr>
              <a:t>1</a:t>
            </a:r>
            <a:r>
              <a:rPr lang="en-US" altLang="en-US" sz="1800" dirty="0"/>
              <a:t>, move the items of bucket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B</a:t>
            </a:r>
            <a:r>
              <a:rPr lang="en-US" altLang="en-US" sz="1800" dirty="0">
                <a:latin typeface="Times New Roman" panose="02020603050405020304" pitchFamily="18" charset="0"/>
              </a:rPr>
              <a:t>[</a:t>
            </a:r>
            <a:r>
              <a:rPr lang="en-US" altLang="en-US" sz="1800" b="1" i="1" dirty="0" err="1">
                <a:latin typeface="Times New Roman" panose="02020603050405020304" pitchFamily="18" charset="0"/>
              </a:rPr>
              <a:t>i</a:t>
            </a:r>
            <a:r>
              <a:rPr lang="en-US" altLang="en-US" sz="1800" dirty="0">
                <a:latin typeface="Times New Roman" panose="02020603050405020304" pitchFamily="18" charset="0"/>
              </a:rPr>
              <a:t>] </a:t>
            </a:r>
            <a:r>
              <a:rPr lang="en-US" altLang="en-US" sz="1800" dirty="0"/>
              <a:t>to the end of  sequence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S</a:t>
            </a:r>
            <a:endParaRPr lang="en-US" altLang="en-US" sz="18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Analysis: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dirty="0"/>
              <a:t>Phase 1 takes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O</a:t>
            </a:r>
            <a:r>
              <a:rPr lang="en-US" altLang="en-US" sz="1800" dirty="0">
                <a:latin typeface="Times New Roman" panose="02020603050405020304" pitchFamily="18" charset="0"/>
              </a:rPr>
              <a:t>(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n</a:t>
            </a:r>
            <a:r>
              <a:rPr lang="en-US" altLang="en-US" sz="1800" dirty="0">
                <a:latin typeface="Times New Roman" panose="02020603050405020304" pitchFamily="18" charset="0"/>
              </a:rPr>
              <a:t>)</a:t>
            </a:r>
            <a:r>
              <a:rPr lang="en-US" altLang="en-US" sz="1800" dirty="0"/>
              <a:t> time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dirty="0"/>
              <a:t>Phase 2 takes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O</a:t>
            </a:r>
            <a:r>
              <a:rPr lang="en-US" altLang="en-US" sz="1800" dirty="0">
                <a:latin typeface="Times New Roman" panose="02020603050405020304" pitchFamily="18" charset="0"/>
              </a:rPr>
              <a:t>(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n</a:t>
            </a:r>
            <a:r>
              <a:rPr lang="en-US" altLang="en-US" sz="1800" dirty="0">
                <a:latin typeface="Times New Roman" panose="02020603050405020304" pitchFamily="18" charset="0"/>
              </a:rPr>
              <a:t> </a:t>
            </a:r>
            <a:r>
              <a:rPr lang="en-US" altLang="en-US" sz="1800" dirty="0">
                <a:latin typeface="Symbol" pitchFamily="2" charset="2"/>
              </a:rPr>
              <a:t>+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N</a:t>
            </a:r>
            <a:r>
              <a:rPr lang="en-US" altLang="en-US" sz="1800" dirty="0">
                <a:latin typeface="Times New Roman" panose="02020603050405020304" pitchFamily="18" charset="0"/>
              </a:rPr>
              <a:t>)</a:t>
            </a:r>
            <a:r>
              <a:rPr lang="en-US" altLang="en-US" sz="1800" dirty="0"/>
              <a:t> time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000" dirty="0"/>
              <a:t>	Bucket-sort takes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O</a:t>
            </a:r>
            <a:r>
              <a:rPr lang="en-US" altLang="en-US" sz="2000" dirty="0">
                <a:latin typeface="Times New Roman" panose="02020603050405020304" pitchFamily="18" charset="0"/>
              </a:rPr>
              <a:t>(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n</a:t>
            </a:r>
            <a:r>
              <a:rPr lang="en-US" altLang="en-US" sz="2000" dirty="0">
                <a:latin typeface="Times New Roman" panose="02020603050405020304" pitchFamily="18" charset="0"/>
              </a:rPr>
              <a:t> </a:t>
            </a:r>
            <a:r>
              <a:rPr lang="en-US" altLang="en-US" sz="2000" dirty="0">
                <a:latin typeface="Symbol" pitchFamily="2" charset="2"/>
              </a:rPr>
              <a:t>+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N</a:t>
            </a:r>
            <a:r>
              <a:rPr lang="en-US" altLang="en-US" sz="2000" dirty="0">
                <a:latin typeface="Times New Roman" panose="02020603050405020304" pitchFamily="18" charset="0"/>
              </a:rPr>
              <a:t>)</a:t>
            </a:r>
            <a:r>
              <a:rPr lang="en-US" altLang="en-US" sz="2000" dirty="0"/>
              <a:t> time </a:t>
            </a:r>
          </a:p>
        </p:txBody>
      </p:sp>
      <p:sp>
        <p:nvSpPr>
          <p:cNvPr id="14340" name="Text Box 5">
            <a:extLst>
              <a:ext uri="{FF2B5EF4-FFF2-40B4-BE49-F238E27FC236}">
                <a16:creationId xmlns:a16="http://schemas.microsoft.com/office/drawing/2014/main" id="{EC3A65F7-6ECA-7208-B6BB-D2BC25BFA1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1447800"/>
            <a:ext cx="3810000" cy="46751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defTabSz="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defTabSz="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defTabSz="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defTabSz="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defTabSz="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defTabSz="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Algorithm</a:t>
            </a:r>
            <a:r>
              <a:rPr lang="en-US" altLang="en-US">
                <a:latin typeface="Times New Roman" panose="02020603050405020304" pitchFamily="18" charset="0"/>
              </a:rPr>
              <a:t> </a:t>
            </a:r>
            <a:r>
              <a:rPr lang="en-US" altLang="en-US" b="1" i="1">
                <a:solidFill>
                  <a:schemeClr val="tx2"/>
                </a:solidFill>
                <a:latin typeface="Times New Roman" panose="02020603050405020304" pitchFamily="18" charset="0"/>
              </a:rPr>
              <a:t>bucketSort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b="1" i="1">
                <a:solidFill>
                  <a:schemeClr val="tx2"/>
                </a:solidFill>
                <a:latin typeface="Times New Roman" panose="02020603050405020304" pitchFamily="18" charset="0"/>
              </a:rPr>
              <a:t>S,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b="1" i="1">
                <a:solidFill>
                  <a:schemeClr val="tx2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Input</a:t>
            </a:r>
            <a:r>
              <a:rPr lang="en-US" altLang="en-US">
                <a:latin typeface="Times New Roman" panose="02020603050405020304" pitchFamily="18" charset="0"/>
              </a:rPr>
              <a:t> 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sequence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S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 of (key, element)</a:t>
            </a:r>
            <a:b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</a:b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		items with keys in the range</a:t>
            </a:r>
            <a:b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</a:b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		[0,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>
                <a:solidFill>
                  <a:schemeClr val="accent2"/>
                </a:solidFill>
                <a:latin typeface="Symbol" pitchFamily="2" charset="2"/>
              </a:rPr>
              <a:t>- 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1]</a:t>
            </a:r>
            <a:b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</a:b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Output</a:t>
            </a:r>
            <a:r>
              <a:rPr lang="en-US" altLang="en-US">
                <a:latin typeface="Times New Roman" panose="02020603050405020304" pitchFamily="18" charset="0"/>
              </a:rPr>
              <a:t> 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sequence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S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 sorted by</a:t>
            </a:r>
            <a:b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</a:b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		increasing keys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B 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array of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N 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empty sequences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while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>
                <a:solidFill>
                  <a:srgbClr val="000000"/>
                </a:solidFill>
                <a:latin typeface="Symbol" pitchFamily="2" charset="2"/>
                <a:sym typeface="Symbol" pitchFamily="2" charset="2"/>
              </a:rPr>
              <a:t>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S.isEmpty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()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	f 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S.first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()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	(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k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,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o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) 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S.remove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f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B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[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k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]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.insertLast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((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k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,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o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))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for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i 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0 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to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N </a:t>
            </a:r>
            <a:r>
              <a:rPr lang="en-US" altLang="en-US">
                <a:solidFill>
                  <a:schemeClr val="accent2"/>
                </a:solidFill>
                <a:latin typeface="Symbol" pitchFamily="2" charset="2"/>
              </a:rPr>
              <a:t>-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1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while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>
                <a:solidFill>
                  <a:srgbClr val="000000"/>
                </a:solidFill>
                <a:latin typeface="Symbol" pitchFamily="2" charset="2"/>
                <a:sym typeface="Symbol" pitchFamily="2" charset="2"/>
              </a:rPr>
              <a:t>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B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[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]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.isEmpty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()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		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f 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B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[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]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.first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()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		(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k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,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o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) 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B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[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]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.remove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f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		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S.insertLast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((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k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,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o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))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6619D950-86DE-7154-6B7B-60186CE745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Example</a:t>
            </a:r>
          </a:p>
        </p:txBody>
      </p:sp>
      <p:sp>
        <p:nvSpPr>
          <p:cNvPr id="15363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EF85D7C6-DEDD-7C92-3662-C986FABB292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09800" y="1600200"/>
            <a:ext cx="8077200" cy="4572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/>
              <a:t>Key range </a:t>
            </a:r>
            <a:r>
              <a:rPr lang="en-US" altLang="en-US">
                <a:latin typeface="Times New Roman" panose="02020603050405020304" pitchFamily="18" charset="0"/>
              </a:rPr>
              <a:t>[0, 9]</a:t>
            </a:r>
            <a:endParaRPr lang="en-US" altLang="en-US">
              <a:latin typeface="Symbol" pitchFamily="2" charset="2"/>
            </a:endParaRPr>
          </a:p>
        </p:txBody>
      </p:sp>
      <p:grpSp>
        <p:nvGrpSpPr>
          <p:cNvPr id="15364" name="Group 61">
            <a:extLst>
              <a:ext uri="{FF2B5EF4-FFF2-40B4-BE49-F238E27FC236}">
                <a16:creationId xmlns:a16="http://schemas.microsoft.com/office/drawing/2014/main" id="{8F28648D-00C5-B0F2-1906-6650E96DB21C}"/>
              </a:ext>
            </a:extLst>
          </p:cNvPr>
          <p:cNvGrpSpPr>
            <a:grpSpLocks/>
          </p:cNvGrpSpPr>
          <p:nvPr/>
        </p:nvGrpSpPr>
        <p:grpSpPr bwMode="auto">
          <a:xfrm>
            <a:off x="2687638" y="2209800"/>
            <a:ext cx="6781800" cy="457200"/>
            <a:chOff x="744" y="1392"/>
            <a:chExt cx="4272" cy="288"/>
          </a:xfrm>
        </p:grpSpPr>
        <p:cxnSp>
          <p:nvCxnSpPr>
            <p:cNvPr id="15405" name="AutoShape 11">
              <a:extLst>
                <a:ext uri="{FF2B5EF4-FFF2-40B4-BE49-F238E27FC236}">
                  <a16:creationId xmlns:a16="http://schemas.microsoft.com/office/drawing/2014/main" id="{74F8BD06-A3BA-3BA5-D419-A34BDC95E25E}"/>
                </a:ext>
              </a:extLst>
            </p:cNvPr>
            <p:cNvCxnSpPr>
              <a:cxnSpLocks noChangeShapeType="1"/>
              <a:stCxn id="15406" idx="3"/>
              <a:endCxn id="15411" idx="1"/>
            </p:cNvCxnSpPr>
            <p:nvPr/>
          </p:nvCxnSpPr>
          <p:spPr bwMode="auto">
            <a:xfrm>
              <a:off x="1182" y="1536"/>
              <a:ext cx="3396" cy="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5406" name="AutoShape 4">
              <a:extLst>
                <a:ext uri="{FF2B5EF4-FFF2-40B4-BE49-F238E27FC236}">
                  <a16:creationId xmlns:a16="http://schemas.microsoft.com/office/drawing/2014/main" id="{F212343E-8E44-5D11-FAB7-18185F8930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4" y="1392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rIns="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Times New Roman" panose="02020603050405020304" pitchFamily="18" charset="0"/>
                </a:rPr>
                <a:t>7, </a:t>
              </a:r>
              <a:r>
                <a:rPr lang="en-US" altLang="en-US" b="1" i="1"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15407" name="AutoShape 5">
              <a:extLst>
                <a:ext uri="{FF2B5EF4-FFF2-40B4-BE49-F238E27FC236}">
                  <a16:creationId xmlns:a16="http://schemas.microsoft.com/office/drawing/2014/main" id="{73FC7C5E-E081-C763-6CAE-F5AFB2C6E9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2" y="1392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rIns="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Times New Roman" panose="02020603050405020304" pitchFamily="18" charset="0"/>
                </a:rPr>
                <a:t>1, </a:t>
              </a:r>
              <a:r>
                <a:rPr lang="en-US" altLang="en-US" b="1" i="1"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15408" name="AutoShape 6">
              <a:extLst>
                <a:ext uri="{FF2B5EF4-FFF2-40B4-BE49-F238E27FC236}">
                  <a16:creationId xmlns:a16="http://schemas.microsoft.com/office/drawing/2014/main" id="{BFE90420-B499-7113-2806-1D0BAF306A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0" y="1392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rIns="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Times New Roman" panose="02020603050405020304" pitchFamily="18" charset="0"/>
                </a:rPr>
                <a:t>3, </a:t>
              </a:r>
              <a:r>
                <a:rPr lang="en-US" altLang="en-US" b="1" i="1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5409" name="AutoShape 7">
              <a:extLst>
                <a:ext uri="{FF2B5EF4-FFF2-40B4-BE49-F238E27FC236}">
                  <a16:creationId xmlns:a16="http://schemas.microsoft.com/office/drawing/2014/main" id="{B52D497C-F899-C87F-5278-987CD2BA0D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8" y="1392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rIns="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Times New Roman" panose="02020603050405020304" pitchFamily="18" charset="0"/>
                </a:rPr>
                <a:t>7, </a:t>
              </a:r>
              <a:r>
                <a:rPr lang="en-US" altLang="en-US" b="1" i="1">
                  <a:latin typeface="Times New Roman" panose="02020603050405020304" pitchFamily="18" charset="0"/>
                </a:rPr>
                <a:t>g</a:t>
              </a:r>
            </a:p>
          </p:txBody>
        </p:sp>
        <p:sp>
          <p:nvSpPr>
            <p:cNvPr id="15410" name="AutoShape 8">
              <a:extLst>
                <a:ext uri="{FF2B5EF4-FFF2-40B4-BE49-F238E27FC236}">
                  <a16:creationId xmlns:a16="http://schemas.microsoft.com/office/drawing/2014/main" id="{78D15731-5B8A-BDA4-9EC3-60546E8A27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6" y="1392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rIns="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Times New Roman" panose="02020603050405020304" pitchFamily="18" charset="0"/>
                </a:rPr>
                <a:t>3, </a:t>
              </a:r>
              <a:r>
                <a:rPr lang="en-US" altLang="en-US" b="1" i="1"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5411" name="AutoShape 9">
              <a:extLst>
                <a:ext uri="{FF2B5EF4-FFF2-40B4-BE49-F238E27FC236}">
                  <a16:creationId xmlns:a16="http://schemas.microsoft.com/office/drawing/2014/main" id="{FF27A54D-92BE-00D6-60B2-E597B770A7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4" y="1392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rIns="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Times New Roman" panose="02020603050405020304" pitchFamily="18" charset="0"/>
                </a:rPr>
                <a:t>7, </a:t>
              </a:r>
              <a:r>
                <a:rPr lang="en-US" altLang="en-US" b="1" i="1">
                  <a:latin typeface="Times New Roman" panose="02020603050405020304" pitchFamily="18" charset="0"/>
                </a:rPr>
                <a:t>e</a:t>
              </a:r>
            </a:p>
          </p:txBody>
        </p:sp>
      </p:grpSp>
      <p:grpSp>
        <p:nvGrpSpPr>
          <p:cNvPr id="15365" name="Group 63">
            <a:extLst>
              <a:ext uri="{FF2B5EF4-FFF2-40B4-BE49-F238E27FC236}">
                <a16:creationId xmlns:a16="http://schemas.microsoft.com/office/drawing/2014/main" id="{EC93B421-1B27-2E98-B682-0866E442B328}"/>
              </a:ext>
            </a:extLst>
          </p:cNvPr>
          <p:cNvGrpSpPr>
            <a:grpSpLocks/>
          </p:cNvGrpSpPr>
          <p:nvPr/>
        </p:nvGrpSpPr>
        <p:grpSpPr bwMode="auto">
          <a:xfrm>
            <a:off x="2687638" y="5715000"/>
            <a:ext cx="6781800" cy="457200"/>
            <a:chOff x="744" y="3600"/>
            <a:chExt cx="4272" cy="288"/>
          </a:xfrm>
        </p:grpSpPr>
        <p:cxnSp>
          <p:nvCxnSpPr>
            <p:cNvPr id="15398" name="AutoShape 48">
              <a:extLst>
                <a:ext uri="{FF2B5EF4-FFF2-40B4-BE49-F238E27FC236}">
                  <a16:creationId xmlns:a16="http://schemas.microsoft.com/office/drawing/2014/main" id="{288D454A-CBBB-7B91-25EC-A54D18DF354C}"/>
                </a:ext>
              </a:extLst>
            </p:cNvPr>
            <p:cNvCxnSpPr>
              <a:cxnSpLocks noChangeShapeType="1"/>
              <a:stCxn id="15399" idx="3"/>
              <a:endCxn id="15404" idx="1"/>
            </p:cNvCxnSpPr>
            <p:nvPr/>
          </p:nvCxnSpPr>
          <p:spPr bwMode="auto">
            <a:xfrm>
              <a:off x="1182" y="3744"/>
              <a:ext cx="3396" cy="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5399" name="AutoShape 49">
              <a:extLst>
                <a:ext uri="{FF2B5EF4-FFF2-40B4-BE49-F238E27FC236}">
                  <a16:creationId xmlns:a16="http://schemas.microsoft.com/office/drawing/2014/main" id="{5D5836CD-B827-FECD-0C8C-277A542A43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4" y="3600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rIns="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Times New Roman" panose="02020603050405020304" pitchFamily="18" charset="0"/>
                </a:rPr>
                <a:t>1, </a:t>
              </a:r>
              <a:r>
                <a:rPr lang="en-US" altLang="en-US" b="1" i="1"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15400" name="AutoShape 50">
              <a:extLst>
                <a:ext uri="{FF2B5EF4-FFF2-40B4-BE49-F238E27FC236}">
                  <a16:creationId xmlns:a16="http://schemas.microsoft.com/office/drawing/2014/main" id="{DB55CB23-587E-2883-FC56-B849572F32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2" y="3600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rIns="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Times New Roman" panose="02020603050405020304" pitchFamily="18" charset="0"/>
                </a:rPr>
                <a:t>3, </a:t>
              </a:r>
              <a:r>
                <a:rPr lang="en-US" altLang="en-US" b="1" i="1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5401" name="AutoShape 51">
              <a:extLst>
                <a:ext uri="{FF2B5EF4-FFF2-40B4-BE49-F238E27FC236}">
                  <a16:creationId xmlns:a16="http://schemas.microsoft.com/office/drawing/2014/main" id="{1C1AF064-A60C-2154-3081-5654F5765A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0" y="3600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rIns="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Times New Roman" panose="02020603050405020304" pitchFamily="18" charset="0"/>
                </a:rPr>
                <a:t>3, </a:t>
              </a:r>
              <a:r>
                <a:rPr lang="en-US" altLang="en-US" b="1" i="1"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5402" name="AutoShape 52">
              <a:extLst>
                <a:ext uri="{FF2B5EF4-FFF2-40B4-BE49-F238E27FC236}">
                  <a16:creationId xmlns:a16="http://schemas.microsoft.com/office/drawing/2014/main" id="{1EB5B749-4A80-F7D1-40B0-76AA338017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8" y="3600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rIns="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Times New Roman" panose="02020603050405020304" pitchFamily="18" charset="0"/>
                </a:rPr>
                <a:t>7, </a:t>
              </a:r>
              <a:r>
                <a:rPr lang="en-US" altLang="en-US" b="1" i="1"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15403" name="AutoShape 53">
              <a:extLst>
                <a:ext uri="{FF2B5EF4-FFF2-40B4-BE49-F238E27FC236}">
                  <a16:creationId xmlns:a16="http://schemas.microsoft.com/office/drawing/2014/main" id="{C503B6FF-B642-3571-2B11-8E02452F26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6" y="3600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rIns="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Times New Roman" panose="02020603050405020304" pitchFamily="18" charset="0"/>
                </a:rPr>
                <a:t>7, </a:t>
              </a:r>
              <a:r>
                <a:rPr lang="en-US" altLang="en-US" b="1" i="1">
                  <a:latin typeface="Times New Roman" panose="02020603050405020304" pitchFamily="18" charset="0"/>
                </a:rPr>
                <a:t>g</a:t>
              </a:r>
            </a:p>
          </p:txBody>
        </p:sp>
        <p:sp>
          <p:nvSpPr>
            <p:cNvPr id="15404" name="AutoShape 54">
              <a:extLst>
                <a:ext uri="{FF2B5EF4-FFF2-40B4-BE49-F238E27FC236}">
                  <a16:creationId xmlns:a16="http://schemas.microsoft.com/office/drawing/2014/main" id="{97930063-F4B5-A872-CAFC-AEA91DB106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4" y="3600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rIns="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Times New Roman" panose="02020603050405020304" pitchFamily="18" charset="0"/>
                </a:rPr>
                <a:t>7, </a:t>
              </a:r>
              <a:r>
                <a:rPr lang="en-US" altLang="en-US" b="1" i="1">
                  <a:latin typeface="Times New Roman" panose="02020603050405020304" pitchFamily="18" charset="0"/>
                </a:rPr>
                <a:t>e</a:t>
              </a:r>
            </a:p>
          </p:txBody>
        </p:sp>
      </p:grpSp>
      <p:sp>
        <p:nvSpPr>
          <p:cNvPr id="15366" name="AutoShape 55">
            <a:extLst>
              <a:ext uri="{FF2B5EF4-FFF2-40B4-BE49-F238E27FC236}">
                <a16:creationId xmlns:a16="http://schemas.microsoft.com/office/drawing/2014/main" id="{FB2A1CF3-4097-6F3B-2EFF-AA67501182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8038" y="2797175"/>
            <a:ext cx="381000" cy="457200"/>
          </a:xfrm>
          <a:prstGeom prst="downArrow">
            <a:avLst>
              <a:gd name="adj1" fmla="val 50000"/>
              <a:gd name="adj2" fmla="val 30000"/>
            </a:avLst>
          </a:prstGeom>
          <a:solidFill>
            <a:srgbClr val="C0C0C0"/>
          </a:solidFill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wrap="none" lIns="1828800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schemeClr val="tx2"/>
                </a:solidFill>
              </a:rPr>
              <a:t>Phase 1</a:t>
            </a:r>
          </a:p>
        </p:txBody>
      </p:sp>
      <p:sp>
        <p:nvSpPr>
          <p:cNvPr id="15367" name="AutoShape 56">
            <a:extLst>
              <a:ext uri="{FF2B5EF4-FFF2-40B4-BE49-F238E27FC236}">
                <a16:creationId xmlns:a16="http://schemas.microsoft.com/office/drawing/2014/main" id="{95841BD1-39A9-DA4D-1F00-FA72A6251C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8038" y="5105400"/>
            <a:ext cx="381000" cy="457200"/>
          </a:xfrm>
          <a:prstGeom prst="downArrow">
            <a:avLst>
              <a:gd name="adj1" fmla="val 50000"/>
              <a:gd name="adj2" fmla="val 30000"/>
            </a:avLst>
          </a:prstGeom>
          <a:solidFill>
            <a:srgbClr val="C0C0C0"/>
          </a:solidFill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wrap="none" lIns="1828800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schemeClr val="tx2"/>
                </a:solidFill>
              </a:rPr>
              <a:t>Phase 2</a:t>
            </a:r>
          </a:p>
        </p:txBody>
      </p:sp>
      <p:grpSp>
        <p:nvGrpSpPr>
          <p:cNvPr id="15368" name="Group 64">
            <a:extLst>
              <a:ext uri="{FF2B5EF4-FFF2-40B4-BE49-F238E27FC236}">
                <a16:creationId xmlns:a16="http://schemas.microsoft.com/office/drawing/2014/main" id="{78B2ADFD-C188-6AB8-540C-719E42248511}"/>
              </a:ext>
            </a:extLst>
          </p:cNvPr>
          <p:cNvGrpSpPr>
            <a:grpSpLocks/>
          </p:cNvGrpSpPr>
          <p:nvPr/>
        </p:nvGrpSpPr>
        <p:grpSpPr bwMode="auto">
          <a:xfrm>
            <a:off x="2173288" y="3476626"/>
            <a:ext cx="7808912" cy="1247775"/>
            <a:chOff x="409" y="2190"/>
            <a:chExt cx="4919" cy="786"/>
          </a:xfrm>
        </p:grpSpPr>
        <p:cxnSp>
          <p:nvCxnSpPr>
            <p:cNvPr id="15369" name="AutoShape 35">
              <a:extLst>
                <a:ext uri="{FF2B5EF4-FFF2-40B4-BE49-F238E27FC236}">
                  <a16:creationId xmlns:a16="http://schemas.microsoft.com/office/drawing/2014/main" id="{D5CA980F-1A5B-D1F9-6A78-EAEBE0CC1488}"/>
                </a:ext>
              </a:extLst>
            </p:cNvPr>
            <p:cNvCxnSpPr>
              <a:cxnSpLocks noChangeShapeType="1"/>
              <a:stCxn id="15382" idx="3"/>
              <a:endCxn id="15386" idx="1"/>
            </p:cNvCxnSpPr>
            <p:nvPr/>
          </p:nvCxnSpPr>
          <p:spPr bwMode="auto">
            <a:xfrm>
              <a:off x="4134" y="2334"/>
              <a:ext cx="756" cy="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5370" name="Rectangle 12">
              <a:extLst>
                <a:ext uri="{FF2B5EF4-FFF2-40B4-BE49-F238E27FC236}">
                  <a16:creationId xmlns:a16="http://schemas.microsoft.com/office/drawing/2014/main" id="{F61ABA0A-42CF-8CC7-CFE3-821A5960B7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3" y="2688"/>
              <a:ext cx="288" cy="288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tIns="594360" bIns="0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5371" name="Rectangle 19">
              <a:extLst>
                <a:ext uri="{FF2B5EF4-FFF2-40B4-BE49-F238E27FC236}">
                  <a16:creationId xmlns:a16="http://schemas.microsoft.com/office/drawing/2014/main" id="{25BB08FD-B72F-5201-089A-F472F60994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" y="2688"/>
              <a:ext cx="288" cy="288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tIns="594360" bIns="0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5372" name="Rectangle 20">
              <a:extLst>
                <a:ext uri="{FF2B5EF4-FFF2-40B4-BE49-F238E27FC236}">
                  <a16:creationId xmlns:a16="http://schemas.microsoft.com/office/drawing/2014/main" id="{B88727FB-D86B-22E6-AEBE-CB695B2BC6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69" y="2688"/>
              <a:ext cx="288" cy="288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tIns="594360" bIns="0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5373" name="Rectangle 21">
              <a:extLst>
                <a:ext uri="{FF2B5EF4-FFF2-40B4-BE49-F238E27FC236}">
                  <a16:creationId xmlns:a16="http://schemas.microsoft.com/office/drawing/2014/main" id="{0923772B-3B08-FCF2-D72B-B7553699B0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7" y="2688"/>
              <a:ext cx="288" cy="288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tIns="594360" bIns="0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5374" name="Rectangle 22">
              <a:extLst>
                <a:ext uri="{FF2B5EF4-FFF2-40B4-BE49-F238E27FC236}">
                  <a16:creationId xmlns:a16="http://schemas.microsoft.com/office/drawing/2014/main" id="{FC39FB16-40A9-63A6-7305-E8613C9993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45" y="2688"/>
              <a:ext cx="288" cy="288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tIns="594360" bIns="0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15375" name="Rectangle 23">
              <a:extLst>
                <a:ext uri="{FF2B5EF4-FFF2-40B4-BE49-F238E27FC236}">
                  <a16:creationId xmlns:a16="http://schemas.microsoft.com/office/drawing/2014/main" id="{F3892E0A-B41E-EF61-BFC2-66670AA574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3" y="2688"/>
              <a:ext cx="288" cy="288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tIns="594360" bIns="0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15376" name="Rectangle 24">
              <a:extLst>
                <a:ext uri="{FF2B5EF4-FFF2-40B4-BE49-F238E27FC236}">
                  <a16:creationId xmlns:a16="http://schemas.microsoft.com/office/drawing/2014/main" id="{4D06EB56-A5FC-E5C9-69CA-EE800EB1AD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21" y="2688"/>
              <a:ext cx="288" cy="288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tIns="594360" bIns="0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15377" name="Rectangle 25">
              <a:extLst>
                <a:ext uri="{FF2B5EF4-FFF2-40B4-BE49-F238E27FC236}">
                  <a16:creationId xmlns:a16="http://schemas.microsoft.com/office/drawing/2014/main" id="{13A9E0A6-3D9E-0940-44E9-0A3368BF06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9" y="2688"/>
              <a:ext cx="288" cy="288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tIns="594360" bIns="0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Times New Roman" panose="02020603050405020304" pitchFamily="18" charset="0"/>
                </a:rPr>
                <a:t>7</a:t>
              </a:r>
            </a:p>
          </p:txBody>
        </p:sp>
        <p:sp>
          <p:nvSpPr>
            <p:cNvPr id="15378" name="Rectangle 26">
              <a:extLst>
                <a:ext uri="{FF2B5EF4-FFF2-40B4-BE49-F238E27FC236}">
                  <a16:creationId xmlns:a16="http://schemas.microsoft.com/office/drawing/2014/main" id="{43148268-A98E-5837-96D3-C5000EE6D6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7" y="2688"/>
              <a:ext cx="288" cy="288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tIns="594360" bIns="0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Times New Roman" panose="02020603050405020304" pitchFamily="18" charset="0"/>
                </a:rPr>
                <a:t>8</a:t>
              </a:r>
            </a:p>
          </p:txBody>
        </p:sp>
        <p:sp>
          <p:nvSpPr>
            <p:cNvPr id="15379" name="Rectangle 27">
              <a:extLst>
                <a:ext uri="{FF2B5EF4-FFF2-40B4-BE49-F238E27FC236}">
                  <a16:creationId xmlns:a16="http://schemas.microsoft.com/office/drawing/2014/main" id="{CAD15176-B6EB-E608-2D96-5925EA4B4D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5" y="2688"/>
              <a:ext cx="288" cy="288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tIns="594360" bIns="0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Times New Roman" panose="02020603050405020304" pitchFamily="18" charset="0"/>
                </a:rPr>
                <a:t>9</a:t>
              </a:r>
            </a:p>
          </p:txBody>
        </p:sp>
        <p:sp>
          <p:nvSpPr>
            <p:cNvPr id="15380" name="Text Box 28">
              <a:extLst>
                <a:ext uri="{FF2B5EF4-FFF2-40B4-BE49-F238E27FC236}">
                  <a16:creationId xmlns:a16="http://schemas.microsoft.com/office/drawing/2014/main" id="{B47F2FBE-0047-903B-6B85-A3D1410159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" y="2688"/>
              <a:ext cx="213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b="1" i="1"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5381" name="AutoShape 29">
              <a:extLst>
                <a:ext uri="{FF2B5EF4-FFF2-40B4-BE49-F238E27FC236}">
                  <a16:creationId xmlns:a16="http://schemas.microsoft.com/office/drawing/2014/main" id="{FD5A17CD-0E5D-108D-4F54-39050DA604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2190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rIns="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Times New Roman" panose="02020603050405020304" pitchFamily="18" charset="0"/>
                </a:rPr>
                <a:t>1, </a:t>
              </a:r>
              <a:r>
                <a:rPr lang="en-US" altLang="en-US" b="1" i="1"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15382" name="AutoShape 30">
              <a:extLst>
                <a:ext uri="{FF2B5EF4-FFF2-40B4-BE49-F238E27FC236}">
                  <a16:creationId xmlns:a16="http://schemas.microsoft.com/office/drawing/2014/main" id="{765609F9-429F-2065-895A-0AF726AFA3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2190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rIns="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Times New Roman" panose="02020603050405020304" pitchFamily="18" charset="0"/>
                </a:rPr>
                <a:t>7, </a:t>
              </a:r>
              <a:r>
                <a:rPr lang="en-US" altLang="en-US" b="1" i="1"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15383" name="AutoShape 31">
              <a:extLst>
                <a:ext uri="{FF2B5EF4-FFF2-40B4-BE49-F238E27FC236}">
                  <a16:creationId xmlns:a16="http://schemas.microsoft.com/office/drawing/2014/main" id="{5D3AB0EA-941C-C7E5-50CA-0F33C2DE29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6" y="2190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rIns="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Times New Roman" panose="02020603050405020304" pitchFamily="18" charset="0"/>
                </a:rPr>
                <a:t>7, </a:t>
              </a:r>
              <a:r>
                <a:rPr lang="en-US" altLang="en-US" b="1" i="1">
                  <a:latin typeface="Times New Roman" panose="02020603050405020304" pitchFamily="18" charset="0"/>
                </a:rPr>
                <a:t>g</a:t>
              </a:r>
            </a:p>
          </p:txBody>
        </p:sp>
        <p:sp>
          <p:nvSpPr>
            <p:cNvPr id="15384" name="AutoShape 32">
              <a:extLst>
                <a:ext uri="{FF2B5EF4-FFF2-40B4-BE49-F238E27FC236}">
                  <a16:creationId xmlns:a16="http://schemas.microsoft.com/office/drawing/2014/main" id="{60E804D3-1E86-4667-8C28-1EACB11864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" y="2190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rIns="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Times New Roman" panose="02020603050405020304" pitchFamily="18" charset="0"/>
                </a:rPr>
                <a:t>3, </a:t>
              </a:r>
              <a:r>
                <a:rPr lang="en-US" altLang="en-US" b="1" i="1"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5385" name="AutoShape 33">
              <a:extLst>
                <a:ext uri="{FF2B5EF4-FFF2-40B4-BE49-F238E27FC236}">
                  <a16:creationId xmlns:a16="http://schemas.microsoft.com/office/drawing/2014/main" id="{4694ADC0-1962-7CF9-CAA1-FBCE36F172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2190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rIns="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Times New Roman" panose="02020603050405020304" pitchFamily="18" charset="0"/>
                </a:rPr>
                <a:t>3, </a:t>
              </a:r>
              <a:r>
                <a:rPr lang="en-US" altLang="en-US" b="1" i="1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5386" name="AutoShape 34">
              <a:extLst>
                <a:ext uri="{FF2B5EF4-FFF2-40B4-BE49-F238E27FC236}">
                  <a16:creationId xmlns:a16="http://schemas.microsoft.com/office/drawing/2014/main" id="{56A12E23-6494-D37D-555A-4E55D04891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6" y="2190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rIns="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Times New Roman" panose="02020603050405020304" pitchFamily="18" charset="0"/>
                </a:rPr>
                <a:t>7, </a:t>
              </a:r>
              <a:r>
                <a:rPr lang="en-US" altLang="en-US" b="1" i="1">
                  <a:latin typeface="Times New Roman" panose="02020603050405020304" pitchFamily="18" charset="0"/>
                </a:rPr>
                <a:t>e</a:t>
              </a:r>
            </a:p>
          </p:txBody>
        </p:sp>
        <p:cxnSp>
          <p:nvCxnSpPr>
            <p:cNvPr id="15387" name="AutoShape 36">
              <a:extLst>
                <a:ext uri="{FF2B5EF4-FFF2-40B4-BE49-F238E27FC236}">
                  <a16:creationId xmlns:a16="http://schemas.microsoft.com/office/drawing/2014/main" id="{DBBC094C-AA94-567F-0671-E5D9D59D38C0}"/>
                </a:ext>
              </a:extLst>
            </p:cNvPr>
            <p:cNvCxnSpPr>
              <a:cxnSpLocks noChangeShapeType="1"/>
              <a:stCxn id="15385" idx="3"/>
              <a:endCxn id="15384" idx="1"/>
            </p:cNvCxnSpPr>
            <p:nvPr/>
          </p:nvCxnSpPr>
          <p:spPr bwMode="auto">
            <a:xfrm>
              <a:off x="2454" y="2334"/>
              <a:ext cx="180" cy="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5388" name="Text Box 38">
              <a:extLst>
                <a:ext uri="{FF2B5EF4-FFF2-40B4-BE49-F238E27FC236}">
                  <a16:creationId xmlns:a16="http://schemas.microsoft.com/office/drawing/2014/main" id="{26E33291-78DE-AA75-71F3-E362F9CFD2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1" y="2718"/>
              <a:ext cx="23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Times New Roman" panose="02020603050405020304" pitchFamily="18" charset="0"/>
                  <a:sym typeface="Symbol" pitchFamily="2" charset="2"/>
                </a:rPr>
                <a:t></a:t>
              </a: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5389" name="Text Box 40">
              <a:extLst>
                <a:ext uri="{FF2B5EF4-FFF2-40B4-BE49-F238E27FC236}">
                  <a16:creationId xmlns:a16="http://schemas.microsoft.com/office/drawing/2014/main" id="{A889C00A-3576-3CF7-647E-8DEAC07483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89" y="2718"/>
              <a:ext cx="23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Times New Roman" panose="02020603050405020304" pitchFamily="18" charset="0"/>
                  <a:sym typeface="Symbol" pitchFamily="2" charset="2"/>
                </a:rPr>
                <a:t></a:t>
              </a: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5390" name="Text Box 42">
              <a:extLst>
                <a:ext uri="{FF2B5EF4-FFF2-40B4-BE49-F238E27FC236}">
                  <a16:creationId xmlns:a16="http://schemas.microsoft.com/office/drawing/2014/main" id="{5CC48BE2-3CD2-39B8-38B1-4723BDCF79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8" y="2718"/>
              <a:ext cx="23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Times New Roman" panose="02020603050405020304" pitchFamily="18" charset="0"/>
                  <a:sym typeface="Symbol" pitchFamily="2" charset="2"/>
                </a:rPr>
                <a:t></a:t>
              </a: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5391" name="Text Box 43">
              <a:extLst>
                <a:ext uri="{FF2B5EF4-FFF2-40B4-BE49-F238E27FC236}">
                  <a16:creationId xmlns:a16="http://schemas.microsoft.com/office/drawing/2014/main" id="{A14BAF84-DDE1-0C8E-506E-C514554236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7" y="2718"/>
              <a:ext cx="23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Times New Roman" panose="02020603050405020304" pitchFamily="18" charset="0"/>
                  <a:sym typeface="Symbol" pitchFamily="2" charset="2"/>
                </a:rPr>
                <a:t></a:t>
              </a: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5392" name="Text Box 44">
              <a:extLst>
                <a:ext uri="{FF2B5EF4-FFF2-40B4-BE49-F238E27FC236}">
                  <a16:creationId xmlns:a16="http://schemas.microsoft.com/office/drawing/2014/main" id="{62983FD4-5507-96E0-D4B6-83F9CE2327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7" y="2718"/>
              <a:ext cx="23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Times New Roman" panose="02020603050405020304" pitchFamily="18" charset="0"/>
                  <a:sym typeface="Symbol" pitchFamily="2" charset="2"/>
                </a:rPr>
                <a:t></a:t>
              </a: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5393" name="Text Box 46">
              <a:extLst>
                <a:ext uri="{FF2B5EF4-FFF2-40B4-BE49-F238E27FC236}">
                  <a16:creationId xmlns:a16="http://schemas.microsoft.com/office/drawing/2014/main" id="{D97A20E6-DF91-5004-E313-D9F53FF46F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5" y="2718"/>
              <a:ext cx="23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Times New Roman" panose="02020603050405020304" pitchFamily="18" charset="0"/>
                  <a:sym typeface="Symbol" pitchFamily="2" charset="2"/>
                </a:rPr>
                <a:t></a:t>
              </a: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5394" name="Text Box 47">
              <a:extLst>
                <a:ext uri="{FF2B5EF4-FFF2-40B4-BE49-F238E27FC236}">
                  <a16:creationId xmlns:a16="http://schemas.microsoft.com/office/drawing/2014/main" id="{83C7ACC7-6F36-EA15-A197-C431A11C40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15" y="2718"/>
              <a:ext cx="23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Times New Roman" panose="02020603050405020304" pitchFamily="18" charset="0"/>
                  <a:sym typeface="Symbol" pitchFamily="2" charset="2"/>
                </a:rPr>
                <a:t></a:t>
              </a: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5395" name="Freeform 58">
              <a:extLst>
                <a:ext uri="{FF2B5EF4-FFF2-40B4-BE49-F238E27FC236}">
                  <a16:creationId xmlns:a16="http://schemas.microsoft.com/office/drawing/2014/main" id="{E5FA561E-7525-E65B-C29F-E81EB425F57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" y="2304"/>
              <a:ext cx="815" cy="522"/>
            </a:xfrm>
            <a:custGeom>
              <a:avLst/>
              <a:gdLst>
                <a:gd name="T0" fmla="*/ 815 w 815"/>
                <a:gd name="T1" fmla="*/ 522 h 522"/>
                <a:gd name="T2" fmla="*/ 653 w 815"/>
                <a:gd name="T3" fmla="*/ 288 h 522"/>
                <a:gd name="T4" fmla="*/ 41 w 815"/>
                <a:gd name="T5" fmla="*/ 144 h 522"/>
                <a:gd name="T6" fmla="*/ 407 w 815"/>
                <a:gd name="T7" fmla="*/ 0 h 52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15"/>
                <a:gd name="T13" fmla="*/ 0 h 522"/>
                <a:gd name="T14" fmla="*/ 815 w 815"/>
                <a:gd name="T15" fmla="*/ 522 h 52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15" h="522">
                  <a:moveTo>
                    <a:pt x="815" y="522"/>
                  </a:moveTo>
                  <a:cubicBezTo>
                    <a:pt x="788" y="484"/>
                    <a:pt x="782" y="351"/>
                    <a:pt x="653" y="288"/>
                  </a:cubicBezTo>
                  <a:cubicBezTo>
                    <a:pt x="524" y="225"/>
                    <a:pt x="82" y="192"/>
                    <a:pt x="41" y="144"/>
                  </a:cubicBezTo>
                  <a:cubicBezTo>
                    <a:pt x="0" y="96"/>
                    <a:pt x="331" y="30"/>
                    <a:pt x="407" y="0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96" name="Freeform 59">
              <a:extLst>
                <a:ext uri="{FF2B5EF4-FFF2-40B4-BE49-F238E27FC236}">
                  <a16:creationId xmlns:a16="http://schemas.microsoft.com/office/drawing/2014/main" id="{9731228D-FC23-EF7B-AA9B-1CD0C4AA751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1" y="2322"/>
              <a:ext cx="299" cy="498"/>
            </a:xfrm>
            <a:custGeom>
              <a:avLst/>
              <a:gdLst>
                <a:gd name="T0" fmla="*/ 89 w 299"/>
                <a:gd name="T1" fmla="*/ 498 h 498"/>
                <a:gd name="T2" fmla="*/ 35 w 299"/>
                <a:gd name="T3" fmla="*/ 108 h 498"/>
                <a:gd name="T4" fmla="*/ 299 w 299"/>
                <a:gd name="T5" fmla="*/ 0 h 498"/>
                <a:gd name="T6" fmla="*/ 0 60000 65536"/>
                <a:gd name="T7" fmla="*/ 0 60000 65536"/>
                <a:gd name="T8" fmla="*/ 0 60000 65536"/>
                <a:gd name="T9" fmla="*/ 0 w 299"/>
                <a:gd name="T10" fmla="*/ 0 h 498"/>
                <a:gd name="T11" fmla="*/ 299 w 299"/>
                <a:gd name="T12" fmla="*/ 498 h 49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99" h="498">
                  <a:moveTo>
                    <a:pt x="89" y="498"/>
                  </a:moveTo>
                  <a:cubicBezTo>
                    <a:pt x="80" y="433"/>
                    <a:pt x="0" y="191"/>
                    <a:pt x="35" y="108"/>
                  </a:cubicBezTo>
                  <a:cubicBezTo>
                    <a:pt x="70" y="25"/>
                    <a:pt x="244" y="22"/>
                    <a:pt x="299" y="0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97" name="Freeform 60">
              <a:extLst>
                <a:ext uri="{FF2B5EF4-FFF2-40B4-BE49-F238E27FC236}">
                  <a16:creationId xmlns:a16="http://schemas.microsoft.com/office/drawing/2014/main" id="{A5E4DC4B-9BAD-675D-C2FB-EEB22295ACA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8" y="2340"/>
              <a:ext cx="732" cy="486"/>
            </a:xfrm>
            <a:custGeom>
              <a:avLst/>
              <a:gdLst>
                <a:gd name="T0" fmla="*/ 0 w 732"/>
                <a:gd name="T1" fmla="*/ 486 h 486"/>
                <a:gd name="T2" fmla="*/ 78 w 732"/>
                <a:gd name="T3" fmla="*/ 264 h 486"/>
                <a:gd name="T4" fmla="*/ 348 w 732"/>
                <a:gd name="T5" fmla="*/ 96 h 486"/>
                <a:gd name="T6" fmla="*/ 732 w 732"/>
                <a:gd name="T7" fmla="*/ 0 h 48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32"/>
                <a:gd name="T13" fmla="*/ 0 h 486"/>
                <a:gd name="T14" fmla="*/ 732 w 732"/>
                <a:gd name="T15" fmla="*/ 486 h 48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32" h="486">
                  <a:moveTo>
                    <a:pt x="0" y="486"/>
                  </a:moveTo>
                  <a:cubicBezTo>
                    <a:pt x="12" y="449"/>
                    <a:pt x="20" y="329"/>
                    <a:pt x="78" y="264"/>
                  </a:cubicBezTo>
                  <a:cubicBezTo>
                    <a:pt x="136" y="199"/>
                    <a:pt x="239" y="140"/>
                    <a:pt x="348" y="96"/>
                  </a:cubicBezTo>
                  <a:cubicBezTo>
                    <a:pt x="457" y="52"/>
                    <a:pt x="652" y="20"/>
                    <a:pt x="732" y="0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4A8E06E5-10E0-DA38-E39A-1476E1C654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Properties and Extensions</a:t>
            </a:r>
          </a:p>
        </p:txBody>
      </p:sp>
      <p:sp>
        <p:nvSpPr>
          <p:cNvPr id="16387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46DB8B8A-1E08-BF30-DB5A-1DF4F0AE5CA5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2057400" y="1676400"/>
            <a:ext cx="3581400" cy="4495800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altLang="en-US" sz="2400"/>
              <a:t>Key-type Property</a:t>
            </a:r>
          </a:p>
          <a:p>
            <a:pPr lvl="1" eaLnBrk="1" hangingPunct="1"/>
            <a:r>
              <a:rPr lang="en-US" altLang="en-US" sz="2000"/>
              <a:t>The keys are used as indices into an array and cannot be arbitrary objects</a:t>
            </a:r>
          </a:p>
          <a:p>
            <a:pPr lvl="1" eaLnBrk="1" hangingPunct="1"/>
            <a:r>
              <a:rPr lang="en-US" altLang="en-US" sz="2000"/>
              <a:t>No external comparator</a:t>
            </a:r>
          </a:p>
          <a:p>
            <a:pPr eaLnBrk="1" hangingPunct="1"/>
            <a:r>
              <a:rPr lang="en-US" altLang="en-US" sz="2400" b="1">
                <a:solidFill>
                  <a:schemeClr val="tx2"/>
                </a:solidFill>
              </a:rPr>
              <a:t>Stable</a:t>
            </a:r>
            <a:r>
              <a:rPr lang="en-US" altLang="en-US" sz="2400"/>
              <a:t> Sort Property</a:t>
            </a:r>
          </a:p>
          <a:p>
            <a:pPr lvl="1" eaLnBrk="1" hangingPunct="1"/>
            <a:r>
              <a:rPr lang="en-US" altLang="en-US" sz="2000"/>
              <a:t>The relative order of any two items with the same key is preserved after the execution of the algorithm</a:t>
            </a:r>
          </a:p>
          <a:p>
            <a:pPr lvl="1" eaLnBrk="1" hangingPunct="1"/>
            <a:endParaRPr lang="en-US" altLang="en-US" sz="2000"/>
          </a:p>
        </p:txBody>
      </p:sp>
      <p:sp>
        <p:nvSpPr>
          <p:cNvPr id="16388" name="Rectangle 4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F9FDD557-A8A2-6818-A940-CCBC5A765549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5867400" y="1676400"/>
            <a:ext cx="4419600" cy="41148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400"/>
              <a:t>Extensions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Integer keys in the range 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b="1" i="1">
                <a:latin typeface="Times New Roman" panose="02020603050405020304" pitchFamily="18" charset="0"/>
              </a:rPr>
              <a:t>a</a:t>
            </a:r>
            <a:r>
              <a:rPr lang="en-US" altLang="en-US" sz="2000">
                <a:latin typeface="Times New Roman" panose="02020603050405020304" pitchFamily="18" charset="0"/>
              </a:rPr>
              <a:t>, </a:t>
            </a:r>
            <a:r>
              <a:rPr lang="en-US" altLang="en-US" sz="2000" b="1" i="1">
                <a:latin typeface="Times New Roman" panose="02020603050405020304" pitchFamily="18" charset="0"/>
              </a:rPr>
              <a:t>b</a:t>
            </a:r>
            <a:r>
              <a:rPr lang="en-US" altLang="en-US" sz="2000">
                <a:latin typeface="Times New Roman" panose="02020603050405020304" pitchFamily="18" charset="0"/>
              </a:rPr>
              <a:t>]</a:t>
            </a:r>
            <a:endParaRPr lang="en-US" altLang="en-US" sz="2000"/>
          </a:p>
          <a:p>
            <a:pPr lvl="2" eaLnBrk="1" hangingPunct="1">
              <a:lnSpc>
                <a:spcPct val="90000"/>
              </a:lnSpc>
            </a:pPr>
            <a:r>
              <a:rPr lang="en-US" altLang="en-US" sz="1800"/>
              <a:t>Put item </a:t>
            </a:r>
            <a:r>
              <a:rPr lang="en-US" altLang="en-US" sz="1800"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latin typeface="Times New Roman" panose="02020603050405020304" pitchFamily="18" charset="0"/>
              </a:rPr>
              <a:t>k</a:t>
            </a:r>
            <a:r>
              <a:rPr lang="en-US" altLang="en-US" sz="1800">
                <a:latin typeface="Times New Roman" panose="02020603050405020304" pitchFamily="18" charset="0"/>
              </a:rPr>
              <a:t>, </a:t>
            </a:r>
            <a:r>
              <a:rPr lang="en-US" altLang="en-US" sz="1800" b="1" i="1">
                <a:latin typeface="Times New Roman" panose="02020603050405020304" pitchFamily="18" charset="0"/>
              </a:rPr>
              <a:t>o</a:t>
            </a:r>
            <a:r>
              <a:rPr lang="en-US" altLang="en-US" sz="1800">
                <a:latin typeface="Times New Roman" panose="02020603050405020304" pitchFamily="18" charset="0"/>
              </a:rPr>
              <a:t>)</a:t>
            </a:r>
            <a:r>
              <a:rPr lang="en-US" altLang="en-US" sz="1800"/>
              <a:t> into bucket</a:t>
            </a:r>
            <a:br>
              <a:rPr lang="en-US" altLang="en-US" sz="1800"/>
            </a:br>
            <a:r>
              <a:rPr lang="en-US" altLang="en-US" sz="1800" b="1" i="1">
                <a:latin typeface="Times New Roman" panose="02020603050405020304" pitchFamily="18" charset="0"/>
              </a:rPr>
              <a:t>B</a:t>
            </a:r>
            <a:r>
              <a:rPr lang="en-US" altLang="en-US" sz="1800">
                <a:latin typeface="Times New Roman" panose="02020603050405020304" pitchFamily="18" charset="0"/>
              </a:rPr>
              <a:t>[</a:t>
            </a:r>
            <a:r>
              <a:rPr lang="en-US" altLang="en-US" sz="1800" b="1" i="1">
                <a:latin typeface="Times New Roman" panose="02020603050405020304" pitchFamily="18" charset="0"/>
              </a:rPr>
              <a:t>k </a:t>
            </a:r>
            <a:r>
              <a:rPr lang="en-US" altLang="en-US" sz="1800">
                <a:latin typeface="Symbol" pitchFamily="2" charset="2"/>
              </a:rPr>
              <a:t>-</a:t>
            </a:r>
            <a:r>
              <a:rPr lang="en-US" altLang="en-US" sz="1800" b="1" i="1">
                <a:latin typeface="Times New Roman" panose="02020603050405020304" pitchFamily="18" charset="0"/>
              </a:rPr>
              <a:t> a</a:t>
            </a:r>
            <a:r>
              <a:rPr lang="en-US" altLang="en-US" sz="1800">
                <a:latin typeface="Times New Roman" panose="02020603050405020304" pitchFamily="18" charset="0"/>
              </a:rPr>
              <a:t>]</a:t>
            </a:r>
            <a:r>
              <a:rPr lang="en-US" altLang="en-US" sz="1800"/>
              <a:t>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String keys from a set </a:t>
            </a:r>
            <a:r>
              <a:rPr lang="en-US" altLang="en-US" sz="2000" b="1" i="1">
                <a:latin typeface="Times New Roman" panose="02020603050405020304" pitchFamily="18" charset="0"/>
              </a:rPr>
              <a:t>D</a:t>
            </a:r>
            <a:r>
              <a:rPr lang="en-US" altLang="en-US" sz="2000"/>
              <a:t> of possible strings, where </a:t>
            </a:r>
            <a:r>
              <a:rPr lang="en-US" altLang="en-US" sz="2000" b="1" i="1">
                <a:latin typeface="Times New Roman" panose="02020603050405020304" pitchFamily="18" charset="0"/>
              </a:rPr>
              <a:t>D</a:t>
            </a:r>
            <a:r>
              <a:rPr lang="en-US" altLang="en-US" sz="2000"/>
              <a:t> has constant size (e.g., names of the 50 U.S. states)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1800"/>
              <a:t>Sort </a:t>
            </a:r>
            <a:r>
              <a:rPr lang="en-US" altLang="en-US" sz="1800" b="1" i="1">
                <a:latin typeface="Times New Roman" panose="02020603050405020304" pitchFamily="18" charset="0"/>
              </a:rPr>
              <a:t>D</a:t>
            </a:r>
            <a:r>
              <a:rPr lang="en-US" altLang="en-US" sz="1800"/>
              <a:t> and compute the rank </a:t>
            </a:r>
            <a:r>
              <a:rPr lang="en-US" altLang="en-US" sz="1800" b="1" i="1">
                <a:latin typeface="Times New Roman" panose="02020603050405020304" pitchFamily="18" charset="0"/>
              </a:rPr>
              <a:t>r</a:t>
            </a:r>
            <a:r>
              <a:rPr lang="en-US" altLang="en-US" sz="1800"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latin typeface="Times New Roman" panose="02020603050405020304" pitchFamily="18" charset="0"/>
              </a:rPr>
              <a:t>k</a:t>
            </a:r>
            <a:r>
              <a:rPr lang="en-US" altLang="en-US" sz="1800">
                <a:latin typeface="Times New Roman" panose="02020603050405020304" pitchFamily="18" charset="0"/>
              </a:rPr>
              <a:t>)</a:t>
            </a:r>
            <a:r>
              <a:rPr lang="en-US" altLang="en-US" sz="1800" b="1" i="1">
                <a:latin typeface="Times New Roman" panose="02020603050405020304" pitchFamily="18" charset="0"/>
              </a:rPr>
              <a:t> </a:t>
            </a:r>
            <a:r>
              <a:rPr lang="en-US" altLang="en-US" sz="1800"/>
              <a:t>of each string </a:t>
            </a:r>
            <a:r>
              <a:rPr lang="en-US" altLang="en-US" sz="1800" b="1" i="1">
                <a:latin typeface="Times New Roman" panose="02020603050405020304" pitchFamily="18" charset="0"/>
              </a:rPr>
              <a:t>k</a:t>
            </a:r>
            <a:r>
              <a:rPr lang="en-US" altLang="en-US" sz="1800"/>
              <a:t> of </a:t>
            </a:r>
            <a:r>
              <a:rPr lang="en-US" altLang="en-US" sz="1800" b="1" i="1">
                <a:latin typeface="Times New Roman" panose="02020603050405020304" pitchFamily="18" charset="0"/>
              </a:rPr>
              <a:t>D</a:t>
            </a:r>
            <a:r>
              <a:rPr lang="en-US" altLang="en-US" sz="1800"/>
              <a:t> in the sorted sequence 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1800"/>
              <a:t>Put item </a:t>
            </a:r>
            <a:r>
              <a:rPr lang="en-US" altLang="en-US" sz="1800"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latin typeface="Times New Roman" panose="02020603050405020304" pitchFamily="18" charset="0"/>
              </a:rPr>
              <a:t>k</a:t>
            </a:r>
            <a:r>
              <a:rPr lang="en-US" altLang="en-US" sz="1800">
                <a:latin typeface="Times New Roman" panose="02020603050405020304" pitchFamily="18" charset="0"/>
              </a:rPr>
              <a:t>, </a:t>
            </a:r>
            <a:r>
              <a:rPr lang="en-US" altLang="en-US" sz="1800" b="1" i="1">
                <a:latin typeface="Times New Roman" panose="02020603050405020304" pitchFamily="18" charset="0"/>
              </a:rPr>
              <a:t>o</a:t>
            </a:r>
            <a:r>
              <a:rPr lang="en-US" altLang="en-US" sz="1800">
                <a:latin typeface="Times New Roman" panose="02020603050405020304" pitchFamily="18" charset="0"/>
              </a:rPr>
              <a:t>)</a:t>
            </a:r>
            <a:r>
              <a:rPr lang="en-US" altLang="en-US" sz="1800"/>
              <a:t> into bucket </a:t>
            </a:r>
            <a:br>
              <a:rPr lang="en-US" altLang="en-US" sz="1800"/>
            </a:br>
            <a:r>
              <a:rPr lang="en-US" altLang="en-US" sz="1800" b="1" i="1">
                <a:latin typeface="Times New Roman" panose="02020603050405020304" pitchFamily="18" charset="0"/>
              </a:rPr>
              <a:t>B</a:t>
            </a:r>
            <a:r>
              <a:rPr lang="en-US" altLang="en-US" sz="1800">
                <a:latin typeface="Times New Roman" panose="02020603050405020304" pitchFamily="18" charset="0"/>
              </a:rPr>
              <a:t>[</a:t>
            </a:r>
            <a:r>
              <a:rPr lang="en-US" altLang="en-US" sz="1800" b="1" i="1">
                <a:latin typeface="Times New Roman" panose="02020603050405020304" pitchFamily="18" charset="0"/>
              </a:rPr>
              <a:t>r</a:t>
            </a:r>
            <a:r>
              <a:rPr lang="en-US" altLang="en-US" sz="1800"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latin typeface="Times New Roman" panose="02020603050405020304" pitchFamily="18" charset="0"/>
              </a:rPr>
              <a:t>k</a:t>
            </a:r>
            <a:r>
              <a:rPr lang="en-US" altLang="en-US" sz="1800">
                <a:latin typeface="Times New Roman" panose="02020603050405020304" pitchFamily="18" charset="0"/>
              </a:rPr>
              <a:t>)]</a:t>
            </a:r>
            <a:endParaRPr lang="en-US" altLang="en-US"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B0AEA184-FBFD-AD83-E986-59060C2F60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 dirty="0"/>
              <a:t>Lexicographic Order</a:t>
            </a:r>
          </a:p>
        </p:txBody>
      </p:sp>
      <p:sp>
        <p:nvSpPr>
          <p:cNvPr id="17411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2BFFCC61-59AC-83C0-A848-E8A5267886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0" y="1600200"/>
            <a:ext cx="7848600" cy="44958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/>
              <a:t>A </a:t>
            </a:r>
            <a:r>
              <a:rPr lang="en-US" altLang="en-US" b="1" i="1">
                <a:latin typeface="Times New Roman" panose="02020603050405020304" pitchFamily="18" charset="0"/>
              </a:rPr>
              <a:t>d-</a:t>
            </a:r>
            <a:r>
              <a:rPr lang="en-US" altLang="en-US"/>
              <a:t>tuple is a sequence of </a:t>
            </a:r>
            <a:r>
              <a:rPr lang="en-US" altLang="en-US" b="1" i="1">
                <a:latin typeface="Times New Roman" panose="02020603050405020304" pitchFamily="18" charset="0"/>
              </a:rPr>
              <a:t>d</a:t>
            </a:r>
            <a:r>
              <a:rPr lang="en-US" altLang="en-US"/>
              <a:t> keys </a:t>
            </a:r>
            <a:r>
              <a:rPr lang="en-US" altLang="en-US">
                <a:latin typeface="Times New Roman" panose="02020603050405020304" pitchFamily="18" charset="0"/>
              </a:rPr>
              <a:t>(</a:t>
            </a:r>
            <a:r>
              <a:rPr lang="en-US" altLang="en-US" b="1" i="1">
                <a:latin typeface="Times New Roman" panose="02020603050405020304" pitchFamily="18" charset="0"/>
              </a:rPr>
              <a:t>k</a:t>
            </a:r>
            <a:r>
              <a:rPr lang="en-US" altLang="en-US" baseline="-25000">
                <a:latin typeface="Times New Roman" panose="02020603050405020304" pitchFamily="18" charset="0"/>
              </a:rPr>
              <a:t>1</a:t>
            </a:r>
            <a:r>
              <a:rPr lang="en-US" altLang="en-US">
                <a:latin typeface="Times New Roman" panose="02020603050405020304" pitchFamily="18" charset="0"/>
              </a:rPr>
              <a:t>, </a:t>
            </a:r>
            <a:r>
              <a:rPr lang="en-US" altLang="en-US" b="1" i="1">
                <a:latin typeface="Times New Roman" panose="02020603050405020304" pitchFamily="18" charset="0"/>
              </a:rPr>
              <a:t>k</a:t>
            </a:r>
            <a:r>
              <a:rPr lang="en-US" altLang="en-US" baseline="-25000">
                <a:latin typeface="Times New Roman" panose="02020603050405020304" pitchFamily="18" charset="0"/>
              </a:rPr>
              <a:t>2</a:t>
            </a:r>
            <a:r>
              <a:rPr lang="en-US" altLang="en-US">
                <a:latin typeface="Times New Roman" panose="02020603050405020304" pitchFamily="18" charset="0"/>
              </a:rPr>
              <a:t>, </a:t>
            </a:r>
            <a:r>
              <a:rPr lang="en-US" altLang="en-US" b="1" i="1">
                <a:latin typeface="Times New Roman" panose="02020603050405020304" pitchFamily="18" charset="0"/>
              </a:rPr>
              <a:t>…</a:t>
            </a:r>
            <a:r>
              <a:rPr lang="en-US" altLang="en-US">
                <a:latin typeface="Times New Roman" panose="02020603050405020304" pitchFamily="18" charset="0"/>
              </a:rPr>
              <a:t>, </a:t>
            </a:r>
            <a:r>
              <a:rPr lang="en-US" altLang="en-US" b="1" i="1">
                <a:latin typeface="Times New Roman" panose="02020603050405020304" pitchFamily="18" charset="0"/>
              </a:rPr>
              <a:t>k</a:t>
            </a:r>
            <a:r>
              <a:rPr lang="en-US" altLang="en-US" b="1" i="1" baseline="-25000">
                <a:latin typeface="Times New Roman" panose="02020603050405020304" pitchFamily="18" charset="0"/>
              </a:rPr>
              <a:t>d</a:t>
            </a:r>
            <a:r>
              <a:rPr lang="en-US" altLang="en-US">
                <a:latin typeface="Times New Roman" panose="02020603050405020304" pitchFamily="18" charset="0"/>
              </a:rPr>
              <a:t>)</a:t>
            </a:r>
            <a:r>
              <a:rPr lang="en-US" altLang="en-US"/>
              <a:t>, where key </a:t>
            </a:r>
            <a:r>
              <a:rPr lang="en-US" altLang="en-US" b="1" i="1">
                <a:latin typeface="Times New Roman" panose="02020603050405020304" pitchFamily="18" charset="0"/>
              </a:rPr>
              <a:t>k</a:t>
            </a:r>
            <a:r>
              <a:rPr lang="en-US" altLang="en-US" b="1" i="1" baseline="-25000">
                <a:latin typeface="Times New Roman" panose="02020603050405020304" pitchFamily="18" charset="0"/>
              </a:rPr>
              <a:t>i</a:t>
            </a:r>
            <a:r>
              <a:rPr lang="en-US" altLang="en-US"/>
              <a:t> is said to be the </a:t>
            </a:r>
            <a:r>
              <a:rPr lang="en-US" altLang="en-US" b="1" i="1">
                <a:latin typeface="Times New Roman" panose="02020603050405020304" pitchFamily="18" charset="0"/>
              </a:rPr>
              <a:t>i-</a:t>
            </a:r>
            <a:r>
              <a:rPr lang="en-US" altLang="en-US"/>
              <a:t>th dimension of the tuple</a:t>
            </a:r>
            <a:endParaRPr lang="en-US" altLang="en-US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en-US"/>
              <a:t>Example:</a:t>
            </a:r>
          </a:p>
          <a:p>
            <a:pPr lvl="1" eaLnBrk="1" hangingPunct="1"/>
            <a:r>
              <a:rPr lang="en-US" altLang="en-US"/>
              <a:t>The Cartesian coordinates of a point in space are a 3-tuple</a:t>
            </a:r>
          </a:p>
          <a:p>
            <a:pPr eaLnBrk="1" hangingPunct="1"/>
            <a:r>
              <a:rPr lang="en-US" altLang="en-US"/>
              <a:t>The lexicographic order of two </a:t>
            </a:r>
            <a:r>
              <a:rPr lang="en-US" altLang="en-US" b="1" i="1">
                <a:latin typeface="Times New Roman" panose="02020603050405020304" pitchFamily="18" charset="0"/>
              </a:rPr>
              <a:t>d-</a:t>
            </a:r>
            <a:r>
              <a:rPr lang="en-US" altLang="en-US"/>
              <a:t>tuples is recursively defined as follows</a:t>
            </a:r>
          </a:p>
          <a:p>
            <a:pPr algn="ctr" eaLnBrk="1" hangingPunct="1">
              <a:buFont typeface="Wingdings" pitchFamily="2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(</a:t>
            </a:r>
            <a:r>
              <a:rPr lang="en-US" altLang="en-US" sz="2000" b="1" i="1">
                <a:latin typeface="Times New Roman" panose="02020603050405020304" pitchFamily="18" charset="0"/>
              </a:rPr>
              <a:t>x</a:t>
            </a:r>
            <a:r>
              <a:rPr lang="en-US" altLang="en-US" sz="2000" baseline="-25000">
                <a:latin typeface="Times New Roman" panose="02020603050405020304" pitchFamily="18" charset="0"/>
              </a:rPr>
              <a:t>1</a:t>
            </a:r>
            <a:r>
              <a:rPr lang="en-US" altLang="en-US" sz="2000">
                <a:latin typeface="Times New Roman" panose="02020603050405020304" pitchFamily="18" charset="0"/>
              </a:rPr>
              <a:t>, </a:t>
            </a:r>
            <a:r>
              <a:rPr lang="en-US" altLang="en-US" sz="2000" b="1" i="1">
                <a:latin typeface="Times New Roman" panose="02020603050405020304" pitchFamily="18" charset="0"/>
              </a:rPr>
              <a:t>x</a:t>
            </a:r>
            <a:r>
              <a:rPr lang="en-US" altLang="en-US" sz="2000" baseline="-25000">
                <a:latin typeface="Times New Roman" panose="02020603050405020304" pitchFamily="18" charset="0"/>
              </a:rPr>
              <a:t>2</a:t>
            </a:r>
            <a:r>
              <a:rPr lang="en-US" altLang="en-US" sz="2000">
                <a:latin typeface="Times New Roman" panose="02020603050405020304" pitchFamily="18" charset="0"/>
              </a:rPr>
              <a:t>, </a:t>
            </a:r>
            <a:r>
              <a:rPr lang="en-US" altLang="en-US" sz="2000" b="1" i="1">
                <a:latin typeface="Times New Roman" panose="02020603050405020304" pitchFamily="18" charset="0"/>
              </a:rPr>
              <a:t>…</a:t>
            </a:r>
            <a:r>
              <a:rPr lang="en-US" altLang="en-US" sz="2000">
                <a:latin typeface="Times New Roman" panose="02020603050405020304" pitchFamily="18" charset="0"/>
              </a:rPr>
              <a:t>, </a:t>
            </a:r>
            <a:r>
              <a:rPr lang="en-US" altLang="en-US" sz="2000" b="1" i="1">
                <a:latin typeface="Times New Roman" panose="02020603050405020304" pitchFamily="18" charset="0"/>
              </a:rPr>
              <a:t>x</a:t>
            </a:r>
            <a:r>
              <a:rPr lang="en-US" altLang="en-US" sz="2000" b="1" i="1" baseline="-25000">
                <a:latin typeface="Times New Roman" panose="02020603050405020304" pitchFamily="18" charset="0"/>
              </a:rPr>
              <a:t>d</a:t>
            </a:r>
            <a:r>
              <a:rPr lang="en-US" altLang="en-US" sz="2000">
                <a:latin typeface="Times New Roman" panose="02020603050405020304" pitchFamily="18" charset="0"/>
              </a:rPr>
              <a:t>) </a:t>
            </a:r>
            <a:r>
              <a:rPr lang="en-US" altLang="en-US" sz="2000">
                <a:latin typeface="Symbol" pitchFamily="2" charset="2"/>
                <a:sym typeface="Symbol" pitchFamily="2" charset="2"/>
              </a:rPr>
              <a:t>&lt;</a:t>
            </a:r>
            <a:r>
              <a:rPr lang="en-US" altLang="en-US" sz="2000">
                <a:latin typeface="Times New Roman" panose="02020603050405020304" pitchFamily="18" charset="0"/>
              </a:rPr>
              <a:t> (</a:t>
            </a:r>
            <a:r>
              <a:rPr lang="en-US" altLang="en-US" sz="2000" b="1" i="1">
                <a:latin typeface="Times New Roman" panose="02020603050405020304" pitchFamily="18" charset="0"/>
              </a:rPr>
              <a:t>y</a:t>
            </a:r>
            <a:r>
              <a:rPr lang="en-US" altLang="en-US" sz="2000" baseline="-25000">
                <a:latin typeface="Times New Roman" panose="02020603050405020304" pitchFamily="18" charset="0"/>
              </a:rPr>
              <a:t>1</a:t>
            </a:r>
            <a:r>
              <a:rPr lang="en-US" altLang="en-US" sz="2000">
                <a:latin typeface="Times New Roman" panose="02020603050405020304" pitchFamily="18" charset="0"/>
              </a:rPr>
              <a:t>, </a:t>
            </a:r>
            <a:r>
              <a:rPr lang="en-US" altLang="en-US" sz="2000" b="1" i="1">
                <a:latin typeface="Times New Roman" panose="02020603050405020304" pitchFamily="18" charset="0"/>
              </a:rPr>
              <a:t>y</a:t>
            </a:r>
            <a:r>
              <a:rPr lang="en-US" altLang="en-US" sz="2000" baseline="-25000">
                <a:latin typeface="Times New Roman" panose="02020603050405020304" pitchFamily="18" charset="0"/>
              </a:rPr>
              <a:t>2</a:t>
            </a:r>
            <a:r>
              <a:rPr lang="en-US" altLang="en-US" sz="2000">
                <a:latin typeface="Times New Roman" panose="02020603050405020304" pitchFamily="18" charset="0"/>
              </a:rPr>
              <a:t>, </a:t>
            </a:r>
            <a:r>
              <a:rPr lang="en-US" altLang="en-US" sz="2000" b="1" i="1">
                <a:latin typeface="Times New Roman" panose="02020603050405020304" pitchFamily="18" charset="0"/>
              </a:rPr>
              <a:t>…</a:t>
            </a:r>
            <a:r>
              <a:rPr lang="en-US" altLang="en-US" sz="2000">
                <a:latin typeface="Times New Roman" panose="02020603050405020304" pitchFamily="18" charset="0"/>
              </a:rPr>
              <a:t>, </a:t>
            </a:r>
            <a:r>
              <a:rPr lang="en-US" altLang="en-US" sz="2000" b="1" i="1">
                <a:latin typeface="Times New Roman" panose="02020603050405020304" pitchFamily="18" charset="0"/>
              </a:rPr>
              <a:t>y</a:t>
            </a:r>
            <a:r>
              <a:rPr lang="en-US" altLang="en-US" sz="2000" b="1" i="1" baseline="-25000">
                <a:latin typeface="Times New Roman" panose="02020603050405020304" pitchFamily="18" charset="0"/>
              </a:rPr>
              <a:t>d</a:t>
            </a:r>
            <a:r>
              <a:rPr lang="en-US" altLang="en-US" sz="2000">
                <a:latin typeface="Times New Roman" panose="02020603050405020304" pitchFamily="18" charset="0"/>
              </a:rPr>
              <a:t>)</a:t>
            </a:r>
            <a:br>
              <a:rPr lang="en-US" altLang="en-US" sz="2000">
                <a:latin typeface="Times New Roman" panose="02020603050405020304" pitchFamily="18" charset="0"/>
              </a:rPr>
            </a:b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</a:t>
            </a:r>
            <a:br>
              <a:rPr lang="en-US" altLang="en-US" sz="2000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</a:br>
            <a:r>
              <a:rPr lang="en-US" altLang="en-US" sz="2000" b="1" i="1">
                <a:latin typeface="Times New Roman" panose="02020603050405020304" pitchFamily="18" charset="0"/>
              </a:rPr>
              <a:t>x</a:t>
            </a:r>
            <a:r>
              <a:rPr lang="en-US" altLang="en-US" sz="2000" baseline="-25000">
                <a:latin typeface="Times New Roman" panose="02020603050405020304" pitchFamily="18" charset="0"/>
              </a:rPr>
              <a:t>1 </a:t>
            </a:r>
            <a:r>
              <a:rPr lang="en-US" altLang="en-US" sz="2000">
                <a:latin typeface="Symbol" pitchFamily="2" charset="2"/>
                <a:sym typeface="Symbol" pitchFamily="2" charset="2"/>
              </a:rPr>
              <a:t>&lt;</a:t>
            </a:r>
            <a:r>
              <a:rPr lang="en-US" altLang="en-US" sz="2000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2000" b="1" i="1">
                <a:latin typeface="Times New Roman" panose="02020603050405020304" pitchFamily="18" charset="0"/>
              </a:rPr>
              <a:t>y</a:t>
            </a:r>
            <a:r>
              <a:rPr lang="en-US" altLang="en-US" sz="2000" baseline="-25000">
                <a:latin typeface="Times New Roman" panose="02020603050405020304" pitchFamily="18" charset="0"/>
              </a:rPr>
              <a:t>1  </a:t>
            </a:r>
            <a:r>
              <a:rPr lang="en-US" altLang="en-US">
                <a:solidFill>
                  <a:schemeClr val="tx2"/>
                </a:solidFill>
                <a:sym typeface="Symbol" pitchFamily="2" charset="2"/>
              </a:rPr>
              <a:t></a:t>
            </a:r>
            <a:r>
              <a:rPr lang="en-US" altLang="en-US" sz="2000">
                <a:solidFill>
                  <a:schemeClr val="tx2"/>
                </a:solidFill>
                <a:sym typeface="Symbol" pitchFamily="2" charset="2"/>
              </a:rPr>
              <a:t> </a:t>
            </a:r>
            <a:r>
              <a:rPr lang="en-US" altLang="en-US" sz="2000">
                <a:sym typeface="Symbol" pitchFamily="2" charset="2"/>
              </a:rPr>
              <a:t> </a:t>
            </a:r>
            <a:r>
              <a:rPr lang="en-US" altLang="en-US" sz="2000" b="1" i="1">
                <a:latin typeface="Times New Roman" panose="02020603050405020304" pitchFamily="18" charset="0"/>
              </a:rPr>
              <a:t>x</a:t>
            </a:r>
            <a:r>
              <a:rPr lang="en-US" altLang="en-US" sz="2000" baseline="-25000">
                <a:latin typeface="Times New Roman" panose="02020603050405020304" pitchFamily="18" charset="0"/>
              </a:rPr>
              <a:t>1</a:t>
            </a:r>
            <a:r>
              <a:rPr lang="en-US" altLang="en-US" sz="2000" baseline="-25000">
                <a:latin typeface="Symbol" pitchFamily="2" charset="2"/>
              </a:rPr>
              <a:t> </a:t>
            </a:r>
            <a:r>
              <a:rPr lang="en-US" altLang="en-US" sz="2000">
                <a:latin typeface="Symbol" pitchFamily="2" charset="2"/>
                <a:sym typeface="Symbol" pitchFamily="2" charset="2"/>
              </a:rPr>
              <a:t>=</a:t>
            </a:r>
            <a:r>
              <a:rPr lang="en-US" altLang="en-US" sz="2000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2000" b="1" i="1">
                <a:latin typeface="Times New Roman" panose="02020603050405020304" pitchFamily="18" charset="0"/>
              </a:rPr>
              <a:t>y</a:t>
            </a:r>
            <a:r>
              <a:rPr lang="en-US" altLang="en-US" sz="2000" baseline="-25000">
                <a:latin typeface="Times New Roman" panose="02020603050405020304" pitchFamily="18" charset="0"/>
              </a:rPr>
              <a:t>1 </a:t>
            </a:r>
            <a:r>
              <a:rPr lang="en-US" altLang="en-US">
                <a:solidFill>
                  <a:schemeClr val="tx2"/>
                </a:solidFill>
                <a:sym typeface="Symbol" pitchFamily="2" charset="2"/>
              </a:rPr>
              <a:t></a:t>
            </a:r>
            <a:r>
              <a:rPr lang="en-US" altLang="en-US" sz="2000">
                <a:sym typeface="Symbol" pitchFamily="2" charset="2"/>
              </a:rPr>
              <a:t> </a:t>
            </a:r>
            <a:r>
              <a:rPr lang="en-US" altLang="en-US" sz="2000">
                <a:latin typeface="Times New Roman" panose="02020603050405020304" pitchFamily="18" charset="0"/>
              </a:rPr>
              <a:t>(</a:t>
            </a:r>
            <a:r>
              <a:rPr lang="en-US" altLang="en-US" sz="2000" b="1" i="1">
                <a:latin typeface="Times New Roman" panose="02020603050405020304" pitchFamily="18" charset="0"/>
              </a:rPr>
              <a:t>x</a:t>
            </a:r>
            <a:r>
              <a:rPr lang="en-US" altLang="en-US" sz="2000" baseline="-25000">
                <a:latin typeface="Times New Roman" panose="02020603050405020304" pitchFamily="18" charset="0"/>
              </a:rPr>
              <a:t>2</a:t>
            </a:r>
            <a:r>
              <a:rPr lang="en-US" altLang="en-US" sz="2000">
                <a:latin typeface="Times New Roman" panose="02020603050405020304" pitchFamily="18" charset="0"/>
              </a:rPr>
              <a:t>, </a:t>
            </a:r>
            <a:r>
              <a:rPr lang="en-US" altLang="en-US" sz="2000" b="1" i="1">
                <a:latin typeface="Times New Roman" panose="02020603050405020304" pitchFamily="18" charset="0"/>
              </a:rPr>
              <a:t>…</a:t>
            </a:r>
            <a:r>
              <a:rPr lang="en-US" altLang="en-US" sz="2000">
                <a:latin typeface="Times New Roman" panose="02020603050405020304" pitchFamily="18" charset="0"/>
              </a:rPr>
              <a:t>, </a:t>
            </a:r>
            <a:r>
              <a:rPr lang="en-US" altLang="en-US" sz="2000" b="1" i="1">
                <a:latin typeface="Times New Roman" panose="02020603050405020304" pitchFamily="18" charset="0"/>
              </a:rPr>
              <a:t>x</a:t>
            </a:r>
            <a:r>
              <a:rPr lang="en-US" altLang="en-US" sz="2000" b="1" i="1" baseline="-25000">
                <a:latin typeface="Times New Roman" panose="02020603050405020304" pitchFamily="18" charset="0"/>
              </a:rPr>
              <a:t>d</a:t>
            </a:r>
            <a:r>
              <a:rPr lang="en-US" altLang="en-US" sz="2000">
                <a:latin typeface="Times New Roman" panose="02020603050405020304" pitchFamily="18" charset="0"/>
              </a:rPr>
              <a:t>) </a:t>
            </a:r>
            <a:r>
              <a:rPr lang="en-US" altLang="en-US" sz="2000">
                <a:latin typeface="Symbol" pitchFamily="2" charset="2"/>
                <a:sym typeface="Symbol" pitchFamily="2" charset="2"/>
              </a:rPr>
              <a:t>&lt;</a:t>
            </a:r>
            <a:r>
              <a:rPr lang="en-US" altLang="en-US" sz="2000">
                <a:latin typeface="Times New Roman" panose="02020603050405020304" pitchFamily="18" charset="0"/>
              </a:rPr>
              <a:t> (</a:t>
            </a:r>
            <a:r>
              <a:rPr lang="en-US" altLang="en-US" sz="2000" b="1" i="1">
                <a:latin typeface="Times New Roman" panose="02020603050405020304" pitchFamily="18" charset="0"/>
              </a:rPr>
              <a:t>y</a:t>
            </a:r>
            <a:r>
              <a:rPr lang="en-US" altLang="en-US" sz="2000" baseline="-25000">
                <a:latin typeface="Times New Roman" panose="02020603050405020304" pitchFamily="18" charset="0"/>
              </a:rPr>
              <a:t>2</a:t>
            </a:r>
            <a:r>
              <a:rPr lang="en-US" altLang="en-US" sz="2000">
                <a:latin typeface="Times New Roman" panose="02020603050405020304" pitchFamily="18" charset="0"/>
              </a:rPr>
              <a:t>, </a:t>
            </a:r>
            <a:r>
              <a:rPr lang="en-US" altLang="en-US" sz="2000" b="1" i="1">
                <a:latin typeface="Times New Roman" panose="02020603050405020304" pitchFamily="18" charset="0"/>
              </a:rPr>
              <a:t>…</a:t>
            </a:r>
            <a:r>
              <a:rPr lang="en-US" altLang="en-US" sz="2000">
                <a:latin typeface="Times New Roman" panose="02020603050405020304" pitchFamily="18" charset="0"/>
              </a:rPr>
              <a:t>, </a:t>
            </a:r>
            <a:r>
              <a:rPr lang="en-US" altLang="en-US" sz="2000" b="1" i="1">
                <a:latin typeface="Times New Roman" panose="02020603050405020304" pitchFamily="18" charset="0"/>
              </a:rPr>
              <a:t>y</a:t>
            </a:r>
            <a:r>
              <a:rPr lang="en-US" altLang="en-US" sz="2000" b="1" i="1" baseline="-25000">
                <a:latin typeface="Times New Roman" panose="02020603050405020304" pitchFamily="18" charset="0"/>
              </a:rPr>
              <a:t>d</a:t>
            </a:r>
            <a:r>
              <a:rPr lang="en-US" altLang="en-US" sz="2000"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</a:t>
            </a:r>
            <a:r>
              <a:rPr lang="en-US" altLang="en-US"/>
              <a:t>i.e., the tuples are compared by the first dimension, then by the second dimension, etc.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0F1956CB-63ED-EFC1-FB85-0DB78BEA96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Lexicographic-Sort</a:t>
            </a:r>
          </a:p>
        </p:txBody>
      </p:sp>
      <p:sp>
        <p:nvSpPr>
          <p:cNvPr id="18435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40854474-FDE4-19FF-E967-4F122D67802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133600" y="1381125"/>
            <a:ext cx="3733800" cy="47244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Let </a:t>
            </a:r>
            <a:r>
              <a:rPr lang="en-US" altLang="en-US" sz="2000" i="1" dirty="0">
                <a:latin typeface="Times New Roman" panose="02020603050405020304" pitchFamily="18" charset="0"/>
              </a:rPr>
              <a:t>C</a:t>
            </a:r>
            <a:r>
              <a:rPr lang="en-US" altLang="en-US" sz="2000" i="1" baseline="-25000" dirty="0">
                <a:latin typeface="Times New Roman" panose="02020603050405020304" pitchFamily="18" charset="0"/>
              </a:rPr>
              <a:t>i</a:t>
            </a:r>
            <a:r>
              <a:rPr lang="en-US" altLang="en-US" sz="2000" dirty="0"/>
              <a:t> be the comparator that compares two tuples by their </a:t>
            </a:r>
            <a:r>
              <a:rPr lang="en-US" altLang="en-US" sz="2000" i="1" dirty="0" err="1">
                <a:latin typeface="Times New Roman" panose="02020603050405020304" pitchFamily="18" charset="0"/>
              </a:rPr>
              <a:t>i-</a:t>
            </a:r>
            <a:r>
              <a:rPr lang="en-US" altLang="en-US" sz="2000" dirty="0" err="1"/>
              <a:t>th</a:t>
            </a:r>
            <a:r>
              <a:rPr lang="en-US" altLang="en-US" sz="2000" dirty="0"/>
              <a:t> dimension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Let </a:t>
            </a:r>
            <a:r>
              <a:rPr lang="en-US" altLang="en-US" sz="2000" i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stableSort</a:t>
            </a:r>
            <a:r>
              <a:rPr lang="en-US" altLang="en-US" sz="2000" dirty="0">
                <a:latin typeface="Times New Roman" panose="02020603050405020304" pitchFamily="18" charset="0"/>
              </a:rPr>
              <a:t>(</a:t>
            </a:r>
            <a:r>
              <a:rPr lang="en-US" altLang="en-US" sz="2000" i="1" dirty="0">
                <a:latin typeface="Times New Roman" panose="02020603050405020304" pitchFamily="18" charset="0"/>
              </a:rPr>
              <a:t>S</a:t>
            </a:r>
            <a:r>
              <a:rPr lang="en-US" altLang="en-US" sz="2000" dirty="0">
                <a:latin typeface="Times New Roman" panose="02020603050405020304" pitchFamily="18" charset="0"/>
              </a:rPr>
              <a:t>, </a:t>
            </a:r>
            <a:r>
              <a:rPr lang="en-US" altLang="en-US" sz="2000" i="1" dirty="0">
                <a:latin typeface="Times New Roman" panose="02020603050405020304" pitchFamily="18" charset="0"/>
              </a:rPr>
              <a:t>C</a:t>
            </a:r>
            <a:r>
              <a:rPr lang="en-US" altLang="en-US" sz="2000" dirty="0">
                <a:latin typeface="Times New Roman" panose="02020603050405020304" pitchFamily="18" charset="0"/>
              </a:rPr>
              <a:t>)</a:t>
            </a:r>
            <a:r>
              <a:rPr lang="en-US" altLang="en-US" sz="2000" dirty="0"/>
              <a:t> be a stable sorting algorithm that uses comparator </a:t>
            </a:r>
            <a:r>
              <a:rPr lang="en-US" altLang="en-US" sz="2000" i="1" dirty="0">
                <a:latin typeface="Times New Roman" panose="02020603050405020304" pitchFamily="18" charset="0"/>
              </a:rPr>
              <a:t>C</a:t>
            </a:r>
            <a:endParaRPr lang="en-US" altLang="en-US" sz="20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Lexicographic-sort sorts a sequence of </a:t>
            </a:r>
            <a:r>
              <a:rPr lang="en-US" altLang="en-US" sz="2000" i="1" dirty="0">
                <a:latin typeface="Times New Roman" panose="02020603050405020304" pitchFamily="18" charset="0"/>
              </a:rPr>
              <a:t>d-</a:t>
            </a:r>
            <a:r>
              <a:rPr lang="en-US" altLang="en-US" sz="2000" dirty="0"/>
              <a:t>tuples in lexicographic order by executing</a:t>
            </a:r>
            <a:r>
              <a:rPr lang="en-US" altLang="en-US" sz="2000" i="1" dirty="0">
                <a:latin typeface="Times New Roman" panose="02020603050405020304" pitchFamily="18" charset="0"/>
              </a:rPr>
              <a:t> </a:t>
            </a:r>
            <a:r>
              <a:rPr lang="en-US" altLang="en-US" sz="2000" dirty="0"/>
              <a:t>algorithm </a:t>
            </a:r>
            <a:r>
              <a:rPr lang="en-US" altLang="en-US" sz="2000" i="1" dirty="0" err="1">
                <a:latin typeface="Times New Roman" panose="02020603050405020304" pitchFamily="18" charset="0"/>
              </a:rPr>
              <a:t>stableSort</a:t>
            </a:r>
            <a:r>
              <a:rPr lang="en-US" altLang="en-US" sz="2000" i="1" dirty="0">
                <a:latin typeface="Times New Roman" panose="02020603050405020304" pitchFamily="18" charset="0"/>
              </a:rPr>
              <a:t> </a:t>
            </a:r>
            <a:r>
              <a:rPr lang="en-US" altLang="en-US" sz="2000" dirty="0">
                <a:latin typeface="Times New Roman" panose="02020603050405020304" pitchFamily="18" charset="0"/>
              </a:rPr>
              <a:t>for</a:t>
            </a:r>
            <a:r>
              <a:rPr lang="en-US" altLang="en-US" sz="2000" i="1" dirty="0">
                <a:latin typeface="Times New Roman" panose="02020603050405020304" pitchFamily="18" charset="0"/>
              </a:rPr>
              <a:t> d </a:t>
            </a:r>
            <a:r>
              <a:rPr lang="en-US" altLang="en-US" sz="2000" dirty="0"/>
              <a:t>times, one per dimension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Lexicographic-sort runs in </a:t>
            </a:r>
            <a:r>
              <a:rPr lang="en-US" altLang="en-US" sz="2000" i="1" dirty="0">
                <a:solidFill>
                  <a:srgbClr val="C00000"/>
                </a:solidFill>
                <a:latin typeface="Times New Roman" panose="02020603050405020304" pitchFamily="18" charset="0"/>
              </a:rPr>
              <a:t>O</a:t>
            </a:r>
            <a:r>
              <a:rPr lang="en-US" altLang="en-US" sz="2000" dirty="0">
                <a:solidFill>
                  <a:srgbClr val="C0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2000" i="1" dirty="0">
                <a:solidFill>
                  <a:srgbClr val="C00000"/>
                </a:solidFill>
                <a:latin typeface="Times New Roman" panose="02020603050405020304" pitchFamily="18" charset="0"/>
              </a:rPr>
              <a:t>d*T</a:t>
            </a:r>
            <a:r>
              <a:rPr lang="en-US" altLang="en-US" sz="2000" dirty="0">
                <a:solidFill>
                  <a:srgbClr val="C0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2000" i="1" dirty="0">
                <a:solidFill>
                  <a:srgbClr val="C0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 sz="2000" dirty="0">
                <a:solidFill>
                  <a:srgbClr val="C00000"/>
                </a:solidFill>
                <a:latin typeface="Times New Roman" panose="02020603050405020304" pitchFamily="18" charset="0"/>
              </a:rPr>
              <a:t>))</a:t>
            </a:r>
            <a:r>
              <a:rPr lang="en-US" altLang="en-US" sz="2000" dirty="0">
                <a:solidFill>
                  <a:srgbClr val="C00000"/>
                </a:solidFill>
              </a:rPr>
              <a:t> time</a:t>
            </a:r>
            <a:r>
              <a:rPr lang="en-US" altLang="en-US" sz="2000" dirty="0"/>
              <a:t>, where </a:t>
            </a:r>
            <a:r>
              <a:rPr lang="en-US" altLang="en-US" sz="2000" i="1" dirty="0">
                <a:latin typeface="Times New Roman" panose="02020603050405020304" pitchFamily="18" charset="0"/>
              </a:rPr>
              <a:t>T</a:t>
            </a:r>
            <a:r>
              <a:rPr lang="en-US" altLang="en-US" sz="2000" dirty="0">
                <a:latin typeface="Times New Roman" panose="02020603050405020304" pitchFamily="18" charset="0"/>
              </a:rPr>
              <a:t>(</a:t>
            </a:r>
            <a:r>
              <a:rPr lang="en-US" altLang="en-US" sz="2000" i="1" dirty="0">
                <a:latin typeface="Times New Roman" panose="02020603050405020304" pitchFamily="18" charset="0"/>
              </a:rPr>
              <a:t>n</a:t>
            </a:r>
            <a:r>
              <a:rPr lang="en-US" altLang="en-US" sz="2000" dirty="0">
                <a:latin typeface="Times New Roman" panose="02020603050405020304" pitchFamily="18" charset="0"/>
              </a:rPr>
              <a:t>)</a:t>
            </a:r>
            <a:r>
              <a:rPr lang="en-US" altLang="en-US" sz="2000" dirty="0"/>
              <a:t> is the running time of </a:t>
            </a:r>
            <a:r>
              <a:rPr lang="en-US" altLang="en-US" sz="2000" i="1" dirty="0" err="1">
                <a:latin typeface="Times New Roman" panose="02020603050405020304" pitchFamily="18" charset="0"/>
              </a:rPr>
              <a:t>stableSort</a:t>
            </a:r>
            <a:r>
              <a:rPr lang="en-US" altLang="en-US" sz="2000" i="1" dirty="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18436" name="Text Box 4">
            <a:extLst>
              <a:ext uri="{FF2B5EF4-FFF2-40B4-BE49-F238E27FC236}">
                <a16:creationId xmlns:a16="http://schemas.microsoft.com/office/drawing/2014/main" id="{F111074D-A29F-02CE-2C0C-D91B8A0150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1295401"/>
            <a:ext cx="3962400" cy="22653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defTabSz="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defTabSz="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defTabSz="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defTabSz="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defTabSz="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defTabSz="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sz="2000" b="1">
                <a:solidFill>
                  <a:srgbClr val="000000"/>
                </a:solidFill>
                <a:latin typeface="Times New Roman" panose="02020603050405020304" pitchFamily="18" charset="0"/>
              </a:rPr>
              <a:t>Algorithm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 b="1" i="1">
                <a:solidFill>
                  <a:schemeClr val="tx2"/>
                </a:solidFill>
                <a:latin typeface="Times New Roman" panose="02020603050405020304" pitchFamily="18" charset="0"/>
              </a:rPr>
              <a:t>lexicographicSort</a:t>
            </a:r>
            <a:r>
              <a:rPr lang="en-US" altLang="en-US" sz="2000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2000" b="1" i="1">
                <a:solidFill>
                  <a:schemeClr val="tx2"/>
                </a:solidFill>
                <a:latin typeface="Times New Roman" panose="02020603050405020304" pitchFamily="18" charset="0"/>
              </a:rPr>
              <a:t>S</a:t>
            </a:r>
            <a:r>
              <a:rPr lang="en-US" altLang="en-US" sz="2000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sz="2000">
                <a:solidFill>
                  <a:schemeClr val="tx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2000" b="1">
                <a:solidFill>
                  <a:srgbClr val="000000"/>
                </a:solidFill>
                <a:latin typeface="Times New Roman" panose="02020603050405020304" pitchFamily="18" charset="0"/>
              </a:rPr>
              <a:t>Input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sequence 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S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 of  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d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-tuples</a:t>
            </a:r>
            <a:b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</a:b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2000" b="1">
                <a:solidFill>
                  <a:srgbClr val="000000"/>
                </a:solidFill>
                <a:latin typeface="Times New Roman" panose="02020603050405020304" pitchFamily="18" charset="0"/>
              </a:rPr>
              <a:t>Output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sequence 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S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 sorted in</a:t>
            </a:r>
            <a:b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</a:b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		lexicographic order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endParaRPr lang="en-US" altLang="en-US" sz="2000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2000" b="1">
                <a:solidFill>
                  <a:srgbClr val="000000"/>
                </a:solidFill>
                <a:latin typeface="Times New Roman" panose="02020603050405020304" pitchFamily="18" charset="0"/>
              </a:rPr>
              <a:t>for 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i </a:t>
            </a:r>
            <a:r>
              <a:rPr lang="en-US" altLang="en-US" sz="2000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</a:t>
            </a:r>
            <a:r>
              <a:rPr lang="en-US" altLang="en-US" sz="200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d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b="1">
                <a:solidFill>
                  <a:srgbClr val="000000"/>
                </a:solidFill>
                <a:latin typeface="Times New Roman" panose="02020603050405020304" pitchFamily="18" charset="0"/>
              </a:rPr>
              <a:t>downto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 1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	stableSort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S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, 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C</a:t>
            </a:r>
            <a:r>
              <a:rPr lang="en-US" altLang="en-US" sz="2000" b="1" i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18437" name="Text Box 5">
            <a:extLst>
              <a:ext uri="{FF2B5EF4-FFF2-40B4-BE49-F238E27FC236}">
                <a16:creationId xmlns:a16="http://schemas.microsoft.com/office/drawing/2014/main" id="{1F178CEB-C650-E30C-E712-C5B17FEC52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3733800"/>
            <a:ext cx="41148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en-US"/>
              <a:t>Example:</a:t>
            </a:r>
          </a:p>
          <a:p>
            <a:pPr algn="l" eaLnBrk="1" hangingPunct="1">
              <a:spcBef>
                <a:spcPct val="50000"/>
              </a:spcBef>
            </a:pPr>
            <a:r>
              <a:rPr lang="en-US" altLang="en-US" sz="2000">
                <a:latin typeface="Times New Roman" panose="02020603050405020304" pitchFamily="18" charset="0"/>
              </a:rPr>
              <a:t>(7,4,6) (5,1,5) (2,4,6) (2, 1, 4) (3, 2, 4)</a:t>
            </a:r>
          </a:p>
          <a:p>
            <a:pPr algn="l" eaLnBrk="1" hangingPunct="1">
              <a:spcBef>
                <a:spcPct val="50000"/>
              </a:spcBef>
            </a:pPr>
            <a:r>
              <a:rPr lang="en-US" altLang="en-US" sz="2000">
                <a:latin typeface="Times New Roman" panose="02020603050405020304" pitchFamily="18" charset="0"/>
              </a:rPr>
              <a:t>(2, 1, </a:t>
            </a:r>
            <a:r>
              <a:rPr lang="en-US" altLang="en-US" sz="2000" b="1">
                <a:solidFill>
                  <a:schemeClr val="tx2"/>
                </a:solidFill>
                <a:latin typeface="Times New Roman" panose="02020603050405020304" pitchFamily="18" charset="0"/>
              </a:rPr>
              <a:t>4</a:t>
            </a:r>
            <a:r>
              <a:rPr lang="en-US" altLang="en-US" sz="2000">
                <a:latin typeface="Times New Roman" panose="02020603050405020304" pitchFamily="18" charset="0"/>
              </a:rPr>
              <a:t>) (3, 2,</a:t>
            </a:r>
            <a:r>
              <a:rPr lang="en-US" altLang="en-US" sz="2000" b="1">
                <a:latin typeface="Times New Roman" panose="02020603050405020304" pitchFamily="18" charset="0"/>
              </a:rPr>
              <a:t> </a:t>
            </a:r>
            <a:r>
              <a:rPr lang="en-US" altLang="en-US" sz="2000" b="1">
                <a:solidFill>
                  <a:schemeClr val="tx2"/>
                </a:solidFill>
                <a:latin typeface="Times New Roman" panose="02020603050405020304" pitchFamily="18" charset="0"/>
              </a:rPr>
              <a:t>4</a:t>
            </a:r>
            <a:r>
              <a:rPr lang="en-US" altLang="en-US" sz="2000">
                <a:latin typeface="Times New Roman" panose="02020603050405020304" pitchFamily="18" charset="0"/>
              </a:rPr>
              <a:t>) (5,1,</a:t>
            </a:r>
            <a:r>
              <a:rPr lang="en-US" altLang="en-US" sz="2000" b="1">
                <a:solidFill>
                  <a:schemeClr val="tx2"/>
                </a:solidFill>
                <a:latin typeface="Times New Roman" panose="02020603050405020304" pitchFamily="18" charset="0"/>
              </a:rPr>
              <a:t>5</a:t>
            </a:r>
            <a:r>
              <a:rPr lang="en-US" altLang="en-US" sz="2000">
                <a:latin typeface="Times New Roman" panose="02020603050405020304" pitchFamily="18" charset="0"/>
              </a:rPr>
              <a:t>) (7,4,</a:t>
            </a:r>
            <a:r>
              <a:rPr lang="en-US" altLang="en-US" sz="2000" b="1">
                <a:solidFill>
                  <a:schemeClr val="tx2"/>
                </a:solidFill>
                <a:latin typeface="Times New Roman" panose="02020603050405020304" pitchFamily="18" charset="0"/>
              </a:rPr>
              <a:t>6</a:t>
            </a:r>
            <a:r>
              <a:rPr lang="en-US" altLang="en-US" sz="2000">
                <a:latin typeface="Times New Roman" panose="02020603050405020304" pitchFamily="18" charset="0"/>
              </a:rPr>
              <a:t>) (2,4,</a:t>
            </a:r>
            <a:r>
              <a:rPr lang="en-US" altLang="en-US" sz="2000" b="1">
                <a:solidFill>
                  <a:schemeClr val="tx2"/>
                </a:solidFill>
                <a:latin typeface="Times New Roman" panose="02020603050405020304" pitchFamily="18" charset="0"/>
              </a:rPr>
              <a:t>6</a:t>
            </a:r>
            <a:r>
              <a:rPr lang="en-US" altLang="en-US" sz="2000">
                <a:latin typeface="Times New Roman" panose="02020603050405020304" pitchFamily="18" charset="0"/>
              </a:rPr>
              <a:t>)</a:t>
            </a:r>
          </a:p>
          <a:p>
            <a:pPr algn="l" eaLnBrk="1" hangingPunct="1">
              <a:spcBef>
                <a:spcPct val="50000"/>
              </a:spcBef>
            </a:pPr>
            <a:r>
              <a:rPr lang="en-US" altLang="en-US" sz="2000">
                <a:latin typeface="Times New Roman" panose="02020603050405020304" pitchFamily="18" charset="0"/>
              </a:rPr>
              <a:t>(2, </a:t>
            </a:r>
            <a:r>
              <a:rPr lang="en-US" altLang="en-US" sz="2000" b="1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  <a:r>
              <a:rPr lang="en-US" altLang="en-US" sz="2000">
                <a:latin typeface="Times New Roman" panose="02020603050405020304" pitchFamily="18" charset="0"/>
              </a:rPr>
              <a:t>, 4) (5,</a:t>
            </a:r>
            <a:r>
              <a:rPr lang="en-US" altLang="en-US" sz="2000" b="1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  <a:r>
              <a:rPr lang="en-US" altLang="en-US" sz="2000">
                <a:latin typeface="Times New Roman" panose="02020603050405020304" pitchFamily="18" charset="0"/>
              </a:rPr>
              <a:t>,5) (3, </a:t>
            </a:r>
            <a:r>
              <a:rPr lang="en-US" altLang="en-US" sz="2000" b="1">
                <a:solidFill>
                  <a:schemeClr val="tx2"/>
                </a:solidFill>
                <a:latin typeface="Times New Roman" panose="02020603050405020304" pitchFamily="18" charset="0"/>
              </a:rPr>
              <a:t>2</a:t>
            </a:r>
            <a:r>
              <a:rPr lang="en-US" altLang="en-US" sz="2000">
                <a:latin typeface="Times New Roman" panose="02020603050405020304" pitchFamily="18" charset="0"/>
              </a:rPr>
              <a:t>, 4) (7,</a:t>
            </a:r>
            <a:r>
              <a:rPr lang="en-US" altLang="en-US" sz="2000" b="1">
                <a:solidFill>
                  <a:schemeClr val="tx2"/>
                </a:solidFill>
                <a:latin typeface="Times New Roman" panose="02020603050405020304" pitchFamily="18" charset="0"/>
              </a:rPr>
              <a:t>4</a:t>
            </a:r>
            <a:r>
              <a:rPr lang="en-US" altLang="en-US" sz="2000">
                <a:latin typeface="Times New Roman" panose="02020603050405020304" pitchFamily="18" charset="0"/>
              </a:rPr>
              <a:t>,6) (2,</a:t>
            </a:r>
            <a:r>
              <a:rPr lang="en-US" altLang="en-US" sz="2000" b="1">
                <a:solidFill>
                  <a:schemeClr val="tx2"/>
                </a:solidFill>
                <a:latin typeface="Times New Roman" panose="02020603050405020304" pitchFamily="18" charset="0"/>
              </a:rPr>
              <a:t>4</a:t>
            </a:r>
            <a:r>
              <a:rPr lang="en-US" altLang="en-US" sz="2000">
                <a:latin typeface="Times New Roman" panose="02020603050405020304" pitchFamily="18" charset="0"/>
              </a:rPr>
              <a:t>,6)</a:t>
            </a:r>
          </a:p>
          <a:p>
            <a:pPr algn="l" eaLnBrk="1" hangingPunct="1">
              <a:spcBef>
                <a:spcPct val="50000"/>
              </a:spcBef>
            </a:pPr>
            <a:r>
              <a:rPr lang="en-US" altLang="en-US" sz="2000">
                <a:latin typeface="Times New Roman" panose="02020603050405020304" pitchFamily="18" charset="0"/>
              </a:rPr>
              <a:t>(</a:t>
            </a:r>
            <a:r>
              <a:rPr lang="en-US" altLang="en-US" sz="2000" b="1">
                <a:solidFill>
                  <a:schemeClr val="tx2"/>
                </a:solidFill>
                <a:latin typeface="Times New Roman" panose="02020603050405020304" pitchFamily="18" charset="0"/>
              </a:rPr>
              <a:t>2</a:t>
            </a:r>
            <a:r>
              <a:rPr lang="en-US" altLang="en-US" sz="2000">
                <a:latin typeface="Times New Roman" panose="02020603050405020304" pitchFamily="18" charset="0"/>
              </a:rPr>
              <a:t>, 1, 4) (</a:t>
            </a:r>
            <a:r>
              <a:rPr lang="en-US" altLang="en-US" sz="2000" b="1">
                <a:solidFill>
                  <a:schemeClr val="tx2"/>
                </a:solidFill>
                <a:latin typeface="Times New Roman" panose="02020603050405020304" pitchFamily="18" charset="0"/>
              </a:rPr>
              <a:t>2</a:t>
            </a:r>
            <a:r>
              <a:rPr lang="en-US" altLang="en-US" sz="2000">
                <a:latin typeface="Times New Roman" panose="02020603050405020304" pitchFamily="18" charset="0"/>
              </a:rPr>
              <a:t>,4,6) (</a:t>
            </a:r>
            <a:r>
              <a:rPr lang="en-US" altLang="en-US" sz="2000" b="1">
                <a:solidFill>
                  <a:schemeClr val="tx2"/>
                </a:solidFill>
                <a:latin typeface="Times New Roman" panose="02020603050405020304" pitchFamily="18" charset="0"/>
              </a:rPr>
              <a:t>3</a:t>
            </a:r>
            <a:r>
              <a:rPr lang="en-US" altLang="en-US" sz="2000">
                <a:latin typeface="Times New Roman" panose="02020603050405020304" pitchFamily="18" charset="0"/>
              </a:rPr>
              <a:t>, 2, 4) (</a:t>
            </a:r>
            <a:r>
              <a:rPr lang="en-US" altLang="en-US" sz="2000" b="1">
                <a:solidFill>
                  <a:schemeClr val="tx2"/>
                </a:solidFill>
                <a:latin typeface="Times New Roman" panose="02020603050405020304" pitchFamily="18" charset="0"/>
              </a:rPr>
              <a:t>5</a:t>
            </a:r>
            <a:r>
              <a:rPr lang="en-US" altLang="en-US" sz="2000">
                <a:latin typeface="Times New Roman" panose="02020603050405020304" pitchFamily="18" charset="0"/>
              </a:rPr>
              <a:t>,1,5) (</a:t>
            </a:r>
            <a:r>
              <a:rPr lang="en-US" altLang="en-US" sz="2000" b="1">
                <a:solidFill>
                  <a:schemeClr val="tx2"/>
                </a:solidFill>
                <a:latin typeface="Times New Roman" panose="02020603050405020304" pitchFamily="18" charset="0"/>
              </a:rPr>
              <a:t>7</a:t>
            </a:r>
            <a:r>
              <a:rPr lang="en-US" altLang="en-US" sz="2000">
                <a:latin typeface="Times New Roman" panose="02020603050405020304" pitchFamily="18" charset="0"/>
              </a:rPr>
              <a:t>,4,6)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407ED15E-5350-8988-0BFE-757F8A1A6C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Radix-Sort</a:t>
            </a:r>
          </a:p>
        </p:txBody>
      </p:sp>
      <p:sp>
        <p:nvSpPr>
          <p:cNvPr id="19459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79E80769-E62D-00F2-E044-BB2C603AEDB7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1905000" y="1524000"/>
            <a:ext cx="3962400" cy="4724400"/>
          </a:xfrm>
        </p:spPr>
        <p:txBody>
          <a:bodyPr/>
          <a:lstStyle/>
          <a:p>
            <a:pPr eaLnBrk="1" hangingPunct="1"/>
            <a:r>
              <a:rPr lang="en-US" altLang="en-US" sz="2000" dirty="0"/>
              <a:t>Radix-sort is a specialization of </a:t>
            </a:r>
            <a:r>
              <a:rPr lang="en-US" altLang="en-US" sz="2000" dirty="0">
                <a:solidFill>
                  <a:srgbClr val="C00000"/>
                </a:solidFill>
              </a:rPr>
              <a:t>lexicographic-sort </a:t>
            </a:r>
            <a:r>
              <a:rPr lang="en-US" altLang="en-US" sz="2000" dirty="0"/>
              <a:t>that uses </a:t>
            </a:r>
            <a:r>
              <a:rPr lang="en-US" altLang="en-US" sz="2000" dirty="0">
                <a:solidFill>
                  <a:srgbClr val="C00000"/>
                </a:solidFill>
              </a:rPr>
              <a:t>bucket-sort</a:t>
            </a:r>
            <a:r>
              <a:rPr lang="en-US" altLang="en-US" sz="2000" dirty="0"/>
              <a:t> as the stable sorting algorithm in each dimension</a:t>
            </a:r>
          </a:p>
          <a:p>
            <a:pPr eaLnBrk="1" hangingPunct="1"/>
            <a:endParaRPr lang="en-US" altLang="en-US" sz="2000" dirty="0"/>
          </a:p>
          <a:p>
            <a:pPr eaLnBrk="1" hangingPunct="1"/>
            <a:r>
              <a:rPr lang="en-US" altLang="en-US" sz="2000" dirty="0"/>
              <a:t>Radix-sort is applicable to tuples where the keys in each dimension </a:t>
            </a:r>
            <a:r>
              <a:rPr lang="en-US" altLang="en-US" sz="2000" b="1" i="1" dirty="0" err="1">
                <a:latin typeface="Times New Roman" panose="02020603050405020304" pitchFamily="18" charset="0"/>
              </a:rPr>
              <a:t>i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 </a:t>
            </a:r>
            <a:r>
              <a:rPr lang="en-US" altLang="en-US" sz="2000" dirty="0"/>
              <a:t>are integers in the range </a:t>
            </a:r>
            <a:r>
              <a:rPr lang="en-US" altLang="en-US" sz="2000" dirty="0">
                <a:latin typeface="Times New Roman" panose="02020603050405020304" pitchFamily="18" charset="0"/>
              </a:rPr>
              <a:t>[0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, N</a:t>
            </a:r>
            <a:r>
              <a:rPr lang="en-US" altLang="en-US" sz="2000" dirty="0">
                <a:latin typeface="Times New Roman" panose="02020603050405020304" pitchFamily="18" charset="0"/>
              </a:rPr>
              <a:t> </a:t>
            </a:r>
            <a:r>
              <a:rPr lang="en-US" altLang="en-US" sz="2000" dirty="0">
                <a:latin typeface="Symbol" pitchFamily="2" charset="2"/>
              </a:rPr>
              <a:t>- </a:t>
            </a:r>
            <a:r>
              <a:rPr lang="en-US" altLang="en-US" sz="2000" dirty="0">
                <a:latin typeface="Times New Roman" panose="02020603050405020304" pitchFamily="18" charset="0"/>
              </a:rPr>
              <a:t>1]</a:t>
            </a:r>
          </a:p>
          <a:p>
            <a:pPr eaLnBrk="1" hangingPunct="1"/>
            <a:endParaRPr lang="en-US" altLang="en-US" sz="2000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en-US" sz="2000" dirty="0"/>
              <a:t>Radix-sort runs in time </a:t>
            </a:r>
          </a:p>
          <a:p>
            <a:pPr eaLnBrk="1" hangingPunct="1">
              <a:buFontTx/>
              <a:buNone/>
            </a:pPr>
            <a:r>
              <a:rPr lang="en-US" altLang="en-US" sz="2000" b="1" i="1" dirty="0">
                <a:latin typeface="Times New Roman" panose="02020603050405020304" pitchFamily="18" charset="0"/>
              </a:rPr>
              <a:t>	O</a:t>
            </a:r>
            <a:r>
              <a:rPr lang="en-US" altLang="en-US" sz="2000" dirty="0">
                <a:latin typeface="Times New Roman" panose="02020603050405020304" pitchFamily="18" charset="0"/>
              </a:rPr>
              <a:t>(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d*</a:t>
            </a:r>
            <a:r>
              <a:rPr lang="en-US" altLang="en-US" sz="2000" dirty="0">
                <a:latin typeface="Times New Roman" panose="02020603050405020304" pitchFamily="18" charset="0"/>
              </a:rPr>
              <a:t>(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n</a:t>
            </a:r>
            <a:r>
              <a:rPr lang="en-US" altLang="en-US" sz="2000" dirty="0">
                <a:latin typeface="Times New Roman" panose="02020603050405020304" pitchFamily="18" charset="0"/>
              </a:rPr>
              <a:t> </a:t>
            </a:r>
            <a:r>
              <a:rPr lang="en-US" altLang="en-US" sz="2000" dirty="0">
                <a:latin typeface="Symbol" pitchFamily="2" charset="2"/>
              </a:rPr>
              <a:t>+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N</a:t>
            </a:r>
            <a:r>
              <a:rPr lang="en-US" altLang="en-US" sz="2000" dirty="0">
                <a:latin typeface="Times New Roman" panose="02020603050405020304" pitchFamily="18" charset="0"/>
              </a:rPr>
              <a:t>))</a:t>
            </a:r>
          </a:p>
        </p:txBody>
      </p:sp>
      <p:sp>
        <p:nvSpPr>
          <p:cNvPr id="19460" name="Text Box 5">
            <a:extLst>
              <a:ext uri="{FF2B5EF4-FFF2-40B4-BE49-F238E27FC236}">
                <a16:creationId xmlns:a16="http://schemas.microsoft.com/office/drawing/2014/main" id="{4EF94150-D125-56F8-2A90-C1AAAE3A34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2209800"/>
            <a:ext cx="4114800" cy="2832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defTabSz="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defTabSz="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defTabSz="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defTabSz="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defTabSz="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defTabSz="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sz="2000" b="1">
                <a:solidFill>
                  <a:srgbClr val="000000"/>
                </a:solidFill>
                <a:latin typeface="Times New Roman" panose="02020603050405020304" pitchFamily="18" charset="0"/>
              </a:rPr>
              <a:t>Algorithm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 b="1" i="1">
                <a:solidFill>
                  <a:schemeClr val="tx2"/>
                </a:solidFill>
                <a:latin typeface="Times New Roman" panose="02020603050405020304" pitchFamily="18" charset="0"/>
              </a:rPr>
              <a:t>radixSort</a:t>
            </a:r>
            <a:r>
              <a:rPr lang="en-US" altLang="en-US" sz="2000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2000" b="1" i="1">
                <a:solidFill>
                  <a:schemeClr val="tx2"/>
                </a:solidFill>
                <a:latin typeface="Times New Roman" panose="02020603050405020304" pitchFamily="18" charset="0"/>
              </a:rPr>
              <a:t>S, N</a:t>
            </a:r>
            <a:r>
              <a:rPr lang="en-US" altLang="en-US" sz="2000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sz="2000">
                <a:solidFill>
                  <a:schemeClr val="tx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2000" b="1">
                <a:solidFill>
                  <a:srgbClr val="000000"/>
                </a:solidFill>
                <a:latin typeface="Times New Roman" panose="02020603050405020304" pitchFamily="18" charset="0"/>
              </a:rPr>
              <a:t>Input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sequence 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S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 of  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d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-tuples such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		that (0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, …, 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0) 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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 (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x</a:t>
            </a:r>
            <a:r>
              <a:rPr lang="en-US" altLang="en-US" sz="2000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1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, …, x</a:t>
            </a:r>
            <a:r>
              <a:rPr lang="en-US" altLang="en-US" sz="2000" b="1" i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d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) and</a:t>
            </a:r>
            <a:b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</a:b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		(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x</a:t>
            </a:r>
            <a:r>
              <a:rPr lang="en-US" altLang="en-US" sz="2000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1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, …, x</a:t>
            </a:r>
            <a:r>
              <a:rPr lang="en-US" altLang="en-US" sz="2000" b="1" i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d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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 (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>
                <a:solidFill>
                  <a:schemeClr val="accent2"/>
                </a:solidFill>
                <a:latin typeface="Symbol" pitchFamily="2" charset="2"/>
              </a:rPr>
              <a:t>- 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1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, …, N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>
                <a:solidFill>
                  <a:schemeClr val="accent2"/>
                </a:solidFill>
                <a:latin typeface="Symbol" pitchFamily="2" charset="2"/>
              </a:rPr>
              <a:t>- 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1)</a:t>
            </a:r>
            <a:b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</a:b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		for each tuple (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x</a:t>
            </a:r>
            <a:r>
              <a:rPr lang="en-US" altLang="en-US" sz="2000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1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, …, x</a:t>
            </a:r>
            <a:r>
              <a:rPr lang="en-US" altLang="en-US" sz="2000" b="1" i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d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) in 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S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b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</a:b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2000" b="1">
                <a:solidFill>
                  <a:srgbClr val="000000"/>
                </a:solidFill>
                <a:latin typeface="Times New Roman" panose="02020603050405020304" pitchFamily="18" charset="0"/>
              </a:rPr>
              <a:t>Output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sequence 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S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 sorted in</a:t>
            </a:r>
            <a:b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</a:b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		lexicographic order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2000" b="1">
                <a:solidFill>
                  <a:srgbClr val="000000"/>
                </a:solidFill>
                <a:latin typeface="Times New Roman" panose="02020603050405020304" pitchFamily="18" charset="0"/>
              </a:rPr>
              <a:t>for 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i </a:t>
            </a:r>
            <a:r>
              <a:rPr lang="en-US" altLang="en-US" sz="2000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</a:t>
            </a:r>
            <a:r>
              <a:rPr lang="en-US" altLang="en-US" sz="200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d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b="1">
                <a:solidFill>
                  <a:srgbClr val="000000"/>
                </a:solidFill>
                <a:latin typeface="Times New Roman" panose="02020603050405020304" pitchFamily="18" charset="0"/>
              </a:rPr>
              <a:t>downto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 1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	bucketSort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S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, 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4E0B574B-5743-67A3-6561-2C1FD8A188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0" y="304800"/>
            <a:ext cx="7696200" cy="838200"/>
          </a:xfrm>
        </p:spPr>
        <p:txBody>
          <a:bodyPr/>
          <a:lstStyle/>
          <a:p>
            <a:pPr eaLnBrk="1" hangingPunct="1"/>
            <a:r>
              <a:rPr lang="en-US" altLang="en-US" sz="2400"/>
              <a:t>Radix-Sort for Binary Numbers</a:t>
            </a:r>
          </a:p>
        </p:txBody>
      </p:sp>
      <p:sp>
        <p:nvSpPr>
          <p:cNvPr id="20483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F994817F-6A6F-8C5E-3928-CBD7FF4754B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133600" y="1447800"/>
            <a:ext cx="4267200" cy="45720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Consider a sequence of </a:t>
            </a:r>
            <a:r>
              <a:rPr lang="en-US" altLang="en-US" sz="2000" b="1" i="1">
                <a:latin typeface="Times New Roman" panose="02020603050405020304" pitchFamily="18" charset="0"/>
              </a:rPr>
              <a:t>n</a:t>
            </a:r>
            <a:r>
              <a:rPr lang="en-US" altLang="en-US" sz="2000"/>
              <a:t> </a:t>
            </a:r>
            <a:r>
              <a:rPr lang="en-US" altLang="en-US" sz="2000" b="1" i="1">
                <a:latin typeface="Times New Roman" panose="02020603050405020304" pitchFamily="18" charset="0"/>
              </a:rPr>
              <a:t>b</a:t>
            </a:r>
            <a:r>
              <a:rPr lang="en-US" altLang="en-US" sz="2000"/>
              <a:t>-bit integers </a:t>
            </a:r>
            <a:br>
              <a:rPr lang="en-US" altLang="en-US" sz="2000"/>
            </a:br>
            <a:r>
              <a:rPr lang="en-US" altLang="en-US" sz="2000"/>
              <a:t>	</a:t>
            </a:r>
            <a:r>
              <a:rPr lang="en-US" altLang="en-US" sz="2000" b="1" i="1">
                <a:latin typeface="Times New Roman" panose="02020603050405020304" pitchFamily="18" charset="0"/>
              </a:rPr>
              <a:t>x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>
                <a:latin typeface="Symbol" pitchFamily="2" charset="2"/>
              </a:rPr>
              <a:t>=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 b="1" i="1">
                <a:latin typeface="Times New Roman" panose="02020603050405020304" pitchFamily="18" charset="0"/>
              </a:rPr>
              <a:t>x</a:t>
            </a:r>
            <a:r>
              <a:rPr lang="en-US" altLang="en-US" sz="2000" b="1" i="1" baseline="-25000">
                <a:latin typeface="Times New Roman" panose="02020603050405020304" pitchFamily="18" charset="0"/>
              </a:rPr>
              <a:t>b</a:t>
            </a:r>
            <a:r>
              <a:rPr lang="en-US" altLang="en-US" sz="2000" b="1" i="1" baseline="-25000">
                <a:latin typeface="Symbol" pitchFamily="2" charset="2"/>
              </a:rPr>
              <a:t> </a:t>
            </a:r>
            <a:r>
              <a:rPr lang="en-US" altLang="en-US" sz="2000" baseline="-25000">
                <a:latin typeface="Symbol" pitchFamily="2" charset="2"/>
              </a:rPr>
              <a:t>- 1</a:t>
            </a:r>
            <a:r>
              <a:rPr lang="en-US" altLang="en-US" sz="2000" b="1" i="1">
                <a:latin typeface="Times New Roman" panose="02020603050405020304" pitchFamily="18" charset="0"/>
              </a:rPr>
              <a:t> … x</a:t>
            </a:r>
            <a:r>
              <a:rPr lang="en-US" altLang="en-US" sz="2000" baseline="-25000">
                <a:latin typeface="Times New Roman" panose="02020603050405020304" pitchFamily="18" charset="0"/>
              </a:rPr>
              <a:t>1</a:t>
            </a:r>
            <a:r>
              <a:rPr lang="en-US" altLang="en-US" sz="2000" b="1" i="1">
                <a:latin typeface="Times New Roman" panose="02020603050405020304" pitchFamily="18" charset="0"/>
              </a:rPr>
              <a:t>x</a:t>
            </a:r>
            <a:r>
              <a:rPr lang="en-US" altLang="en-US" sz="2000" baseline="-25000">
                <a:latin typeface="Times New Roman" panose="02020603050405020304" pitchFamily="18" charset="0"/>
              </a:rPr>
              <a:t>0</a:t>
            </a:r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We represent each element as a </a:t>
            </a:r>
            <a:r>
              <a:rPr lang="en-US" altLang="en-US" sz="2000" b="1" i="1">
                <a:latin typeface="Times New Roman" panose="02020603050405020304" pitchFamily="18" charset="0"/>
              </a:rPr>
              <a:t>b</a:t>
            </a:r>
            <a:r>
              <a:rPr lang="en-US" altLang="en-US" sz="2000"/>
              <a:t>-tuple of integers in the range </a:t>
            </a:r>
            <a:r>
              <a:rPr lang="en-US" altLang="en-US" sz="2000">
                <a:latin typeface="Times New Roman" panose="02020603050405020304" pitchFamily="18" charset="0"/>
              </a:rPr>
              <a:t>[0, 1]</a:t>
            </a:r>
            <a:r>
              <a:rPr lang="en-US" altLang="en-US" sz="2000"/>
              <a:t> and apply radix-sort with </a:t>
            </a:r>
            <a:r>
              <a:rPr lang="en-US" altLang="en-US" sz="2000" b="1" i="1">
                <a:latin typeface="Times New Roman" panose="02020603050405020304" pitchFamily="18" charset="0"/>
              </a:rPr>
              <a:t>N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>
                <a:latin typeface="Symbol" pitchFamily="2" charset="2"/>
              </a:rPr>
              <a:t>=</a:t>
            </a:r>
            <a:r>
              <a:rPr lang="en-US" altLang="en-US" sz="2000">
                <a:latin typeface="Times New Roman" panose="02020603050405020304" pitchFamily="18" charset="0"/>
              </a:rPr>
              <a:t> 2</a:t>
            </a:r>
          </a:p>
          <a:p>
            <a:pPr eaLnBrk="1" hangingPunct="1">
              <a:lnSpc>
                <a:spcPct val="90000"/>
              </a:lnSpc>
            </a:pPr>
            <a:endParaRPr lang="en-US" altLang="en-US" sz="200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This application of the radix-sort algorithm runs in </a:t>
            </a:r>
            <a:r>
              <a:rPr lang="en-US" altLang="en-US" sz="2000" b="1" i="1">
                <a:latin typeface="Times New Roman" panose="02020603050405020304" pitchFamily="18" charset="0"/>
              </a:rPr>
              <a:t>O</a:t>
            </a:r>
            <a:r>
              <a:rPr lang="en-US" altLang="en-US" sz="2000">
                <a:latin typeface="Times New Roman" panose="02020603050405020304" pitchFamily="18" charset="0"/>
              </a:rPr>
              <a:t>(</a:t>
            </a:r>
            <a:r>
              <a:rPr lang="en-US" altLang="en-US" sz="2000" b="1" i="1">
                <a:latin typeface="Times New Roman" panose="02020603050405020304" pitchFamily="18" charset="0"/>
              </a:rPr>
              <a:t>bn</a:t>
            </a:r>
            <a:r>
              <a:rPr lang="en-US" altLang="en-US" sz="2000">
                <a:latin typeface="Times New Roman" panose="02020603050405020304" pitchFamily="18" charset="0"/>
              </a:rPr>
              <a:t>) </a:t>
            </a:r>
            <a:r>
              <a:rPr lang="en-US" altLang="en-US" sz="2000"/>
              <a:t>time </a:t>
            </a:r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For example, we can sort a sequence of 32-bit integers in linear time</a:t>
            </a:r>
          </a:p>
        </p:txBody>
      </p:sp>
      <p:sp>
        <p:nvSpPr>
          <p:cNvPr id="20484" name="Text Box 4">
            <a:extLst>
              <a:ext uri="{FF2B5EF4-FFF2-40B4-BE49-F238E27FC236}">
                <a16:creationId xmlns:a16="http://schemas.microsoft.com/office/drawing/2014/main" id="{47304B0C-4E5B-DE88-6066-5374697167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2514600"/>
            <a:ext cx="3581400" cy="34242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defTabSz="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defTabSz="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defTabSz="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defTabSz="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defTabSz="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sz="2000" b="1">
                <a:solidFill>
                  <a:srgbClr val="000000"/>
                </a:solidFill>
                <a:latin typeface="Times New Roman" panose="02020603050405020304" pitchFamily="18" charset="0"/>
              </a:rPr>
              <a:t>Algorithm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 b="1" i="1">
                <a:solidFill>
                  <a:schemeClr val="tx2"/>
                </a:solidFill>
                <a:latin typeface="Times New Roman" panose="02020603050405020304" pitchFamily="18" charset="0"/>
              </a:rPr>
              <a:t>binaryRadixSort</a:t>
            </a:r>
            <a:r>
              <a:rPr lang="en-US" altLang="en-US" sz="2000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2000" b="1" i="1">
                <a:solidFill>
                  <a:schemeClr val="tx2"/>
                </a:solidFill>
                <a:latin typeface="Times New Roman" panose="02020603050405020304" pitchFamily="18" charset="0"/>
              </a:rPr>
              <a:t>S</a:t>
            </a:r>
            <a:r>
              <a:rPr lang="en-US" altLang="en-US" sz="2000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sz="2000">
                <a:solidFill>
                  <a:schemeClr val="tx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2000" b="1">
                <a:solidFill>
                  <a:srgbClr val="000000"/>
                </a:solidFill>
                <a:latin typeface="Times New Roman" panose="02020603050405020304" pitchFamily="18" charset="0"/>
              </a:rPr>
              <a:t>Input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sequence 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S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 of 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b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-bit</a:t>
            </a:r>
            <a:b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</a:b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		integers </a:t>
            </a:r>
            <a:b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</a:b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2000" b="1">
                <a:solidFill>
                  <a:srgbClr val="000000"/>
                </a:solidFill>
                <a:latin typeface="Times New Roman" panose="02020603050405020304" pitchFamily="18" charset="0"/>
              </a:rPr>
              <a:t>Output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sequence 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S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 sorted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	replace each element 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x</a:t>
            </a:r>
            <a:b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</a:b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		of 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S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 with the item (0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, x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2000" b="1">
                <a:solidFill>
                  <a:srgbClr val="000000"/>
                </a:solidFill>
                <a:latin typeface="Times New Roman" panose="02020603050405020304" pitchFamily="18" charset="0"/>
              </a:rPr>
              <a:t>for 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i </a:t>
            </a:r>
            <a:r>
              <a:rPr lang="en-US" altLang="en-US" sz="2000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</a:t>
            </a:r>
            <a:r>
              <a:rPr lang="en-US" altLang="en-US" sz="200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0 </a:t>
            </a:r>
            <a:r>
              <a:rPr lang="en-US" altLang="en-US" sz="2000" b="1">
                <a:solidFill>
                  <a:srgbClr val="000000"/>
                </a:solidFill>
                <a:latin typeface="Times New Roman" panose="02020603050405020304" pitchFamily="18" charset="0"/>
              </a:rPr>
              <a:t>to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b</a:t>
            </a:r>
            <a:r>
              <a:rPr lang="en-US" altLang="en-US" sz="2000">
                <a:solidFill>
                  <a:schemeClr val="accent2"/>
                </a:solidFill>
                <a:latin typeface="Symbol" pitchFamily="2" charset="2"/>
              </a:rPr>
              <a:t> - 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1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		replace the key 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k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 of </a:t>
            </a:r>
            <a:b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</a:b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			each item (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k, x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) of 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S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			with bit 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x</a:t>
            </a:r>
            <a:r>
              <a:rPr lang="en-US" altLang="en-US" sz="2000" b="1" i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 of 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x</a:t>
            </a:r>
            <a:endParaRPr lang="en-US" altLang="en-US" sz="2000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		</a:t>
            </a:r>
            <a:r>
              <a:rPr lang="en-US" altLang="en-US" sz="2000" b="1" i="1">
                <a:solidFill>
                  <a:schemeClr val="tx2"/>
                </a:solidFill>
                <a:latin typeface="Times New Roman" panose="02020603050405020304" pitchFamily="18" charset="0"/>
              </a:rPr>
              <a:t>bucketSort</a:t>
            </a:r>
            <a:r>
              <a:rPr lang="en-US" altLang="en-US" sz="2000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2000" b="1" i="1">
                <a:solidFill>
                  <a:schemeClr val="tx2"/>
                </a:solidFill>
                <a:latin typeface="Times New Roman" panose="02020603050405020304" pitchFamily="18" charset="0"/>
              </a:rPr>
              <a:t>S, </a:t>
            </a:r>
            <a:r>
              <a:rPr lang="en-US" altLang="en-US" sz="2000">
                <a:solidFill>
                  <a:schemeClr val="tx2"/>
                </a:solidFill>
                <a:latin typeface="Times New Roman" panose="02020603050405020304" pitchFamily="18" charset="0"/>
              </a:rPr>
              <a:t>2)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8718758B-F9E1-4145-B80E-B1A4F2495B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Example</a:t>
            </a:r>
          </a:p>
        </p:txBody>
      </p:sp>
      <p:sp>
        <p:nvSpPr>
          <p:cNvPr id="21507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FD6A9ECD-5163-9AC4-B06C-C31692341EB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362200" y="1676400"/>
            <a:ext cx="7772400" cy="533400"/>
          </a:xfrm>
        </p:spPr>
        <p:txBody>
          <a:bodyPr/>
          <a:lstStyle/>
          <a:p>
            <a:pPr eaLnBrk="1" hangingPunct="1"/>
            <a:r>
              <a:rPr lang="en-US" altLang="en-US"/>
              <a:t>Sorting a sequence of 4-bit integers</a:t>
            </a:r>
          </a:p>
        </p:txBody>
      </p:sp>
      <p:grpSp>
        <p:nvGrpSpPr>
          <p:cNvPr id="21508" name="Group 13">
            <a:extLst>
              <a:ext uri="{FF2B5EF4-FFF2-40B4-BE49-F238E27FC236}">
                <a16:creationId xmlns:a16="http://schemas.microsoft.com/office/drawing/2014/main" id="{7F47D9AE-95D3-EE16-79FB-35563FE2DF5F}"/>
              </a:ext>
            </a:extLst>
          </p:cNvPr>
          <p:cNvGrpSpPr>
            <a:grpSpLocks/>
          </p:cNvGrpSpPr>
          <p:nvPr/>
        </p:nvGrpSpPr>
        <p:grpSpPr bwMode="auto">
          <a:xfrm>
            <a:off x="2590800" y="2438400"/>
            <a:ext cx="685800" cy="3429000"/>
            <a:chOff x="816" y="1488"/>
            <a:chExt cx="432" cy="2160"/>
          </a:xfrm>
        </p:grpSpPr>
        <p:cxnSp>
          <p:nvCxnSpPr>
            <p:cNvPr id="21541" name="AutoShape 5">
              <a:extLst>
                <a:ext uri="{FF2B5EF4-FFF2-40B4-BE49-F238E27FC236}">
                  <a16:creationId xmlns:a16="http://schemas.microsoft.com/office/drawing/2014/main" id="{CFCD08DC-ACC7-4B38-53AB-3BD37597E139}"/>
                </a:ext>
              </a:extLst>
            </p:cNvPr>
            <p:cNvCxnSpPr>
              <a:cxnSpLocks noChangeShapeType="1"/>
              <a:stCxn id="21542" idx="2"/>
              <a:endCxn id="21546" idx="0"/>
            </p:cNvCxnSpPr>
            <p:nvPr/>
          </p:nvCxnSpPr>
          <p:spPr bwMode="auto">
            <a:xfrm>
              <a:off x="1032" y="1782"/>
              <a:ext cx="0" cy="157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542" name="AutoShape 6">
              <a:extLst>
                <a:ext uri="{FF2B5EF4-FFF2-40B4-BE49-F238E27FC236}">
                  <a16:creationId xmlns:a16="http://schemas.microsoft.com/office/drawing/2014/main" id="{45C478F6-0652-E004-3459-AA3DF077B2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1488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rIns="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Times New Roman" panose="02020603050405020304" pitchFamily="18" charset="0"/>
                </a:rPr>
                <a:t>1001</a:t>
              </a:r>
              <a:endParaRPr lang="en-US" altLang="en-US" b="1" i="1">
                <a:latin typeface="Times New Roman" panose="02020603050405020304" pitchFamily="18" charset="0"/>
              </a:endParaRPr>
            </a:p>
          </p:txBody>
        </p:sp>
        <p:sp>
          <p:nvSpPr>
            <p:cNvPr id="21543" name="AutoShape 7">
              <a:extLst>
                <a:ext uri="{FF2B5EF4-FFF2-40B4-BE49-F238E27FC236}">
                  <a16:creationId xmlns:a16="http://schemas.microsoft.com/office/drawing/2014/main" id="{75FD20D0-8007-0EC4-FEBF-1CE30CA68B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1956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rIns="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Times New Roman" panose="02020603050405020304" pitchFamily="18" charset="0"/>
                </a:rPr>
                <a:t>0010</a:t>
              </a:r>
              <a:endParaRPr lang="en-US" altLang="en-US" b="1" i="1">
                <a:latin typeface="Times New Roman" panose="02020603050405020304" pitchFamily="18" charset="0"/>
              </a:endParaRPr>
            </a:p>
          </p:txBody>
        </p:sp>
        <p:sp>
          <p:nvSpPr>
            <p:cNvPr id="21544" name="AutoShape 8">
              <a:extLst>
                <a:ext uri="{FF2B5EF4-FFF2-40B4-BE49-F238E27FC236}">
                  <a16:creationId xmlns:a16="http://schemas.microsoft.com/office/drawing/2014/main" id="{362331A3-3A93-8701-9A15-66A39DF7C5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2424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rIns="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Times New Roman" panose="02020603050405020304" pitchFamily="18" charset="0"/>
                </a:rPr>
                <a:t>1101</a:t>
              </a:r>
              <a:endParaRPr lang="en-US" altLang="en-US" b="1" i="1">
                <a:latin typeface="Times New Roman" panose="02020603050405020304" pitchFamily="18" charset="0"/>
              </a:endParaRPr>
            </a:p>
          </p:txBody>
        </p:sp>
        <p:sp>
          <p:nvSpPr>
            <p:cNvPr id="21545" name="AutoShape 9">
              <a:extLst>
                <a:ext uri="{FF2B5EF4-FFF2-40B4-BE49-F238E27FC236}">
                  <a16:creationId xmlns:a16="http://schemas.microsoft.com/office/drawing/2014/main" id="{12B7CEF6-ABC8-49D5-E356-31EB2E344B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2892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rIns="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Times New Roman" panose="02020603050405020304" pitchFamily="18" charset="0"/>
                </a:rPr>
                <a:t>0001</a:t>
              </a:r>
              <a:endParaRPr lang="en-US" altLang="en-US" b="1" i="1">
                <a:latin typeface="Times New Roman" panose="02020603050405020304" pitchFamily="18" charset="0"/>
              </a:endParaRPr>
            </a:p>
          </p:txBody>
        </p:sp>
        <p:sp>
          <p:nvSpPr>
            <p:cNvPr id="21546" name="AutoShape 10">
              <a:extLst>
                <a:ext uri="{FF2B5EF4-FFF2-40B4-BE49-F238E27FC236}">
                  <a16:creationId xmlns:a16="http://schemas.microsoft.com/office/drawing/2014/main" id="{50DF1B5D-FF6D-57B0-1385-E62079FEEE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3360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rIns="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Times New Roman" panose="02020603050405020304" pitchFamily="18" charset="0"/>
                </a:rPr>
                <a:t>1110</a:t>
              </a:r>
              <a:endParaRPr lang="en-US" altLang="en-US" b="1" i="1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1509" name="Group 42">
            <a:extLst>
              <a:ext uri="{FF2B5EF4-FFF2-40B4-BE49-F238E27FC236}">
                <a16:creationId xmlns:a16="http://schemas.microsoft.com/office/drawing/2014/main" id="{CAFAE685-3C71-9714-21B7-330DAE6F7133}"/>
              </a:ext>
            </a:extLst>
          </p:cNvPr>
          <p:cNvGrpSpPr>
            <a:grpSpLocks/>
          </p:cNvGrpSpPr>
          <p:nvPr/>
        </p:nvGrpSpPr>
        <p:grpSpPr bwMode="auto">
          <a:xfrm>
            <a:off x="4267200" y="2438400"/>
            <a:ext cx="685800" cy="3429000"/>
            <a:chOff x="1728" y="1536"/>
            <a:chExt cx="432" cy="2160"/>
          </a:xfrm>
        </p:grpSpPr>
        <p:cxnSp>
          <p:nvCxnSpPr>
            <p:cNvPr id="21535" name="AutoShape 15">
              <a:extLst>
                <a:ext uri="{FF2B5EF4-FFF2-40B4-BE49-F238E27FC236}">
                  <a16:creationId xmlns:a16="http://schemas.microsoft.com/office/drawing/2014/main" id="{7636C22A-EB4F-7699-2B29-A06EA63BC544}"/>
                </a:ext>
              </a:extLst>
            </p:cNvPr>
            <p:cNvCxnSpPr>
              <a:cxnSpLocks noChangeShapeType="1"/>
              <a:stCxn id="21536" idx="2"/>
              <a:endCxn id="21540" idx="0"/>
            </p:cNvCxnSpPr>
            <p:nvPr/>
          </p:nvCxnSpPr>
          <p:spPr bwMode="auto">
            <a:xfrm>
              <a:off x="1944" y="1830"/>
              <a:ext cx="0" cy="157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536" name="AutoShape 16">
              <a:extLst>
                <a:ext uri="{FF2B5EF4-FFF2-40B4-BE49-F238E27FC236}">
                  <a16:creationId xmlns:a16="http://schemas.microsoft.com/office/drawing/2014/main" id="{1EE5391B-9903-5068-948B-04A1735F4E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1536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rIns="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Times New Roman" panose="02020603050405020304" pitchFamily="18" charset="0"/>
                </a:rPr>
                <a:t>001</a:t>
              </a:r>
              <a:r>
                <a:rPr lang="en-US" altLang="en-US">
                  <a:solidFill>
                    <a:schemeClr val="tx2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21537" name="AutoShape 17">
              <a:extLst>
                <a:ext uri="{FF2B5EF4-FFF2-40B4-BE49-F238E27FC236}">
                  <a16:creationId xmlns:a16="http://schemas.microsoft.com/office/drawing/2014/main" id="{D1D20E0B-ABF4-DB61-E3E2-BD65402BCA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2004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rIns="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Times New Roman" panose="02020603050405020304" pitchFamily="18" charset="0"/>
                </a:rPr>
                <a:t>111</a:t>
              </a:r>
              <a:r>
                <a:rPr lang="en-US" altLang="en-US">
                  <a:solidFill>
                    <a:schemeClr val="tx2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21538" name="AutoShape 18">
              <a:extLst>
                <a:ext uri="{FF2B5EF4-FFF2-40B4-BE49-F238E27FC236}">
                  <a16:creationId xmlns:a16="http://schemas.microsoft.com/office/drawing/2014/main" id="{0733E0F8-C903-0BF3-B194-EA38E8B804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2472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rIns="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Times New Roman" panose="02020603050405020304" pitchFamily="18" charset="0"/>
                </a:rPr>
                <a:t>100</a:t>
              </a:r>
              <a:r>
                <a:rPr lang="en-US" altLang="en-US">
                  <a:solidFill>
                    <a:schemeClr val="tx2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1539" name="AutoShape 19">
              <a:extLst>
                <a:ext uri="{FF2B5EF4-FFF2-40B4-BE49-F238E27FC236}">
                  <a16:creationId xmlns:a16="http://schemas.microsoft.com/office/drawing/2014/main" id="{CBA1F269-5B4D-C710-72BC-14A3930B1D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2940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rIns="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Times New Roman" panose="02020603050405020304" pitchFamily="18" charset="0"/>
                </a:rPr>
                <a:t>110</a:t>
              </a:r>
              <a:r>
                <a:rPr lang="en-US" altLang="en-US">
                  <a:solidFill>
                    <a:schemeClr val="tx2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1540" name="AutoShape 20">
              <a:extLst>
                <a:ext uri="{FF2B5EF4-FFF2-40B4-BE49-F238E27FC236}">
                  <a16:creationId xmlns:a16="http://schemas.microsoft.com/office/drawing/2014/main" id="{9775150D-C380-57D4-1C27-8EE1AD0C46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3408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rIns="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Times New Roman" panose="02020603050405020304" pitchFamily="18" charset="0"/>
                </a:rPr>
                <a:t>000</a:t>
              </a:r>
              <a:r>
                <a:rPr lang="en-US" altLang="en-US">
                  <a:solidFill>
                    <a:schemeClr val="tx2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</p:grpSp>
      <p:grpSp>
        <p:nvGrpSpPr>
          <p:cNvPr id="21510" name="Group 21">
            <a:extLst>
              <a:ext uri="{FF2B5EF4-FFF2-40B4-BE49-F238E27FC236}">
                <a16:creationId xmlns:a16="http://schemas.microsoft.com/office/drawing/2014/main" id="{7183C19C-BBF0-1D42-D219-9D84E12D25D4}"/>
              </a:ext>
            </a:extLst>
          </p:cNvPr>
          <p:cNvGrpSpPr>
            <a:grpSpLocks/>
          </p:cNvGrpSpPr>
          <p:nvPr/>
        </p:nvGrpSpPr>
        <p:grpSpPr bwMode="auto">
          <a:xfrm>
            <a:off x="5943600" y="2438400"/>
            <a:ext cx="685800" cy="3429000"/>
            <a:chOff x="816" y="1488"/>
            <a:chExt cx="432" cy="2160"/>
          </a:xfrm>
        </p:grpSpPr>
        <p:cxnSp>
          <p:nvCxnSpPr>
            <p:cNvPr id="21529" name="AutoShape 22">
              <a:extLst>
                <a:ext uri="{FF2B5EF4-FFF2-40B4-BE49-F238E27FC236}">
                  <a16:creationId xmlns:a16="http://schemas.microsoft.com/office/drawing/2014/main" id="{2A854E2D-25AB-3A48-5979-9A3C41BD1007}"/>
                </a:ext>
              </a:extLst>
            </p:cNvPr>
            <p:cNvCxnSpPr>
              <a:cxnSpLocks noChangeShapeType="1"/>
              <a:stCxn id="21530" idx="2"/>
              <a:endCxn id="21534" idx="0"/>
            </p:cNvCxnSpPr>
            <p:nvPr/>
          </p:nvCxnSpPr>
          <p:spPr bwMode="auto">
            <a:xfrm>
              <a:off x="1032" y="1782"/>
              <a:ext cx="0" cy="157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530" name="AutoShape 23">
              <a:extLst>
                <a:ext uri="{FF2B5EF4-FFF2-40B4-BE49-F238E27FC236}">
                  <a16:creationId xmlns:a16="http://schemas.microsoft.com/office/drawing/2014/main" id="{94C02842-4490-300C-8A5A-C69CBF2AF7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1488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rIns="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Times New Roman" panose="02020603050405020304" pitchFamily="18" charset="0"/>
                </a:rPr>
                <a:t>10</a:t>
              </a:r>
              <a:r>
                <a:rPr lang="en-US" altLang="en-US">
                  <a:solidFill>
                    <a:schemeClr val="tx2"/>
                  </a:solidFill>
                  <a:latin typeface="Times New Roman" panose="02020603050405020304" pitchFamily="18" charset="0"/>
                </a:rPr>
                <a:t>0</a:t>
              </a:r>
              <a:r>
                <a:rPr lang="en-US" altLang="en-US">
                  <a:latin typeface="Times New Roman" panose="02020603050405020304" pitchFamily="18" charset="0"/>
                </a:rPr>
                <a:t>1</a:t>
              </a:r>
              <a:endParaRPr lang="en-US" altLang="en-US" b="1" i="1">
                <a:latin typeface="Times New Roman" panose="02020603050405020304" pitchFamily="18" charset="0"/>
              </a:endParaRPr>
            </a:p>
          </p:txBody>
        </p:sp>
        <p:sp>
          <p:nvSpPr>
            <p:cNvPr id="21531" name="AutoShape 24">
              <a:extLst>
                <a:ext uri="{FF2B5EF4-FFF2-40B4-BE49-F238E27FC236}">
                  <a16:creationId xmlns:a16="http://schemas.microsoft.com/office/drawing/2014/main" id="{5379F065-0AD2-FC01-5C14-5F7C3C0ED5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1956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rIns="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Times New Roman" panose="02020603050405020304" pitchFamily="18" charset="0"/>
                </a:rPr>
                <a:t>11</a:t>
              </a:r>
              <a:r>
                <a:rPr lang="en-US" altLang="en-US">
                  <a:solidFill>
                    <a:schemeClr val="tx2"/>
                  </a:solidFill>
                  <a:latin typeface="Times New Roman" panose="02020603050405020304" pitchFamily="18" charset="0"/>
                </a:rPr>
                <a:t>0</a:t>
              </a:r>
              <a:r>
                <a:rPr lang="en-US" altLang="en-US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1532" name="AutoShape 25">
              <a:extLst>
                <a:ext uri="{FF2B5EF4-FFF2-40B4-BE49-F238E27FC236}">
                  <a16:creationId xmlns:a16="http://schemas.microsoft.com/office/drawing/2014/main" id="{B0D72027-F2DD-A305-E8D2-866B28CC63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2424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rIns="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Times New Roman" panose="02020603050405020304" pitchFamily="18" charset="0"/>
                </a:rPr>
                <a:t>00</a:t>
              </a:r>
              <a:r>
                <a:rPr lang="en-US" altLang="en-US">
                  <a:solidFill>
                    <a:schemeClr val="tx2"/>
                  </a:solidFill>
                  <a:latin typeface="Times New Roman" panose="02020603050405020304" pitchFamily="18" charset="0"/>
                </a:rPr>
                <a:t>0</a:t>
              </a:r>
              <a:r>
                <a:rPr lang="en-US" altLang="en-US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1533" name="AutoShape 26">
              <a:extLst>
                <a:ext uri="{FF2B5EF4-FFF2-40B4-BE49-F238E27FC236}">
                  <a16:creationId xmlns:a16="http://schemas.microsoft.com/office/drawing/2014/main" id="{360C20CD-1DAF-DE29-3392-4D499F35BC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2892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rIns="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Times New Roman" panose="02020603050405020304" pitchFamily="18" charset="0"/>
                </a:rPr>
                <a:t>00</a:t>
              </a:r>
              <a:r>
                <a:rPr lang="en-US" altLang="en-US">
                  <a:solidFill>
                    <a:schemeClr val="tx2"/>
                  </a:solidFill>
                  <a:latin typeface="Times New Roman" panose="02020603050405020304" pitchFamily="18" charset="0"/>
                </a:rPr>
                <a:t>1</a:t>
              </a:r>
              <a:r>
                <a:rPr lang="en-US" altLang="en-US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21534" name="AutoShape 27">
              <a:extLst>
                <a:ext uri="{FF2B5EF4-FFF2-40B4-BE49-F238E27FC236}">
                  <a16:creationId xmlns:a16="http://schemas.microsoft.com/office/drawing/2014/main" id="{33844B2E-7F67-1987-6EE9-B38CB8DBF2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3360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rIns="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Times New Roman" panose="02020603050405020304" pitchFamily="18" charset="0"/>
                </a:rPr>
                <a:t>11</a:t>
              </a:r>
              <a:r>
                <a:rPr lang="en-US" altLang="en-US">
                  <a:solidFill>
                    <a:schemeClr val="tx2"/>
                  </a:solidFill>
                  <a:latin typeface="Times New Roman" panose="02020603050405020304" pitchFamily="18" charset="0"/>
                </a:rPr>
                <a:t>1</a:t>
              </a:r>
              <a:r>
                <a:rPr lang="en-US" altLang="en-US">
                  <a:latin typeface="Times New Roman" panose="02020603050405020304" pitchFamily="18" charset="0"/>
                </a:rPr>
                <a:t>0</a:t>
              </a:r>
            </a:p>
          </p:txBody>
        </p:sp>
      </p:grpSp>
      <p:grpSp>
        <p:nvGrpSpPr>
          <p:cNvPr id="21511" name="Group 28">
            <a:extLst>
              <a:ext uri="{FF2B5EF4-FFF2-40B4-BE49-F238E27FC236}">
                <a16:creationId xmlns:a16="http://schemas.microsoft.com/office/drawing/2014/main" id="{6B7C6FA7-A06F-D669-60D0-F88721D1706F}"/>
              </a:ext>
            </a:extLst>
          </p:cNvPr>
          <p:cNvGrpSpPr>
            <a:grpSpLocks/>
          </p:cNvGrpSpPr>
          <p:nvPr/>
        </p:nvGrpSpPr>
        <p:grpSpPr bwMode="auto">
          <a:xfrm>
            <a:off x="7620000" y="2438400"/>
            <a:ext cx="685800" cy="3429000"/>
            <a:chOff x="816" y="1488"/>
            <a:chExt cx="432" cy="2160"/>
          </a:xfrm>
        </p:grpSpPr>
        <p:cxnSp>
          <p:nvCxnSpPr>
            <p:cNvPr id="21523" name="AutoShape 29">
              <a:extLst>
                <a:ext uri="{FF2B5EF4-FFF2-40B4-BE49-F238E27FC236}">
                  <a16:creationId xmlns:a16="http://schemas.microsoft.com/office/drawing/2014/main" id="{AE9B16D3-3799-3912-75EE-D20B0E052C29}"/>
                </a:ext>
              </a:extLst>
            </p:cNvPr>
            <p:cNvCxnSpPr>
              <a:cxnSpLocks noChangeShapeType="1"/>
              <a:stCxn id="21524" idx="2"/>
              <a:endCxn id="21528" idx="0"/>
            </p:cNvCxnSpPr>
            <p:nvPr/>
          </p:nvCxnSpPr>
          <p:spPr bwMode="auto">
            <a:xfrm>
              <a:off x="1032" y="1782"/>
              <a:ext cx="0" cy="157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524" name="AutoShape 30">
              <a:extLst>
                <a:ext uri="{FF2B5EF4-FFF2-40B4-BE49-F238E27FC236}">
                  <a16:creationId xmlns:a16="http://schemas.microsoft.com/office/drawing/2014/main" id="{D300C216-F272-2F5E-0031-C2807295EB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1488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rIns="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Times New Roman" panose="02020603050405020304" pitchFamily="18" charset="0"/>
                </a:rPr>
                <a:t>1</a:t>
              </a:r>
              <a:r>
                <a:rPr lang="en-US" altLang="en-US">
                  <a:solidFill>
                    <a:schemeClr val="tx2"/>
                  </a:solidFill>
                  <a:latin typeface="Times New Roman" panose="02020603050405020304" pitchFamily="18" charset="0"/>
                </a:rPr>
                <a:t>0</a:t>
              </a:r>
              <a:r>
                <a:rPr lang="en-US" altLang="en-US">
                  <a:latin typeface="Times New Roman" panose="02020603050405020304" pitchFamily="18" charset="0"/>
                </a:rPr>
                <a:t>01</a:t>
              </a:r>
              <a:endParaRPr lang="en-US" altLang="en-US" b="1" i="1">
                <a:latin typeface="Times New Roman" panose="02020603050405020304" pitchFamily="18" charset="0"/>
              </a:endParaRPr>
            </a:p>
          </p:txBody>
        </p:sp>
        <p:sp>
          <p:nvSpPr>
            <p:cNvPr id="21525" name="AutoShape 31">
              <a:extLst>
                <a:ext uri="{FF2B5EF4-FFF2-40B4-BE49-F238E27FC236}">
                  <a16:creationId xmlns:a16="http://schemas.microsoft.com/office/drawing/2014/main" id="{C1AD4205-59C4-A7D7-BC15-6B092BBCFA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1956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rIns="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Times New Roman" panose="02020603050405020304" pitchFamily="18" charset="0"/>
                </a:rPr>
                <a:t>0</a:t>
              </a:r>
              <a:r>
                <a:rPr lang="en-US" altLang="en-US">
                  <a:solidFill>
                    <a:schemeClr val="tx2"/>
                  </a:solidFill>
                  <a:latin typeface="Times New Roman" panose="02020603050405020304" pitchFamily="18" charset="0"/>
                </a:rPr>
                <a:t>0</a:t>
              </a:r>
              <a:r>
                <a:rPr lang="en-US" altLang="en-US">
                  <a:latin typeface="Times New Roman" panose="02020603050405020304" pitchFamily="18" charset="0"/>
                </a:rPr>
                <a:t>01</a:t>
              </a:r>
            </a:p>
          </p:txBody>
        </p:sp>
        <p:sp>
          <p:nvSpPr>
            <p:cNvPr id="21526" name="AutoShape 32">
              <a:extLst>
                <a:ext uri="{FF2B5EF4-FFF2-40B4-BE49-F238E27FC236}">
                  <a16:creationId xmlns:a16="http://schemas.microsoft.com/office/drawing/2014/main" id="{AFC2D975-291B-0B6D-5A6C-23EF210E7C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2424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rIns="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Times New Roman" panose="02020603050405020304" pitchFamily="18" charset="0"/>
                </a:rPr>
                <a:t>0</a:t>
              </a:r>
              <a:r>
                <a:rPr lang="en-US" altLang="en-US">
                  <a:solidFill>
                    <a:schemeClr val="tx2"/>
                  </a:solidFill>
                  <a:latin typeface="Times New Roman" panose="02020603050405020304" pitchFamily="18" charset="0"/>
                </a:rPr>
                <a:t>0</a:t>
              </a:r>
              <a:r>
                <a:rPr lang="en-US" altLang="en-US">
                  <a:latin typeface="Times New Roman" panose="02020603050405020304" pitchFamily="18" charset="0"/>
                </a:rPr>
                <a:t>10</a:t>
              </a:r>
            </a:p>
          </p:txBody>
        </p:sp>
        <p:sp>
          <p:nvSpPr>
            <p:cNvPr id="21527" name="AutoShape 33">
              <a:extLst>
                <a:ext uri="{FF2B5EF4-FFF2-40B4-BE49-F238E27FC236}">
                  <a16:creationId xmlns:a16="http://schemas.microsoft.com/office/drawing/2014/main" id="{DC0460AF-57B5-9571-153E-A21258BBE4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2892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rIns="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Times New Roman" panose="02020603050405020304" pitchFamily="18" charset="0"/>
                </a:rPr>
                <a:t>1</a:t>
              </a:r>
              <a:r>
                <a:rPr lang="en-US" altLang="en-US">
                  <a:solidFill>
                    <a:schemeClr val="tx2"/>
                  </a:solidFill>
                  <a:latin typeface="Times New Roman" panose="02020603050405020304" pitchFamily="18" charset="0"/>
                </a:rPr>
                <a:t>1</a:t>
              </a:r>
              <a:r>
                <a:rPr lang="en-US" altLang="en-US">
                  <a:latin typeface="Times New Roman" panose="02020603050405020304" pitchFamily="18" charset="0"/>
                </a:rPr>
                <a:t>01</a:t>
              </a:r>
            </a:p>
          </p:txBody>
        </p:sp>
        <p:sp>
          <p:nvSpPr>
            <p:cNvPr id="21528" name="AutoShape 34">
              <a:extLst>
                <a:ext uri="{FF2B5EF4-FFF2-40B4-BE49-F238E27FC236}">
                  <a16:creationId xmlns:a16="http://schemas.microsoft.com/office/drawing/2014/main" id="{83B2DBC5-7B29-6378-45A1-B669277B85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3360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rIns="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Times New Roman" panose="02020603050405020304" pitchFamily="18" charset="0"/>
                </a:rPr>
                <a:t>1</a:t>
              </a:r>
              <a:r>
                <a:rPr lang="en-US" altLang="en-US">
                  <a:solidFill>
                    <a:schemeClr val="tx2"/>
                  </a:solidFill>
                  <a:latin typeface="Times New Roman" panose="02020603050405020304" pitchFamily="18" charset="0"/>
                </a:rPr>
                <a:t>1</a:t>
              </a:r>
              <a:r>
                <a:rPr lang="en-US" altLang="en-US">
                  <a:latin typeface="Times New Roman" panose="02020603050405020304" pitchFamily="18" charset="0"/>
                </a:rPr>
                <a:t>10</a:t>
              </a:r>
            </a:p>
          </p:txBody>
        </p:sp>
      </p:grpSp>
      <p:grpSp>
        <p:nvGrpSpPr>
          <p:cNvPr id="21512" name="Group 35">
            <a:extLst>
              <a:ext uri="{FF2B5EF4-FFF2-40B4-BE49-F238E27FC236}">
                <a16:creationId xmlns:a16="http://schemas.microsoft.com/office/drawing/2014/main" id="{2EC73B39-A55C-3E12-01B9-03CACDABB919}"/>
              </a:ext>
            </a:extLst>
          </p:cNvPr>
          <p:cNvGrpSpPr>
            <a:grpSpLocks/>
          </p:cNvGrpSpPr>
          <p:nvPr/>
        </p:nvGrpSpPr>
        <p:grpSpPr bwMode="auto">
          <a:xfrm>
            <a:off x="9296400" y="2438400"/>
            <a:ext cx="685800" cy="3429000"/>
            <a:chOff x="816" y="1488"/>
            <a:chExt cx="432" cy="2160"/>
          </a:xfrm>
        </p:grpSpPr>
        <p:cxnSp>
          <p:nvCxnSpPr>
            <p:cNvPr id="21517" name="AutoShape 36">
              <a:extLst>
                <a:ext uri="{FF2B5EF4-FFF2-40B4-BE49-F238E27FC236}">
                  <a16:creationId xmlns:a16="http://schemas.microsoft.com/office/drawing/2014/main" id="{8C01E0DB-CCDE-94B3-FDEA-12160C1215EA}"/>
                </a:ext>
              </a:extLst>
            </p:cNvPr>
            <p:cNvCxnSpPr>
              <a:cxnSpLocks noChangeShapeType="1"/>
              <a:stCxn id="21518" idx="2"/>
              <a:endCxn id="21522" idx="0"/>
            </p:cNvCxnSpPr>
            <p:nvPr/>
          </p:nvCxnSpPr>
          <p:spPr bwMode="auto">
            <a:xfrm>
              <a:off x="1032" y="1782"/>
              <a:ext cx="0" cy="157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518" name="AutoShape 37">
              <a:extLst>
                <a:ext uri="{FF2B5EF4-FFF2-40B4-BE49-F238E27FC236}">
                  <a16:creationId xmlns:a16="http://schemas.microsoft.com/office/drawing/2014/main" id="{6F61DD31-773D-C4A3-807D-DB3469E6D3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1488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rIns="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solidFill>
                    <a:schemeClr val="tx2"/>
                  </a:solidFill>
                  <a:latin typeface="Times New Roman" panose="02020603050405020304" pitchFamily="18" charset="0"/>
                </a:rPr>
                <a:t>0</a:t>
              </a:r>
              <a:r>
                <a:rPr lang="en-US" altLang="en-US">
                  <a:latin typeface="Times New Roman" panose="02020603050405020304" pitchFamily="18" charset="0"/>
                </a:rPr>
                <a:t>001</a:t>
              </a:r>
            </a:p>
          </p:txBody>
        </p:sp>
        <p:sp>
          <p:nvSpPr>
            <p:cNvPr id="21519" name="AutoShape 38">
              <a:extLst>
                <a:ext uri="{FF2B5EF4-FFF2-40B4-BE49-F238E27FC236}">
                  <a16:creationId xmlns:a16="http://schemas.microsoft.com/office/drawing/2014/main" id="{3FC4B37F-DFF6-3669-C796-23FFAC4035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1956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rIns="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solidFill>
                    <a:schemeClr val="tx2"/>
                  </a:solidFill>
                  <a:latin typeface="Times New Roman" panose="02020603050405020304" pitchFamily="18" charset="0"/>
                </a:rPr>
                <a:t>0</a:t>
              </a:r>
              <a:r>
                <a:rPr lang="en-US" altLang="en-US">
                  <a:latin typeface="Times New Roman" panose="02020603050405020304" pitchFamily="18" charset="0"/>
                </a:rPr>
                <a:t>010</a:t>
              </a:r>
            </a:p>
          </p:txBody>
        </p:sp>
        <p:sp>
          <p:nvSpPr>
            <p:cNvPr id="21520" name="AutoShape 39">
              <a:extLst>
                <a:ext uri="{FF2B5EF4-FFF2-40B4-BE49-F238E27FC236}">
                  <a16:creationId xmlns:a16="http://schemas.microsoft.com/office/drawing/2014/main" id="{073D1BD2-1176-4F72-BF2A-99821A7BF4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2424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rIns="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solidFill>
                    <a:schemeClr val="tx2"/>
                  </a:solidFill>
                  <a:latin typeface="Times New Roman" panose="02020603050405020304" pitchFamily="18" charset="0"/>
                </a:rPr>
                <a:t>1</a:t>
              </a:r>
              <a:r>
                <a:rPr lang="en-US" altLang="en-US">
                  <a:latin typeface="Times New Roman" panose="02020603050405020304" pitchFamily="18" charset="0"/>
                </a:rPr>
                <a:t>001</a:t>
              </a:r>
            </a:p>
          </p:txBody>
        </p:sp>
        <p:sp>
          <p:nvSpPr>
            <p:cNvPr id="21521" name="AutoShape 40">
              <a:extLst>
                <a:ext uri="{FF2B5EF4-FFF2-40B4-BE49-F238E27FC236}">
                  <a16:creationId xmlns:a16="http://schemas.microsoft.com/office/drawing/2014/main" id="{64B6D5B8-4D9B-E37B-F9CF-B23B4309A4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2892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rIns="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solidFill>
                    <a:schemeClr val="tx2"/>
                  </a:solidFill>
                  <a:latin typeface="Times New Roman" panose="02020603050405020304" pitchFamily="18" charset="0"/>
                </a:rPr>
                <a:t>1</a:t>
              </a:r>
              <a:r>
                <a:rPr lang="en-US" altLang="en-US">
                  <a:latin typeface="Times New Roman" panose="02020603050405020304" pitchFamily="18" charset="0"/>
                </a:rPr>
                <a:t>101</a:t>
              </a:r>
            </a:p>
          </p:txBody>
        </p:sp>
        <p:sp>
          <p:nvSpPr>
            <p:cNvPr id="21522" name="AutoShape 41">
              <a:extLst>
                <a:ext uri="{FF2B5EF4-FFF2-40B4-BE49-F238E27FC236}">
                  <a16:creationId xmlns:a16="http://schemas.microsoft.com/office/drawing/2014/main" id="{E3649522-C84B-728F-A5FC-255417D481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3360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rIns="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solidFill>
                    <a:schemeClr val="tx2"/>
                  </a:solidFill>
                  <a:latin typeface="Times New Roman" panose="02020603050405020304" pitchFamily="18" charset="0"/>
                </a:rPr>
                <a:t>1</a:t>
              </a:r>
              <a:r>
                <a:rPr lang="en-US" altLang="en-US">
                  <a:latin typeface="Times New Roman" panose="02020603050405020304" pitchFamily="18" charset="0"/>
                </a:rPr>
                <a:t>110</a:t>
              </a:r>
            </a:p>
          </p:txBody>
        </p:sp>
      </p:grpSp>
      <p:sp>
        <p:nvSpPr>
          <p:cNvPr id="21513" name="AutoShape 43">
            <a:extLst>
              <a:ext uri="{FF2B5EF4-FFF2-40B4-BE49-F238E27FC236}">
                <a16:creationId xmlns:a16="http://schemas.microsoft.com/office/drawing/2014/main" id="{19C2F1C4-0CE4-E204-CFD3-83DBA12F8D6A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3581400" y="3924300"/>
            <a:ext cx="381000" cy="457200"/>
          </a:xfrm>
          <a:prstGeom prst="downArrow">
            <a:avLst>
              <a:gd name="adj1" fmla="val 50000"/>
              <a:gd name="adj2" fmla="val 30000"/>
            </a:avLst>
          </a:prstGeom>
          <a:solidFill>
            <a:srgbClr val="C0C0C0"/>
          </a:solidFill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vert="eaVert" wrap="none" lIns="1828800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21514" name="AutoShape 44">
            <a:extLst>
              <a:ext uri="{FF2B5EF4-FFF2-40B4-BE49-F238E27FC236}">
                <a16:creationId xmlns:a16="http://schemas.microsoft.com/office/drawing/2014/main" id="{10C7C041-8477-03D5-4E3D-9CE4C63DAFB9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5257800" y="3924300"/>
            <a:ext cx="381000" cy="457200"/>
          </a:xfrm>
          <a:prstGeom prst="downArrow">
            <a:avLst>
              <a:gd name="adj1" fmla="val 50000"/>
              <a:gd name="adj2" fmla="val 30000"/>
            </a:avLst>
          </a:prstGeom>
          <a:solidFill>
            <a:srgbClr val="C0C0C0"/>
          </a:solidFill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vert="eaVert" wrap="none" lIns="1828800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21515" name="AutoShape 45">
            <a:extLst>
              <a:ext uri="{FF2B5EF4-FFF2-40B4-BE49-F238E27FC236}">
                <a16:creationId xmlns:a16="http://schemas.microsoft.com/office/drawing/2014/main" id="{51C5D9A0-3646-A995-CC98-7F70C26AF32A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6934200" y="3924300"/>
            <a:ext cx="381000" cy="457200"/>
          </a:xfrm>
          <a:prstGeom prst="downArrow">
            <a:avLst>
              <a:gd name="adj1" fmla="val 50000"/>
              <a:gd name="adj2" fmla="val 30000"/>
            </a:avLst>
          </a:prstGeom>
          <a:solidFill>
            <a:srgbClr val="C0C0C0"/>
          </a:solidFill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vert="eaVert" wrap="none" lIns="1828800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21516" name="AutoShape 46">
            <a:extLst>
              <a:ext uri="{FF2B5EF4-FFF2-40B4-BE49-F238E27FC236}">
                <a16:creationId xmlns:a16="http://schemas.microsoft.com/office/drawing/2014/main" id="{7B38E7BE-302C-9EDE-AEF0-DAF6E2049E52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8610600" y="3924300"/>
            <a:ext cx="381000" cy="457200"/>
          </a:xfrm>
          <a:prstGeom prst="downArrow">
            <a:avLst>
              <a:gd name="adj1" fmla="val 50000"/>
              <a:gd name="adj2" fmla="val 30000"/>
            </a:avLst>
          </a:prstGeom>
          <a:solidFill>
            <a:srgbClr val="C0C0C0"/>
          </a:solidFill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vert="eaVert" wrap="none" lIns="1828800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09867229-F7CF-F771-3306-857E389B32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The Selection Problem</a:t>
            </a:r>
          </a:p>
        </p:txBody>
      </p:sp>
      <p:sp>
        <p:nvSpPr>
          <p:cNvPr id="22531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C21392F6-87B9-8718-3EB8-C9437034DB5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133600" y="1676400"/>
            <a:ext cx="8229600" cy="4343400"/>
          </a:xfrm>
        </p:spPr>
        <p:txBody>
          <a:bodyPr/>
          <a:lstStyle/>
          <a:p>
            <a:pPr eaLnBrk="1" hangingPunct="1"/>
            <a:r>
              <a:rPr lang="en-US" altLang="en-US" sz="2000" dirty="0"/>
              <a:t>Given an integer k and n elements x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, x</a:t>
            </a:r>
            <a:r>
              <a:rPr lang="en-US" altLang="en-US" sz="2000" baseline="-25000" dirty="0"/>
              <a:t>2</a:t>
            </a:r>
            <a:r>
              <a:rPr lang="en-US" altLang="en-US" sz="2000" dirty="0"/>
              <a:t>, …, </a:t>
            </a:r>
            <a:r>
              <a:rPr lang="en-US" altLang="en-US" sz="2000" dirty="0" err="1"/>
              <a:t>x</a:t>
            </a:r>
            <a:r>
              <a:rPr lang="en-US" altLang="en-US" sz="2000" baseline="-25000" dirty="0" err="1"/>
              <a:t>n</a:t>
            </a:r>
            <a:r>
              <a:rPr lang="en-US" altLang="en-US" sz="2000" dirty="0"/>
              <a:t>, taken from a total order, find the </a:t>
            </a:r>
            <a:r>
              <a:rPr lang="en-US" altLang="en-US" sz="2000" dirty="0">
                <a:solidFill>
                  <a:srgbClr val="C00000"/>
                </a:solidFill>
              </a:rPr>
              <a:t>k-</a:t>
            </a:r>
            <a:r>
              <a:rPr lang="en-US" altLang="en-US" sz="2000" dirty="0" err="1">
                <a:solidFill>
                  <a:srgbClr val="C00000"/>
                </a:solidFill>
              </a:rPr>
              <a:t>th</a:t>
            </a:r>
            <a:r>
              <a:rPr lang="en-US" altLang="en-US" sz="2000" dirty="0">
                <a:solidFill>
                  <a:srgbClr val="C00000"/>
                </a:solidFill>
              </a:rPr>
              <a:t> smallest element </a:t>
            </a:r>
            <a:r>
              <a:rPr lang="en-US" altLang="en-US" sz="2000" dirty="0"/>
              <a:t>in this set.</a:t>
            </a:r>
          </a:p>
          <a:p>
            <a:pPr eaLnBrk="1" hangingPunct="1"/>
            <a:endParaRPr lang="en-US" altLang="en-US" sz="2000" dirty="0"/>
          </a:p>
          <a:p>
            <a:pPr eaLnBrk="1" hangingPunct="1"/>
            <a:r>
              <a:rPr lang="en-US" altLang="en-US" sz="2000" dirty="0"/>
              <a:t>Of course, we can sort the set in O(n log n) time and then index the k-</a:t>
            </a:r>
            <a:r>
              <a:rPr lang="en-US" altLang="en-US" sz="2000" dirty="0" err="1"/>
              <a:t>th</a:t>
            </a:r>
            <a:r>
              <a:rPr lang="en-US" altLang="en-US" sz="2000" dirty="0"/>
              <a:t> element.</a:t>
            </a:r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sz="2000" dirty="0"/>
          </a:p>
          <a:p>
            <a:pPr eaLnBrk="1" hangingPunct="1"/>
            <a:endParaRPr lang="en-US" altLang="en-US" sz="2000" dirty="0"/>
          </a:p>
          <a:p>
            <a:pPr eaLnBrk="1" hangingPunct="1"/>
            <a:r>
              <a:rPr lang="en-US" altLang="en-US" sz="2000" dirty="0"/>
              <a:t>Can we solve the selection problem faster?</a:t>
            </a:r>
          </a:p>
        </p:txBody>
      </p:sp>
      <p:sp>
        <p:nvSpPr>
          <p:cNvPr id="22532" name="AutoShape 4">
            <a:extLst>
              <a:ext uri="{FF2B5EF4-FFF2-40B4-BE49-F238E27FC236}">
                <a16:creationId xmlns:a16="http://schemas.microsoft.com/office/drawing/2014/main" id="{BBE71145-A3A1-E6CF-E92F-4E4ECA49D2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8600" y="4191000"/>
            <a:ext cx="4267200" cy="4572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7  4  9  </a:t>
            </a:r>
            <a:r>
              <a:rPr lang="en-US" altLang="en-US" u="sng">
                <a:solidFill>
                  <a:srgbClr val="000000"/>
                </a:solidFill>
              </a:rPr>
              <a:t>6</a:t>
            </a:r>
            <a:r>
              <a:rPr lang="en-US" altLang="en-US"/>
              <a:t>  2  </a:t>
            </a:r>
            <a:r>
              <a:rPr lang="en-US" altLang="en-US" b="1">
                <a:solidFill>
                  <a:srgbClr val="000000"/>
                </a:solidFill>
                <a:sym typeface="Symbol" pitchFamily="2" charset="2"/>
              </a:rPr>
              <a:t></a:t>
            </a:r>
            <a:r>
              <a:rPr lang="en-US" altLang="en-US"/>
              <a:t>  </a:t>
            </a:r>
            <a:r>
              <a:rPr lang="en-US" altLang="en-US">
                <a:solidFill>
                  <a:schemeClr val="tx2"/>
                </a:solidFill>
              </a:rPr>
              <a:t>2  4  </a:t>
            </a:r>
            <a:r>
              <a:rPr lang="en-US" altLang="en-US" u="sng">
                <a:solidFill>
                  <a:srgbClr val="000000"/>
                </a:solidFill>
              </a:rPr>
              <a:t>6</a:t>
            </a:r>
            <a:r>
              <a:rPr lang="en-US" altLang="en-US">
                <a:solidFill>
                  <a:schemeClr val="tx2"/>
                </a:solidFill>
              </a:rPr>
              <a:t>  7  9</a:t>
            </a:r>
          </a:p>
        </p:txBody>
      </p:sp>
      <p:sp>
        <p:nvSpPr>
          <p:cNvPr id="22533" name="Text Box 5">
            <a:extLst>
              <a:ext uri="{FF2B5EF4-FFF2-40B4-BE49-F238E27FC236}">
                <a16:creationId xmlns:a16="http://schemas.microsoft.com/office/drawing/2014/main" id="{F7959841-E4E9-6EB5-FC79-D6A7F73383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0701" y="4234934"/>
            <a:ext cx="5629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k=3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2ED367D6-52E8-1B89-3A08-A1D6AFD10B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Quick-Select</a:t>
            </a:r>
          </a:p>
        </p:txBody>
      </p:sp>
      <p:sp>
        <p:nvSpPr>
          <p:cNvPr id="23555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3783EECA-D5AF-2444-DDFD-6D980B7A2BEB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1905000" y="1600200"/>
            <a:ext cx="4495800" cy="4572000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altLang="en-US" sz="2000">
                <a:solidFill>
                  <a:schemeClr val="tx2"/>
                </a:solidFill>
              </a:rPr>
              <a:t>Quick-select</a:t>
            </a:r>
            <a:r>
              <a:rPr lang="en-US" altLang="en-US" sz="2000"/>
              <a:t> is a </a:t>
            </a:r>
            <a:r>
              <a:rPr lang="en-US" altLang="en-US" sz="2000" b="1"/>
              <a:t>randomized</a:t>
            </a:r>
            <a:r>
              <a:rPr lang="en-US" altLang="en-US" sz="2000"/>
              <a:t> selection algorithm based on the prune-and-search paradigm:</a:t>
            </a:r>
          </a:p>
          <a:p>
            <a:pPr eaLnBrk="1" hangingPunct="1"/>
            <a:endParaRPr lang="en-US" altLang="en-US" sz="2000"/>
          </a:p>
          <a:p>
            <a:pPr lvl="1" eaLnBrk="1" hangingPunct="1"/>
            <a:r>
              <a:rPr lang="en-US" altLang="en-US" sz="2000">
                <a:solidFill>
                  <a:srgbClr val="FF0000"/>
                </a:solidFill>
              </a:rPr>
              <a:t>Partition</a:t>
            </a:r>
            <a:r>
              <a:rPr lang="en-US" altLang="en-US" sz="2000"/>
              <a:t>: pick a random element </a:t>
            </a:r>
            <a:r>
              <a:rPr lang="en-US" altLang="en-US" sz="2000" b="1" i="1">
                <a:latin typeface="Times New Roman" panose="02020603050405020304" pitchFamily="18" charset="0"/>
              </a:rPr>
              <a:t>x</a:t>
            </a:r>
            <a:r>
              <a:rPr lang="en-US" altLang="en-US" sz="2000"/>
              <a:t> (called </a:t>
            </a:r>
            <a:r>
              <a:rPr lang="en-US" altLang="en-US" sz="2000">
                <a:solidFill>
                  <a:schemeClr val="tx2"/>
                </a:solidFill>
              </a:rPr>
              <a:t>pivot</a:t>
            </a:r>
            <a:r>
              <a:rPr lang="en-US" altLang="en-US" sz="2000"/>
              <a:t>) and partition </a:t>
            </a:r>
            <a:r>
              <a:rPr lang="en-US" altLang="en-US" sz="2000" b="1" i="1">
                <a:latin typeface="Times New Roman" panose="02020603050405020304" pitchFamily="18" charset="0"/>
              </a:rPr>
              <a:t>S</a:t>
            </a:r>
            <a:r>
              <a:rPr lang="en-US" altLang="en-US" sz="2000"/>
              <a:t> into </a:t>
            </a:r>
          </a:p>
          <a:p>
            <a:pPr lvl="2" eaLnBrk="1" hangingPunct="1"/>
            <a:r>
              <a:rPr lang="en-US" altLang="en-US" sz="1800" b="1" i="1">
                <a:latin typeface="Times New Roman" panose="02020603050405020304" pitchFamily="18" charset="0"/>
              </a:rPr>
              <a:t>L </a:t>
            </a:r>
            <a:r>
              <a:rPr lang="en-US" altLang="en-US" sz="1800"/>
              <a:t>elements less than </a:t>
            </a:r>
            <a:r>
              <a:rPr lang="en-US" altLang="en-US" sz="1800" b="1" i="1">
                <a:latin typeface="Times New Roman" panose="02020603050405020304" pitchFamily="18" charset="0"/>
              </a:rPr>
              <a:t>x</a:t>
            </a:r>
          </a:p>
          <a:p>
            <a:pPr lvl="2" eaLnBrk="1" hangingPunct="1"/>
            <a:r>
              <a:rPr lang="en-US" altLang="en-US" sz="1800" b="1" i="1">
                <a:latin typeface="Times New Roman" panose="02020603050405020304" pitchFamily="18" charset="0"/>
              </a:rPr>
              <a:t>E </a:t>
            </a:r>
            <a:r>
              <a:rPr lang="en-US" altLang="en-US" sz="1800"/>
              <a:t>elements equal </a:t>
            </a:r>
            <a:r>
              <a:rPr lang="en-US" altLang="en-US" sz="1800" b="1" i="1">
                <a:latin typeface="Times New Roman" panose="02020603050405020304" pitchFamily="18" charset="0"/>
              </a:rPr>
              <a:t>x</a:t>
            </a:r>
            <a:endParaRPr lang="en-US" altLang="en-US" sz="1800"/>
          </a:p>
          <a:p>
            <a:pPr lvl="2" eaLnBrk="1" hangingPunct="1"/>
            <a:r>
              <a:rPr lang="en-US" altLang="en-US" sz="1800" b="1" i="1">
                <a:latin typeface="Times New Roman" panose="02020603050405020304" pitchFamily="18" charset="0"/>
              </a:rPr>
              <a:t>G </a:t>
            </a:r>
            <a:r>
              <a:rPr lang="en-US" altLang="en-US" sz="1800"/>
              <a:t>elements greater than </a:t>
            </a:r>
            <a:r>
              <a:rPr lang="en-US" altLang="en-US" sz="1800" b="1" i="1">
                <a:latin typeface="Times New Roman" panose="02020603050405020304" pitchFamily="18" charset="0"/>
              </a:rPr>
              <a:t>x</a:t>
            </a:r>
            <a:endParaRPr lang="en-US" altLang="en-US" sz="1800"/>
          </a:p>
          <a:p>
            <a:pPr lvl="1" eaLnBrk="1" hangingPunct="1"/>
            <a:r>
              <a:rPr lang="en-US" altLang="en-US" sz="2000">
                <a:solidFill>
                  <a:srgbClr val="FF0000"/>
                </a:solidFill>
              </a:rPr>
              <a:t>Search</a:t>
            </a:r>
            <a:r>
              <a:rPr lang="en-US" altLang="en-US" sz="2000"/>
              <a:t>: depending on k, either answer is in </a:t>
            </a:r>
            <a:r>
              <a:rPr lang="en-US" altLang="en-US" sz="2000" b="1" i="1">
                <a:latin typeface="Times New Roman" panose="02020603050405020304" pitchFamily="18" charset="0"/>
              </a:rPr>
              <a:t>E</a:t>
            </a:r>
            <a:r>
              <a:rPr lang="en-US" altLang="en-US" sz="2000"/>
              <a:t>, or we need to search in either </a:t>
            </a:r>
            <a:r>
              <a:rPr lang="en-US" altLang="en-US" sz="2000" b="1" i="1">
                <a:latin typeface="Times New Roman" panose="02020603050405020304" pitchFamily="18" charset="0"/>
              </a:rPr>
              <a:t>L </a:t>
            </a:r>
            <a:r>
              <a:rPr lang="en-US" altLang="en-US" sz="2000"/>
              <a:t>or </a:t>
            </a:r>
            <a:r>
              <a:rPr lang="en-US" altLang="en-US" sz="2000" b="1" i="1">
                <a:latin typeface="Times New Roman" panose="02020603050405020304" pitchFamily="18" charset="0"/>
              </a:rPr>
              <a:t>G</a:t>
            </a:r>
          </a:p>
        </p:txBody>
      </p:sp>
      <p:sp>
        <p:nvSpPr>
          <p:cNvPr id="23556" name="Rectangle 6">
            <a:extLst>
              <a:ext uri="{FF2B5EF4-FFF2-40B4-BE49-F238E27FC236}">
                <a16:creationId xmlns:a16="http://schemas.microsoft.com/office/drawing/2014/main" id="{36ADBF3D-D77B-2A0F-BAC6-3B9F422E88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1635125"/>
            <a:ext cx="228600" cy="106045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3557" name="Rectangle 7">
            <a:extLst>
              <a:ext uri="{FF2B5EF4-FFF2-40B4-BE49-F238E27FC236}">
                <a16:creationId xmlns:a16="http://schemas.microsoft.com/office/drawing/2014/main" id="{FABACFA0-3EA9-3D76-3A40-3EF37760C0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40600" y="2238375"/>
            <a:ext cx="228600" cy="4572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3558" name="Rectangle 9">
            <a:extLst>
              <a:ext uri="{FF2B5EF4-FFF2-40B4-BE49-F238E27FC236}">
                <a16:creationId xmlns:a16="http://schemas.microsoft.com/office/drawing/2014/main" id="{477F5BE8-B0EF-4F07-3A9C-96340CE99F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400" y="2409825"/>
            <a:ext cx="228600" cy="28575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3559" name="Rectangle 10">
            <a:extLst>
              <a:ext uri="{FF2B5EF4-FFF2-40B4-BE49-F238E27FC236}">
                <a16:creationId xmlns:a16="http://schemas.microsoft.com/office/drawing/2014/main" id="{B97374FE-1DA7-A157-D6E9-CD57D8C94A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59800" y="2066925"/>
            <a:ext cx="228600" cy="62865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 i="1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23560" name="Rectangle 11">
            <a:extLst>
              <a:ext uri="{FF2B5EF4-FFF2-40B4-BE49-F238E27FC236}">
                <a16:creationId xmlns:a16="http://schemas.microsoft.com/office/drawing/2014/main" id="{AA7733FD-5164-36F2-10CC-E9FC54BF15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66200" y="1724025"/>
            <a:ext cx="228600" cy="97155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3561" name="Rectangle 12">
            <a:extLst>
              <a:ext uri="{FF2B5EF4-FFF2-40B4-BE49-F238E27FC236}">
                <a16:creationId xmlns:a16="http://schemas.microsoft.com/office/drawing/2014/main" id="{91C2397B-D05E-7C3B-5A1F-0596A14A06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72600" y="2352675"/>
            <a:ext cx="228600" cy="3429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3562" name="Rectangle 23">
            <a:extLst>
              <a:ext uri="{FF2B5EF4-FFF2-40B4-BE49-F238E27FC236}">
                <a16:creationId xmlns:a16="http://schemas.microsoft.com/office/drawing/2014/main" id="{9760A1E8-2605-D7E7-7691-D68AF3D853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7000" y="1895475"/>
            <a:ext cx="228600" cy="8001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3563" name="Rectangle 24">
            <a:extLst>
              <a:ext uri="{FF2B5EF4-FFF2-40B4-BE49-F238E27FC236}">
                <a16:creationId xmlns:a16="http://schemas.microsoft.com/office/drawing/2014/main" id="{7C6DEA43-1C13-B3C1-E7F7-66577D9772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67800" y="3095625"/>
            <a:ext cx="228600" cy="106045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3564" name="Rectangle 25">
            <a:extLst>
              <a:ext uri="{FF2B5EF4-FFF2-40B4-BE49-F238E27FC236}">
                <a16:creationId xmlns:a16="http://schemas.microsoft.com/office/drawing/2014/main" id="{DF6C53A1-89A9-6E83-23B2-BAB65D5565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0" y="3184525"/>
            <a:ext cx="228600" cy="97155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3565" name="Rectangle 26">
            <a:extLst>
              <a:ext uri="{FF2B5EF4-FFF2-40B4-BE49-F238E27FC236}">
                <a16:creationId xmlns:a16="http://schemas.microsoft.com/office/drawing/2014/main" id="{0B73C7CB-6590-B370-1891-44A0A291D8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86900" y="3355975"/>
            <a:ext cx="228600" cy="8001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pSp>
        <p:nvGrpSpPr>
          <p:cNvPr id="23566" name="Group 31">
            <a:extLst>
              <a:ext uri="{FF2B5EF4-FFF2-40B4-BE49-F238E27FC236}">
                <a16:creationId xmlns:a16="http://schemas.microsoft.com/office/drawing/2014/main" id="{F883DBAB-9D0F-3BDC-1FF4-02D900EAB8CD}"/>
              </a:ext>
            </a:extLst>
          </p:cNvPr>
          <p:cNvGrpSpPr>
            <a:grpSpLocks/>
          </p:cNvGrpSpPr>
          <p:nvPr/>
        </p:nvGrpSpPr>
        <p:grpSpPr bwMode="auto">
          <a:xfrm>
            <a:off x="6635750" y="3705225"/>
            <a:ext cx="1054100" cy="457200"/>
            <a:chOff x="3320" y="2304"/>
            <a:chExt cx="664" cy="384"/>
          </a:xfrm>
        </p:grpSpPr>
        <p:sp>
          <p:nvSpPr>
            <p:cNvPr id="23575" name="Rectangle 27">
              <a:extLst>
                <a:ext uri="{FF2B5EF4-FFF2-40B4-BE49-F238E27FC236}">
                  <a16:creationId xmlns:a16="http://schemas.microsoft.com/office/drawing/2014/main" id="{DB45E071-9266-A472-800E-F8D3FA3F23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0" y="2304"/>
              <a:ext cx="144" cy="384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3576" name="Rectangle 28">
              <a:extLst>
                <a:ext uri="{FF2B5EF4-FFF2-40B4-BE49-F238E27FC236}">
                  <a16:creationId xmlns:a16="http://schemas.microsoft.com/office/drawing/2014/main" id="{CCA0744C-C3C0-0B1D-F214-1A3F86658C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0" y="2448"/>
              <a:ext cx="144" cy="24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3577" name="Rectangle 29">
              <a:extLst>
                <a:ext uri="{FF2B5EF4-FFF2-40B4-BE49-F238E27FC236}">
                  <a16:creationId xmlns:a16="http://schemas.microsoft.com/office/drawing/2014/main" id="{42CA66AD-77AA-4343-193B-74C75C1F41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2400"/>
              <a:ext cx="144" cy="288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sp>
        <p:nvSpPr>
          <p:cNvPr id="23567" name="Rectangle 30">
            <a:extLst>
              <a:ext uri="{FF2B5EF4-FFF2-40B4-BE49-F238E27FC236}">
                <a16:creationId xmlns:a16="http://schemas.microsoft.com/office/drawing/2014/main" id="{18D41634-3586-4453-CC3D-69277779A4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67700" y="3533775"/>
            <a:ext cx="228600" cy="62865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 i="1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23568" name="AutoShape 33">
            <a:extLst>
              <a:ext uri="{FF2B5EF4-FFF2-40B4-BE49-F238E27FC236}">
                <a16:creationId xmlns:a16="http://schemas.microsoft.com/office/drawing/2014/main" id="{965E7D80-E944-AF29-F262-D84E13EBDE45}"/>
              </a:ext>
            </a:extLst>
          </p:cNvPr>
          <p:cNvSpPr>
            <a:spLocks/>
          </p:cNvSpPr>
          <p:nvPr/>
        </p:nvSpPr>
        <p:spPr bwMode="auto">
          <a:xfrm rot="-5400000">
            <a:off x="7010400" y="3686175"/>
            <a:ext cx="304800" cy="1219200"/>
          </a:xfrm>
          <a:prstGeom prst="leftBrace">
            <a:avLst>
              <a:gd name="adj1" fmla="val 33333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eaVert" wrap="none" tIns="0" rIns="54864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 i="1">
                <a:latin typeface="Times New Roman" panose="02020603050405020304" pitchFamily="18" charset="0"/>
              </a:rPr>
              <a:t>L</a:t>
            </a:r>
          </a:p>
        </p:txBody>
      </p:sp>
      <p:sp>
        <p:nvSpPr>
          <p:cNvPr id="23569" name="AutoShape 35">
            <a:extLst>
              <a:ext uri="{FF2B5EF4-FFF2-40B4-BE49-F238E27FC236}">
                <a16:creationId xmlns:a16="http://schemas.microsoft.com/office/drawing/2014/main" id="{90CC5F98-1F34-65EA-CE1F-20677CA07F2F}"/>
              </a:ext>
            </a:extLst>
          </p:cNvPr>
          <p:cNvSpPr>
            <a:spLocks/>
          </p:cNvSpPr>
          <p:nvPr/>
        </p:nvSpPr>
        <p:spPr bwMode="auto">
          <a:xfrm rot="-5400000">
            <a:off x="9448800" y="3686175"/>
            <a:ext cx="304800" cy="1219200"/>
          </a:xfrm>
          <a:prstGeom prst="leftBrace">
            <a:avLst>
              <a:gd name="adj1" fmla="val 33333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eaVert" wrap="none" tIns="0" rIns="54864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 i="1">
                <a:latin typeface="Times New Roman" panose="02020603050405020304" pitchFamily="18" charset="0"/>
              </a:rPr>
              <a:t>G</a:t>
            </a:r>
          </a:p>
        </p:txBody>
      </p:sp>
      <p:sp>
        <p:nvSpPr>
          <p:cNvPr id="23570" name="AutoShape 36">
            <a:extLst>
              <a:ext uri="{FF2B5EF4-FFF2-40B4-BE49-F238E27FC236}">
                <a16:creationId xmlns:a16="http://schemas.microsoft.com/office/drawing/2014/main" id="{A424A837-C132-107E-4C14-C8265A7A5A0A}"/>
              </a:ext>
            </a:extLst>
          </p:cNvPr>
          <p:cNvSpPr>
            <a:spLocks/>
          </p:cNvSpPr>
          <p:nvPr/>
        </p:nvSpPr>
        <p:spPr bwMode="auto">
          <a:xfrm rot="-5400000">
            <a:off x="8229600" y="3990975"/>
            <a:ext cx="304800" cy="609600"/>
          </a:xfrm>
          <a:prstGeom prst="leftBrace">
            <a:avLst>
              <a:gd name="adj1" fmla="val 16667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eaVert" wrap="none" tIns="0" rIns="54864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 i="1">
                <a:latin typeface="Times New Roman" panose="02020603050405020304" pitchFamily="18" charset="0"/>
              </a:rPr>
              <a:t>E</a:t>
            </a:r>
          </a:p>
        </p:txBody>
      </p:sp>
      <p:sp>
        <p:nvSpPr>
          <p:cNvPr id="23571" name="Text Box 53">
            <a:extLst>
              <a:ext uri="{FF2B5EF4-FFF2-40B4-BE49-F238E27FC236}">
                <a16:creationId xmlns:a16="http://schemas.microsoft.com/office/drawing/2014/main" id="{3E4F2F86-2298-4EDB-CB67-95F4D91D96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1" y="4844534"/>
            <a:ext cx="77938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latin typeface="Times New Roman" panose="02020603050405020304" pitchFamily="18" charset="0"/>
              </a:rPr>
              <a:t>k </a:t>
            </a:r>
            <a:r>
              <a:rPr lang="en-US" altLang="en-US" u="sng">
                <a:latin typeface="Times New Roman" panose="02020603050405020304" pitchFamily="18" charset="0"/>
              </a:rPr>
              <a:t>&lt;</a:t>
            </a:r>
            <a:r>
              <a:rPr lang="en-US" altLang="en-US">
                <a:latin typeface="Times New Roman" panose="02020603050405020304" pitchFamily="18" charset="0"/>
              </a:rPr>
              <a:t> |</a:t>
            </a:r>
            <a:r>
              <a:rPr lang="en-US" altLang="en-US" b="1" i="1">
                <a:latin typeface="Times New Roman" panose="02020603050405020304" pitchFamily="18" charset="0"/>
              </a:rPr>
              <a:t>L</a:t>
            </a:r>
            <a:r>
              <a:rPr lang="en-US" altLang="en-US">
                <a:latin typeface="Times New Roman" panose="02020603050405020304" pitchFamily="18" charset="0"/>
              </a:rPr>
              <a:t>|</a:t>
            </a:r>
            <a:endParaRPr lang="en-US" altLang="en-US"/>
          </a:p>
        </p:txBody>
      </p:sp>
      <p:sp>
        <p:nvSpPr>
          <p:cNvPr id="23572" name="Text Box 54">
            <a:extLst>
              <a:ext uri="{FF2B5EF4-FFF2-40B4-BE49-F238E27FC236}">
                <a16:creationId xmlns:a16="http://schemas.microsoft.com/office/drawing/2014/main" id="{5A01E83E-9A0E-0518-B982-7257213504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9638" y="5742673"/>
            <a:ext cx="165141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latin typeface="Times New Roman" panose="02020603050405020304" pitchFamily="18" charset="0"/>
              </a:rPr>
              <a:t>|L| &lt; k </a:t>
            </a:r>
            <a:r>
              <a:rPr lang="en-US" altLang="en-US" u="sng">
                <a:latin typeface="Times New Roman" panose="02020603050405020304" pitchFamily="18" charset="0"/>
              </a:rPr>
              <a:t>&lt;</a:t>
            </a:r>
            <a:r>
              <a:rPr lang="en-US" altLang="en-US">
                <a:latin typeface="Times New Roman" panose="02020603050405020304" pitchFamily="18" charset="0"/>
              </a:rPr>
              <a:t> |</a:t>
            </a:r>
            <a:r>
              <a:rPr lang="en-US" altLang="en-US" b="1" i="1">
                <a:latin typeface="Times New Roman" panose="02020603050405020304" pitchFamily="18" charset="0"/>
              </a:rPr>
              <a:t>L</a:t>
            </a:r>
            <a:r>
              <a:rPr lang="en-US" altLang="en-US">
                <a:latin typeface="Times New Roman" panose="02020603050405020304" pitchFamily="18" charset="0"/>
              </a:rPr>
              <a:t>|+|</a:t>
            </a:r>
            <a:r>
              <a:rPr lang="en-US" altLang="en-US" b="1" i="1">
                <a:latin typeface="Times New Roman" panose="02020603050405020304" pitchFamily="18" charset="0"/>
              </a:rPr>
              <a:t>E|</a:t>
            </a:r>
            <a:endParaRPr lang="en-US" altLang="en-US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en-US">
                <a:latin typeface="Times New Roman" panose="02020603050405020304" pitchFamily="18" charset="0"/>
              </a:rPr>
              <a:t>(done)</a:t>
            </a:r>
            <a:endParaRPr lang="en-US" altLang="en-US"/>
          </a:p>
        </p:txBody>
      </p:sp>
      <p:sp>
        <p:nvSpPr>
          <p:cNvPr id="23573" name="Text Box 56">
            <a:extLst>
              <a:ext uri="{FF2B5EF4-FFF2-40B4-BE49-F238E27FC236}">
                <a16:creationId xmlns:a16="http://schemas.microsoft.com/office/drawing/2014/main" id="{8EDF0D91-0CA2-03FE-11E8-C012BBE56D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12189" y="4782236"/>
            <a:ext cx="1607043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latin typeface="Times New Roman" panose="02020603050405020304" pitchFamily="18" charset="0"/>
              </a:rPr>
              <a:t>k </a:t>
            </a:r>
            <a:r>
              <a:rPr lang="en-US" altLang="en-US">
                <a:latin typeface="Times New Roman" panose="02020603050405020304" pitchFamily="18" charset="0"/>
              </a:rPr>
              <a:t>&gt; |</a:t>
            </a:r>
            <a:r>
              <a:rPr lang="en-US" altLang="en-US" b="1" i="1">
                <a:latin typeface="Times New Roman" panose="02020603050405020304" pitchFamily="18" charset="0"/>
              </a:rPr>
              <a:t>L</a:t>
            </a:r>
            <a:r>
              <a:rPr lang="en-US" altLang="en-US">
                <a:latin typeface="Times New Roman" panose="02020603050405020304" pitchFamily="18" charset="0"/>
              </a:rPr>
              <a:t>|+|</a:t>
            </a:r>
            <a:r>
              <a:rPr lang="en-US" altLang="en-US" b="1" i="1">
                <a:latin typeface="Times New Roman" panose="02020603050405020304" pitchFamily="18" charset="0"/>
              </a:rPr>
              <a:t>E|</a:t>
            </a:r>
          </a:p>
          <a:p>
            <a:pPr eaLnBrk="1" hangingPunct="1"/>
            <a:r>
              <a:rPr lang="en-US" altLang="en-US" b="1" i="1">
                <a:latin typeface="Times New Roman" panose="02020603050405020304" pitchFamily="18" charset="0"/>
              </a:rPr>
              <a:t>k’ = k - |L| - |E|</a:t>
            </a:r>
            <a:endParaRPr lang="en-US" altLang="en-US"/>
          </a:p>
        </p:txBody>
      </p:sp>
      <p:sp>
        <p:nvSpPr>
          <p:cNvPr id="23574" name="Line 57">
            <a:extLst>
              <a:ext uri="{FF2B5EF4-FFF2-40B4-BE49-F238E27FC236}">
                <a16:creationId xmlns:a16="http://schemas.microsoft.com/office/drawing/2014/main" id="{152784DC-1704-D3E1-391C-AD8A8FDE4D4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382000" y="4876800"/>
            <a:ext cx="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4DD28705-1649-76F0-18E6-138A4E4CCE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Partition</a:t>
            </a:r>
          </a:p>
        </p:txBody>
      </p:sp>
      <p:sp>
        <p:nvSpPr>
          <p:cNvPr id="24579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F456D661-D5E0-9C91-7065-8F6689327B0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981200" y="1309688"/>
            <a:ext cx="3886200" cy="4652962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altLang="en-US" sz="2000"/>
              <a:t>We partition an input sequence as in the quick-sort algorithm:</a:t>
            </a:r>
          </a:p>
          <a:p>
            <a:pPr lvl="1" eaLnBrk="1" hangingPunct="1"/>
            <a:r>
              <a:rPr lang="en-US" altLang="en-US" sz="1800"/>
              <a:t>We remove, in turn, each element </a:t>
            </a:r>
            <a:r>
              <a:rPr lang="en-US" altLang="en-US" sz="1800" b="1" i="1">
                <a:latin typeface="Times New Roman" panose="02020603050405020304" pitchFamily="18" charset="0"/>
              </a:rPr>
              <a:t>y</a:t>
            </a:r>
            <a:r>
              <a:rPr lang="en-US" altLang="en-US" sz="1800"/>
              <a:t> from </a:t>
            </a:r>
            <a:r>
              <a:rPr lang="en-US" altLang="en-US" sz="1800" b="1" i="1">
                <a:latin typeface="Times New Roman" panose="02020603050405020304" pitchFamily="18" charset="0"/>
              </a:rPr>
              <a:t>S</a:t>
            </a:r>
            <a:r>
              <a:rPr lang="en-US" altLang="en-US" sz="1800"/>
              <a:t> and </a:t>
            </a:r>
          </a:p>
          <a:p>
            <a:pPr lvl="1" eaLnBrk="1" hangingPunct="1"/>
            <a:r>
              <a:rPr lang="en-US" altLang="en-US" sz="1800"/>
              <a:t>We insert </a:t>
            </a:r>
            <a:r>
              <a:rPr lang="en-US" altLang="en-US" sz="1800" b="1" i="1">
                <a:latin typeface="Times New Roman" panose="02020603050405020304" pitchFamily="18" charset="0"/>
              </a:rPr>
              <a:t>y</a:t>
            </a:r>
            <a:r>
              <a:rPr lang="en-US" altLang="en-US" sz="1800"/>
              <a:t> into </a:t>
            </a:r>
            <a:r>
              <a:rPr lang="en-US" altLang="en-US" sz="1800" b="1" i="1">
                <a:latin typeface="Times New Roman" panose="02020603050405020304" pitchFamily="18" charset="0"/>
              </a:rPr>
              <a:t>L</a:t>
            </a:r>
            <a:r>
              <a:rPr lang="en-US" altLang="en-US" sz="1800"/>
              <a:t>, </a:t>
            </a:r>
            <a:r>
              <a:rPr lang="en-US" altLang="en-US" sz="1800" b="1" i="1">
                <a:latin typeface="Times New Roman" panose="02020603050405020304" pitchFamily="18" charset="0"/>
              </a:rPr>
              <a:t>E</a:t>
            </a:r>
            <a:r>
              <a:rPr lang="en-US" altLang="en-US" sz="1800" b="1" i="1"/>
              <a:t> </a:t>
            </a:r>
            <a:r>
              <a:rPr lang="en-US" altLang="en-US" sz="1800"/>
              <a:t>or </a:t>
            </a:r>
            <a:r>
              <a:rPr lang="en-US" altLang="en-US" sz="1800" b="1" i="1">
                <a:latin typeface="Times New Roman" panose="02020603050405020304" pitchFamily="18" charset="0"/>
              </a:rPr>
              <a:t>G</a:t>
            </a:r>
            <a:r>
              <a:rPr lang="en-US" altLang="en-US" sz="1800"/>
              <a:t>,</a:t>
            </a:r>
            <a:r>
              <a:rPr lang="en-US" altLang="en-US" sz="1800" b="1" i="1">
                <a:latin typeface="Times New Roman" panose="02020603050405020304" pitchFamily="18" charset="0"/>
              </a:rPr>
              <a:t> </a:t>
            </a:r>
            <a:r>
              <a:rPr lang="en-US" altLang="en-US" sz="1800"/>
              <a:t>depending on the result of the comparison with the pivot </a:t>
            </a:r>
            <a:r>
              <a:rPr lang="en-US" altLang="en-US" sz="1800" b="1" i="1">
                <a:latin typeface="Times New Roman" panose="02020603050405020304" pitchFamily="18" charset="0"/>
              </a:rPr>
              <a:t>x</a:t>
            </a:r>
          </a:p>
          <a:p>
            <a:pPr eaLnBrk="1" hangingPunct="1"/>
            <a:r>
              <a:rPr lang="en-US" altLang="en-US" sz="2000"/>
              <a:t>Each insertion and removal is at the beginning or at the end of a sequence, and hence takes </a:t>
            </a:r>
            <a:r>
              <a:rPr lang="en-US" altLang="en-US" sz="2000" b="1" i="1">
                <a:latin typeface="Times New Roman" panose="02020603050405020304" pitchFamily="18" charset="0"/>
              </a:rPr>
              <a:t>O</a:t>
            </a:r>
            <a:r>
              <a:rPr lang="en-US" altLang="en-US" sz="2000">
                <a:latin typeface="Times New Roman" panose="02020603050405020304" pitchFamily="18" charset="0"/>
              </a:rPr>
              <a:t>(1)</a:t>
            </a:r>
            <a:r>
              <a:rPr lang="en-US" altLang="en-US" sz="2000"/>
              <a:t> time</a:t>
            </a:r>
          </a:p>
          <a:p>
            <a:pPr eaLnBrk="1" hangingPunct="1"/>
            <a:r>
              <a:rPr lang="en-US" altLang="en-US" sz="2000"/>
              <a:t>Thus, the partition step of quick-select takes </a:t>
            </a:r>
            <a:r>
              <a:rPr lang="en-US" altLang="en-US" sz="2000" b="1" i="1">
                <a:latin typeface="Times New Roman" panose="02020603050405020304" pitchFamily="18" charset="0"/>
              </a:rPr>
              <a:t>O</a:t>
            </a:r>
            <a:r>
              <a:rPr lang="en-US" altLang="en-US" sz="2000">
                <a:latin typeface="Times New Roman" panose="02020603050405020304" pitchFamily="18" charset="0"/>
              </a:rPr>
              <a:t>(</a:t>
            </a:r>
            <a:r>
              <a:rPr lang="en-US" altLang="en-US" sz="2000" b="1" i="1">
                <a:latin typeface="Times New Roman" panose="02020603050405020304" pitchFamily="18" charset="0"/>
              </a:rPr>
              <a:t>n</a:t>
            </a:r>
            <a:r>
              <a:rPr lang="en-US" altLang="en-US" sz="2000">
                <a:latin typeface="Times New Roman" panose="02020603050405020304" pitchFamily="18" charset="0"/>
              </a:rPr>
              <a:t>)</a:t>
            </a:r>
            <a:r>
              <a:rPr lang="en-US" altLang="en-US" sz="2000"/>
              <a:t> time</a:t>
            </a:r>
          </a:p>
        </p:txBody>
      </p:sp>
      <p:sp>
        <p:nvSpPr>
          <p:cNvPr id="24580" name="Text Box 4">
            <a:extLst>
              <a:ext uri="{FF2B5EF4-FFF2-40B4-BE49-F238E27FC236}">
                <a16:creationId xmlns:a16="http://schemas.microsoft.com/office/drawing/2014/main" id="{1F46E5C9-262D-6A4A-DBCE-B0893B6883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1309688"/>
            <a:ext cx="4114800" cy="478631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defTabSz="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defTabSz="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defTabSz="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defTabSz="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defTabSz="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defTabSz="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Algorithm</a:t>
            </a:r>
            <a:r>
              <a:rPr lang="en-US" altLang="en-US">
                <a:latin typeface="Times New Roman" panose="02020603050405020304" pitchFamily="18" charset="0"/>
              </a:rPr>
              <a:t> </a:t>
            </a:r>
            <a:r>
              <a:rPr lang="en-US" altLang="en-US" b="1" i="1">
                <a:solidFill>
                  <a:schemeClr val="tx2"/>
                </a:solidFill>
                <a:latin typeface="Times New Roman" panose="02020603050405020304" pitchFamily="18" charset="0"/>
              </a:rPr>
              <a:t>partition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b="1" i="1">
                <a:solidFill>
                  <a:schemeClr val="tx2"/>
                </a:solidFill>
                <a:latin typeface="Times New Roman" panose="02020603050405020304" pitchFamily="18" charset="0"/>
              </a:rPr>
              <a:t>S,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b="1" i="1">
                <a:solidFill>
                  <a:schemeClr val="tx2"/>
                </a:solidFill>
                <a:latin typeface="Times New Roman" panose="02020603050405020304" pitchFamily="18" charset="0"/>
              </a:rPr>
              <a:t>p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Input</a:t>
            </a:r>
            <a:r>
              <a:rPr lang="en-US" altLang="en-US">
                <a:latin typeface="Times New Roman" panose="02020603050405020304" pitchFamily="18" charset="0"/>
              </a:rPr>
              <a:t> 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sequence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S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, position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p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 of pivot 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Output</a:t>
            </a:r>
            <a:r>
              <a:rPr lang="en-US" altLang="en-US">
                <a:latin typeface="Times New Roman" panose="02020603050405020304" pitchFamily="18" charset="0"/>
              </a:rPr>
              <a:t> 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subsequences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L,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E, G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 of the </a:t>
            </a:r>
            <a:b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</a:b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		elements of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S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 less than, equal to,</a:t>
            </a:r>
            <a:b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</a:b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		or greater than the pivot, resp.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L,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E, G 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empty sequences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x 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S.remove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p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while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>
                <a:solidFill>
                  <a:srgbClr val="000000"/>
                </a:solidFill>
                <a:latin typeface="Symbol" pitchFamily="2" charset="2"/>
                <a:sym typeface="Symbol" pitchFamily="2" charset="2"/>
              </a:rPr>
              <a:t>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S.isEmpty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()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y 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S.remove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S.first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())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	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if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y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&lt;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x</a:t>
            </a:r>
            <a:endParaRPr lang="en-US" altLang="en-US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		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L.insertLast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y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else if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y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=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x</a:t>
            </a:r>
            <a:endParaRPr lang="en-US" altLang="en-US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		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E.insertLast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y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	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else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>
                <a:latin typeface="Times New Roman" panose="02020603050405020304" pitchFamily="18" charset="0"/>
              </a:rPr>
              <a:t>{ </a:t>
            </a:r>
            <a:r>
              <a:rPr lang="en-US" altLang="en-US" b="1" i="1">
                <a:latin typeface="Times New Roman" panose="02020603050405020304" pitchFamily="18" charset="0"/>
              </a:rPr>
              <a:t>y</a:t>
            </a:r>
            <a:r>
              <a:rPr lang="en-US" altLang="en-US">
                <a:latin typeface="Times New Roman" panose="02020603050405020304" pitchFamily="18" charset="0"/>
                <a:sym typeface="Symbol" pitchFamily="2" charset="2"/>
              </a:rPr>
              <a:t> &gt; </a:t>
            </a:r>
            <a:r>
              <a:rPr lang="en-US" altLang="en-US" b="1" i="1">
                <a:latin typeface="Times New Roman" panose="02020603050405020304" pitchFamily="18" charset="0"/>
              </a:rPr>
              <a:t>x </a:t>
            </a:r>
            <a:r>
              <a:rPr lang="en-US" altLang="en-US">
                <a:latin typeface="Times New Roman" panose="02020603050405020304" pitchFamily="18" charset="0"/>
              </a:rPr>
              <a:t>}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		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G.insertLast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y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return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L,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E, 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AB8B5727-CCCC-C5FF-01EB-84B3861DE8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Quick-Select Visualization</a:t>
            </a:r>
          </a:p>
        </p:txBody>
      </p:sp>
      <p:sp>
        <p:nvSpPr>
          <p:cNvPr id="25603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DC037717-9A93-9A6F-909E-81E512BB4AA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09800" y="1295400"/>
            <a:ext cx="7848600" cy="1981200"/>
          </a:xfrm>
        </p:spPr>
        <p:txBody>
          <a:bodyPr/>
          <a:lstStyle/>
          <a:p>
            <a:pPr eaLnBrk="1" hangingPunct="1"/>
            <a:r>
              <a:rPr lang="en-US" altLang="en-US" sz="2000"/>
              <a:t>An execution of quick-select can be visualized by a recursion path</a:t>
            </a:r>
          </a:p>
          <a:p>
            <a:pPr lvl="1" eaLnBrk="1" hangingPunct="1"/>
            <a:r>
              <a:rPr lang="en-US" altLang="en-US" sz="1800"/>
              <a:t>Each node represents a recursive call of quick-select, and stores k and the remaining sequence</a:t>
            </a:r>
          </a:p>
        </p:txBody>
      </p:sp>
      <p:sp>
        <p:nvSpPr>
          <p:cNvPr id="25604" name="AutoShape 4">
            <a:extLst>
              <a:ext uri="{FF2B5EF4-FFF2-40B4-BE49-F238E27FC236}">
                <a16:creationId xmlns:a16="http://schemas.microsoft.com/office/drawing/2014/main" id="{8408A7A5-32CE-C3DD-6072-4D14B5DE2B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7300" y="3124200"/>
            <a:ext cx="4508500" cy="3810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k=5, S=(7  4  9  </a:t>
            </a:r>
            <a:r>
              <a:rPr lang="en-US" altLang="en-US" u="sng">
                <a:solidFill>
                  <a:srgbClr val="000000"/>
                </a:solidFill>
              </a:rPr>
              <a:t>3</a:t>
            </a:r>
            <a:r>
              <a:rPr lang="en-US" altLang="en-US"/>
              <a:t>  2  6  5  1  8)</a:t>
            </a:r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25605" name="AutoShape 7">
            <a:extLst>
              <a:ext uri="{FF2B5EF4-FFF2-40B4-BE49-F238E27FC236}">
                <a16:creationId xmlns:a16="http://schemas.microsoft.com/office/drawing/2014/main" id="{3FB61712-1D6D-E4F5-2E74-18AACE6942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4500" y="5867400"/>
            <a:ext cx="1028700" cy="381000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5</a:t>
            </a:r>
            <a:endParaRPr lang="en-US" altLang="en-US">
              <a:solidFill>
                <a:schemeClr val="tx2"/>
              </a:solidFill>
            </a:endParaRPr>
          </a:p>
        </p:txBody>
      </p:sp>
      <p:cxnSp>
        <p:nvCxnSpPr>
          <p:cNvPr id="25606" name="AutoShape 12">
            <a:extLst>
              <a:ext uri="{FF2B5EF4-FFF2-40B4-BE49-F238E27FC236}">
                <a16:creationId xmlns:a16="http://schemas.microsoft.com/office/drawing/2014/main" id="{57B608FE-AF0F-4070-3FBA-E39D1AF8223D}"/>
              </a:ext>
            </a:extLst>
          </p:cNvPr>
          <p:cNvCxnSpPr>
            <a:cxnSpLocks noChangeShapeType="1"/>
            <a:stCxn id="25610" idx="0"/>
            <a:endCxn id="25604" idx="2"/>
          </p:cNvCxnSpPr>
          <p:nvPr/>
        </p:nvCxnSpPr>
        <p:spPr bwMode="auto">
          <a:xfrm flipH="1" flipV="1">
            <a:off x="6051550" y="3514725"/>
            <a:ext cx="6350" cy="2857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07" name="AutoShape 13">
            <a:extLst>
              <a:ext uri="{FF2B5EF4-FFF2-40B4-BE49-F238E27FC236}">
                <a16:creationId xmlns:a16="http://schemas.microsoft.com/office/drawing/2014/main" id="{55BC213C-0E29-F640-FBDF-54FE15E8D5F8}"/>
              </a:ext>
            </a:extLst>
          </p:cNvPr>
          <p:cNvCxnSpPr>
            <a:cxnSpLocks noChangeShapeType="1"/>
            <a:stCxn id="25605" idx="0"/>
            <a:endCxn id="25612" idx="2"/>
          </p:cNvCxnSpPr>
          <p:nvPr/>
        </p:nvCxnSpPr>
        <p:spPr bwMode="auto">
          <a:xfrm flipV="1">
            <a:off x="6038850" y="5572125"/>
            <a:ext cx="19050" cy="2857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08" name="AutoShape 15">
            <a:extLst>
              <a:ext uri="{FF2B5EF4-FFF2-40B4-BE49-F238E27FC236}">
                <a16:creationId xmlns:a16="http://schemas.microsoft.com/office/drawing/2014/main" id="{7B63AE41-B442-3287-F06D-8565E937B261}"/>
              </a:ext>
            </a:extLst>
          </p:cNvPr>
          <p:cNvCxnSpPr>
            <a:cxnSpLocks noChangeShapeType="1"/>
            <a:stCxn id="25610" idx="2"/>
            <a:endCxn id="25611" idx="0"/>
          </p:cNvCxnSpPr>
          <p:nvPr/>
        </p:nvCxnSpPr>
        <p:spPr bwMode="auto">
          <a:xfrm>
            <a:off x="6057900" y="4200525"/>
            <a:ext cx="0" cy="2857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09" name="AutoShape 16">
            <a:extLst>
              <a:ext uri="{FF2B5EF4-FFF2-40B4-BE49-F238E27FC236}">
                <a16:creationId xmlns:a16="http://schemas.microsoft.com/office/drawing/2014/main" id="{D8663F97-5EDE-659A-084E-54D7331CB34F}"/>
              </a:ext>
            </a:extLst>
          </p:cNvPr>
          <p:cNvCxnSpPr>
            <a:cxnSpLocks noChangeShapeType="1"/>
            <a:stCxn id="25611" idx="2"/>
            <a:endCxn id="25612" idx="0"/>
          </p:cNvCxnSpPr>
          <p:nvPr/>
        </p:nvCxnSpPr>
        <p:spPr bwMode="auto">
          <a:xfrm>
            <a:off x="6057900" y="4886325"/>
            <a:ext cx="0" cy="2857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5610" name="AutoShape 17">
            <a:extLst>
              <a:ext uri="{FF2B5EF4-FFF2-40B4-BE49-F238E27FC236}">
                <a16:creationId xmlns:a16="http://schemas.microsoft.com/office/drawing/2014/main" id="{BF32F510-1E11-C299-24F1-3662F77A89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3810000"/>
            <a:ext cx="3733800" cy="3810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k=2, S=(7  4  9  6  5  </a:t>
            </a:r>
            <a:r>
              <a:rPr lang="en-US" altLang="en-US" u="sng">
                <a:solidFill>
                  <a:srgbClr val="000000"/>
                </a:solidFill>
              </a:rPr>
              <a:t>8</a:t>
            </a:r>
            <a:r>
              <a:rPr lang="en-US" altLang="en-US"/>
              <a:t>)</a:t>
            </a:r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25611" name="AutoShape 18">
            <a:extLst>
              <a:ext uri="{FF2B5EF4-FFF2-40B4-BE49-F238E27FC236}">
                <a16:creationId xmlns:a16="http://schemas.microsoft.com/office/drawing/2014/main" id="{DD1539E8-9F71-0FBB-0EEF-DE88628523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4495800"/>
            <a:ext cx="2971800" cy="3810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k=2, S=(7  </a:t>
            </a:r>
            <a:r>
              <a:rPr lang="en-US" altLang="en-US" u="sng">
                <a:solidFill>
                  <a:srgbClr val="000000"/>
                </a:solidFill>
              </a:rPr>
              <a:t>4</a:t>
            </a:r>
            <a:r>
              <a:rPr lang="en-US" altLang="en-US"/>
              <a:t>   6  5)</a:t>
            </a:r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25612" name="AutoShape 19">
            <a:extLst>
              <a:ext uri="{FF2B5EF4-FFF2-40B4-BE49-F238E27FC236}">
                <a16:creationId xmlns:a16="http://schemas.microsoft.com/office/drawing/2014/main" id="{30724B11-05E3-B518-3A97-4B5383956D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5181600"/>
            <a:ext cx="2362200" cy="3810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k=1, S=(7  6  </a:t>
            </a:r>
            <a:r>
              <a:rPr lang="en-US" altLang="en-US" u="sng">
                <a:solidFill>
                  <a:srgbClr val="000000"/>
                </a:solidFill>
              </a:rPr>
              <a:t>5</a:t>
            </a:r>
            <a:r>
              <a:rPr lang="en-US" altLang="en-US"/>
              <a:t>)</a:t>
            </a:r>
            <a:endParaRPr lang="en-US" altLang="en-US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6EA45DDB-0290-C234-9541-8FD8DB6A47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Expected Running Time</a:t>
            </a:r>
          </a:p>
        </p:txBody>
      </p:sp>
      <p:sp>
        <p:nvSpPr>
          <p:cNvPr id="26627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D50CF71A-7940-FEF2-3915-062E068EEFD3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2487610" y="1140619"/>
            <a:ext cx="7254704" cy="1752600"/>
          </a:xfrm>
        </p:spPr>
        <p:txBody>
          <a:bodyPr>
            <a:normAutofit fontScale="85000"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Consider a recursive call of quick-select on a sequence of size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b="1" dirty="0">
                <a:solidFill>
                  <a:schemeClr val="tx2"/>
                </a:solidFill>
              </a:rPr>
              <a:t>Good call</a:t>
            </a:r>
            <a:r>
              <a:rPr lang="en-US" altLang="en-US" sz="1800" b="1" dirty="0"/>
              <a:t>:</a:t>
            </a:r>
            <a:r>
              <a:rPr lang="en-US" altLang="en-US" sz="1800" dirty="0"/>
              <a:t> the sizes of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L</a:t>
            </a:r>
            <a:r>
              <a:rPr lang="en-US" altLang="en-US" sz="1800" dirty="0"/>
              <a:t> and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G</a:t>
            </a:r>
            <a:r>
              <a:rPr lang="en-US" altLang="en-US" sz="1800" dirty="0"/>
              <a:t> are each less than </a:t>
            </a:r>
            <a:r>
              <a:rPr lang="en-US" altLang="en-US" sz="1800" dirty="0">
                <a:latin typeface="Times New Roman" panose="02020603050405020304" pitchFamily="18" charset="0"/>
              </a:rPr>
              <a:t>3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s</a:t>
            </a:r>
            <a:r>
              <a:rPr lang="en-US" altLang="en-US" sz="1800" dirty="0">
                <a:latin typeface="Symbol" pitchFamily="2" charset="2"/>
              </a:rPr>
              <a:t>/</a:t>
            </a:r>
            <a:r>
              <a:rPr lang="en-US" altLang="en-US" sz="1800" dirty="0">
                <a:latin typeface="Times New Roman" panose="02020603050405020304" pitchFamily="18" charset="0"/>
              </a:rPr>
              <a:t>4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b="1" dirty="0">
                <a:solidFill>
                  <a:schemeClr val="tx2"/>
                </a:solidFill>
              </a:rPr>
              <a:t>Bad call</a:t>
            </a:r>
            <a:r>
              <a:rPr lang="en-US" altLang="en-US" sz="1800" b="1" dirty="0"/>
              <a:t>:</a:t>
            </a:r>
            <a:r>
              <a:rPr lang="en-US" altLang="en-US" sz="1800" dirty="0"/>
              <a:t> one of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L</a:t>
            </a:r>
            <a:r>
              <a:rPr lang="en-US" altLang="en-US" sz="1800" dirty="0"/>
              <a:t> and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G</a:t>
            </a:r>
            <a:r>
              <a:rPr lang="en-US" altLang="en-US" sz="1800" dirty="0"/>
              <a:t> has size greater than </a:t>
            </a:r>
            <a:r>
              <a:rPr lang="en-US" altLang="en-US" sz="1800" dirty="0">
                <a:latin typeface="Times New Roman" panose="02020603050405020304" pitchFamily="18" charset="0"/>
              </a:rPr>
              <a:t>3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s</a:t>
            </a:r>
            <a:r>
              <a:rPr lang="en-US" altLang="en-US" sz="1800" dirty="0">
                <a:latin typeface="Symbol" pitchFamily="2" charset="2"/>
              </a:rPr>
              <a:t>/</a:t>
            </a:r>
            <a:r>
              <a:rPr lang="en-US" altLang="en-US" sz="1800" dirty="0">
                <a:latin typeface="Times New Roman" panose="02020603050405020304" pitchFamily="18" charset="0"/>
              </a:rPr>
              <a:t>4</a:t>
            </a:r>
            <a:endParaRPr lang="en-US" altLang="en-US" sz="10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A call is </a:t>
            </a:r>
            <a:r>
              <a:rPr lang="en-US" altLang="en-US" sz="2000" dirty="0">
                <a:solidFill>
                  <a:schemeClr val="tx2"/>
                </a:solidFill>
              </a:rPr>
              <a:t>good</a:t>
            </a:r>
            <a:r>
              <a:rPr lang="en-US" altLang="en-US" sz="2000" dirty="0"/>
              <a:t> with probability </a:t>
            </a:r>
            <a:r>
              <a:rPr lang="en-US" altLang="en-US" sz="2000" dirty="0">
                <a:latin typeface="Times New Roman" panose="02020603050405020304" pitchFamily="18" charset="0"/>
              </a:rPr>
              <a:t>1</a:t>
            </a:r>
            <a:r>
              <a:rPr lang="en-US" altLang="en-US" sz="2000" dirty="0">
                <a:latin typeface="Symbol" pitchFamily="2" charset="2"/>
              </a:rPr>
              <a:t>/</a:t>
            </a:r>
            <a:r>
              <a:rPr lang="en-US" altLang="en-US" sz="2000" dirty="0">
                <a:latin typeface="Times New Roman" panose="02020603050405020304" pitchFamily="18" charset="0"/>
              </a:rPr>
              <a:t>2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dirty="0"/>
              <a:t>1/2 of the possible pivots cause good calls:</a:t>
            </a:r>
          </a:p>
        </p:txBody>
      </p:sp>
      <p:sp>
        <p:nvSpPr>
          <p:cNvPr id="26628" name="AutoShape 6">
            <a:extLst>
              <a:ext uri="{FF2B5EF4-FFF2-40B4-BE49-F238E27FC236}">
                <a16:creationId xmlns:a16="http://schemas.microsoft.com/office/drawing/2014/main" id="{78382C52-BB6A-49C7-788C-2C02B98D84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1748" y="3600070"/>
            <a:ext cx="1257300" cy="22542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200"/>
              <a:t>7  9  7</a:t>
            </a:r>
            <a:r>
              <a:rPr lang="en-US" altLang="en-US" sz="1200">
                <a:solidFill>
                  <a:schemeClr val="accent1"/>
                </a:solidFill>
              </a:rPr>
              <a:t>  1  </a:t>
            </a:r>
            <a:r>
              <a:rPr lang="en-US" altLang="en-US" sz="1200" b="1">
                <a:solidFill>
                  <a:schemeClr val="accent1"/>
                </a:solidFill>
                <a:sym typeface="Symbol" pitchFamily="2" charset="2"/>
              </a:rPr>
              <a:t></a:t>
            </a:r>
            <a:r>
              <a:rPr lang="en-US" altLang="en-US" sz="1200">
                <a:solidFill>
                  <a:schemeClr val="accent1"/>
                </a:solidFill>
              </a:rPr>
              <a:t>  1</a:t>
            </a:r>
          </a:p>
        </p:txBody>
      </p:sp>
      <p:sp>
        <p:nvSpPr>
          <p:cNvPr id="26629" name="AutoShape 7">
            <a:extLst>
              <a:ext uri="{FF2B5EF4-FFF2-40B4-BE49-F238E27FC236}">
                <a16:creationId xmlns:a16="http://schemas.microsoft.com/office/drawing/2014/main" id="{16DBDA64-1D7F-7C5F-F57D-C2EDC3AF3D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5511" y="3057145"/>
            <a:ext cx="2392362" cy="22701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200"/>
              <a:t>7  2  9  4 3  7  </a:t>
            </a:r>
            <a:r>
              <a:rPr lang="en-US" altLang="en-US" sz="1200" u="sng">
                <a:solidFill>
                  <a:srgbClr val="000000"/>
                </a:solidFill>
              </a:rPr>
              <a:t>6</a:t>
            </a:r>
            <a:r>
              <a:rPr lang="en-US" altLang="en-US" sz="1200"/>
              <a:t>  1</a:t>
            </a:r>
            <a:r>
              <a:rPr lang="en-US" altLang="en-US" sz="1200">
                <a:solidFill>
                  <a:schemeClr val="accent1"/>
                </a:solidFill>
              </a:rPr>
              <a:t> 9</a:t>
            </a:r>
          </a:p>
        </p:txBody>
      </p:sp>
      <p:cxnSp>
        <p:nvCxnSpPr>
          <p:cNvPr id="26630" name="AutoShape 8">
            <a:extLst>
              <a:ext uri="{FF2B5EF4-FFF2-40B4-BE49-F238E27FC236}">
                <a16:creationId xmlns:a16="http://schemas.microsoft.com/office/drawing/2014/main" id="{7D5292CD-F7AC-B42A-0844-B496AEF722AD}"/>
              </a:ext>
            </a:extLst>
          </p:cNvPr>
          <p:cNvCxnSpPr>
            <a:cxnSpLocks noChangeShapeType="1"/>
            <a:stCxn id="26632" idx="0"/>
            <a:endCxn id="26629" idx="2"/>
          </p:cNvCxnSpPr>
          <p:nvPr/>
        </p:nvCxnSpPr>
        <p:spPr bwMode="auto">
          <a:xfrm flipV="1">
            <a:off x="3303462" y="3288919"/>
            <a:ext cx="1087437" cy="30638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31" name="AutoShape 9">
            <a:extLst>
              <a:ext uri="{FF2B5EF4-FFF2-40B4-BE49-F238E27FC236}">
                <a16:creationId xmlns:a16="http://schemas.microsoft.com/office/drawing/2014/main" id="{207BC96B-37DF-B595-20BB-3C8AA24C8A57}"/>
              </a:ext>
            </a:extLst>
          </p:cNvPr>
          <p:cNvCxnSpPr>
            <a:cxnSpLocks noChangeShapeType="1"/>
            <a:stCxn id="26628" idx="0"/>
            <a:endCxn id="26629" idx="2"/>
          </p:cNvCxnSpPr>
          <p:nvPr/>
        </p:nvCxnSpPr>
        <p:spPr bwMode="auto">
          <a:xfrm flipH="1" flipV="1">
            <a:off x="4392486" y="3293682"/>
            <a:ext cx="1077912" cy="2968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632" name="AutoShape 10">
            <a:extLst>
              <a:ext uri="{FF2B5EF4-FFF2-40B4-BE49-F238E27FC236}">
                <a16:creationId xmlns:a16="http://schemas.microsoft.com/office/drawing/2014/main" id="{E457AAA6-6825-2CF7-32D7-234071AA5F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4811" y="3600070"/>
            <a:ext cx="1257300" cy="22542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200"/>
              <a:t>2  4  3  1 </a:t>
            </a:r>
            <a:endParaRPr lang="en-US" altLang="en-US" sz="1200">
              <a:solidFill>
                <a:schemeClr val="tx2"/>
              </a:solidFill>
            </a:endParaRPr>
          </a:p>
        </p:txBody>
      </p:sp>
      <p:sp>
        <p:nvSpPr>
          <p:cNvPr id="26633" name="Line 11">
            <a:extLst>
              <a:ext uri="{FF2B5EF4-FFF2-40B4-BE49-F238E27FC236}">
                <a16:creationId xmlns:a16="http://schemas.microsoft.com/office/drawing/2014/main" id="{A71DE7EC-2A48-BDC5-5939-6A5AC6850AB0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7486" y="3339719"/>
            <a:ext cx="336550" cy="1206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634" name="Line 12">
            <a:extLst>
              <a:ext uri="{FF2B5EF4-FFF2-40B4-BE49-F238E27FC236}">
                <a16:creationId xmlns:a16="http://schemas.microsoft.com/office/drawing/2014/main" id="{F07ECA09-0F76-0336-C8ED-A1FFBE26FD8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57448" y="3339719"/>
            <a:ext cx="336550" cy="1206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635" name="AutoShape 14">
            <a:extLst>
              <a:ext uri="{FF2B5EF4-FFF2-40B4-BE49-F238E27FC236}">
                <a16:creationId xmlns:a16="http://schemas.microsoft.com/office/drawing/2014/main" id="{59308B02-55E5-CD83-E5DB-8BAB304EA1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4124" y="3581019"/>
            <a:ext cx="1304925" cy="21748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200"/>
              <a:t>7 2 9 4 3 7 6</a:t>
            </a:r>
          </a:p>
        </p:txBody>
      </p:sp>
      <p:sp>
        <p:nvSpPr>
          <p:cNvPr id="26636" name="AutoShape 15">
            <a:extLst>
              <a:ext uri="{FF2B5EF4-FFF2-40B4-BE49-F238E27FC236}">
                <a16:creationId xmlns:a16="http://schemas.microsoft.com/office/drawing/2014/main" id="{47D04497-A193-39BE-38DC-6F07C8D3B3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2311" y="3581019"/>
            <a:ext cx="360362" cy="217488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200"/>
              <a:t>1</a:t>
            </a:r>
          </a:p>
        </p:txBody>
      </p:sp>
      <p:sp>
        <p:nvSpPr>
          <p:cNvPr id="26637" name="AutoShape 16">
            <a:extLst>
              <a:ext uri="{FF2B5EF4-FFF2-40B4-BE49-F238E27FC236}">
                <a16:creationId xmlns:a16="http://schemas.microsoft.com/office/drawing/2014/main" id="{6715586E-79C4-12A1-F835-3E37713703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4386" y="3057145"/>
            <a:ext cx="2482850" cy="21907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200"/>
              <a:t>7  </a:t>
            </a:r>
            <a:r>
              <a:rPr lang="en-US" altLang="en-US" sz="1200" u="sng">
                <a:solidFill>
                  <a:srgbClr val="000000"/>
                </a:solidFill>
              </a:rPr>
              <a:t>2 </a:t>
            </a:r>
            <a:r>
              <a:rPr lang="en-US" altLang="en-US" sz="1200"/>
              <a:t> 9  4 3  7  6  1</a:t>
            </a:r>
            <a:endParaRPr lang="en-US" altLang="en-US" sz="1200" b="1">
              <a:solidFill>
                <a:schemeClr val="accent1"/>
              </a:solidFill>
              <a:sym typeface="Symbol" pitchFamily="2" charset="2"/>
            </a:endParaRPr>
          </a:p>
        </p:txBody>
      </p:sp>
      <p:cxnSp>
        <p:nvCxnSpPr>
          <p:cNvPr id="26638" name="AutoShape 17">
            <a:extLst>
              <a:ext uri="{FF2B5EF4-FFF2-40B4-BE49-F238E27FC236}">
                <a16:creationId xmlns:a16="http://schemas.microsoft.com/office/drawing/2014/main" id="{A5A3811D-0BED-BED1-9515-1A0B5A0C15BD}"/>
              </a:ext>
            </a:extLst>
          </p:cNvPr>
          <p:cNvCxnSpPr>
            <a:cxnSpLocks noChangeShapeType="1"/>
            <a:stCxn id="26636" idx="0"/>
            <a:endCxn id="26637" idx="2"/>
          </p:cNvCxnSpPr>
          <p:nvPr/>
        </p:nvCxnSpPr>
        <p:spPr bwMode="auto">
          <a:xfrm flipV="1">
            <a:off x="6983287" y="3276219"/>
            <a:ext cx="1152525" cy="3048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39" name="AutoShape 18">
            <a:extLst>
              <a:ext uri="{FF2B5EF4-FFF2-40B4-BE49-F238E27FC236}">
                <a16:creationId xmlns:a16="http://schemas.microsoft.com/office/drawing/2014/main" id="{A3DE2760-E47C-7BE7-0EE9-BA4E26D99E3B}"/>
              </a:ext>
            </a:extLst>
          </p:cNvPr>
          <p:cNvCxnSpPr>
            <a:cxnSpLocks noChangeShapeType="1"/>
            <a:stCxn id="26635" idx="0"/>
            <a:endCxn id="26637" idx="2"/>
          </p:cNvCxnSpPr>
          <p:nvPr/>
        </p:nvCxnSpPr>
        <p:spPr bwMode="auto">
          <a:xfrm flipH="1" flipV="1">
            <a:off x="8135812" y="3276219"/>
            <a:ext cx="1120775" cy="3048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640" name="Line 19">
            <a:extLst>
              <a:ext uri="{FF2B5EF4-FFF2-40B4-BE49-F238E27FC236}">
                <a16:creationId xmlns:a16="http://schemas.microsoft.com/office/drawing/2014/main" id="{C3FFC42B-2B31-987B-2800-8F4C4B53BF02}"/>
              </a:ext>
            </a:extLst>
          </p:cNvPr>
          <p:cNvSpPr>
            <a:spLocks noChangeShapeType="1"/>
          </p:cNvSpPr>
          <p:nvPr/>
        </p:nvSpPr>
        <p:spPr bwMode="auto">
          <a:xfrm>
            <a:off x="8886698" y="3361944"/>
            <a:ext cx="336550" cy="1206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641" name="Line 20">
            <a:extLst>
              <a:ext uri="{FF2B5EF4-FFF2-40B4-BE49-F238E27FC236}">
                <a16:creationId xmlns:a16="http://schemas.microsoft.com/office/drawing/2014/main" id="{B43D3462-FE82-9545-AE80-3395CE37EC0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210298" y="3317494"/>
            <a:ext cx="336550" cy="1206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642" name="Text Box 21">
            <a:extLst>
              <a:ext uri="{FF2B5EF4-FFF2-40B4-BE49-F238E27FC236}">
                <a16:creationId xmlns:a16="http://schemas.microsoft.com/office/drawing/2014/main" id="{FB837524-9C02-1903-BD0E-044BA1867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60649" y="3971545"/>
            <a:ext cx="12414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/>
              <a:t>Good call</a:t>
            </a:r>
          </a:p>
        </p:txBody>
      </p:sp>
      <p:sp>
        <p:nvSpPr>
          <p:cNvPr id="26643" name="Text Box 22">
            <a:extLst>
              <a:ext uri="{FF2B5EF4-FFF2-40B4-BE49-F238E27FC236}">
                <a16:creationId xmlns:a16="http://schemas.microsoft.com/office/drawing/2014/main" id="{D66AD835-9947-B0DC-32F8-FA3AA6D6AE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6849" y="3971545"/>
            <a:ext cx="10826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/>
              <a:t>Bad call</a:t>
            </a:r>
          </a:p>
        </p:txBody>
      </p:sp>
      <p:grpSp>
        <p:nvGrpSpPr>
          <p:cNvPr id="26644" name="Group 27">
            <a:extLst>
              <a:ext uri="{FF2B5EF4-FFF2-40B4-BE49-F238E27FC236}">
                <a16:creationId xmlns:a16="http://schemas.microsoft.com/office/drawing/2014/main" id="{188B75AF-E8F1-08DF-94DE-708D02E51657}"/>
              </a:ext>
            </a:extLst>
          </p:cNvPr>
          <p:cNvGrpSpPr>
            <a:grpSpLocks/>
          </p:cNvGrpSpPr>
          <p:nvPr/>
        </p:nvGrpSpPr>
        <p:grpSpPr bwMode="auto">
          <a:xfrm>
            <a:off x="4343400" y="5043488"/>
            <a:ext cx="4343400" cy="381000"/>
            <a:chOff x="1776" y="3264"/>
            <a:chExt cx="2736" cy="240"/>
          </a:xfrm>
        </p:grpSpPr>
        <p:sp>
          <p:nvSpPr>
            <p:cNvPr id="26651" name="AutoShape 25">
              <a:extLst>
                <a:ext uri="{FF2B5EF4-FFF2-40B4-BE49-F238E27FC236}">
                  <a16:creationId xmlns:a16="http://schemas.microsoft.com/office/drawing/2014/main" id="{099EAE7B-CDA9-6BBD-2218-CD485DF8ED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3264"/>
              <a:ext cx="912" cy="240"/>
            </a:xfrm>
            <a:prstGeom prst="roundRect">
              <a:avLst>
                <a:gd name="adj" fmla="val 16667"/>
              </a:avLst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6652" name="AutoShape 24">
              <a:extLst>
                <a:ext uri="{FF2B5EF4-FFF2-40B4-BE49-F238E27FC236}">
                  <a16:creationId xmlns:a16="http://schemas.microsoft.com/office/drawing/2014/main" id="{D402C9C7-260D-6481-6807-E90DAB6DCF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3264"/>
              <a:ext cx="624" cy="240"/>
            </a:xfrm>
            <a:prstGeom prst="roundRect">
              <a:avLst>
                <a:gd name="adj" fmla="val 16667"/>
              </a:avLst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6653" name="Rectangle 26">
              <a:extLst>
                <a:ext uri="{FF2B5EF4-FFF2-40B4-BE49-F238E27FC236}">
                  <a16:creationId xmlns:a16="http://schemas.microsoft.com/office/drawing/2014/main" id="{ED17323C-7ADB-DA09-98E7-3448CCE808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3264"/>
              <a:ext cx="1296" cy="2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6654" name="AutoShape 23">
              <a:extLst>
                <a:ext uri="{FF2B5EF4-FFF2-40B4-BE49-F238E27FC236}">
                  <a16:creationId xmlns:a16="http://schemas.microsoft.com/office/drawing/2014/main" id="{B44F921B-6615-E4D3-3887-920BE4B026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3264"/>
              <a:ext cx="2736" cy="240"/>
            </a:xfrm>
            <a:prstGeom prst="roundRect">
              <a:avLst>
                <a:gd name="adj" fmla="val 16667"/>
              </a:avLst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/>
                <a:t>1 2 3 4 5 6 7 8 9 10 11 12 13 14 15 16</a:t>
              </a:r>
              <a:endParaRPr lang="en-US" altLang="en-US">
                <a:solidFill>
                  <a:schemeClr val="accent1"/>
                </a:solidFill>
              </a:endParaRPr>
            </a:p>
          </p:txBody>
        </p:sp>
      </p:grpSp>
      <p:sp>
        <p:nvSpPr>
          <p:cNvPr id="26645" name="Text Box 28">
            <a:extLst>
              <a:ext uri="{FF2B5EF4-FFF2-40B4-BE49-F238E27FC236}">
                <a16:creationId xmlns:a16="http://schemas.microsoft.com/office/drawing/2014/main" id="{6B1BC7D2-9A0A-31E3-9F44-7377837A12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7989" y="5729288"/>
            <a:ext cx="15462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/>
              <a:t>Good pivots</a:t>
            </a:r>
          </a:p>
        </p:txBody>
      </p:sp>
      <p:sp>
        <p:nvSpPr>
          <p:cNvPr id="26646" name="Text Box 29">
            <a:extLst>
              <a:ext uri="{FF2B5EF4-FFF2-40B4-BE49-F238E27FC236}">
                <a16:creationId xmlns:a16="http://schemas.microsoft.com/office/drawing/2014/main" id="{F58CDC91-41BF-05F8-F4DF-6FC9461A11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1" y="5729288"/>
            <a:ext cx="13874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/>
              <a:t>Bad pivots</a:t>
            </a:r>
          </a:p>
        </p:txBody>
      </p:sp>
      <p:sp>
        <p:nvSpPr>
          <p:cNvPr id="26647" name="Text Box 30">
            <a:extLst>
              <a:ext uri="{FF2B5EF4-FFF2-40B4-BE49-F238E27FC236}">
                <a16:creationId xmlns:a16="http://schemas.microsoft.com/office/drawing/2014/main" id="{DD81EE1B-20B8-ABF9-CE58-82DA287D07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9326" y="5729288"/>
            <a:ext cx="13874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/>
              <a:t>Bad pivots</a:t>
            </a:r>
          </a:p>
        </p:txBody>
      </p:sp>
      <p:sp>
        <p:nvSpPr>
          <p:cNvPr id="26648" name="AutoShape 31">
            <a:extLst>
              <a:ext uri="{FF2B5EF4-FFF2-40B4-BE49-F238E27FC236}">
                <a16:creationId xmlns:a16="http://schemas.microsoft.com/office/drawing/2014/main" id="{274C6F00-1A59-53A4-E61B-31E9B8A83F44}"/>
              </a:ext>
            </a:extLst>
          </p:cNvPr>
          <p:cNvSpPr>
            <a:spLocks/>
          </p:cNvSpPr>
          <p:nvPr/>
        </p:nvSpPr>
        <p:spPr bwMode="auto">
          <a:xfrm rot="-5400000">
            <a:off x="6134100" y="4624388"/>
            <a:ext cx="228600" cy="1981200"/>
          </a:xfrm>
          <a:prstGeom prst="leftBrace">
            <a:avLst>
              <a:gd name="adj1" fmla="val 72222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6649" name="AutoShape 32">
            <a:extLst>
              <a:ext uri="{FF2B5EF4-FFF2-40B4-BE49-F238E27FC236}">
                <a16:creationId xmlns:a16="http://schemas.microsoft.com/office/drawing/2014/main" id="{8A505ADC-034F-C74E-6060-205847053179}"/>
              </a:ext>
            </a:extLst>
          </p:cNvPr>
          <p:cNvSpPr>
            <a:spLocks/>
          </p:cNvSpPr>
          <p:nvPr/>
        </p:nvSpPr>
        <p:spPr bwMode="auto">
          <a:xfrm rot="-5400000">
            <a:off x="4648200" y="5195888"/>
            <a:ext cx="228600" cy="838200"/>
          </a:xfrm>
          <a:prstGeom prst="leftBrace">
            <a:avLst>
              <a:gd name="adj1" fmla="val 30556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6650" name="AutoShape 33">
            <a:extLst>
              <a:ext uri="{FF2B5EF4-FFF2-40B4-BE49-F238E27FC236}">
                <a16:creationId xmlns:a16="http://schemas.microsoft.com/office/drawing/2014/main" id="{494DE799-2E61-E1EB-5860-DABF57661C79}"/>
              </a:ext>
            </a:extLst>
          </p:cNvPr>
          <p:cNvSpPr>
            <a:spLocks/>
          </p:cNvSpPr>
          <p:nvPr/>
        </p:nvSpPr>
        <p:spPr bwMode="auto">
          <a:xfrm rot="-5400000">
            <a:off x="7924800" y="4967288"/>
            <a:ext cx="228600" cy="1295400"/>
          </a:xfrm>
          <a:prstGeom prst="leftBrace">
            <a:avLst>
              <a:gd name="adj1" fmla="val 47222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EF2E5F04-D5F3-C5C3-8BC8-693B264AE0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57400" y="304800"/>
            <a:ext cx="8077200" cy="685800"/>
          </a:xfrm>
        </p:spPr>
        <p:txBody>
          <a:bodyPr/>
          <a:lstStyle/>
          <a:p>
            <a:pPr eaLnBrk="1" hangingPunct="1"/>
            <a:r>
              <a:rPr lang="en-US" altLang="en-US" sz="2400"/>
              <a:t>Expected Running Time (Cont’d)</a:t>
            </a:r>
          </a:p>
        </p:txBody>
      </p:sp>
      <p:sp>
        <p:nvSpPr>
          <p:cNvPr id="27651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AB3DFE75-1F16-BB73-8726-BB120F9D9C9C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1981201" y="1219200"/>
            <a:ext cx="8410575" cy="4876800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000" dirty="0">
                <a:solidFill>
                  <a:srgbClr val="FF0000"/>
                </a:solidFill>
              </a:rPr>
              <a:t>Fact #1</a:t>
            </a:r>
            <a:r>
              <a:rPr lang="en-US" altLang="en-US" sz="2000" dirty="0">
                <a:solidFill>
                  <a:schemeClr val="tx2"/>
                </a:solidFill>
              </a:rPr>
              <a:t>:</a:t>
            </a:r>
            <a:r>
              <a:rPr lang="en-US" altLang="en-US" sz="2000" dirty="0"/>
              <a:t> The expected number of coin tosses required in order to get one head is two</a:t>
            </a:r>
            <a:endParaRPr lang="en-US" altLang="en-US" sz="20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>
                <a:solidFill>
                  <a:srgbClr val="FF0000"/>
                </a:solidFill>
              </a:rPr>
              <a:t>Fact #2</a:t>
            </a:r>
            <a:r>
              <a:rPr lang="en-US" altLang="en-US" sz="2000" dirty="0">
                <a:solidFill>
                  <a:schemeClr val="tx2"/>
                </a:solidFill>
              </a:rPr>
              <a:t>:</a:t>
            </a:r>
            <a:r>
              <a:rPr lang="en-US" altLang="en-US" sz="2000" dirty="0"/>
              <a:t> Expectation is a linear function: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b="1" i="1" dirty="0">
                <a:latin typeface="Times New Roman" panose="02020603050405020304" pitchFamily="18" charset="0"/>
              </a:rPr>
              <a:t>E</a:t>
            </a:r>
            <a:r>
              <a:rPr lang="en-US" altLang="en-US" sz="1800" b="1" dirty="0">
                <a:latin typeface="Times New Roman" panose="02020603050405020304" pitchFamily="18" charset="0"/>
              </a:rPr>
              <a:t>(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X + Y </a:t>
            </a:r>
            <a:r>
              <a:rPr lang="en-US" altLang="en-US" sz="1800" b="1" dirty="0">
                <a:latin typeface="Times New Roman" panose="02020603050405020304" pitchFamily="18" charset="0"/>
              </a:rPr>
              <a:t>) =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E</a:t>
            </a:r>
            <a:r>
              <a:rPr lang="en-US" altLang="en-US" sz="1800" b="1" dirty="0">
                <a:latin typeface="Times New Roman" panose="02020603050405020304" pitchFamily="18" charset="0"/>
              </a:rPr>
              <a:t>(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X </a:t>
            </a:r>
            <a:r>
              <a:rPr lang="en-US" altLang="en-US" sz="1800" b="1" dirty="0">
                <a:latin typeface="Times New Roman" panose="02020603050405020304" pitchFamily="18" charset="0"/>
              </a:rPr>
              <a:t>) +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E</a:t>
            </a:r>
            <a:r>
              <a:rPr lang="en-US" altLang="en-US" sz="1800" b="1" dirty="0">
                <a:latin typeface="Times New Roman" panose="02020603050405020304" pitchFamily="18" charset="0"/>
              </a:rPr>
              <a:t>(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Y </a:t>
            </a:r>
            <a:r>
              <a:rPr lang="en-US" altLang="en-US" sz="1800" b="1" dirty="0">
                <a:latin typeface="Times New Roman" panose="02020603050405020304" pitchFamily="18" charset="0"/>
              </a:rPr>
              <a:t>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b="1" i="1" dirty="0">
                <a:latin typeface="Times New Roman" panose="02020603050405020304" pitchFamily="18" charset="0"/>
              </a:rPr>
              <a:t>E</a:t>
            </a:r>
            <a:r>
              <a:rPr lang="en-US" altLang="en-US" sz="1800" b="1" dirty="0">
                <a:latin typeface="Times New Roman" panose="02020603050405020304" pitchFamily="18" charset="0"/>
              </a:rPr>
              <a:t>(</a:t>
            </a:r>
            <a:r>
              <a:rPr lang="en-US" altLang="en-US" sz="1800" b="1" i="1" dirty="0" err="1">
                <a:latin typeface="Times New Roman" panose="02020603050405020304" pitchFamily="18" charset="0"/>
              </a:rPr>
              <a:t>cX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 </a:t>
            </a:r>
            <a:r>
              <a:rPr lang="en-US" altLang="en-US" sz="1800" b="1" dirty="0">
                <a:latin typeface="Times New Roman" panose="02020603050405020304" pitchFamily="18" charset="0"/>
              </a:rPr>
              <a:t>) = </a:t>
            </a:r>
            <a:r>
              <a:rPr lang="en-US" altLang="en-US" sz="1800" b="1" i="1" dirty="0" err="1">
                <a:latin typeface="Times New Roman" panose="02020603050405020304" pitchFamily="18" charset="0"/>
              </a:rPr>
              <a:t>cE</a:t>
            </a:r>
            <a:r>
              <a:rPr lang="en-US" altLang="en-US" sz="1800" b="1" dirty="0">
                <a:latin typeface="Times New Roman" panose="02020603050405020304" pitchFamily="18" charset="0"/>
              </a:rPr>
              <a:t>(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X </a:t>
            </a:r>
            <a:r>
              <a:rPr lang="en-US" altLang="en-US" sz="1800" b="1" dirty="0">
                <a:latin typeface="Times New Roman" panose="02020603050405020304" pitchFamily="18" charset="0"/>
              </a:rPr>
              <a:t>)</a:t>
            </a:r>
            <a:endParaRPr lang="en-US" altLang="en-US" sz="1800" b="1" i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Let T(n) denote the expected running time of quick-select.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By Fact #2,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i="1" dirty="0">
                <a:latin typeface="Times New Roman" panose="02020603050405020304" pitchFamily="18" charset="0"/>
              </a:rPr>
              <a:t>T</a:t>
            </a:r>
            <a:r>
              <a:rPr lang="en-US" altLang="en-US" sz="2000" dirty="0">
                <a:latin typeface="Times New Roman" panose="02020603050405020304" pitchFamily="18" charset="0"/>
              </a:rPr>
              <a:t>(</a:t>
            </a:r>
            <a:r>
              <a:rPr lang="en-US" altLang="en-US" sz="2000" i="1" dirty="0">
                <a:latin typeface="Times New Roman" panose="02020603050405020304" pitchFamily="18" charset="0"/>
              </a:rPr>
              <a:t>n</a:t>
            </a:r>
            <a:r>
              <a:rPr lang="en-US" altLang="en-US" sz="2000" dirty="0">
                <a:latin typeface="Times New Roman" panose="02020603050405020304" pitchFamily="18" charset="0"/>
              </a:rPr>
              <a:t>) </a:t>
            </a:r>
            <a:r>
              <a:rPr lang="en-US" altLang="en-US" sz="2000" u="sng" dirty="0">
                <a:latin typeface="Times New Roman" panose="02020603050405020304" pitchFamily="18" charset="0"/>
              </a:rPr>
              <a:t>&lt;</a:t>
            </a:r>
            <a:r>
              <a:rPr lang="en-US" altLang="en-US" sz="2000" dirty="0">
                <a:latin typeface="Times New Roman" panose="02020603050405020304" pitchFamily="18" charset="0"/>
              </a:rPr>
              <a:t> </a:t>
            </a:r>
            <a:r>
              <a:rPr lang="en-US" altLang="en-US" sz="2000" i="1" dirty="0">
                <a:latin typeface="Times New Roman" panose="02020603050405020304" pitchFamily="18" charset="0"/>
              </a:rPr>
              <a:t>T</a:t>
            </a:r>
            <a:r>
              <a:rPr lang="en-US" altLang="en-US" sz="2000" dirty="0">
                <a:latin typeface="Times New Roman" panose="02020603050405020304" pitchFamily="18" charset="0"/>
              </a:rPr>
              <a:t>(3</a:t>
            </a:r>
            <a:r>
              <a:rPr lang="en-US" altLang="en-US" sz="2000" i="1" dirty="0">
                <a:latin typeface="Times New Roman" panose="02020603050405020304" pitchFamily="18" charset="0"/>
              </a:rPr>
              <a:t>n</a:t>
            </a:r>
            <a:r>
              <a:rPr lang="en-US" altLang="en-US" sz="2000" dirty="0">
                <a:latin typeface="Times New Roman" panose="02020603050405020304" pitchFamily="18" charset="0"/>
              </a:rPr>
              <a:t>/4) + </a:t>
            </a:r>
            <a:r>
              <a:rPr lang="en-US" altLang="en-US" sz="2000" i="1" dirty="0">
                <a:latin typeface="Times New Roman" panose="02020603050405020304" pitchFamily="18" charset="0"/>
              </a:rPr>
              <a:t>bn</a:t>
            </a:r>
            <a:r>
              <a:rPr lang="en-US" altLang="en-US" sz="2000" dirty="0">
                <a:latin typeface="Times New Roman" panose="02020603050405020304" pitchFamily="18" charset="0"/>
              </a:rPr>
              <a:t>* (n*: expected # of calls before a good call)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By Fact #1,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i="1" dirty="0">
                <a:latin typeface="Times New Roman" panose="02020603050405020304" pitchFamily="18" charset="0"/>
              </a:rPr>
              <a:t>T</a:t>
            </a:r>
            <a:r>
              <a:rPr lang="en-US" altLang="en-US" sz="2000" dirty="0">
                <a:latin typeface="Times New Roman" panose="02020603050405020304" pitchFamily="18" charset="0"/>
              </a:rPr>
              <a:t>(</a:t>
            </a:r>
            <a:r>
              <a:rPr lang="en-US" altLang="en-US" sz="2000" i="1" dirty="0">
                <a:latin typeface="Times New Roman" panose="02020603050405020304" pitchFamily="18" charset="0"/>
              </a:rPr>
              <a:t>n</a:t>
            </a:r>
            <a:r>
              <a:rPr lang="en-US" altLang="en-US" sz="2000" dirty="0">
                <a:latin typeface="Times New Roman" panose="02020603050405020304" pitchFamily="18" charset="0"/>
              </a:rPr>
              <a:t>) </a:t>
            </a:r>
            <a:r>
              <a:rPr lang="en-US" altLang="en-US" sz="2000" u="sng" dirty="0">
                <a:latin typeface="Times New Roman" panose="02020603050405020304" pitchFamily="18" charset="0"/>
              </a:rPr>
              <a:t>&lt;</a:t>
            </a:r>
            <a:r>
              <a:rPr lang="en-US" altLang="en-US" sz="2000" dirty="0">
                <a:latin typeface="Times New Roman" panose="02020603050405020304" pitchFamily="18" charset="0"/>
              </a:rPr>
              <a:t> </a:t>
            </a:r>
            <a:r>
              <a:rPr lang="en-US" altLang="en-US" sz="2000" i="1" dirty="0">
                <a:latin typeface="Times New Roman" panose="02020603050405020304" pitchFamily="18" charset="0"/>
              </a:rPr>
              <a:t>T</a:t>
            </a:r>
            <a:r>
              <a:rPr lang="en-US" altLang="en-US" sz="2000" dirty="0">
                <a:latin typeface="Times New Roman" panose="02020603050405020304" pitchFamily="18" charset="0"/>
              </a:rPr>
              <a:t>(3</a:t>
            </a:r>
            <a:r>
              <a:rPr lang="en-US" altLang="en-US" sz="2000" i="1" dirty="0">
                <a:latin typeface="Times New Roman" panose="02020603050405020304" pitchFamily="18" charset="0"/>
              </a:rPr>
              <a:t>n</a:t>
            </a:r>
            <a:r>
              <a:rPr lang="en-US" altLang="en-US" sz="2000" dirty="0">
                <a:latin typeface="Times New Roman" panose="02020603050405020304" pitchFamily="18" charset="0"/>
              </a:rPr>
              <a:t>/4) + 2</a:t>
            </a:r>
            <a:r>
              <a:rPr lang="en-US" altLang="en-US" sz="2000" i="1" dirty="0">
                <a:latin typeface="Times New Roman" panose="02020603050405020304" pitchFamily="18" charset="0"/>
              </a:rPr>
              <a:t>bn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That is, T(n) is a geometric series: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i="1" dirty="0">
                <a:latin typeface="Times New Roman" panose="02020603050405020304" pitchFamily="18" charset="0"/>
              </a:rPr>
              <a:t>T</a:t>
            </a:r>
            <a:r>
              <a:rPr lang="en-US" altLang="en-US" sz="2000" dirty="0">
                <a:latin typeface="Times New Roman" panose="02020603050405020304" pitchFamily="18" charset="0"/>
              </a:rPr>
              <a:t>(</a:t>
            </a:r>
            <a:r>
              <a:rPr lang="en-US" altLang="en-US" sz="2000" i="1" dirty="0">
                <a:latin typeface="Times New Roman" panose="02020603050405020304" pitchFamily="18" charset="0"/>
              </a:rPr>
              <a:t>n</a:t>
            </a:r>
            <a:r>
              <a:rPr lang="en-US" altLang="en-US" sz="2000" dirty="0">
                <a:latin typeface="Times New Roman" panose="02020603050405020304" pitchFamily="18" charset="0"/>
              </a:rPr>
              <a:t>) </a:t>
            </a:r>
            <a:r>
              <a:rPr lang="en-US" altLang="en-US" sz="2000" u="sng" dirty="0">
                <a:latin typeface="Times New Roman" panose="02020603050405020304" pitchFamily="18" charset="0"/>
              </a:rPr>
              <a:t>&lt;</a:t>
            </a:r>
            <a:r>
              <a:rPr lang="en-US" altLang="en-US" sz="2000" dirty="0">
                <a:latin typeface="Times New Roman" panose="02020603050405020304" pitchFamily="18" charset="0"/>
              </a:rPr>
              <a:t> 2</a:t>
            </a:r>
            <a:r>
              <a:rPr lang="en-US" altLang="en-US" sz="2000" i="1" dirty="0">
                <a:latin typeface="Times New Roman" panose="02020603050405020304" pitchFamily="18" charset="0"/>
              </a:rPr>
              <a:t>bn + 2b</a:t>
            </a:r>
            <a:r>
              <a:rPr lang="en-US" altLang="en-US" sz="2000" dirty="0">
                <a:latin typeface="Times New Roman" panose="02020603050405020304" pitchFamily="18" charset="0"/>
              </a:rPr>
              <a:t>(3/4)</a:t>
            </a:r>
            <a:r>
              <a:rPr lang="en-US" altLang="en-US" sz="2000" i="1" dirty="0">
                <a:latin typeface="Times New Roman" panose="02020603050405020304" pitchFamily="18" charset="0"/>
              </a:rPr>
              <a:t>n + 2b</a:t>
            </a:r>
            <a:r>
              <a:rPr lang="en-US" altLang="en-US" sz="2000" dirty="0">
                <a:latin typeface="Times New Roman" panose="02020603050405020304" pitchFamily="18" charset="0"/>
              </a:rPr>
              <a:t>(3/4)</a:t>
            </a:r>
            <a:r>
              <a:rPr lang="en-US" altLang="en-US" sz="2000" baseline="30000" dirty="0">
                <a:latin typeface="Times New Roman" panose="02020603050405020304" pitchFamily="18" charset="0"/>
              </a:rPr>
              <a:t>2</a:t>
            </a:r>
            <a:r>
              <a:rPr lang="en-US" altLang="en-US" sz="2000" i="1" dirty="0">
                <a:latin typeface="Times New Roman" panose="02020603050405020304" pitchFamily="18" charset="0"/>
              </a:rPr>
              <a:t>n + 2b</a:t>
            </a:r>
            <a:r>
              <a:rPr lang="en-US" altLang="en-US" sz="2000" dirty="0">
                <a:latin typeface="Times New Roman" panose="02020603050405020304" pitchFamily="18" charset="0"/>
              </a:rPr>
              <a:t>(3/4)</a:t>
            </a:r>
            <a:r>
              <a:rPr lang="en-US" altLang="en-US" sz="2000" baseline="30000" dirty="0">
                <a:latin typeface="Times New Roman" panose="02020603050405020304" pitchFamily="18" charset="0"/>
              </a:rPr>
              <a:t>3</a:t>
            </a:r>
            <a:r>
              <a:rPr lang="en-US" altLang="en-US" sz="2000" i="1" dirty="0">
                <a:latin typeface="Times New Roman" panose="02020603050405020304" pitchFamily="18" charset="0"/>
              </a:rPr>
              <a:t>n + …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So T(n) is O(n).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We can solve the selection problem in O(n) expected time.</a:t>
            </a:r>
            <a:endParaRPr lang="en-US" altLang="en-US" sz="2400" i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36</TotalTime>
  <Words>1970</Words>
  <Application>Microsoft Office PowerPoint</Application>
  <PresentationFormat>Widescreen</PresentationFormat>
  <Paragraphs>246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Aptos</vt:lpstr>
      <vt:lpstr>Arial</vt:lpstr>
      <vt:lpstr>Symbol</vt:lpstr>
      <vt:lpstr>Times New Roman</vt:lpstr>
      <vt:lpstr>Trebuchet MS</vt:lpstr>
      <vt:lpstr>Wingdings</vt:lpstr>
      <vt:lpstr>Wingdings 3</vt:lpstr>
      <vt:lpstr>Facet</vt:lpstr>
      <vt:lpstr>CS535: Algorithm Design and Analysis    Bucket-Sort, Radix-Sort, and Selection</vt:lpstr>
      <vt:lpstr>Bucket-Sort</vt:lpstr>
      <vt:lpstr>Example</vt:lpstr>
      <vt:lpstr>Properties and Extensions</vt:lpstr>
      <vt:lpstr>Lexicographic Order</vt:lpstr>
      <vt:lpstr>Lexicographic-Sort</vt:lpstr>
      <vt:lpstr>Radix-Sort</vt:lpstr>
      <vt:lpstr>Radix-Sort for Binary Numbers</vt:lpstr>
      <vt:lpstr>Example</vt:lpstr>
      <vt:lpstr>The Selection Problem</vt:lpstr>
      <vt:lpstr>Quick-Select</vt:lpstr>
      <vt:lpstr>Partition</vt:lpstr>
      <vt:lpstr>Quick-Select Visualization</vt:lpstr>
      <vt:lpstr>Expected Running Time</vt:lpstr>
      <vt:lpstr>Expected Running Time (Cont’d)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Singh, Rohit (singh2ro)</dc:creator>
  <cp:lastModifiedBy>Singh, Rohit (singh2ro)</cp:lastModifiedBy>
  <cp:revision>2</cp:revision>
  <dcterms:created xsi:type="dcterms:W3CDTF">2024-10-30T05:30:30Z</dcterms:created>
  <dcterms:modified xsi:type="dcterms:W3CDTF">2024-10-30T17:46:04Z</dcterms:modified>
</cp:coreProperties>
</file>