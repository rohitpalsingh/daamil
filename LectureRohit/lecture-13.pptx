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94" r:id="rId4"/>
    <p:sldId id="259" r:id="rId5"/>
    <p:sldId id="260" r:id="rId6"/>
    <p:sldId id="261" r:id="rId7"/>
    <p:sldId id="271" r:id="rId8"/>
    <p:sldId id="272" r:id="rId9"/>
    <p:sldId id="273" r:id="rId10"/>
    <p:sldId id="274" r:id="rId11"/>
    <p:sldId id="275" r:id="rId12"/>
    <p:sldId id="276" r:id="rId13"/>
    <p:sldId id="283" r:id="rId14"/>
    <p:sldId id="284" r:id="rId15"/>
    <p:sldId id="285" r:id="rId16"/>
    <p:sldId id="286" r:id="rId17"/>
    <p:sldId id="289" r:id="rId18"/>
    <p:sldId id="290" r:id="rId19"/>
    <p:sldId id="291" r:id="rId20"/>
    <p:sldId id="292" r:id="rId21"/>
    <p:sldId id="29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91477-BFCC-4028-8165-0B3025EB0696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4BB75-DEBF-4E78-B98D-49B162442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8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2006DD92-E49B-D4AE-095D-CA95BF4E1B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42092D40-F5C2-591F-861D-9419A6617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50C6C082-843E-7838-9146-14426CD1B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60C9DA-EC78-8A46-8A61-A5954E81D7F7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1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3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0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5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7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6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4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5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8793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60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552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86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1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2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65DDA-E5E7-49FC-80E0-BA2116DF754E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807ED7-26E0-45F2-93E8-FC8635A1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9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8BAECB6-3C9A-6B20-CC08-CD7248C564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/>
              <a:t>Merge-Sort and Quick-Sort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DF39FA1-C53E-1289-0B6B-7317CE9465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March 5,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1E609F37-A9D7-7A03-9D67-010A8A8A1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4.1, 4.3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D85D63-CC73-73B1-B390-548B92437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Divide-and-Conquer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F2F401B-51C7-7130-1ADC-AB151865315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362201" y="1219200"/>
            <a:ext cx="7579659" cy="49530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2"/>
                </a:solidFill>
              </a:rPr>
              <a:t>Divide-and-conquer</a:t>
            </a:r>
            <a:r>
              <a:rPr lang="en-US" altLang="en-US" sz="2400" dirty="0"/>
              <a:t> is a general algorithm design strategy:</a:t>
            </a:r>
          </a:p>
          <a:p>
            <a:pPr lvl="1" eaLnBrk="1" hangingPunct="1"/>
            <a:r>
              <a:rPr lang="en-US" altLang="en-US" sz="2000" b="1" dirty="0">
                <a:solidFill>
                  <a:schemeClr val="tx2"/>
                </a:solidFill>
              </a:rPr>
              <a:t>Divide</a:t>
            </a:r>
            <a:r>
              <a:rPr lang="en-US" altLang="en-US" sz="2000" dirty="0"/>
              <a:t>: divide the input data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in two disjoint subsets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endParaRPr lang="en-US" altLang="en-US" sz="2000" dirty="0"/>
          </a:p>
          <a:p>
            <a:pPr lvl="1" eaLnBrk="1" hangingPunct="1"/>
            <a:r>
              <a:rPr lang="en-US" altLang="en-US" sz="2000" b="1" dirty="0">
                <a:solidFill>
                  <a:schemeClr val="tx2"/>
                </a:solidFill>
              </a:rPr>
              <a:t>Recur</a:t>
            </a:r>
            <a:r>
              <a:rPr lang="en-US" altLang="en-US" sz="2000" dirty="0"/>
              <a:t>: solve the subproblems associated with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endParaRPr lang="en-US" altLang="en-US" sz="2000" dirty="0"/>
          </a:p>
          <a:p>
            <a:pPr lvl="1" eaLnBrk="1" hangingPunct="1"/>
            <a:r>
              <a:rPr lang="en-US" altLang="en-US" sz="2000" b="1" dirty="0">
                <a:solidFill>
                  <a:schemeClr val="tx2"/>
                </a:solidFill>
              </a:rPr>
              <a:t>Conquer</a:t>
            </a:r>
            <a:r>
              <a:rPr lang="en-US" altLang="en-US" sz="2000" dirty="0"/>
              <a:t>: combine the solutions for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/>
              <a:t> into a solution for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</a:p>
          <a:p>
            <a:pPr lvl="1"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en-US" sz="1600" b="1" i="1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en-US" sz="16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400" dirty="0"/>
              <a:t>The base case for the recursion are subproblems of size 0 or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9D85D63-CC73-73B1-B390-548B92437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Divide-and-Conquer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F0A2EE69-3CC3-5B8F-8614-7B711F46805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29971" y="1295400"/>
            <a:ext cx="7732059" cy="4572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Like heap-sort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uses a comparator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has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running 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Unlike heap-sort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does not use a priority queue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It accesses data in a sequential manner (suitable to sort data on a disk)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AAFBCA52-8FF0-11DB-BF64-546C4A8CC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293422"/>
            <a:ext cx="3962400" cy="300082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1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PQ-Sort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, comparator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for the elements of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4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400" dirty="0"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sorted  in increasing order according to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priority queue with 		comparator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S.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  <a:endParaRPr lang="en-US" altLang="en-US" sz="1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algn="l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P.insertItem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P.isEmpty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P.removeMin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1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algn="l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852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B36ED85-A0F9-0E2B-E67E-2AB6EF803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Merge-Sort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D1D2643-840A-46F4-90F1-159B4E70574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676400"/>
            <a:ext cx="38100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Merge-sort on an input sequence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elements consists of three steps: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Divide</a:t>
            </a:r>
            <a:r>
              <a:rPr lang="en-US" altLang="en-US" sz="1800"/>
              <a:t>: partition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into two sequences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of about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/>
              <a:t> elements each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Recur</a:t>
            </a:r>
            <a:r>
              <a:rPr lang="en-US" altLang="en-US" sz="1800"/>
              <a:t>: recursively sort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Conquer</a:t>
            </a:r>
            <a:r>
              <a:rPr lang="en-US" altLang="en-US" sz="1800"/>
              <a:t>: merge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 baseline="-25000">
                <a:latin typeface="Times New Roman" panose="02020603050405020304" pitchFamily="18" charset="0"/>
              </a:rPr>
              <a:t>2 </a:t>
            </a:r>
            <a:r>
              <a:rPr lang="en-US" altLang="en-US" sz="1800"/>
              <a:t>into a unique sorted sequence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288500AA-AAA1-4429-7C9B-F0F224812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676401"/>
            <a:ext cx="4038600" cy="33004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with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					elements, comparator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</a:t>
            </a:r>
          </a:p>
          <a:p>
            <a:pPr lvl="1" algn="l" eaLnBrk="1" hangingPunct="1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according to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S.size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() </a:t>
            </a: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&gt;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partition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/2)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C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C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merge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S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20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0815066-2675-CEC8-B2E1-F100607BC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Merging Two Sorted Sequences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D258DFE-2B5E-48EA-1492-468083BD91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524000"/>
            <a:ext cx="3124200" cy="4724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conquer step of merge-sort consists of merging two sorted sequences </a:t>
            </a:r>
            <a:r>
              <a:rPr lang="en-US" altLang="en-US" sz="2000" b="1" i="1">
                <a:latin typeface="Times New Roman" panose="02020603050405020304" pitchFamily="18" charset="0"/>
              </a:rPr>
              <a:t>A </a:t>
            </a:r>
            <a:r>
              <a:rPr lang="en-US" altLang="en-US" sz="2000"/>
              <a:t>and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 into a sorted sequence </a:t>
            </a:r>
            <a:r>
              <a:rPr lang="en-US" altLang="en-US" sz="2000" b="1" i="1">
                <a:latin typeface="Times New Roman" panose="02020603050405020304" pitchFamily="18" charset="0"/>
              </a:rPr>
              <a:t>S </a:t>
            </a:r>
            <a:r>
              <a:rPr lang="en-US" altLang="en-US" sz="2000"/>
              <a:t>containing the union of the elements of </a:t>
            </a:r>
            <a:r>
              <a:rPr lang="en-US" altLang="en-US" sz="2000" b="1" i="1">
                <a:latin typeface="Times New Roman" panose="02020603050405020304" pitchFamily="18" charset="0"/>
              </a:rPr>
              <a:t>A </a:t>
            </a:r>
            <a:r>
              <a:rPr lang="en-US" altLang="en-US" sz="2000"/>
              <a:t>and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Merging two sorted sequences, each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Symbol" pitchFamily="2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/>
              <a:t> elements and implemented by means of a doubly linked list, takes 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6EF8C970-7452-DE41-2E25-CDD982158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587500"/>
            <a:ext cx="4876800" cy="4624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merge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A, B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sequences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and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with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/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2 elements each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sorted sequence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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B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  </a:t>
            </a:r>
            <a:r>
              <a:rPr lang="en-US" altLang="en-US" sz="20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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.element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3E6F418-ABE4-2B0A-7470-DEF77004C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Merge-Sort Tree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1E82351-B6BB-EFFD-4C41-E88959E62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371601"/>
            <a:ext cx="8077200" cy="2200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An execution of merge-sort is depicted by a binary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node represents a recursive call of merge-sort and stores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unsorted sequence before the execution and its partition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sorted sequence at the end of the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root is the initial call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leaves are calls on subsequences of size 0 or 1</a:t>
            </a:r>
          </a:p>
        </p:txBody>
      </p:sp>
      <p:sp>
        <p:nvSpPr>
          <p:cNvPr id="21508" name="AutoShape 4">
            <a:extLst>
              <a:ext uri="{FF2B5EF4-FFF2-40B4-BE49-F238E27FC236}">
                <a16:creationId xmlns:a16="http://schemas.microsoft.com/office/drawing/2014/main" id="{F53D2531-F76E-938E-AB24-0A7ED97A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10000"/>
            <a:ext cx="3657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7  2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 sz="2400">
                <a:latin typeface="Tahoma" panose="020B0604030504040204" pitchFamily="34" charset="0"/>
              </a:rPr>
              <a:t> 9  4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2  4  7  9</a:t>
            </a:r>
          </a:p>
        </p:txBody>
      </p:sp>
      <p:sp>
        <p:nvSpPr>
          <p:cNvPr id="21509" name="AutoShape 5">
            <a:extLst>
              <a:ext uri="{FF2B5EF4-FFF2-40B4-BE49-F238E27FC236}">
                <a16:creationId xmlns:a16="http://schemas.microsoft.com/office/drawing/2014/main" id="{2ADE9A3E-8A38-8ED8-B6B8-B7658410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724400"/>
            <a:ext cx="2133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 sz="2400">
                <a:latin typeface="Tahoma" panose="020B0604030504040204" pitchFamily="34" charset="0"/>
              </a:rPr>
              <a:t> 2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2  7</a:t>
            </a:r>
          </a:p>
        </p:txBody>
      </p:sp>
      <p:sp>
        <p:nvSpPr>
          <p:cNvPr id="21510" name="AutoShape 6">
            <a:extLst>
              <a:ext uri="{FF2B5EF4-FFF2-40B4-BE49-F238E27FC236}">
                <a16:creationId xmlns:a16="http://schemas.microsoft.com/office/drawing/2014/main" id="{6D695C7D-5253-03EE-FFB6-97294B54B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24400"/>
            <a:ext cx="2133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 sz="2400">
                <a:latin typeface="Tahoma" panose="020B0604030504040204" pitchFamily="34" charset="0"/>
              </a:rPr>
              <a:t> 4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4  9</a:t>
            </a:r>
          </a:p>
        </p:txBody>
      </p:sp>
      <p:sp>
        <p:nvSpPr>
          <p:cNvPr id="21511" name="AutoShape 7">
            <a:extLst>
              <a:ext uri="{FF2B5EF4-FFF2-40B4-BE49-F238E27FC236}">
                <a16:creationId xmlns:a16="http://schemas.microsoft.com/office/drawing/2014/main" id="{D1E238AB-0C39-3C42-A0CF-61B1D7397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5638800"/>
            <a:ext cx="102870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1512" name="AutoShape 8">
            <a:extLst>
              <a:ext uri="{FF2B5EF4-FFF2-40B4-BE49-F238E27FC236}">
                <a16:creationId xmlns:a16="http://schemas.microsoft.com/office/drawing/2014/main" id="{2AA3ABCE-CCC9-39AD-B35B-32ACF3762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638800"/>
            <a:ext cx="99060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2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1513" name="AutoShape 9">
            <a:extLst>
              <a:ext uri="{FF2B5EF4-FFF2-40B4-BE49-F238E27FC236}">
                <a16:creationId xmlns:a16="http://schemas.microsoft.com/office/drawing/2014/main" id="{EF419FBE-1F81-5416-F466-7C4156E48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5638800"/>
            <a:ext cx="1009650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9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1514" name="AutoShape 10">
            <a:extLst>
              <a:ext uri="{FF2B5EF4-FFF2-40B4-BE49-F238E27FC236}">
                <a16:creationId xmlns:a16="http://schemas.microsoft.com/office/drawing/2014/main" id="{5552D03B-B9A3-AD66-2B01-832893FF3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1" y="5638800"/>
            <a:ext cx="981075" cy="6096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4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4</a:t>
            </a:r>
          </a:p>
        </p:txBody>
      </p:sp>
      <p:cxnSp>
        <p:nvCxnSpPr>
          <p:cNvPr id="21515" name="AutoShape 11">
            <a:extLst>
              <a:ext uri="{FF2B5EF4-FFF2-40B4-BE49-F238E27FC236}">
                <a16:creationId xmlns:a16="http://schemas.microsoft.com/office/drawing/2014/main" id="{ACFA5FFB-EA52-257B-ECDA-A24C89187C84}"/>
              </a:ext>
            </a:extLst>
          </p:cNvPr>
          <p:cNvCxnSpPr>
            <a:cxnSpLocks noChangeShapeType="1"/>
            <a:stCxn id="21509" idx="0"/>
            <a:endCxn id="21508" idx="2"/>
          </p:cNvCxnSpPr>
          <p:nvPr/>
        </p:nvCxnSpPr>
        <p:spPr bwMode="auto">
          <a:xfrm flipV="1">
            <a:off x="4572000" y="4429125"/>
            <a:ext cx="15240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2">
            <a:extLst>
              <a:ext uri="{FF2B5EF4-FFF2-40B4-BE49-F238E27FC236}">
                <a16:creationId xmlns:a16="http://schemas.microsoft.com/office/drawing/2014/main" id="{63060A05-BEDD-FD9E-93AB-1BC813F1FECB}"/>
              </a:ext>
            </a:extLst>
          </p:cNvPr>
          <p:cNvCxnSpPr>
            <a:cxnSpLocks noChangeShapeType="1"/>
            <a:stCxn id="21510" idx="0"/>
            <a:endCxn id="21508" idx="2"/>
          </p:cNvCxnSpPr>
          <p:nvPr/>
        </p:nvCxnSpPr>
        <p:spPr bwMode="auto">
          <a:xfrm flipH="1" flipV="1">
            <a:off x="6096000" y="4429125"/>
            <a:ext cx="15240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3">
            <a:extLst>
              <a:ext uri="{FF2B5EF4-FFF2-40B4-BE49-F238E27FC236}">
                <a16:creationId xmlns:a16="http://schemas.microsoft.com/office/drawing/2014/main" id="{5DEE7AD1-42E0-6792-18DF-2A06C77E15A6}"/>
              </a:ext>
            </a:extLst>
          </p:cNvPr>
          <p:cNvCxnSpPr>
            <a:cxnSpLocks noChangeShapeType="1"/>
            <a:stCxn id="21511" idx="0"/>
            <a:endCxn id="21509" idx="2"/>
          </p:cNvCxnSpPr>
          <p:nvPr/>
        </p:nvCxnSpPr>
        <p:spPr bwMode="auto">
          <a:xfrm flipV="1">
            <a:off x="3905250" y="5343525"/>
            <a:ext cx="6667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4">
            <a:extLst>
              <a:ext uri="{FF2B5EF4-FFF2-40B4-BE49-F238E27FC236}">
                <a16:creationId xmlns:a16="http://schemas.microsoft.com/office/drawing/2014/main" id="{603FD3BF-BC1A-DEB3-FB73-C1E27470438E}"/>
              </a:ext>
            </a:extLst>
          </p:cNvPr>
          <p:cNvCxnSpPr>
            <a:cxnSpLocks noChangeShapeType="1"/>
            <a:stCxn id="21513" idx="0"/>
            <a:endCxn id="21510" idx="2"/>
          </p:cNvCxnSpPr>
          <p:nvPr/>
        </p:nvCxnSpPr>
        <p:spPr bwMode="auto">
          <a:xfrm flipV="1">
            <a:off x="6934200" y="5343525"/>
            <a:ext cx="6858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5">
            <a:extLst>
              <a:ext uri="{FF2B5EF4-FFF2-40B4-BE49-F238E27FC236}">
                <a16:creationId xmlns:a16="http://schemas.microsoft.com/office/drawing/2014/main" id="{C5F1E841-273C-8677-6E8D-2AB3F2C0701C}"/>
              </a:ext>
            </a:extLst>
          </p:cNvPr>
          <p:cNvCxnSpPr>
            <a:cxnSpLocks noChangeShapeType="1"/>
            <a:stCxn id="21509" idx="2"/>
            <a:endCxn id="21512" idx="0"/>
          </p:cNvCxnSpPr>
          <p:nvPr/>
        </p:nvCxnSpPr>
        <p:spPr bwMode="auto">
          <a:xfrm>
            <a:off x="4572000" y="5343525"/>
            <a:ext cx="72390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6">
            <a:extLst>
              <a:ext uri="{FF2B5EF4-FFF2-40B4-BE49-F238E27FC236}">
                <a16:creationId xmlns:a16="http://schemas.microsoft.com/office/drawing/2014/main" id="{36DCF5A1-94AC-D461-84B4-8CF673D40C1D}"/>
              </a:ext>
            </a:extLst>
          </p:cNvPr>
          <p:cNvCxnSpPr>
            <a:cxnSpLocks noChangeShapeType="1"/>
            <a:stCxn id="21510" idx="2"/>
            <a:endCxn id="21514" idx="0"/>
          </p:cNvCxnSpPr>
          <p:nvPr/>
        </p:nvCxnSpPr>
        <p:spPr bwMode="auto">
          <a:xfrm>
            <a:off x="7620000" y="5343525"/>
            <a:ext cx="719138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BD29C67-359B-F6A2-27B0-62099A33A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Execution Example</a:t>
            </a:r>
          </a:p>
        </p:txBody>
      </p:sp>
      <p:cxnSp>
        <p:nvCxnSpPr>
          <p:cNvPr id="22531" name="AutoShape 4">
            <a:extLst>
              <a:ext uri="{FF2B5EF4-FFF2-40B4-BE49-F238E27FC236}">
                <a16:creationId xmlns:a16="http://schemas.microsoft.com/office/drawing/2014/main" id="{1E7F46B8-82CC-594F-336C-736F95532B54}"/>
              </a:ext>
            </a:extLst>
          </p:cNvPr>
          <p:cNvCxnSpPr>
            <a:cxnSpLocks noChangeShapeType="1"/>
            <a:stCxn id="22539" idx="0"/>
            <a:endCxn id="22537" idx="2"/>
          </p:cNvCxnSpPr>
          <p:nvPr/>
        </p:nvCxnSpPr>
        <p:spPr bwMode="auto">
          <a:xfrm flipV="1">
            <a:off x="2808289" y="35210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2" name="AutoShape 5">
            <a:extLst>
              <a:ext uri="{FF2B5EF4-FFF2-40B4-BE49-F238E27FC236}">
                <a16:creationId xmlns:a16="http://schemas.microsoft.com/office/drawing/2014/main" id="{242CF246-2C58-7282-E8E5-C8F3757131B4}"/>
              </a:ext>
            </a:extLst>
          </p:cNvPr>
          <p:cNvCxnSpPr>
            <a:cxnSpLocks noChangeShapeType="1"/>
            <a:stCxn id="22540" idx="0"/>
            <a:endCxn id="22537" idx="2"/>
          </p:cNvCxnSpPr>
          <p:nvPr/>
        </p:nvCxnSpPr>
        <p:spPr bwMode="auto">
          <a:xfrm flipH="1" flipV="1">
            <a:off x="3876675" y="3521075"/>
            <a:ext cx="109855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3" name="AutoShape 6">
            <a:extLst>
              <a:ext uri="{FF2B5EF4-FFF2-40B4-BE49-F238E27FC236}">
                <a16:creationId xmlns:a16="http://schemas.microsoft.com/office/drawing/2014/main" id="{9CB80CA0-4CC5-8FCE-5D9D-3D4A77216506}"/>
              </a:ext>
            </a:extLst>
          </p:cNvPr>
          <p:cNvCxnSpPr>
            <a:cxnSpLocks noChangeShapeType="1"/>
            <a:stCxn id="22543" idx="0"/>
            <a:endCxn id="22539" idx="2"/>
          </p:cNvCxnSpPr>
          <p:nvPr/>
        </p:nvCxnSpPr>
        <p:spPr bwMode="auto">
          <a:xfrm flipV="1">
            <a:off x="2341564" y="45466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4" name="AutoShape 7">
            <a:extLst>
              <a:ext uri="{FF2B5EF4-FFF2-40B4-BE49-F238E27FC236}">
                <a16:creationId xmlns:a16="http://schemas.microsoft.com/office/drawing/2014/main" id="{E8E4E9AC-2C5A-8D32-6845-66D87E1AD062}"/>
              </a:ext>
            </a:extLst>
          </p:cNvPr>
          <p:cNvCxnSpPr>
            <a:cxnSpLocks noChangeShapeType="1"/>
            <a:stCxn id="22545" idx="0"/>
            <a:endCxn id="22540" idx="2"/>
          </p:cNvCxnSpPr>
          <p:nvPr/>
        </p:nvCxnSpPr>
        <p:spPr bwMode="auto">
          <a:xfrm flipV="1">
            <a:off x="4464051" y="45466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5" name="AutoShape 8">
            <a:extLst>
              <a:ext uri="{FF2B5EF4-FFF2-40B4-BE49-F238E27FC236}">
                <a16:creationId xmlns:a16="http://schemas.microsoft.com/office/drawing/2014/main" id="{192533B7-35CA-2A79-44E6-D91955A8FC97}"/>
              </a:ext>
            </a:extLst>
          </p:cNvPr>
          <p:cNvCxnSpPr>
            <a:cxnSpLocks noChangeShapeType="1"/>
            <a:stCxn id="22539" idx="2"/>
            <a:endCxn id="22544" idx="0"/>
          </p:cNvCxnSpPr>
          <p:nvPr/>
        </p:nvCxnSpPr>
        <p:spPr bwMode="auto">
          <a:xfrm>
            <a:off x="2808288" y="45466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6" name="AutoShape 9">
            <a:extLst>
              <a:ext uri="{FF2B5EF4-FFF2-40B4-BE49-F238E27FC236}">
                <a16:creationId xmlns:a16="http://schemas.microsoft.com/office/drawing/2014/main" id="{528E2D42-E057-284B-01C6-DCFAAD9E7FBE}"/>
              </a:ext>
            </a:extLst>
          </p:cNvPr>
          <p:cNvCxnSpPr>
            <a:cxnSpLocks noChangeShapeType="1"/>
            <a:stCxn id="22540" idx="2"/>
            <a:endCxn id="22546" idx="0"/>
          </p:cNvCxnSpPr>
          <p:nvPr/>
        </p:nvCxnSpPr>
        <p:spPr bwMode="auto">
          <a:xfrm>
            <a:off x="4975226" y="45466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7" name="AutoShape 10">
            <a:extLst>
              <a:ext uri="{FF2B5EF4-FFF2-40B4-BE49-F238E27FC236}">
                <a16:creationId xmlns:a16="http://schemas.microsoft.com/office/drawing/2014/main" id="{3CCEBB88-FBC1-8573-04B9-1050DE5EA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4" y="3084514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 7  2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9  4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2  4  7  9</a:t>
            </a:r>
          </a:p>
        </p:txBody>
      </p:sp>
      <p:sp>
        <p:nvSpPr>
          <p:cNvPr id="22538" name="AutoShape 11">
            <a:extLst>
              <a:ext uri="{FF2B5EF4-FFF2-40B4-BE49-F238E27FC236}">
                <a16:creationId xmlns:a16="http://schemas.microsoft.com/office/drawing/2014/main" id="{6250DF5A-0D51-174B-9D06-BBE4B881A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5164" y="3084514"/>
            <a:ext cx="25860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3  8 </a:t>
            </a:r>
            <a:r>
              <a:rPr lang="en-US" altLang="en-US" b="1">
                <a:solidFill>
                  <a:schemeClr val="tx2"/>
                </a:solidFill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6  1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1  3  6  8</a:t>
            </a:r>
          </a:p>
        </p:txBody>
      </p:sp>
      <p:sp>
        <p:nvSpPr>
          <p:cNvPr id="22539" name="AutoShape 12">
            <a:extLst>
              <a:ext uri="{FF2B5EF4-FFF2-40B4-BE49-F238E27FC236}">
                <a16:creationId xmlns:a16="http://schemas.microsoft.com/office/drawing/2014/main" id="{0895066D-C778-1DED-D58E-A9ACE6D33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1" y="4110039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2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2  7</a:t>
            </a:r>
          </a:p>
        </p:txBody>
      </p:sp>
      <p:sp>
        <p:nvSpPr>
          <p:cNvPr id="22540" name="AutoShape 13">
            <a:extLst>
              <a:ext uri="{FF2B5EF4-FFF2-40B4-BE49-F238E27FC236}">
                <a16:creationId xmlns:a16="http://schemas.microsoft.com/office/drawing/2014/main" id="{BE9E1B8D-64AD-C856-940C-96DFAB2CC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4" y="4110039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chemeClr val="tx2"/>
                </a:solidFill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4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4  9</a:t>
            </a:r>
          </a:p>
        </p:txBody>
      </p:sp>
      <p:sp>
        <p:nvSpPr>
          <p:cNvPr id="22541" name="AutoShape 14">
            <a:extLst>
              <a:ext uri="{FF2B5EF4-FFF2-40B4-BE49-F238E27FC236}">
                <a16:creationId xmlns:a16="http://schemas.microsoft.com/office/drawing/2014/main" id="{DB1F4DA5-8B44-FEB3-9F42-BF0150C67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110039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3 </a:t>
            </a:r>
            <a:r>
              <a:rPr lang="en-US" altLang="en-US" b="1">
                <a:solidFill>
                  <a:schemeClr val="tx2"/>
                </a:solidFill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8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3  8</a:t>
            </a:r>
          </a:p>
        </p:txBody>
      </p:sp>
      <p:sp>
        <p:nvSpPr>
          <p:cNvPr id="22542" name="AutoShape 15">
            <a:extLst>
              <a:ext uri="{FF2B5EF4-FFF2-40B4-BE49-F238E27FC236}">
                <a16:creationId xmlns:a16="http://schemas.microsoft.com/office/drawing/2014/main" id="{649E58D5-1684-52D7-D8B1-20DD46856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364" y="4110039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6  1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1  6</a:t>
            </a:r>
          </a:p>
        </p:txBody>
      </p:sp>
      <p:sp>
        <p:nvSpPr>
          <p:cNvPr id="22543" name="AutoShape 16">
            <a:extLst>
              <a:ext uri="{FF2B5EF4-FFF2-40B4-BE49-F238E27FC236}">
                <a16:creationId xmlns:a16="http://schemas.microsoft.com/office/drawing/2014/main" id="{176AA3E6-14BE-CA5B-AE5E-0171EBC0A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5135564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22544" name="AutoShape 17">
            <a:extLst>
              <a:ext uri="{FF2B5EF4-FFF2-40B4-BE49-F238E27FC236}">
                <a16:creationId xmlns:a16="http://schemas.microsoft.com/office/drawing/2014/main" id="{C3DAF533-2324-D0E7-66AA-AA366ED80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135564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2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2545" name="AutoShape 18">
            <a:extLst>
              <a:ext uri="{FF2B5EF4-FFF2-40B4-BE49-F238E27FC236}">
                <a16:creationId xmlns:a16="http://schemas.microsoft.com/office/drawing/2014/main" id="{93CF5AB4-884D-BC03-7B60-E872586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9" y="5135564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2546" name="AutoShape 19">
            <a:extLst>
              <a:ext uri="{FF2B5EF4-FFF2-40B4-BE49-F238E27FC236}">
                <a16:creationId xmlns:a16="http://schemas.microsoft.com/office/drawing/2014/main" id="{3D99DD30-F0E1-B4B3-7498-18320B4B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4" y="5135564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4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2547" name="AutoShape 20">
            <a:extLst>
              <a:ext uri="{FF2B5EF4-FFF2-40B4-BE49-F238E27FC236}">
                <a16:creationId xmlns:a16="http://schemas.microsoft.com/office/drawing/2014/main" id="{CBF2BECD-168A-A4F4-731E-B9293A349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5135564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3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22548" name="AutoShape 21">
            <a:extLst>
              <a:ext uri="{FF2B5EF4-FFF2-40B4-BE49-F238E27FC236}">
                <a16:creationId xmlns:a16="http://schemas.microsoft.com/office/drawing/2014/main" id="{01863023-5E89-C078-54AA-F65EE06A5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225" y="5135564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8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22549" name="AutoShape 22">
            <a:extLst>
              <a:ext uri="{FF2B5EF4-FFF2-40B4-BE49-F238E27FC236}">
                <a16:creationId xmlns:a16="http://schemas.microsoft.com/office/drawing/2014/main" id="{DDBEBCCE-4EBB-F3FA-66AA-CA4E5D10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639" y="5135564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6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22550" name="AutoShape 23">
            <a:extLst>
              <a:ext uri="{FF2B5EF4-FFF2-40B4-BE49-F238E27FC236}">
                <a16:creationId xmlns:a16="http://schemas.microsoft.com/office/drawing/2014/main" id="{83ECDBBD-8918-1D45-7553-431FA479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3414" y="5135564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1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</a:t>
            </a:r>
          </a:p>
        </p:txBody>
      </p:sp>
      <p:cxnSp>
        <p:nvCxnSpPr>
          <p:cNvPr id="22551" name="AutoShape 24">
            <a:extLst>
              <a:ext uri="{FF2B5EF4-FFF2-40B4-BE49-F238E27FC236}">
                <a16:creationId xmlns:a16="http://schemas.microsoft.com/office/drawing/2014/main" id="{E7FDD185-A2C0-78DB-2D8D-8C0CF9E33631}"/>
              </a:ext>
            </a:extLst>
          </p:cNvPr>
          <p:cNvCxnSpPr>
            <a:cxnSpLocks noChangeShapeType="1"/>
            <a:stCxn id="22541" idx="0"/>
            <a:endCxn id="22538" idx="2"/>
          </p:cNvCxnSpPr>
          <p:nvPr/>
        </p:nvCxnSpPr>
        <p:spPr bwMode="auto">
          <a:xfrm flipV="1">
            <a:off x="7239001" y="3521075"/>
            <a:ext cx="10699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5">
            <a:extLst>
              <a:ext uri="{FF2B5EF4-FFF2-40B4-BE49-F238E27FC236}">
                <a16:creationId xmlns:a16="http://schemas.microsoft.com/office/drawing/2014/main" id="{5BA7F2BE-E4C8-1173-490F-F8C52212ED47}"/>
              </a:ext>
            </a:extLst>
          </p:cNvPr>
          <p:cNvCxnSpPr>
            <a:cxnSpLocks noChangeShapeType="1"/>
            <a:stCxn id="22542" idx="0"/>
            <a:endCxn id="22538" idx="2"/>
          </p:cNvCxnSpPr>
          <p:nvPr/>
        </p:nvCxnSpPr>
        <p:spPr bwMode="auto">
          <a:xfrm flipH="1" flipV="1">
            <a:off x="8308975" y="3521075"/>
            <a:ext cx="10541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6">
            <a:extLst>
              <a:ext uri="{FF2B5EF4-FFF2-40B4-BE49-F238E27FC236}">
                <a16:creationId xmlns:a16="http://schemas.microsoft.com/office/drawing/2014/main" id="{07250B72-ED1A-7AC6-127B-8277A216D475}"/>
              </a:ext>
            </a:extLst>
          </p:cNvPr>
          <p:cNvCxnSpPr>
            <a:cxnSpLocks noChangeShapeType="1"/>
            <a:stCxn id="22547" idx="0"/>
            <a:endCxn id="22541" idx="2"/>
          </p:cNvCxnSpPr>
          <p:nvPr/>
        </p:nvCxnSpPr>
        <p:spPr bwMode="auto">
          <a:xfrm flipV="1">
            <a:off x="6761164" y="4546600"/>
            <a:ext cx="47783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AutoShape 27">
            <a:extLst>
              <a:ext uri="{FF2B5EF4-FFF2-40B4-BE49-F238E27FC236}">
                <a16:creationId xmlns:a16="http://schemas.microsoft.com/office/drawing/2014/main" id="{8A1D90A7-0957-DD52-DCFF-A192F88E47B0}"/>
              </a:ext>
            </a:extLst>
          </p:cNvPr>
          <p:cNvCxnSpPr>
            <a:cxnSpLocks noChangeShapeType="1"/>
            <a:stCxn id="22549" idx="0"/>
            <a:endCxn id="22542" idx="2"/>
          </p:cNvCxnSpPr>
          <p:nvPr/>
        </p:nvCxnSpPr>
        <p:spPr bwMode="auto">
          <a:xfrm flipV="1">
            <a:off x="8883651" y="45466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8">
            <a:extLst>
              <a:ext uri="{FF2B5EF4-FFF2-40B4-BE49-F238E27FC236}">
                <a16:creationId xmlns:a16="http://schemas.microsoft.com/office/drawing/2014/main" id="{F9371799-7F18-2C66-D4F9-1B9C9CC78704}"/>
              </a:ext>
            </a:extLst>
          </p:cNvPr>
          <p:cNvCxnSpPr>
            <a:cxnSpLocks noChangeShapeType="1"/>
            <a:stCxn id="22541" idx="2"/>
            <a:endCxn id="22548" idx="0"/>
          </p:cNvCxnSpPr>
          <p:nvPr/>
        </p:nvCxnSpPr>
        <p:spPr bwMode="auto">
          <a:xfrm>
            <a:off x="7239000" y="4546600"/>
            <a:ext cx="496888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6" name="AutoShape 29">
            <a:extLst>
              <a:ext uri="{FF2B5EF4-FFF2-40B4-BE49-F238E27FC236}">
                <a16:creationId xmlns:a16="http://schemas.microsoft.com/office/drawing/2014/main" id="{F97E4BD2-9569-A904-6C90-1CA9EA893414}"/>
              </a:ext>
            </a:extLst>
          </p:cNvPr>
          <p:cNvCxnSpPr>
            <a:cxnSpLocks noChangeShapeType="1"/>
            <a:stCxn id="22542" idx="2"/>
            <a:endCxn id="22550" idx="0"/>
          </p:cNvCxnSpPr>
          <p:nvPr/>
        </p:nvCxnSpPr>
        <p:spPr bwMode="auto">
          <a:xfrm>
            <a:off x="9363076" y="45466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7" name="AutoShape 30">
            <a:extLst>
              <a:ext uri="{FF2B5EF4-FFF2-40B4-BE49-F238E27FC236}">
                <a16:creationId xmlns:a16="http://schemas.microsoft.com/office/drawing/2014/main" id="{BDA1F55F-BF44-2BD5-E94B-909ECD037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0574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7  2  9  4 </a:t>
            </a:r>
            <a:r>
              <a:rPr lang="en-US" altLang="en-US" b="1">
                <a:solidFill>
                  <a:schemeClr val="tx2"/>
                </a:solidFill>
                <a:latin typeface="Symbol" pitchFamily="2" charset="2"/>
                <a:sym typeface="Symbol" pitchFamily="2" charset="2"/>
              </a:rPr>
              <a:t></a:t>
            </a:r>
            <a:r>
              <a:rPr lang="en-US" altLang="en-US">
                <a:latin typeface="Tahoma" panose="020B0604030504040204" pitchFamily="34" charset="0"/>
              </a:rPr>
              <a:t> 3  8  6  1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1  2  3  4  6  7  8  9</a:t>
            </a:r>
          </a:p>
        </p:txBody>
      </p:sp>
      <p:cxnSp>
        <p:nvCxnSpPr>
          <p:cNvPr id="22558" name="AutoShape 31">
            <a:extLst>
              <a:ext uri="{FF2B5EF4-FFF2-40B4-BE49-F238E27FC236}">
                <a16:creationId xmlns:a16="http://schemas.microsoft.com/office/drawing/2014/main" id="{8C31E2EA-3775-6CD7-7B76-E4D73F29716A}"/>
              </a:ext>
            </a:extLst>
          </p:cNvPr>
          <p:cNvCxnSpPr>
            <a:cxnSpLocks noChangeShapeType="1"/>
            <a:stCxn id="22537" idx="0"/>
            <a:endCxn id="22557" idx="2"/>
          </p:cNvCxnSpPr>
          <p:nvPr/>
        </p:nvCxnSpPr>
        <p:spPr bwMode="auto">
          <a:xfrm flipV="1">
            <a:off x="3876676" y="25066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9" name="AutoShape 32">
            <a:extLst>
              <a:ext uri="{FF2B5EF4-FFF2-40B4-BE49-F238E27FC236}">
                <a16:creationId xmlns:a16="http://schemas.microsoft.com/office/drawing/2014/main" id="{69859C95-2EE6-7D4C-169A-607EC501CD96}"/>
              </a:ext>
            </a:extLst>
          </p:cNvPr>
          <p:cNvCxnSpPr>
            <a:cxnSpLocks noChangeShapeType="1"/>
            <a:stCxn id="22538" idx="0"/>
            <a:endCxn id="22557" idx="2"/>
          </p:cNvCxnSpPr>
          <p:nvPr/>
        </p:nvCxnSpPr>
        <p:spPr bwMode="auto">
          <a:xfrm flipH="1" flipV="1">
            <a:off x="6096001" y="2506664"/>
            <a:ext cx="22129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60" name="Line 33">
            <a:extLst>
              <a:ext uri="{FF2B5EF4-FFF2-40B4-BE49-F238E27FC236}">
                <a16:creationId xmlns:a16="http://schemas.microsoft.com/office/drawing/2014/main" id="{F20F2630-82DE-AE81-F4B7-F0648214CE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9725" y="262255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1" name="Line 34">
            <a:extLst>
              <a:ext uri="{FF2B5EF4-FFF2-40B4-BE49-F238E27FC236}">
                <a16:creationId xmlns:a16="http://schemas.microsoft.com/office/drawing/2014/main" id="{F19306B2-C8AA-9FC4-247B-1476C36BD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743200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2" name="Line 36">
            <a:extLst>
              <a:ext uri="{FF2B5EF4-FFF2-40B4-BE49-F238E27FC236}">
                <a16:creationId xmlns:a16="http://schemas.microsoft.com/office/drawing/2014/main" id="{CBB75F46-A3BF-561D-A54F-1A33280D4E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6525" y="2681288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3" name="Line 37">
            <a:extLst>
              <a:ext uri="{FF2B5EF4-FFF2-40B4-BE49-F238E27FC236}">
                <a16:creationId xmlns:a16="http://schemas.microsoft.com/office/drawing/2014/main" id="{BF9DC234-C4B7-3F1A-197D-AA3F12B4C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5908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55E442C-2403-4A72-22BB-4D9276560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Analysis of Merge-Sort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C4E4FB8-DBF4-501F-6CDE-BBA929672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295400"/>
            <a:ext cx="7924800" cy="2514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The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h</a:t>
            </a:r>
            <a:r>
              <a:rPr lang="en-US" altLang="en-US" sz="2000"/>
              <a:t> of the merge-sort tree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1800"/>
              <a:t>at each recursive call we divide in half the sequence</a:t>
            </a:r>
          </a:p>
          <a:p>
            <a:pPr lvl="1" eaLnBrk="1" hangingPunct="1"/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/>
              <a:t>The overall amount or work done at the nodes of depth </a:t>
            </a:r>
            <a:r>
              <a:rPr lang="en-US" altLang="en-US" sz="2000" b="1" i="1">
                <a:latin typeface="Times New Roman" panose="02020603050405020304" pitchFamily="18" charset="0"/>
              </a:rPr>
              <a:t>i </a:t>
            </a:r>
            <a:r>
              <a:rPr lang="en-US" altLang="en-US" sz="2000"/>
              <a:t>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</a:t>
            </a:r>
          </a:p>
          <a:p>
            <a:pPr lvl="1" eaLnBrk="1" hangingPunct="1"/>
            <a:r>
              <a:rPr lang="en-US" altLang="en-US" sz="1800"/>
              <a:t>we partition and merge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sequences of size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 b="1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</a:t>
            </a:r>
          </a:p>
          <a:p>
            <a:pPr lvl="1" eaLnBrk="1" hangingPunct="1">
              <a:buFontTx/>
              <a:buNone/>
            </a:pPr>
            <a:endParaRPr lang="en-US" altLang="en-US" sz="1000"/>
          </a:p>
          <a:p>
            <a:pPr eaLnBrk="1" hangingPunct="1"/>
            <a:r>
              <a:rPr lang="en-US" altLang="en-US" sz="2000"/>
              <a:t>Thus, the total running time of merge-sort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23556" name="Group 4">
            <a:extLst>
              <a:ext uri="{FF2B5EF4-FFF2-40B4-BE49-F238E27FC236}">
                <a16:creationId xmlns:a16="http://schemas.microsoft.com/office/drawing/2014/main" id="{1DF9D859-3EF0-87CB-F384-3068821A01C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391025"/>
            <a:ext cx="4191000" cy="1785938"/>
            <a:chOff x="384" y="1632"/>
            <a:chExt cx="5184" cy="2208"/>
          </a:xfrm>
        </p:grpSpPr>
        <p:cxnSp>
          <p:nvCxnSpPr>
            <p:cNvPr id="23573" name="AutoShape 5">
              <a:extLst>
                <a:ext uri="{FF2B5EF4-FFF2-40B4-BE49-F238E27FC236}">
                  <a16:creationId xmlns:a16="http://schemas.microsoft.com/office/drawing/2014/main" id="{5D43A6C8-73C8-04B9-D210-BEC9CD3254C6}"/>
                </a:ext>
              </a:extLst>
            </p:cNvPr>
            <p:cNvCxnSpPr>
              <a:cxnSpLocks noChangeShapeType="1"/>
              <a:stCxn id="23600" idx="0"/>
              <a:endCxn id="23579" idx="2"/>
            </p:cNvCxnSpPr>
            <p:nvPr/>
          </p:nvCxnSpPr>
          <p:spPr bwMode="auto">
            <a:xfrm flipV="1">
              <a:off x="905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4" name="AutoShape 6">
              <a:extLst>
                <a:ext uri="{FF2B5EF4-FFF2-40B4-BE49-F238E27FC236}">
                  <a16:creationId xmlns:a16="http://schemas.microsoft.com/office/drawing/2014/main" id="{2EEAA426-C84F-45DA-D8F0-21CD540EB498}"/>
                </a:ext>
              </a:extLst>
            </p:cNvPr>
            <p:cNvCxnSpPr>
              <a:cxnSpLocks noChangeShapeType="1"/>
              <a:stCxn id="23601" idx="0"/>
              <a:endCxn id="23579" idx="2"/>
            </p:cNvCxnSpPr>
            <p:nvPr/>
          </p:nvCxnSpPr>
          <p:spPr bwMode="auto">
            <a:xfrm flipH="1" flipV="1">
              <a:off x="1578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5" name="AutoShape 7">
              <a:extLst>
                <a:ext uri="{FF2B5EF4-FFF2-40B4-BE49-F238E27FC236}">
                  <a16:creationId xmlns:a16="http://schemas.microsoft.com/office/drawing/2014/main" id="{608ED5EE-1FE7-2D68-F4D6-E4CB024FB553}"/>
                </a:ext>
              </a:extLst>
            </p:cNvPr>
            <p:cNvCxnSpPr>
              <a:cxnSpLocks noChangeShapeType="1"/>
              <a:stCxn id="23592" idx="0"/>
              <a:endCxn id="23600" idx="2"/>
            </p:cNvCxnSpPr>
            <p:nvPr/>
          </p:nvCxnSpPr>
          <p:spPr bwMode="auto">
            <a:xfrm flipV="1">
              <a:off x="611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6" name="AutoShape 8">
              <a:extLst>
                <a:ext uri="{FF2B5EF4-FFF2-40B4-BE49-F238E27FC236}">
                  <a16:creationId xmlns:a16="http://schemas.microsoft.com/office/drawing/2014/main" id="{D985D555-2C56-157D-BC22-D3465F1953B8}"/>
                </a:ext>
              </a:extLst>
            </p:cNvPr>
            <p:cNvCxnSpPr>
              <a:cxnSpLocks noChangeShapeType="1"/>
              <a:stCxn id="23594" idx="0"/>
              <a:endCxn id="23601" idx="2"/>
            </p:cNvCxnSpPr>
            <p:nvPr/>
          </p:nvCxnSpPr>
          <p:spPr bwMode="auto">
            <a:xfrm flipV="1">
              <a:off x="1948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7" name="AutoShape 9">
              <a:extLst>
                <a:ext uri="{FF2B5EF4-FFF2-40B4-BE49-F238E27FC236}">
                  <a16:creationId xmlns:a16="http://schemas.microsoft.com/office/drawing/2014/main" id="{36C9E1D3-8E51-B904-7904-DB2F817CE312}"/>
                </a:ext>
              </a:extLst>
            </p:cNvPr>
            <p:cNvCxnSpPr>
              <a:cxnSpLocks noChangeShapeType="1"/>
              <a:stCxn id="23600" idx="2"/>
              <a:endCxn id="23593" idx="0"/>
            </p:cNvCxnSpPr>
            <p:nvPr/>
          </p:nvCxnSpPr>
          <p:spPr bwMode="auto">
            <a:xfrm>
              <a:off x="905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8" name="AutoShape 10">
              <a:extLst>
                <a:ext uri="{FF2B5EF4-FFF2-40B4-BE49-F238E27FC236}">
                  <a16:creationId xmlns:a16="http://schemas.microsoft.com/office/drawing/2014/main" id="{0FEAAF5A-60F7-4192-CC93-0B3C6E6EC020}"/>
                </a:ext>
              </a:extLst>
            </p:cNvPr>
            <p:cNvCxnSpPr>
              <a:cxnSpLocks noChangeShapeType="1"/>
              <a:stCxn id="23601" idx="2"/>
              <a:endCxn id="23595" idx="0"/>
            </p:cNvCxnSpPr>
            <p:nvPr/>
          </p:nvCxnSpPr>
          <p:spPr bwMode="auto">
            <a:xfrm>
              <a:off x="2250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9" name="AutoShape 11">
              <a:extLst>
                <a:ext uri="{FF2B5EF4-FFF2-40B4-BE49-F238E27FC236}">
                  <a16:creationId xmlns:a16="http://schemas.microsoft.com/office/drawing/2014/main" id="{CBFA89E8-EB63-5104-1D82-1715A2415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80" name="AutoShape 12">
              <a:extLst>
                <a:ext uri="{FF2B5EF4-FFF2-40B4-BE49-F238E27FC236}">
                  <a16:creationId xmlns:a16="http://schemas.microsoft.com/office/drawing/2014/main" id="{B6522D9D-B75A-216E-A3A1-F980B03D8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3581" name="Group 13">
              <a:extLst>
                <a:ext uri="{FF2B5EF4-FFF2-40B4-BE49-F238E27FC236}">
                  <a16:creationId xmlns:a16="http://schemas.microsoft.com/office/drawing/2014/main" id="{D52FA5E0-8D5D-AAD5-FCA7-7C35A8991B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23600" name="AutoShape 14">
                <a:extLst>
                  <a:ext uri="{FF2B5EF4-FFF2-40B4-BE49-F238E27FC236}">
                    <a16:creationId xmlns:a16="http://schemas.microsoft.com/office/drawing/2014/main" id="{2750AE53-5363-1612-D119-CD0CFE38B0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601" name="AutoShape 15">
                <a:extLst>
                  <a:ext uri="{FF2B5EF4-FFF2-40B4-BE49-F238E27FC236}">
                    <a16:creationId xmlns:a16="http://schemas.microsoft.com/office/drawing/2014/main" id="{6818A0AA-5EF6-2D98-78EA-841FCFB49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602" name="AutoShape 16">
                <a:extLst>
                  <a:ext uri="{FF2B5EF4-FFF2-40B4-BE49-F238E27FC236}">
                    <a16:creationId xmlns:a16="http://schemas.microsoft.com/office/drawing/2014/main" id="{BD7F60B4-B19E-CB93-08ED-88A712783B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603" name="AutoShape 17">
                <a:extLst>
                  <a:ext uri="{FF2B5EF4-FFF2-40B4-BE49-F238E27FC236}">
                    <a16:creationId xmlns:a16="http://schemas.microsoft.com/office/drawing/2014/main" id="{2E60C3BA-A9C1-757D-E2AC-61B923160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accent1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3582" name="Group 18">
              <a:extLst>
                <a:ext uri="{FF2B5EF4-FFF2-40B4-BE49-F238E27FC236}">
                  <a16:creationId xmlns:a16="http://schemas.microsoft.com/office/drawing/2014/main" id="{9DBDA770-CF41-A858-E689-CBCBEFD81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23592" name="AutoShape 19">
                <a:extLst>
                  <a:ext uri="{FF2B5EF4-FFF2-40B4-BE49-F238E27FC236}">
                    <a16:creationId xmlns:a16="http://schemas.microsoft.com/office/drawing/2014/main" id="{1E310414-1E84-C1A5-3AEC-091104263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3" name="AutoShape 20">
                <a:extLst>
                  <a:ext uri="{FF2B5EF4-FFF2-40B4-BE49-F238E27FC236}">
                    <a16:creationId xmlns:a16="http://schemas.microsoft.com/office/drawing/2014/main" id="{CD5407C5-E500-9566-95A7-C2DFB9D01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4" name="AutoShape 21">
                <a:extLst>
                  <a:ext uri="{FF2B5EF4-FFF2-40B4-BE49-F238E27FC236}">
                    <a16:creationId xmlns:a16="http://schemas.microsoft.com/office/drawing/2014/main" id="{582A25D6-7922-DECF-B322-42ED491A2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5" name="AutoShape 22">
                <a:extLst>
                  <a:ext uri="{FF2B5EF4-FFF2-40B4-BE49-F238E27FC236}">
                    <a16:creationId xmlns:a16="http://schemas.microsoft.com/office/drawing/2014/main" id="{09565CB8-5DDB-5299-7966-DDC4ACE0B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6" name="AutoShape 23">
                <a:extLst>
                  <a:ext uri="{FF2B5EF4-FFF2-40B4-BE49-F238E27FC236}">
                    <a16:creationId xmlns:a16="http://schemas.microsoft.com/office/drawing/2014/main" id="{F9C1B94E-5729-E916-A5D4-0F7499251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7" name="AutoShape 24">
                <a:extLst>
                  <a:ext uri="{FF2B5EF4-FFF2-40B4-BE49-F238E27FC236}">
                    <a16:creationId xmlns:a16="http://schemas.microsoft.com/office/drawing/2014/main" id="{FD291C39-5589-F836-32C2-65958B0EF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8" name="AutoShape 25">
                <a:extLst>
                  <a:ext uri="{FF2B5EF4-FFF2-40B4-BE49-F238E27FC236}">
                    <a16:creationId xmlns:a16="http://schemas.microsoft.com/office/drawing/2014/main" id="{7592B9CC-2DB3-AB45-D09E-DB82D396D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99" name="AutoShape 26">
                <a:extLst>
                  <a:ext uri="{FF2B5EF4-FFF2-40B4-BE49-F238E27FC236}">
                    <a16:creationId xmlns:a16="http://schemas.microsoft.com/office/drawing/2014/main" id="{2DBE9F7C-BA06-580D-1135-3A99E5898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chemeClr val="folHlink"/>
                  </a:solidFill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23583" name="AutoShape 27">
              <a:extLst>
                <a:ext uri="{FF2B5EF4-FFF2-40B4-BE49-F238E27FC236}">
                  <a16:creationId xmlns:a16="http://schemas.microsoft.com/office/drawing/2014/main" id="{529DF210-7CB8-DD85-E36B-A0F684B918D8}"/>
                </a:ext>
              </a:extLst>
            </p:cNvPr>
            <p:cNvCxnSpPr>
              <a:cxnSpLocks noChangeShapeType="1"/>
              <a:stCxn id="23602" idx="0"/>
              <a:endCxn id="23580" idx="2"/>
            </p:cNvCxnSpPr>
            <p:nvPr/>
          </p:nvCxnSpPr>
          <p:spPr bwMode="auto">
            <a:xfrm flipV="1">
              <a:off x="3689" y="2548"/>
              <a:ext cx="673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4" name="AutoShape 28">
              <a:extLst>
                <a:ext uri="{FF2B5EF4-FFF2-40B4-BE49-F238E27FC236}">
                  <a16:creationId xmlns:a16="http://schemas.microsoft.com/office/drawing/2014/main" id="{7DE95931-2EDD-39F1-0E48-A2C72BBF8409}"/>
                </a:ext>
              </a:extLst>
            </p:cNvPr>
            <p:cNvCxnSpPr>
              <a:cxnSpLocks noChangeShapeType="1"/>
              <a:stCxn id="23603" idx="0"/>
              <a:endCxn id="23580" idx="2"/>
            </p:cNvCxnSpPr>
            <p:nvPr/>
          </p:nvCxnSpPr>
          <p:spPr bwMode="auto">
            <a:xfrm flipH="1" flipV="1">
              <a:off x="4362" y="2548"/>
              <a:ext cx="67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5" name="AutoShape 29">
              <a:extLst>
                <a:ext uri="{FF2B5EF4-FFF2-40B4-BE49-F238E27FC236}">
                  <a16:creationId xmlns:a16="http://schemas.microsoft.com/office/drawing/2014/main" id="{28DA4B01-94F5-5F44-1A6A-B4717181D3DD}"/>
                </a:ext>
              </a:extLst>
            </p:cNvPr>
            <p:cNvCxnSpPr>
              <a:cxnSpLocks noChangeShapeType="1"/>
              <a:stCxn id="23596" idx="0"/>
              <a:endCxn id="23602" idx="2"/>
            </p:cNvCxnSpPr>
            <p:nvPr/>
          </p:nvCxnSpPr>
          <p:spPr bwMode="auto">
            <a:xfrm flipV="1">
              <a:off x="3395" y="3194"/>
              <a:ext cx="294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6" name="AutoShape 30">
              <a:extLst>
                <a:ext uri="{FF2B5EF4-FFF2-40B4-BE49-F238E27FC236}">
                  <a16:creationId xmlns:a16="http://schemas.microsoft.com/office/drawing/2014/main" id="{241D6C1E-A59A-B4CF-6124-A71D38D392F2}"/>
                </a:ext>
              </a:extLst>
            </p:cNvPr>
            <p:cNvCxnSpPr>
              <a:cxnSpLocks noChangeShapeType="1"/>
              <a:stCxn id="23598" idx="0"/>
              <a:endCxn id="23603" idx="2"/>
            </p:cNvCxnSpPr>
            <p:nvPr/>
          </p:nvCxnSpPr>
          <p:spPr bwMode="auto">
            <a:xfrm flipV="1">
              <a:off x="4732" y="3194"/>
              <a:ext cx="302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7" name="AutoShape 31">
              <a:extLst>
                <a:ext uri="{FF2B5EF4-FFF2-40B4-BE49-F238E27FC236}">
                  <a16:creationId xmlns:a16="http://schemas.microsoft.com/office/drawing/2014/main" id="{B4B83DBE-F989-E8BF-B9DF-3F123FA3FBED}"/>
                </a:ext>
              </a:extLst>
            </p:cNvPr>
            <p:cNvCxnSpPr>
              <a:cxnSpLocks noChangeShapeType="1"/>
              <a:stCxn id="23602" idx="2"/>
              <a:endCxn id="23597" idx="0"/>
            </p:cNvCxnSpPr>
            <p:nvPr/>
          </p:nvCxnSpPr>
          <p:spPr bwMode="auto">
            <a:xfrm>
              <a:off x="3689" y="3194"/>
              <a:ext cx="320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88" name="AutoShape 32">
              <a:extLst>
                <a:ext uri="{FF2B5EF4-FFF2-40B4-BE49-F238E27FC236}">
                  <a16:creationId xmlns:a16="http://schemas.microsoft.com/office/drawing/2014/main" id="{B2C66DCC-FC5B-4D49-CBDD-04B904FCB04F}"/>
                </a:ext>
              </a:extLst>
            </p:cNvPr>
            <p:cNvCxnSpPr>
              <a:cxnSpLocks noChangeShapeType="1"/>
              <a:stCxn id="23603" idx="2"/>
              <a:endCxn id="23599" idx="0"/>
            </p:cNvCxnSpPr>
            <p:nvPr/>
          </p:nvCxnSpPr>
          <p:spPr bwMode="auto">
            <a:xfrm>
              <a:off x="5034" y="3194"/>
              <a:ext cx="318" cy="37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89" name="AutoShape 33">
              <a:extLst>
                <a:ext uri="{FF2B5EF4-FFF2-40B4-BE49-F238E27FC236}">
                  <a16:creationId xmlns:a16="http://schemas.microsoft.com/office/drawing/2014/main" id="{B3A26AE6-0C9F-B516-26F0-CD395F3E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23590" name="AutoShape 34">
              <a:extLst>
                <a:ext uri="{FF2B5EF4-FFF2-40B4-BE49-F238E27FC236}">
                  <a16:creationId xmlns:a16="http://schemas.microsoft.com/office/drawing/2014/main" id="{61882502-67DC-50B1-B9DC-B6650DD66E2D}"/>
                </a:ext>
              </a:extLst>
            </p:cNvPr>
            <p:cNvCxnSpPr>
              <a:cxnSpLocks noChangeShapeType="1"/>
              <a:stCxn id="23579" idx="0"/>
              <a:endCxn id="23589" idx="2"/>
            </p:cNvCxnSpPr>
            <p:nvPr/>
          </p:nvCxnSpPr>
          <p:spPr bwMode="auto">
            <a:xfrm flipV="1">
              <a:off x="1578" y="1903"/>
              <a:ext cx="1398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91" name="AutoShape 35">
              <a:extLst>
                <a:ext uri="{FF2B5EF4-FFF2-40B4-BE49-F238E27FC236}">
                  <a16:creationId xmlns:a16="http://schemas.microsoft.com/office/drawing/2014/main" id="{0263150F-72A4-4A26-0B8D-E6F4A26870B3}"/>
                </a:ext>
              </a:extLst>
            </p:cNvPr>
            <p:cNvCxnSpPr>
              <a:cxnSpLocks noChangeShapeType="1"/>
              <a:stCxn id="23580" idx="0"/>
              <a:endCxn id="23589" idx="2"/>
            </p:cNvCxnSpPr>
            <p:nvPr/>
          </p:nvCxnSpPr>
          <p:spPr bwMode="auto">
            <a:xfrm flipH="1" flipV="1">
              <a:off x="2976" y="1903"/>
              <a:ext cx="1386" cy="37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38276" name="Group 36">
            <a:extLst>
              <a:ext uri="{FF2B5EF4-FFF2-40B4-BE49-F238E27FC236}">
                <a16:creationId xmlns:a16="http://schemas.microsoft.com/office/drawing/2014/main" id="{26811F76-1FA4-FBB7-0EF6-1530F8C2D0EC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3943351"/>
          <a:ext cx="2057400" cy="238125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#seqs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size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/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4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  <a:endParaRPr kumimoji="0" lang="en-US" sz="14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/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D992ED5-5F2C-19CB-1084-EE4E362F8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Summary of Sorting Algorithms</a:t>
            </a:r>
          </a:p>
        </p:txBody>
      </p:sp>
      <p:graphicFrame>
        <p:nvGraphicFramePr>
          <p:cNvPr id="139293" name="Group 29">
            <a:extLst>
              <a:ext uri="{FF2B5EF4-FFF2-40B4-BE49-F238E27FC236}">
                <a16:creationId xmlns:a16="http://schemas.microsoft.com/office/drawing/2014/main" id="{C18992A1-81D9-D9DF-B8ED-94056719F0C9}"/>
              </a:ext>
            </a:extLst>
          </p:cNvPr>
          <p:cNvGraphicFramePr>
            <a:graphicFrameLocks noGrp="1"/>
          </p:cNvGraphicFramePr>
          <p:nvPr/>
        </p:nvGraphicFramePr>
        <p:xfrm>
          <a:off x="2381250" y="1628775"/>
          <a:ext cx="7543800" cy="4148138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Algorithm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Notes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selection-sort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(unsorted priority queue)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small data sets (&lt; 1K)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insertion-sort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(sorted priority queue)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small data sets (&lt; 1K)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heap-sort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(using a heap)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trees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large data sets (1K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ahoma" pitchFamily="34" charset="0"/>
                        </a:rPr>
                        <a:t>—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1M)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merge-sort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sequential data access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for huge data sets (&gt; 1M)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1CCDEA1-0750-FBB0-238F-DB516807B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5670550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34738BF-3A25-1CA8-C29B-2C3D822D4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Quick-Sort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227FF42B-06CE-DCDA-6A22-2D89E491C1F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676400"/>
            <a:ext cx="4114800" cy="4572000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chemeClr val="tx2"/>
                </a:solidFill>
              </a:rPr>
              <a:t>Quick-sort</a:t>
            </a:r>
            <a:r>
              <a:rPr lang="en-US" altLang="en-US" sz="2000" dirty="0"/>
              <a:t> is a randomized sorting algorithm based on the divide-and-conquer strategy: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Divide</a:t>
            </a:r>
            <a:r>
              <a:rPr lang="en-US" altLang="en-US" sz="1800" dirty="0"/>
              <a:t>: pick a random element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1800" dirty="0"/>
              <a:t> (called </a:t>
            </a:r>
            <a:r>
              <a:rPr lang="en-US" altLang="en-US" sz="1800" dirty="0">
                <a:solidFill>
                  <a:srgbClr val="FF0000"/>
                </a:solidFill>
              </a:rPr>
              <a:t>pivot</a:t>
            </a:r>
            <a:r>
              <a:rPr lang="en-US" altLang="en-US" sz="1800" dirty="0"/>
              <a:t>) and partition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into</a:t>
            </a:r>
            <a:r>
              <a:rPr lang="en-US" altLang="en-US" sz="1600" dirty="0"/>
              <a:t> </a:t>
            </a:r>
          </a:p>
          <a:p>
            <a:pPr lvl="2" eaLnBrk="1" hangingPunct="1"/>
            <a:r>
              <a:rPr lang="en-US" altLang="en-US" sz="16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1600" dirty="0"/>
              <a:t>elements less than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x</a:t>
            </a:r>
          </a:p>
          <a:p>
            <a:pPr lvl="2" eaLnBrk="1" hangingPunct="1"/>
            <a:r>
              <a:rPr lang="en-US" altLang="en-US" sz="1600" b="1" i="1" dirty="0">
                <a:latin typeface="Times New Roman" panose="02020603050405020304" pitchFamily="18" charset="0"/>
              </a:rPr>
              <a:t>E </a:t>
            </a:r>
            <a:r>
              <a:rPr lang="en-US" altLang="en-US" sz="1600" dirty="0"/>
              <a:t>elements equal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x</a:t>
            </a:r>
            <a:endParaRPr lang="en-US" altLang="en-US" sz="1600" dirty="0"/>
          </a:p>
          <a:p>
            <a:pPr lvl="2" eaLnBrk="1" hangingPunct="1"/>
            <a:r>
              <a:rPr lang="en-US" altLang="en-US" sz="1600" b="1" i="1" dirty="0">
                <a:latin typeface="Times New Roman" panose="02020603050405020304" pitchFamily="18" charset="0"/>
              </a:rPr>
              <a:t>G </a:t>
            </a:r>
            <a:r>
              <a:rPr lang="en-US" altLang="en-US" sz="1600" dirty="0"/>
              <a:t>elements greater than </a:t>
            </a:r>
            <a:r>
              <a:rPr lang="en-US" altLang="en-US" sz="1600" b="1" i="1" dirty="0">
                <a:latin typeface="Times New Roman" panose="02020603050405020304" pitchFamily="18" charset="0"/>
              </a:rPr>
              <a:t>x</a:t>
            </a:r>
            <a:endParaRPr lang="en-US" altLang="en-US" sz="1600" dirty="0"/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Recur</a:t>
            </a:r>
            <a:r>
              <a:rPr lang="en-US" altLang="en-US" sz="1800" dirty="0"/>
              <a:t>: sort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L </a:t>
            </a:r>
            <a:r>
              <a:rPr lang="en-US" altLang="en-US" sz="1800" dirty="0"/>
              <a:t>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  <a:endParaRPr lang="en-US" altLang="en-US" sz="1800" dirty="0"/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Conquer</a:t>
            </a:r>
            <a:r>
              <a:rPr lang="en-US" altLang="en-US" sz="1800" dirty="0"/>
              <a:t>: join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1800" dirty="0"/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3A319955-0B26-A427-3FF8-54226026A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D65663C-8BF8-4491-6DC5-817A3AB99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483605-BB9A-1CAA-C68F-CF6D293D0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7FB8028B-A481-21A7-CBDA-80034259B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65D011CD-B96B-DAE3-1C71-0D270F64C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F37AFD25-E9E1-28F8-5B39-86519E04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E890A707-DE42-CDBF-EB05-4B9A8B2BC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26902DE0-969F-6368-ADE7-96F643E5B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1279B698-BE09-CC74-A601-66E4D29D8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C7A906AD-A13F-438C-B097-F84A4424D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6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5615" name="Group 15">
            <a:extLst>
              <a:ext uri="{FF2B5EF4-FFF2-40B4-BE49-F238E27FC236}">
                <a16:creationId xmlns:a16="http://schemas.microsoft.com/office/drawing/2014/main" id="{0E150C76-F12F-D758-CBFD-D46878CE4F8E}"/>
              </a:ext>
            </a:extLst>
          </p:cNvPr>
          <p:cNvGrpSpPr>
            <a:grpSpLocks/>
          </p:cNvGrpSpPr>
          <p:nvPr/>
        </p:nvGrpSpPr>
        <p:grpSpPr bwMode="auto">
          <a:xfrm>
            <a:off x="6635750" y="3705225"/>
            <a:ext cx="1054100" cy="457200"/>
            <a:chOff x="3320" y="2304"/>
            <a:chExt cx="664" cy="384"/>
          </a:xfrm>
        </p:grpSpPr>
        <p:sp>
          <p:nvSpPr>
            <p:cNvPr id="25626" name="Rectangle 16">
              <a:extLst>
                <a:ext uri="{FF2B5EF4-FFF2-40B4-BE49-F238E27FC236}">
                  <a16:creationId xmlns:a16="http://schemas.microsoft.com/office/drawing/2014/main" id="{0E12A96D-5F4F-9B0A-1CE4-BA0BD74CE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7" name="Rectangle 17">
              <a:extLst>
                <a:ext uri="{FF2B5EF4-FFF2-40B4-BE49-F238E27FC236}">
                  <a16:creationId xmlns:a16="http://schemas.microsoft.com/office/drawing/2014/main" id="{726A822E-19F6-EAA9-8676-0015F6ED5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28" name="Rectangle 18">
              <a:extLst>
                <a:ext uri="{FF2B5EF4-FFF2-40B4-BE49-F238E27FC236}">
                  <a16:creationId xmlns:a16="http://schemas.microsoft.com/office/drawing/2014/main" id="{0FD622D1-1E59-32D3-A78A-DD7FDD21D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5616" name="Rectangle 19">
            <a:extLst>
              <a:ext uri="{FF2B5EF4-FFF2-40B4-BE49-F238E27FC236}">
                <a16:creationId xmlns:a16="http://schemas.microsoft.com/office/drawing/2014/main" id="{94B7AD0E-764B-1D87-0288-4C7AB7E53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17" name="AutoShape 20">
            <a:extLst>
              <a:ext uri="{FF2B5EF4-FFF2-40B4-BE49-F238E27FC236}">
                <a16:creationId xmlns:a16="http://schemas.microsoft.com/office/drawing/2014/main" id="{31ACF70B-4FF3-9BA3-272B-A79541D90658}"/>
              </a:ext>
            </a:extLst>
          </p:cNvPr>
          <p:cNvSpPr>
            <a:spLocks/>
          </p:cNvSpPr>
          <p:nvPr/>
        </p:nvSpPr>
        <p:spPr bwMode="auto">
          <a:xfrm rot="-5400000">
            <a:off x="7010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5618" name="AutoShape 21">
            <a:extLst>
              <a:ext uri="{FF2B5EF4-FFF2-40B4-BE49-F238E27FC236}">
                <a16:creationId xmlns:a16="http://schemas.microsoft.com/office/drawing/2014/main" id="{FA021186-FEA5-BEA7-A049-C282D0AD1879}"/>
              </a:ext>
            </a:extLst>
          </p:cNvPr>
          <p:cNvSpPr>
            <a:spLocks/>
          </p:cNvSpPr>
          <p:nvPr/>
        </p:nvSpPr>
        <p:spPr bwMode="auto">
          <a:xfrm rot="-5400000">
            <a:off x="9448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5619" name="AutoShape 22">
            <a:extLst>
              <a:ext uri="{FF2B5EF4-FFF2-40B4-BE49-F238E27FC236}">
                <a16:creationId xmlns:a16="http://schemas.microsoft.com/office/drawing/2014/main" id="{F021AD0E-13CA-C69A-30FA-5E4D0AF3FC2D}"/>
              </a:ext>
            </a:extLst>
          </p:cNvPr>
          <p:cNvSpPr>
            <a:spLocks/>
          </p:cNvSpPr>
          <p:nvPr/>
        </p:nvSpPr>
        <p:spPr bwMode="auto">
          <a:xfrm rot="-5400000">
            <a:off x="8229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5620" name="Rectangle 23">
            <a:extLst>
              <a:ext uri="{FF2B5EF4-FFF2-40B4-BE49-F238E27FC236}">
                <a16:creationId xmlns:a16="http://schemas.microsoft.com/office/drawing/2014/main" id="{4E6E9922-3FD5-DAAF-A014-238E15903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200" y="5041900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1" name="Rectangle 24">
            <a:extLst>
              <a:ext uri="{FF2B5EF4-FFF2-40B4-BE49-F238E27FC236}">
                <a16:creationId xmlns:a16="http://schemas.microsoft.com/office/drawing/2014/main" id="{85F26660-462B-327C-7821-E763F9A37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0" y="4953000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2" name="Rectangle 25">
            <a:extLst>
              <a:ext uri="{FF2B5EF4-FFF2-40B4-BE49-F238E27FC236}">
                <a16:creationId xmlns:a16="http://schemas.microsoft.com/office/drawing/2014/main" id="{5F32A44E-17BF-D12F-25BA-674CF8EEF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0" y="5556250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3" name="Rectangle 26">
            <a:extLst>
              <a:ext uri="{FF2B5EF4-FFF2-40B4-BE49-F238E27FC236}">
                <a16:creationId xmlns:a16="http://schemas.microsoft.com/office/drawing/2014/main" id="{22F67D8A-F3B4-257D-DA69-5F3B6669C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384800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24" name="Rectangle 27">
            <a:extLst>
              <a:ext uri="{FF2B5EF4-FFF2-40B4-BE49-F238E27FC236}">
                <a16:creationId xmlns:a16="http://schemas.microsoft.com/office/drawing/2014/main" id="{80847993-BC49-29FF-E729-1D4C55B34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727700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5" name="Rectangle 28">
            <a:extLst>
              <a:ext uri="{FF2B5EF4-FFF2-40B4-BE49-F238E27FC236}">
                <a16:creationId xmlns:a16="http://schemas.microsoft.com/office/drawing/2014/main" id="{E05509E8-F9FF-0912-F786-D6E26AB9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800" y="5213350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0203FAE-CB50-AEFD-97A2-EB20D9704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Partition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11EAAB1-FC4C-220A-64C4-2BB3DD9D09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3962400" cy="5029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We partition an input sequence as follows:</a:t>
            </a:r>
          </a:p>
          <a:p>
            <a:pPr lvl="1" eaLnBrk="1" hangingPunct="1"/>
            <a:r>
              <a:rPr lang="en-US" altLang="en-US" sz="1800"/>
              <a:t>We remove, in turn, each element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from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and </a:t>
            </a:r>
          </a:p>
          <a:p>
            <a:pPr lvl="1" eaLnBrk="1" hangingPunct="1"/>
            <a:r>
              <a:rPr lang="en-US" altLang="en-US" sz="1800"/>
              <a:t>We insert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into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b="1" i="1"/>
              <a:t> </a:t>
            </a:r>
            <a:r>
              <a:rPr lang="en-US" altLang="en-US" sz="1800"/>
              <a:t>or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,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depending on the result of the comparison with the pivot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</a:p>
          <a:p>
            <a:pPr lvl="1" eaLnBrk="1" hangingPunct="1"/>
            <a:endParaRPr lang="en-US" altLang="en-US" sz="1600" b="1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/>
              <a:t>Each insertion and removal is at the beginning or at the end of a sequence, and hence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(1)</a:t>
            </a:r>
            <a:r>
              <a:rPr lang="en-US" altLang="en-US" sz="2000"/>
              <a:t> time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Thus, the partition step of quick-sort takes 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89A1C310-2D72-64EE-77F8-96314C36D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371601"/>
            <a:ext cx="4114800" cy="4786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partition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position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pivot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subsequences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the 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elements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less than, equal to,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or greater than the pivot, resp.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{ </a:t>
            </a:r>
            <a:r>
              <a:rPr lang="en-US" altLang="en-US" b="1" i="1">
                <a:latin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&gt; </a:t>
            </a:r>
            <a:r>
              <a:rPr lang="en-US" altLang="en-US" b="1" i="1">
                <a:latin typeface="Times New Roman" panose="02020603050405020304" pitchFamily="18" charset="0"/>
              </a:rPr>
              <a:t>x </a:t>
            </a:r>
            <a:r>
              <a:rPr lang="en-US" altLang="en-US">
                <a:latin typeface="Times New Roman" panose="02020603050405020304" pitchFamily="18" charset="0"/>
              </a:rPr>
              <a:t>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78019DB-FE3D-243A-F5E6-463FAF0A5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Quick-Sort Tree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C96B301-9094-0DAC-7990-CA79EEAE1B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143000"/>
            <a:ext cx="7924800" cy="2743200"/>
          </a:xfrm>
        </p:spPr>
        <p:txBody>
          <a:bodyPr/>
          <a:lstStyle/>
          <a:p>
            <a:pPr eaLnBrk="1" hangingPunct="1"/>
            <a:r>
              <a:rPr lang="en-US" altLang="en-US" sz="2000"/>
              <a:t>An execution of quick-sort is depicted by a binary tree</a:t>
            </a:r>
          </a:p>
          <a:p>
            <a:pPr lvl="1" eaLnBrk="1" hangingPunct="1"/>
            <a:r>
              <a:rPr lang="en-US" altLang="en-US" sz="1800"/>
              <a:t>Each node represents a recursive call of quick-sort and stores</a:t>
            </a:r>
          </a:p>
          <a:p>
            <a:pPr lvl="2" eaLnBrk="1" hangingPunct="1"/>
            <a:r>
              <a:rPr lang="en-US" altLang="en-US" sz="1600"/>
              <a:t>Unsorted sequence before the execution and its pivot</a:t>
            </a:r>
          </a:p>
          <a:p>
            <a:pPr lvl="2" eaLnBrk="1" hangingPunct="1"/>
            <a:r>
              <a:rPr lang="en-US" altLang="en-US" sz="1600"/>
              <a:t>Sorted sequence at the end of the execution</a:t>
            </a:r>
          </a:p>
          <a:p>
            <a:pPr lvl="1" eaLnBrk="1" hangingPunct="1"/>
            <a:r>
              <a:rPr lang="en-US" altLang="en-US" sz="1800"/>
              <a:t>The root is the initial call </a:t>
            </a:r>
          </a:p>
          <a:p>
            <a:pPr lvl="1" eaLnBrk="1" hangingPunct="1"/>
            <a:r>
              <a:rPr lang="en-US" altLang="en-US" sz="1800"/>
              <a:t>The leaves are calls on subsequences of size 0 or 1</a:t>
            </a:r>
          </a:p>
        </p:txBody>
      </p:sp>
      <p:sp>
        <p:nvSpPr>
          <p:cNvPr id="27652" name="AutoShape 4">
            <a:extLst>
              <a:ext uri="{FF2B5EF4-FFF2-40B4-BE49-F238E27FC236}">
                <a16:creationId xmlns:a16="http://schemas.microsoft.com/office/drawing/2014/main" id="{AD9394CF-49BD-3456-A06F-806B0D328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700" y="3962400"/>
            <a:ext cx="42672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7  4  9  </a:t>
            </a:r>
            <a:r>
              <a:rPr lang="en-US" altLang="en-US" sz="2400" u="sng">
                <a:solidFill>
                  <a:srgbClr val="FF0066"/>
                </a:solidFill>
                <a:latin typeface="Tahoma" panose="020B0604030504040204" pitchFamily="34" charset="0"/>
              </a:rPr>
              <a:t>6</a:t>
            </a:r>
            <a:r>
              <a:rPr lang="en-US" altLang="en-US" sz="2400">
                <a:latin typeface="Tahoma" panose="020B0604030504040204" pitchFamily="34" charset="0"/>
              </a:rPr>
              <a:t>  2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2  4  </a:t>
            </a:r>
            <a:r>
              <a:rPr lang="en-US" altLang="en-US" sz="2400" u="sng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  7  9</a:t>
            </a:r>
          </a:p>
        </p:txBody>
      </p:sp>
      <p:sp>
        <p:nvSpPr>
          <p:cNvPr id="27653" name="AutoShape 5">
            <a:extLst>
              <a:ext uri="{FF2B5EF4-FFF2-40B4-BE49-F238E27FC236}">
                <a16:creationId xmlns:a16="http://schemas.microsoft.com/office/drawing/2014/main" id="{AEBB7034-D30B-8843-72CA-267FC3FE3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76800"/>
            <a:ext cx="21336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u="sng">
                <a:solidFill>
                  <a:srgbClr val="FF0066"/>
                </a:solidFill>
                <a:latin typeface="Tahoma" panose="020B0604030504040204" pitchFamily="34" charset="0"/>
              </a:rPr>
              <a:t>4</a:t>
            </a:r>
            <a:r>
              <a:rPr lang="en-US" altLang="en-US" sz="2400">
                <a:latin typeface="Tahoma" panose="020B0604030504040204" pitchFamily="34" charset="0"/>
              </a:rPr>
              <a:t>  2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  </a:t>
            </a:r>
            <a:r>
              <a:rPr lang="en-US" altLang="en-US" sz="2400" u="sng">
                <a:solidFill>
                  <a:srgbClr val="0000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7654" name="AutoShape 6">
            <a:extLst>
              <a:ext uri="{FF2B5EF4-FFF2-40B4-BE49-F238E27FC236}">
                <a16:creationId xmlns:a16="http://schemas.microsoft.com/office/drawing/2014/main" id="{51EEE80E-DCDB-8DB4-0996-9E55EA7BA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876800"/>
            <a:ext cx="21336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u="sng">
                <a:solidFill>
                  <a:srgbClr val="FF0066"/>
                </a:solidFill>
                <a:latin typeface="Tahoma" panose="020B0604030504040204" pitchFamily="34" charset="0"/>
              </a:rPr>
              <a:t>7</a:t>
            </a:r>
            <a:r>
              <a:rPr lang="en-US" altLang="en-US" sz="2400">
                <a:latin typeface="Tahoma" panose="020B0604030504040204" pitchFamily="34" charset="0"/>
              </a:rPr>
              <a:t>  9 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 u="sng">
                <a:solidFill>
                  <a:srgbClr val="000000"/>
                </a:solidFill>
                <a:latin typeface="Tahoma" panose="020B0604030504040204" pitchFamily="34" charset="0"/>
              </a:rPr>
              <a:t>7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  9</a:t>
            </a:r>
          </a:p>
        </p:txBody>
      </p:sp>
      <p:sp>
        <p:nvSpPr>
          <p:cNvPr id="27655" name="AutoShape 7">
            <a:extLst>
              <a:ext uri="{FF2B5EF4-FFF2-40B4-BE49-F238E27FC236}">
                <a16:creationId xmlns:a16="http://schemas.microsoft.com/office/drawing/2014/main" id="{8E6DF8AD-C6A0-6395-2402-786D4AAC4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5791200"/>
            <a:ext cx="1028700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2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7656" name="AutoShape 8">
            <a:extLst>
              <a:ext uri="{FF2B5EF4-FFF2-40B4-BE49-F238E27FC236}">
                <a16:creationId xmlns:a16="http://schemas.microsoft.com/office/drawing/2014/main" id="{D40788E5-F191-1AF9-DA61-2E64C825F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791200"/>
            <a:ext cx="990600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7657" name="AutoShape 9">
            <a:extLst>
              <a:ext uri="{FF2B5EF4-FFF2-40B4-BE49-F238E27FC236}">
                <a16:creationId xmlns:a16="http://schemas.microsoft.com/office/drawing/2014/main" id="{41BED969-F27D-9C00-00D2-458D45E0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5791200"/>
            <a:ext cx="1009650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7658" name="AutoShape 10">
            <a:extLst>
              <a:ext uri="{FF2B5EF4-FFF2-40B4-BE49-F238E27FC236}">
                <a16:creationId xmlns:a16="http://schemas.microsoft.com/office/drawing/2014/main" id="{96D2AD91-D102-6323-BE72-559E9B55E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1" y="5791200"/>
            <a:ext cx="981075" cy="4572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9 </a:t>
            </a:r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2400">
                <a:latin typeface="Tahoma" panose="020B0604030504040204" pitchFamily="34" charset="0"/>
              </a:rPr>
              <a:t> </a:t>
            </a:r>
            <a:r>
              <a:rPr lang="en-US" altLang="en-US" sz="2400">
                <a:solidFill>
                  <a:schemeClr val="tx2"/>
                </a:solidFill>
                <a:latin typeface="Tahoma" panose="020B0604030504040204" pitchFamily="34" charset="0"/>
              </a:rPr>
              <a:t>9</a:t>
            </a:r>
          </a:p>
        </p:txBody>
      </p:sp>
      <p:cxnSp>
        <p:nvCxnSpPr>
          <p:cNvPr id="27659" name="AutoShape 11">
            <a:extLst>
              <a:ext uri="{FF2B5EF4-FFF2-40B4-BE49-F238E27FC236}">
                <a16:creationId xmlns:a16="http://schemas.microsoft.com/office/drawing/2014/main" id="{892BE54D-8C9F-2F0C-C7FB-E07EF4349CF8}"/>
              </a:ext>
            </a:extLst>
          </p:cNvPr>
          <p:cNvCxnSpPr>
            <a:cxnSpLocks noChangeShapeType="1"/>
            <a:stCxn id="27653" idx="0"/>
            <a:endCxn id="27652" idx="2"/>
          </p:cNvCxnSpPr>
          <p:nvPr/>
        </p:nvCxnSpPr>
        <p:spPr bwMode="auto">
          <a:xfrm flipV="1">
            <a:off x="4572000" y="4429125"/>
            <a:ext cx="15113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AutoShape 12">
            <a:extLst>
              <a:ext uri="{FF2B5EF4-FFF2-40B4-BE49-F238E27FC236}">
                <a16:creationId xmlns:a16="http://schemas.microsoft.com/office/drawing/2014/main" id="{9206D3B9-1DC1-8B01-FA70-B8BC03C949CE}"/>
              </a:ext>
            </a:extLst>
          </p:cNvPr>
          <p:cNvCxnSpPr>
            <a:cxnSpLocks noChangeShapeType="1"/>
            <a:stCxn id="27654" idx="0"/>
            <a:endCxn id="27652" idx="2"/>
          </p:cNvCxnSpPr>
          <p:nvPr/>
        </p:nvCxnSpPr>
        <p:spPr bwMode="auto">
          <a:xfrm flipH="1" flipV="1">
            <a:off x="6083300" y="4429125"/>
            <a:ext cx="15367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3">
            <a:extLst>
              <a:ext uri="{FF2B5EF4-FFF2-40B4-BE49-F238E27FC236}">
                <a16:creationId xmlns:a16="http://schemas.microsoft.com/office/drawing/2014/main" id="{C3A957CB-2471-4576-F7C3-B78D5C78A84A}"/>
              </a:ext>
            </a:extLst>
          </p:cNvPr>
          <p:cNvCxnSpPr>
            <a:cxnSpLocks noChangeShapeType="1"/>
            <a:stCxn id="27655" idx="0"/>
            <a:endCxn id="27653" idx="2"/>
          </p:cNvCxnSpPr>
          <p:nvPr/>
        </p:nvCxnSpPr>
        <p:spPr bwMode="auto">
          <a:xfrm flipV="1">
            <a:off x="3905250" y="5343525"/>
            <a:ext cx="6667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4">
            <a:extLst>
              <a:ext uri="{FF2B5EF4-FFF2-40B4-BE49-F238E27FC236}">
                <a16:creationId xmlns:a16="http://schemas.microsoft.com/office/drawing/2014/main" id="{CB6A5BD0-F7B0-CCFC-640C-0E5B1C8E73FD}"/>
              </a:ext>
            </a:extLst>
          </p:cNvPr>
          <p:cNvCxnSpPr>
            <a:cxnSpLocks noChangeShapeType="1"/>
            <a:stCxn id="27657" idx="0"/>
            <a:endCxn id="27654" idx="2"/>
          </p:cNvCxnSpPr>
          <p:nvPr/>
        </p:nvCxnSpPr>
        <p:spPr bwMode="auto">
          <a:xfrm flipV="1">
            <a:off x="6934200" y="5343525"/>
            <a:ext cx="6858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5">
            <a:extLst>
              <a:ext uri="{FF2B5EF4-FFF2-40B4-BE49-F238E27FC236}">
                <a16:creationId xmlns:a16="http://schemas.microsoft.com/office/drawing/2014/main" id="{9494CC3E-CD49-56F0-6876-B02D0898020B}"/>
              </a:ext>
            </a:extLst>
          </p:cNvPr>
          <p:cNvCxnSpPr>
            <a:cxnSpLocks noChangeShapeType="1"/>
            <a:stCxn id="27653" idx="2"/>
            <a:endCxn id="27656" idx="0"/>
          </p:cNvCxnSpPr>
          <p:nvPr/>
        </p:nvCxnSpPr>
        <p:spPr bwMode="auto">
          <a:xfrm>
            <a:off x="4572000" y="5343525"/>
            <a:ext cx="72390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6">
            <a:extLst>
              <a:ext uri="{FF2B5EF4-FFF2-40B4-BE49-F238E27FC236}">
                <a16:creationId xmlns:a16="http://schemas.microsoft.com/office/drawing/2014/main" id="{3F82823A-325C-2D03-4AEA-08519D55FBF6}"/>
              </a:ext>
            </a:extLst>
          </p:cNvPr>
          <p:cNvCxnSpPr>
            <a:cxnSpLocks noChangeShapeType="1"/>
            <a:stCxn id="27654" idx="2"/>
            <a:endCxn id="27658" idx="0"/>
          </p:cNvCxnSpPr>
          <p:nvPr/>
        </p:nvCxnSpPr>
        <p:spPr bwMode="auto">
          <a:xfrm>
            <a:off x="7620000" y="5343525"/>
            <a:ext cx="719138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8750480-7F5D-D501-633B-D79970B71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Execution Example</a:t>
            </a:r>
          </a:p>
        </p:txBody>
      </p:sp>
      <p:sp>
        <p:nvSpPr>
          <p:cNvPr id="28675" name="AutoShape 4">
            <a:extLst>
              <a:ext uri="{FF2B5EF4-FFF2-40B4-BE49-F238E27FC236}">
                <a16:creationId xmlns:a16="http://schemas.microsoft.com/office/drawing/2014/main" id="{3951D883-4FE8-7BF8-826A-413534643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5164" y="3313114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7</a:t>
            </a:r>
            <a:r>
              <a:rPr lang="en-US" altLang="en-US">
                <a:latin typeface="Tahoma" panose="020B0604030504040204" pitchFamily="34" charset="0"/>
              </a:rPr>
              <a:t>  9  </a:t>
            </a:r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7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17 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7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9</a:t>
            </a:r>
          </a:p>
        </p:txBody>
      </p:sp>
      <p:sp>
        <p:nvSpPr>
          <p:cNvPr id="28676" name="AutoShape 5">
            <a:extLst>
              <a:ext uri="{FF2B5EF4-FFF2-40B4-BE49-F238E27FC236}">
                <a16:creationId xmlns:a16="http://schemas.microsoft.com/office/drawing/2014/main" id="{A965D452-E21A-72A8-6886-C9A8CA941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338639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8 </a:t>
            </a:r>
            <a:r>
              <a:rPr lang="en-US" altLang="en-US" b="1">
                <a:solidFill>
                  <a:schemeClr val="folHlink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8</a:t>
            </a:r>
          </a:p>
        </p:txBody>
      </p:sp>
      <p:cxnSp>
        <p:nvCxnSpPr>
          <p:cNvPr id="28677" name="AutoShape 6">
            <a:extLst>
              <a:ext uri="{FF2B5EF4-FFF2-40B4-BE49-F238E27FC236}">
                <a16:creationId xmlns:a16="http://schemas.microsoft.com/office/drawing/2014/main" id="{5EDF6202-946C-A6EC-3C70-49BE2027568D}"/>
              </a:ext>
            </a:extLst>
          </p:cNvPr>
          <p:cNvCxnSpPr>
            <a:cxnSpLocks noChangeShapeType="1"/>
            <a:stCxn id="28676" idx="0"/>
            <a:endCxn id="28675" idx="2"/>
          </p:cNvCxnSpPr>
          <p:nvPr/>
        </p:nvCxnSpPr>
        <p:spPr bwMode="auto">
          <a:xfrm flipV="1">
            <a:off x="7205663" y="3749675"/>
            <a:ext cx="10906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8" name="AutoShape 7">
            <a:extLst>
              <a:ext uri="{FF2B5EF4-FFF2-40B4-BE49-F238E27FC236}">
                <a16:creationId xmlns:a16="http://schemas.microsoft.com/office/drawing/2014/main" id="{44A38C74-47D5-DEB4-879B-CC421B4AD98E}"/>
              </a:ext>
            </a:extLst>
          </p:cNvPr>
          <p:cNvCxnSpPr>
            <a:cxnSpLocks noChangeShapeType="1"/>
            <a:stCxn id="28691" idx="0"/>
            <a:endCxn id="28675" idx="2"/>
          </p:cNvCxnSpPr>
          <p:nvPr/>
        </p:nvCxnSpPr>
        <p:spPr bwMode="auto">
          <a:xfrm flipH="1" flipV="1">
            <a:off x="8296275" y="3749675"/>
            <a:ext cx="1042988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9" name="AutoShape 8">
            <a:extLst>
              <a:ext uri="{FF2B5EF4-FFF2-40B4-BE49-F238E27FC236}">
                <a16:creationId xmlns:a16="http://schemas.microsoft.com/office/drawing/2014/main" id="{BB453F73-8A8A-3DD8-218C-C84995DD0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860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7  2  9  4  3  7  </a:t>
            </a:r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en-US" altLang="en-US">
                <a:latin typeface="Tahoma" panose="020B0604030504040204" pitchFamily="34" charset="0"/>
              </a:rPr>
              <a:t>  1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1  2  3  4 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6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7  7  9</a:t>
            </a:r>
          </a:p>
        </p:txBody>
      </p:sp>
      <p:cxnSp>
        <p:nvCxnSpPr>
          <p:cNvPr id="28680" name="AutoShape 9">
            <a:extLst>
              <a:ext uri="{FF2B5EF4-FFF2-40B4-BE49-F238E27FC236}">
                <a16:creationId xmlns:a16="http://schemas.microsoft.com/office/drawing/2014/main" id="{BE58E778-C659-D85C-273E-40AF6F6D82D3}"/>
              </a:ext>
            </a:extLst>
          </p:cNvPr>
          <p:cNvCxnSpPr>
            <a:cxnSpLocks noChangeShapeType="1"/>
            <a:stCxn id="28686" idx="0"/>
            <a:endCxn id="28679" idx="2"/>
          </p:cNvCxnSpPr>
          <p:nvPr/>
        </p:nvCxnSpPr>
        <p:spPr bwMode="auto">
          <a:xfrm flipV="1">
            <a:off x="3876676" y="27352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1" name="AutoShape 10">
            <a:extLst>
              <a:ext uri="{FF2B5EF4-FFF2-40B4-BE49-F238E27FC236}">
                <a16:creationId xmlns:a16="http://schemas.microsoft.com/office/drawing/2014/main" id="{23A0D299-0340-6955-14B5-CAE78687E2D0}"/>
              </a:ext>
            </a:extLst>
          </p:cNvPr>
          <p:cNvCxnSpPr>
            <a:cxnSpLocks noChangeShapeType="1"/>
            <a:stCxn id="28675" idx="0"/>
            <a:endCxn id="28679" idx="2"/>
          </p:cNvCxnSpPr>
          <p:nvPr/>
        </p:nvCxnSpPr>
        <p:spPr bwMode="auto">
          <a:xfrm flipH="1" flipV="1">
            <a:off x="6096001" y="27352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2" name="AutoShape 11">
            <a:extLst>
              <a:ext uri="{FF2B5EF4-FFF2-40B4-BE49-F238E27FC236}">
                <a16:creationId xmlns:a16="http://schemas.microsoft.com/office/drawing/2014/main" id="{3A1B910A-B0A4-E8A8-7287-6F5E75574811}"/>
              </a:ext>
            </a:extLst>
          </p:cNvPr>
          <p:cNvCxnSpPr>
            <a:cxnSpLocks noChangeShapeType="1"/>
            <a:stCxn id="28687" idx="0"/>
            <a:endCxn id="28686" idx="2"/>
          </p:cNvCxnSpPr>
          <p:nvPr/>
        </p:nvCxnSpPr>
        <p:spPr bwMode="auto">
          <a:xfrm flipV="1">
            <a:off x="2895601" y="3749675"/>
            <a:ext cx="981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3" name="AutoShape 12">
            <a:extLst>
              <a:ext uri="{FF2B5EF4-FFF2-40B4-BE49-F238E27FC236}">
                <a16:creationId xmlns:a16="http://schemas.microsoft.com/office/drawing/2014/main" id="{165C9BE6-2349-4F4D-BB17-8E217EFF91FF}"/>
              </a:ext>
            </a:extLst>
          </p:cNvPr>
          <p:cNvCxnSpPr>
            <a:cxnSpLocks noChangeShapeType="1"/>
            <a:stCxn id="28688" idx="0"/>
            <a:endCxn id="28686" idx="2"/>
          </p:cNvCxnSpPr>
          <p:nvPr/>
        </p:nvCxnSpPr>
        <p:spPr bwMode="auto">
          <a:xfrm flipH="1" flipV="1">
            <a:off x="3876675" y="37496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4" name="AutoShape 13">
            <a:extLst>
              <a:ext uri="{FF2B5EF4-FFF2-40B4-BE49-F238E27FC236}">
                <a16:creationId xmlns:a16="http://schemas.microsoft.com/office/drawing/2014/main" id="{85C59C3B-68DA-C911-EAC9-1A7102D1F855}"/>
              </a:ext>
            </a:extLst>
          </p:cNvPr>
          <p:cNvCxnSpPr>
            <a:cxnSpLocks noChangeShapeType="1"/>
            <a:stCxn id="28689" idx="0"/>
            <a:endCxn id="28688" idx="2"/>
          </p:cNvCxnSpPr>
          <p:nvPr/>
        </p:nvCxnSpPr>
        <p:spPr bwMode="auto">
          <a:xfrm flipV="1">
            <a:off x="4464051" y="47752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5" name="AutoShape 14">
            <a:extLst>
              <a:ext uri="{FF2B5EF4-FFF2-40B4-BE49-F238E27FC236}">
                <a16:creationId xmlns:a16="http://schemas.microsoft.com/office/drawing/2014/main" id="{4D5C322A-F199-4271-7016-26E0BDE3D9A4}"/>
              </a:ext>
            </a:extLst>
          </p:cNvPr>
          <p:cNvCxnSpPr>
            <a:cxnSpLocks noChangeShapeType="1"/>
            <a:stCxn id="28688" idx="2"/>
            <a:endCxn id="28690" idx="0"/>
          </p:cNvCxnSpPr>
          <p:nvPr/>
        </p:nvCxnSpPr>
        <p:spPr bwMode="auto">
          <a:xfrm>
            <a:off x="4943476" y="47752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6" name="AutoShape 15">
            <a:extLst>
              <a:ext uri="{FF2B5EF4-FFF2-40B4-BE49-F238E27FC236}">
                <a16:creationId xmlns:a16="http://schemas.microsoft.com/office/drawing/2014/main" id="{765C3580-9B9B-B53A-E556-ACFB511E3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4" y="3313114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  4  3  1 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 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2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3  4</a:t>
            </a:r>
          </a:p>
        </p:txBody>
      </p:sp>
      <p:sp>
        <p:nvSpPr>
          <p:cNvPr id="28687" name="AutoShape 16">
            <a:extLst>
              <a:ext uri="{FF2B5EF4-FFF2-40B4-BE49-F238E27FC236}">
                <a16:creationId xmlns:a16="http://schemas.microsoft.com/office/drawing/2014/main" id="{8429A836-5D78-012B-FD6E-E78E7A1A9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338639"/>
            <a:ext cx="9144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1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28688" name="AutoShape 17">
            <a:extLst>
              <a:ext uri="{FF2B5EF4-FFF2-40B4-BE49-F238E27FC236}">
                <a16:creationId xmlns:a16="http://schemas.microsoft.com/office/drawing/2014/main" id="{61209F04-A098-70D5-F770-6D7C494FC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4" y="4338639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4  </a:t>
            </a:r>
            <a:r>
              <a:rPr lang="en-US" altLang="en-US" u="sng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u="sng">
                <a:solidFill>
                  <a:srgbClr val="FF0066"/>
                </a:solidFill>
                <a:latin typeface="Tahoma" panose="020B0604030504040204" pitchFamily="34" charset="0"/>
              </a:rPr>
              <a:t>3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  4</a:t>
            </a:r>
          </a:p>
        </p:txBody>
      </p:sp>
      <p:sp>
        <p:nvSpPr>
          <p:cNvPr id="28689" name="AutoShape 18">
            <a:extLst>
              <a:ext uri="{FF2B5EF4-FFF2-40B4-BE49-F238E27FC236}">
                <a16:creationId xmlns:a16="http://schemas.microsoft.com/office/drawing/2014/main" id="{BF3FA81C-3642-EFF6-23ED-27D491135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9" y="5364164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9 </a:t>
            </a:r>
            <a:r>
              <a:rPr lang="en-US" altLang="en-US" b="1">
                <a:solidFill>
                  <a:schemeClr val="folHlink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folHlink"/>
                </a:solidFill>
                <a:latin typeface="Tahoma" panose="020B0604030504040204" pitchFamily="34" charset="0"/>
              </a:rPr>
              <a:t> 9</a:t>
            </a:r>
          </a:p>
        </p:txBody>
      </p:sp>
      <p:sp>
        <p:nvSpPr>
          <p:cNvPr id="28690" name="AutoShape 19">
            <a:extLst>
              <a:ext uri="{FF2B5EF4-FFF2-40B4-BE49-F238E27FC236}">
                <a16:creationId xmlns:a16="http://schemas.microsoft.com/office/drawing/2014/main" id="{3C66E0E3-711D-D94E-65D9-2C3EAED10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4" y="5364164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4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28691" name="AutoShape 20">
            <a:extLst>
              <a:ext uri="{FF2B5EF4-FFF2-40B4-BE49-F238E27FC236}">
                <a16:creationId xmlns:a16="http://schemas.microsoft.com/office/drawing/2014/main" id="{15A49F03-42A1-C223-319C-7183A1A20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338639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ahoma" panose="020B0604030504040204" pitchFamily="34" charset="0"/>
              </a:rPr>
              <a:t>9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>
                <a:solidFill>
                  <a:schemeClr val="accent1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solidFill>
                  <a:srgbClr val="FF0066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28692" name="Line 21">
            <a:extLst>
              <a:ext uri="{FF2B5EF4-FFF2-40B4-BE49-F238E27FC236}">
                <a16:creationId xmlns:a16="http://schemas.microsoft.com/office/drawing/2014/main" id="{ED35D18B-3178-CD51-29AE-4D0879CB49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28194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Line 22">
            <a:extLst>
              <a:ext uri="{FF2B5EF4-FFF2-40B4-BE49-F238E27FC236}">
                <a16:creationId xmlns:a16="http://schemas.microsoft.com/office/drawing/2014/main" id="{44E407C2-6670-9C3A-91FB-9FDCB8E0D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819400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Line 24">
            <a:extLst>
              <a:ext uri="{FF2B5EF4-FFF2-40B4-BE49-F238E27FC236}">
                <a16:creationId xmlns:a16="http://schemas.microsoft.com/office/drawing/2014/main" id="{1BF4039A-658F-B0D1-9D6B-979B73050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895600"/>
            <a:ext cx="685800" cy="228600"/>
          </a:xfrm>
          <a:prstGeom prst="line">
            <a:avLst/>
          </a:prstGeom>
          <a:noFill/>
          <a:ln w="76200">
            <a:solidFill>
              <a:srgbClr val="FF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Line 25">
            <a:extLst>
              <a:ext uri="{FF2B5EF4-FFF2-40B4-BE49-F238E27FC236}">
                <a16:creationId xmlns:a16="http://schemas.microsoft.com/office/drawing/2014/main" id="{911414C8-A648-5DE4-4A9D-3FE17A57E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9718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58E2E68-F3C9-AF2E-2D4C-1775F2932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Worst-case Running Time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D1F0DCD-BB84-7E66-0A66-6B0B1E065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143000"/>
            <a:ext cx="8001000" cy="2286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The worst case for quick-sort occurs when the pivot is the unique minimum or maximum element</a:t>
            </a:r>
          </a:p>
          <a:p>
            <a:pPr eaLnBrk="1" hangingPunct="1"/>
            <a:r>
              <a:rPr lang="en-US" altLang="en-US" sz="2000"/>
              <a:t>One of </a:t>
            </a: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/>
              <a:t> has size 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itchFamily="2" charset="2"/>
              </a:rPr>
              <a:t>- </a:t>
            </a:r>
            <a:r>
              <a:rPr lang="en-US" altLang="en-US" sz="2000">
                <a:latin typeface="Times New Roman" panose="02020603050405020304" pitchFamily="18" charset="0"/>
              </a:rPr>
              <a:t>1 </a:t>
            </a:r>
            <a:r>
              <a:rPr lang="en-US" altLang="en-US" sz="2000"/>
              <a:t>and the other has size </a:t>
            </a:r>
            <a:r>
              <a:rPr lang="en-US" altLang="en-US" sz="2000">
                <a:latin typeface="Times New Roman" panose="02020603050405020304" pitchFamily="18" charset="0"/>
              </a:rPr>
              <a:t>0</a:t>
            </a:r>
          </a:p>
          <a:p>
            <a:pPr eaLnBrk="1" hangingPunct="1"/>
            <a:r>
              <a:rPr lang="en-US" altLang="en-US" sz="2000"/>
              <a:t>The running time is proportional to the sum</a:t>
            </a:r>
          </a:p>
          <a:p>
            <a:pPr algn="ctr" eaLnBrk="1" hangingPunct="1"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1)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…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2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+ 1</a:t>
            </a:r>
            <a:endParaRPr lang="en-US" altLang="en-US" sz="2000"/>
          </a:p>
          <a:p>
            <a:pPr eaLnBrk="1" hangingPunct="1"/>
            <a:r>
              <a:rPr lang="en-US" altLang="en-US" sz="2000"/>
              <a:t>Thus, the worst-case running time of quick-sort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700" name="AutoShape 4">
            <a:extLst>
              <a:ext uri="{FF2B5EF4-FFF2-40B4-BE49-F238E27FC236}">
                <a16:creationId xmlns:a16="http://schemas.microsoft.com/office/drawing/2014/main" id="{279CBA63-EB2D-3363-833A-293642134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4" y="4791075"/>
            <a:ext cx="1304925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1" name="AutoShape 5">
            <a:extLst>
              <a:ext uri="{FF2B5EF4-FFF2-40B4-BE49-F238E27FC236}">
                <a16:creationId xmlns:a16="http://schemas.microsoft.com/office/drawing/2014/main" id="{DD8CD7B3-2682-B502-7BCF-8CEEFF6AB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600" y="5600700"/>
            <a:ext cx="762000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9702" name="AutoShape 6">
            <a:extLst>
              <a:ext uri="{FF2B5EF4-FFF2-40B4-BE49-F238E27FC236}">
                <a16:creationId xmlns:a16="http://schemas.microsoft.com/office/drawing/2014/main" id="{5044B2B8-A615-B2EB-C1F8-B1385535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1" y="4791075"/>
            <a:ext cx="360363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03" name="AutoShape 7">
            <a:extLst>
              <a:ext uri="{FF2B5EF4-FFF2-40B4-BE49-F238E27FC236}">
                <a16:creationId xmlns:a16="http://schemas.microsoft.com/office/drawing/2014/main" id="{5DE587C6-2DBC-EAB8-41EB-42A63662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1" y="5327650"/>
            <a:ext cx="352425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04" name="AutoShape 8">
            <a:extLst>
              <a:ext uri="{FF2B5EF4-FFF2-40B4-BE49-F238E27FC236}">
                <a16:creationId xmlns:a16="http://schemas.microsoft.com/office/drawing/2014/main" id="{0011B08B-F921-8FCA-0E59-019865757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1739" y="6107114"/>
            <a:ext cx="358775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29705" name="AutoShape 9">
            <a:extLst>
              <a:ext uri="{FF2B5EF4-FFF2-40B4-BE49-F238E27FC236}">
                <a16:creationId xmlns:a16="http://schemas.microsoft.com/office/drawing/2014/main" id="{4DCADBC7-ECF3-506A-ACB9-891A70816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6564" y="6107114"/>
            <a:ext cx="350837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cxnSp>
        <p:nvCxnSpPr>
          <p:cNvPr id="29706" name="AutoShape 10">
            <a:extLst>
              <a:ext uri="{FF2B5EF4-FFF2-40B4-BE49-F238E27FC236}">
                <a16:creationId xmlns:a16="http://schemas.microsoft.com/office/drawing/2014/main" id="{6AB832E2-43E2-856C-DE7E-DAB4E2410DD1}"/>
              </a:ext>
            </a:extLst>
          </p:cNvPr>
          <p:cNvCxnSpPr>
            <a:cxnSpLocks noChangeShapeType="1"/>
            <a:stCxn id="29703" idx="0"/>
            <a:endCxn id="29700" idx="2"/>
          </p:cNvCxnSpPr>
          <p:nvPr/>
        </p:nvCxnSpPr>
        <p:spPr bwMode="auto">
          <a:xfrm flipV="1">
            <a:off x="7643813" y="5008564"/>
            <a:ext cx="525462" cy="3190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7" name="AutoShape 11">
            <a:extLst>
              <a:ext uri="{FF2B5EF4-FFF2-40B4-BE49-F238E27FC236}">
                <a16:creationId xmlns:a16="http://schemas.microsoft.com/office/drawing/2014/main" id="{97D57E3D-320B-2820-95B4-19F6A21C1816}"/>
              </a:ext>
            </a:extLst>
          </p:cNvPr>
          <p:cNvCxnSpPr>
            <a:cxnSpLocks noChangeShapeType="1"/>
            <a:endCxn id="29700" idx="2"/>
          </p:cNvCxnSpPr>
          <p:nvPr/>
        </p:nvCxnSpPr>
        <p:spPr bwMode="auto">
          <a:xfrm flipH="1" flipV="1">
            <a:off x="8169276" y="5008563"/>
            <a:ext cx="593725" cy="2778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8" name="AutoShape 12">
            <a:extLst>
              <a:ext uri="{FF2B5EF4-FFF2-40B4-BE49-F238E27FC236}">
                <a16:creationId xmlns:a16="http://schemas.microsoft.com/office/drawing/2014/main" id="{74890639-94A9-FCCF-A786-91F0F2803C9F}"/>
              </a:ext>
            </a:extLst>
          </p:cNvPr>
          <p:cNvCxnSpPr>
            <a:cxnSpLocks noChangeShapeType="1"/>
            <a:stCxn id="29704" idx="0"/>
            <a:endCxn id="29701" idx="2"/>
          </p:cNvCxnSpPr>
          <p:nvPr/>
        </p:nvCxnSpPr>
        <p:spPr bwMode="auto">
          <a:xfrm flipV="1">
            <a:off x="9001126" y="5818189"/>
            <a:ext cx="2444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3">
            <a:extLst>
              <a:ext uri="{FF2B5EF4-FFF2-40B4-BE49-F238E27FC236}">
                <a16:creationId xmlns:a16="http://schemas.microsoft.com/office/drawing/2014/main" id="{829F0285-FEF1-C718-9E2B-7A71B9E6B213}"/>
              </a:ext>
            </a:extLst>
          </p:cNvPr>
          <p:cNvCxnSpPr>
            <a:cxnSpLocks noChangeShapeType="1"/>
            <a:stCxn id="29701" idx="2"/>
            <a:endCxn id="29705" idx="0"/>
          </p:cNvCxnSpPr>
          <p:nvPr/>
        </p:nvCxnSpPr>
        <p:spPr bwMode="auto">
          <a:xfrm>
            <a:off x="9245601" y="5818189"/>
            <a:ext cx="257175" cy="288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0" name="AutoShape 14">
            <a:extLst>
              <a:ext uri="{FF2B5EF4-FFF2-40B4-BE49-F238E27FC236}">
                <a16:creationId xmlns:a16="http://schemas.microsoft.com/office/drawing/2014/main" id="{3CB61223-847A-D166-9349-7BFF96D82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267201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cxnSp>
        <p:nvCxnSpPr>
          <p:cNvPr id="29711" name="AutoShape 15">
            <a:extLst>
              <a:ext uri="{FF2B5EF4-FFF2-40B4-BE49-F238E27FC236}">
                <a16:creationId xmlns:a16="http://schemas.microsoft.com/office/drawing/2014/main" id="{2A30C384-00EB-88FF-623E-7CB20CA2CD1A}"/>
              </a:ext>
            </a:extLst>
          </p:cNvPr>
          <p:cNvCxnSpPr>
            <a:cxnSpLocks noChangeShapeType="1"/>
            <a:stCxn id="29702" idx="0"/>
            <a:endCxn id="29710" idx="2"/>
          </p:cNvCxnSpPr>
          <p:nvPr/>
        </p:nvCxnSpPr>
        <p:spPr bwMode="auto">
          <a:xfrm flipV="1">
            <a:off x="5895976" y="4486275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16">
            <a:extLst>
              <a:ext uri="{FF2B5EF4-FFF2-40B4-BE49-F238E27FC236}">
                <a16:creationId xmlns:a16="http://schemas.microsoft.com/office/drawing/2014/main" id="{0C4546F0-AC58-78C7-B2B8-9A84A2584100}"/>
              </a:ext>
            </a:extLst>
          </p:cNvPr>
          <p:cNvCxnSpPr>
            <a:cxnSpLocks noChangeShapeType="1"/>
            <a:stCxn id="29700" idx="0"/>
            <a:endCxn id="29710" idx="2"/>
          </p:cNvCxnSpPr>
          <p:nvPr/>
        </p:nvCxnSpPr>
        <p:spPr bwMode="auto">
          <a:xfrm flipH="1" flipV="1">
            <a:off x="7048501" y="4486275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50545" name="Group 17">
            <a:extLst>
              <a:ext uri="{FF2B5EF4-FFF2-40B4-BE49-F238E27FC236}">
                <a16:creationId xmlns:a16="http://schemas.microsoft.com/office/drawing/2014/main" id="{162ADFDA-3B3F-97B2-510A-87B11B9EDA77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810001"/>
          <a:ext cx="1371600" cy="2590801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  <a:sym typeface="Symbol" pitchFamily="18" charset="2"/>
                        </a:rPr>
                        <a:t>-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  <a:sym typeface="Symbol" pitchFamily="18" charset="2"/>
                        </a:rPr>
                        <a:t>-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 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24" name="Text Box 42">
            <a:extLst>
              <a:ext uri="{FF2B5EF4-FFF2-40B4-BE49-F238E27FC236}">
                <a16:creationId xmlns:a16="http://schemas.microsoft.com/office/drawing/2014/main" id="{124F41A6-D21B-F67D-6B76-357244305003}"/>
              </a:ext>
            </a:extLst>
          </p:cNvPr>
          <p:cNvSpPr txBox="1">
            <a:spLocks noChangeArrowheads="1"/>
          </p:cNvSpPr>
          <p:nvPr/>
        </p:nvSpPr>
        <p:spPr bwMode="auto">
          <a:xfrm rot="2305880">
            <a:off x="8774114" y="5138738"/>
            <a:ext cx="43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ahoma" panose="020B0604030504040204" pitchFamily="34" charset="0"/>
              </a:rPr>
              <a:t>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3141AB7-DE66-137B-B7D7-36CDE94C4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Expected Running Time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AD5D94D-B2D5-C8D2-04FC-0AF4366757F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1" y="1066800"/>
            <a:ext cx="8029575" cy="38100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Consider a recursive call of quick-sort on a sequence of size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Good call</a:t>
            </a:r>
            <a:r>
              <a:rPr lang="en-US" altLang="en-US" sz="1800" b="1"/>
              <a:t>:</a:t>
            </a:r>
            <a:r>
              <a:rPr lang="en-US" altLang="en-US" sz="1800"/>
              <a:t> the sizes of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are each less than 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Bad call</a:t>
            </a:r>
            <a:r>
              <a:rPr lang="en-US" altLang="en-US" sz="1800" b="1"/>
              <a:t>:</a:t>
            </a:r>
            <a:r>
              <a:rPr lang="en-US" altLang="en-US" sz="1800"/>
              <a:t> one of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has size greater than 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call is </a:t>
            </a:r>
            <a:r>
              <a:rPr lang="en-US" altLang="en-US" sz="2000">
                <a:solidFill>
                  <a:schemeClr val="tx2"/>
                </a:solidFill>
              </a:rPr>
              <a:t>good</a:t>
            </a:r>
            <a:r>
              <a:rPr lang="en-US" altLang="en-US" sz="2000"/>
              <a:t> with probability 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Symbol" pitchFamily="2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1/2 of the possible pivots cause good calls:</a:t>
            </a: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28CD7E5A-5E47-E395-6F86-B8133D8F7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138" y="2995614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7  9  7</a:t>
            </a:r>
            <a:r>
              <a:rPr lang="en-US" altLang="en-US" sz="1200">
                <a:solidFill>
                  <a:schemeClr val="accent1"/>
                </a:solidFill>
                <a:latin typeface="Tahoma" panose="020B0604030504040204" pitchFamily="34" charset="0"/>
              </a:rPr>
              <a:t>  1  </a:t>
            </a:r>
            <a:r>
              <a:rPr lang="en-US" altLang="en-US" sz="1200" b="1">
                <a:solidFill>
                  <a:schemeClr val="accent1"/>
                </a:solidFill>
                <a:latin typeface="Tahoma" panose="020B0604030504040204" pitchFamily="34" charset="0"/>
                <a:sym typeface="Symbol" pitchFamily="2" charset="2"/>
              </a:rPr>
              <a:t></a:t>
            </a:r>
            <a:r>
              <a:rPr lang="en-US" altLang="en-US" sz="1200">
                <a:solidFill>
                  <a:schemeClr val="accent1"/>
                </a:solidFill>
                <a:latin typeface="Tahoma" panose="020B0604030504040204" pitchFamily="34" charset="0"/>
              </a:rPr>
              <a:t>  1</a:t>
            </a:r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F7885397-324C-BA51-AC39-D76C398FE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1" y="2452688"/>
            <a:ext cx="2392363" cy="2270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7  2  9  4 3  7  </a:t>
            </a:r>
            <a:r>
              <a:rPr lang="en-US" altLang="en-US" sz="1200" u="sng">
                <a:solidFill>
                  <a:srgbClr val="000000"/>
                </a:solidFill>
                <a:latin typeface="Tahoma" panose="020B0604030504040204" pitchFamily="34" charset="0"/>
              </a:rPr>
              <a:t>6</a:t>
            </a:r>
            <a:r>
              <a:rPr lang="en-US" altLang="en-US" sz="1200">
                <a:latin typeface="Tahoma" panose="020B0604030504040204" pitchFamily="34" charset="0"/>
              </a:rPr>
              <a:t>  1</a:t>
            </a:r>
            <a:r>
              <a:rPr lang="en-US" altLang="en-US" sz="1200">
                <a:solidFill>
                  <a:schemeClr val="accent1"/>
                </a:solidFill>
                <a:latin typeface="Tahoma" panose="020B0604030504040204" pitchFamily="34" charset="0"/>
              </a:rPr>
              <a:t> 9</a:t>
            </a:r>
          </a:p>
        </p:txBody>
      </p:sp>
      <p:cxnSp>
        <p:nvCxnSpPr>
          <p:cNvPr id="30726" name="AutoShape 6">
            <a:extLst>
              <a:ext uri="{FF2B5EF4-FFF2-40B4-BE49-F238E27FC236}">
                <a16:creationId xmlns:a16="http://schemas.microsoft.com/office/drawing/2014/main" id="{8B25EDCB-3B41-05F6-0273-D41E9E4FA8D7}"/>
              </a:ext>
            </a:extLst>
          </p:cNvPr>
          <p:cNvCxnSpPr>
            <a:cxnSpLocks noChangeShapeType="1"/>
            <a:stCxn id="30728" idx="0"/>
            <a:endCxn id="30725" idx="2"/>
          </p:cNvCxnSpPr>
          <p:nvPr/>
        </p:nvCxnSpPr>
        <p:spPr bwMode="auto">
          <a:xfrm flipV="1">
            <a:off x="3371850" y="2684464"/>
            <a:ext cx="1087438" cy="3063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7" name="AutoShape 7">
            <a:extLst>
              <a:ext uri="{FF2B5EF4-FFF2-40B4-BE49-F238E27FC236}">
                <a16:creationId xmlns:a16="http://schemas.microsoft.com/office/drawing/2014/main" id="{36AC84D6-B503-3877-1066-C77F037DC099}"/>
              </a:ext>
            </a:extLst>
          </p:cNvPr>
          <p:cNvCxnSpPr>
            <a:cxnSpLocks noChangeShapeType="1"/>
            <a:stCxn id="30724" idx="0"/>
            <a:endCxn id="30725" idx="2"/>
          </p:cNvCxnSpPr>
          <p:nvPr/>
        </p:nvCxnSpPr>
        <p:spPr bwMode="auto">
          <a:xfrm flipH="1" flipV="1">
            <a:off x="4460876" y="2689226"/>
            <a:ext cx="1077913" cy="2968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8" name="AutoShape 8">
            <a:extLst>
              <a:ext uri="{FF2B5EF4-FFF2-40B4-BE49-F238E27FC236}">
                <a16:creationId xmlns:a16="http://schemas.microsoft.com/office/drawing/2014/main" id="{A4A52D70-15BE-3776-093C-F2D62DD83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995614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Tahoma" panose="020B0604030504040204" pitchFamily="34" charset="0"/>
              </a:rPr>
              <a:t>2  4  3  1 </a:t>
            </a:r>
            <a:endParaRPr lang="en-US" altLang="en-US" sz="120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9CDAA10C-ED78-23DD-AD8E-986D2EF78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5875" y="2735263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Line 10">
            <a:extLst>
              <a:ext uri="{FF2B5EF4-FFF2-40B4-BE49-F238E27FC236}">
                <a16:creationId xmlns:a16="http://schemas.microsoft.com/office/drawing/2014/main" id="{AA56601B-E89F-FF64-C144-FF2911C6E6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5838" y="2735263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AutoShape 11">
            <a:extLst>
              <a:ext uri="{FF2B5EF4-FFF2-40B4-BE49-F238E27FC236}">
                <a16:creationId xmlns:a16="http://schemas.microsoft.com/office/drawing/2014/main" id="{A8BB8B2C-79A6-AD24-F47B-2875D50A2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2514" y="2976564"/>
            <a:ext cx="1304925" cy="2174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7 2 9 4 3 7 6</a:t>
            </a:r>
          </a:p>
        </p:txBody>
      </p:sp>
      <p:sp>
        <p:nvSpPr>
          <p:cNvPr id="30732" name="AutoShape 12">
            <a:extLst>
              <a:ext uri="{FF2B5EF4-FFF2-40B4-BE49-F238E27FC236}">
                <a16:creationId xmlns:a16="http://schemas.microsoft.com/office/drawing/2014/main" id="{9ECB794F-F244-C68D-ACEC-C1A0CE036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701" y="2976564"/>
            <a:ext cx="360363" cy="21748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30733" name="AutoShape 13">
            <a:extLst>
              <a:ext uri="{FF2B5EF4-FFF2-40B4-BE49-F238E27FC236}">
                <a16:creationId xmlns:a16="http://schemas.microsoft.com/office/drawing/2014/main" id="{F6EFDED0-9068-29B3-1A5C-581F379CD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2452689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ahoma" panose="020B0604030504040204" pitchFamily="34" charset="0"/>
              </a:rPr>
              <a:t>7  </a:t>
            </a:r>
            <a:r>
              <a:rPr lang="en-US" altLang="en-US" sz="1200" u="sng">
                <a:solidFill>
                  <a:srgbClr val="000000"/>
                </a:solidFill>
                <a:latin typeface="Tahoma" panose="020B0604030504040204" pitchFamily="34" charset="0"/>
              </a:rPr>
              <a:t>2 </a:t>
            </a:r>
            <a:r>
              <a:rPr lang="en-US" altLang="en-US" sz="1200">
                <a:latin typeface="Tahoma" panose="020B0604030504040204" pitchFamily="34" charset="0"/>
              </a:rPr>
              <a:t> 9  4 3  7  6  1</a:t>
            </a:r>
            <a:endParaRPr lang="en-US" altLang="en-US" sz="1200" b="1">
              <a:solidFill>
                <a:schemeClr val="accent1"/>
              </a:solidFill>
              <a:latin typeface="Tahoma" panose="020B0604030504040204" pitchFamily="34" charset="0"/>
              <a:sym typeface="Symbol" pitchFamily="2" charset="2"/>
            </a:endParaRPr>
          </a:p>
        </p:txBody>
      </p:sp>
      <p:cxnSp>
        <p:nvCxnSpPr>
          <p:cNvPr id="30734" name="AutoShape 14">
            <a:extLst>
              <a:ext uri="{FF2B5EF4-FFF2-40B4-BE49-F238E27FC236}">
                <a16:creationId xmlns:a16="http://schemas.microsoft.com/office/drawing/2014/main" id="{298CF29E-5DF6-752C-30F0-6D03C29FA980}"/>
              </a:ext>
            </a:extLst>
          </p:cNvPr>
          <p:cNvCxnSpPr>
            <a:cxnSpLocks noChangeShapeType="1"/>
            <a:stCxn id="30732" idx="0"/>
            <a:endCxn id="30733" idx="2"/>
          </p:cNvCxnSpPr>
          <p:nvPr/>
        </p:nvCxnSpPr>
        <p:spPr bwMode="auto">
          <a:xfrm flipV="1">
            <a:off x="7051676" y="2671763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5" name="AutoShape 15">
            <a:extLst>
              <a:ext uri="{FF2B5EF4-FFF2-40B4-BE49-F238E27FC236}">
                <a16:creationId xmlns:a16="http://schemas.microsoft.com/office/drawing/2014/main" id="{EC4935FF-84C0-9745-C982-A8BA0F395620}"/>
              </a:ext>
            </a:extLst>
          </p:cNvPr>
          <p:cNvCxnSpPr>
            <a:cxnSpLocks noChangeShapeType="1"/>
            <a:stCxn id="30731" idx="0"/>
            <a:endCxn id="30733" idx="2"/>
          </p:cNvCxnSpPr>
          <p:nvPr/>
        </p:nvCxnSpPr>
        <p:spPr bwMode="auto">
          <a:xfrm flipH="1" flipV="1">
            <a:off x="8204201" y="2671763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6" name="Line 16">
            <a:extLst>
              <a:ext uri="{FF2B5EF4-FFF2-40B4-BE49-F238E27FC236}">
                <a16:creationId xmlns:a16="http://schemas.microsoft.com/office/drawing/2014/main" id="{E12DEDCB-C711-B820-22C4-4548B162F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5088" y="2757488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Line 17">
            <a:extLst>
              <a:ext uri="{FF2B5EF4-FFF2-40B4-BE49-F238E27FC236}">
                <a16:creationId xmlns:a16="http://schemas.microsoft.com/office/drawing/2014/main" id="{EB8841CD-E336-5073-CC9E-371D1D7DFD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78688" y="2713038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8" name="Text Box 18">
            <a:extLst>
              <a:ext uri="{FF2B5EF4-FFF2-40B4-BE49-F238E27FC236}">
                <a16:creationId xmlns:a16="http://schemas.microsoft.com/office/drawing/2014/main" id="{01FCAF1A-22AE-8422-AE25-E53133EE3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9" y="3367088"/>
            <a:ext cx="1241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Good call</a:t>
            </a:r>
          </a:p>
        </p:txBody>
      </p:sp>
      <p:sp>
        <p:nvSpPr>
          <p:cNvPr id="30739" name="Text Box 19">
            <a:extLst>
              <a:ext uri="{FF2B5EF4-FFF2-40B4-BE49-F238E27FC236}">
                <a16:creationId xmlns:a16="http://schemas.microsoft.com/office/drawing/2014/main" id="{86D0FF95-F370-B2EE-A9A0-E3021AA29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239" y="3367088"/>
            <a:ext cx="1082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Bad call</a:t>
            </a:r>
          </a:p>
        </p:txBody>
      </p:sp>
      <p:grpSp>
        <p:nvGrpSpPr>
          <p:cNvPr id="30740" name="Group 20">
            <a:extLst>
              <a:ext uri="{FF2B5EF4-FFF2-40B4-BE49-F238E27FC236}">
                <a16:creationId xmlns:a16="http://schemas.microsoft.com/office/drawing/2014/main" id="{9543CBD7-360C-42BB-B604-88823B78CC7D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5195888"/>
            <a:ext cx="4343400" cy="381000"/>
            <a:chOff x="1776" y="3264"/>
            <a:chExt cx="2736" cy="240"/>
          </a:xfrm>
        </p:grpSpPr>
        <p:sp>
          <p:nvSpPr>
            <p:cNvPr id="30747" name="AutoShape 21">
              <a:extLst>
                <a:ext uri="{FF2B5EF4-FFF2-40B4-BE49-F238E27FC236}">
                  <a16:creationId xmlns:a16="http://schemas.microsoft.com/office/drawing/2014/main" id="{7C728C02-D426-D598-D695-77C2360B8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64"/>
              <a:ext cx="912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48" name="AutoShape 22">
              <a:extLst>
                <a:ext uri="{FF2B5EF4-FFF2-40B4-BE49-F238E27FC236}">
                  <a16:creationId xmlns:a16="http://schemas.microsoft.com/office/drawing/2014/main" id="{45B7B3CD-592F-296A-9BB7-07123BC5C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624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49" name="Rectangle 23">
              <a:extLst>
                <a:ext uri="{FF2B5EF4-FFF2-40B4-BE49-F238E27FC236}">
                  <a16:creationId xmlns:a16="http://schemas.microsoft.com/office/drawing/2014/main" id="{A8DB2654-1090-A997-85D3-4B04F0BEB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264"/>
              <a:ext cx="1296" cy="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750" name="AutoShape 24">
              <a:extLst>
                <a:ext uri="{FF2B5EF4-FFF2-40B4-BE49-F238E27FC236}">
                  <a16:creationId xmlns:a16="http://schemas.microsoft.com/office/drawing/2014/main" id="{4D155484-9E38-D7B3-EC3F-9ACB39C30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2736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ahoma" panose="020B0604030504040204" pitchFamily="34" charset="0"/>
                </a:rPr>
                <a:t>1 2 3 4 5 6 7 8 9 10 11 12 13 14 15 16</a:t>
              </a:r>
              <a:endParaRPr lang="en-US" altLang="en-US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741" name="Text Box 25">
            <a:extLst>
              <a:ext uri="{FF2B5EF4-FFF2-40B4-BE49-F238E27FC236}">
                <a16:creationId xmlns:a16="http://schemas.microsoft.com/office/drawing/2014/main" id="{A37AF49D-4A0F-7272-DDF4-A44CAE8E1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9" y="5881688"/>
            <a:ext cx="1546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Good pivots</a:t>
            </a:r>
          </a:p>
        </p:txBody>
      </p:sp>
      <p:sp>
        <p:nvSpPr>
          <p:cNvPr id="30742" name="Text Box 26">
            <a:extLst>
              <a:ext uri="{FF2B5EF4-FFF2-40B4-BE49-F238E27FC236}">
                <a16:creationId xmlns:a16="http://schemas.microsoft.com/office/drawing/2014/main" id="{876D6366-E2BA-8EEE-4D30-E00CA5B8B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1" y="58816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Bad pivots</a:t>
            </a:r>
          </a:p>
        </p:txBody>
      </p:sp>
      <p:sp>
        <p:nvSpPr>
          <p:cNvPr id="30743" name="Text Box 27">
            <a:extLst>
              <a:ext uri="{FF2B5EF4-FFF2-40B4-BE49-F238E27FC236}">
                <a16:creationId xmlns:a16="http://schemas.microsoft.com/office/drawing/2014/main" id="{A2F16263-8791-EE99-C154-2E6D46B5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6" y="58816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Bad pivots</a:t>
            </a:r>
          </a:p>
        </p:txBody>
      </p:sp>
      <p:sp>
        <p:nvSpPr>
          <p:cNvPr id="30744" name="AutoShape 28">
            <a:extLst>
              <a:ext uri="{FF2B5EF4-FFF2-40B4-BE49-F238E27FC236}">
                <a16:creationId xmlns:a16="http://schemas.microsoft.com/office/drawing/2014/main" id="{0AE2B256-2EBA-F261-080B-5B803C64334B}"/>
              </a:ext>
            </a:extLst>
          </p:cNvPr>
          <p:cNvSpPr>
            <a:spLocks/>
          </p:cNvSpPr>
          <p:nvPr/>
        </p:nvSpPr>
        <p:spPr bwMode="auto">
          <a:xfrm rot="-5400000">
            <a:off x="6134100" y="4776788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5" name="AutoShape 29">
            <a:extLst>
              <a:ext uri="{FF2B5EF4-FFF2-40B4-BE49-F238E27FC236}">
                <a16:creationId xmlns:a16="http://schemas.microsoft.com/office/drawing/2014/main" id="{F566492B-4A53-1690-D684-67E1D20F7FC6}"/>
              </a:ext>
            </a:extLst>
          </p:cNvPr>
          <p:cNvSpPr>
            <a:spLocks/>
          </p:cNvSpPr>
          <p:nvPr/>
        </p:nvSpPr>
        <p:spPr bwMode="auto">
          <a:xfrm rot="-5400000">
            <a:off x="4648200" y="5348288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6" name="AutoShape 30">
            <a:extLst>
              <a:ext uri="{FF2B5EF4-FFF2-40B4-BE49-F238E27FC236}">
                <a16:creationId xmlns:a16="http://schemas.microsoft.com/office/drawing/2014/main" id="{694482CB-A149-EAF5-EF1F-9E1828993172}"/>
              </a:ext>
            </a:extLst>
          </p:cNvPr>
          <p:cNvSpPr>
            <a:spLocks/>
          </p:cNvSpPr>
          <p:nvPr/>
        </p:nvSpPr>
        <p:spPr bwMode="auto">
          <a:xfrm rot="-5400000">
            <a:off x="7924800" y="5119688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5A0D9458-BF41-CA1A-0783-DB611475A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Expected Running Time (Cont’d)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866769FD-95A8-4DB2-6C8E-4B523D85615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828801" y="990600"/>
            <a:ext cx="8105775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tx2"/>
                </a:solidFill>
              </a:rPr>
              <a:t>Probabilistic Fact:</a:t>
            </a:r>
            <a:r>
              <a:rPr lang="en-US" altLang="en-US" sz="2000"/>
              <a:t> The expected number of coin tosses required in order to get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heads is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For a node of depth 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, we expect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 </a:t>
            </a:r>
            <a:r>
              <a:rPr lang="en-US" altLang="en-US" sz="1800"/>
              <a:t>ancestors are good calls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size of the input sequence for the current call is at most (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  <a:r>
              <a:rPr lang="en-US" altLang="en-US" sz="1800"/>
              <a:t>)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Symbol" pitchFamily="2" charset="2"/>
              </a:rPr>
              <a:t>/</a:t>
            </a:r>
            <a:r>
              <a:rPr lang="en-US" altLang="en-US" sz="1800" baseline="30000">
                <a:latin typeface="Times New Roman" panose="02020603050405020304" pitchFamily="18" charset="0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4873128C-DEC4-D549-FE21-EA25AA70B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3200401"/>
          <a:ext cx="4876800" cy="305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18400" imgH="4267200" progId="Visio.Drawing.6">
                  <p:embed/>
                </p:oleObj>
              </mc:Choice>
              <mc:Fallback>
                <p:oleObj name="VISIO" r:id="rId2" imgW="7518400" imgH="4267200" progId="Visio.Drawing.6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4873128C-DEC4-D549-FE21-EA25AA70B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200401"/>
                        <a:ext cx="4876800" cy="305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91EBDC-98CF-E356-037F-52FB48260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00400"/>
            <a:ext cx="41910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Therefore, we have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/>
              <a:t>1 ≤ (</a:t>
            </a:r>
            <a:r>
              <a:rPr lang="en-US" altLang="en-US">
                <a:latin typeface="Times New Roman" panose="02020603050405020304" pitchFamily="18" charset="0"/>
              </a:rPr>
              <a:t>3</a:t>
            </a:r>
            <a:r>
              <a:rPr lang="en-US" altLang="en-US">
                <a:latin typeface="Symbol" pitchFamily="2" charset="2"/>
              </a:rPr>
              <a:t>/</a:t>
            </a:r>
            <a:r>
              <a:rPr lang="en-US" altLang="en-US">
                <a:latin typeface="Times New Roman" panose="02020603050405020304" pitchFamily="18" charset="0"/>
              </a:rPr>
              <a:t>4</a:t>
            </a:r>
            <a:r>
              <a:rPr lang="en-US" altLang="en-US"/>
              <a:t>)</a:t>
            </a:r>
            <a:r>
              <a:rPr lang="en-US" altLang="en-US" i="1" baseline="30000">
                <a:latin typeface="Times New Roman" panose="02020603050405020304" pitchFamily="18" charset="0"/>
              </a:rPr>
              <a:t>h</a:t>
            </a:r>
            <a:r>
              <a:rPr lang="en-US" altLang="en-US" baseline="30000">
                <a:latin typeface="Symbol" pitchFamily="2" charset="2"/>
              </a:rPr>
              <a:t>/</a:t>
            </a:r>
            <a:r>
              <a:rPr lang="en-US" altLang="en-US" baseline="30000">
                <a:latin typeface="Times New Roman" panose="02020603050405020304" pitchFamily="18" charset="0"/>
              </a:rPr>
              <a:t>2</a:t>
            </a:r>
            <a:r>
              <a:rPr lang="en-US" altLang="en-US" i="1">
                <a:latin typeface="Times New Roman" panose="02020603050405020304" pitchFamily="18" charset="0"/>
              </a:rPr>
              <a:t>n, </a:t>
            </a:r>
            <a:r>
              <a:rPr lang="en-US" altLang="en-US">
                <a:latin typeface="Times New Roman" panose="02020603050405020304" pitchFamily="18" charset="0"/>
              </a:rPr>
              <a:t>where h is the height</a:t>
            </a:r>
            <a:endParaRPr lang="en-US" altLang="en-US"/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/>
              <a:t>The expected height of the quick-sort tree is </a:t>
            </a:r>
            <a:r>
              <a:rPr lang="en-US" altLang="en-US" b="1" i="1">
                <a:latin typeface="Times New Roman" panose="02020603050405020304" pitchFamily="18" charset="0"/>
              </a:rPr>
              <a:t>O</a:t>
            </a:r>
            <a:r>
              <a:rPr lang="en-US" altLang="en-US">
                <a:latin typeface="Times New Roman" panose="02020603050405020304" pitchFamily="18" charset="0"/>
              </a:rPr>
              <a:t>(log </a:t>
            </a:r>
            <a:r>
              <a:rPr lang="en-US" altLang="en-US" b="1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1200"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The amount or work done at the nodes of the same depth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12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Thus, the expected running time of quick-sort is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Times New Roman" panose="02020603050405020304" pitchFamily="18" charset="0"/>
              </a:rPr>
              <a:t>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DD15BC5-B789-E6BD-D628-82BBBBFBE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Summary of Sorting Algorithms</a:t>
            </a:r>
          </a:p>
        </p:txBody>
      </p:sp>
      <p:graphicFrame>
        <p:nvGraphicFramePr>
          <p:cNvPr id="155651" name="Group 3">
            <a:extLst>
              <a:ext uri="{FF2B5EF4-FFF2-40B4-BE49-F238E27FC236}">
                <a16:creationId xmlns:a16="http://schemas.microsoft.com/office/drawing/2014/main" id="{57F677F5-379E-097C-99CF-7172B59020BF}"/>
              </a:ext>
            </a:extLst>
          </p:cNvPr>
          <p:cNvGraphicFramePr>
            <a:graphicFrameLocks noGrp="1"/>
          </p:cNvGraphicFramePr>
          <p:nvPr/>
        </p:nvGraphicFramePr>
        <p:xfrm>
          <a:off x="2381250" y="1628775"/>
          <a:ext cx="7905750" cy="4435476"/>
        </p:xfrm>
        <a:graphic>
          <a:graphicData uri="http://schemas.openxmlformats.org/drawingml/2006/table">
            <a:tbl>
              <a:tblPr/>
              <a:tblGrid>
                <a:gridCol w="237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Algorithm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Notes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selection-sort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 (good for small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insertion-sort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slow (good for small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quick-sort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expected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in-place, randomized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fastest (good for large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heap-sort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in-place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 (good for large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merge-sort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log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sequential data access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fast  (good for huge inputs)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1A6EB05-DF43-1A54-3F0C-6BEFD76C6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Comparison-Based Sorting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C786B2B-2918-12FA-853A-2DA582BAED2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219200"/>
            <a:ext cx="80772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Many sorting algorithms are comparison based.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They sort by making comparisons between pairs of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Examples: selection-sort, insertion-sort, heap-sort, merge-sort, quick-sort, ...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us therefore derive a lower bound on the running time of any algorithm that uses comparisons to sort n elements, x</a:t>
            </a:r>
            <a:r>
              <a:rPr lang="en-US" altLang="en-US" sz="2000" baseline="-25000"/>
              <a:t>1</a:t>
            </a:r>
            <a:r>
              <a:rPr lang="en-US" altLang="en-US" sz="2000"/>
              <a:t>, x</a:t>
            </a:r>
            <a:r>
              <a:rPr lang="en-US" altLang="en-US" sz="2000" baseline="-25000"/>
              <a:t>2</a:t>
            </a:r>
            <a:r>
              <a:rPr lang="en-US" altLang="en-US" sz="2000"/>
              <a:t>, …, x</a:t>
            </a:r>
            <a:r>
              <a:rPr lang="en-US" altLang="en-US" sz="2000" baseline="-25000"/>
              <a:t>n</a:t>
            </a:r>
            <a:r>
              <a:rPr lang="en-US" altLang="en-US" sz="2000"/>
              <a:t>.</a:t>
            </a:r>
          </a:p>
        </p:txBody>
      </p:sp>
      <p:sp>
        <p:nvSpPr>
          <p:cNvPr id="32772" name="AutoShape 5">
            <a:extLst>
              <a:ext uri="{FF2B5EF4-FFF2-40B4-BE49-F238E27FC236}">
                <a16:creationId xmlns:a16="http://schemas.microsoft.com/office/drawing/2014/main" id="{7ED1D791-D220-9632-F3CF-603370097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038600"/>
            <a:ext cx="2514600" cy="1447800"/>
          </a:xfrm>
          <a:prstGeom prst="flowChartDecision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ahoma" panose="020B0604030504040204" pitchFamily="34" charset="0"/>
              </a:rPr>
              <a:t>Is x</a:t>
            </a:r>
            <a:r>
              <a:rPr lang="en-US" altLang="en-US" sz="2000" baseline="-25000">
                <a:latin typeface="Tahoma" panose="020B0604030504040204" pitchFamily="34" charset="0"/>
              </a:rPr>
              <a:t>i</a:t>
            </a:r>
            <a:r>
              <a:rPr lang="en-US" altLang="en-US" sz="2000">
                <a:latin typeface="Tahoma" panose="020B0604030504040204" pitchFamily="34" charset="0"/>
              </a:rPr>
              <a:t> &lt; x</a:t>
            </a:r>
            <a:r>
              <a:rPr lang="en-US" altLang="en-US" sz="2000" baseline="-25000">
                <a:latin typeface="Tahoma" panose="020B0604030504040204" pitchFamily="34" charset="0"/>
              </a:rPr>
              <a:t>j</a:t>
            </a:r>
            <a:r>
              <a:rPr lang="en-US" altLang="en-US" sz="2000">
                <a:latin typeface="Tahoma" panose="020B0604030504040204" pitchFamily="34" charset="0"/>
              </a:rPr>
              <a:t>?</a:t>
            </a:r>
          </a:p>
        </p:txBody>
      </p:sp>
      <p:cxnSp>
        <p:nvCxnSpPr>
          <p:cNvPr id="32773" name="AutoShape 6">
            <a:extLst>
              <a:ext uri="{FF2B5EF4-FFF2-40B4-BE49-F238E27FC236}">
                <a16:creationId xmlns:a16="http://schemas.microsoft.com/office/drawing/2014/main" id="{8E8A1E48-637F-B44B-7494-49107F955C69}"/>
              </a:ext>
            </a:extLst>
          </p:cNvPr>
          <p:cNvCxnSpPr>
            <a:cxnSpLocks noChangeShapeType="1"/>
            <a:stCxn id="32772" idx="2"/>
          </p:cNvCxnSpPr>
          <p:nvPr/>
        </p:nvCxnSpPr>
        <p:spPr bwMode="auto">
          <a:xfrm rot="5400000">
            <a:off x="4748213" y="5091113"/>
            <a:ext cx="447675" cy="125730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4" name="AutoShape 7">
            <a:extLst>
              <a:ext uri="{FF2B5EF4-FFF2-40B4-BE49-F238E27FC236}">
                <a16:creationId xmlns:a16="http://schemas.microsoft.com/office/drawing/2014/main" id="{71BF4610-B84C-C9B3-5E34-ADE617FEDA26}"/>
              </a:ext>
            </a:extLst>
          </p:cNvPr>
          <p:cNvCxnSpPr>
            <a:cxnSpLocks noChangeShapeType="1"/>
            <a:stCxn id="32772" idx="3"/>
          </p:cNvCxnSpPr>
          <p:nvPr/>
        </p:nvCxnSpPr>
        <p:spPr bwMode="auto">
          <a:xfrm>
            <a:off x="6867526" y="4762500"/>
            <a:ext cx="752475" cy="118110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5" name="Text Box 8">
            <a:extLst>
              <a:ext uri="{FF2B5EF4-FFF2-40B4-BE49-F238E27FC236}">
                <a16:creationId xmlns:a16="http://schemas.microsoft.com/office/drawing/2014/main" id="{7A92308B-BAD0-BD8D-8861-46EE9EE4D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788" y="5546726"/>
            <a:ext cx="557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ahoma" panose="020B0604030504040204" pitchFamily="34" charset="0"/>
              </a:rPr>
              <a:t>yes</a:t>
            </a:r>
          </a:p>
        </p:txBody>
      </p:sp>
      <p:sp>
        <p:nvSpPr>
          <p:cNvPr id="32776" name="Text Box 9">
            <a:extLst>
              <a:ext uri="{FF2B5EF4-FFF2-40B4-BE49-F238E27FC236}">
                <a16:creationId xmlns:a16="http://schemas.microsoft.com/office/drawing/2014/main" id="{BE48D05B-37FC-AB4B-2A4C-7BD26411F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050" y="4403726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ahoma" panose="020B0604030504040204" pitchFamily="34" charset="0"/>
              </a:rPr>
              <a:t>no</a:t>
            </a:r>
          </a:p>
        </p:txBody>
      </p:sp>
      <p:cxnSp>
        <p:nvCxnSpPr>
          <p:cNvPr id="32777" name="AutoShape 10">
            <a:extLst>
              <a:ext uri="{FF2B5EF4-FFF2-40B4-BE49-F238E27FC236}">
                <a16:creationId xmlns:a16="http://schemas.microsoft.com/office/drawing/2014/main" id="{4556A999-ECED-5D32-A95D-602B69BFE580}"/>
              </a:ext>
            </a:extLst>
          </p:cNvPr>
          <p:cNvCxnSpPr>
            <a:cxnSpLocks noChangeShapeType="1"/>
            <a:endCxn id="32772" idx="0"/>
          </p:cNvCxnSpPr>
          <p:nvPr/>
        </p:nvCxnSpPr>
        <p:spPr bwMode="auto">
          <a:xfrm rot="10800000" flipV="1">
            <a:off x="5600700" y="3733801"/>
            <a:ext cx="952500" cy="295275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0D6E4773-E121-C346-1DD2-7C4EC8CF1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Counting Comparisons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E4D048FA-1DF8-9CE6-51B5-D488106C11E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362200" y="1143000"/>
            <a:ext cx="7924800" cy="1752600"/>
          </a:xfrm>
        </p:spPr>
        <p:txBody>
          <a:bodyPr/>
          <a:lstStyle/>
          <a:p>
            <a:pPr eaLnBrk="1" hangingPunct="1"/>
            <a:r>
              <a:rPr lang="en-US" altLang="en-US" sz="2000"/>
              <a:t>Let us just count the number of comparisons then.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Each possible run of the algorithm corresponds to a root-to-leaf path in a </a:t>
            </a:r>
            <a:r>
              <a:rPr lang="en-US" altLang="en-US" sz="2000" b="1">
                <a:solidFill>
                  <a:schemeClr val="tx2"/>
                </a:solidFill>
              </a:rPr>
              <a:t>decision tree</a:t>
            </a:r>
            <a:endParaRPr lang="en-US" altLang="en-US" sz="2000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CE0293DF-1125-7417-6F7D-0A953FC4C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1" y="3071813"/>
          <a:ext cx="5332413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638800" imgH="3467100" progId="Visio.Drawing.6">
                  <p:embed/>
                </p:oleObj>
              </mc:Choice>
              <mc:Fallback>
                <p:oleObj name="VISIO" r:id="rId2" imgW="5638800" imgH="3467100" progId="Visio.Drawing.6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CE0293DF-1125-7417-6F7D-0A953FC4C6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3071813"/>
                        <a:ext cx="5332413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Box 4">
            <a:extLst>
              <a:ext uri="{FF2B5EF4-FFF2-40B4-BE49-F238E27FC236}">
                <a16:creationId xmlns:a16="http://schemas.microsoft.com/office/drawing/2014/main" id="{DF211D6F-A228-EA00-F3C9-B6FFEAD4A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429000"/>
            <a:ext cx="60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Y</a:t>
            </a:r>
          </a:p>
        </p:txBody>
      </p:sp>
      <p:sp>
        <p:nvSpPr>
          <p:cNvPr id="2054" name="TextBox 5">
            <a:extLst>
              <a:ext uri="{FF2B5EF4-FFF2-40B4-BE49-F238E27FC236}">
                <a16:creationId xmlns:a16="http://schemas.microsoft.com/office/drawing/2014/main" id="{247EDCDD-60CB-CCA1-65B3-9117B84B2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429000"/>
            <a:ext cx="60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0AB99B76-0182-ABE0-D81E-B2AC9B4E1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Decision Tree Height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62951A5-0097-3F05-353D-8E221D633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143000"/>
            <a:ext cx="8305800" cy="17526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height of this decision tree is a lower bound on the running 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Every possible input permutation must lead to a separate leaf output. 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2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Since there are n!=1*2*…*n leaves, the height is at least log (n!)</a:t>
            </a:r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D98B496D-4A38-70F2-77D9-1FC5A4EFD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5176" y="3300414"/>
          <a:ext cx="5610225" cy="317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213600" imgH="4089400" progId="Visio.Drawing.6">
                  <p:embed/>
                </p:oleObj>
              </mc:Choice>
              <mc:Fallback>
                <p:oleObj name="VISIO" r:id="rId2" imgW="7213600" imgH="4089400" progId="Visio.Drawing.6">
                  <p:embed/>
                  <p:pic>
                    <p:nvPicPr>
                      <p:cNvPr id="3074" name="Object 4">
                        <a:extLst>
                          <a:ext uri="{FF2B5EF4-FFF2-40B4-BE49-F238E27FC236}">
                            <a16:creationId xmlns:a16="http://schemas.microsoft.com/office/drawing/2014/main" id="{D98B496D-4A38-70F2-77D9-1FC5A4EFD0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176" y="3300414"/>
                        <a:ext cx="5610225" cy="317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09493062-5C2D-53A2-B4A1-C73BFC7A7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Lower Bound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8D3066F-AAAA-6539-DDB8-19480C216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371600"/>
            <a:ext cx="7924800" cy="4191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Any comparison-based sorting algorithms takes at least log (n!) 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Therefore, any such algorithm takes time at least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That is, any comparison-based sorting algorithm must run in Ω(n log n) time.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</p:txBody>
      </p:sp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BAFEEEA7-9DBF-01D3-4AF3-98F54D493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689226"/>
          <a:ext cx="57150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835300" imgH="12001500" progId="Equation.3">
                  <p:embed/>
                </p:oleObj>
              </mc:Choice>
              <mc:Fallback>
                <p:oleObj name="Equation" r:id="rId2" imgW="53835300" imgH="12001500" progId="Equation.3">
                  <p:embed/>
                  <p:pic>
                    <p:nvPicPr>
                      <p:cNvPr id="4098" name="Object 4">
                        <a:extLst>
                          <a:ext uri="{FF2B5EF4-FFF2-40B4-BE49-F238E27FC236}">
                            <a16:creationId xmlns:a16="http://schemas.microsoft.com/office/drawing/2014/main" id="{BAFEEEA7-9DBF-01D3-4AF3-98F54D4935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689226"/>
                        <a:ext cx="571500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1923</Words>
  <Application>Microsoft Office PowerPoint</Application>
  <PresentationFormat>Widescreen</PresentationFormat>
  <Paragraphs>323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VISIO</vt:lpstr>
      <vt:lpstr>Equation</vt:lpstr>
      <vt:lpstr>CS535: Algorithm Design and Analysis   Merge-Sort and Quick-Sort</vt:lpstr>
      <vt:lpstr>Divide-and-Conquer</vt:lpstr>
      <vt:lpstr>Divide-and-Conquer</vt:lpstr>
      <vt:lpstr>Merge-Sort</vt:lpstr>
      <vt:lpstr>Merging Two Sorted Sequences</vt:lpstr>
      <vt:lpstr>Merge-Sort Tree</vt:lpstr>
      <vt:lpstr>Execution Example</vt:lpstr>
      <vt:lpstr>Analysis of Merge-Sort</vt:lpstr>
      <vt:lpstr>Summary of Sorting Algorithms</vt:lpstr>
      <vt:lpstr>Quick-Sort</vt:lpstr>
      <vt:lpstr>Partition</vt:lpstr>
      <vt:lpstr>Quick-Sort Tree</vt:lpstr>
      <vt:lpstr>Execution Example</vt:lpstr>
      <vt:lpstr>Worst-case Running Time</vt:lpstr>
      <vt:lpstr>Expected Running Time</vt:lpstr>
      <vt:lpstr>Expected Running Time (Cont’d)</vt:lpstr>
      <vt:lpstr>Summary of Sorting Algorithms</vt:lpstr>
      <vt:lpstr>Comparison-Based Sorting</vt:lpstr>
      <vt:lpstr>Counting Comparisons</vt:lpstr>
      <vt:lpstr>Decision Tree Height</vt:lpstr>
      <vt:lpstr>The Lower Bound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2024-10-16T17:54:09Z</dcterms:created>
  <dcterms:modified xsi:type="dcterms:W3CDTF">2024-10-16T17:55:43Z</dcterms:modified>
</cp:coreProperties>
</file>