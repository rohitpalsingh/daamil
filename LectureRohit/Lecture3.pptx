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7" r:id="rId2"/>
    <p:sldId id="262" r:id="rId3"/>
    <p:sldId id="263" r:id="rId4"/>
    <p:sldId id="264" r:id="rId5"/>
    <p:sldId id="265" r:id="rId6"/>
    <p:sldId id="266" r:id="rId7"/>
    <p:sldId id="269" r:id="rId8"/>
    <p:sldId id="267" r:id="rId9"/>
    <p:sldId id="268" r:id="rId10"/>
    <p:sldId id="270" r:id="rId11"/>
    <p:sldId id="271" r:id="rId12"/>
    <p:sldId id="272" r:id="rId13"/>
    <p:sldId id="258" r:id="rId14"/>
    <p:sldId id="259" r:id="rId15"/>
    <p:sldId id="261" r:id="rId16"/>
    <p:sldId id="274" r:id="rId17"/>
    <p:sldId id="276" r:id="rId18"/>
    <p:sldId id="279" r:id="rId19"/>
    <p:sldId id="280" r:id="rId20"/>
    <p:sldId id="281" r:id="rId21"/>
    <p:sldId id="277" r:id="rId22"/>
    <p:sldId id="278" r:id="rId23"/>
    <p:sldId id="275" r:id="rId24"/>
    <p:sldId id="27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B0AFD-297D-41A0-8116-0D4D8907185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7BDCB7-FFCE-4D76-9890-4A9211761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55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75B89C86-2FBE-71B4-22CF-B9BB4D5E67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096839-9A23-C44E-8760-C5E55BF67D9D}" type="slidenum">
              <a:rPr lang="en-US" altLang="en-US" sz="1300" smtClean="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EE405958-0EF7-9163-6B26-4DE0D812D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2313"/>
            <a:ext cx="6396038" cy="3598862"/>
          </a:xfrm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8872769-AFD3-B31B-F44B-7F79CE32A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931475C4-0A1F-CC66-E544-47D9FA9419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ECC619D-10D3-534D-AF2B-BEC13C596363}" type="slidenum">
              <a:rPr lang="en-US" altLang="en-US" sz="1300" smtClean="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78B7C998-D137-A978-21A0-D4A3DD92C3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ED3839A-F7B9-D026-183A-B990D1436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50" tIns="48324" rIns="96650" bIns="48324"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8FB70E07-4638-5B6C-5F60-8A186A24FB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9660F1-4416-404A-B899-B7CBB160ECC6}" type="slidenum">
              <a:rPr lang="en-US" altLang="en-US" sz="1300" smtClean="0"/>
              <a:pPr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E6114296-FD86-F5CF-F75C-403BBDAF27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CAD5842-D426-E30F-D9E6-C8EAB8DB26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50" tIns="48324" rIns="96650" bIns="48324"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6A89D58E-EA4E-7D89-2665-C2D984B856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92205E-F2D4-6143-AC22-5E9B1F703E9C}" type="slidenum">
              <a:rPr lang="en-US" altLang="en-US" sz="1300" smtClean="0"/>
              <a:pPr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1AE2FF3D-BE0B-803C-5787-3A18DA407D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2313"/>
            <a:ext cx="6396038" cy="3598862"/>
          </a:xfrm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AD0968A-BDF7-8428-CCC1-E7D11278A0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67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52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89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2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67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8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58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10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5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82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7566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11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9284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37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38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4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143EA-5093-436C-9035-E3D7705D5DF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DE757FB-9D4D-46DC-87F5-10AA77CE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02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alactic_algorith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A5979FEF-2503-9FA0-5718-41584D05FB5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r>
              <a:rPr lang="en-US" altLang="en-US" sz="2400" dirty="0" err="1"/>
              <a:t>Analysis</a:t>
            </a:r>
            <a:r>
              <a:rPr lang="en-US" altLang="en-US" sz="2400" dirty="0"/>
              <a:t> of Algorithms: </a:t>
            </a:r>
            <a:br>
              <a:rPr lang="en-US" altLang="en-US" sz="2400" dirty="0"/>
            </a:br>
            <a:r>
              <a:rPr lang="en-US" altLang="en-US" sz="2400" dirty="0"/>
              <a:t>Methodologies and Case Studies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8DD9745C-A673-ACDA-601C-816EAA5298B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P.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September 11, 2024</a:t>
            </a:r>
          </a:p>
        </p:txBody>
      </p:sp>
      <p:sp>
        <p:nvSpPr>
          <p:cNvPr id="14339" name="TextBox 3">
            <a:extLst>
              <a:ext uri="{FF2B5EF4-FFF2-40B4-BE49-F238E27FC236}">
                <a16:creationId xmlns:a16="http://schemas.microsoft.com/office/drawing/2014/main" id="{F5F723DD-4DFE-E40C-F07B-D4881AA60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1.4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CCBDF2C-DCB5-212E-FE06-B656827C61DF}"/>
              </a:ext>
            </a:extLst>
          </p:cNvPr>
          <p:cNvSpPr/>
          <p:nvPr/>
        </p:nvSpPr>
        <p:spPr bwMode="auto">
          <a:xfrm>
            <a:off x="1450258" y="747714"/>
            <a:ext cx="7848600" cy="9906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8B1BB6C5-0DC4-A822-2B55-089FEC38D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87214" y="29497"/>
            <a:ext cx="4194175" cy="9144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Review: Big-Oh Rules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06B9F14-8753-5ABC-AB8B-E3657A141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133600"/>
            <a:ext cx="8077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tabLst>
                <a:tab pos="1028700" algn="l"/>
              </a:tabLst>
              <a:defRPr/>
            </a:pPr>
            <a:r>
              <a:rPr lang="en-US" sz="2200" kern="0" dirty="0"/>
              <a:t>In general, the following growth rate applies:</a:t>
            </a:r>
          </a:p>
          <a:p>
            <a:pPr marL="342900" indent="-342900">
              <a:spcBef>
                <a:spcPct val="20000"/>
              </a:spcBef>
              <a:tabLst>
                <a:tab pos="1028700" algn="l"/>
              </a:tabLst>
              <a:defRPr/>
            </a:pPr>
            <a:r>
              <a:rPr lang="en-US" sz="1600" kern="0" dirty="0"/>
              <a:t>	O(1)  O(</a:t>
            </a:r>
            <a:r>
              <a:rPr lang="en-US" sz="1600" kern="0" dirty="0" err="1"/>
              <a:t>log</a:t>
            </a:r>
            <a:r>
              <a:rPr lang="en-US" sz="1600" i="1" kern="0" dirty="0" err="1"/>
              <a:t>n</a:t>
            </a:r>
            <a:r>
              <a:rPr lang="en-US" sz="1600" kern="0" dirty="0"/>
              <a:t>)  O(log</a:t>
            </a:r>
            <a:r>
              <a:rPr lang="en-US" sz="1600" kern="0" baseline="30000" dirty="0"/>
              <a:t>2</a:t>
            </a:r>
            <a:r>
              <a:rPr lang="en-US" sz="1600" kern="0" dirty="0"/>
              <a:t>n)  O(sqrt(n))  O(</a:t>
            </a:r>
            <a:r>
              <a:rPr lang="en-US" sz="1600" i="1" kern="0" dirty="0"/>
              <a:t>n</a:t>
            </a:r>
            <a:r>
              <a:rPr lang="en-US" sz="1600" kern="0" dirty="0"/>
              <a:t>)  O(</a:t>
            </a:r>
            <a:r>
              <a:rPr lang="en-US" sz="1600" kern="0" dirty="0" err="1"/>
              <a:t>nlogn</a:t>
            </a:r>
            <a:r>
              <a:rPr lang="en-US" sz="1600" kern="0" dirty="0"/>
              <a:t>)  O(</a:t>
            </a:r>
            <a:r>
              <a:rPr lang="en-US" sz="1600" i="1" kern="0" dirty="0"/>
              <a:t>n</a:t>
            </a:r>
            <a:r>
              <a:rPr lang="en-US" sz="1600" i="1" kern="0" baseline="30000" dirty="0"/>
              <a:t>2</a:t>
            </a:r>
            <a:r>
              <a:rPr lang="en-US" sz="1600" kern="0" dirty="0"/>
              <a:t>)  O(</a:t>
            </a:r>
            <a:r>
              <a:rPr lang="en-US" sz="1600" i="1" kern="0" dirty="0" err="1"/>
              <a:t>n</a:t>
            </a:r>
            <a:r>
              <a:rPr lang="en-US" sz="1600" i="1" kern="0" baseline="30000" dirty="0" err="1"/>
              <a:t>k</a:t>
            </a:r>
            <a:r>
              <a:rPr lang="en-US" sz="1600" kern="0" dirty="0"/>
              <a:t>) (</a:t>
            </a:r>
            <a:r>
              <a:rPr lang="en-US" sz="1600" i="1" kern="0" dirty="0"/>
              <a:t>k</a:t>
            </a:r>
            <a:r>
              <a:rPr lang="en-US" sz="1600" kern="0" dirty="0"/>
              <a:t>&gt;=2)  O(</a:t>
            </a:r>
            <a:r>
              <a:rPr lang="en-US" sz="1600" i="1" kern="0" dirty="0"/>
              <a:t>a</a:t>
            </a:r>
            <a:r>
              <a:rPr lang="en-US" sz="1600" i="1" kern="0" baseline="30000" dirty="0"/>
              <a:t>n</a:t>
            </a:r>
            <a:r>
              <a:rPr lang="en-US" sz="1600" kern="0" dirty="0"/>
              <a:t>) (</a:t>
            </a:r>
            <a:r>
              <a:rPr lang="en-US" sz="1600" i="1" kern="0" dirty="0"/>
              <a:t>a</a:t>
            </a:r>
            <a:r>
              <a:rPr lang="en-US" sz="1600" kern="0" dirty="0"/>
              <a:t>&gt;1)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tabLst>
                <a:tab pos="1028700" algn="l"/>
              </a:tabLst>
              <a:defRPr/>
            </a:pPr>
            <a:endParaRPr lang="en-US" sz="1600" kern="0" dirty="0"/>
          </a:p>
          <a:p>
            <a:pPr marL="342900" indent="-342900">
              <a:spcBef>
                <a:spcPct val="20000"/>
              </a:spcBef>
              <a:buFontTx/>
              <a:buChar char="•"/>
              <a:tabLst>
                <a:tab pos="1028700" algn="l"/>
              </a:tabLst>
              <a:defRPr/>
            </a:pPr>
            <a:r>
              <a:rPr lang="en-US" sz="2200" kern="0" dirty="0"/>
              <a:t>If </a:t>
            </a:r>
            <a:r>
              <a:rPr lang="en-US" sz="2200" b="1" i="1" kern="0" dirty="0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200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200" b="1" i="1" kern="0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200" kern="0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2200" kern="0" dirty="0"/>
              <a:t> is a polynomial of degree </a:t>
            </a:r>
            <a:r>
              <a:rPr lang="en-US" sz="2200" b="1" i="1" kern="0" dirty="0">
                <a:latin typeface="Times New Roman" pitchFamily="18" charset="0"/>
                <a:sym typeface="Symbol" pitchFamily="18" charset="2"/>
              </a:rPr>
              <a:t>d</a:t>
            </a:r>
            <a:r>
              <a:rPr lang="en-US" sz="2200" kern="0" dirty="0"/>
              <a:t>, then </a:t>
            </a:r>
            <a:r>
              <a:rPr lang="en-US" sz="2200" b="1" i="1" kern="0" dirty="0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200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200" b="1" i="1" kern="0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200" kern="0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2200" kern="0" dirty="0"/>
              <a:t> is </a:t>
            </a:r>
            <a:r>
              <a:rPr lang="en-US" sz="2200" b="1" i="1" kern="0" dirty="0">
                <a:latin typeface="Times New Roman" pitchFamily="18" charset="0"/>
                <a:sym typeface="Symbol" pitchFamily="18" charset="2"/>
              </a:rPr>
              <a:t>O</a:t>
            </a:r>
            <a:r>
              <a:rPr lang="en-US" sz="2200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200" b="1" i="1" kern="0" dirty="0" err="1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200" b="1" i="1" kern="0" baseline="30000" dirty="0" err="1">
                <a:latin typeface="Times New Roman" pitchFamily="18" charset="0"/>
                <a:sym typeface="Symbol" pitchFamily="18" charset="2"/>
              </a:rPr>
              <a:t>d</a:t>
            </a:r>
            <a:r>
              <a:rPr lang="en-US" sz="2200" kern="0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2200" kern="0" dirty="0"/>
              <a:t>, i.e.,</a:t>
            </a:r>
          </a:p>
          <a:p>
            <a:pPr marL="1028700" lvl="1" indent="-285750">
              <a:spcBef>
                <a:spcPct val="20000"/>
              </a:spcBef>
              <a:buFont typeface="Wingdings" pitchFamily="2" charset="2"/>
              <a:buAutoNum type="arabicPeriod"/>
              <a:tabLst>
                <a:tab pos="1028700" algn="l"/>
              </a:tabLst>
              <a:defRPr/>
            </a:pPr>
            <a:r>
              <a:rPr lang="en-US" kern="0" dirty="0"/>
              <a:t>Drop lower-order terms</a:t>
            </a:r>
          </a:p>
          <a:p>
            <a:pPr marL="1028700" lvl="1" indent="-285750">
              <a:spcBef>
                <a:spcPct val="20000"/>
              </a:spcBef>
              <a:buFont typeface="Wingdings" pitchFamily="2" charset="2"/>
              <a:buAutoNum type="arabicPeriod"/>
              <a:tabLst>
                <a:tab pos="1028700" algn="l"/>
              </a:tabLst>
              <a:defRPr/>
            </a:pPr>
            <a:r>
              <a:rPr lang="en-US" kern="0" dirty="0"/>
              <a:t>Drop constant coefficients</a:t>
            </a:r>
          </a:p>
          <a:p>
            <a:pPr marL="1028700" lvl="1" indent="-285750">
              <a:spcBef>
                <a:spcPct val="20000"/>
              </a:spcBef>
              <a:tabLst>
                <a:tab pos="1028700" algn="l"/>
              </a:tabLst>
              <a:defRPr/>
            </a:pPr>
            <a:endParaRPr lang="en-US" kern="0" dirty="0"/>
          </a:p>
          <a:p>
            <a:pPr marL="342900" indent="-342900">
              <a:spcBef>
                <a:spcPct val="20000"/>
              </a:spcBef>
              <a:buFontTx/>
              <a:buChar char="•"/>
              <a:tabLst>
                <a:tab pos="1028700" algn="l"/>
              </a:tabLst>
              <a:defRPr/>
            </a:pPr>
            <a:r>
              <a:rPr lang="en-US" sz="2200" kern="0" dirty="0"/>
              <a:t>Use the smallest possible class of functions</a:t>
            </a:r>
          </a:p>
          <a:p>
            <a:pPr marL="1028700" lvl="1" indent="-285750">
              <a:spcBef>
                <a:spcPct val="20000"/>
              </a:spcBef>
              <a:buFontTx/>
              <a:buChar char="–"/>
              <a:tabLst>
                <a:tab pos="1028700" algn="l"/>
              </a:tabLst>
              <a:defRPr/>
            </a:pPr>
            <a:r>
              <a:rPr lang="en-US" kern="0" dirty="0"/>
              <a:t>Say “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b="1" i="1" kern="0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kern="0" dirty="0">
                <a:sym typeface="Symbol" pitchFamily="18" charset="2"/>
              </a:rPr>
              <a:t> is </a:t>
            </a:r>
            <a:r>
              <a:rPr lang="en-US" b="1" i="1" kern="0" dirty="0">
                <a:latin typeface="Times New Roman" pitchFamily="18" charset="0"/>
                <a:sym typeface="Symbol" pitchFamily="18" charset="2"/>
              </a:rPr>
              <a:t>O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b="1" i="1" kern="0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kern="0" dirty="0">
                <a:sym typeface="Symbol" pitchFamily="18" charset="2"/>
              </a:rPr>
              <a:t>”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kern="0" dirty="0"/>
              <a:t>instead of “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b="1" i="1" kern="0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kern="0" dirty="0">
                <a:sym typeface="Symbol" pitchFamily="18" charset="2"/>
              </a:rPr>
              <a:t> is </a:t>
            </a:r>
            <a:r>
              <a:rPr lang="en-US" b="1" i="1" kern="0" dirty="0">
                <a:latin typeface="Times New Roman" pitchFamily="18" charset="0"/>
                <a:sym typeface="Symbol" pitchFamily="18" charset="2"/>
              </a:rPr>
              <a:t>O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b="1" i="1" kern="0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kern="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kern="0" dirty="0">
                <a:sym typeface="Symbol" pitchFamily="18" charset="2"/>
              </a:rPr>
              <a:t>”</a:t>
            </a:r>
          </a:p>
          <a:p>
            <a:pPr marL="1028700" lvl="1" indent="-285750">
              <a:spcBef>
                <a:spcPct val="20000"/>
              </a:spcBef>
              <a:buFontTx/>
              <a:buChar char="–"/>
              <a:tabLst>
                <a:tab pos="1028700" algn="l"/>
              </a:tabLst>
              <a:defRPr/>
            </a:pPr>
            <a:endParaRPr lang="en-US" kern="0" dirty="0"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tabLst>
                <a:tab pos="1028700" algn="l"/>
              </a:tabLst>
              <a:defRPr/>
            </a:pPr>
            <a:r>
              <a:rPr lang="en-US" sz="2200" kern="0" dirty="0">
                <a:sym typeface="Symbol" pitchFamily="18" charset="2"/>
              </a:rPr>
              <a:t>Use the simplest expression of the class</a:t>
            </a:r>
          </a:p>
          <a:p>
            <a:pPr marL="1028700" lvl="1" indent="-285750">
              <a:spcBef>
                <a:spcPct val="20000"/>
              </a:spcBef>
              <a:buFontTx/>
              <a:buChar char="–"/>
              <a:tabLst>
                <a:tab pos="1028700" algn="l"/>
              </a:tabLst>
              <a:defRPr/>
            </a:pPr>
            <a:r>
              <a:rPr lang="en-US" kern="0" dirty="0"/>
              <a:t>Say “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3</a:t>
            </a:r>
            <a:r>
              <a:rPr lang="en-US" b="1" i="1" kern="0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b="1" kern="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kern="0" dirty="0">
                <a:latin typeface="Symbol" pitchFamily="18" charset="2"/>
                <a:sym typeface="Symbol" pitchFamily="18" charset="2"/>
              </a:rPr>
              <a:t>+</a:t>
            </a:r>
            <a:r>
              <a:rPr lang="en-US" b="1" kern="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5</a:t>
            </a:r>
            <a:r>
              <a:rPr lang="en-US" kern="0" dirty="0">
                <a:sym typeface="Symbol" pitchFamily="18" charset="2"/>
              </a:rPr>
              <a:t> is </a:t>
            </a:r>
            <a:r>
              <a:rPr lang="en-US" b="1" i="1" kern="0" dirty="0">
                <a:latin typeface="Times New Roman" pitchFamily="18" charset="0"/>
                <a:sym typeface="Symbol" pitchFamily="18" charset="2"/>
              </a:rPr>
              <a:t>O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b="1" i="1" kern="0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kern="0" dirty="0">
                <a:sym typeface="Symbol" pitchFamily="18" charset="2"/>
              </a:rPr>
              <a:t>”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kern="0" dirty="0"/>
              <a:t>instead of “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3</a:t>
            </a:r>
            <a:r>
              <a:rPr lang="en-US" b="1" i="1" kern="0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b="1" kern="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kern="0" dirty="0">
                <a:latin typeface="Symbol" pitchFamily="18" charset="2"/>
                <a:sym typeface="Symbol" pitchFamily="18" charset="2"/>
              </a:rPr>
              <a:t>+</a:t>
            </a:r>
            <a:r>
              <a:rPr lang="en-US" b="1" kern="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5</a:t>
            </a:r>
            <a:r>
              <a:rPr lang="en-US" kern="0" dirty="0">
                <a:sym typeface="Symbol" pitchFamily="18" charset="2"/>
              </a:rPr>
              <a:t> is </a:t>
            </a:r>
            <a:r>
              <a:rPr lang="en-US" b="1" i="1" kern="0" dirty="0">
                <a:latin typeface="Times New Roman" pitchFamily="18" charset="0"/>
                <a:sym typeface="Symbol" pitchFamily="18" charset="2"/>
              </a:rPr>
              <a:t>O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(3</a:t>
            </a:r>
            <a:r>
              <a:rPr lang="en-US" b="1" i="1" kern="0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kern="0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kern="0" dirty="0">
                <a:sym typeface="Symbol" pitchFamily="18" charset="2"/>
              </a:rPr>
              <a:t>”</a:t>
            </a:r>
          </a:p>
        </p:txBody>
      </p:sp>
      <p:sp>
        <p:nvSpPr>
          <p:cNvPr id="16388" name="Line 5">
            <a:extLst>
              <a:ext uri="{FF2B5EF4-FFF2-40B4-BE49-F238E27FC236}">
                <a16:creationId xmlns:a16="http://schemas.microsoft.com/office/drawing/2014/main" id="{E8859CDD-481B-10A8-C559-13355194F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895600"/>
            <a:ext cx="74676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0319142A-1DF1-068C-598E-153DB2B06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901" y="854256"/>
            <a:ext cx="792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Given functions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f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</a:t>
            </a:r>
            <a:r>
              <a:rPr lang="en-US" altLang="en-US" sz="2000" dirty="0">
                <a:sym typeface="Symbol" pitchFamily="2" charset="2"/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g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</a:t>
            </a:r>
            <a:r>
              <a:rPr lang="en-US" altLang="en-US" sz="2000" dirty="0">
                <a:sym typeface="Symbol" pitchFamily="2" charset="2"/>
              </a:rPr>
              <a:t>, </a:t>
            </a:r>
            <a:r>
              <a:rPr lang="en-US" altLang="en-US" sz="2000" dirty="0"/>
              <a:t>we say that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f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</a:t>
            </a:r>
            <a:r>
              <a:rPr lang="en-US" altLang="en-US" sz="2000" dirty="0">
                <a:sym typeface="Symbol" pitchFamily="2" charset="2"/>
              </a:rPr>
              <a:t> </a:t>
            </a:r>
            <a:r>
              <a:rPr lang="en-US" altLang="en-US" sz="2000" dirty="0"/>
              <a:t>is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O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g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))</a:t>
            </a:r>
            <a:r>
              <a:rPr lang="en-US" altLang="en-US" sz="2000" dirty="0">
                <a:sym typeface="Symbol" pitchFamily="2" charset="2"/>
              </a:rPr>
              <a:t> </a:t>
            </a:r>
            <a:r>
              <a:rPr lang="en-US" altLang="en-US" sz="2000" dirty="0"/>
              <a:t>if there are positive constants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c</a:t>
            </a:r>
            <a:r>
              <a:rPr lang="en-US" altLang="en-US" sz="2000" dirty="0">
                <a:solidFill>
                  <a:srgbClr val="FF6600"/>
                </a:solidFill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baseline="-25000" dirty="0">
                <a:solidFill>
                  <a:srgbClr val="FF6600"/>
                </a:solidFill>
                <a:sym typeface="Symbol" pitchFamily="2" charset="2"/>
              </a:rPr>
              <a:t>0</a:t>
            </a:r>
            <a:r>
              <a:rPr lang="en-US" altLang="en-US" sz="2000" dirty="0"/>
              <a:t> such that:  </a:t>
            </a:r>
            <a:r>
              <a:rPr lang="en-US" altLang="en-US" sz="2000" i="1" dirty="0">
                <a:sym typeface="Symbol" pitchFamily="2" charset="2"/>
              </a:rPr>
              <a:t>f</a:t>
            </a:r>
            <a:r>
              <a:rPr lang="en-US" altLang="en-US" sz="2000" dirty="0">
                <a:sym typeface="Symbol" pitchFamily="2" charset="2"/>
              </a:rPr>
              <a:t>(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dirty="0">
                <a:sym typeface="Symbol" pitchFamily="2" charset="2"/>
              </a:rPr>
              <a:t>)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itchFamily="2" charset="2"/>
              </a:rPr>
              <a:t></a:t>
            </a:r>
            <a:r>
              <a:rPr lang="en-US" altLang="en-US" sz="2000" dirty="0"/>
              <a:t> </a:t>
            </a:r>
            <a:r>
              <a:rPr lang="en-US" altLang="en-US" sz="2000" i="1" dirty="0">
                <a:sym typeface="Symbol" pitchFamily="2" charset="2"/>
              </a:rPr>
              <a:t>cg</a:t>
            </a:r>
            <a:r>
              <a:rPr lang="en-US" altLang="en-US" sz="2000" dirty="0">
                <a:sym typeface="Symbol" pitchFamily="2" charset="2"/>
              </a:rPr>
              <a:t>(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dirty="0">
                <a:sym typeface="Symbol" pitchFamily="2" charset="2"/>
              </a:rPr>
              <a:t>)  </a:t>
            </a:r>
            <a:r>
              <a:rPr lang="en-US" altLang="en-US" sz="2000" dirty="0"/>
              <a:t>for </a:t>
            </a:r>
            <a:r>
              <a:rPr lang="en-US" altLang="en-US" sz="2000" i="1" dirty="0">
                <a:sym typeface="Symbol" pitchFamily="2" charset="2"/>
              </a:rPr>
              <a:t>n </a:t>
            </a:r>
            <a:r>
              <a:rPr lang="en-US" altLang="en-US" sz="2000" dirty="0">
                <a:sym typeface="Symbol" pitchFamily="2" charset="2"/>
              </a:rPr>
              <a:t></a:t>
            </a:r>
            <a:r>
              <a:rPr lang="en-US" altLang="en-US" sz="2000" dirty="0"/>
              <a:t> 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baseline="-25000" dirty="0">
                <a:sym typeface="Symbol" pitchFamily="2" charset="2"/>
              </a:rPr>
              <a:t>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DAFF45EC-07F1-E886-0C06-5B4FC9039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2296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/>
              <a:t>Review: Some Other Useful Rules</a:t>
            </a:r>
            <a:r>
              <a:rPr lang="en-US" altLang="en-US"/>
              <a:t> 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C9B47718-C0E6-2DAF-20D0-15B62CC69D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371600"/>
            <a:ext cx="7772400" cy="4114800"/>
          </a:xfrm>
        </p:spPr>
        <p:txBody>
          <a:bodyPr>
            <a:normAutofit fontScale="92500"/>
          </a:bodyPr>
          <a:lstStyle/>
          <a:p>
            <a:pPr eaLnBrk="1" hangingPunct="1">
              <a:buFontTx/>
              <a:buNone/>
            </a:pPr>
            <a:r>
              <a:rPr lang="en-US" altLang="en-US" sz="2000" dirty="0"/>
              <a:t>Let d, e, f, g are </a:t>
            </a:r>
            <a:r>
              <a:rPr lang="en-US" altLang="en-US" sz="2000" dirty="0">
                <a:solidFill>
                  <a:srgbClr val="C00000"/>
                </a:solidFill>
              </a:rPr>
              <a:t>nonnegative</a:t>
            </a:r>
            <a:r>
              <a:rPr lang="en-US" altLang="en-US" sz="2000" dirty="0"/>
              <a:t> functions: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If d(n) is O(f(n)), then a*d(n) is O(f(n)) for any constant a&gt;0.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If d(n) is O(f(n)) and e(n) is O(g(n)), then d(n)+e(n) is O(f(n)+g(n)).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If d(n) is O(f(n)) and e(n) is O(g(n)), then d(n)*e(n) is O(f(n)*g(n)).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If d(n) is O(f(n)) and f(n) is O(g(n)), then d(n) is O(g(n))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B1A900F-3AB2-2731-A696-5ACF0BD77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28600"/>
            <a:ext cx="6248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More Big-Oh Examples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23C9C7C7-E00F-AD73-CBF6-198DD5458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2000" i="1" dirty="0">
                <a:solidFill>
                  <a:srgbClr val="FF6600"/>
                </a:solidFill>
              </a:rPr>
              <a:t>Example 1</a:t>
            </a:r>
            <a:r>
              <a:rPr lang="en-US" altLang="en-US" sz="2000" dirty="0"/>
              <a:t>: 7n-2 is O(n)</a:t>
            </a:r>
          </a:p>
        </p:txBody>
      </p:sp>
      <p:sp>
        <p:nvSpPr>
          <p:cNvPr id="130052" name="Rectangle 4">
            <a:extLst>
              <a:ext uri="{FF2B5EF4-FFF2-40B4-BE49-F238E27FC236}">
                <a16:creationId xmlns:a16="http://schemas.microsoft.com/office/drawing/2014/main" id="{E8CF7CCE-8FF6-268E-4C55-F759D63D4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364" y="1905000"/>
            <a:ext cx="781843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/>
              <a:t>need c &gt; 0 and n</a:t>
            </a:r>
            <a:r>
              <a:rPr lang="en-US" altLang="en-US" sz="1800" baseline="-25000" dirty="0"/>
              <a:t>0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itchFamily="2" charset="2"/>
              </a:rPr>
              <a:t> 1 such that</a:t>
            </a:r>
            <a:r>
              <a:rPr lang="en-US" altLang="en-US" sz="1800" dirty="0"/>
              <a:t> 7n-2 </a:t>
            </a:r>
            <a:r>
              <a:rPr lang="en-US" altLang="en-US" sz="1800" dirty="0">
                <a:sym typeface="Symbol" pitchFamily="2" charset="2"/>
              </a:rPr>
              <a:t> </a:t>
            </a:r>
            <a:r>
              <a:rPr lang="en-US" altLang="en-US" sz="1800" dirty="0" err="1">
                <a:sym typeface="Symbol" pitchFamily="2" charset="2"/>
              </a:rPr>
              <a:t>c•n</a:t>
            </a:r>
            <a:r>
              <a:rPr lang="en-US" altLang="en-US" sz="1800" dirty="0">
                <a:sym typeface="Symbol" pitchFamily="2" charset="2"/>
              </a:rPr>
              <a:t> for n 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endParaRPr lang="en-US" altLang="en-US" sz="1800" dirty="0">
              <a:sym typeface="Symbol" pitchFamily="2" charset="2"/>
            </a:endParaRP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>
                <a:sym typeface="Symbol" pitchFamily="2" charset="2"/>
              </a:rPr>
              <a:t>this is true for c = 7 and </a:t>
            </a:r>
            <a:r>
              <a:rPr lang="en-US" altLang="en-US" sz="1800" dirty="0"/>
              <a:t>n</a:t>
            </a:r>
            <a:r>
              <a:rPr lang="en-US" altLang="en-US" sz="1800" baseline="-25000" dirty="0"/>
              <a:t>0</a:t>
            </a:r>
            <a:r>
              <a:rPr lang="en-US" altLang="en-US" sz="1800" dirty="0">
                <a:sym typeface="Symbol" pitchFamily="2" charset="2"/>
              </a:rPr>
              <a:t> = 1</a:t>
            </a:r>
            <a:endParaRPr lang="en-US" altLang="en-US" sz="1800" dirty="0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1520851C-6EA8-26CC-D31D-2DFB278C6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71800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None/>
            </a:pPr>
            <a:r>
              <a:rPr lang="en-US" altLang="en-US" sz="2000" i="1" dirty="0">
                <a:solidFill>
                  <a:srgbClr val="FF6600"/>
                </a:solidFill>
              </a:rPr>
              <a:t>Example 2</a:t>
            </a:r>
            <a:r>
              <a:rPr lang="en-US" altLang="en-US" sz="2000" dirty="0"/>
              <a:t>: 3n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 + 20n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+ 5 is O(n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)</a:t>
            </a:r>
          </a:p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endParaRPr lang="en-US" altLang="en-US" sz="2000" dirty="0"/>
          </a:p>
        </p:txBody>
      </p:sp>
      <p:sp>
        <p:nvSpPr>
          <p:cNvPr id="130054" name="Rectangle 6">
            <a:extLst>
              <a:ext uri="{FF2B5EF4-FFF2-40B4-BE49-F238E27FC236}">
                <a16:creationId xmlns:a16="http://schemas.microsoft.com/office/drawing/2014/main" id="{D1308567-DB2E-B6F3-A61E-E2560622F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505200"/>
            <a:ext cx="7391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/>
              <a:t>need c &gt; 0 and n</a:t>
            </a:r>
            <a:r>
              <a:rPr lang="en-US" altLang="en-US" sz="1800" baseline="-25000" dirty="0"/>
              <a:t>0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itchFamily="2" charset="2"/>
              </a:rPr>
              <a:t> 1 such that</a:t>
            </a:r>
            <a:r>
              <a:rPr lang="en-US" altLang="en-US" sz="1800" dirty="0"/>
              <a:t> 3n</a:t>
            </a:r>
            <a:r>
              <a:rPr lang="en-US" altLang="en-US" sz="1800" baseline="30000" dirty="0"/>
              <a:t>3</a:t>
            </a:r>
            <a:r>
              <a:rPr lang="en-US" altLang="en-US" sz="1800" dirty="0"/>
              <a:t> + 20n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 + 5 </a:t>
            </a:r>
            <a:r>
              <a:rPr lang="en-US" altLang="en-US" sz="1800" dirty="0">
                <a:sym typeface="Symbol" pitchFamily="2" charset="2"/>
              </a:rPr>
              <a:t> c•n</a:t>
            </a:r>
            <a:r>
              <a:rPr lang="en-US" altLang="en-US" sz="1800" baseline="30000" dirty="0">
                <a:sym typeface="Symbol" pitchFamily="2" charset="2"/>
              </a:rPr>
              <a:t>3</a:t>
            </a:r>
            <a:r>
              <a:rPr lang="en-US" altLang="en-US" sz="1800" dirty="0">
                <a:sym typeface="Symbol" pitchFamily="2" charset="2"/>
              </a:rPr>
              <a:t> for n 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endParaRPr lang="en-US" altLang="en-US" sz="1800" dirty="0">
              <a:sym typeface="Symbol" pitchFamily="2" charset="2"/>
            </a:endParaRP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>
                <a:sym typeface="Symbol" pitchFamily="2" charset="2"/>
              </a:rPr>
              <a:t>this is true for c = 4 and </a:t>
            </a:r>
            <a:r>
              <a:rPr lang="en-US" altLang="en-US" sz="1800" dirty="0"/>
              <a:t>n</a:t>
            </a:r>
            <a:r>
              <a:rPr lang="en-US" altLang="en-US" sz="1800" baseline="-25000" dirty="0"/>
              <a:t>0</a:t>
            </a:r>
            <a:r>
              <a:rPr lang="en-US" altLang="en-US" sz="1800" dirty="0">
                <a:sym typeface="Symbol" pitchFamily="2" charset="2"/>
              </a:rPr>
              <a:t> = 21</a:t>
            </a:r>
            <a:endParaRPr lang="en-US" altLang="en-US" sz="1800" dirty="0"/>
          </a:p>
        </p:txBody>
      </p:sp>
      <p:sp>
        <p:nvSpPr>
          <p:cNvPr id="18438" name="Rectangle 7">
            <a:extLst>
              <a:ext uri="{FF2B5EF4-FFF2-40B4-BE49-F238E27FC236}">
                <a16:creationId xmlns:a16="http://schemas.microsoft.com/office/drawing/2014/main" id="{340A3498-4613-8501-4495-EE2613115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724400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None/>
            </a:pPr>
            <a:r>
              <a:rPr lang="en-US" altLang="en-US" sz="2000" i="1" dirty="0">
                <a:solidFill>
                  <a:srgbClr val="FF6600"/>
                </a:solidFill>
              </a:rPr>
              <a:t>Example 3</a:t>
            </a:r>
            <a:r>
              <a:rPr lang="en-US" altLang="en-US" sz="2000" dirty="0"/>
              <a:t>: 3 log n + log log n is O(log n)</a:t>
            </a:r>
          </a:p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endParaRPr lang="en-US" altLang="en-US" sz="2000" dirty="0"/>
          </a:p>
        </p:txBody>
      </p:sp>
      <p:sp>
        <p:nvSpPr>
          <p:cNvPr id="130056" name="Rectangle 8">
            <a:extLst>
              <a:ext uri="{FF2B5EF4-FFF2-40B4-BE49-F238E27FC236}">
                <a16:creationId xmlns:a16="http://schemas.microsoft.com/office/drawing/2014/main" id="{45F29479-A922-50BA-066F-C7B3E6D2E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257800"/>
            <a:ext cx="7924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/>
              <a:t>need c &gt; 0 and n</a:t>
            </a:r>
            <a:r>
              <a:rPr lang="en-US" altLang="en-US" sz="1800" baseline="-25000" dirty="0"/>
              <a:t>0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itchFamily="2" charset="2"/>
              </a:rPr>
              <a:t> 1 such that</a:t>
            </a:r>
            <a:r>
              <a:rPr lang="en-US" altLang="en-US" sz="1800" dirty="0"/>
              <a:t> 3 log n + log log n </a:t>
            </a:r>
            <a:r>
              <a:rPr lang="en-US" altLang="en-US" sz="1800" dirty="0">
                <a:sym typeface="Symbol" pitchFamily="2" charset="2"/>
              </a:rPr>
              <a:t> </a:t>
            </a:r>
            <a:r>
              <a:rPr lang="en-US" altLang="en-US" sz="1800" dirty="0" err="1">
                <a:sym typeface="Symbol" pitchFamily="2" charset="2"/>
              </a:rPr>
              <a:t>c•log</a:t>
            </a:r>
            <a:r>
              <a:rPr lang="en-US" altLang="en-US" sz="1800" dirty="0">
                <a:sym typeface="Symbol" pitchFamily="2" charset="2"/>
              </a:rPr>
              <a:t> n for n 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endParaRPr lang="en-US" altLang="en-US" sz="1800" dirty="0">
              <a:sym typeface="Symbol" pitchFamily="2" charset="2"/>
            </a:endParaRPr>
          </a:p>
          <a:p>
            <a:pPr lvl="1"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 dirty="0">
                <a:sym typeface="Symbol" pitchFamily="2" charset="2"/>
              </a:rPr>
              <a:t>this is true for c = 4 and </a:t>
            </a:r>
            <a:r>
              <a:rPr lang="en-US" altLang="en-US" sz="1800" dirty="0"/>
              <a:t>n</a:t>
            </a:r>
            <a:r>
              <a:rPr lang="en-US" altLang="en-US" sz="1800" baseline="-25000" dirty="0"/>
              <a:t>0</a:t>
            </a:r>
            <a:r>
              <a:rPr lang="en-US" altLang="en-US" sz="1800" dirty="0">
                <a:sym typeface="Symbol" pitchFamily="2" charset="2"/>
              </a:rPr>
              <a:t> = 2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2" grpId="0" autoUpdateAnimBg="0"/>
      <p:bldP spid="130054" grpId="0" autoUpdateAnimBg="0"/>
      <p:bldP spid="13005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918CF9DA-E047-F8F5-7ECD-F412CD7B5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Asymptotic Algorithm Analysis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AB7A7D51-B3F3-CF4F-F438-9D8C5C936E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143000"/>
            <a:ext cx="8001000" cy="4724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asymptotic analysis of an algorithm determines the running time in big-Oh notation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To perform the asymptotic analysis</a:t>
            </a:r>
          </a:p>
          <a:p>
            <a:pPr marL="1028700" lvl="1"/>
            <a:r>
              <a:rPr lang="en-US" altLang="en-US" sz="1800" dirty="0"/>
              <a:t>We find the worst-case number of primitive operations executed as a function of the input size</a:t>
            </a:r>
          </a:p>
          <a:p>
            <a:pPr marL="1028700" lvl="1"/>
            <a:r>
              <a:rPr lang="en-US" altLang="en-US" sz="1800" dirty="0"/>
              <a:t>We express this function with big-Oh notation</a:t>
            </a:r>
          </a:p>
          <a:p>
            <a:pPr marL="1028700" lvl="1"/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i="1" dirty="0"/>
              <a:t>Example</a:t>
            </a:r>
            <a:r>
              <a:rPr lang="en-US" altLang="en-US" sz="2000" dirty="0"/>
              <a:t>:</a:t>
            </a:r>
          </a:p>
          <a:p>
            <a:pPr marL="1028700" lvl="1"/>
            <a:r>
              <a:rPr lang="en-US" altLang="en-US" sz="1800" dirty="0"/>
              <a:t>We determine that algorithm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arrayMax</a:t>
            </a:r>
            <a:r>
              <a:rPr lang="en-US" altLang="en-US" sz="1800" dirty="0"/>
              <a:t> executes at most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7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2 </a:t>
            </a:r>
            <a:r>
              <a:rPr lang="en-US" altLang="en-US" sz="1800" dirty="0"/>
              <a:t>primitive operations</a:t>
            </a:r>
          </a:p>
          <a:p>
            <a:pPr marL="1028700" lvl="1"/>
            <a:r>
              <a:rPr lang="en-US" altLang="en-US" sz="1800" dirty="0"/>
              <a:t>We say that algorithm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arrayMax</a:t>
            </a:r>
            <a:r>
              <a:rPr lang="en-US" altLang="en-US" sz="1800" dirty="0"/>
              <a:t> “runs in 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1800" dirty="0"/>
              <a:t>time”</a:t>
            </a:r>
          </a:p>
          <a:p>
            <a:pPr marL="1028700" lvl="1"/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Since constant factors and lower-order terms are eventually dropped anyhow, we can disregard them when counting primitive operations. This is also the weakness of the big-Oh notation: 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</p:txBody>
      </p:sp>
      <p:sp>
        <p:nvSpPr>
          <p:cNvPr id="19459" name="TextBox 1">
            <a:extLst>
              <a:ext uri="{FF2B5EF4-FFF2-40B4-BE49-F238E27FC236}">
                <a16:creationId xmlns:a16="http://schemas.microsoft.com/office/drawing/2014/main" id="{EAAB7623-AB15-3093-FA94-605B92A90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1" y="5683045"/>
            <a:ext cx="459581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C00000"/>
                </a:solidFill>
                <a:latin typeface="Caveat"/>
              </a:rPr>
              <a:t>Ex: 10</a:t>
            </a:r>
            <a:r>
              <a:rPr lang="en-US" altLang="en-US" sz="2200" baseline="30000" dirty="0">
                <a:solidFill>
                  <a:srgbClr val="C00000"/>
                </a:solidFill>
                <a:latin typeface="Caveat"/>
              </a:rPr>
              <a:t>100</a:t>
            </a:r>
            <a:r>
              <a:rPr lang="en-US" altLang="en-US" sz="2200" dirty="0">
                <a:solidFill>
                  <a:srgbClr val="C00000"/>
                </a:solidFill>
                <a:latin typeface="Caveat"/>
              </a:rPr>
              <a:t> n  vs  n log n </a:t>
            </a:r>
            <a:endParaRPr lang="en-US" altLang="en-US" sz="22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374F1-473B-B58E-3215-AFA2BD630F96}"/>
              </a:ext>
            </a:extLst>
          </p:cNvPr>
          <p:cNvSpPr txBox="1"/>
          <p:nvPr/>
        </p:nvSpPr>
        <p:spPr>
          <a:xfrm>
            <a:off x="2421193" y="6216134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Galactic algorithm - Wikipedia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93048AB3-C3C4-0D76-CCAF-773175DDD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28600"/>
            <a:ext cx="6629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Relatives of Big-Oh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90681623-7BD3-01C3-524E-23D90935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219200"/>
            <a:ext cx="77724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dirty="0"/>
              <a:t>big-Omega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f(n) is </a:t>
            </a:r>
            <a:r>
              <a:rPr lang="en-US" altLang="en-US" sz="1800" dirty="0">
                <a:sym typeface="Symbol" pitchFamily="2" charset="2"/>
              </a:rPr>
              <a:t>(g(n)) if </a:t>
            </a:r>
            <a:r>
              <a:rPr lang="en-US" altLang="en-US" sz="1800" dirty="0">
                <a:solidFill>
                  <a:srgbClr val="C00000"/>
                </a:solidFill>
                <a:sym typeface="Symbol" pitchFamily="2" charset="2"/>
              </a:rPr>
              <a:t>there is a constant </a:t>
            </a:r>
            <a:r>
              <a:rPr lang="en-US" altLang="en-US" sz="1800" dirty="0">
                <a:sym typeface="Symbol" pitchFamily="2" charset="2"/>
              </a:rPr>
              <a:t>c &gt; 0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sym typeface="Symbol" pitchFamily="2" charset="2"/>
              </a:rPr>
              <a:t>	and an integer constant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r>
              <a:rPr lang="en-US" altLang="en-US" sz="1800" dirty="0">
                <a:sym typeface="Symbol" pitchFamily="2" charset="2"/>
              </a:rPr>
              <a:t>  1 such that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sym typeface="Symbol" pitchFamily="2" charset="2"/>
              </a:rPr>
              <a:t>	f(n)  </a:t>
            </a:r>
            <a:r>
              <a:rPr lang="en-US" altLang="en-US" sz="1800" dirty="0" err="1">
                <a:sym typeface="Symbol" pitchFamily="2" charset="2"/>
              </a:rPr>
              <a:t>c•g</a:t>
            </a:r>
            <a:r>
              <a:rPr lang="en-US" altLang="en-US" sz="1800" dirty="0">
                <a:sym typeface="Symbol" pitchFamily="2" charset="2"/>
              </a:rPr>
              <a:t>(n) for n 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600" baseline="-25000" dirty="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big-Theta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f(n) is </a:t>
            </a:r>
            <a:r>
              <a:rPr lang="en-US" altLang="en-US" sz="1800" dirty="0">
                <a:sym typeface="Symbol" pitchFamily="2" charset="2"/>
              </a:rPr>
              <a:t>(g(n)) if </a:t>
            </a:r>
            <a:r>
              <a:rPr lang="en-US" altLang="en-US" sz="1800" dirty="0">
                <a:solidFill>
                  <a:srgbClr val="C00000"/>
                </a:solidFill>
                <a:sym typeface="Symbol" pitchFamily="2" charset="2"/>
              </a:rPr>
              <a:t>there are constants </a:t>
            </a:r>
            <a:r>
              <a:rPr lang="en-US" altLang="en-US" sz="1800" dirty="0">
                <a:sym typeface="Symbol" pitchFamily="2" charset="2"/>
              </a:rPr>
              <a:t>c’ &gt; 0 and c’’ &gt; 0 and an integer constant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r>
              <a:rPr lang="en-US" altLang="en-US" sz="1800" dirty="0">
                <a:sym typeface="Symbol" pitchFamily="2" charset="2"/>
              </a:rPr>
              <a:t>  1 such that </a:t>
            </a:r>
            <a:r>
              <a:rPr lang="en-US" altLang="en-US" sz="1800" dirty="0" err="1">
                <a:sym typeface="Symbol" pitchFamily="2" charset="2"/>
              </a:rPr>
              <a:t>c’•g</a:t>
            </a:r>
            <a:r>
              <a:rPr lang="en-US" altLang="en-US" sz="1800" dirty="0">
                <a:sym typeface="Symbol" pitchFamily="2" charset="2"/>
              </a:rPr>
              <a:t>(n)  f(n)  </a:t>
            </a:r>
            <a:r>
              <a:rPr lang="en-US" altLang="en-US" sz="1800" dirty="0" err="1">
                <a:sym typeface="Symbol" pitchFamily="2" charset="2"/>
              </a:rPr>
              <a:t>c’’•g</a:t>
            </a:r>
            <a:r>
              <a:rPr lang="en-US" altLang="en-US" sz="1800" dirty="0">
                <a:sym typeface="Symbol" pitchFamily="2" charset="2"/>
              </a:rPr>
              <a:t>(n) for n 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little-oh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f(n) is </a:t>
            </a:r>
            <a:r>
              <a:rPr lang="en-US" altLang="en-US" sz="1800" dirty="0">
                <a:sym typeface="Symbol" pitchFamily="2" charset="2"/>
              </a:rPr>
              <a:t>o(g(n)) if, </a:t>
            </a:r>
            <a:r>
              <a:rPr lang="en-US" altLang="en-US" sz="1800" dirty="0">
                <a:solidFill>
                  <a:srgbClr val="C00000"/>
                </a:solidFill>
                <a:sym typeface="Symbol" pitchFamily="2" charset="2"/>
              </a:rPr>
              <a:t>for any constant </a:t>
            </a:r>
            <a:r>
              <a:rPr lang="en-US" altLang="en-US" sz="1800" dirty="0">
                <a:sym typeface="Symbol" pitchFamily="2" charset="2"/>
              </a:rPr>
              <a:t>c &gt; 0, there is an integer constant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r>
              <a:rPr lang="en-US" altLang="en-US" sz="1800" dirty="0">
                <a:sym typeface="Symbol" pitchFamily="2" charset="2"/>
              </a:rPr>
              <a:t>  1 such that f(n) &lt; </a:t>
            </a:r>
            <a:r>
              <a:rPr lang="en-US" altLang="en-US" sz="1800" dirty="0" err="1">
                <a:sym typeface="Symbol" pitchFamily="2" charset="2"/>
              </a:rPr>
              <a:t>c•g</a:t>
            </a:r>
            <a:r>
              <a:rPr lang="en-US" altLang="en-US" sz="1800" dirty="0">
                <a:sym typeface="Symbol" pitchFamily="2" charset="2"/>
              </a:rPr>
              <a:t>(n) for n  n</a:t>
            </a:r>
            <a:r>
              <a:rPr lang="en-US" altLang="en-US" sz="1800" baseline="-25000" dirty="0">
                <a:sym typeface="Symbol" pitchFamily="2" charset="2"/>
              </a:rPr>
              <a:t>0.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baseline="-25000" dirty="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little-omega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f(n) is </a:t>
            </a:r>
            <a:r>
              <a:rPr lang="en-US" altLang="en-US" sz="1800" dirty="0">
                <a:sym typeface="Symbol" pitchFamily="2" charset="2"/>
              </a:rPr>
              <a:t>(g(n)) if, </a:t>
            </a:r>
            <a:r>
              <a:rPr lang="en-US" altLang="en-US" sz="1800" dirty="0">
                <a:solidFill>
                  <a:srgbClr val="C00000"/>
                </a:solidFill>
                <a:sym typeface="Symbol" pitchFamily="2" charset="2"/>
              </a:rPr>
              <a:t>for any constant </a:t>
            </a:r>
            <a:r>
              <a:rPr lang="en-US" altLang="en-US" sz="1800" dirty="0">
                <a:sym typeface="Symbol" pitchFamily="2" charset="2"/>
              </a:rPr>
              <a:t>c &gt; 0, there is an integer constant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r>
              <a:rPr lang="en-US" altLang="en-US" sz="1800" dirty="0">
                <a:sym typeface="Symbol" pitchFamily="2" charset="2"/>
              </a:rPr>
              <a:t>  1 such that f(n) &gt; </a:t>
            </a:r>
            <a:r>
              <a:rPr lang="en-US" altLang="en-US" sz="1800" dirty="0" err="1">
                <a:sym typeface="Symbol" pitchFamily="2" charset="2"/>
              </a:rPr>
              <a:t>c•g</a:t>
            </a:r>
            <a:r>
              <a:rPr lang="en-US" altLang="en-US" sz="1800" dirty="0">
                <a:sym typeface="Symbol" pitchFamily="2" charset="2"/>
              </a:rPr>
              <a:t>(n) for n 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82DCA92E-F065-194D-3563-EB1F4C0C4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5600" y="76200"/>
            <a:ext cx="65532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Intuition for Asymptotic Notation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317D893B-8149-AD98-F3D8-3B89B25FE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143000"/>
            <a:ext cx="78486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Big-Oh</a:t>
            </a:r>
            <a:endParaRPr lang="en-US" altLang="en-US" sz="2000" b="1"/>
          </a:p>
          <a:p>
            <a:pPr lvl="1" eaLnBrk="1" hangingPunct="1"/>
            <a:r>
              <a:rPr lang="en-US" altLang="en-US" sz="1800"/>
              <a:t>f(n) is </a:t>
            </a:r>
            <a:r>
              <a:rPr lang="en-US" altLang="en-US" sz="1800">
                <a:sym typeface="Symbol" pitchFamily="2" charset="2"/>
              </a:rPr>
              <a:t>O(g(n)) if f(n) is asymptotically </a:t>
            </a:r>
            <a:r>
              <a:rPr lang="en-US" altLang="en-US" sz="1800" b="1">
                <a:sym typeface="Symbol" pitchFamily="2" charset="2"/>
              </a:rPr>
              <a:t>less than or equal</a:t>
            </a:r>
            <a:r>
              <a:rPr lang="en-US" altLang="en-US" sz="1800">
                <a:sym typeface="Symbol" pitchFamily="2" charset="2"/>
              </a:rPr>
              <a:t> to g(n)</a:t>
            </a:r>
          </a:p>
          <a:p>
            <a:pPr lvl="1" eaLnBrk="1" hangingPunct="1"/>
            <a:endParaRPr lang="en-US" altLang="en-US" sz="1400" b="1"/>
          </a:p>
          <a:p>
            <a:pPr eaLnBrk="1" hangingPunct="1">
              <a:buFontTx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big-Omega</a:t>
            </a:r>
            <a:endParaRPr lang="en-US" altLang="en-US" sz="2000" b="1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f(n) is </a:t>
            </a:r>
            <a:r>
              <a:rPr lang="en-US" altLang="en-US" sz="1800">
                <a:sym typeface="Symbol" pitchFamily="2" charset="2"/>
              </a:rPr>
              <a:t>(g(n)) if f(n) is asymptotically </a:t>
            </a:r>
            <a:r>
              <a:rPr lang="en-US" altLang="en-US" sz="1800" b="1">
                <a:sym typeface="Symbol" pitchFamily="2" charset="2"/>
              </a:rPr>
              <a:t>greater than or equal</a:t>
            </a:r>
            <a:r>
              <a:rPr lang="en-US" altLang="en-US" sz="1800">
                <a:sym typeface="Symbol" pitchFamily="2" charset="2"/>
              </a:rPr>
              <a:t> to g(n)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baseline="-25000"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sz="1600" baseline="-250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big-Theta</a:t>
            </a:r>
            <a:endParaRPr lang="en-US" altLang="en-US" sz="2000" b="1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f(n) is </a:t>
            </a:r>
            <a:r>
              <a:rPr lang="en-US" altLang="en-US" sz="1800">
                <a:sym typeface="Symbol" pitchFamily="2" charset="2"/>
              </a:rPr>
              <a:t>(g(n)) if f(n) is asymptotically </a:t>
            </a:r>
            <a:r>
              <a:rPr lang="en-US" altLang="en-US" sz="1800" b="1">
                <a:sym typeface="Symbol" pitchFamily="2" charset="2"/>
              </a:rPr>
              <a:t>equal</a:t>
            </a:r>
            <a:r>
              <a:rPr lang="en-US" altLang="en-US" sz="1800">
                <a:sym typeface="Symbol" pitchFamily="2" charset="2"/>
              </a:rPr>
              <a:t> to g(n)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little-oh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f(n) is </a:t>
            </a:r>
            <a:r>
              <a:rPr lang="en-US" altLang="en-US" sz="1800">
                <a:sym typeface="Symbol" pitchFamily="2" charset="2"/>
              </a:rPr>
              <a:t>o(g(n)) if f(n) is asymptotically </a:t>
            </a:r>
            <a:r>
              <a:rPr lang="en-US" altLang="en-US" sz="1800" b="1">
                <a:sym typeface="Symbol" pitchFamily="2" charset="2"/>
              </a:rPr>
              <a:t>strictly less</a:t>
            </a:r>
            <a:r>
              <a:rPr lang="en-US" altLang="en-US" sz="1800">
                <a:sym typeface="Symbol" pitchFamily="2" charset="2"/>
              </a:rPr>
              <a:t> than g(n)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baseline="-250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little-omega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f(n) is </a:t>
            </a:r>
            <a:r>
              <a:rPr lang="en-US" altLang="en-US" sz="1800">
                <a:sym typeface="Symbol" pitchFamily="2" charset="2"/>
              </a:rPr>
              <a:t>(g(n)) if is asymptotically </a:t>
            </a:r>
            <a:r>
              <a:rPr lang="en-US" altLang="en-US" sz="1800" b="1">
                <a:sym typeface="Symbol" pitchFamily="2" charset="2"/>
              </a:rPr>
              <a:t>strictly greater</a:t>
            </a:r>
            <a:r>
              <a:rPr lang="en-US" altLang="en-US" sz="1800">
                <a:sym typeface="Symbol" pitchFamily="2" charset="2"/>
              </a:rPr>
              <a:t> than g(n)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03CF1CD1-46CC-80B6-12B1-0DAFBD3BF1CC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5834064"/>
            <a:ext cx="7848600" cy="414337"/>
            <a:chOff x="685800" y="5833646"/>
            <a:chExt cx="7848600" cy="4147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9EEC893-C368-5A1E-F64A-E9410A2A2FF0}"/>
                </a:ext>
              </a:extLst>
            </p:cNvPr>
            <p:cNvSpPr/>
            <p:nvPr/>
          </p:nvSpPr>
          <p:spPr>
            <a:xfrm>
              <a:off x="685800" y="5833646"/>
              <a:ext cx="7848600" cy="3384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342900" indent="-342900">
                <a:spcBef>
                  <a:spcPct val="20000"/>
                </a:spcBef>
                <a:tabLst>
                  <a:tab pos="1028700" algn="l"/>
                </a:tabLst>
                <a:defRPr/>
              </a:pPr>
              <a:r>
                <a:rPr lang="en-US" sz="1600" kern="0" dirty="0">
                  <a:latin typeface="Arial" charset="0"/>
                  <a:cs typeface="Arial" charset="0"/>
                </a:rPr>
                <a:t>O(1)  O(</a:t>
              </a:r>
              <a:r>
                <a:rPr lang="en-US" sz="1600" kern="0" dirty="0" err="1">
                  <a:latin typeface="Arial" charset="0"/>
                  <a:cs typeface="Arial" charset="0"/>
                </a:rPr>
                <a:t>log</a:t>
              </a:r>
              <a:r>
                <a:rPr lang="en-US" sz="1600" i="1" kern="0" dirty="0" err="1">
                  <a:latin typeface="Arial" charset="0"/>
                  <a:cs typeface="Arial" charset="0"/>
                </a:rPr>
                <a:t>n</a:t>
              </a:r>
              <a:r>
                <a:rPr lang="en-US" sz="1600" kern="0" dirty="0">
                  <a:latin typeface="Arial" charset="0"/>
                  <a:cs typeface="Arial" charset="0"/>
                </a:rPr>
                <a:t>)  O(log</a:t>
              </a:r>
              <a:r>
                <a:rPr lang="en-US" sz="1600" kern="0" baseline="30000" dirty="0">
                  <a:latin typeface="Arial" charset="0"/>
                  <a:cs typeface="Arial" charset="0"/>
                </a:rPr>
                <a:t>2</a:t>
              </a:r>
              <a:r>
                <a:rPr lang="en-US" sz="1600" kern="0" dirty="0">
                  <a:latin typeface="Arial" charset="0"/>
                  <a:cs typeface="Arial" charset="0"/>
                </a:rPr>
                <a:t>n)  O(sqrt(n))  O(</a:t>
              </a:r>
              <a:r>
                <a:rPr lang="en-US" sz="1600" i="1" kern="0" dirty="0">
                  <a:latin typeface="Arial" charset="0"/>
                  <a:cs typeface="Arial" charset="0"/>
                </a:rPr>
                <a:t>n</a:t>
              </a:r>
              <a:r>
                <a:rPr lang="en-US" sz="1600" kern="0" dirty="0">
                  <a:latin typeface="Arial" charset="0"/>
                  <a:cs typeface="Arial" charset="0"/>
                </a:rPr>
                <a:t>)  O(</a:t>
              </a:r>
              <a:r>
                <a:rPr lang="en-US" sz="1600" kern="0" dirty="0" err="1">
                  <a:latin typeface="Arial" charset="0"/>
                  <a:cs typeface="Arial" charset="0"/>
                </a:rPr>
                <a:t>nlogn</a:t>
              </a:r>
              <a:r>
                <a:rPr lang="en-US" sz="1600" kern="0" dirty="0">
                  <a:latin typeface="Arial" charset="0"/>
                  <a:cs typeface="Arial" charset="0"/>
                </a:rPr>
                <a:t>)  O(</a:t>
              </a:r>
              <a:r>
                <a:rPr lang="en-US" sz="1600" i="1" kern="0" dirty="0">
                  <a:latin typeface="Arial" charset="0"/>
                  <a:cs typeface="Arial" charset="0"/>
                </a:rPr>
                <a:t>n</a:t>
              </a:r>
              <a:r>
                <a:rPr lang="en-US" sz="1600" i="1" kern="0" baseline="30000" dirty="0">
                  <a:latin typeface="Arial" charset="0"/>
                  <a:cs typeface="Arial" charset="0"/>
                </a:rPr>
                <a:t>2</a:t>
              </a:r>
              <a:r>
                <a:rPr lang="en-US" sz="1600" kern="0" dirty="0">
                  <a:latin typeface="Arial" charset="0"/>
                  <a:cs typeface="Arial" charset="0"/>
                </a:rPr>
                <a:t>)  O(</a:t>
              </a:r>
              <a:r>
                <a:rPr lang="en-US" sz="1600" i="1" kern="0" dirty="0" err="1">
                  <a:latin typeface="Arial" charset="0"/>
                  <a:cs typeface="Arial" charset="0"/>
                </a:rPr>
                <a:t>n</a:t>
              </a:r>
              <a:r>
                <a:rPr lang="en-US" sz="1600" i="1" kern="0" baseline="30000" dirty="0" err="1">
                  <a:latin typeface="Arial" charset="0"/>
                  <a:cs typeface="Arial" charset="0"/>
                </a:rPr>
                <a:t>k</a:t>
              </a:r>
              <a:r>
                <a:rPr lang="en-US" sz="1600" kern="0" dirty="0">
                  <a:latin typeface="Arial" charset="0"/>
                  <a:cs typeface="Arial" charset="0"/>
                </a:rPr>
                <a:t>) (</a:t>
              </a:r>
              <a:r>
                <a:rPr lang="en-US" sz="1600" i="1" kern="0" dirty="0">
                  <a:latin typeface="Arial" charset="0"/>
                  <a:cs typeface="Arial" charset="0"/>
                </a:rPr>
                <a:t>k</a:t>
              </a:r>
              <a:r>
                <a:rPr lang="en-US" sz="1600" kern="0" dirty="0">
                  <a:latin typeface="Arial" charset="0"/>
                  <a:cs typeface="Arial" charset="0"/>
                </a:rPr>
                <a:t>&gt;2)  O(</a:t>
              </a:r>
              <a:r>
                <a:rPr lang="en-US" sz="1600" i="1" kern="0" dirty="0">
                  <a:latin typeface="Arial" charset="0"/>
                  <a:cs typeface="Arial" charset="0"/>
                </a:rPr>
                <a:t>a</a:t>
              </a:r>
              <a:r>
                <a:rPr lang="en-US" sz="1600" i="1" kern="0" baseline="30000" dirty="0">
                  <a:latin typeface="Arial" charset="0"/>
                  <a:cs typeface="Arial" charset="0"/>
                </a:rPr>
                <a:t>n</a:t>
              </a:r>
              <a:r>
                <a:rPr lang="en-US" sz="1600" kern="0" dirty="0">
                  <a:latin typeface="Arial" charset="0"/>
                  <a:cs typeface="Arial" charset="0"/>
                </a:rPr>
                <a:t>) (</a:t>
              </a:r>
              <a:r>
                <a:rPr lang="en-US" sz="1600" i="1" kern="0" dirty="0">
                  <a:latin typeface="Arial" charset="0"/>
                  <a:cs typeface="Arial" charset="0"/>
                </a:rPr>
                <a:t>a</a:t>
              </a:r>
              <a:r>
                <a:rPr lang="en-US" sz="1600" kern="0" dirty="0">
                  <a:latin typeface="Arial" charset="0"/>
                  <a:cs typeface="Arial" charset="0"/>
                </a:rPr>
                <a:t>&gt;1)</a:t>
              </a:r>
            </a:p>
          </p:txBody>
        </p:sp>
        <p:sp>
          <p:nvSpPr>
            <p:cNvPr id="22533" name="Line 5">
              <a:extLst>
                <a:ext uri="{FF2B5EF4-FFF2-40B4-BE49-F238E27FC236}">
                  <a16:creationId xmlns:a16="http://schemas.microsoft.com/office/drawing/2014/main" id="{B9080970-AE69-4436-8602-3F9D89109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6248400"/>
              <a:ext cx="746760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5DDAF732-92BB-B7B3-2857-DD21ADD86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28600"/>
            <a:ext cx="6477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Examples of the Relatives of Big-Oh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F176B748-941D-784B-0AAC-B8C014756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410200"/>
            <a:ext cx="7924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f(n) is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(g(n)) if, for any constant c &gt; 0, there is an integer constant 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 1 such that f(n) &gt; </a:t>
            </a:r>
            <a:r>
              <a:rPr lang="en-US" altLang="en-US" dirty="0" err="1">
                <a:latin typeface="Times New Roman" panose="02020603050405020304" pitchFamily="18" charset="0"/>
                <a:sym typeface="Symbol" pitchFamily="2" charset="2"/>
              </a:rPr>
              <a:t>c•g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(n) for n  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For any c, take </a:t>
            </a:r>
            <a:r>
              <a:rPr lang="en-US" altLang="en-US" sz="1800" dirty="0">
                <a:sym typeface="Symbol" pitchFamily="2" charset="2"/>
              </a:rPr>
              <a:t>n0 = c/12, then 12n</a:t>
            </a:r>
            <a:r>
              <a:rPr lang="en-US" altLang="en-US" sz="1800" baseline="30000" dirty="0">
                <a:sym typeface="Symbol" pitchFamily="2" charset="2"/>
              </a:rPr>
              <a:t>2</a:t>
            </a:r>
            <a:r>
              <a:rPr lang="en-US" altLang="en-US" sz="1800" dirty="0">
                <a:sym typeface="Symbol" pitchFamily="2" charset="2"/>
              </a:rPr>
              <a:t>+6n &gt;= 12n</a:t>
            </a:r>
            <a:r>
              <a:rPr lang="en-US" altLang="en-US" sz="1800" baseline="30000" dirty="0">
                <a:sym typeface="Symbol" pitchFamily="2" charset="2"/>
              </a:rPr>
              <a:t>2</a:t>
            </a:r>
            <a:r>
              <a:rPr lang="en-US" altLang="en-US" sz="1800" dirty="0">
                <a:sym typeface="Symbol" pitchFamily="2" charset="2"/>
              </a:rPr>
              <a:t> &gt;= </a:t>
            </a:r>
            <a:r>
              <a:rPr lang="en-US" altLang="en-US" sz="1800" dirty="0" err="1">
                <a:sym typeface="Symbol" pitchFamily="2" charset="2"/>
              </a:rPr>
              <a:t>cn</a:t>
            </a:r>
            <a:endParaRPr lang="en-US" altLang="en-US" sz="1800" dirty="0">
              <a:sym typeface="Symbol" pitchFamily="2" charset="2"/>
            </a:endParaRPr>
          </a:p>
        </p:txBody>
      </p:sp>
      <p:sp>
        <p:nvSpPr>
          <p:cNvPr id="23555" name="Rectangle 4">
            <a:extLst>
              <a:ext uri="{FF2B5EF4-FFF2-40B4-BE49-F238E27FC236}">
                <a16:creationId xmlns:a16="http://schemas.microsoft.com/office/drawing/2014/main" id="{562D0A4B-3F24-6469-E4A5-4B60F35CD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003801"/>
            <a:ext cx="7924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000" b="1">
                <a:latin typeface="Times New Roman" panose="02020603050405020304" pitchFamily="18" charset="0"/>
              </a:rPr>
              <a:t>12n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latin typeface="Times New Roman" panose="02020603050405020304" pitchFamily="18" charset="0"/>
              </a:rPr>
              <a:t>+6n is </a:t>
            </a:r>
            <a:r>
              <a:rPr lang="en-US" altLang="en-US" sz="2000" b="1">
                <a:latin typeface="Times New Roman" panose="02020603050405020304" pitchFamily="18" charset="0"/>
                <a:sym typeface="Symbol" pitchFamily="2" charset="2"/>
              </a:rPr>
              <a:t></a:t>
            </a:r>
            <a:r>
              <a:rPr lang="en-US" altLang="en-US" sz="2000" b="1">
                <a:latin typeface="Times New Roman" panose="02020603050405020304" pitchFamily="18" charset="0"/>
              </a:rPr>
              <a:t>(n)</a:t>
            </a:r>
          </a:p>
        </p:txBody>
      </p:sp>
      <p:sp>
        <p:nvSpPr>
          <p:cNvPr id="134149" name="Rectangle 5">
            <a:extLst>
              <a:ext uri="{FF2B5EF4-FFF2-40B4-BE49-F238E27FC236}">
                <a16:creationId xmlns:a16="http://schemas.microsoft.com/office/drawing/2014/main" id="{1C6BB166-A098-A71F-65D1-09372E971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8448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/>
              <a:t>f(n) is </a:t>
            </a:r>
            <a:r>
              <a:rPr lang="en-US" altLang="en-US" sz="1800">
                <a:sym typeface="Symbol" pitchFamily="2" charset="2"/>
              </a:rPr>
              <a:t>(g(n)) if there are constants c’ &gt; 0 and c’’ &gt; 0 and an integer constant n0  1 such that c’•g(n)  f(n)  c’’•g(n) for n  n0	</a:t>
            </a:r>
            <a:endParaRPr lang="en-US" altLang="en-US" baseline="-25000">
              <a:latin typeface="Times New Roman" panose="02020603050405020304" pitchFamily="18" charset="0"/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/>
              <a:t>3logn+loglogn &lt;= 4logn for n&gt;=2</a:t>
            </a:r>
          </a:p>
        </p:txBody>
      </p:sp>
      <p:sp>
        <p:nvSpPr>
          <p:cNvPr id="23557" name="Rectangle 6">
            <a:extLst>
              <a:ext uri="{FF2B5EF4-FFF2-40B4-BE49-F238E27FC236}">
                <a16:creationId xmlns:a16="http://schemas.microsoft.com/office/drawing/2014/main" id="{208C2C60-6C8F-AA68-C6A1-51FC3FB00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428875"/>
            <a:ext cx="792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1800" b="1"/>
              <a:t>3logn+loglogn is </a:t>
            </a:r>
            <a:r>
              <a:rPr lang="el-GR" altLang="en-US" sz="1800" b="1">
                <a:sym typeface="Symbol" pitchFamily="2" charset="2"/>
              </a:rPr>
              <a:t>Θ</a:t>
            </a:r>
            <a:r>
              <a:rPr lang="en-US" altLang="en-US" sz="1800" b="1"/>
              <a:t>(logn)</a:t>
            </a:r>
          </a:p>
        </p:txBody>
      </p:sp>
      <p:sp>
        <p:nvSpPr>
          <p:cNvPr id="134151" name="Rectangle 7">
            <a:extLst>
              <a:ext uri="{FF2B5EF4-FFF2-40B4-BE49-F238E27FC236}">
                <a16:creationId xmlns:a16="http://schemas.microsoft.com/office/drawing/2014/main" id="{B874BB26-129A-78B1-EAF8-4E006BA40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481138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f(n) is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(g(n)) if there is a constant c &gt; 0 and an integer constant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 1 such that f(n)  c•g(n) for n 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1800"/>
              <a:t>3logn+loglogn &gt;= 3logn for n&gt;=2</a:t>
            </a:r>
          </a:p>
        </p:txBody>
      </p:sp>
      <p:sp>
        <p:nvSpPr>
          <p:cNvPr id="23559" name="Rectangle 8">
            <a:extLst>
              <a:ext uri="{FF2B5EF4-FFF2-40B4-BE49-F238E27FC236}">
                <a16:creationId xmlns:a16="http://schemas.microsoft.com/office/drawing/2014/main" id="{71D9FFD8-BBA4-3974-A28F-A271F7B7C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066800"/>
            <a:ext cx="792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000" b="1">
                <a:latin typeface="Times New Roman" panose="02020603050405020304" pitchFamily="18" charset="0"/>
              </a:rPr>
              <a:t>3logn+loglogn is </a:t>
            </a:r>
            <a:r>
              <a:rPr lang="en-US" altLang="en-US" sz="2000" b="1">
                <a:latin typeface="Times New Roman" panose="02020603050405020304" pitchFamily="18" charset="0"/>
                <a:sym typeface="Symbol" pitchFamily="2" charset="2"/>
              </a:rPr>
              <a:t></a:t>
            </a:r>
            <a:r>
              <a:rPr lang="en-US" altLang="en-US" sz="2000" b="1">
                <a:latin typeface="Times New Roman" panose="02020603050405020304" pitchFamily="18" charset="0"/>
              </a:rPr>
              <a:t>(logn)</a:t>
            </a:r>
          </a:p>
        </p:txBody>
      </p:sp>
      <p:sp>
        <p:nvSpPr>
          <p:cNvPr id="22536" name="Rectangle 9">
            <a:extLst>
              <a:ext uri="{FF2B5EF4-FFF2-40B4-BE49-F238E27FC236}">
                <a16:creationId xmlns:a16="http://schemas.microsoft.com/office/drawing/2014/main" id="{8C682E89-AA04-54F8-173B-945CF6635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962400"/>
            <a:ext cx="7696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f(n) is </a:t>
            </a:r>
            <a:r>
              <a:rPr lang="en-US" altLang="en-US" sz="1800" dirty="0">
                <a:sym typeface="Symbol" pitchFamily="2" charset="2"/>
              </a:rPr>
              <a:t>o(g(n)) if, for any constant c &gt; 0, there is an integer constant n0  1   such that f(n) &lt; </a:t>
            </a:r>
            <a:r>
              <a:rPr lang="en-US" altLang="en-US" sz="1800" dirty="0" err="1">
                <a:sym typeface="Symbol" pitchFamily="2" charset="2"/>
              </a:rPr>
              <a:t>c•g</a:t>
            </a:r>
            <a:r>
              <a:rPr lang="en-US" altLang="en-US" sz="1800" dirty="0">
                <a:sym typeface="Symbol" pitchFamily="2" charset="2"/>
              </a:rPr>
              <a:t>(n) for n  n0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ym typeface="Symbol" pitchFamily="2" charset="2"/>
              </a:rPr>
              <a:t>Let c&gt;0, take n</a:t>
            </a:r>
            <a:r>
              <a:rPr lang="en-US" altLang="en-US" sz="1800" baseline="-25000" dirty="0">
                <a:sym typeface="Symbol" pitchFamily="2" charset="2"/>
              </a:rPr>
              <a:t>0</a:t>
            </a:r>
            <a:r>
              <a:rPr lang="en-US" altLang="en-US" sz="1800" dirty="0">
                <a:sym typeface="Symbol" pitchFamily="2" charset="2"/>
              </a:rPr>
              <a:t> = (12+6)/c, then cn</a:t>
            </a:r>
            <a:r>
              <a:rPr lang="en-US" altLang="en-US" sz="1800" baseline="30000" dirty="0">
                <a:sym typeface="Symbol" pitchFamily="2" charset="2"/>
              </a:rPr>
              <a:t>3</a:t>
            </a:r>
            <a:r>
              <a:rPr lang="en-US" altLang="en-US" sz="1800" dirty="0">
                <a:sym typeface="Symbol" pitchFamily="2" charset="2"/>
              </a:rPr>
              <a:t> &gt;= 12n</a:t>
            </a:r>
            <a:r>
              <a:rPr lang="en-US" altLang="en-US" sz="1800" baseline="30000" dirty="0">
                <a:sym typeface="Symbol" pitchFamily="2" charset="2"/>
              </a:rPr>
              <a:t>2</a:t>
            </a:r>
            <a:r>
              <a:rPr lang="en-US" altLang="en-US" sz="1800" dirty="0">
                <a:sym typeface="Symbol" pitchFamily="2" charset="2"/>
              </a:rPr>
              <a:t>+6n</a:t>
            </a:r>
            <a:r>
              <a:rPr lang="en-US" altLang="en-US" sz="1800" baseline="30000" dirty="0">
                <a:sym typeface="Symbol" pitchFamily="2" charset="2"/>
              </a:rPr>
              <a:t>2</a:t>
            </a:r>
            <a:r>
              <a:rPr lang="en-US" altLang="en-US" sz="1800" dirty="0">
                <a:sym typeface="Symbol" pitchFamily="2" charset="2"/>
              </a:rPr>
              <a:t> &gt;= 12n</a:t>
            </a:r>
            <a:r>
              <a:rPr lang="en-US" altLang="en-US" sz="1800" baseline="30000" dirty="0">
                <a:sym typeface="Symbol" pitchFamily="2" charset="2"/>
              </a:rPr>
              <a:t>2</a:t>
            </a:r>
            <a:r>
              <a:rPr lang="en-US" altLang="en-US" sz="1800" dirty="0">
                <a:sym typeface="Symbol" pitchFamily="2" charset="2"/>
              </a:rPr>
              <a:t>+6n</a:t>
            </a:r>
          </a:p>
        </p:txBody>
      </p:sp>
      <p:sp>
        <p:nvSpPr>
          <p:cNvPr id="23561" name="Rectangle 10">
            <a:extLst>
              <a:ext uri="{FF2B5EF4-FFF2-40B4-BE49-F238E27FC236}">
                <a16:creationId xmlns:a16="http://schemas.microsoft.com/office/drawing/2014/main" id="{E5AF239A-DAF9-6CE9-AAE9-3BB9DE16E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657601"/>
            <a:ext cx="7924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000" b="1">
                <a:latin typeface="Times New Roman" panose="02020603050405020304" pitchFamily="18" charset="0"/>
              </a:rPr>
              <a:t>12n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latin typeface="Times New Roman" panose="02020603050405020304" pitchFamily="18" charset="0"/>
              </a:rPr>
              <a:t>+6n is o(n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3</a:t>
            </a:r>
            <a:r>
              <a:rPr lang="en-US" altLang="en-US" sz="2000" b="1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autoUpdateAnimBg="0"/>
      <p:bldP spid="134147" grpId="1"/>
      <p:bldP spid="134149" grpId="0" autoUpdateAnimBg="0"/>
      <p:bldP spid="134149" grpId="1"/>
      <p:bldP spid="134151" grpId="0" autoUpdateAnimBg="0"/>
      <p:bldP spid="134151" grpId="1"/>
      <p:bldP spid="225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C0E6596F-B32A-D205-2081-DEE8CC155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52400"/>
            <a:ext cx="6477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More Examples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08249798-C85D-5DA3-8F15-DD3CA45B8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029200"/>
            <a:ext cx="7924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f(n) is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(g(n)) if, for any constant c &gt; 0, there is an integer constant 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 0 such that f(n) &gt; </a:t>
            </a:r>
            <a:r>
              <a:rPr lang="en-US" altLang="en-US" dirty="0" err="1">
                <a:latin typeface="Times New Roman" panose="02020603050405020304" pitchFamily="18" charset="0"/>
                <a:sym typeface="Symbol" pitchFamily="2" charset="2"/>
              </a:rPr>
              <a:t>c•g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(n) for n  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need 5n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baseline="30000" dirty="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&gt; c•n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 given c, the 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that </a:t>
            </a:r>
            <a:r>
              <a:rPr lang="en-US" altLang="en-US" dirty="0" err="1">
                <a:latin typeface="Times New Roman" panose="02020603050405020304" pitchFamily="18" charset="0"/>
                <a:sym typeface="Symbol" pitchFamily="2" charset="2"/>
              </a:rPr>
              <a:t>satifies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this is 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 c/5  0</a:t>
            </a:r>
          </a:p>
        </p:txBody>
      </p:sp>
      <p:sp>
        <p:nvSpPr>
          <p:cNvPr id="25603" name="Rectangle 4">
            <a:extLst>
              <a:ext uri="{FF2B5EF4-FFF2-40B4-BE49-F238E27FC236}">
                <a16:creationId xmlns:a16="http://schemas.microsoft.com/office/drawing/2014/main" id="{8A4471B4-F650-4CE5-5834-670CB41FA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622801"/>
            <a:ext cx="7924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000" b="1">
                <a:latin typeface="Times New Roman" panose="02020603050405020304" pitchFamily="18" charset="0"/>
              </a:rPr>
              <a:t>5n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latin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sym typeface="Symbol" pitchFamily="2" charset="2"/>
              </a:rPr>
              <a:t></a:t>
            </a:r>
            <a:r>
              <a:rPr lang="en-US" altLang="en-US" sz="2000" b="1">
                <a:latin typeface="Times New Roman" panose="02020603050405020304" pitchFamily="18" charset="0"/>
              </a:rPr>
              <a:t>(n)</a:t>
            </a:r>
          </a:p>
        </p:txBody>
      </p:sp>
      <p:sp>
        <p:nvSpPr>
          <p:cNvPr id="136197" name="Rectangle 5">
            <a:extLst>
              <a:ext uri="{FF2B5EF4-FFF2-40B4-BE49-F238E27FC236}">
                <a16:creationId xmlns:a16="http://schemas.microsoft.com/office/drawing/2014/main" id="{F1785E9E-437E-73C3-DB54-E0DDC7571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387725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f(n) is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(g(n)) if there is a constant c &gt; 0 and an integer constant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 1 such that f(n)  c•g(n) for n 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let c = 1 and n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= 1</a:t>
            </a:r>
            <a:endParaRPr lang="en-US" altLang="en-US" baseline="-250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5605" name="Rectangle 6">
            <a:extLst>
              <a:ext uri="{FF2B5EF4-FFF2-40B4-BE49-F238E27FC236}">
                <a16:creationId xmlns:a16="http://schemas.microsoft.com/office/drawing/2014/main" id="{171A9C08-0AC6-A24A-23AA-20D3FB677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971800"/>
            <a:ext cx="792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000" b="1">
                <a:latin typeface="Times New Roman" panose="02020603050405020304" pitchFamily="18" charset="0"/>
              </a:rPr>
              <a:t>5n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latin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sym typeface="Symbol" pitchFamily="2" charset="2"/>
              </a:rPr>
              <a:t></a:t>
            </a:r>
            <a:r>
              <a:rPr lang="en-US" altLang="en-US" sz="2000" b="1">
                <a:latin typeface="Times New Roman" panose="02020603050405020304" pitchFamily="18" charset="0"/>
              </a:rPr>
              <a:t>(n)</a:t>
            </a:r>
          </a:p>
        </p:txBody>
      </p:sp>
      <p:sp>
        <p:nvSpPr>
          <p:cNvPr id="136199" name="Rectangle 7">
            <a:extLst>
              <a:ext uri="{FF2B5EF4-FFF2-40B4-BE49-F238E27FC236}">
                <a16:creationId xmlns:a16="http://schemas.microsoft.com/office/drawing/2014/main" id="{1348073F-EAD8-6D7D-4BFF-71665A78B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709738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f(n) is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(g(n)) if there is a constant c &gt; 0 and an integer constant 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 1 such that f(n)  </a:t>
            </a:r>
            <a:r>
              <a:rPr lang="en-US" altLang="en-US" dirty="0" err="1">
                <a:latin typeface="Times New Roman" panose="02020603050405020304" pitchFamily="18" charset="0"/>
                <a:sym typeface="Symbol" pitchFamily="2" charset="2"/>
              </a:rPr>
              <a:t>c•g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(n) for n  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let c = 5 and n</a:t>
            </a:r>
            <a:r>
              <a:rPr lang="en-US" altLang="en-US" baseline="-25000" dirty="0"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= 1</a:t>
            </a:r>
          </a:p>
        </p:txBody>
      </p:sp>
      <p:sp>
        <p:nvSpPr>
          <p:cNvPr id="25607" name="Rectangle 8">
            <a:extLst>
              <a:ext uri="{FF2B5EF4-FFF2-40B4-BE49-F238E27FC236}">
                <a16:creationId xmlns:a16="http://schemas.microsoft.com/office/drawing/2014/main" id="{15A4C80D-5A1A-7994-5E78-FFC137A7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295400"/>
            <a:ext cx="792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sz="2000" b="1" dirty="0">
                <a:latin typeface="Times New Roman" panose="02020603050405020304" pitchFamily="18" charset="0"/>
              </a:rPr>
              <a:t>5n</a:t>
            </a:r>
            <a:r>
              <a:rPr lang="en-US" altLang="en-US" sz="20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sz="2000" b="1" dirty="0">
                <a:latin typeface="Times New Roman" panose="02020603050405020304" pitchFamily="18" charset="0"/>
              </a:rPr>
              <a:t> is </a:t>
            </a:r>
            <a:r>
              <a:rPr lang="en-US" altLang="en-US" sz="2000" b="1" dirty="0">
                <a:latin typeface="Times New Roman" panose="02020603050405020304" pitchFamily="18" charset="0"/>
                <a:sym typeface="Symbol" pitchFamily="2" charset="2"/>
              </a:rPr>
              <a:t></a:t>
            </a:r>
            <a:r>
              <a:rPr lang="en-US" altLang="en-US" sz="2000" b="1" dirty="0">
                <a:latin typeface="Times New Roman" panose="02020603050405020304" pitchFamily="18" charset="0"/>
              </a:rPr>
              <a:t>(n</a:t>
            </a:r>
            <a:r>
              <a:rPr lang="en-US" altLang="en-US" sz="20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sz="2000" b="1" dirty="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autoUpdateAnimBg="0"/>
      <p:bldP spid="136197" grpId="0" autoUpdateAnimBg="0"/>
      <p:bldP spid="13619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6562C6A8-E8AE-8E45-DA40-005F3E893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217488"/>
            <a:ext cx="6477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Limit-Ratio Tests</a:t>
            </a:r>
          </a:p>
        </p:txBody>
      </p:sp>
      <p:pic>
        <p:nvPicPr>
          <p:cNvPr id="27650" name="Picture 3">
            <a:extLst>
              <a:ext uri="{FF2B5EF4-FFF2-40B4-BE49-F238E27FC236}">
                <a16:creationId xmlns:a16="http://schemas.microsoft.com/office/drawing/2014/main" id="{BE284373-7808-7CB6-C01C-0A6E672CC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858838"/>
            <a:ext cx="7010400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4">
            <a:extLst>
              <a:ext uri="{FF2B5EF4-FFF2-40B4-BE49-F238E27FC236}">
                <a16:creationId xmlns:a16="http://schemas.microsoft.com/office/drawing/2014/main" id="{9D7922F0-FF7D-ED9F-00A2-521929659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475" y="3959225"/>
            <a:ext cx="865505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3">
            <a:extLst>
              <a:ext uri="{FF2B5EF4-FFF2-40B4-BE49-F238E27FC236}">
                <a16:creationId xmlns:a16="http://schemas.microsoft.com/office/drawing/2014/main" id="{E01F8D7F-956D-FDB5-673C-1C4DA9463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875" y="3414713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>
                <a:solidFill>
                  <a:srgbClr val="FF6600"/>
                </a:solidFill>
              </a:rPr>
              <a:t>Additionally,</a:t>
            </a:r>
            <a:endParaRPr lang="en-US" altLang="en-US"/>
          </a:p>
        </p:txBody>
      </p:sp>
      <p:sp>
        <p:nvSpPr>
          <p:cNvPr id="27653" name="TextBox 7">
            <a:extLst>
              <a:ext uri="{FF2B5EF4-FFF2-40B4-BE49-F238E27FC236}">
                <a16:creationId xmlns:a16="http://schemas.microsoft.com/office/drawing/2014/main" id="{0D135E2F-5C01-2074-9121-0437E6E4F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788" y="5313363"/>
            <a:ext cx="79248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F44747"/>
                </a:solidFill>
                <a:latin typeface="Caveat"/>
              </a:rPr>
              <a:t>NOTE: </a:t>
            </a:r>
            <a:r>
              <a:rPr lang="en-US" altLang="en-US" sz="2200">
                <a:latin typeface="Caveat"/>
              </a:rPr>
              <a:t>When f(n) is o(g(n)), f(n) is O(g(n)) but not </a:t>
            </a:r>
            <a:r>
              <a:rPr lang="en-US" altLang="en-US" sz="2200">
                <a:latin typeface="FreeSerif"/>
              </a:rPr>
              <a:t>𝚹</a:t>
            </a:r>
            <a:r>
              <a:rPr lang="en-US" altLang="en-US" sz="2200">
                <a:latin typeface="Caveat"/>
              </a:rPr>
              <a:t>(g(n)).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latin typeface="Caveat"/>
              </a:rPr>
              <a:t>             Similarly, when f(n) is </a:t>
            </a:r>
            <a:r>
              <a:rPr lang="el-GR" altLang="en-US" sz="2200">
                <a:latin typeface="ArialMT"/>
              </a:rPr>
              <a:t>ω</a:t>
            </a:r>
            <a:r>
              <a:rPr lang="el-GR" altLang="en-US" sz="2200">
                <a:latin typeface="Caveat"/>
              </a:rPr>
              <a:t>(</a:t>
            </a:r>
            <a:r>
              <a:rPr lang="en-US" altLang="en-US" sz="2200">
                <a:latin typeface="Caveat"/>
              </a:rPr>
              <a:t>g(n)), f(n) is </a:t>
            </a:r>
            <a:r>
              <a:rPr lang="el-GR" altLang="en-US" sz="2200">
                <a:latin typeface="ArialMT"/>
              </a:rPr>
              <a:t>Ω</a:t>
            </a:r>
            <a:r>
              <a:rPr lang="el-GR" altLang="en-US" sz="2200">
                <a:latin typeface="Caveat"/>
              </a:rPr>
              <a:t>(</a:t>
            </a:r>
            <a:r>
              <a:rPr lang="en-US" altLang="en-US" sz="2200">
                <a:latin typeface="Caveat"/>
              </a:rPr>
              <a:t>g(n)) but not </a:t>
            </a:r>
            <a:r>
              <a:rPr lang="en-US" altLang="en-US" sz="2200">
                <a:latin typeface="FreeSerif"/>
              </a:rPr>
              <a:t>𝚹</a:t>
            </a:r>
            <a:r>
              <a:rPr lang="en-US" altLang="en-US" sz="2200">
                <a:latin typeface="Caveat"/>
              </a:rPr>
              <a:t>(g(n)). </a:t>
            </a:r>
            <a:endParaRPr lang="en-US" altLang="en-US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F0B11257-5D36-FE6E-4FAA-C187808E1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87375"/>
            <a:ext cx="6477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Very Useful Facts</a:t>
            </a:r>
          </a:p>
        </p:txBody>
      </p:sp>
      <p:pic>
        <p:nvPicPr>
          <p:cNvPr id="28674" name="Picture 3">
            <a:extLst>
              <a:ext uri="{FF2B5EF4-FFF2-40B4-BE49-F238E27FC236}">
                <a16:creationId xmlns:a16="http://schemas.microsoft.com/office/drawing/2014/main" id="{4EE45F32-D28F-B1BB-8451-6573F5AC1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057401"/>
            <a:ext cx="7772400" cy="306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8CB90E9A-DF07-3840-0542-8F21637E75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Case Study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15000015-FED5-E377-6158-E964E03207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0800" y="1752600"/>
            <a:ext cx="7086600" cy="2895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Computing prefix averages: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/>
              <a:t>	The </a:t>
            </a:r>
            <a:r>
              <a:rPr lang="en-US" altLang="en-US" sz="2000" b="1" i="1">
                <a:latin typeface="Times New Roman" panose="02020603050405020304" pitchFamily="18" charset="0"/>
              </a:rPr>
              <a:t>i</a:t>
            </a:r>
            <a:r>
              <a:rPr lang="en-US" altLang="en-US" sz="2000"/>
              <a:t>-th prefix average of an array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/>
              <a:t> is average of the first 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1) </a:t>
            </a:r>
            <a:r>
              <a:rPr lang="en-US" altLang="en-US" sz="2000"/>
              <a:t>elements of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="1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]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= 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[0]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[1]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…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])/(</a:t>
            </a:r>
            <a:r>
              <a:rPr lang="en-US" altLang="en-US" sz="2000" i="1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+1)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8709E833-7F9E-DD83-126A-F566507B9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Examples</a:t>
            </a:r>
          </a:p>
        </p:txBody>
      </p:sp>
      <p:graphicFrame>
        <p:nvGraphicFramePr>
          <p:cNvPr id="31746" name="Object 4">
            <a:extLst>
              <a:ext uri="{FF2B5EF4-FFF2-40B4-BE49-F238E27FC236}">
                <a16:creationId xmlns:a16="http://schemas.microsoft.com/office/drawing/2014/main" id="{EB930B4B-29B9-FADC-E91E-266446F4AC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1447800"/>
          <a:ext cx="3657600" cy="334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162300" imgH="3606800" progId="Excel.Sheet.8">
                  <p:embed/>
                </p:oleObj>
              </mc:Choice>
              <mc:Fallback>
                <p:oleObj name="Worksheet" r:id="rId2" imgW="3162300" imgH="3606800" progId="Excel.Sheet.8">
                  <p:embed/>
                  <p:pic>
                    <p:nvPicPr>
                      <p:cNvPr id="31746" name="Object 4">
                        <a:extLst>
                          <a:ext uri="{FF2B5EF4-FFF2-40B4-BE49-F238E27FC236}">
                            <a16:creationId xmlns:a16="http://schemas.microsoft.com/office/drawing/2014/main" id="{EB930B4B-29B9-FADC-E91E-266446F4AC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447800"/>
                        <a:ext cx="3657600" cy="334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Text Box 8">
            <a:extLst>
              <a:ext uri="{FF2B5EF4-FFF2-40B4-BE49-F238E27FC236}">
                <a16:creationId xmlns:a16="http://schemas.microsoft.com/office/drawing/2014/main" id="{290D41A5-1668-DC45-7F93-8C0CE048C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257801"/>
            <a:ext cx="5105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 Applications: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/>
              <a:t>   Finance, Data smoothing, etc. </a:t>
            </a:r>
          </a:p>
        </p:txBody>
      </p:sp>
      <p:sp>
        <p:nvSpPr>
          <p:cNvPr id="31748" name="Rectangle 9">
            <a:extLst>
              <a:ext uri="{FF2B5EF4-FFF2-40B4-BE49-F238E27FC236}">
                <a16:creationId xmlns:a16="http://schemas.microsoft.com/office/drawing/2014/main" id="{A5644D16-37E5-6750-8772-92367ED63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752600"/>
            <a:ext cx="3352800" cy="2438400"/>
          </a:xfrm>
          <a:prstGeom prst="rect">
            <a:avLst/>
          </a:prstGeom>
          <a:solidFill>
            <a:srgbClr val="FFFF99"/>
          </a:solidFill>
          <a:ln w="12700" algn="ctr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749" name="Freeform 10">
            <a:extLst>
              <a:ext uri="{FF2B5EF4-FFF2-40B4-BE49-F238E27FC236}">
                <a16:creationId xmlns:a16="http://schemas.microsoft.com/office/drawing/2014/main" id="{FC945829-8D9C-37C4-A527-B50A3BAA2972}"/>
              </a:ext>
            </a:extLst>
          </p:cNvPr>
          <p:cNvSpPr>
            <a:spLocks/>
          </p:cNvSpPr>
          <p:nvPr/>
        </p:nvSpPr>
        <p:spPr bwMode="auto">
          <a:xfrm>
            <a:off x="6553200" y="2362200"/>
            <a:ext cx="3200400" cy="1447800"/>
          </a:xfrm>
          <a:custGeom>
            <a:avLst/>
            <a:gdLst>
              <a:gd name="T0" fmla="*/ 0 w 2016"/>
              <a:gd name="T1" fmla="*/ 2147483646 h 912"/>
              <a:gd name="T2" fmla="*/ 2147483646 w 2016"/>
              <a:gd name="T3" fmla="*/ 2147483646 h 912"/>
              <a:gd name="T4" fmla="*/ 2147483646 w 2016"/>
              <a:gd name="T5" fmla="*/ 2147483646 h 912"/>
              <a:gd name="T6" fmla="*/ 2147483646 w 2016"/>
              <a:gd name="T7" fmla="*/ 2147483646 h 912"/>
              <a:gd name="T8" fmla="*/ 2147483646 w 2016"/>
              <a:gd name="T9" fmla="*/ 2147483646 h 912"/>
              <a:gd name="T10" fmla="*/ 2147483646 w 2016"/>
              <a:gd name="T11" fmla="*/ 2147483646 h 912"/>
              <a:gd name="T12" fmla="*/ 2147483646 w 2016"/>
              <a:gd name="T13" fmla="*/ 2147483646 h 912"/>
              <a:gd name="T14" fmla="*/ 2147483646 w 2016"/>
              <a:gd name="T15" fmla="*/ 2147483646 h 912"/>
              <a:gd name="T16" fmla="*/ 2147483646 w 2016"/>
              <a:gd name="T17" fmla="*/ 0 h 912"/>
              <a:gd name="T18" fmla="*/ 2147483646 w 2016"/>
              <a:gd name="T19" fmla="*/ 2147483646 h 912"/>
              <a:gd name="T20" fmla="*/ 2147483646 w 2016"/>
              <a:gd name="T21" fmla="*/ 2147483646 h 91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016"/>
              <a:gd name="T34" fmla="*/ 0 h 912"/>
              <a:gd name="T35" fmla="*/ 2016 w 2016"/>
              <a:gd name="T36" fmla="*/ 912 h 91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016" h="912">
                <a:moveTo>
                  <a:pt x="0" y="864"/>
                </a:moveTo>
                <a:lnTo>
                  <a:pt x="288" y="528"/>
                </a:lnTo>
                <a:lnTo>
                  <a:pt x="528" y="768"/>
                </a:lnTo>
                <a:lnTo>
                  <a:pt x="672" y="288"/>
                </a:lnTo>
                <a:lnTo>
                  <a:pt x="960" y="912"/>
                </a:lnTo>
                <a:lnTo>
                  <a:pt x="1200" y="672"/>
                </a:lnTo>
                <a:lnTo>
                  <a:pt x="1296" y="480"/>
                </a:lnTo>
                <a:lnTo>
                  <a:pt x="1440" y="672"/>
                </a:lnTo>
                <a:lnTo>
                  <a:pt x="1632" y="0"/>
                </a:lnTo>
                <a:lnTo>
                  <a:pt x="1776" y="624"/>
                </a:lnTo>
                <a:lnTo>
                  <a:pt x="2016" y="912"/>
                </a:lnTo>
              </a:path>
            </a:pathLst>
          </a:custGeom>
          <a:noFill/>
          <a:ln w="19050" cap="flat" cmpd="sng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0" name="Freeform 11">
            <a:extLst>
              <a:ext uri="{FF2B5EF4-FFF2-40B4-BE49-F238E27FC236}">
                <a16:creationId xmlns:a16="http://schemas.microsoft.com/office/drawing/2014/main" id="{C47C136A-1674-E735-2D63-838191A45954}"/>
              </a:ext>
            </a:extLst>
          </p:cNvPr>
          <p:cNvSpPr>
            <a:spLocks/>
          </p:cNvSpPr>
          <p:nvPr/>
        </p:nvSpPr>
        <p:spPr bwMode="auto">
          <a:xfrm>
            <a:off x="6553200" y="3200400"/>
            <a:ext cx="3200400" cy="533400"/>
          </a:xfrm>
          <a:custGeom>
            <a:avLst/>
            <a:gdLst>
              <a:gd name="T0" fmla="*/ 0 w 2016"/>
              <a:gd name="T1" fmla="*/ 2147483646 h 336"/>
              <a:gd name="T2" fmla="*/ 2147483646 w 2016"/>
              <a:gd name="T3" fmla="*/ 2147483646 h 336"/>
              <a:gd name="T4" fmla="*/ 2147483646 w 2016"/>
              <a:gd name="T5" fmla="*/ 2147483646 h 336"/>
              <a:gd name="T6" fmla="*/ 2147483646 w 2016"/>
              <a:gd name="T7" fmla="*/ 2147483646 h 336"/>
              <a:gd name="T8" fmla="*/ 2147483646 w 2016"/>
              <a:gd name="T9" fmla="*/ 2147483646 h 336"/>
              <a:gd name="T10" fmla="*/ 2147483646 w 2016"/>
              <a:gd name="T11" fmla="*/ 2147483646 h 336"/>
              <a:gd name="T12" fmla="*/ 2147483646 w 2016"/>
              <a:gd name="T13" fmla="*/ 2147483646 h 336"/>
              <a:gd name="T14" fmla="*/ 2147483646 w 2016"/>
              <a:gd name="T15" fmla="*/ 2147483646 h 336"/>
              <a:gd name="T16" fmla="*/ 2147483646 w 2016"/>
              <a:gd name="T17" fmla="*/ 2147483646 h 336"/>
              <a:gd name="T18" fmla="*/ 2147483646 w 2016"/>
              <a:gd name="T19" fmla="*/ 2147483646 h 336"/>
              <a:gd name="T20" fmla="*/ 2147483646 w 2016"/>
              <a:gd name="T21" fmla="*/ 0 h 3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016"/>
              <a:gd name="T34" fmla="*/ 0 h 336"/>
              <a:gd name="T35" fmla="*/ 2016 w 2016"/>
              <a:gd name="T36" fmla="*/ 336 h 3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016" h="336">
                <a:moveTo>
                  <a:pt x="0" y="336"/>
                </a:moveTo>
                <a:lnTo>
                  <a:pt x="240" y="192"/>
                </a:lnTo>
                <a:lnTo>
                  <a:pt x="528" y="144"/>
                </a:lnTo>
                <a:lnTo>
                  <a:pt x="672" y="48"/>
                </a:lnTo>
                <a:lnTo>
                  <a:pt x="960" y="144"/>
                </a:lnTo>
                <a:lnTo>
                  <a:pt x="1152" y="144"/>
                </a:lnTo>
                <a:lnTo>
                  <a:pt x="1296" y="96"/>
                </a:lnTo>
                <a:lnTo>
                  <a:pt x="1440" y="96"/>
                </a:lnTo>
                <a:lnTo>
                  <a:pt x="1632" y="96"/>
                </a:lnTo>
                <a:lnTo>
                  <a:pt x="1776" y="96"/>
                </a:lnTo>
                <a:lnTo>
                  <a:pt x="2016" y="0"/>
                </a:lnTo>
              </a:path>
            </a:pathLst>
          </a:custGeom>
          <a:noFill/>
          <a:ln w="28575" cap="flat" cmpd="sng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1" name="Text Box 12">
            <a:extLst>
              <a:ext uri="{FF2B5EF4-FFF2-40B4-BE49-F238E27FC236}">
                <a16:creationId xmlns:a16="http://schemas.microsoft.com/office/drawing/2014/main" id="{4A27630E-BDE3-F9E2-12ED-C8906C12D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191000"/>
            <a:ext cx="3581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/>
              <a:t> 1     2    3   4     5    6    7    8    9   10</a:t>
            </a:r>
          </a:p>
        </p:txBody>
      </p:sp>
      <p:sp>
        <p:nvSpPr>
          <p:cNvPr id="31752" name="TextBox 9">
            <a:extLst>
              <a:ext uri="{FF2B5EF4-FFF2-40B4-BE49-F238E27FC236}">
                <a16:creationId xmlns:a16="http://schemas.microsoft.com/office/drawing/2014/main" id="{B3516EF6-980B-F56E-E988-5544F82F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2068514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X</a:t>
            </a:r>
          </a:p>
        </p:txBody>
      </p:sp>
      <p:sp>
        <p:nvSpPr>
          <p:cNvPr id="31753" name="TextBox 10">
            <a:extLst>
              <a:ext uri="{FF2B5EF4-FFF2-40B4-BE49-F238E27FC236}">
                <a16:creationId xmlns:a16="http://schemas.microsoft.com/office/drawing/2014/main" id="{A1E4E9A5-054A-BFBD-60B6-89052A5BB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2600" y="2895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6B3D039F-84C4-4959-304F-46DBEF72B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524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Prefix Averages (Quadratic)</a:t>
            </a:r>
          </a:p>
        </p:txBody>
      </p:sp>
      <p:sp>
        <p:nvSpPr>
          <p:cNvPr id="3277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0FBF96E-8668-ACEC-AAC2-2C62881BC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219200"/>
            <a:ext cx="8153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following algorithm computes prefix averages in quadratic time by applying the definition</a:t>
            </a:r>
          </a:p>
        </p:txBody>
      </p:sp>
      <p:sp>
        <p:nvSpPr>
          <p:cNvPr id="32771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BCF9301-F1B0-BCF0-2A90-7C985C244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362200"/>
            <a:ext cx="792480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prefixAverages1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X, n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integers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of prefix averages of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X	    </a:t>
            </a:r>
            <a:r>
              <a:rPr lang="en-US" altLang="en-US" sz="1600" dirty="0">
                <a:sym typeface="Symbol" pitchFamily="2" charset="2"/>
              </a:rPr>
              <a:t>#operations</a:t>
            </a:r>
            <a:endParaRPr lang="en-US" altLang="en-US" sz="1800" dirty="0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new array of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integers		    O(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n)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6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(initialization)</a:t>
            </a:r>
            <a:endParaRPr lang="en-US" altLang="en-US" sz="1600" dirty="0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to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1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do		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 O(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n) </a:t>
            </a:r>
            <a:r>
              <a:rPr lang="en-US" altLang="en-US" sz="16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(comparison)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			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 O(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n) </a:t>
            </a:r>
            <a:r>
              <a:rPr lang="en-US" altLang="en-US" sz="16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(assignment and addition)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to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do		   	   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1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2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…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)*c1</a:t>
            </a:r>
            <a:r>
              <a:rPr lang="en-US" altLang="en-US" sz="1800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       O(n</a:t>
            </a:r>
            <a:r>
              <a:rPr lang="en-US" altLang="en-US" sz="1800" baseline="30000" dirty="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	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j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		    (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1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2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…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)*c2          O(n</a:t>
            </a:r>
            <a:r>
              <a:rPr lang="en-US" altLang="en-US" sz="1800" baseline="30000" dirty="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)</a:t>
            </a:r>
            <a:endParaRPr lang="en-US" altLang="en-US" sz="1800" dirty="0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/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1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		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 O(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n) </a:t>
            </a:r>
            <a:r>
              <a:rPr lang="en-US" altLang="en-US" sz="16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(math, indexing, assignment)</a:t>
            </a:r>
            <a:endParaRPr lang="en-US" altLang="en-US" sz="1800" dirty="0">
              <a:solidFill>
                <a:srgbClr val="FF0066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return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 			     	   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69FAB577-E5AF-3392-83F9-19156C451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6019801"/>
            <a:ext cx="5249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    Algorithm </a:t>
            </a:r>
            <a:r>
              <a:rPr lang="en-US" altLang="en-US" sz="1800" b="1" i="1"/>
              <a:t>prefixAverages1 </a:t>
            </a:r>
            <a:r>
              <a:rPr lang="en-US" altLang="en-US" sz="1800"/>
              <a:t>runs in </a:t>
            </a:r>
            <a:r>
              <a:rPr lang="en-US" altLang="en-US" sz="1800" b="1" i="1">
                <a:sym typeface="Symbol" pitchFamily="2" charset="2"/>
              </a:rPr>
              <a:t>O</a:t>
            </a:r>
            <a:r>
              <a:rPr lang="en-US" altLang="en-US" sz="1800">
                <a:sym typeface="Symbol" pitchFamily="2" charset="2"/>
              </a:rPr>
              <a:t>(</a:t>
            </a:r>
            <a:r>
              <a:rPr lang="en-US" altLang="en-US" sz="1800" b="1" i="1">
                <a:sym typeface="Symbol" pitchFamily="2" charset="2"/>
              </a:rPr>
              <a:t>n</a:t>
            </a:r>
            <a:r>
              <a:rPr lang="en-US" altLang="en-US" sz="1800" baseline="30000">
                <a:sym typeface="Symbol" pitchFamily="2" charset="2"/>
              </a:rPr>
              <a:t>2</a:t>
            </a:r>
            <a:r>
              <a:rPr lang="en-US" altLang="en-US" sz="1800">
                <a:sym typeface="Symbol" pitchFamily="2" charset="2"/>
              </a:rPr>
              <a:t>) </a:t>
            </a:r>
            <a:r>
              <a:rPr lang="en-US" altLang="en-US" sz="1800"/>
              <a:t>time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1F760B83-6922-31E7-13EF-47FA26AE0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524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Comic Sans MS" panose="030F0902030302020204" pitchFamily="66" charset="0"/>
              </a:rPr>
              <a:t>Prefix Averages (Linear)</a:t>
            </a:r>
          </a:p>
        </p:txBody>
      </p:sp>
      <p:sp>
        <p:nvSpPr>
          <p:cNvPr id="3379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13DDBE8-2E8D-9B64-7599-CBF5E3B1C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143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following algorithm computes prefix averages in linear time by keeping a running sum</a:t>
            </a:r>
            <a:endParaRPr lang="en-US" altLang="en-US" sz="2000" b="1" i="1" dirty="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3795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58AAF32-6F58-1E50-2E68-8E033FABB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09800"/>
            <a:ext cx="800100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prefixAverages2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X, n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integers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of prefix averages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X	    </a:t>
            </a:r>
            <a:r>
              <a:rPr lang="en-US" altLang="en-US" sz="1600">
                <a:sym typeface="Symbol" pitchFamily="2" charset="2"/>
              </a:rPr>
              <a:t>#operations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new array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integers		    O(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16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(initialization)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0 				   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O(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1) </a:t>
            </a:r>
            <a:r>
              <a:rPr lang="en-US" altLang="en-US" sz="16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(initialization)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1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do			   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O(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16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(comparison)</a:t>
            </a:r>
            <a:endParaRPr lang="en-US" altLang="en-US" sz="180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		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	   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O(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16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(math, indexing, assignment)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/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1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			   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O(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16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(math, indexing, assignment)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return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 			      	   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33796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96DA517-0381-DAA8-1299-716C1E743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8674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1800"/>
              <a:t>Algorithm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prefixAverages2 </a:t>
            </a:r>
            <a:r>
              <a:rPr lang="en-US" altLang="en-US" sz="1800"/>
              <a:t>runs in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1800"/>
              <a:t>time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B8487D-B20E-B1D4-AC93-CB24FE11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B1C052-A43A-BC30-0978-5194398EE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524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en-US" b="1" dirty="0">
                <a:solidFill>
                  <a:srgbClr val="0000FF"/>
                </a:solidFill>
                <a:latin typeface="Comic Sans MS" panose="030F0902030302020204" pitchFamily="66" charset="0"/>
              </a:rPr>
              <a:t>Recurrence Relation -&gt; Recursive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D6D7B-3B3D-12A6-BDC0-0BF66E98CB87}"/>
              </a:ext>
            </a:extLst>
          </p:cNvPr>
          <p:cNvSpPr txBox="1"/>
          <p:nvPr/>
        </p:nvSpPr>
        <p:spPr>
          <a:xfrm>
            <a:off x="1349478" y="1064031"/>
            <a:ext cx="61009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/>
              <a:t>Recursive </a:t>
            </a:r>
            <a:r>
              <a:rPr lang="en-US" altLang="en-US" sz="1800" dirty="0" err="1"/>
              <a:t>FindMax</a:t>
            </a:r>
            <a:r>
              <a:rPr lang="en-US" altLang="en-US" sz="1800" dirty="0"/>
              <a:t>(</a:t>
            </a:r>
            <a:r>
              <a:rPr lang="en-US" altLang="en-US" sz="1800" dirty="0" err="1"/>
              <a:t>A,n</a:t>
            </a:r>
            <a:r>
              <a:rPr lang="en-US" altLang="en-US" sz="1800" dirty="0"/>
              <a:t>)</a:t>
            </a:r>
          </a:p>
          <a:p>
            <a:r>
              <a:rPr lang="en-US" altLang="en-US" dirty="0"/>
              <a:t>		If(n=0)</a:t>
            </a:r>
          </a:p>
          <a:p>
            <a:r>
              <a:rPr lang="en-US" altLang="en-US" sz="1800" dirty="0"/>
              <a:t>	  		return A[0]</a:t>
            </a:r>
          </a:p>
          <a:p>
            <a:r>
              <a:rPr lang="en-US" altLang="en-US" dirty="0"/>
              <a:t> </a:t>
            </a:r>
          </a:p>
          <a:p>
            <a:r>
              <a:rPr lang="en-US" altLang="en-US" sz="1800" dirty="0"/>
              <a:t>            </a:t>
            </a:r>
            <a:r>
              <a:rPr lang="en-US" altLang="en-US" sz="1800" dirty="0" err="1"/>
              <a:t>Findmax</a:t>
            </a:r>
            <a:r>
              <a:rPr lang="en-US" altLang="en-US" sz="1800" dirty="0"/>
              <a:t>(</a:t>
            </a:r>
            <a:r>
              <a:rPr lang="en-US" altLang="en-US" sz="1800" dirty="0" err="1"/>
              <a:t>A,n</a:t>
            </a:r>
            <a:r>
              <a:rPr lang="en-US" altLang="en-US" sz="1800" dirty="0"/>
              <a:t>) = max(</a:t>
            </a:r>
            <a:r>
              <a:rPr lang="en-US" altLang="en-US" sz="1800" dirty="0" err="1"/>
              <a:t>FindMax</a:t>
            </a:r>
            <a:r>
              <a:rPr lang="en-US" altLang="en-US" sz="1800" dirty="0"/>
              <a:t>(A,n-1) , A[n-</a:t>
            </a:r>
            <a:r>
              <a:rPr lang="en-US" altLang="en-US" sz="1800" dirty="0" err="1"/>
              <a:t>i</a:t>
            </a:r>
            <a:r>
              <a:rPr lang="en-US" altLang="en-US" sz="1800" dirty="0"/>
              <a:t>])</a:t>
            </a:r>
          </a:p>
          <a:p>
            <a:endParaRPr lang="en-US" altLang="en-US" dirty="0"/>
          </a:p>
          <a:p>
            <a:r>
              <a:rPr lang="en-US" altLang="en-US" sz="1800" dirty="0"/>
              <a:t>Recurrence Relations</a:t>
            </a:r>
          </a:p>
          <a:p>
            <a:r>
              <a:rPr lang="en-US" altLang="en-US" dirty="0"/>
              <a:t>                 a</a:t>
            </a:r>
            <a:r>
              <a:rPr lang="en-US" altLang="en-US" baseline="-25000" dirty="0"/>
              <a:t>n</a:t>
            </a:r>
            <a:r>
              <a:rPr lang="en-US" altLang="en-US" dirty="0"/>
              <a:t>=a</a:t>
            </a:r>
            <a:r>
              <a:rPr lang="en-US" altLang="en-US" baseline="-25000" dirty="0"/>
              <a:t>n-1</a:t>
            </a:r>
            <a:r>
              <a:rPr lang="en-US" altLang="en-US" dirty="0"/>
              <a:t>+3</a:t>
            </a:r>
            <a:endParaRPr lang="en-US" altLang="en-US" sz="1800" dirty="0"/>
          </a:p>
          <a:p>
            <a:endParaRPr lang="en-US" dirty="0"/>
          </a:p>
          <a:p>
            <a:r>
              <a:rPr lang="en-US" dirty="0"/>
              <a:t>Recursive Balanced Binary Tree Search</a:t>
            </a:r>
          </a:p>
          <a:p>
            <a:r>
              <a:rPr lang="en-US" dirty="0"/>
              <a:t>                 T</a:t>
            </a:r>
            <a:r>
              <a:rPr lang="en-US" baseline="-25000" dirty="0"/>
              <a:t>n </a:t>
            </a:r>
            <a:r>
              <a:rPr lang="en-US" dirty="0"/>
              <a:t>= T</a:t>
            </a:r>
            <a:r>
              <a:rPr lang="en-US" baseline="-25000" dirty="0"/>
              <a:t>n/2</a:t>
            </a:r>
            <a:r>
              <a:rPr lang="en-US" dirty="0"/>
              <a:t> + 1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11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EF0D71-DD7A-6DB6-A6C5-219D4EC7DB8D}"/>
              </a:ext>
            </a:extLst>
          </p:cNvPr>
          <p:cNvSpPr txBox="1"/>
          <p:nvPr/>
        </p:nvSpPr>
        <p:spPr>
          <a:xfrm>
            <a:off x="2273710" y="552753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en-US" altLang="en-US" b="1" dirty="0">
                <a:solidFill>
                  <a:srgbClr val="0000FF"/>
                </a:solidFill>
                <a:latin typeface="Comic Sans MS" panose="030F0902030302020204" pitchFamily="66" charset="0"/>
              </a:rPr>
              <a:t>Solving Recurrence Relation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37D4A-C524-9591-4A0E-3C11192C43DF}"/>
              </a:ext>
            </a:extLst>
          </p:cNvPr>
          <p:cNvSpPr txBox="1"/>
          <p:nvPr/>
        </p:nvSpPr>
        <p:spPr>
          <a:xfrm>
            <a:off x="1201994" y="1054198"/>
            <a:ext cx="61009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Loop Unrolling or substitution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Master Theorem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71D1C-8ECE-1A55-5969-5059ABD6F2D4}"/>
              </a:ext>
            </a:extLst>
          </p:cNvPr>
          <p:cNvSpPr txBox="1"/>
          <p:nvPr/>
        </p:nvSpPr>
        <p:spPr>
          <a:xfrm>
            <a:off x="299884" y="3314202"/>
            <a:ext cx="121919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61616"/>
                </a:solidFill>
                <a:effectLst/>
                <a:latin typeface="CoFo Brilliant"/>
              </a:rPr>
              <a:t>Master Theorem</a:t>
            </a:r>
            <a:endParaRPr lang="en-US" b="0" i="0" dirty="0">
              <a:solidFill>
                <a:srgbClr val="161616"/>
              </a:solidFill>
              <a:effectLst/>
              <a:latin typeface="CoFo Brilliant"/>
            </a:endParaRPr>
          </a:p>
          <a:p>
            <a:pPr algn="l"/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Given a recurrence of the form</a:t>
            </a:r>
          </a:p>
          <a:p>
            <a:pPr algn="l"/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	T(n)=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KaTeX_Main"/>
              </a:rPr>
              <a:t>aT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(n/b)+f(n),</a:t>
            </a:r>
            <a:endParaRPr lang="en-US" b="0" i="0" dirty="0">
              <a:solidFill>
                <a:srgbClr val="161616"/>
              </a:solidFill>
              <a:effectLst/>
              <a:latin typeface="CoFo Brilliant"/>
            </a:endParaRPr>
          </a:p>
          <a:p>
            <a:pPr algn="l"/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for constants </a:t>
            </a:r>
            <a:r>
              <a:rPr lang="en-US" b="0" i="1" dirty="0">
                <a:solidFill>
                  <a:srgbClr val="161616"/>
                </a:solidFill>
                <a:effectLst/>
                <a:latin typeface="KaTeX_Math"/>
              </a:rPr>
              <a:t>a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(≥1)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 ) and </a:t>
            </a:r>
            <a:r>
              <a:rPr lang="en-US" b="0" i="1" dirty="0">
                <a:solidFill>
                  <a:srgbClr val="161616"/>
                </a:solidFill>
                <a:effectLst/>
                <a:latin typeface="KaTeX_Math"/>
              </a:rPr>
              <a:t>b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(&gt;1)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 with </a:t>
            </a:r>
            <a:r>
              <a:rPr lang="en-US" b="0" i="1" dirty="0">
                <a:solidFill>
                  <a:srgbClr val="161616"/>
                </a:solidFill>
                <a:effectLst/>
                <a:latin typeface="KaTeX_Math"/>
              </a:rPr>
              <a:t>f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 asymptotically positive, the following statements are true: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61616"/>
                </a:solidFill>
                <a:effectLst/>
                <a:latin typeface="CoFo Brilliant"/>
              </a:rPr>
              <a:t>Case 1.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 If 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f(n)=O(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KaTeX_Main"/>
              </a:rPr>
              <a:t>n</a:t>
            </a:r>
            <a:r>
              <a:rPr lang="en-US" b="0" i="0" baseline="30000" dirty="0" err="1">
                <a:solidFill>
                  <a:srgbClr val="161616"/>
                </a:solidFill>
                <a:effectLst/>
                <a:latin typeface="KaTeX_Main"/>
              </a:rPr>
              <a:t>logb</a:t>
            </a:r>
            <a:r>
              <a:rPr lang="en-US" baseline="30000" dirty="0">
                <a:solidFill>
                  <a:srgbClr val="161616"/>
                </a:solidFill>
                <a:latin typeface="KaTeX_Main"/>
              </a:rPr>
              <a:t> a - e</a:t>
            </a:r>
            <a:r>
              <a:rPr lang="el-GR" b="0" i="0" dirty="0">
                <a:solidFill>
                  <a:srgbClr val="161616"/>
                </a:solidFill>
                <a:effectLst/>
                <a:latin typeface="KaTeX_Main"/>
              </a:rPr>
              <a:t>)</a:t>
            </a:r>
            <a:r>
              <a:rPr lang="en-US" b="0" i="1" dirty="0">
                <a:solidFill>
                  <a:srgbClr val="161616"/>
                </a:solidFill>
                <a:effectLst/>
                <a:latin typeface="KaTeX_Math"/>
              </a:rPr>
              <a:t> </a:t>
            </a:r>
            <a:r>
              <a:rPr lang="el-GR" b="0" i="0" dirty="0">
                <a:solidFill>
                  <a:srgbClr val="161616"/>
                </a:solidFill>
                <a:effectLst/>
                <a:latin typeface="CoFo Brilliant"/>
              </a:rPr>
              <a:t> 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for some </a:t>
            </a:r>
            <a:r>
              <a:rPr lang="en-US" i="1" dirty="0">
                <a:solidFill>
                  <a:srgbClr val="161616"/>
                </a:solidFill>
                <a:latin typeface="KaTeX_Math"/>
              </a:rPr>
              <a:t>e</a:t>
            </a:r>
            <a:r>
              <a:rPr lang="el-GR" b="0" i="0" dirty="0">
                <a:solidFill>
                  <a:srgbClr val="161616"/>
                </a:solidFill>
                <a:effectLst/>
                <a:latin typeface="KaTeX_Main"/>
              </a:rPr>
              <a:t>&gt;0</a:t>
            </a:r>
            <a:r>
              <a:rPr lang="el-GR" b="0" i="0" dirty="0">
                <a:solidFill>
                  <a:srgbClr val="161616"/>
                </a:solidFill>
                <a:effectLst/>
                <a:latin typeface="CoFo Brilliant"/>
              </a:rPr>
              <a:t>, 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then 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T(n)=</a:t>
            </a:r>
            <a:r>
              <a:rPr lang="el-GR" b="0" i="0" dirty="0">
                <a:solidFill>
                  <a:srgbClr val="161616"/>
                </a:solidFill>
                <a:effectLst/>
                <a:latin typeface="KaTeX_Main"/>
              </a:rPr>
              <a:t>Θ(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KaTeX_Main"/>
              </a:rPr>
              <a:t>n</a:t>
            </a:r>
            <a:r>
              <a:rPr lang="en-US" baseline="30000" dirty="0" err="1">
                <a:solidFill>
                  <a:srgbClr val="161616"/>
                </a:solidFill>
                <a:latin typeface="KaTeX_Main"/>
              </a:rPr>
              <a:t>logb</a:t>
            </a:r>
            <a:r>
              <a:rPr lang="en-US" baseline="30000" dirty="0">
                <a:solidFill>
                  <a:srgbClr val="161616"/>
                </a:solidFill>
                <a:latin typeface="KaTeX_Main"/>
              </a:rPr>
              <a:t> a)</a:t>
            </a:r>
            <a:endParaRPr lang="en-US" b="0" i="0" dirty="0">
              <a:solidFill>
                <a:srgbClr val="161616"/>
              </a:solidFill>
              <a:effectLst/>
              <a:latin typeface="CoFo Brillian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61616"/>
                </a:solidFill>
                <a:effectLst/>
                <a:latin typeface="CoFo Brilliant"/>
              </a:rPr>
              <a:t>Case 2.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 If </a:t>
            </a:r>
            <a:r>
              <a:rPr lang="en-US" b="0" i="1" dirty="0">
                <a:solidFill>
                  <a:srgbClr val="161616"/>
                </a:solidFill>
                <a:effectLst/>
                <a:latin typeface="KaTeX_Math"/>
              </a:rPr>
              <a:t>f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(</a:t>
            </a:r>
            <a:r>
              <a:rPr lang="en-US" b="0" i="1" dirty="0">
                <a:solidFill>
                  <a:srgbClr val="161616"/>
                </a:solidFill>
                <a:effectLst/>
                <a:latin typeface="KaTeX_Math"/>
              </a:rPr>
              <a:t>n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)=</a:t>
            </a:r>
            <a:r>
              <a:rPr lang="el-GR" b="0" i="0" dirty="0">
                <a:solidFill>
                  <a:srgbClr val="161616"/>
                </a:solidFill>
                <a:effectLst/>
                <a:latin typeface="KaTeX_Main"/>
              </a:rPr>
              <a:t>Θ</a:t>
            </a:r>
            <a:r>
              <a:rPr lang="el-GR" b="0" i="0" dirty="0">
                <a:solidFill>
                  <a:srgbClr val="161616"/>
                </a:solidFill>
                <a:effectLst/>
                <a:latin typeface="KaTeX_Size1"/>
              </a:rPr>
              <a:t>(</a:t>
            </a:r>
            <a:r>
              <a:rPr lang="en-US" b="0" i="1" dirty="0" err="1">
                <a:solidFill>
                  <a:srgbClr val="161616"/>
                </a:solidFill>
                <a:effectLst/>
                <a:latin typeface="KaTeX_Math"/>
              </a:rPr>
              <a:t>n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KaTeX_Main"/>
              </a:rPr>
              <a:t>log</a:t>
            </a:r>
            <a:r>
              <a:rPr lang="en-US" b="0" i="1" dirty="0" err="1">
                <a:solidFill>
                  <a:srgbClr val="161616"/>
                </a:solidFill>
                <a:effectLst/>
                <a:latin typeface="KaTeX_Math"/>
              </a:rPr>
              <a:t>b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​</a:t>
            </a:r>
            <a:r>
              <a:rPr lang="en-US" b="0" i="1" dirty="0">
                <a:solidFill>
                  <a:srgbClr val="161616"/>
                </a:solidFill>
                <a:effectLst/>
                <a:latin typeface="KaTeX_Math"/>
              </a:rPr>
              <a:t>a</a:t>
            </a:r>
            <a:r>
              <a:rPr lang="en-US" b="0" i="0" dirty="0">
                <a:solidFill>
                  <a:srgbClr val="161616"/>
                </a:solidFill>
                <a:effectLst/>
                <a:latin typeface="KaTeX_Size1"/>
              </a:rPr>
              <a:t>)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, then </a:t>
            </a:r>
            <a:r>
              <a:rPr lang="en-US" b="0" i="1" dirty="0">
                <a:solidFill>
                  <a:srgbClr val="161616"/>
                </a:solidFill>
                <a:effectLst/>
                <a:latin typeface="KaTeX_Math"/>
              </a:rPr>
              <a:t>T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(</a:t>
            </a:r>
            <a:r>
              <a:rPr lang="en-US" b="0" i="1" dirty="0">
                <a:solidFill>
                  <a:srgbClr val="161616"/>
                </a:solidFill>
                <a:effectLst/>
                <a:latin typeface="KaTeX_Math"/>
              </a:rPr>
              <a:t>n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)=</a:t>
            </a:r>
            <a:r>
              <a:rPr lang="el-GR" b="0" i="0" dirty="0">
                <a:solidFill>
                  <a:srgbClr val="161616"/>
                </a:solidFill>
                <a:effectLst/>
                <a:latin typeface="KaTeX_Main"/>
              </a:rPr>
              <a:t>Θ</a:t>
            </a:r>
            <a:r>
              <a:rPr lang="el-GR" b="0" i="0" dirty="0">
                <a:solidFill>
                  <a:srgbClr val="161616"/>
                </a:solidFill>
                <a:effectLst/>
                <a:latin typeface="KaTeX_Size1"/>
              </a:rPr>
              <a:t>(</a:t>
            </a:r>
            <a:r>
              <a:rPr lang="en-US" b="0" i="1" dirty="0" err="1">
                <a:solidFill>
                  <a:srgbClr val="161616"/>
                </a:solidFill>
                <a:effectLst/>
                <a:latin typeface="KaTeX_Math"/>
              </a:rPr>
              <a:t>n</a:t>
            </a:r>
            <a:r>
              <a:rPr lang="en-US" i="1" baseline="30000" dirty="0" err="1">
                <a:solidFill>
                  <a:srgbClr val="161616"/>
                </a:solidFill>
                <a:latin typeface="KaTeX_Math"/>
              </a:rPr>
              <a:t>logb</a:t>
            </a:r>
            <a:r>
              <a:rPr lang="en-US" i="1" baseline="30000" dirty="0">
                <a:solidFill>
                  <a:srgbClr val="161616"/>
                </a:solidFill>
                <a:latin typeface="KaTeX_Math"/>
              </a:rPr>
              <a:t> a</a:t>
            </a:r>
            <a:r>
              <a:rPr lang="en-US" b="0" i="1" dirty="0">
                <a:solidFill>
                  <a:srgbClr val="161616"/>
                </a:solidFill>
                <a:effectLst/>
                <a:latin typeface="KaTeX_Math"/>
              </a:rPr>
              <a:t> 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KaTeX_Main"/>
              </a:rPr>
              <a:t>log</a:t>
            </a:r>
            <a:r>
              <a:rPr lang="en-US" b="0" i="1" dirty="0" err="1">
                <a:solidFill>
                  <a:srgbClr val="161616"/>
                </a:solidFill>
                <a:effectLst/>
                <a:latin typeface="KaTeX_Math"/>
              </a:rPr>
              <a:t>n</a:t>
            </a:r>
            <a:r>
              <a:rPr lang="en-US" b="0" i="0" dirty="0">
                <a:solidFill>
                  <a:srgbClr val="161616"/>
                </a:solidFill>
                <a:effectLst/>
                <a:latin typeface="KaTeX_Size1"/>
              </a:rPr>
              <a:t>)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61616"/>
                </a:solidFill>
                <a:effectLst/>
                <a:latin typeface="CoFo Brilliant"/>
              </a:rPr>
              <a:t>Case 3.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 If 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f(n)=</a:t>
            </a:r>
            <a:r>
              <a:rPr lang="el-GR" b="0" i="0" dirty="0">
                <a:solidFill>
                  <a:srgbClr val="161616"/>
                </a:solidFill>
                <a:effectLst/>
                <a:latin typeface="KaTeX_Main"/>
              </a:rPr>
              <a:t>Ω(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KaTeX_Main"/>
              </a:rPr>
              <a:t>nlog⁡ba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+</a:t>
            </a:r>
            <a:r>
              <a:rPr lang="el-GR" b="0" i="0" dirty="0">
                <a:solidFill>
                  <a:srgbClr val="161616"/>
                </a:solidFill>
                <a:effectLst/>
                <a:latin typeface="KaTeX_Main"/>
              </a:rPr>
              <a:t>ϵ)</a:t>
            </a:r>
            <a:r>
              <a:rPr lang="en-US" b="0" i="1" dirty="0">
                <a:solidFill>
                  <a:srgbClr val="161616"/>
                </a:solidFill>
                <a:effectLst/>
                <a:latin typeface="KaTeX_Math"/>
              </a:rPr>
              <a:t> </a:t>
            </a:r>
            <a:r>
              <a:rPr lang="el-GR" b="0" i="0" dirty="0">
                <a:solidFill>
                  <a:srgbClr val="161616"/>
                </a:solidFill>
                <a:effectLst/>
                <a:latin typeface="CoFo Brilliant"/>
              </a:rPr>
              <a:t> 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for some </a:t>
            </a:r>
            <a:r>
              <a:rPr lang="el-GR" b="0" i="1" dirty="0">
                <a:solidFill>
                  <a:srgbClr val="161616"/>
                </a:solidFill>
                <a:effectLst/>
                <a:latin typeface="KaTeX_Math"/>
              </a:rPr>
              <a:t>ϵ</a:t>
            </a:r>
            <a:r>
              <a:rPr lang="el-GR" b="0" i="0" dirty="0">
                <a:solidFill>
                  <a:srgbClr val="161616"/>
                </a:solidFill>
                <a:effectLst/>
                <a:latin typeface="KaTeX_Main"/>
              </a:rPr>
              <a:t>&gt;0</a:t>
            </a:r>
            <a:r>
              <a:rPr lang="el-GR" b="0" i="0" dirty="0">
                <a:solidFill>
                  <a:srgbClr val="161616"/>
                </a:solidFill>
                <a:effectLst/>
                <a:latin typeface="CoFo Brilliant"/>
              </a:rPr>
              <a:t> </a:t>
            </a:r>
            <a:r>
              <a:rPr lang="el-GR" b="0" i="0" dirty="0">
                <a:solidFill>
                  <a:srgbClr val="161616"/>
                </a:solidFill>
                <a:effectLst/>
                <a:latin typeface="KaTeX_Main"/>
              </a:rPr>
              <a:t>(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and 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KaTeX_Main"/>
              </a:rPr>
              <a:t>af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(n/b)≤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c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 f(n)</a:t>
            </a:r>
            <a:r>
              <a:rPr lang="en-US" b="0" i="1" dirty="0">
                <a:solidFill>
                  <a:srgbClr val="161616"/>
                </a:solidFill>
                <a:effectLst/>
                <a:latin typeface="KaTeX_Math"/>
              </a:rPr>
              <a:t> 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 for some </a:t>
            </a:r>
            <a:r>
              <a:rPr lang="en-US" b="0" i="1" dirty="0">
                <a:solidFill>
                  <a:srgbClr val="161616"/>
                </a:solidFill>
                <a:effectLst/>
                <a:latin typeface="KaTeX_Math"/>
              </a:rPr>
              <a:t>c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&lt;1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 for all 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n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 sufficiently large</a:t>
            </a:r>
            <a:r>
              <a:rPr lang="en-US" b="0" i="0" dirty="0">
                <a:solidFill>
                  <a:srgbClr val="161616"/>
                </a:solidFill>
                <a:effectLst/>
                <a:latin typeface="KaTeX_Size1"/>
              </a:rPr>
              <a:t>)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,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 then 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T(n)=</a:t>
            </a:r>
            <a:r>
              <a:rPr lang="el-GR" b="0" i="0" dirty="0">
                <a:solidFill>
                  <a:srgbClr val="161616"/>
                </a:solidFill>
                <a:effectLst/>
                <a:latin typeface="KaTeX_Main"/>
              </a:rPr>
              <a:t>Θ(</a:t>
            </a:r>
            <a:r>
              <a:rPr lang="en-US" b="0" i="0" dirty="0">
                <a:solidFill>
                  <a:srgbClr val="161616"/>
                </a:solidFill>
                <a:effectLst/>
                <a:latin typeface="KaTeX_Main"/>
              </a:rPr>
              <a:t>f(n))</a:t>
            </a:r>
            <a:r>
              <a:rPr lang="en-US" b="0" i="0" dirty="0">
                <a:solidFill>
                  <a:srgbClr val="161616"/>
                </a:solidFill>
                <a:effectLst/>
                <a:latin typeface="CoFo Brillian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738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88270D-28C7-5FB6-F463-36698327CD69}"/>
              </a:ext>
            </a:extLst>
          </p:cNvPr>
          <p:cNvSpPr txBox="1"/>
          <p:nvPr/>
        </p:nvSpPr>
        <p:spPr>
          <a:xfrm>
            <a:off x="2421194" y="474096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61616"/>
                </a:solidFill>
                <a:latin typeface="KaTeX_Main"/>
              </a:rPr>
              <a:t>Loop Unrolling or Substitution Method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7450A-4DDF-2951-2890-9340D0E7B398}"/>
              </a:ext>
            </a:extLst>
          </p:cNvPr>
          <p:cNvSpPr txBox="1"/>
          <p:nvPr/>
        </p:nvSpPr>
        <p:spPr>
          <a:xfrm>
            <a:off x="1752600" y="1221346"/>
            <a:ext cx="71750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61616"/>
                </a:solidFill>
                <a:latin typeface="KaTeX_Main"/>
              </a:rPr>
              <a:t>A</a:t>
            </a:r>
            <a:r>
              <a:rPr lang="en-US" baseline="-25000" dirty="0">
                <a:solidFill>
                  <a:srgbClr val="161616"/>
                </a:solidFill>
                <a:latin typeface="KaTeX_Main"/>
              </a:rPr>
              <a:t>n 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 = A</a:t>
            </a:r>
            <a:r>
              <a:rPr lang="en-US" baseline="-25000" dirty="0">
                <a:solidFill>
                  <a:srgbClr val="161616"/>
                </a:solidFill>
                <a:latin typeface="KaTeX_Main"/>
              </a:rPr>
              <a:t>n-1 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+ 2 = A</a:t>
            </a:r>
            <a:r>
              <a:rPr lang="en-US" baseline="-25000" dirty="0">
                <a:solidFill>
                  <a:srgbClr val="161616"/>
                </a:solidFill>
                <a:latin typeface="KaTeX_Main"/>
              </a:rPr>
              <a:t>n-2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 + 2 + 2 = A</a:t>
            </a:r>
            <a:r>
              <a:rPr lang="en-US" baseline="-25000" dirty="0">
                <a:solidFill>
                  <a:srgbClr val="161616"/>
                </a:solidFill>
                <a:latin typeface="KaTeX_Main"/>
              </a:rPr>
              <a:t>n-k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 + 2+2+2 … k-times = 2+2+2+ … n times</a:t>
            </a:r>
          </a:p>
          <a:p>
            <a:endParaRPr lang="en-US" dirty="0">
              <a:solidFill>
                <a:srgbClr val="161616"/>
              </a:solidFill>
              <a:latin typeface="KaTeX_Main"/>
            </a:endParaRPr>
          </a:p>
          <a:p>
            <a:r>
              <a:rPr lang="en-US" dirty="0">
                <a:solidFill>
                  <a:srgbClr val="161616"/>
                </a:solidFill>
                <a:latin typeface="KaTeX_Main"/>
              </a:rPr>
              <a:t>2*n</a:t>
            </a:r>
          </a:p>
          <a:p>
            <a:endParaRPr lang="en-US" dirty="0">
              <a:solidFill>
                <a:srgbClr val="161616"/>
              </a:solidFill>
              <a:latin typeface="KaTeX_Main"/>
            </a:endParaRPr>
          </a:p>
          <a:p>
            <a:endParaRPr lang="en-US" dirty="0">
              <a:solidFill>
                <a:srgbClr val="161616"/>
              </a:solidFill>
              <a:latin typeface="KaTeX_Main"/>
            </a:endParaRPr>
          </a:p>
          <a:p>
            <a:endParaRPr lang="en-US" dirty="0">
              <a:solidFill>
                <a:srgbClr val="161616"/>
              </a:solidFill>
              <a:latin typeface="KaTeX_Main"/>
            </a:endParaRPr>
          </a:p>
          <a:p>
            <a:r>
              <a:rPr lang="en-US" dirty="0">
                <a:solidFill>
                  <a:srgbClr val="161616"/>
                </a:solidFill>
                <a:latin typeface="KaTeX_Main"/>
              </a:rPr>
              <a:t> </a:t>
            </a:r>
          </a:p>
          <a:p>
            <a:r>
              <a:rPr lang="en-US" dirty="0">
                <a:solidFill>
                  <a:srgbClr val="161616"/>
                </a:solidFill>
                <a:latin typeface="KaTeX_Main"/>
              </a:rPr>
              <a:t>A</a:t>
            </a:r>
            <a:r>
              <a:rPr lang="en-US" baseline="-25000" dirty="0">
                <a:solidFill>
                  <a:srgbClr val="161616"/>
                </a:solidFill>
                <a:latin typeface="KaTeX_Main"/>
              </a:rPr>
              <a:t>n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 = A</a:t>
            </a:r>
            <a:r>
              <a:rPr lang="en-US" baseline="-25000" dirty="0">
                <a:solidFill>
                  <a:srgbClr val="161616"/>
                </a:solidFill>
                <a:latin typeface="KaTeX_Main"/>
              </a:rPr>
              <a:t>n/2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 +n = A</a:t>
            </a:r>
            <a:r>
              <a:rPr lang="en-US" baseline="-25000" dirty="0">
                <a:solidFill>
                  <a:srgbClr val="161616"/>
                </a:solidFill>
                <a:latin typeface="KaTeX_Main"/>
              </a:rPr>
              <a:t>n/4 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+</a:t>
            </a:r>
            <a:r>
              <a:rPr lang="en-US" dirty="0" err="1">
                <a:solidFill>
                  <a:srgbClr val="161616"/>
                </a:solidFill>
                <a:latin typeface="KaTeX_Main"/>
              </a:rPr>
              <a:t>n+n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 -&gt; </a:t>
            </a:r>
            <a:r>
              <a:rPr lang="en-US" dirty="0" err="1">
                <a:solidFill>
                  <a:srgbClr val="161616"/>
                </a:solidFill>
                <a:latin typeface="KaTeX_Main"/>
              </a:rPr>
              <a:t>n+n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 +n .. Log n times = </a:t>
            </a:r>
            <a:r>
              <a:rPr lang="en-US" dirty="0" err="1">
                <a:solidFill>
                  <a:srgbClr val="161616"/>
                </a:solidFill>
                <a:latin typeface="KaTeX_Main"/>
              </a:rPr>
              <a:t>nlogn</a:t>
            </a:r>
            <a:endParaRPr lang="en-US" dirty="0">
              <a:solidFill>
                <a:srgbClr val="161616"/>
              </a:solidFill>
              <a:latin typeface="KaTeX_Main"/>
            </a:endParaRPr>
          </a:p>
          <a:p>
            <a:endParaRPr lang="en-US" dirty="0">
              <a:solidFill>
                <a:srgbClr val="161616"/>
              </a:solidFill>
              <a:latin typeface="KaTeX_Main"/>
            </a:endParaRPr>
          </a:p>
          <a:p>
            <a:r>
              <a:rPr lang="en-US" dirty="0">
                <a:solidFill>
                  <a:srgbClr val="161616"/>
                </a:solidFill>
                <a:latin typeface="KaTeX_Main"/>
              </a:rPr>
              <a:t>n/2</a:t>
            </a:r>
            <a:r>
              <a:rPr lang="en-US" baseline="30000" dirty="0">
                <a:solidFill>
                  <a:srgbClr val="161616"/>
                </a:solidFill>
                <a:latin typeface="KaTeX_Main"/>
              </a:rPr>
              <a:t>steps 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 = 1; Steps = log n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E0898A-836F-2CD2-E673-0EA637192F78}"/>
              </a:ext>
            </a:extLst>
          </p:cNvPr>
          <p:cNvCxnSpPr/>
          <p:nvPr/>
        </p:nvCxnSpPr>
        <p:spPr>
          <a:xfrm>
            <a:off x="462116" y="2526890"/>
            <a:ext cx="108351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443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EEDF4D-A7BF-8921-C70B-5BCE358D4228}"/>
              </a:ext>
            </a:extLst>
          </p:cNvPr>
          <p:cNvSpPr txBox="1"/>
          <p:nvPr/>
        </p:nvSpPr>
        <p:spPr>
          <a:xfrm>
            <a:off x="599769" y="217565"/>
            <a:ext cx="9478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61616"/>
                </a:solidFill>
                <a:latin typeface="KaTeX_Main"/>
              </a:rPr>
              <a:t>Solving Homogeneous Recurrence Equation Using Polynomial Reduction</a:t>
            </a:r>
            <a:endParaRPr 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2E7024-87D2-A026-D702-F8556CD06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097" y="1370107"/>
            <a:ext cx="6163535" cy="342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F67F80-7D79-7651-7B4D-E280FCC81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097" y="2367554"/>
            <a:ext cx="5572903" cy="333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EE9F76-B1C0-3DB2-259C-37E32B80DBE3}"/>
              </a:ext>
            </a:extLst>
          </p:cNvPr>
          <p:cNvSpPr txBox="1"/>
          <p:nvPr/>
        </p:nvSpPr>
        <p:spPr>
          <a:xfrm>
            <a:off x="688258" y="1855638"/>
            <a:ext cx="2536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61616"/>
                </a:solidFill>
                <a:latin typeface="KaTeX_Main"/>
              </a:rPr>
              <a:t>Homogeneous if b</a:t>
            </a:r>
            <a:r>
              <a:rPr lang="en-US" baseline="-25000" dirty="0">
                <a:solidFill>
                  <a:srgbClr val="161616"/>
                </a:solidFill>
                <a:latin typeface="KaTeX_Main"/>
              </a:rPr>
              <a:t>n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 = 0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5F9836-CE8E-707B-5ED6-8DD19DDD7EB3}"/>
              </a:ext>
            </a:extLst>
          </p:cNvPr>
          <p:cNvSpPr txBox="1"/>
          <p:nvPr/>
        </p:nvSpPr>
        <p:spPr>
          <a:xfrm>
            <a:off x="688258" y="886700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61616"/>
                </a:solidFill>
                <a:latin typeface="KaTeX_Main"/>
              </a:rPr>
              <a:t>Linear Recurrence Relation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790331-1717-F51F-3C31-AB09C2459F64}"/>
              </a:ext>
            </a:extLst>
          </p:cNvPr>
          <p:cNvSpPr txBox="1"/>
          <p:nvPr/>
        </p:nvSpPr>
        <p:spPr>
          <a:xfrm>
            <a:off x="688257" y="2843560"/>
            <a:ext cx="8563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61616"/>
                </a:solidFill>
                <a:latin typeface="KaTeX_Main"/>
              </a:rPr>
              <a:t>Substituting </a:t>
            </a:r>
            <a:r>
              <a:rPr lang="en-US" dirty="0" err="1">
                <a:solidFill>
                  <a:srgbClr val="161616"/>
                </a:solidFill>
                <a:latin typeface="KaTeX_Main"/>
              </a:rPr>
              <a:t>h</a:t>
            </a:r>
            <a:r>
              <a:rPr lang="en-US" baseline="-25000" dirty="0" err="1">
                <a:solidFill>
                  <a:srgbClr val="161616"/>
                </a:solidFill>
                <a:latin typeface="KaTeX_Main"/>
              </a:rPr>
              <a:t>n</a:t>
            </a:r>
            <a:r>
              <a:rPr lang="en-US" baseline="-25000" dirty="0">
                <a:solidFill>
                  <a:srgbClr val="161616"/>
                </a:solidFill>
                <a:latin typeface="KaTeX_Main"/>
              </a:rPr>
              <a:t>  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as  </a:t>
            </a:r>
            <a:r>
              <a:rPr lang="en-US" dirty="0" err="1">
                <a:solidFill>
                  <a:srgbClr val="161616"/>
                </a:solidFill>
                <a:latin typeface="KaTeX_Main"/>
              </a:rPr>
              <a:t>X</a:t>
            </a:r>
            <a:r>
              <a:rPr lang="en-US" baseline="30000" dirty="0" err="1">
                <a:solidFill>
                  <a:srgbClr val="161616"/>
                </a:solidFill>
                <a:latin typeface="KaTeX_Main"/>
              </a:rPr>
              <a:t>n</a:t>
            </a:r>
            <a:r>
              <a:rPr lang="en-US" baseline="30000" dirty="0">
                <a:solidFill>
                  <a:srgbClr val="161616"/>
                </a:solidFill>
                <a:latin typeface="KaTeX_Main"/>
              </a:rPr>
              <a:t> 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, we have a characteristic polynomial equation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FB764F-3A49-7ACE-7351-0C45FDF3F003}"/>
              </a:ext>
            </a:extLst>
          </p:cNvPr>
          <p:cNvSpPr txBox="1"/>
          <p:nvPr/>
        </p:nvSpPr>
        <p:spPr>
          <a:xfrm>
            <a:off x="1919747" y="3512695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161616"/>
                </a:solidFill>
                <a:latin typeface="KaTeX_Main"/>
              </a:rPr>
              <a:t>X</a:t>
            </a:r>
            <a:r>
              <a:rPr lang="en-US" baseline="30000" dirty="0" err="1">
                <a:solidFill>
                  <a:srgbClr val="161616"/>
                </a:solidFill>
                <a:latin typeface="KaTeX_Main"/>
              </a:rPr>
              <a:t>n</a:t>
            </a:r>
            <a:r>
              <a:rPr lang="en-US" baseline="30000" dirty="0">
                <a:solidFill>
                  <a:srgbClr val="161616"/>
                </a:solidFill>
                <a:latin typeface="KaTeX_Main"/>
              </a:rPr>
              <a:t> 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= a</a:t>
            </a:r>
            <a:r>
              <a:rPr lang="en-US" baseline="-25000" dirty="0">
                <a:solidFill>
                  <a:srgbClr val="161616"/>
                </a:solidFill>
                <a:latin typeface="KaTeX_Main"/>
              </a:rPr>
              <a:t>1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X</a:t>
            </a:r>
            <a:r>
              <a:rPr lang="en-US" baseline="30000" dirty="0">
                <a:solidFill>
                  <a:srgbClr val="161616"/>
                </a:solidFill>
                <a:latin typeface="KaTeX_Main"/>
              </a:rPr>
              <a:t>n-1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 + a</a:t>
            </a:r>
            <a:r>
              <a:rPr lang="en-US" baseline="-25000" dirty="0">
                <a:solidFill>
                  <a:srgbClr val="161616"/>
                </a:solidFill>
                <a:latin typeface="KaTeX_Main"/>
              </a:rPr>
              <a:t>1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X</a:t>
            </a:r>
            <a:r>
              <a:rPr lang="en-US" baseline="30000" dirty="0">
                <a:solidFill>
                  <a:srgbClr val="161616"/>
                </a:solidFill>
                <a:latin typeface="KaTeX_Main"/>
              </a:rPr>
              <a:t>n-2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 …..  a</a:t>
            </a:r>
            <a:r>
              <a:rPr lang="en-US" baseline="-25000" dirty="0">
                <a:solidFill>
                  <a:srgbClr val="161616"/>
                </a:solidFill>
                <a:latin typeface="KaTeX_Main"/>
              </a:rPr>
              <a:t>1</a:t>
            </a:r>
            <a:r>
              <a:rPr lang="en-US" dirty="0">
                <a:solidFill>
                  <a:srgbClr val="161616"/>
                </a:solidFill>
                <a:latin typeface="KaTeX_Main"/>
              </a:rPr>
              <a:t>X</a:t>
            </a:r>
            <a:r>
              <a:rPr lang="en-US" baseline="30000" dirty="0">
                <a:solidFill>
                  <a:srgbClr val="161616"/>
                </a:solidFill>
                <a:latin typeface="KaTeX_Main"/>
              </a:rPr>
              <a:t>n-k 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F264DA-0FCC-FBD5-4CE2-5764BA2BD4D4}"/>
              </a:ext>
            </a:extLst>
          </p:cNvPr>
          <p:cNvSpPr txBox="1"/>
          <p:nvPr/>
        </p:nvSpPr>
        <p:spPr>
          <a:xfrm>
            <a:off x="848031" y="4093193"/>
            <a:ext cx="96921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 q != 0. The geometric sequence </a:t>
            </a:r>
            <a:r>
              <a:rPr lang="en-US" dirty="0" err="1"/>
              <a:t>h</a:t>
            </a:r>
            <a:r>
              <a:rPr lang="en-US" baseline="-25000" dirty="0" err="1"/>
              <a:t>n</a:t>
            </a:r>
            <a:r>
              <a:rPr lang="en-US" dirty="0"/>
              <a:t> = q</a:t>
            </a:r>
            <a:r>
              <a:rPr lang="en-US" baseline="30000" dirty="0"/>
              <a:t>n</a:t>
            </a:r>
            <a:r>
              <a:rPr lang="en-US" dirty="0"/>
              <a:t> is a solution of the recurrence relation if and only if the number q is a root of the characteristic equation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D7268E-6F1D-0B87-9CE3-BD31FE7C14A4}"/>
              </a:ext>
            </a:extLst>
          </p:cNvPr>
          <p:cNvSpPr txBox="1"/>
          <p:nvPr/>
        </p:nvSpPr>
        <p:spPr>
          <a:xfrm>
            <a:off x="848031" y="5007890"/>
            <a:ext cx="9475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the characteristic equation has k distinct roots q</a:t>
            </a:r>
            <a:r>
              <a:rPr lang="en-US" baseline="-25000" dirty="0"/>
              <a:t>1</a:t>
            </a:r>
            <a:r>
              <a:rPr lang="en-US" dirty="0"/>
              <a:t>,q</a:t>
            </a:r>
            <a:r>
              <a:rPr lang="en-US" baseline="-25000" dirty="0"/>
              <a:t>2</a:t>
            </a:r>
            <a:r>
              <a:rPr lang="en-US" dirty="0"/>
              <a:t>,...,</a:t>
            </a:r>
            <a:r>
              <a:rPr lang="en-US" dirty="0" err="1"/>
              <a:t>q</a:t>
            </a:r>
            <a:r>
              <a:rPr lang="en-US" baseline="-25000" dirty="0" err="1"/>
              <a:t>k</a:t>
            </a:r>
            <a:r>
              <a:rPr lang="en-US" dirty="0"/>
              <a:t>, then the general solution of is </a:t>
            </a:r>
          </a:p>
          <a:p>
            <a:r>
              <a:rPr lang="en-US" dirty="0"/>
              <a:t>				</a:t>
            </a:r>
            <a:r>
              <a:rPr lang="en-US" dirty="0" err="1"/>
              <a:t>h</a:t>
            </a:r>
            <a:r>
              <a:rPr lang="en-US" baseline="-25000" dirty="0" err="1"/>
              <a:t>n</a:t>
            </a:r>
            <a:r>
              <a:rPr lang="en-US" dirty="0"/>
              <a:t> = c</a:t>
            </a:r>
            <a:r>
              <a:rPr lang="en-US" baseline="-25000" dirty="0"/>
              <a:t>1</a:t>
            </a: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baseline="30000" dirty="0"/>
              <a:t>n</a:t>
            </a:r>
            <a:r>
              <a:rPr lang="en-US" dirty="0"/>
              <a:t> +c</a:t>
            </a:r>
            <a:r>
              <a:rPr lang="en-US" baseline="-25000" dirty="0"/>
              <a:t>2</a:t>
            </a:r>
            <a:r>
              <a:rPr lang="en-US" dirty="0"/>
              <a:t> q</a:t>
            </a:r>
            <a:r>
              <a:rPr lang="en-US" baseline="-25000" dirty="0"/>
              <a:t>2</a:t>
            </a:r>
            <a:r>
              <a:rPr lang="en-US" baseline="30000" dirty="0"/>
              <a:t>n</a:t>
            </a:r>
            <a:r>
              <a:rPr lang="en-US" dirty="0"/>
              <a:t> + …. +c</a:t>
            </a:r>
            <a:r>
              <a:rPr lang="en-US" baseline="-25000" dirty="0"/>
              <a:t>k</a:t>
            </a:r>
            <a:r>
              <a:rPr lang="en-US" dirty="0"/>
              <a:t> </a:t>
            </a:r>
            <a:r>
              <a:rPr lang="en-US" dirty="0" err="1"/>
              <a:t>q</a:t>
            </a:r>
            <a:r>
              <a:rPr lang="en-US" baseline="-25000" dirty="0" err="1"/>
              <a:t>k</a:t>
            </a:r>
            <a:r>
              <a:rPr lang="en-US" baseline="30000" dirty="0" err="1"/>
              <a:t>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2288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7FA387-443D-4070-65DA-BB49A8A440C6}"/>
              </a:ext>
            </a:extLst>
          </p:cNvPr>
          <p:cNvSpPr txBox="1"/>
          <p:nvPr/>
        </p:nvSpPr>
        <p:spPr>
          <a:xfrm>
            <a:off x="1457632" y="344580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Find Solution for the Fibonacci recurrence relation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578FEA-13E8-D28E-51C6-104B1BBCE737}"/>
              </a:ext>
            </a:extLst>
          </p:cNvPr>
          <p:cNvSpPr txBox="1"/>
          <p:nvPr/>
        </p:nvSpPr>
        <p:spPr>
          <a:xfrm>
            <a:off x="2303206" y="1357303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baseline="-25000" dirty="0"/>
              <a:t> `</a:t>
            </a:r>
            <a:r>
              <a:rPr lang="en-US" dirty="0"/>
              <a:t> = X</a:t>
            </a:r>
            <a:r>
              <a:rPr lang="en-US" baseline="-25000" dirty="0"/>
              <a:t>n-1</a:t>
            </a:r>
            <a:r>
              <a:rPr lang="en-US" dirty="0"/>
              <a:t> + X</a:t>
            </a:r>
            <a:r>
              <a:rPr lang="en-US" baseline="-25000" dirty="0"/>
              <a:t>n-2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B2D0F-7BF3-A952-80AB-6BF7E7647DFA}"/>
              </a:ext>
            </a:extLst>
          </p:cNvPr>
          <p:cNvSpPr txBox="1"/>
          <p:nvPr/>
        </p:nvSpPr>
        <p:spPr>
          <a:xfrm>
            <a:off x="1457632" y="2301199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With initial conditions X</a:t>
            </a:r>
            <a:r>
              <a:rPr lang="en-US" baseline="-25000" dirty="0"/>
              <a:t>0 </a:t>
            </a:r>
            <a:r>
              <a:rPr lang="en-US" dirty="0"/>
              <a:t> = 1, X</a:t>
            </a:r>
            <a:r>
              <a:rPr lang="en-US" baseline="-25000" dirty="0"/>
              <a:t>1</a:t>
            </a:r>
            <a:r>
              <a:rPr lang="en-US" dirty="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2648229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B8487D-B20E-B1D4-AC93-CB24FE11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46FED-726F-7279-D23F-A979D000E2BA}"/>
              </a:ext>
            </a:extLst>
          </p:cNvPr>
          <p:cNvSpPr txBox="1"/>
          <p:nvPr/>
        </p:nvSpPr>
        <p:spPr>
          <a:xfrm>
            <a:off x="2590800" y="1828800"/>
            <a:ext cx="7239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for</a:t>
            </a:r>
            <a:r>
              <a:rPr lang="en-US" dirty="0"/>
              <a:t>( int bound = 1; bound &lt;= n; bound *= 2 ) {</a:t>
            </a:r>
          </a:p>
          <a:p>
            <a:r>
              <a:rPr lang="en-US" dirty="0"/>
              <a:t>	</a:t>
            </a:r>
            <a:r>
              <a:rPr lang="en-US" b="1" dirty="0"/>
              <a:t>for</a:t>
            </a:r>
            <a:r>
              <a:rPr lang="en-US" dirty="0"/>
              <a:t>( 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bound; </a:t>
            </a:r>
            <a:r>
              <a:rPr lang="en-US" dirty="0" err="1"/>
              <a:t>i</a:t>
            </a:r>
            <a:r>
              <a:rPr lang="en-US" dirty="0"/>
              <a:t>++ ) {</a:t>
            </a:r>
          </a:p>
          <a:p>
            <a:r>
              <a:rPr lang="en-US" dirty="0"/>
              <a:t>		</a:t>
            </a:r>
            <a:r>
              <a:rPr lang="en-US" b="1" dirty="0"/>
              <a:t>for</a:t>
            </a:r>
            <a:r>
              <a:rPr lang="en-US" dirty="0"/>
              <a:t>( int j = 0; j &lt; n; j += 2 ) {</a:t>
            </a:r>
          </a:p>
          <a:p>
            <a:r>
              <a:rPr lang="en-US" dirty="0"/>
              <a:t>				... // constant number of operations</a:t>
            </a:r>
          </a:p>
          <a:p>
            <a:r>
              <a:rPr lang="en-US" dirty="0"/>
              <a:t>			}</a:t>
            </a:r>
          </a:p>
          <a:p>
            <a:r>
              <a:rPr lang="en-US" dirty="0"/>
              <a:t>		</a:t>
            </a:r>
            <a:r>
              <a:rPr lang="en-US" b="1" dirty="0"/>
              <a:t>for</a:t>
            </a:r>
            <a:r>
              <a:rPr lang="en-US" dirty="0"/>
              <a:t>( int j = 1; j &lt; n; j *= 2 ) {</a:t>
            </a:r>
          </a:p>
          <a:p>
            <a:r>
              <a:rPr lang="en-US" dirty="0"/>
              <a:t>				... // constant number of operations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C7A21-3BDC-212B-55CC-7FD306F34F01}"/>
              </a:ext>
            </a:extLst>
          </p:cNvPr>
          <p:cNvSpPr txBox="1"/>
          <p:nvPr/>
        </p:nvSpPr>
        <p:spPr>
          <a:xfrm>
            <a:off x="2043558" y="692015"/>
            <a:ext cx="83334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 the </a:t>
            </a:r>
            <a:r>
              <a:rPr lang="en-US" b="1" dirty="0"/>
              <a:t>computational complexity </a:t>
            </a:r>
            <a:r>
              <a:rPr lang="en-US" dirty="0"/>
              <a:t>(in “Big-Oh”) of the following code snippet and explain how it is derived using the basic features of the “Big-Oh” notation:</a:t>
            </a:r>
          </a:p>
        </p:txBody>
      </p:sp>
    </p:spTree>
    <p:extLst>
      <p:ext uri="{BB962C8B-B14F-4D97-AF65-F5344CB8AC3E}">
        <p14:creationId xmlns:p14="http://schemas.microsoft.com/office/powerpoint/2010/main" val="3740899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1AE53D-FB07-B45A-1EBD-FCB51B61D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ED132E-6A95-7A5D-0ED7-8B29B1D1F15F}"/>
              </a:ext>
            </a:extLst>
          </p:cNvPr>
          <p:cNvSpPr txBox="1"/>
          <p:nvPr/>
        </p:nvSpPr>
        <p:spPr>
          <a:xfrm>
            <a:off x="2514600" y="838201"/>
            <a:ext cx="7391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Outer Loop:</a:t>
            </a:r>
          </a:p>
          <a:p>
            <a:endParaRPr lang="en-US" dirty="0"/>
          </a:p>
          <a:p>
            <a:r>
              <a:rPr lang="en-US" dirty="0"/>
              <a:t>   	</a:t>
            </a:r>
            <a:r>
              <a:rPr lang="en-US" b="1" dirty="0"/>
              <a:t>bound</a:t>
            </a:r>
            <a:r>
              <a:rPr lang="en-US" dirty="0"/>
              <a:t> -&gt; 1, 2, 2</a:t>
            </a:r>
            <a:r>
              <a:rPr lang="en-US" baseline="30000" dirty="0"/>
              <a:t>2</a:t>
            </a:r>
            <a:r>
              <a:rPr lang="en-US" dirty="0"/>
              <a:t>,2</a:t>
            </a:r>
            <a:r>
              <a:rPr lang="en-US" baseline="30000" dirty="0"/>
              <a:t>3</a:t>
            </a:r>
            <a:r>
              <a:rPr lang="en-US" dirty="0"/>
              <a:t> …… n    -&gt; 2</a:t>
            </a:r>
            <a:r>
              <a:rPr lang="en-US" baseline="30000" dirty="0"/>
              <a:t>steps </a:t>
            </a:r>
            <a:r>
              <a:rPr lang="en-US" dirty="0"/>
              <a:t>= n =&gt; Steps = log</a:t>
            </a:r>
            <a:r>
              <a:rPr lang="en-US" baseline="-25000" dirty="0"/>
              <a:t>2</a:t>
            </a:r>
            <a:r>
              <a:rPr lang="en-US" dirty="0"/>
              <a:t>n</a:t>
            </a:r>
            <a:endParaRPr lang="en-US" baseline="30000" dirty="0"/>
          </a:p>
          <a:p>
            <a:endParaRPr lang="en-US" dirty="0"/>
          </a:p>
          <a:p>
            <a:r>
              <a:rPr lang="en-US" b="1" dirty="0"/>
              <a:t>	Inner Loop:</a:t>
            </a:r>
          </a:p>
          <a:p>
            <a:r>
              <a:rPr lang="en-US" dirty="0"/>
              <a:t>                      1-&gt;1</a:t>
            </a:r>
          </a:p>
          <a:p>
            <a:r>
              <a:rPr lang="en-US" dirty="0"/>
              <a:t>			  1-&gt;2 </a:t>
            </a:r>
          </a:p>
          <a:p>
            <a:r>
              <a:rPr lang="en-US" dirty="0"/>
              <a:t>			  1-&gt;2</a:t>
            </a:r>
            <a:r>
              <a:rPr lang="en-US" baseline="30000" dirty="0"/>
              <a:t>2</a:t>
            </a:r>
            <a:endParaRPr lang="en-US" dirty="0"/>
          </a:p>
          <a:p>
            <a:r>
              <a:rPr lang="en-US" dirty="0"/>
              <a:t>				…</a:t>
            </a:r>
          </a:p>
          <a:p>
            <a:r>
              <a:rPr lang="en-US" dirty="0"/>
              <a:t>			  1-&gt;n</a:t>
            </a:r>
          </a:p>
          <a:p>
            <a:r>
              <a:rPr lang="en-US" dirty="0"/>
              <a:t>		</a:t>
            </a:r>
            <a:r>
              <a:rPr lang="en-US" b="1" dirty="0"/>
              <a:t>Innermost loop1: </a:t>
            </a:r>
            <a:r>
              <a:rPr lang="en-US" dirty="0"/>
              <a:t> 0,2,4,6,8 … n    (n/2)</a:t>
            </a:r>
          </a:p>
          <a:p>
            <a:r>
              <a:rPr lang="en-US" dirty="0"/>
              <a:t>		</a:t>
            </a:r>
            <a:r>
              <a:rPr lang="en-US" b="1" dirty="0"/>
              <a:t>Innermost loop2: </a:t>
            </a:r>
            <a:r>
              <a:rPr lang="en-US" dirty="0"/>
              <a:t> 0,2,2</a:t>
            </a:r>
            <a:r>
              <a:rPr lang="en-US" baseline="30000" dirty="0"/>
              <a:t>2</a:t>
            </a:r>
            <a:r>
              <a:rPr lang="en-US" dirty="0"/>
              <a:t>2</a:t>
            </a:r>
            <a:r>
              <a:rPr lang="en-US" baseline="30000" dirty="0"/>
              <a:t>3</a:t>
            </a:r>
            <a:r>
              <a:rPr lang="en-US" dirty="0"/>
              <a:t> … n      (log</a:t>
            </a:r>
            <a:r>
              <a:rPr lang="en-US" baseline="-25000" dirty="0"/>
              <a:t>2</a:t>
            </a:r>
            <a:r>
              <a:rPr lang="en-US" dirty="0"/>
              <a:t>n)</a:t>
            </a:r>
          </a:p>
          <a:p>
            <a:endParaRPr lang="en-US" dirty="0"/>
          </a:p>
          <a:p>
            <a:r>
              <a:rPr lang="en-US" dirty="0"/>
              <a:t>				</a:t>
            </a:r>
          </a:p>
          <a:p>
            <a:r>
              <a:rPr lang="en-US" dirty="0"/>
              <a:t>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6E638-4895-D603-DF0B-B44E55D80E39}"/>
              </a:ext>
            </a:extLst>
          </p:cNvPr>
          <p:cNvSpPr txBox="1"/>
          <p:nvPr/>
        </p:nvSpPr>
        <p:spPr>
          <a:xfrm>
            <a:off x="3581400" y="4648200"/>
            <a:ext cx="533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n/2(1+2+2</a:t>
            </a:r>
            <a:r>
              <a:rPr lang="en-US" baseline="30000" dirty="0">
                <a:highlight>
                  <a:srgbClr val="FFFF00"/>
                </a:highlight>
              </a:rPr>
              <a:t>2 </a:t>
            </a:r>
            <a:r>
              <a:rPr lang="en-US" dirty="0">
                <a:highlight>
                  <a:srgbClr val="FFFF00"/>
                </a:highlight>
              </a:rPr>
              <a:t>+</a:t>
            </a:r>
            <a:r>
              <a:rPr lang="en-US" baseline="30000" dirty="0">
                <a:highlight>
                  <a:srgbClr val="FFFF00"/>
                </a:highlight>
              </a:rPr>
              <a:t>….</a:t>
            </a:r>
            <a:r>
              <a:rPr lang="en-US" dirty="0">
                <a:highlight>
                  <a:srgbClr val="FFFF00"/>
                </a:highlight>
              </a:rPr>
              <a:t> + n) =n/2(2</a:t>
            </a:r>
            <a:r>
              <a:rPr lang="en-US" baseline="30000" dirty="0">
                <a:highlight>
                  <a:srgbClr val="FFFF00"/>
                </a:highlight>
              </a:rPr>
              <a:t>log2 n </a:t>
            </a:r>
            <a:r>
              <a:rPr lang="en-US" dirty="0">
                <a:highlight>
                  <a:srgbClr val="FFFF00"/>
                </a:highlight>
              </a:rPr>
              <a:t>-1) = </a:t>
            </a:r>
            <a:r>
              <a:rPr lang="en-US" b="1" dirty="0">
                <a:highlight>
                  <a:srgbClr val="FFFF00"/>
                </a:highlight>
              </a:rPr>
              <a:t>O(n^2)</a:t>
            </a:r>
          </a:p>
        </p:txBody>
      </p:sp>
    </p:spTree>
    <p:extLst>
      <p:ext uri="{BB962C8B-B14F-4D97-AF65-F5344CB8AC3E}">
        <p14:creationId xmlns:p14="http://schemas.microsoft.com/office/powerpoint/2010/main" val="3869039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536CAB5-E2C1-08C6-3B68-B6E5D056E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9812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Comic Sans MS" panose="030F0902030302020204" pitchFamily="66" charset="0"/>
              </a:rPr>
              <a:t>Extra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>
            <a:extLst>
              <a:ext uri="{FF2B5EF4-FFF2-40B4-BE49-F238E27FC236}">
                <a16:creationId xmlns:a16="http://schemas.microsoft.com/office/drawing/2014/main" id="{73689B71-CDDD-F972-E2E8-355A08001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219201"/>
            <a:ext cx="7772400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5">
            <a:extLst>
              <a:ext uri="{FF2B5EF4-FFF2-40B4-BE49-F238E27FC236}">
                <a16:creationId xmlns:a16="http://schemas.microsoft.com/office/drawing/2014/main" id="{4F5BADD5-9775-3271-7276-786DE09E7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2632076"/>
            <a:ext cx="8247063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152</TotalTime>
  <Words>2765</Words>
  <Application>Microsoft Office PowerPoint</Application>
  <PresentationFormat>Widescreen</PresentationFormat>
  <Paragraphs>233</Paragraphs>
  <Slides>24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1" baseType="lpstr">
      <vt:lpstr>Aptos</vt:lpstr>
      <vt:lpstr>Arial</vt:lpstr>
      <vt:lpstr>ArialMT</vt:lpstr>
      <vt:lpstr>Caveat</vt:lpstr>
      <vt:lpstr>CoFo Brilliant</vt:lpstr>
      <vt:lpstr>Comic Sans MS</vt:lpstr>
      <vt:lpstr>FreeSerif</vt:lpstr>
      <vt:lpstr>KaTeX_Main</vt:lpstr>
      <vt:lpstr>KaTeX_Math</vt:lpstr>
      <vt:lpstr>KaTeX_Size1</vt:lpstr>
      <vt:lpstr>Symbol</vt:lpstr>
      <vt:lpstr>Times New Roman</vt:lpstr>
      <vt:lpstr>Trebuchet MS</vt:lpstr>
      <vt:lpstr>Wingdings</vt:lpstr>
      <vt:lpstr>Wingdings 3</vt:lpstr>
      <vt:lpstr>Facet</vt:lpstr>
      <vt:lpstr>Worksheet</vt:lpstr>
      <vt:lpstr>CS535: Algorithm Design and Analysis Analysis of Algorithms:  Methodologies and Case Studies</vt:lpstr>
      <vt:lpstr>Review: Big-Oh Rules</vt:lpstr>
      <vt:lpstr>Review: Some Other Useful Rules </vt:lpstr>
      <vt:lpstr>PowerPoint Presentation</vt:lpstr>
      <vt:lpstr>Asymptotic Algorithm Analysis</vt:lpstr>
      <vt:lpstr>PowerPoint Presentation</vt:lpstr>
      <vt:lpstr>Intuition for Asymptotic Notation</vt:lpstr>
      <vt:lpstr>PowerPoint Presentation</vt:lpstr>
      <vt:lpstr>PowerPoint Presentation</vt:lpstr>
      <vt:lpstr>PowerPoint Presentation</vt:lpstr>
      <vt:lpstr>PowerPoint Presentation</vt:lpstr>
      <vt:lpstr>Case Study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16</cp:revision>
  <dcterms:created xsi:type="dcterms:W3CDTF">2024-09-11T14:41:37Z</dcterms:created>
  <dcterms:modified xsi:type="dcterms:W3CDTF">2024-09-11T17:13:51Z</dcterms:modified>
</cp:coreProperties>
</file>