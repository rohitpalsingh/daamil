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7" r:id="rId2"/>
    <p:sldId id="261" r:id="rId3"/>
    <p:sldId id="262" r:id="rId4"/>
    <p:sldId id="263" r:id="rId5"/>
    <p:sldId id="264" r:id="rId6"/>
    <p:sldId id="267" r:id="rId7"/>
    <p:sldId id="266" r:id="rId8"/>
    <p:sldId id="268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9" r:id="rId18"/>
    <p:sldId id="278" r:id="rId19"/>
    <p:sldId id="283" r:id="rId20"/>
    <p:sldId id="280" r:id="rId21"/>
    <p:sldId id="281" r:id="rId22"/>
    <p:sldId id="282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AAA96-F151-495A-8F6C-4358807A0B6C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F8EAF7-C119-4B4A-AE6A-9A7230965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809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>
            <a:extLst>
              <a:ext uri="{FF2B5EF4-FFF2-40B4-BE49-F238E27FC236}">
                <a16:creationId xmlns:a16="http://schemas.microsoft.com/office/drawing/2014/main" id="{771D30AF-2F1E-7171-66AB-E792AEAEF3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0" name="Notes Placeholder 2">
            <a:extLst>
              <a:ext uri="{FF2B5EF4-FFF2-40B4-BE49-F238E27FC236}">
                <a16:creationId xmlns:a16="http://schemas.microsoft.com/office/drawing/2014/main" id="{E3E626D1-1433-3AF7-A8D6-A25C1A6F7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356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04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354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922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15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722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897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47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716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208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41947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724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330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7476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9013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182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13739-2AA9-4ED7-A8B1-9C346DE4414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040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C43100F1-3ED2-BE26-4300-AEDB2151750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28800" y="1066801"/>
            <a:ext cx="8534400" cy="169862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2000">
                <a:solidFill>
                  <a:srgbClr val="FF9900"/>
                </a:solidFill>
              </a:rPr>
              <a:t>CS535: Algorithm Design and Analysis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r>
              <a:rPr lang="en-US" altLang="en-US"/>
              <a:t>Graph Traversal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6F9871EB-1662-BC17-A5EF-67621AF425F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657600"/>
            <a:ext cx="6400800" cy="1981200"/>
          </a:xfrm>
        </p:spPr>
        <p:txBody>
          <a:bodyPr/>
          <a:lstStyle/>
          <a:p>
            <a:pPr algn="ctr" eaLnBrk="1" hangingPunct="1"/>
            <a:r>
              <a:rPr lang="en-US" altLang="en-US" sz="2000" b="1" dirty="0">
                <a:solidFill>
                  <a:srgbClr val="0000FF"/>
                </a:solidFill>
              </a:rPr>
              <a:t>Prof. Rohit Pal Singh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Department of Computer Science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University of Wisconsin, Milwaukee</a:t>
            </a:r>
          </a:p>
          <a:p>
            <a:pPr algn="ctr" eaLnBrk="1" hangingPunct="1"/>
            <a:endParaRPr lang="en-US" altLang="en-US" sz="1600" b="1" dirty="0">
              <a:solidFill>
                <a:srgbClr val="0000FF"/>
              </a:solidFill>
            </a:endParaRP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November 18, 2024</a:t>
            </a:r>
          </a:p>
        </p:txBody>
      </p:sp>
      <p:sp>
        <p:nvSpPr>
          <p:cNvPr id="16387" name="TextBox 3">
            <a:extLst>
              <a:ext uri="{FF2B5EF4-FFF2-40B4-BE49-F238E27FC236}">
                <a16:creationId xmlns:a16="http://schemas.microsoft.com/office/drawing/2014/main" id="{D365758A-EF40-EF01-D265-CDBE5C9B6A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638800"/>
            <a:ext cx="8610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Readings: Chapter 6.3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B9CA1D79-4DF8-5AE7-3E80-BC1B80C02C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Depth-First Search</a:t>
            </a:r>
          </a:p>
        </p:txBody>
      </p:sp>
      <p:sp>
        <p:nvSpPr>
          <p:cNvPr id="1843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4F65615-4EB9-CED4-F30F-AF0164E5470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057400" y="1524000"/>
            <a:ext cx="38100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Depth-first search (DFS) is a general technique for traversing a graph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A DFS traversal of a graph G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Visits all the vertices and edges of 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Determines whether G is connected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Computes the connected components of 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Computes a spanning forest of G</a:t>
            </a:r>
          </a:p>
        </p:txBody>
      </p:sp>
      <p:sp>
        <p:nvSpPr>
          <p:cNvPr id="18435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7C38E35-AB62-EA24-E83A-13F96237AD6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324600" y="1524000"/>
            <a:ext cx="38100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DFS on a graph with </a:t>
            </a:r>
            <a:r>
              <a:rPr lang="en-US" altLang="en-US" sz="2400" b="1" i="1">
                <a:latin typeface="Times New Roman" panose="02020603050405020304" pitchFamily="18" charset="0"/>
              </a:rPr>
              <a:t>n</a:t>
            </a:r>
            <a:r>
              <a:rPr lang="en-US" altLang="en-US" sz="2400"/>
              <a:t> vertices and </a:t>
            </a:r>
            <a:r>
              <a:rPr lang="en-US" altLang="en-US" sz="2400" b="1" i="1">
                <a:latin typeface="Times New Roman" panose="02020603050405020304" pitchFamily="18" charset="0"/>
              </a:rPr>
              <a:t>m</a:t>
            </a:r>
            <a:r>
              <a:rPr lang="en-US" altLang="en-US" sz="2400"/>
              <a:t> edges takes </a:t>
            </a:r>
            <a:r>
              <a:rPr lang="en-US" altLang="en-US" sz="2400" b="1" i="1">
                <a:latin typeface="Times New Roman" panose="02020603050405020304" pitchFamily="18" charset="0"/>
              </a:rPr>
              <a:t>O</a:t>
            </a:r>
            <a:r>
              <a:rPr lang="en-US" altLang="en-US" sz="2400">
                <a:latin typeface="Times New Roman" panose="02020603050405020304" pitchFamily="18" charset="0"/>
              </a:rPr>
              <a:t>(</a:t>
            </a:r>
            <a:r>
              <a:rPr lang="en-US" altLang="en-US" sz="2400" b="1" i="1">
                <a:latin typeface="Times New Roman" panose="02020603050405020304" pitchFamily="18" charset="0"/>
              </a:rPr>
              <a:t>n</a:t>
            </a:r>
            <a:r>
              <a:rPr lang="en-US" altLang="en-US" sz="2400">
                <a:latin typeface="Symbol" panose="05050102010706020507" pitchFamily="18" charset="2"/>
              </a:rPr>
              <a:t> + </a:t>
            </a:r>
            <a:r>
              <a:rPr lang="en-US" altLang="en-US" sz="2400" b="1" i="1">
                <a:latin typeface="Times New Roman" panose="02020603050405020304" pitchFamily="18" charset="0"/>
              </a:rPr>
              <a:t>m</a:t>
            </a:r>
            <a:r>
              <a:rPr lang="en-US" altLang="en-US" sz="2400">
                <a:latin typeface="Times New Roman" panose="02020603050405020304" pitchFamily="18" charset="0"/>
              </a:rPr>
              <a:t> )</a:t>
            </a:r>
            <a:r>
              <a:rPr lang="en-US" altLang="en-US" sz="2400"/>
              <a:t> time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DFS can be further extended to solve other graph problems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Find and report a path between two given vertices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Find a cycle in the graph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ADF44E93-5DE0-9563-C505-687E72DD0B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DFS Algorithm</a:t>
            </a:r>
          </a:p>
        </p:txBody>
      </p:sp>
      <p:sp>
        <p:nvSpPr>
          <p:cNvPr id="1945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138C827-889B-3D5D-5A28-8CF180B6F2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295400"/>
            <a:ext cx="4038600" cy="1219200"/>
          </a:xfrm>
        </p:spPr>
        <p:txBody>
          <a:bodyPr/>
          <a:lstStyle/>
          <a:p>
            <a:pPr eaLnBrk="1" hangingPunct="1"/>
            <a:r>
              <a:rPr lang="en-US" altLang="en-US" sz="1800"/>
              <a:t>The algorithm uses a mechanism for setting and getting “labels” of vertices and edges</a:t>
            </a:r>
          </a:p>
        </p:txBody>
      </p:sp>
      <p:sp>
        <p:nvSpPr>
          <p:cNvPr id="19459" name="Text Box 4">
            <a:extLst>
              <a:ext uri="{FF2B5EF4-FFF2-40B4-BE49-F238E27FC236}">
                <a16:creationId xmlns:a16="http://schemas.microsoft.com/office/drawing/2014/main" id="{65507387-26ED-FFD2-CE5D-9E1A4BE0F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1981200"/>
            <a:ext cx="4038600" cy="41798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DFS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G, v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graph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and a start vertex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of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labeling of the edges of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b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in the connected component of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b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as discovery edges and back edges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setLabel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v, VISITED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all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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G.incidentEdges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getLabel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=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UNEXPLORED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G.opposite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v,e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getLabel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=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UNEXPLORED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setLabel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e, DISCOVERY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DFS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G, w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setLabel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e, BACK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9460" name="Text Box 5">
            <a:extLst>
              <a:ext uri="{FF2B5EF4-FFF2-40B4-BE49-F238E27FC236}">
                <a16:creationId xmlns:a16="http://schemas.microsoft.com/office/drawing/2014/main" id="{5A27E10B-28FC-9C83-AD5E-C7372F147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587626"/>
            <a:ext cx="3733800" cy="3573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defTabSz="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3429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3429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DFS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G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graph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labeling of the edges of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b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as discovery edges and</a:t>
            </a:r>
            <a:b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back edges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all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u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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G.vertices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setLabel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u, UNEXPLORED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all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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G.edges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setLabel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e, UNEXPLORED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all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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G.vertices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  <a:endParaRPr lang="en-US" altLang="en-US" sz="1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if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getLabel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=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UNEXPLORED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DFS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G, v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D2BF42DB-A577-A632-828B-45BE267241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grpSp>
        <p:nvGrpSpPr>
          <p:cNvPr id="20482" name="Group 74">
            <a:extLst>
              <a:ext uri="{FF2B5EF4-FFF2-40B4-BE49-F238E27FC236}">
                <a16:creationId xmlns:a16="http://schemas.microsoft.com/office/drawing/2014/main" id="{731B029B-9E64-A484-D8BC-861F845EC862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4265614"/>
            <a:ext cx="3081338" cy="1830387"/>
            <a:chOff x="816" y="2592"/>
            <a:chExt cx="1941" cy="1153"/>
          </a:xfrm>
        </p:grpSpPr>
        <p:sp>
          <p:nvSpPr>
            <p:cNvPr id="20522" name="Oval 4">
              <a:extLst>
                <a:ext uri="{FF2B5EF4-FFF2-40B4-BE49-F238E27FC236}">
                  <a16:creationId xmlns:a16="http://schemas.microsoft.com/office/drawing/2014/main" id="{28581A8B-7F7D-BC30-C35F-AE684B9FD92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38" y="3053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sp>
          <p:nvSpPr>
            <p:cNvPr id="20523" name="Oval 5">
              <a:extLst>
                <a:ext uri="{FF2B5EF4-FFF2-40B4-BE49-F238E27FC236}">
                  <a16:creationId xmlns:a16="http://schemas.microsoft.com/office/drawing/2014/main" id="{2377319C-82C7-E885-3C6B-CFC49E8DAB1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16" y="3053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20524" name="Oval 6">
              <a:extLst>
                <a:ext uri="{FF2B5EF4-FFF2-40B4-BE49-F238E27FC236}">
                  <a16:creationId xmlns:a16="http://schemas.microsoft.com/office/drawing/2014/main" id="{C18B1B12-2F7D-3F17-F870-4F7A20FB587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77" y="2592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20525" name="Oval 7">
              <a:extLst>
                <a:ext uri="{FF2B5EF4-FFF2-40B4-BE49-F238E27FC236}">
                  <a16:creationId xmlns:a16="http://schemas.microsoft.com/office/drawing/2014/main" id="{7FA10A84-B6B6-8ACE-445E-B3B2EC7CFAC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77" y="3514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cxnSp>
          <p:nvCxnSpPr>
            <p:cNvPr id="20526" name="AutoShape 8">
              <a:extLst>
                <a:ext uri="{FF2B5EF4-FFF2-40B4-BE49-F238E27FC236}">
                  <a16:creationId xmlns:a16="http://schemas.microsoft.com/office/drawing/2014/main" id="{DF988C95-99D9-C35B-2C55-D54495103128}"/>
                </a:ext>
              </a:extLst>
            </p:cNvPr>
            <p:cNvCxnSpPr>
              <a:cxnSpLocks noChangeAspect="1" noChangeShapeType="1"/>
              <a:stCxn id="20524" idx="3"/>
              <a:endCxn id="20523" idx="7"/>
            </p:cNvCxnSpPr>
            <p:nvPr/>
          </p:nvCxnSpPr>
          <p:spPr bwMode="auto">
            <a:xfrm flipH="1">
              <a:off x="1013" y="2801"/>
              <a:ext cx="297" cy="279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7" name="AutoShape 9">
              <a:extLst>
                <a:ext uri="{FF2B5EF4-FFF2-40B4-BE49-F238E27FC236}">
                  <a16:creationId xmlns:a16="http://schemas.microsoft.com/office/drawing/2014/main" id="{2E953B54-F21B-19E3-557B-569297B204F0}"/>
                </a:ext>
              </a:extLst>
            </p:cNvPr>
            <p:cNvCxnSpPr>
              <a:cxnSpLocks noChangeAspect="1" noChangeShapeType="1"/>
              <a:stCxn id="20525" idx="1"/>
              <a:endCxn id="20523" idx="5"/>
            </p:cNvCxnSpPr>
            <p:nvPr/>
          </p:nvCxnSpPr>
          <p:spPr bwMode="auto">
            <a:xfrm flipH="1" flipV="1">
              <a:off x="1012" y="3254"/>
              <a:ext cx="299" cy="28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8" name="AutoShape 10">
              <a:extLst>
                <a:ext uri="{FF2B5EF4-FFF2-40B4-BE49-F238E27FC236}">
                  <a16:creationId xmlns:a16="http://schemas.microsoft.com/office/drawing/2014/main" id="{D32682BE-F5A7-D6DB-76E1-CF5BFB54622A}"/>
                </a:ext>
              </a:extLst>
            </p:cNvPr>
            <p:cNvCxnSpPr>
              <a:cxnSpLocks noChangeAspect="1" noChangeShapeType="1"/>
              <a:stCxn id="20525" idx="7"/>
              <a:endCxn id="20522" idx="3"/>
            </p:cNvCxnSpPr>
            <p:nvPr/>
          </p:nvCxnSpPr>
          <p:spPr bwMode="auto">
            <a:xfrm flipV="1">
              <a:off x="1473" y="3254"/>
              <a:ext cx="299" cy="28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9" name="AutoShape 11">
              <a:extLst>
                <a:ext uri="{FF2B5EF4-FFF2-40B4-BE49-F238E27FC236}">
                  <a16:creationId xmlns:a16="http://schemas.microsoft.com/office/drawing/2014/main" id="{58966B58-0ECF-733A-B1A9-F6414899D04D}"/>
                </a:ext>
              </a:extLst>
            </p:cNvPr>
            <p:cNvCxnSpPr>
              <a:cxnSpLocks noChangeAspect="1" noChangeShapeType="1"/>
              <a:stCxn id="20524" idx="5"/>
              <a:endCxn id="20522" idx="1"/>
            </p:cNvCxnSpPr>
            <p:nvPr/>
          </p:nvCxnSpPr>
          <p:spPr bwMode="auto">
            <a:xfrm>
              <a:off x="1474" y="2801"/>
              <a:ext cx="297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30" name="AutoShape 12">
              <a:extLst>
                <a:ext uri="{FF2B5EF4-FFF2-40B4-BE49-F238E27FC236}">
                  <a16:creationId xmlns:a16="http://schemas.microsoft.com/office/drawing/2014/main" id="{C047810A-BE2C-0D0B-0D6F-E5D4EB3E80AF}"/>
                </a:ext>
              </a:extLst>
            </p:cNvPr>
            <p:cNvCxnSpPr>
              <a:cxnSpLocks noChangeAspect="1" noChangeShapeType="1"/>
              <a:stCxn id="20524" idx="4"/>
              <a:endCxn id="20525" idx="0"/>
            </p:cNvCxnSpPr>
            <p:nvPr/>
          </p:nvCxnSpPr>
          <p:spPr bwMode="auto">
            <a:xfrm>
              <a:off x="1392" y="2834"/>
              <a:ext cx="0" cy="6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31" name="Oval 13">
              <a:extLst>
                <a:ext uri="{FF2B5EF4-FFF2-40B4-BE49-F238E27FC236}">
                  <a16:creationId xmlns:a16="http://schemas.microsoft.com/office/drawing/2014/main" id="{9778A8A3-2B1F-B919-25EB-D5EFCE39A59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26" y="3053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20532" name="AutoShape 15">
              <a:extLst>
                <a:ext uri="{FF2B5EF4-FFF2-40B4-BE49-F238E27FC236}">
                  <a16:creationId xmlns:a16="http://schemas.microsoft.com/office/drawing/2014/main" id="{B83B4673-E297-9539-FC89-03C0FCE76AAA}"/>
                </a:ext>
              </a:extLst>
            </p:cNvPr>
            <p:cNvCxnSpPr>
              <a:cxnSpLocks noChangeAspect="1" noChangeShapeType="1"/>
              <a:stCxn id="20525" idx="6"/>
              <a:endCxn id="20531" idx="3"/>
            </p:cNvCxnSpPr>
            <p:nvPr/>
          </p:nvCxnSpPr>
          <p:spPr bwMode="auto">
            <a:xfrm flipV="1">
              <a:off x="1513" y="3256"/>
              <a:ext cx="1046" cy="3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33" name="AutoShape 16">
              <a:extLst>
                <a:ext uri="{FF2B5EF4-FFF2-40B4-BE49-F238E27FC236}">
                  <a16:creationId xmlns:a16="http://schemas.microsoft.com/office/drawing/2014/main" id="{31D30220-A151-B2CF-C5D5-BD6B47254957}"/>
                </a:ext>
              </a:extLst>
            </p:cNvPr>
            <p:cNvCxnSpPr>
              <a:cxnSpLocks noChangeAspect="1" noChangeShapeType="1"/>
              <a:stCxn id="20531" idx="1"/>
              <a:endCxn id="20524" idx="6"/>
            </p:cNvCxnSpPr>
            <p:nvPr/>
          </p:nvCxnSpPr>
          <p:spPr bwMode="auto">
            <a:xfrm flipH="1" flipV="1">
              <a:off x="1519" y="2707"/>
              <a:ext cx="1040" cy="3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0483" name="Group 55">
            <a:extLst>
              <a:ext uri="{FF2B5EF4-FFF2-40B4-BE49-F238E27FC236}">
                <a16:creationId xmlns:a16="http://schemas.microsoft.com/office/drawing/2014/main" id="{559D4E84-BB60-E370-5F3D-03B21E81E887}"/>
              </a:ext>
            </a:extLst>
          </p:cNvPr>
          <p:cNvGrpSpPr>
            <a:grpSpLocks/>
          </p:cNvGrpSpPr>
          <p:nvPr/>
        </p:nvGrpSpPr>
        <p:grpSpPr bwMode="auto">
          <a:xfrm>
            <a:off x="6972300" y="1600200"/>
            <a:ext cx="3081338" cy="1830388"/>
            <a:chOff x="862" y="2601"/>
            <a:chExt cx="1941" cy="1153"/>
          </a:xfrm>
        </p:grpSpPr>
        <p:sp>
          <p:nvSpPr>
            <p:cNvPr id="20510" name="Oval 17">
              <a:extLst>
                <a:ext uri="{FF2B5EF4-FFF2-40B4-BE49-F238E27FC236}">
                  <a16:creationId xmlns:a16="http://schemas.microsoft.com/office/drawing/2014/main" id="{5CE285E6-AD78-022A-2DC1-687BE6BD8CC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84" y="3062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sp>
          <p:nvSpPr>
            <p:cNvPr id="20511" name="Oval 18">
              <a:extLst>
                <a:ext uri="{FF2B5EF4-FFF2-40B4-BE49-F238E27FC236}">
                  <a16:creationId xmlns:a16="http://schemas.microsoft.com/office/drawing/2014/main" id="{EF70A9DD-D64E-6030-37C6-4A5ACE530FD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62" y="3062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20512" name="Oval 19">
              <a:extLst>
                <a:ext uri="{FF2B5EF4-FFF2-40B4-BE49-F238E27FC236}">
                  <a16:creationId xmlns:a16="http://schemas.microsoft.com/office/drawing/2014/main" id="{6934F378-6723-29C8-6F33-1C3194D2F5B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23" y="2601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20513" name="Oval 20">
              <a:extLst>
                <a:ext uri="{FF2B5EF4-FFF2-40B4-BE49-F238E27FC236}">
                  <a16:creationId xmlns:a16="http://schemas.microsoft.com/office/drawing/2014/main" id="{A9F02DEE-0542-2E93-E1F1-94A8C5DFABF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23" y="3523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cxnSp>
          <p:nvCxnSpPr>
            <p:cNvPr id="20514" name="AutoShape 21">
              <a:extLst>
                <a:ext uri="{FF2B5EF4-FFF2-40B4-BE49-F238E27FC236}">
                  <a16:creationId xmlns:a16="http://schemas.microsoft.com/office/drawing/2014/main" id="{4C4D2231-E22D-9251-C3BE-35E9EADD5E8D}"/>
                </a:ext>
              </a:extLst>
            </p:cNvPr>
            <p:cNvCxnSpPr>
              <a:cxnSpLocks noChangeAspect="1" noChangeShapeType="1"/>
              <a:stCxn id="20512" idx="3"/>
              <a:endCxn id="20511" idx="7"/>
            </p:cNvCxnSpPr>
            <p:nvPr/>
          </p:nvCxnSpPr>
          <p:spPr bwMode="auto">
            <a:xfrm flipH="1">
              <a:off x="1059" y="2810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5" name="AutoShape 22">
              <a:extLst>
                <a:ext uri="{FF2B5EF4-FFF2-40B4-BE49-F238E27FC236}">
                  <a16:creationId xmlns:a16="http://schemas.microsoft.com/office/drawing/2014/main" id="{59C8D49A-2605-0E4E-C6DD-50A2447BFC0F}"/>
                </a:ext>
              </a:extLst>
            </p:cNvPr>
            <p:cNvCxnSpPr>
              <a:cxnSpLocks noChangeAspect="1" noChangeShapeType="1"/>
              <a:stCxn id="20513" idx="1"/>
              <a:endCxn id="20511" idx="5"/>
            </p:cNvCxnSpPr>
            <p:nvPr/>
          </p:nvCxnSpPr>
          <p:spPr bwMode="auto">
            <a:xfrm flipH="1" flipV="1">
              <a:off x="1059" y="3271"/>
              <a:ext cx="297" cy="279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6" name="AutoShape 23">
              <a:extLst>
                <a:ext uri="{FF2B5EF4-FFF2-40B4-BE49-F238E27FC236}">
                  <a16:creationId xmlns:a16="http://schemas.microsoft.com/office/drawing/2014/main" id="{A102BE61-9A6A-0052-E302-7E1A9239F5E0}"/>
                </a:ext>
              </a:extLst>
            </p:cNvPr>
            <p:cNvCxnSpPr>
              <a:cxnSpLocks noChangeAspect="1" noChangeShapeType="1"/>
              <a:stCxn id="20513" idx="7"/>
              <a:endCxn id="20510" idx="3"/>
            </p:cNvCxnSpPr>
            <p:nvPr/>
          </p:nvCxnSpPr>
          <p:spPr bwMode="auto">
            <a:xfrm flipV="1">
              <a:off x="1520" y="3265"/>
              <a:ext cx="297" cy="28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7" name="AutoShape 24">
              <a:extLst>
                <a:ext uri="{FF2B5EF4-FFF2-40B4-BE49-F238E27FC236}">
                  <a16:creationId xmlns:a16="http://schemas.microsoft.com/office/drawing/2014/main" id="{C006E2F8-6C99-E0CA-CD1E-74FE14911B4C}"/>
                </a:ext>
              </a:extLst>
            </p:cNvPr>
            <p:cNvCxnSpPr>
              <a:cxnSpLocks noChangeAspect="1" noChangeShapeType="1"/>
              <a:stCxn id="20512" idx="5"/>
              <a:endCxn id="20510" idx="1"/>
            </p:cNvCxnSpPr>
            <p:nvPr/>
          </p:nvCxnSpPr>
          <p:spPr bwMode="auto">
            <a:xfrm>
              <a:off x="1520" y="2810"/>
              <a:ext cx="297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8" name="AutoShape 25">
              <a:extLst>
                <a:ext uri="{FF2B5EF4-FFF2-40B4-BE49-F238E27FC236}">
                  <a16:creationId xmlns:a16="http://schemas.microsoft.com/office/drawing/2014/main" id="{256A2B4D-15CA-FF73-E7A5-5A7FC0FD7C32}"/>
                </a:ext>
              </a:extLst>
            </p:cNvPr>
            <p:cNvCxnSpPr>
              <a:cxnSpLocks noChangeAspect="1" noChangeShapeType="1"/>
              <a:stCxn id="20512" idx="4"/>
              <a:endCxn id="20513" idx="0"/>
            </p:cNvCxnSpPr>
            <p:nvPr/>
          </p:nvCxnSpPr>
          <p:spPr bwMode="auto">
            <a:xfrm>
              <a:off x="1438" y="2843"/>
              <a:ext cx="0" cy="6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19" name="Oval 26">
              <a:extLst>
                <a:ext uri="{FF2B5EF4-FFF2-40B4-BE49-F238E27FC236}">
                  <a16:creationId xmlns:a16="http://schemas.microsoft.com/office/drawing/2014/main" id="{C70ED13A-15A6-9339-8B2E-1411D56F6D0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72" y="3062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20520" name="AutoShape 28">
              <a:extLst>
                <a:ext uri="{FF2B5EF4-FFF2-40B4-BE49-F238E27FC236}">
                  <a16:creationId xmlns:a16="http://schemas.microsoft.com/office/drawing/2014/main" id="{E1DF3F26-8E69-8166-5767-ED8723C88131}"/>
                </a:ext>
              </a:extLst>
            </p:cNvPr>
            <p:cNvCxnSpPr>
              <a:cxnSpLocks noChangeAspect="1" noChangeShapeType="1"/>
              <a:stCxn id="20513" idx="6"/>
              <a:endCxn id="20519" idx="3"/>
            </p:cNvCxnSpPr>
            <p:nvPr/>
          </p:nvCxnSpPr>
          <p:spPr bwMode="auto">
            <a:xfrm flipV="1">
              <a:off x="1559" y="3265"/>
              <a:ext cx="1046" cy="3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1" name="AutoShape 29">
              <a:extLst>
                <a:ext uri="{FF2B5EF4-FFF2-40B4-BE49-F238E27FC236}">
                  <a16:creationId xmlns:a16="http://schemas.microsoft.com/office/drawing/2014/main" id="{291FF43E-B82A-E508-6D8C-B1FCB6CA95FC}"/>
                </a:ext>
              </a:extLst>
            </p:cNvPr>
            <p:cNvCxnSpPr>
              <a:cxnSpLocks noChangeAspect="1" noChangeShapeType="1"/>
              <a:stCxn id="20519" idx="1"/>
              <a:endCxn id="20512" idx="6"/>
            </p:cNvCxnSpPr>
            <p:nvPr/>
          </p:nvCxnSpPr>
          <p:spPr bwMode="auto">
            <a:xfrm flipH="1" flipV="1">
              <a:off x="1565" y="2716"/>
              <a:ext cx="1040" cy="3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0484" name="Group 54">
            <a:extLst>
              <a:ext uri="{FF2B5EF4-FFF2-40B4-BE49-F238E27FC236}">
                <a16:creationId xmlns:a16="http://schemas.microsoft.com/office/drawing/2014/main" id="{ECA712F8-C40B-7E1C-91BC-36981728BA15}"/>
              </a:ext>
            </a:extLst>
          </p:cNvPr>
          <p:cNvGrpSpPr>
            <a:grpSpLocks/>
          </p:cNvGrpSpPr>
          <p:nvPr/>
        </p:nvGrpSpPr>
        <p:grpSpPr bwMode="auto">
          <a:xfrm>
            <a:off x="6972300" y="4267200"/>
            <a:ext cx="3081338" cy="1830388"/>
            <a:chOff x="3398" y="1075"/>
            <a:chExt cx="1941" cy="1153"/>
          </a:xfrm>
        </p:grpSpPr>
        <p:sp>
          <p:nvSpPr>
            <p:cNvPr id="20498" name="Oval 30">
              <a:extLst>
                <a:ext uri="{FF2B5EF4-FFF2-40B4-BE49-F238E27FC236}">
                  <a16:creationId xmlns:a16="http://schemas.microsoft.com/office/drawing/2014/main" id="{CB88ACEA-D350-B43D-7D33-54CC0EF7F0C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20" y="1536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sp>
          <p:nvSpPr>
            <p:cNvPr id="20499" name="Oval 31">
              <a:extLst>
                <a:ext uri="{FF2B5EF4-FFF2-40B4-BE49-F238E27FC236}">
                  <a16:creationId xmlns:a16="http://schemas.microsoft.com/office/drawing/2014/main" id="{1B49FDCE-F854-B089-B369-3734266E5D9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98" y="1536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20500" name="Oval 32">
              <a:extLst>
                <a:ext uri="{FF2B5EF4-FFF2-40B4-BE49-F238E27FC236}">
                  <a16:creationId xmlns:a16="http://schemas.microsoft.com/office/drawing/2014/main" id="{4909E642-AE03-9FF6-4689-BAFE20EDCD7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59" y="1075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20501" name="Oval 33">
              <a:extLst>
                <a:ext uri="{FF2B5EF4-FFF2-40B4-BE49-F238E27FC236}">
                  <a16:creationId xmlns:a16="http://schemas.microsoft.com/office/drawing/2014/main" id="{B239E214-D3EC-E346-184F-97825DB6C2F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59" y="1997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cxnSp>
          <p:nvCxnSpPr>
            <p:cNvPr id="20502" name="AutoShape 34">
              <a:extLst>
                <a:ext uri="{FF2B5EF4-FFF2-40B4-BE49-F238E27FC236}">
                  <a16:creationId xmlns:a16="http://schemas.microsoft.com/office/drawing/2014/main" id="{26C1DE84-2344-BEB3-481C-F7CE2EF09DE0}"/>
                </a:ext>
              </a:extLst>
            </p:cNvPr>
            <p:cNvCxnSpPr>
              <a:cxnSpLocks noChangeAspect="1" noChangeShapeType="1"/>
              <a:stCxn id="20500" idx="3"/>
              <a:endCxn id="20499" idx="7"/>
            </p:cNvCxnSpPr>
            <p:nvPr/>
          </p:nvCxnSpPr>
          <p:spPr bwMode="auto">
            <a:xfrm flipH="1">
              <a:off x="3595" y="1284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03" name="AutoShape 35">
              <a:extLst>
                <a:ext uri="{FF2B5EF4-FFF2-40B4-BE49-F238E27FC236}">
                  <a16:creationId xmlns:a16="http://schemas.microsoft.com/office/drawing/2014/main" id="{2ED913A0-8653-375D-0CF6-D9C43D4ADDCA}"/>
                </a:ext>
              </a:extLst>
            </p:cNvPr>
            <p:cNvCxnSpPr>
              <a:cxnSpLocks noChangeAspect="1" noChangeShapeType="1"/>
              <a:stCxn id="20501" idx="1"/>
              <a:endCxn id="20499" idx="5"/>
            </p:cNvCxnSpPr>
            <p:nvPr/>
          </p:nvCxnSpPr>
          <p:spPr bwMode="auto">
            <a:xfrm flipH="1" flipV="1">
              <a:off x="3595" y="1745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04" name="AutoShape 36">
              <a:extLst>
                <a:ext uri="{FF2B5EF4-FFF2-40B4-BE49-F238E27FC236}">
                  <a16:creationId xmlns:a16="http://schemas.microsoft.com/office/drawing/2014/main" id="{2F0358AC-23F0-6178-5C90-52E76C4DC552}"/>
                </a:ext>
              </a:extLst>
            </p:cNvPr>
            <p:cNvCxnSpPr>
              <a:cxnSpLocks noChangeAspect="1" noChangeShapeType="1"/>
              <a:stCxn id="20501" idx="7"/>
              <a:endCxn id="20498" idx="3"/>
            </p:cNvCxnSpPr>
            <p:nvPr/>
          </p:nvCxnSpPr>
          <p:spPr bwMode="auto">
            <a:xfrm flipV="1">
              <a:off x="4056" y="1739"/>
              <a:ext cx="297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05" name="AutoShape 37">
              <a:extLst>
                <a:ext uri="{FF2B5EF4-FFF2-40B4-BE49-F238E27FC236}">
                  <a16:creationId xmlns:a16="http://schemas.microsoft.com/office/drawing/2014/main" id="{0830E713-151A-4BCD-64E4-CE4C1D5AC1D4}"/>
                </a:ext>
              </a:extLst>
            </p:cNvPr>
            <p:cNvCxnSpPr>
              <a:cxnSpLocks noChangeAspect="1" noChangeShapeType="1"/>
              <a:stCxn id="20500" idx="5"/>
              <a:endCxn id="20498" idx="1"/>
            </p:cNvCxnSpPr>
            <p:nvPr/>
          </p:nvCxnSpPr>
          <p:spPr bwMode="auto">
            <a:xfrm>
              <a:off x="4056" y="1284"/>
              <a:ext cx="297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06" name="AutoShape 38">
              <a:extLst>
                <a:ext uri="{FF2B5EF4-FFF2-40B4-BE49-F238E27FC236}">
                  <a16:creationId xmlns:a16="http://schemas.microsoft.com/office/drawing/2014/main" id="{0EAF4778-5543-82F0-5B11-BF0D1C28E6F5}"/>
                </a:ext>
              </a:extLst>
            </p:cNvPr>
            <p:cNvCxnSpPr>
              <a:cxnSpLocks noChangeAspect="1" noChangeShapeType="1"/>
              <a:stCxn id="20500" idx="4"/>
              <a:endCxn id="20501" idx="0"/>
            </p:cNvCxnSpPr>
            <p:nvPr/>
          </p:nvCxnSpPr>
          <p:spPr bwMode="auto">
            <a:xfrm>
              <a:off x="3974" y="1317"/>
              <a:ext cx="0" cy="667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07" name="Oval 39">
              <a:extLst>
                <a:ext uri="{FF2B5EF4-FFF2-40B4-BE49-F238E27FC236}">
                  <a16:creationId xmlns:a16="http://schemas.microsoft.com/office/drawing/2014/main" id="{3E9AEB91-BC1F-89EF-A6BB-1548E651FBD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8" y="1536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20508" name="AutoShape 40">
              <a:extLst>
                <a:ext uri="{FF2B5EF4-FFF2-40B4-BE49-F238E27FC236}">
                  <a16:creationId xmlns:a16="http://schemas.microsoft.com/office/drawing/2014/main" id="{3154ED0B-0357-37B2-25CA-6F11070C1964}"/>
                </a:ext>
              </a:extLst>
            </p:cNvPr>
            <p:cNvCxnSpPr>
              <a:cxnSpLocks noChangeAspect="1" noChangeShapeType="1"/>
              <a:stCxn id="20501" idx="6"/>
              <a:endCxn id="20507" idx="3"/>
            </p:cNvCxnSpPr>
            <p:nvPr/>
          </p:nvCxnSpPr>
          <p:spPr bwMode="auto">
            <a:xfrm flipV="1">
              <a:off x="4101" y="1739"/>
              <a:ext cx="1040" cy="3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09" name="AutoShape 41">
              <a:extLst>
                <a:ext uri="{FF2B5EF4-FFF2-40B4-BE49-F238E27FC236}">
                  <a16:creationId xmlns:a16="http://schemas.microsoft.com/office/drawing/2014/main" id="{4FAE638A-533E-EE76-90C6-DD2016F450A7}"/>
                </a:ext>
              </a:extLst>
            </p:cNvPr>
            <p:cNvCxnSpPr>
              <a:cxnSpLocks noChangeAspect="1" noChangeShapeType="1"/>
              <a:stCxn id="20507" idx="1"/>
              <a:endCxn id="20500" idx="6"/>
            </p:cNvCxnSpPr>
            <p:nvPr/>
          </p:nvCxnSpPr>
          <p:spPr bwMode="auto">
            <a:xfrm flipH="1" flipV="1">
              <a:off x="4101" y="1190"/>
              <a:ext cx="1040" cy="3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0485" name="Text Box 58">
            <a:extLst>
              <a:ext uri="{FF2B5EF4-FFF2-40B4-BE49-F238E27FC236}">
                <a16:creationId xmlns:a16="http://schemas.microsoft.com/office/drawing/2014/main" id="{6A529AEF-1C07-7106-0E70-DDC5909447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4908" y="2925763"/>
            <a:ext cx="173637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discovery edge</a:t>
            </a:r>
          </a:p>
        </p:txBody>
      </p:sp>
      <p:sp>
        <p:nvSpPr>
          <p:cNvPr id="20486" name="Text Box 60">
            <a:extLst>
              <a:ext uri="{FF2B5EF4-FFF2-40B4-BE49-F238E27FC236}">
                <a16:creationId xmlns:a16="http://schemas.microsoft.com/office/drawing/2014/main" id="{3EE0A6C6-471A-4C0D-F178-068B94D4A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3932" y="3352800"/>
            <a:ext cx="12490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back edge</a:t>
            </a:r>
          </a:p>
        </p:txBody>
      </p:sp>
      <p:sp>
        <p:nvSpPr>
          <p:cNvPr id="20487" name="Oval 61">
            <a:extLst>
              <a:ext uri="{FF2B5EF4-FFF2-40B4-BE49-F238E27FC236}">
                <a16:creationId xmlns:a16="http://schemas.microsoft.com/office/drawing/2014/main" id="{CE9C7084-9375-9225-61D2-0C66C590A8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25713" y="2117726"/>
            <a:ext cx="366712" cy="366713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20488" name="Text Box 62">
            <a:extLst>
              <a:ext uri="{FF2B5EF4-FFF2-40B4-BE49-F238E27FC236}">
                <a16:creationId xmlns:a16="http://schemas.microsoft.com/office/drawing/2014/main" id="{62807733-3235-6073-D588-EA5927F34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7962" y="2071688"/>
            <a:ext cx="15311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visited vertex</a:t>
            </a:r>
          </a:p>
        </p:txBody>
      </p:sp>
      <p:sp>
        <p:nvSpPr>
          <p:cNvPr id="20489" name="Oval 63">
            <a:extLst>
              <a:ext uri="{FF2B5EF4-FFF2-40B4-BE49-F238E27FC236}">
                <a16:creationId xmlns:a16="http://schemas.microsoft.com/office/drawing/2014/main" id="{6F16FCA1-2C7E-C3FC-EE0F-C3D0D280C2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25713" y="168910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20490" name="Text Box 64">
            <a:extLst>
              <a:ext uri="{FF2B5EF4-FFF2-40B4-BE49-F238E27FC236}">
                <a16:creationId xmlns:a16="http://schemas.microsoft.com/office/drawing/2014/main" id="{4E1F46AB-6C4D-2E49-9805-B68B1DB90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1013" y="1644650"/>
            <a:ext cx="201850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unexplored vertex</a:t>
            </a:r>
          </a:p>
        </p:txBody>
      </p:sp>
      <p:sp>
        <p:nvSpPr>
          <p:cNvPr id="20491" name="Text Box 65">
            <a:extLst>
              <a:ext uri="{FF2B5EF4-FFF2-40B4-BE49-F238E27FC236}">
                <a16:creationId xmlns:a16="http://schemas.microsoft.com/office/drawing/2014/main" id="{795A9BA3-0454-A18A-5AEE-01632B202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9821" y="2498725"/>
            <a:ext cx="190308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unexplored edge</a:t>
            </a:r>
          </a:p>
        </p:txBody>
      </p:sp>
      <p:grpSp>
        <p:nvGrpSpPr>
          <p:cNvPr id="20492" name="Group 73">
            <a:extLst>
              <a:ext uri="{FF2B5EF4-FFF2-40B4-BE49-F238E27FC236}">
                <a16:creationId xmlns:a16="http://schemas.microsoft.com/office/drawing/2014/main" id="{3B39877B-2DAE-9798-5E3B-4FA3B6153040}"/>
              </a:ext>
            </a:extLst>
          </p:cNvPr>
          <p:cNvGrpSpPr>
            <a:grpSpLocks/>
          </p:cNvGrpSpPr>
          <p:nvPr/>
        </p:nvGrpSpPr>
        <p:grpSpPr bwMode="auto">
          <a:xfrm>
            <a:off x="2270125" y="2728914"/>
            <a:ext cx="877888" cy="852487"/>
            <a:chOff x="432" y="1691"/>
            <a:chExt cx="937" cy="537"/>
          </a:xfrm>
        </p:grpSpPr>
        <p:sp>
          <p:nvSpPr>
            <p:cNvPr id="20495" name="Line 57">
              <a:extLst>
                <a:ext uri="{FF2B5EF4-FFF2-40B4-BE49-F238E27FC236}">
                  <a16:creationId xmlns:a16="http://schemas.microsoft.com/office/drawing/2014/main" id="{350657F3-5BF0-2ADA-480E-CC48D7901D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1959"/>
              <a:ext cx="937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6" name="Line 59">
              <a:extLst>
                <a:ext uri="{FF2B5EF4-FFF2-40B4-BE49-F238E27FC236}">
                  <a16:creationId xmlns:a16="http://schemas.microsoft.com/office/drawing/2014/main" id="{8C4EB040-CF52-3972-EF48-2549D2006C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2228"/>
              <a:ext cx="93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7" name="Line 67">
              <a:extLst>
                <a:ext uri="{FF2B5EF4-FFF2-40B4-BE49-F238E27FC236}">
                  <a16:creationId xmlns:a16="http://schemas.microsoft.com/office/drawing/2014/main" id="{F950E82C-1CF8-340B-69CF-823870A445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1691"/>
              <a:ext cx="9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493" name="AutoShape 75">
            <a:extLst>
              <a:ext uri="{FF2B5EF4-FFF2-40B4-BE49-F238E27FC236}">
                <a16:creationId xmlns:a16="http://schemas.microsoft.com/office/drawing/2014/main" id="{48CC8EF9-8279-F2A4-44B9-B6BD2C828A5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283576" y="3643313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494" name="AutoShape 76">
            <a:extLst>
              <a:ext uri="{FF2B5EF4-FFF2-40B4-BE49-F238E27FC236}">
                <a16:creationId xmlns:a16="http://schemas.microsoft.com/office/drawing/2014/main" id="{6164F14F-E357-F54C-35FE-7F9469EE9150}"/>
              </a:ext>
            </a:extLst>
          </p:cNvPr>
          <p:cNvSpPr>
            <a:spLocks noChangeArrowheads="1"/>
          </p:cNvSpPr>
          <p:nvPr/>
        </p:nvSpPr>
        <p:spPr bwMode="auto">
          <a:xfrm rot="8100000" flipH="1" flipV="1">
            <a:off x="5729288" y="3629026"/>
            <a:ext cx="1243012" cy="333375"/>
          </a:xfrm>
          <a:prstGeom prst="rightArrow">
            <a:avLst>
              <a:gd name="adj1" fmla="val 50000"/>
              <a:gd name="adj2" fmla="val 93214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026">
            <a:extLst>
              <a:ext uri="{FF2B5EF4-FFF2-40B4-BE49-F238E27FC236}">
                <a16:creationId xmlns:a16="http://schemas.microsoft.com/office/drawing/2014/main" id="{F35FE318-F1F5-9192-0E7A-3198697F9F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(cont.)</a:t>
            </a:r>
          </a:p>
        </p:txBody>
      </p:sp>
      <p:grpSp>
        <p:nvGrpSpPr>
          <p:cNvPr id="21506" name="Group 1064">
            <a:extLst>
              <a:ext uri="{FF2B5EF4-FFF2-40B4-BE49-F238E27FC236}">
                <a16:creationId xmlns:a16="http://schemas.microsoft.com/office/drawing/2014/main" id="{4535E65D-797C-8235-3B3C-BC94824EF893}"/>
              </a:ext>
            </a:extLst>
          </p:cNvPr>
          <p:cNvGrpSpPr>
            <a:grpSpLocks/>
          </p:cNvGrpSpPr>
          <p:nvPr/>
        </p:nvGrpSpPr>
        <p:grpSpPr bwMode="auto">
          <a:xfrm>
            <a:off x="2416175" y="4341814"/>
            <a:ext cx="3081338" cy="1830387"/>
            <a:chOff x="689" y="1181"/>
            <a:chExt cx="1941" cy="1153"/>
          </a:xfrm>
        </p:grpSpPr>
        <p:sp>
          <p:nvSpPr>
            <p:cNvPr id="21549" name="Oval 1027">
              <a:extLst>
                <a:ext uri="{FF2B5EF4-FFF2-40B4-BE49-F238E27FC236}">
                  <a16:creationId xmlns:a16="http://schemas.microsoft.com/office/drawing/2014/main" id="{0B50A76A-0719-A1F3-C2A6-2A0D6943FEF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11" y="1642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sp>
          <p:nvSpPr>
            <p:cNvPr id="21550" name="Oval 1028">
              <a:extLst>
                <a:ext uri="{FF2B5EF4-FFF2-40B4-BE49-F238E27FC236}">
                  <a16:creationId xmlns:a16="http://schemas.microsoft.com/office/drawing/2014/main" id="{50B68ECD-F60B-328B-5938-0E6769A246F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89" y="1642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21551" name="Oval 1029">
              <a:extLst>
                <a:ext uri="{FF2B5EF4-FFF2-40B4-BE49-F238E27FC236}">
                  <a16:creationId xmlns:a16="http://schemas.microsoft.com/office/drawing/2014/main" id="{527448DF-EF19-9664-6B9D-3BDF217AEAA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50" y="1181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21552" name="Oval 1030">
              <a:extLst>
                <a:ext uri="{FF2B5EF4-FFF2-40B4-BE49-F238E27FC236}">
                  <a16:creationId xmlns:a16="http://schemas.microsoft.com/office/drawing/2014/main" id="{7B2DB795-D36B-ABDC-0B69-11A74DE72B6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50" y="2103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cxnSp>
          <p:nvCxnSpPr>
            <p:cNvPr id="21553" name="AutoShape 1031">
              <a:extLst>
                <a:ext uri="{FF2B5EF4-FFF2-40B4-BE49-F238E27FC236}">
                  <a16:creationId xmlns:a16="http://schemas.microsoft.com/office/drawing/2014/main" id="{9E51A50D-5B2A-65D1-CDB5-99B954138CAD}"/>
                </a:ext>
              </a:extLst>
            </p:cNvPr>
            <p:cNvCxnSpPr>
              <a:cxnSpLocks noChangeAspect="1" noChangeShapeType="1"/>
              <a:stCxn id="21551" idx="3"/>
              <a:endCxn id="21550" idx="7"/>
            </p:cNvCxnSpPr>
            <p:nvPr/>
          </p:nvCxnSpPr>
          <p:spPr bwMode="auto">
            <a:xfrm flipH="1">
              <a:off x="886" y="1390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54" name="AutoShape 1032">
              <a:extLst>
                <a:ext uri="{FF2B5EF4-FFF2-40B4-BE49-F238E27FC236}">
                  <a16:creationId xmlns:a16="http://schemas.microsoft.com/office/drawing/2014/main" id="{5352970C-A8B6-A9CE-1CC6-90552A36676B}"/>
                </a:ext>
              </a:extLst>
            </p:cNvPr>
            <p:cNvCxnSpPr>
              <a:cxnSpLocks noChangeAspect="1" noChangeShapeType="1"/>
              <a:stCxn id="21552" idx="1"/>
              <a:endCxn id="21550" idx="5"/>
            </p:cNvCxnSpPr>
            <p:nvPr/>
          </p:nvCxnSpPr>
          <p:spPr bwMode="auto">
            <a:xfrm flipH="1" flipV="1">
              <a:off x="886" y="1851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55" name="AutoShape 1033">
              <a:extLst>
                <a:ext uri="{FF2B5EF4-FFF2-40B4-BE49-F238E27FC236}">
                  <a16:creationId xmlns:a16="http://schemas.microsoft.com/office/drawing/2014/main" id="{BB4B548A-A774-9548-608C-0477E46ABBFC}"/>
                </a:ext>
              </a:extLst>
            </p:cNvPr>
            <p:cNvCxnSpPr>
              <a:cxnSpLocks noChangeAspect="1" noChangeShapeType="1"/>
              <a:stCxn id="21552" idx="7"/>
              <a:endCxn id="21549" idx="3"/>
            </p:cNvCxnSpPr>
            <p:nvPr/>
          </p:nvCxnSpPr>
          <p:spPr bwMode="auto">
            <a:xfrm flipV="1">
              <a:off x="1347" y="1851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56" name="AutoShape 1034">
              <a:extLst>
                <a:ext uri="{FF2B5EF4-FFF2-40B4-BE49-F238E27FC236}">
                  <a16:creationId xmlns:a16="http://schemas.microsoft.com/office/drawing/2014/main" id="{2644EBED-9389-95BB-F7DD-1AFAD2AC0936}"/>
                </a:ext>
              </a:extLst>
            </p:cNvPr>
            <p:cNvCxnSpPr>
              <a:cxnSpLocks noChangeAspect="1" noChangeShapeType="1"/>
              <a:stCxn id="21551" idx="5"/>
              <a:endCxn id="21549" idx="1"/>
            </p:cNvCxnSpPr>
            <p:nvPr/>
          </p:nvCxnSpPr>
          <p:spPr bwMode="auto">
            <a:xfrm>
              <a:off x="1347" y="1390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57" name="AutoShape 1035">
              <a:extLst>
                <a:ext uri="{FF2B5EF4-FFF2-40B4-BE49-F238E27FC236}">
                  <a16:creationId xmlns:a16="http://schemas.microsoft.com/office/drawing/2014/main" id="{79D892BD-7056-F4FE-AE98-3FFFBE00AA2F}"/>
                </a:ext>
              </a:extLst>
            </p:cNvPr>
            <p:cNvCxnSpPr>
              <a:cxnSpLocks noChangeAspect="1" noChangeShapeType="1"/>
              <a:stCxn id="21551" idx="4"/>
              <a:endCxn id="21552" idx="0"/>
            </p:cNvCxnSpPr>
            <p:nvPr/>
          </p:nvCxnSpPr>
          <p:spPr bwMode="auto">
            <a:xfrm>
              <a:off x="1265" y="1423"/>
              <a:ext cx="0" cy="667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58" name="Oval 1036">
              <a:extLst>
                <a:ext uri="{FF2B5EF4-FFF2-40B4-BE49-F238E27FC236}">
                  <a16:creationId xmlns:a16="http://schemas.microsoft.com/office/drawing/2014/main" id="{5D66CEB9-A38E-4C01-B741-DCBBE3214F1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99" y="1642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21559" name="AutoShape 1037">
              <a:extLst>
                <a:ext uri="{FF2B5EF4-FFF2-40B4-BE49-F238E27FC236}">
                  <a16:creationId xmlns:a16="http://schemas.microsoft.com/office/drawing/2014/main" id="{C5831A47-8677-06E2-7ADB-1C552C1D76D6}"/>
                </a:ext>
              </a:extLst>
            </p:cNvPr>
            <p:cNvCxnSpPr>
              <a:cxnSpLocks noChangeAspect="1" noChangeShapeType="1"/>
              <a:stCxn id="21552" idx="6"/>
              <a:endCxn id="21558" idx="3"/>
            </p:cNvCxnSpPr>
            <p:nvPr/>
          </p:nvCxnSpPr>
          <p:spPr bwMode="auto">
            <a:xfrm flipV="1">
              <a:off x="1392" y="1845"/>
              <a:ext cx="1040" cy="3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60" name="AutoShape 1038">
              <a:extLst>
                <a:ext uri="{FF2B5EF4-FFF2-40B4-BE49-F238E27FC236}">
                  <a16:creationId xmlns:a16="http://schemas.microsoft.com/office/drawing/2014/main" id="{5D40416C-AFD2-B97B-F843-7216BD023D97}"/>
                </a:ext>
              </a:extLst>
            </p:cNvPr>
            <p:cNvCxnSpPr>
              <a:cxnSpLocks noChangeAspect="1" noChangeShapeType="1"/>
              <a:stCxn id="21558" idx="1"/>
              <a:endCxn id="21551" idx="6"/>
            </p:cNvCxnSpPr>
            <p:nvPr/>
          </p:nvCxnSpPr>
          <p:spPr bwMode="auto">
            <a:xfrm flipH="1" flipV="1">
              <a:off x="1392" y="1296"/>
              <a:ext cx="1040" cy="3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1507" name="Group 1065">
            <a:extLst>
              <a:ext uri="{FF2B5EF4-FFF2-40B4-BE49-F238E27FC236}">
                <a16:creationId xmlns:a16="http://schemas.microsoft.com/office/drawing/2014/main" id="{61E87ADE-3AE7-293E-2EA0-B3B6748B0546}"/>
              </a:ext>
            </a:extLst>
          </p:cNvPr>
          <p:cNvGrpSpPr>
            <a:grpSpLocks/>
          </p:cNvGrpSpPr>
          <p:nvPr/>
        </p:nvGrpSpPr>
        <p:grpSpPr bwMode="auto">
          <a:xfrm>
            <a:off x="7053264" y="1676400"/>
            <a:ext cx="3081337" cy="1830388"/>
            <a:chOff x="593" y="2600"/>
            <a:chExt cx="1941" cy="1153"/>
          </a:xfrm>
        </p:grpSpPr>
        <p:sp>
          <p:nvSpPr>
            <p:cNvPr id="21537" name="Oval 1039">
              <a:extLst>
                <a:ext uri="{FF2B5EF4-FFF2-40B4-BE49-F238E27FC236}">
                  <a16:creationId xmlns:a16="http://schemas.microsoft.com/office/drawing/2014/main" id="{EE163494-9DE4-1F67-099E-1FF2C15106D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15" y="3061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sp>
          <p:nvSpPr>
            <p:cNvPr id="21538" name="Oval 1040">
              <a:extLst>
                <a:ext uri="{FF2B5EF4-FFF2-40B4-BE49-F238E27FC236}">
                  <a16:creationId xmlns:a16="http://schemas.microsoft.com/office/drawing/2014/main" id="{23BB9A77-ACCD-8C9A-D991-92A6245C7E1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3" y="3061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21539" name="Oval 1041">
              <a:extLst>
                <a:ext uri="{FF2B5EF4-FFF2-40B4-BE49-F238E27FC236}">
                  <a16:creationId xmlns:a16="http://schemas.microsoft.com/office/drawing/2014/main" id="{7533CC1E-0663-67A0-6C66-842DED0066B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54" y="2600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21540" name="Oval 1042">
              <a:extLst>
                <a:ext uri="{FF2B5EF4-FFF2-40B4-BE49-F238E27FC236}">
                  <a16:creationId xmlns:a16="http://schemas.microsoft.com/office/drawing/2014/main" id="{2B132E72-68A7-6C8F-93AE-209678AC324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54" y="3522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cxnSp>
          <p:nvCxnSpPr>
            <p:cNvPr id="21541" name="AutoShape 1043">
              <a:extLst>
                <a:ext uri="{FF2B5EF4-FFF2-40B4-BE49-F238E27FC236}">
                  <a16:creationId xmlns:a16="http://schemas.microsoft.com/office/drawing/2014/main" id="{5641C450-2A7B-27D0-4E13-06AEAE8F0973}"/>
                </a:ext>
              </a:extLst>
            </p:cNvPr>
            <p:cNvCxnSpPr>
              <a:cxnSpLocks noChangeAspect="1" noChangeShapeType="1"/>
              <a:stCxn id="21539" idx="3"/>
              <a:endCxn id="21538" idx="7"/>
            </p:cNvCxnSpPr>
            <p:nvPr/>
          </p:nvCxnSpPr>
          <p:spPr bwMode="auto">
            <a:xfrm flipH="1">
              <a:off x="790" y="2809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42" name="AutoShape 1044">
              <a:extLst>
                <a:ext uri="{FF2B5EF4-FFF2-40B4-BE49-F238E27FC236}">
                  <a16:creationId xmlns:a16="http://schemas.microsoft.com/office/drawing/2014/main" id="{985381C8-6937-2173-08CE-61556CAE2D55}"/>
                </a:ext>
              </a:extLst>
            </p:cNvPr>
            <p:cNvCxnSpPr>
              <a:cxnSpLocks noChangeAspect="1" noChangeShapeType="1"/>
              <a:stCxn id="21540" idx="1"/>
              <a:endCxn id="21538" idx="5"/>
            </p:cNvCxnSpPr>
            <p:nvPr/>
          </p:nvCxnSpPr>
          <p:spPr bwMode="auto">
            <a:xfrm flipH="1" flipV="1">
              <a:off x="790" y="3270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43" name="AutoShape 1045">
              <a:extLst>
                <a:ext uri="{FF2B5EF4-FFF2-40B4-BE49-F238E27FC236}">
                  <a16:creationId xmlns:a16="http://schemas.microsoft.com/office/drawing/2014/main" id="{C67FB0D5-D77F-DAAF-87AB-AE7EBF257309}"/>
                </a:ext>
              </a:extLst>
            </p:cNvPr>
            <p:cNvCxnSpPr>
              <a:cxnSpLocks noChangeAspect="1" noChangeShapeType="1"/>
              <a:stCxn id="21540" idx="7"/>
              <a:endCxn id="21537" idx="3"/>
            </p:cNvCxnSpPr>
            <p:nvPr/>
          </p:nvCxnSpPr>
          <p:spPr bwMode="auto">
            <a:xfrm flipV="1">
              <a:off x="1251" y="3270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44" name="AutoShape 1046">
              <a:extLst>
                <a:ext uri="{FF2B5EF4-FFF2-40B4-BE49-F238E27FC236}">
                  <a16:creationId xmlns:a16="http://schemas.microsoft.com/office/drawing/2014/main" id="{75E631BE-42F1-F1D5-094F-F4079CFBF313}"/>
                </a:ext>
              </a:extLst>
            </p:cNvPr>
            <p:cNvCxnSpPr>
              <a:cxnSpLocks noChangeAspect="1" noChangeShapeType="1"/>
              <a:stCxn id="21539" idx="5"/>
              <a:endCxn id="21537" idx="1"/>
            </p:cNvCxnSpPr>
            <p:nvPr/>
          </p:nvCxnSpPr>
          <p:spPr bwMode="auto">
            <a:xfrm>
              <a:off x="1251" y="2809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45" name="AutoShape 1047">
              <a:extLst>
                <a:ext uri="{FF2B5EF4-FFF2-40B4-BE49-F238E27FC236}">
                  <a16:creationId xmlns:a16="http://schemas.microsoft.com/office/drawing/2014/main" id="{D4759DD8-A9BB-CD74-F587-5D6F6BCC25D7}"/>
                </a:ext>
              </a:extLst>
            </p:cNvPr>
            <p:cNvCxnSpPr>
              <a:cxnSpLocks noChangeAspect="1" noChangeShapeType="1"/>
              <a:stCxn id="21539" idx="4"/>
              <a:endCxn id="21540" idx="0"/>
            </p:cNvCxnSpPr>
            <p:nvPr/>
          </p:nvCxnSpPr>
          <p:spPr bwMode="auto">
            <a:xfrm>
              <a:off x="1169" y="2842"/>
              <a:ext cx="0" cy="667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46" name="Oval 1048">
              <a:extLst>
                <a:ext uri="{FF2B5EF4-FFF2-40B4-BE49-F238E27FC236}">
                  <a16:creationId xmlns:a16="http://schemas.microsoft.com/office/drawing/2014/main" id="{E9F63C86-1109-38EC-B4E0-5E49A4D928B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03" y="3061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21547" name="AutoShape 1049">
              <a:extLst>
                <a:ext uri="{FF2B5EF4-FFF2-40B4-BE49-F238E27FC236}">
                  <a16:creationId xmlns:a16="http://schemas.microsoft.com/office/drawing/2014/main" id="{49B13449-553F-E5DC-30FE-FA36C5988D57}"/>
                </a:ext>
              </a:extLst>
            </p:cNvPr>
            <p:cNvCxnSpPr>
              <a:cxnSpLocks noChangeAspect="1" noChangeShapeType="1"/>
              <a:stCxn id="21540" idx="6"/>
              <a:endCxn id="21546" idx="3"/>
            </p:cNvCxnSpPr>
            <p:nvPr/>
          </p:nvCxnSpPr>
          <p:spPr bwMode="auto">
            <a:xfrm flipV="1">
              <a:off x="1296" y="3264"/>
              <a:ext cx="1040" cy="3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48" name="AutoShape 1050">
              <a:extLst>
                <a:ext uri="{FF2B5EF4-FFF2-40B4-BE49-F238E27FC236}">
                  <a16:creationId xmlns:a16="http://schemas.microsoft.com/office/drawing/2014/main" id="{567F2CAA-ED84-CD80-5744-D45FC0FC9CB7}"/>
                </a:ext>
              </a:extLst>
            </p:cNvPr>
            <p:cNvCxnSpPr>
              <a:cxnSpLocks noChangeAspect="1" noChangeShapeType="1"/>
              <a:stCxn id="21546" idx="1"/>
              <a:endCxn id="21539" idx="6"/>
            </p:cNvCxnSpPr>
            <p:nvPr/>
          </p:nvCxnSpPr>
          <p:spPr bwMode="auto">
            <a:xfrm flipH="1" flipV="1">
              <a:off x="1296" y="2715"/>
              <a:ext cx="1040" cy="3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1508" name="Group 1063">
            <a:extLst>
              <a:ext uri="{FF2B5EF4-FFF2-40B4-BE49-F238E27FC236}">
                <a16:creationId xmlns:a16="http://schemas.microsoft.com/office/drawing/2014/main" id="{FF30FBB2-87D3-A41C-CC6A-E8AFAE20A4CC}"/>
              </a:ext>
            </a:extLst>
          </p:cNvPr>
          <p:cNvGrpSpPr>
            <a:grpSpLocks/>
          </p:cNvGrpSpPr>
          <p:nvPr/>
        </p:nvGrpSpPr>
        <p:grpSpPr bwMode="auto">
          <a:xfrm>
            <a:off x="7053264" y="4341814"/>
            <a:ext cx="3081337" cy="1830387"/>
            <a:chOff x="3377" y="1085"/>
            <a:chExt cx="1941" cy="1153"/>
          </a:xfrm>
        </p:grpSpPr>
        <p:sp>
          <p:nvSpPr>
            <p:cNvPr id="21525" name="Oval 1051">
              <a:extLst>
                <a:ext uri="{FF2B5EF4-FFF2-40B4-BE49-F238E27FC236}">
                  <a16:creationId xmlns:a16="http://schemas.microsoft.com/office/drawing/2014/main" id="{3CF2BECD-EB07-9BFD-4BB1-F479F39CB3C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99" y="1546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sp>
          <p:nvSpPr>
            <p:cNvPr id="21526" name="Oval 1052">
              <a:extLst>
                <a:ext uri="{FF2B5EF4-FFF2-40B4-BE49-F238E27FC236}">
                  <a16:creationId xmlns:a16="http://schemas.microsoft.com/office/drawing/2014/main" id="{329EB8E5-45A1-03A6-EA55-8D4CF8F635D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77" y="1546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21527" name="Oval 1053">
              <a:extLst>
                <a:ext uri="{FF2B5EF4-FFF2-40B4-BE49-F238E27FC236}">
                  <a16:creationId xmlns:a16="http://schemas.microsoft.com/office/drawing/2014/main" id="{AF19E3C1-CFBE-4955-6A32-9AA120001A1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38" y="1085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21528" name="Oval 1054">
              <a:extLst>
                <a:ext uri="{FF2B5EF4-FFF2-40B4-BE49-F238E27FC236}">
                  <a16:creationId xmlns:a16="http://schemas.microsoft.com/office/drawing/2014/main" id="{1581D2DB-0CF9-8E02-F604-F0FDD2C465B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38" y="2007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cxnSp>
          <p:nvCxnSpPr>
            <p:cNvPr id="21529" name="AutoShape 1055">
              <a:extLst>
                <a:ext uri="{FF2B5EF4-FFF2-40B4-BE49-F238E27FC236}">
                  <a16:creationId xmlns:a16="http://schemas.microsoft.com/office/drawing/2014/main" id="{48DBD0BD-1A6D-769E-EE59-106C58ACDCF5}"/>
                </a:ext>
              </a:extLst>
            </p:cNvPr>
            <p:cNvCxnSpPr>
              <a:cxnSpLocks noChangeAspect="1" noChangeShapeType="1"/>
              <a:stCxn id="21527" idx="3"/>
              <a:endCxn id="21526" idx="7"/>
            </p:cNvCxnSpPr>
            <p:nvPr/>
          </p:nvCxnSpPr>
          <p:spPr bwMode="auto">
            <a:xfrm flipH="1">
              <a:off x="3574" y="1294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30" name="AutoShape 1056">
              <a:extLst>
                <a:ext uri="{FF2B5EF4-FFF2-40B4-BE49-F238E27FC236}">
                  <a16:creationId xmlns:a16="http://schemas.microsoft.com/office/drawing/2014/main" id="{EE2C786D-8DAF-E585-7F20-26B7BE38CA15}"/>
                </a:ext>
              </a:extLst>
            </p:cNvPr>
            <p:cNvCxnSpPr>
              <a:cxnSpLocks noChangeAspect="1" noChangeShapeType="1"/>
              <a:stCxn id="21528" idx="1"/>
              <a:endCxn id="21526" idx="5"/>
            </p:cNvCxnSpPr>
            <p:nvPr/>
          </p:nvCxnSpPr>
          <p:spPr bwMode="auto">
            <a:xfrm flipH="1" flipV="1">
              <a:off x="3574" y="1755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31" name="AutoShape 1057">
              <a:extLst>
                <a:ext uri="{FF2B5EF4-FFF2-40B4-BE49-F238E27FC236}">
                  <a16:creationId xmlns:a16="http://schemas.microsoft.com/office/drawing/2014/main" id="{76AC9F62-6907-D094-638E-21D2CD59337E}"/>
                </a:ext>
              </a:extLst>
            </p:cNvPr>
            <p:cNvCxnSpPr>
              <a:cxnSpLocks noChangeAspect="1" noChangeShapeType="1"/>
              <a:stCxn id="21528" idx="7"/>
              <a:endCxn id="21525" idx="3"/>
            </p:cNvCxnSpPr>
            <p:nvPr/>
          </p:nvCxnSpPr>
          <p:spPr bwMode="auto">
            <a:xfrm flipV="1">
              <a:off x="4035" y="1755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32" name="AutoShape 1058">
              <a:extLst>
                <a:ext uri="{FF2B5EF4-FFF2-40B4-BE49-F238E27FC236}">
                  <a16:creationId xmlns:a16="http://schemas.microsoft.com/office/drawing/2014/main" id="{978EB3D8-9881-B08B-AB73-6DDB14FBED67}"/>
                </a:ext>
              </a:extLst>
            </p:cNvPr>
            <p:cNvCxnSpPr>
              <a:cxnSpLocks noChangeAspect="1" noChangeShapeType="1"/>
              <a:stCxn id="21527" idx="5"/>
              <a:endCxn id="21525" idx="1"/>
            </p:cNvCxnSpPr>
            <p:nvPr/>
          </p:nvCxnSpPr>
          <p:spPr bwMode="auto">
            <a:xfrm>
              <a:off x="4035" y="1294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33" name="AutoShape 1059">
              <a:extLst>
                <a:ext uri="{FF2B5EF4-FFF2-40B4-BE49-F238E27FC236}">
                  <a16:creationId xmlns:a16="http://schemas.microsoft.com/office/drawing/2014/main" id="{71EED9E5-BC30-3551-EF11-FA86F8CFEA76}"/>
                </a:ext>
              </a:extLst>
            </p:cNvPr>
            <p:cNvCxnSpPr>
              <a:cxnSpLocks noChangeAspect="1" noChangeShapeType="1"/>
              <a:stCxn id="21527" idx="4"/>
              <a:endCxn id="21528" idx="0"/>
            </p:cNvCxnSpPr>
            <p:nvPr/>
          </p:nvCxnSpPr>
          <p:spPr bwMode="auto">
            <a:xfrm>
              <a:off x="3953" y="1327"/>
              <a:ext cx="0" cy="667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34" name="Oval 1060">
              <a:extLst>
                <a:ext uri="{FF2B5EF4-FFF2-40B4-BE49-F238E27FC236}">
                  <a16:creationId xmlns:a16="http://schemas.microsoft.com/office/drawing/2014/main" id="{B6ADEA3E-5EAA-D778-0D30-E6555315BF2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087" y="1546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21535" name="AutoShape 1061">
              <a:extLst>
                <a:ext uri="{FF2B5EF4-FFF2-40B4-BE49-F238E27FC236}">
                  <a16:creationId xmlns:a16="http://schemas.microsoft.com/office/drawing/2014/main" id="{58CC1D04-5B0E-408F-BD79-DE329EE998D9}"/>
                </a:ext>
              </a:extLst>
            </p:cNvPr>
            <p:cNvCxnSpPr>
              <a:cxnSpLocks noChangeAspect="1" noChangeShapeType="1"/>
              <a:stCxn id="21528" idx="6"/>
              <a:endCxn id="21534" idx="3"/>
            </p:cNvCxnSpPr>
            <p:nvPr/>
          </p:nvCxnSpPr>
          <p:spPr bwMode="auto">
            <a:xfrm flipV="1">
              <a:off x="4080" y="1755"/>
              <a:ext cx="1040" cy="367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36" name="AutoShape 1062">
              <a:extLst>
                <a:ext uri="{FF2B5EF4-FFF2-40B4-BE49-F238E27FC236}">
                  <a16:creationId xmlns:a16="http://schemas.microsoft.com/office/drawing/2014/main" id="{631A70D4-B9FC-D413-AAE7-0035CE2B34B8}"/>
                </a:ext>
              </a:extLst>
            </p:cNvPr>
            <p:cNvCxnSpPr>
              <a:cxnSpLocks noChangeAspect="1" noChangeShapeType="1"/>
              <a:stCxn id="21534" idx="1"/>
              <a:endCxn id="21527" idx="6"/>
            </p:cNvCxnSpPr>
            <p:nvPr/>
          </p:nvCxnSpPr>
          <p:spPr bwMode="auto">
            <a:xfrm flipH="1" flipV="1">
              <a:off x="4080" y="1200"/>
              <a:ext cx="1040" cy="367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1509" name="Group 1078">
            <a:extLst>
              <a:ext uri="{FF2B5EF4-FFF2-40B4-BE49-F238E27FC236}">
                <a16:creationId xmlns:a16="http://schemas.microsoft.com/office/drawing/2014/main" id="{BE0522BB-0F42-C2D0-84DA-6B674AD236FB}"/>
              </a:ext>
            </a:extLst>
          </p:cNvPr>
          <p:cNvGrpSpPr>
            <a:grpSpLocks/>
          </p:cNvGrpSpPr>
          <p:nvPr/>
        </p:nvGrpSpPr>
        <p:grpSpPr bwMode="auto">
          <a:xfrm>
            <a:off x="2414589" y="1676400"/>
            <a:ext cx="3081337" cy="1830388"/>
            <a:chOff x="499" y="1056"/>
            <a:chExt cx="1941" cy="1153"/>
          </a:xfrm>
        </p:grpSpPr>
        <p:sp>
          <p:nvSpPr>
            <p:cNvPr id="21513" name="Oval 1066">
              <a:extLst>
                <a:ext uri="{FF2B5EF4-FFF2-40B4-BE49-F238E27FC236}">
                  <a16:creationId xmlns:a16="http://schemas.microsoft.com/office/drawing/2014/main" id="{81513FB1-DFDC-12CC-0022-6D94253378B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21" y="1517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sp>
          <p:nvSpPr>
            <p:cNvPr id="21514" name="Oval 1067">
              <a:extLst>
                <a:ext uri="{FF2B5EF4-FFF2-40B4-BE49-F238E27FC236}">
                  <a16:creationId xmlns:a16="http://schemas.microsoft.com/office/drawing/2014/main" id="{7365AE45-7800-8EBA-1741-A7D923CF0D8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9" y="1517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21515" name="Oval 1068">
              <a:extLst>
                <a:ext uri="{FF2B5EF4-FFF2-40B4-BE49-F238E27FC236}">
                  <a16:creationId xmlns:a16="http://schemas.microsoft.com/office/drawing/2014/main" id="{FBC59FAD-0C0D-7D0E-3B13-A098363E9B4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60" y="1056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21516" name="Oval 1069">
              <a:extLst>
                <a:ext uri="{FF2B5EF4-FFF2-40B4-BE49-F238E27FC236}">
                  <a16:creationId xmlns:a16="http://schemas.microsoft.com/office/drawing/2014/main" id="{2D80816B-031C-FBE3-3A08-427BCD0FB7D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60" y="1978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cxnSp>
          <p:nvCxnSpPr>
            <p:cNvPr id="21517" name="AutoShape 1070">
              <a:extLst>
                <a:ext uri="{FF2B5EF4-FFF2-40B4-BE49-F238E27FC236}">
                  <a16:creationId xmlns:a16="http://schemas.microsoft.com/office/drawing/2014/main" id="{C991ED46-3095-C1E0-5A5D-49486E4DD695}"/>
                </a:ext>
              </a:extLst>
            </p:cNvPr>
            <p:cNvCxnSpPr>
              <a:cxnSpLocks noChangeAspect="1" noChangeShapeType="1"/>
              <a:stCxn id="21515" idx="3"/>
              <a:endCxn id="21514" idx="7"/>
            </p:cNvCxnSpPr>
            <p:nvPr/>
          </p:nvCxnSpPr>
          <p:spPr bwMode="auto">
            <a:xfrm flipH="1">
              <a:off x="696" y="1265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18" name="AutoShape 1071">
              <a:extLst>
                <a:ext uri="{FF2B5EF4-FFF2-40B4-BE49-F238E27FC236}">
                  <a16:creationId xmlns:a16="http://schemas.microsoft.com/office/drawing/2014/main" id="{CB5D0EC5-1BCF-266A-BFDD-D811D3CEAEC9}"/>
                </a:ext>
              </a:extLst>
            </p:cNvPr>
            <p:cNvCxnSpPr>
              <a:cxnSpLocks noChangeAspect="1" noChangeShapeType="1"/>
              <a:stCxn id="21516" idx="1"/>
              <a:endCxn id="21514" idx="5"/>
            </p:cNvCxnSpPr>
            <p:nvPr/>
          </p:nvCxnSpPr>
          <p:spPr bwMode="auto">
            <a:xfrm flipH="1" flipV="1">
              <a:off x="696" y="1726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19" name="AutoShape 1072">
              <a:extLst>
                <a:ext uri="{FF2B5EF4-FFF2-40B4-BE49-F238E27FC236}">
                  <a16:creationId xmlns:a16="http://schemas.microsoft.com/office/drawing/2014/main" id="{51CC2405-8CF2-1878-7F85-4D54E9D30CA3}"/>
                </a:ext>
              </a:extLst>
            </p:cNvPr>
            <p:cNvCxnSpPr>
              <a:cxnSpLocks noChangeAspect="1" noChangeShapeType="1"/>
              <a:stCxn id="21516" idx="7"/>
              <a:endCxn id="21513" idx="3"/>
            </p:cNvCxnSpPr>
            <p:nvPr/>
          </p:nvCxnSpPr>
          <p:spPr bwMode="auto">
            <a:xfrm flipV="1">
              <a:off x="1157" y="1720"/>
              <a:ext cx="297" cy="279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20" name="AutoShape 1073">
              <a:extLst>
                <a:ext uri="{FF2B5EF4-FFF2-40B4-BE49-F238E27FC236}">
                  <a16:creationId xmlns:a16="http://schemas.microsoft.com/office/drawing/2014/main" id="{CE4562D6-39CC-E86B-3B3F-05404E501FCE}"/>
                </a:ext>
              </a:extLst>
            </p:cNvPr>
            <p:cNvCxnSpPr>
              <a:cxnSpLocks noChangeAspect="1" noChangeShapeType="1"/>
              <a:stCxn id="21515" idx="5"/>
              <a:endCxn id="21513" idx="1"/>
            </p:cNvCxnSpPr>
            <p:nvPr/>
          </p:nvCxnSpPr>
          <p:spPr bwMode="auto">
            <a:xfrm>
              <a:off x="1157" y="1265"/>
              <a:ext cx="297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21" name="AutoShape 1074">
              <a:extLst>
                <a:ext uri="{FF2B5EF4-FFF2-40B4-BE49-F238E27FC236}">
                  <a16:creationId xmlns:a16="http://schemas.microsoft.com/office/drawing/2014/main" id="{C6807D3A-AEB4-CD98-6E27-432ACE105A71}"/>
                </a:ext>
              </a:extLst>
            </p:cNvPr>
            <p:cNvCxnSpPr>
              <a:cxnSpLocks noChangeAspect="1" noChangeShapeType="1"/>
              <a:stCxn id="21515" idx="4"/>
              <a:endCxn id="21516" idx="0"/>
            </p:cNvCxnSpPr>
            <p:nvPr/>
          </p:nvCxnSpPr>
          <p:spPr bwMode="auto">
            <a:xfrm>
              <a:off x="1075" y="1298"/>
              <a:ext cx="0" cy="667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22" name="Oval 1075">
              <a:extLst>
                <a:ext uri="{FF2B5EF4-FFF2-40B4-BE49-F238E27FC236}">
                  <a16:creationId xmlns:a16="http://schemas.microsoft.com/office/drawing/2014/main" id="{5E245066-CD3E-5BA4-A1DB-8EAA3B33FDE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09" y="1517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21523" name="AutoShape 1076">
              <a:extLst>
                <a:ext uri="{FF2B5EF4-FFF2-40B4-BE49-F238E27FC236}">
                  <a16:creationId xmlns:a16="http://schemas.microsoft.com/office/drawing/2014/main" id="{4AB446FA-1466-916A-CBA3-FBF78E5EE941}"/>
                </a:ext>
              </a:extLst>
            </p:cNvPr>
            <p:cNvCxnSpPr>
              <a:cxnSpLocks noChangeAspect="1" noChangeShapeType="1"/>
              <a:stCxn id="21516" idx="6"/>
              <a:endCxn id="21522" idx="3"/>
            </p:cNvCxnSpPr>
            <p:nvPr/>
          </p:nvCxnSpPr>
          <p:spPr bwMode="auto">
            <a:xfrm flipV="1">
              <a:off x="1202" y="1720"/>
              <a:ext cx="1040" cy="3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24" name="AutoShape 1077">
              <a:extLst>
                <a:ext uri="{FF2B5EF4-FFF2-40B4-BE49-F238E27FC236}">
                  <a16:creationId xmlns:a16="http://schemas.microsoft.com/office/drawing/2014/main" id="{50D55434-282B-220E-D46D-0726843EACC0}"/>
                </a:ext>
              </a:extLst>
            </p:cNvPr>
            <p:cNvCxnSpPr>
              <a:cxnSpLocks noChangeAspect="1" noChangeShapeType="1"/>
              <a:stCxn id="21522" idx="1"/>
              <a:endCxn id="21515" idx="6"/>
            </p:cNvCxnSpPr>
            <p:nvPr/>
          </p:nvCxnSpPr>
          <p:spPr bwMode="auto">
            <a:xfrm flipH="1" flipV="1">
              <a:off x="1202" y="1171"/>
              <a:ext cx="1040" cy="3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1510" name="AutoShape 1079">
            <a:extLst>
              <a:ext uri="{FF2B5EF4-FFF2-40B4-BE49-F238E27FC236}">
                <a16:creationId xmlns:a16="http://schemas.microsoft.com/office/drawing/2014/main" id="{51D84F8F-F521-EEA4-0087-33C8EB928FF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364538" y="3757613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11" name="AutoShape 1080">
            <a:extLst>
              <a:ext uri="{FF2B5EF4-FFF2-40B4-BE49-F238E27FC236}">
                <a16:creationId xmlns:a16="http://schemas.microsoft.com/office/drawing/2014/main" id="{B4A5F7A1-16D9-5760-169F-310D9FE4A0EC}"/>
              </a:ext>
            </a:extLst>
          </p:cNvPr>
          <p:cNvSpPr>
            <a:spLocks noChangeArrowheads="1"/>
          </p:cNvSpPr>
          <p:nvPr/>
        </p:nvSpPr>
        <p:spPr bwMode="auto">
          <a:xfrm rot="8100000" flipH="1" flipV="1">
            <a:off x="5691188" y="3733801"/>
            <a:ext cx="1243012" cy="333375"/>
          </a:xfrm>
          <a:prstGeom prst="rightArrow">
            <a:avLst>
              <a:gd name="adj1" fmla="val 50000"/>
              <a:gd name="adj2" fmla="val 93214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12" name="AutoShape 1081">
            <a:extLst>
              <a:ext uri="{FF2B5EF4-FFF2-40B4-BE49-F238E27FC236}">
                <a16:creationId xmlns:a16="http://schemas.microsoft.com/office/drawing/2014/main" id="{1BFCFE91-591B-E63C-33B7-E41DFEA3B83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27451" y="3757613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1D6D09A0-2E27-C634-FB86-C90573D6C0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/>
              <a:t>Analysis of DFS</a:t>
            </a:r>
          </a:p>
        </p:txBody>
      </p:sp>
      <p:sp>
        <p:nvSpPr>
          <p:cNvPr id="2253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6821802-B8E3-91A4-986B-CF18D825327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286000" y="1447800"/>
            <a:ext cx="7848600" cy="48768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Setting/getting a vertex/edge label takes </a:t>
            </a:r>
            <a:r>
              <a:rPr lang="en-US" altLang="en-US" sz="2400" b="1" i="1">
                <a:latin typeface="Times New Roman" panose="02020603050405020304" pitchFamily="18" charset="0"/>
              </a:rPr>
              <a:t>O</a:t>
            </a:r>
            <a:r>
              <a:rPr lang="en-US" altLang="en-US" sz="2400">
                <a:latin typeface="Times New Roman" panose="02020603050405020304" pitchFamily="18" charset="0"/>
              </a:rPr>
              <a:t>(1)</a:t>
            </a:r>
            <a:r>
              <a:rPr lang="en-US" altLang="en-US" sz="2400"/>
              <a:t> time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Each vertex is labeled twice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once as UNEXPLORED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once as </a:t>
            </a:r>
            <a:r>
              <a:rPr lang="en-US" altLang="en-US" sz="2000">
                <a:solidFill>
                  <a:schemeClr val="tx2"/>
                </a:solidFill>
              </a:rPr>
              <a:t>VISITED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Each edge is labeled twice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once as UNEXPLORED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once as </a:t>
            </a:r>
            <a:r>
              <a:rPr lang="en-US" altLang="en-US" sz="2000">
                <a:solidFill>
                  <a:schemeClr val="tx2"/>
                </a:solidFill>
              </a:rPr>
              <a:t>DISCOVERY</a:t>
            </a:r>
            <a:r>
              <a:rPr lang="en-US" altLang="en-US" sz="2000"/>
              <a:t> or </a:t>
            </a:r>
            <a:r>
              <a:rPr lang="en-US" altLang="en-US" sz="2000">
                <a:solidFill>
                  <a:schemeClr val="accent2"/>
                </a:solidFill>
              </a:rPr>
              <a:t>BACK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Method incidentEdges is called once for each vertex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Each edge is examined twice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Recall that </a:t>
            </a:r>
            <a:r>
              <a:rPr lang="en-US" altLang="en-US" sz="2800" b="1">
                <a:latin typeface="Symbol" panose="05050102010706020507" pitchFamily="18" charset="2"/>
              </a:rPr>
              <a:t>S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v </a:t>
            </a:r>
            <a:r>
              <a:rPr lang="en-US" altLang="en-US" sz="2000">
                <a:latin typeface="Times New Roman" panose="02020603050405020304" pitchFamily="18" charset="0"/>
              </a:rPr>
              <a:t>deg(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 b="1" i="1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latin typeface="Symbol" panose="05050102010706020507" pitchFamily="18" charset="2"/>
              </a:rPr>
              <a:t>= </a:t>
            </a:r>
            <a:r>
              <a:rPr lang="en-US" altLang="en-US" sz="2000">
                <a:latin typeface="Times New Roman" panose="02020603050405020304" pitchFamily="18" charset="0"/>
              </a:rPr>
              <a:t>2</a:t>
            </a:r>
            <a:r>
              <a:rPr lang="en-US" altLang="en-US" sz="2000" b="1" i="1">
                <a:latin typeface="Times New Roman" panose="02020603050405020304" pitchFamily="18" charset="0"/>
              </a:rPr>
              <a:t>m</a:t>
            </a: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DFS runs in </a:t>
            </a:r>
            <a:r>
              <a:rPr lang="en-US" altLang="en-US" sz="2400" b="1" i="1">
                <a:latin typeface="Times New Roman" panose="02020603050405020304" pitchFamily="18" charset="0"/>
              </a:rPr>
              <a:t>O</a:t>
            </a:r>
            <a:r>
              <a:rPr lang="en-US" altLang="en-US" sz="2400">
                <a:latin typeface="Times New Roman" panose="02020603050405020304" pitchFamily="18" charset="0"/>
              </a:rPr>
              <a:t>(</a:t>
            </a:r>
            <a:r>
              <a:rPr lang="en-US" altLang="en-US" sz="2400" b="1" i="1">
                <a:latin typeface="Times New Roman" panose="02020603050405020304" pitchFamily="18" charset="0"/>
              </a:rPr>
              <a:t>n </a:t>
            </a:r>
            <a:r>
              <a:rPr lang="en-US" altLang="en-US" sz="2400">
                <a:latin typeface="Symbol" panose="05050102010706020507" pitchFamily="18" charset="2"/>
              </a:rPr>
              <a:t>+</a:t>
            </a:r>
            <a:r>
              <a:rPr lang="en-US" altLang="en-US" sz="2400" b="1" i="1">
                <a:latin typeface="Times New Roman" panose="02020603050405020304" pitchFamily="18" charset="0"/>
              </a:rPr>
              <a:t> m</a:t>
            </a:r>
            <a:r>
              <a:rPr lang="en-US" altLang="en-US" sz="2400">
                <a:latin typeface="Times New Roman" panose="02020603050405020304" pitchFamily="18" charset="0"/>
              </a:rPr>
              <a:t>)</a:t>
            </a:r>
            <a:r>
              <a:rPr lang="en-US" altLang="en-US" sz="2400"/>
              <a:t> time provided that the graph is represented by the adjacency list structure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578D4B26-CBA1-98B1-6CE5-C2ECEAC66B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Properties and Applications of DFS</a:t>
            </a:r>
          </a:p>
        </p:txBody>
      </p:sp>
      <p:sp>
        <p:nvSpPr>
          <p:cNvPr id="2355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E475CC5-A7AC-74D6-7665-57A2917CCB49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981200" y="1371600"/>
            <a:ext cx="4343400" cy="48768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Property 1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	</a:t>
            </a:r>
            <a:r>
              <a:rPr lang="en-US" altLang="en-US" sz="1800" b="1" i="1">
                <a:latin typeface="Times New Roman" panose="02020603050405020304" pitchFamily="18" charset="0"/>
              </a:rPr>
              <a:t>DFS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G, v</a:t>
            </a:r>
            <a:r>
              <a:rPr lang="en-US" altLang="en-US" sz="1800">
                <a:latin typeface="Times New Roman" panose="02020603050405020304" pitchFamily="18" charset="0"/>
              </a:rPr>
              <a:t>) </a:t>
            </a:r>
            <a:r>
              <a:rPr lang="en-US" altLang="en-US" sz="1800"/>
              <a:t>visits all the vertices and edges in the connected component of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endParaRPr lang="en-US" altLang="en-US" sz="18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Property 2</a:t>
            </a:r>
            <a:endParaRPr lang="en-US" altLang="en-US" sz="20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	</a:t>
            </a:r>
            <a:r>
              <a:rPr lang="en-US" altLang="en-US" sz="1800"/>
              <a:t>The </a:t>
            </a:r>
            <a:r>
              <a:rPr lang="en-US" altLang="en-US" sz="1800" i="1"/>
              <a:t>discovery</a:t>
            </a:r>
            <a:r>
              <a:rPr lang="en-US" altLang="en-US" sz="1800"/>
              <a:t> edges labeled by </a:t>
            </a:r>
            <a:r>
              <a:rPr lang="en-US" altLang="en-US" sz="1800" b="1" i="1">
                <a:latin typeface="Times New Roman" panose="02020603050405020304" pitchFamily="18" charset="0"/>
              </a:rPr>
              <a:t>DFS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G, v</a:t>
            </a:r>
            <a:r>
              <a:rPr lang="en-US" altLang="en-US" sz="1800">
                <a:latin typeface="Times New Roman" panose="02020603050405020304" pitchFamily="18" charset="0"/>
              </a:rPr>
              <a:t>) </a:t>
            </a:r>
            <a:r>
              <a:rPr lang="en-US" altLang="en-US" sz="1800"/>
              <a:t>form a spanning tree of the connected component of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800" b="1" i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Applications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Testing whether G is connected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Computing a spanning forest of 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Computing the connected components of 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Find a path in G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/>
              <a:t>	(see below)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/>
          </a:p>
        </p:txBody>
      </p:sp>
      <p:grpSp>
        <p:nvGrpSpPr>
          <p:cNvPr id="23555" name="Group 5">
            <a:extLst>
              <a:ext uri="{FF2B5EF4-FFF2-40B4-BE49-F238E27FC236}">
                <a16:creationId xmlns:a16="http://schemas.microsoft.com/office/drawing/2014/main" id="{C7AABD88-8CDC-6577-A53B-7DAC9B7BEBD0}"/>
              </a:ext>
            </a:extLst>
          </p:cNvPr>
          <p:cNvGrpSpPr>
            <a:grpSpLocks/>
          </p:cNvGrpSpPr>
          <p:nvPr/>
        </p:nvGrpSpPr>
        <p:grpSpPr bwMode="auto">
          <a:xfrm>
            <a:off x="6319838" y="2514600"/>
            <a:ext cx="4043362" cy="2401888"/>
            <a:chOff x="3377" y="1085"/>
            <a:chExt cx="1941" cy="1153"/>
          </a:xfrm>
        </p:grpSpPr>
        <p:sp>
          <p:nvSpPr>
            <p:cNvPr id="23556" name="Oval 6">
              <a:extLst>
                <a:ext uri="{FF2B5EF4-FFF2-40B4-BE49-F238E27FC236}">
                  <a16:creationId xmlns:a16="http://schemas.microsoft.com/office/drawing/2014/main" id="{15328AF1-BC2F-56FF-E899-ACD2E5151EA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99" y="1546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/>
                <a:t>D</a:t>
              </a:r>
            </a:p>
          </p:txBody>
        </p:sp>
        <p:sp>
          <p:nvSpPr>
            <p:cNvPr id="23557" name="Oval 7">
              <a:extLst>
                <a:ext uri="{FF2B5EF4-FFF2-40B4-BE49-F238E27FC236}">
                  <a16:creationId xmlns:a16="http://schemas.microsoft.com/office/drawing/2014/main" id="{90589F99-EDF8-CB82-1B1E-37DF22184F6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77" y="1546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/>
                <a:t>B</a:t>
              </a:r>
            </a:p>
          </p:txBody>
        </p:sp>
        <p:sp>
          <p:nvSpPr>
            <p:cNvPr id="23558" name="Oval 8">
              <a:extLst>
                <a:ext uri="{FF2B5EF4-FFF2-40B4-BE49-F238E27FC236}">
                  <a16:creationId xmlns:a16="http://schemas.microsoft.com/office/drawing/2014/main" id="{005C1691-FB87-D703-E46D-4F30B038921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38" y="1085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/>
                <a:t>A</a:t>
              </a:r>
            </a:p>
          </p:txBody>
        </p:sp>
        <p:sp>
          <p:nvSpPr>
            <p:cNvPr id="23559" name="Oval 9">
              <a:extLst>
                <a:ext uri="{FF2B5EF4-FFF2-40B4-BE49-F238E27FC236}">
                  <a16:creationId xmlns:a16="http://schemas.microsoft.com/office/drawing/2014/main" id="{1FBC6266-5D56-7F2E-1121-6EA2E5500F0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38" y="2007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/>
                <a:t>C</a:t>
              </a:r>
            </a:p>
          </p:txBody>
        </p:sp>
        <p:cxnSp>
          <p:nvCxnSpPr>
            <p:cNvPr id="23560" name="AutoShape 10">
              <a:extLst>
                <a:ext uri="{FF2B5EF4-FFF2-40B4-BE49-F238E27FC236}">
                  <a16:creationId xmlns:a16="http://schemas.microsoft.com/office/drawing/2014/main" id="{079FAB0E-AB97-3F94-7AE3-0EB55A3336C9}"/>
                </a:ext>
              </a:extLst>
            </p:cNvPr>
            <p:cNvCxnSpPr>
              <a:cxnSpLocks noChangeAspect="1" noChangeShapeType="1"/>
              <a:stCxn id="23558" idx="3"/>
              <a:endCxn id="23557" idx="7"/>
            </p:cNvCxnSpPr>
            <p:nvPr/>
          </p:nvCxnSpPr>
          <p:spPr bwMode="auto">
            <a:xfrm flipH="1">
              <a:off x="3574" y="1294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61" name="AutoShape 11">
              <a:extLst>
                <a:ext uri="{FF2B5EF4-FFF2-40B4-BE49-F238E27FC236}">
                  <a16:creationId xmlns:a16="http://schemas.microsoft.com/office/drawing/2014/main" id="{A25BAB18-66FF-41D1-45CF-6C57389FA179}"/>
                </a:ext>
              </a:extLst>
            </p:cNvPr>
            <p:cNvCxnSpPr>
              <a:cxnSpLocks noChangeAspect="1" noChangeShapeType="1"/>
              <a:stCxn id="23559" idx="1"/>
              <a:endCxn id="23557" idx="5"/>
            </p:cNvCxnSpPr>
            <p:nvPr/>
          </p:nvCxnSpPr>
          <p:spPr bwMode="auto">
            <a:xfrm flipH="1" flipV="1">
              <a:off x="3574" y="1755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62" name="AutoShape 12">
              <a:extLst>
                <a:ext uri="{FF2B5EF4-FFF2-40B4-BE49-F238E27FC236}">
                  <a16:creationId xmlns:a16="http://schemas.microsoft.com/office/drawing/2014/main" id="{70E39840-38F9-8F79-8EBF-575C0EA33278}"/>
                </a:ext>
              </a:extLst>
            </p:cNvPr>
            <p:cNvCxnSpPr>
              <a:cxnSpLocks noChangeAspect="1" noChangeShapeType="1"/>
              <a:stCxn id="23559" idx="7"/>
              <a:endCxn id="23556" idx="3"/>
            </p:cNvCxnSpPr>
            <p:nvPr/>
          </p:nvCxnSpPr>
          <p:spPr bwMode="auto">
            <a:xfrm flipV="1">
              <a:off x="4035" y="1755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63" name="AutoShape 13">
              <a:extLst>
                <a:ext uri="{FF2B5EF4-FFF2-40B4-BE49-F238E27FC236}">
                  <a16:creationId xmlns:a16="http://schemas.microsoft.com/office/drawing/2014/main" id="{9195008E-DD10-5422-7B45-03F83A15A6FD}"/>
                </a:ext>
              </a:extLst>
            </p:cNvPr>
            <p:cNvCxnSpPr>
              <a:cxnSpLocks noChangeAspect="1" noChangeShapeType="1"/>
              <a:stCxn id="23558" idx="5"/>
              <a:endCxn id="23556" idx="1"/>
            </p:cNvCxnSpPr>
            <p:nvPr/>
          </p:nvCxnSpPr>
          <p:spPr bwMode="auto">
            <a:xfrm>
              <a:off x="4035" y="1294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64" name="AutoShape 14">
              <a:extLst>
                <a:ext uri="{FF2B5EF4-FFF2-40B4-BE49-F238E27FC236}">
                  <a16:creationId xmlns:a16="http://schemas.microsoft.com/office/drawing/2014/main" id="{EEDC3CB8-C7D8-FEEA-CBAA-AD03A97E9B02}"/>
                </a:ext>
              </a:extLst>
            </p:cNvPr>
            <p:cNvCxnSpPr>
              <a:cxnSpLocks noChangeAspect="1" noChangeShapeType="1"/>
              <a:stCxn id="23558" idx="4"/>
              <a:endCxn id="23559" idx="0"/>
            </p:cNvCxnSpPr>
            <p:nvPr/>
          </p:nvCxnSpPr>
          <p:spPr bwMode="auto">
            <a:xfrm>
              <a:off x="3953" y="1327"/>
              <a:ext cx="0" cy="667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565" name="Oval 15">
              <a:extLst>
                <a:ext uri="{FF2B5EF4-FFF2-40B4-BE49-F238E27FC236}">
                  <a16:creationId xmlns:a16="http://schemas.microsoft.com/office/drawing/2014/main" id="{F4796889-3AC9-ECDE-76FE-0D1954A6EA1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087" y="1546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/>
                <a:t>E</a:t>
              </a:r>
            </a:p>
          </p:txBody>
        </p:sp>
        <p:cxnSp>
          <p:nvCxnSpPr>
            <p:cNvPr id="23566" name="AutoShape 16">
              <a:extLst>
                <a:ext uri="{FF2B5EF4-FFF2-40B4-BE49-F238E27FC236}">
                  <a16:creationId xmlns:a16="http://schemas.microsoft.com/office/drawing/2014/main" id="{BF870AFE-DAF3-94C2-E1E3-6C665E8C383B}"/>
                </a:ext>
              </a:extLst>
            </p:cNvPr>
            <p:cNvCxnSpPr>
              <a:cxnSpLocks noChangeAspect="1" noChangeShapeType="1"/>
              <a:stCxn id="23559" idx="6"/>
              <a:endCxn id="23565" idx="3"/>
            </p:cNvCxnSpPr>
            <p:nvPr/>
          </p:nvCxnSpPr>
          <p:spPr bwMode="auto">
            <a:xfrm flipV="1">
              <a:off x="4080" y="1755"/>
              <a:ext cx="1040" cy="367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67" name="AutoShape 17">
              <a:extLst>
                <a:ext uri="{FF2B5EF4-FFF2-40B4-BE49-F238E27FC236}">
                  <a16:creationId xmlns:a16="http://schemas.microsoft.com/office/drawing/2014/main" id="{714A6C3C-DE33-CD1B-5478-7804A5A2324F}"/>
                </a:ext>
              </a:extLst>
            </p:cNvPr>
            <p:cNvCxnSpPr>
              <a:cxnSpLocks noChangeAspect="1" noChangeShapeType="1"/>
              <a:stCxn id="23565" idx="1"/>
              <a:endCxn id="23558" idx="6"/>
            </p:cNvCxnSpPr>
            <p:nvPr/>
          </p:nvCxnSpPr>
          <p:spPr bwMode="auto">
            <a:xfrm flipH="1" flipV="1">
              <a:off x="4080" y="1200"/>
              <a:ext cx="1040" cy="367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62F51E28-D8D6-7024-5941-3E7BA49FE8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/>
              <a:t>Path Finding</a:t>
            </a:r>
          </a:p>
        </p:txBody>
      </p:sp>
      <p:sp>
        <p:nvSpPr>
          <p:cNvPr id="2457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9BFFB3E-083E-B840-8BED-EF88BC89ED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219200"/>
            <a:ext cx="3810000" cy="51054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We can specialize the DFS algorithm to find a path between two given vertices </a:t>
            </a:r>
            <a:r>
              <a:rPr lang="en-US" altLang="en-US" sz="2000" b="1" i="1">
                <a:solidFill>
                  <a:srgbClr val="0000FF"/>
                </a:solidFill>
                <a:latin typeface="Times New Roman" panose="02020603050405020304" pitchFamily="18" charset="0"/>
              </a:rPr>
              <a:t>u</a:t>
            </a:r>
            <a:r>
              <a:rPr lang="en-US" altLang="en-US" sz="2000">
                <a:solidFill>
                  <a:srgbClr val="0000FF"/>
                </a:solidFill>
              </a:rPr>
              <a:t> and </a:t>
            </a:r>
            <a:r>
              <a:rPr lang="en-US" altLang="en-US" sz="2000" b="1" i="1">
                <a:solidFill>
                  <a:srgbClr val="0000FF"/>
                </a:solidFill>
                <a:latin typeface="Times New Roman" panose="02020603050405020304" pitchFamily="18" charset="0"/>
              </a:rPr>
              <a:t>z</a:t>
            </a:r>
            <a:r>
              <a:rPr lang="en-US" altLang="en-US" sz="2000">
                <a:solidFill>
                  <a:srgbClr val="0000FF"/>
                </a:solidFill>
              </a:rPr>
              <a:t> </a:t>
            </a:r>
            <a:r>
              <a:rPr lang="en-US" altLang="en-US" sz="2000"/>
              <a:t>using the template method pattern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We call </a:t>
            </a:r>
            <a:r>
              <a:rPr lang="en-US" altLang="en-US" sz="2000" b="1" i="1">
                <a:latin typeface="Times New Roman" panose="02020603050405020304" pitchFamily="18" charset="0"/>
              </a:rPr>
              <a:t>DFS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G, </a:t>
            </a:r>
            <a:r>
              <a:rPr lang="en-US" altLang="en-US" sz="2000" b="1" i="1">
                <a:solidFill>
                  <a:srgbClr val="0000FF"/>
                </a:solidFill>
                <a:latin typeface="Times New Roman" panose="02020603050405020304" pitchFamily="18" charset="0"/>
              </a:rPr>
              <a:t>u</a:t>
            </a:r>
            <a:r>
              <a:rPr lang="en-US" altLang="en-US" sz="2000">
                <a:latin typeface="Times New Roman" panose="02020603050405020304" pitchFamily="18" charset="0"/>
              </a:rPr>
              <a:t>) </a:t>
            </a:r>
            <a:r>
              <a:rPr lang="en-US" altLang="en-US" sz="2000"/>
              <a:t>with </a:t>
            </a:r>
            <a:r>
              <a:rPr lang="en-US" altLang="en-US" sz="2000" b="1" i="1">
                <a:latin typeface="Times New Roman" panose="02020603050405020304" pitchFamily="18" charset="0"/>
              </a:rPr>
              <a:t>u</a:t>
            </a:r>
            <a:r>
              <a:rPr lang="en-US" altLang="en-US" sz="2000"/>
              <a:t> as the start vertex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We use a </a:t>
            </a:r>
            <a:r>
              <a:rPr lang="en-US" altLang="en-US" sz="2000">
                <a:solidFill>
                  <a:srgbClr val="FF0000"/>
                </a:solidFill>
              </a:rPr>
              <a:t>stack</a:t>
            </a:r>
            <a:r>
              <a:rPr lang="en-US" altLang="en-US" sz="2000"/>
              <a:t>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  <a:r>
              <a:rPr lang="en-US" altLang="en-US" sz="2000"/>
              <a:t> to keep track of the path between the start vertex and the current vertex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As soon as destination vertex </a:t>
            </a:r>
            <a:r>
              <a:rPr lang="en-US" altLang="en-US" sz="2000" b="1" i="1">
                <a:solidFill>
                  <a:srgbClr val="0000FF"/>
                </a:solidFill>
                <a:latin typeface="Times New Roman" panose="02020603050405020304" pitchFamily="18" charset="0"/>
              </a:rPr>
              <a:t>z</a:t>
            </a:r>
            <a:r>
              <a:rPr lang="en-US" altLang="en-US" sz="2000"/>
              <a:t> is encountered, we return the path as the contents of the stack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However, the path found may not be the shortest one</a:t>
            </a:r>
          </a:p>
        </p:txBody>
      </p:sp>
      <p:sp>
        <p:nvSpPr>
          <p:cNvPr id="24579" name="Text Box 5">
            <a:extLst>
              <a:ext uri="{FF2B5EF4-FFF2-40B4-BE49-F238E27FC236}">
                <a16:creationId xmlns:a16="http://schemas.microsoft.com/office/drawing/2014/main" id="{16A601CF-A0AA-9F30-74C4-9C04FE6DB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600200"/>
            <a:ext cx="4038600" cy="44402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pathDFS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G, v, z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setLabel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v, VISITED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S.push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8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if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=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z</a:t>
            </a:r>
          </a:p>
          <a:p>
            <a:pPr lvl="1" eaLnBrk="1" hangingPunct="1">
              <a:lnSpc>
                <a:spcPct val="8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return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S.elements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()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all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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G.incidentEdges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8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getLabel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=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UNEXPLORED</a:t>
            </a:r>
          </a:p>
          <a:p>
            <a:pPr lvl="1" eaLnBrk="1" hangingPunct="1">
              <a:lnSpc>
                <a:spcPct val="8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opposite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v, 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8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getLabel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=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UNEXPLORED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	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setLabel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e, DISCOVERY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8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S.push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pathDFS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G, w, z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8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S.pop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()			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{ </a:t>
            </a:r>
            <a:r>
              <a:rPr lang="en-US" altLang="en-US" sz="1800" b="1" i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 gets popped }</a:t>
            </a:r>
          </a:p>
          <a:p>
            <a:pPr lvl="1" eaLnBrk="1" hangingPunct="1">
              <a:lnSpc>
                <a:spcPct val="8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</a:p>
          <a:p>
            <a:pPr lvl="1" eaLnBrk="1" hangingPunct="1">
              <a:lnSpc>
                <a:spcPct val="8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	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setLabel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e, BACK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8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S.pop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() 					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{ </a:t>
            </a:r>
            <a:r>
              <a:rPr lang="en-US" altLang="en-US" sz="1800" b="1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 gets popped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80E28746-CD05-201A-FA3D-85610DD249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Breadth-First Search</a:t>
            </a:r>
          </a:p>
        </p:txBody>
      </p:sp>
      <p:sp>
        <p:nvSpPr>
          <p:cNvPr id="2560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59DFBBB-08A0-23F7-46B4-6F4C0D62D5A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209800" y="1600200"/>
            <a:ext cx="3810000" cy="4648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Breadth-first search (BFS) is a general technique for traversing a graph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A BFS traversal of a graph G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Visits all the vertices and edges of 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Determines whether G is connected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Computes the connected components of 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Computes a spanning forest of G</a:t>
            </a:r>
          </a:p>
        </p:txBody>
      </p:sp>
      <p:sp>
        <p:nvSpPr>
          <p:cNvPr id="25603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B35CFE6-669E-CE10-283D-6C98EBFCBA11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400800" y="1600200"/>
            <a:ext cx="3810000" cy="46482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400"/>
              <a:t>BFS on a graph with </a:t>
            </a:r>
            <a:r>
              <a:rPr lang="en-US" altLang="en-US" sz="2400" b="1" i="1">
                <a:latin typeface="Times New Roman" panose="02020603050405020304" pitchFamily="18" charset="0"/>
              </a:rPr>
              <a:t>n</a:t>
            </a:r>
            <a:r>
              <a:rPr lang="en-US" altLang="en-US" sz="2400"/>
              <a:t> vertices and </a:t>
            </a:r>
            <a:r>
              <a:rPr lang="en-US" altLang="en-US" sz="2400" b="1" i="1">
                <a:latin typeface="Times New Roman" panose="02020603050405020304" pitchFamily="18" charset="0"/>
              </a:rPr>
              <a:t>m</a:t>
            </a:r>
            <a:r>
              <a:rPr lang="en-US" altLang="en-US" sz="2400"/>
              <a:t> edges takes </a:t>
            </a:r>
            <a:r>
              <a:rPr lang="en-US" altLang="en-US" sz="2400" b="1" i="1">
                <a:latin typeface="Times New Roman" panose="02020603050405020304" pitchFamily="18" charset="0"/>
              </a:rPr>
              <a:t>O</a:t>
            </a:r>
            <a:r>
              <a:rPr lang="en-US" altLang="en-US" sz="2400">
                <a:latin typeface="Times New Roman" panose="02020603050405020304" pitchFamily="18" charset="0"/>
              </a:rPr>
              <a:t>(</a:t>
            </a:r>
            <a:r>
              <a:rPr lang="en-US" altLang="en-US" sz="2400" b="1" i="1">
                <a:latin typeface="Times New Roman" panose="02020603050405020304" pitchFamily="18" charset="0"/>
              </a:rPr>
              <a:t>n</a:t>
            </a:r>
            <a:r>
              <a:rPr lang="en-US" altLang="en-US" sz="2400">
                <a:latin typeface="Symbol" panose="05050102010706020507" pitchFamily="18" charset="2"/>
              </a:rPr>
              <a:t> + </a:t>
            </a:r>
            <a:r>
              <a:rPr lang="en-US" altLang="en-US" sz="2400" b="1" i="1">
                <a:latin typeface="Times New Roman" panose="02020603050405020304" pitchFamily="18" charset="0"/>
              </a:rPr>
              <a:t>m</a:t>
            </a:r>
            <a:r>
              <a:rPr lang="en-US" altLang="en-US" sz="2400">
                <a:latin typeface="Times New Roman" panose="02020603050405020304" pitchFamily="18" charset="0"/>
              </a:rPr>
              <a:t> )</a:t>
            </a:r>
            <a:r>
              <a:rPr lang="en-US" altLang="en-US" sz="2400"/>
              <a:t> time</a:t>
            </a:r>
          </a:p>
          <a:p>
            <a:pPr eaLnBrk="1" hangingPunct="1"/>
            <a:r>
              <a:rPr lang="en-US" altLang="en-US" sz="2400"/>
              <a:t>BFS can be further extended to solve other graph problems</a:t>
            </a:r>
          </a:p>
          <a:p>
            <a:pPr lvl="1" eaLnBrk="1" hangingPunct="1"/>
            <a:r>
              <a:rPr lang="en-US" altLang="en-US" sz="2000"/>
              <a:t>Find and report a path with the minimum number of edges between two given vertices </a:t>
            </a:r>
          </a:p>
          <a:p>
            <a:pPr lvl="1" eaLnBrk="1" hangingPunct="1"/>
            <a:r>
              <a:rPr lang="en-US" altLang="en-US" sz="2000"/>
              <a:t>Find a simple cycle, if there is 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D56D792C-ECD8-3B99-2D82-CFFCF9211D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BFS Algorithm</a:t>
            </a:r>
          </a:p>
        </p:txBody>
      </p:sp>
      <p:sp>
        <p:nvSpPr>
          <p:cNvPr id="2662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D54A579-81FF-F41C-3475-B116CE9320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52600" y="1447800"/>
            <a:ext cx="3962400" cy="114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1800"/>
              <a:t>The algorithm uses a mechanism for setting and getting “labels” of vertices and edges</a:t>
            </a:r>
          </a:p>
        </p:txBody>
      </p:sp>
      <p:sp>
        <p:nvSpPr>
          <p:cNvPr id="26627" name="Text Box 4">
            <a:extLst>
              <a:ext uri="{FF2B5EF4-FFF2-40B4-BE49-F238E27FC236}">
                <a16:creationId xmlns:a16="http://schemas.microsoft.com/office/drawing/2014/main" id="{02DAF892-A4E1-E9CB-BBAB-AB8BBF783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6450" y="1524000"/>
            <a:ext cx="4419600" cy="47879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BFS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G, s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L</a:t>
            </a:r>
            <a:r>
              <a:rPr lang="en-US" altLang="en-US" sz="18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new empty sequence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L</a:t>
            </a:r>
            <a:r>
              <a:rPr lang="en-US" altLang="en-US" sz="18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.insertLast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setLabel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s, </a:t>
            </a:r>
            <a:r>
              <a:rPr lang="en-US" altLang="en-US" sz="16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VISITED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while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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L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.isEmpty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L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1800" baseline="-2500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18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new empty sequence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for all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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L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.elements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() </a:t>
            </a:r>
            <a:b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all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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G.incidentEdges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getLabel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= </a:t>
            </a:r>
            <a:r>
              <a:rPr lang="en-US" altLang="en-US" sz="16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UNEXPLORED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opposite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v,e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	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if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getLabel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= </a:t>
            </a:r>
            <a:r>
              <a:rPr lang="en-US" altLang="en-US" sz="16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UNEXPLORED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	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setLabel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e, </a:t>
            </a:r>
            <a:r>
              <a:rPr lang="en-US" altLang="en-US" sz="16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DISCOVERY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	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setLabel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w, </a:t>
            </a:r>
            <a:r>
              <a:rPr lang="en-US" altLang="en-US" sz="16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VISITED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				L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1800" baseline="-2500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18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.insertLast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	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	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setLabel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e, </a:t>
            </a:r>
            <a:r>
              <a:rPr lang="en-US" altLang="en-US" sz="16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CROSS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180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6628" name="Text Box 5">
            <a:extLst>
              <a:ext uri="{FF2B5EF4-FFF2-40B4-BE49-F238E27FC236}">
                <a16:creationId xmlns:a16="http://schemas.microsoft.com/office/drawing/2014/main" id="{F200B46B-DBD6-93F8-8209-4496C0131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738438"/>
            <a:ext cx="3505200" cy="35734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defTabSz="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3429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3429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BFS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G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graph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labeling of the edges </a:t>
            </a:r>
            <a:b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and partition of the </a:t>
            </a:r>
            <a:b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vertices  of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 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all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u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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G.vertices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setLabel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u, </a:t>
            </a:r>
            <a:r>
              <a:rPr lang="en-US" altLang="en-US" sz="16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UNEXPLORED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all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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G.edges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setLabel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e, </a:t>
            </a:r>
            <a:r>
              <a:rPr lang="en-US" altLang="en-US" sz="16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UNEXPLORED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all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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G.vertices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  <a:endParaRPr lang="en-US" altLang="en-US" sz="1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if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getLabel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= </a:t>
            </a:r>
            <a:r>
              <a:rPr lang="en-US" altLang="en-US" sz="16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UNEXPLORED</a:t>
            </a:r>
            <a:endParaRPr lang="en-US" altLang="en-US" sz="1800" b="1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BFS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G, v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AutoShape 86">
            <a:extLst>
              <a:ext uri="{FF2B5EF4-FFF2-40B4-BE49-F238E27FC236}">
                <a16:creationId xmlns:a16="http://schemas.microsoft.com/office/drawing/2014/main" id="{806E178C-4A0C-EFA4-D9A6-0FDF29173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0" y="4935538"/>
            <a:ext cx="827088" cy="48895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12700">
            <a:solidFill>
              <a:schemeClr val="tx2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7650" name="AutoShape 81">
            <a:extLst>
              <a:ext uri="{FF2B5EF4-FFF2-40B4-BE49-F238E27FC236}">
                <a16:creationId xmlns:a16="http://schemas.microsoft.com/office/drawing/2014/main" id="{FA55BA01-C04D-B16D-A069-E71034D47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089" y="4203700"/>
            <a:ext cx="827087" cy="48895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12700">
            <a:solidFill>
              <a:schemeClr val="tx2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0465A702-7834-6974-2BA8-5526A21700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sp>
        <p:nvSpPr>
          <p:cNvPr id="27652" name="Oval 4">
            <a:extLst>
              <a:ext uri="{FF2B5EF4-FFF2-40B4-BE49-F238E27FC236}">
                <a16:creationId xmlns:a16="http://schemas.microsoft.com/office/drawing/2014/main" id="{EDA3C0C5-53EB-5587-FCC8-11871B9B15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78288" y="499745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27653" name="Oval 5">
            <a:extLst>
              <a:ext uri="{FF2B5EF4-FFF2-40B4-BE49-F238E27FC236}">
                <a16:creationId xmlns:a16="http://schemas.microsoft.com/office/drawing/2014/main" id="{5D607E0B-463C-4C10-F639-0C3ABC2BB9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57501" y="4997451"/>
            <a:ext cx="366713" cy="366713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27654" name="Oval 6">
            <a:extLst>
              <a:ext uri="{FF2B5EF4-FFF2-40B4-BE49-F238E27FC236}">
                <a16:creationId xmlns:a16="http://schemas.microsoft.com/office/drawing/2014/main" id="{89221034-467A-E396-6D6F-5B2513B4D2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86151" y="4265613"/>
            <a:ext cx="366713" cy="366712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27655" name="Oval 7">
            <a:extLst>
              <a:ext uri="{FF2B5EF4-FFF2-40B4-BE49-F238E27FC236}">
                <a16:creationId xmlns:a16="http://schemas.microsoft.com/office/drawing/2014/main" id="{E045BFD3-752A-6570-B2ED-99DBCF12EC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67101" y="57292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27656" name="AutoShape 8">
            <a:extLst>
              <a:ext uri="{FF2B5EF4-FFF2-40B4-BE49-F238E27FC236}">
                <a16:creationId xmlns:a16="http://schemas.microsoft.com/office/drawing/2014/main" id="{DD052610-5240-4945-A0D6-A6EE4CDE589A}"/>
              </a:ext>
            </a:extLst>
          </p:cNvPr>
          <p:cNvCxnSpPr>
            <a:cxnSpLocks noChangeAspect="1" noChangeShapeType="1"/>
            <a:stCxn id="27654" idx="3"/>
            <a:endCxn id="27653" idx="7"/>
          </p:cNvCxnSpPr>
          <p:nvPr/>
        </p:nvCxnSpPr>
        <p:spPr bwMode="auto">
          <a:xfrm flipH="1">
            <a:off x="3170238" y="4597400"/>
            <a:ext cx="368300" cy="433388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7" name="AutoShape 9">
            <a:extLst>
              <a:ext uri="{FF2B5EF4-FFF2-40B4-BE49-F238E27FC236}">
                <a16:creationId xmlns:a16="http://schemas.microsoft.com/office/drawing/2014/main" id="{1B14E815-1821-1544-0CBB-CBACD4DFDA38}"/>
              </a:ext>
            </a:extLst>
          </p:cNvPr>
          <p:cNvCxnSpPr>
            <a:cxnSpLocks noChangeAspect="1" noChangeShapeType="1"/>
            <a:stCxn id="27655" idx="1"/>
            <a:endCxn id="27653" idx="5"/>
          </p:cNvCxnSpPr>
          <p:nvPr/>
        </p:nvCxnSpPr>
        <p:spPr bwMode="auto">
          <a:xfrm flipH="1" flipV="1">
            <a:off x="3170238" y="5329238"/>
            <a:ext cx="349250" cy="4429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8" name="AutoShape 10">
            <a:extLst>
              <a:ext uri="{FF2B5EF4-FFF2-40B4-BE49-F238E27FC236}">
                <a16:creationId xmlns:a16="http://schemas.microsoft.com/office/drawing/2014/main" id="{5E39AFCB-742D-D48D-F229-05D4AFEBF7BE}"/>
              </a:ext>
            </a:extLst>
          </p:cNvPr>
          <p:cNvCxnSpPr>
            <a:cxnSpLocks noChangeAspect="1" noChangeShapeType="1"/>
            <a:stCxn id="27655" idx="7"/>
            <a:endCxn id="27652" idx="3"/>
          </p:cNvCxnSpPr>
          <p:nvPr/>
        </p:nvCxnSpPr>
        <p:spPr bwMode="auto">
          <a:xfrm flipV="1">
            <a:off x="3779839" y="5319714"/>
            <a:ext cx="350837" cy="4524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9" name="AutoShape 11">
            <a:extLst>
              <a:ext uri="{FF2B5EF4-FFF2-40B4-BE49-F238E27FC236}">
                <a16:creationId xmlns:a16="http://schemas.microsoft.com/office/drawing/2014/main" id="{367739F0-0CFE-EE9B-8EED-6E8B937B6C92}"/>
              </a:ext>
            </a:extLst>
          </p:cNvPr>
          <p:cNvCxnSpPr>
            <a:cxnSpLocks noChangeAspect="1" noChangeShapeType="1"/>
            <a:stCxn id="27654" idx="5"/>
            <a:endCxn id="27652" idx="1"/>
          </p:cNvCxnSpPr>
          <p:nvPr/>
        </p:nvCxnSpPr>
        <p:spPr bwMode="auto">
          <a:xfrm>
            <a:off x="3798889" y="4597401"/>
            <a:ext cx="331787" cy="442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0" name="AutoShape 12">
            <a:extLst>
              <a:ext uri="{FF2B5EF4-FFF2-40B4-BE49-F238E27FC236}">
                <a16:creationId xmlns:a16="http://schemas.microsoft.com/office/drawing/2014/main" id="{F4FBB348-7827-3B32-6020-8328420AC0B3}"/>
              </a:ext>
            </a:extLst>
          </p:cNvPr>
          <p:cNvCxnSpPr>
            <a:cxnSpLocks noChangeAspect="1" noChangeShapeType="1"/>
            <a:stCxn id="27653" idx="6"/>
            <a:endCxn id="27652" idx="2"/>
          </p:cNvCxnSpPr>
          <p:nvPr/>
        </p:nvCxnSpPr>
        <p:spPr bwMode="auto">
          <a:xfrm>
            <a:off x="3241675" y="5180013"/>
            <a:ext cx="8255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61" name="Oval 13">
            <a:extLst>
              <a:ext uri="{FF2B5EF4-FFF2-40B4-BE49-F238E27FC236}">
                <a16:creationId xmlns:a16="http://schemas.microsoft.com/office/drawing/2014/main" id="{C7C22339-726C-AFFB-CA26-B651AC2E6F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00663" y="499745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</a:t>
            </a:r>
          </a:p>
        </p:txBody>
      </p:sp>
      <p:cxnSp>
        <p:nvCxnSpPr>
          <p:cNvPr id="27662" name="AutoShape 15">
            <a:extLst>
              <a:ext uri="{FF2B5EF4-FFF2-40B4-BE49-F238E27FC236}">
                <a16:creationId xmlns:a16="http://schemas.microsoft.com/office/drawing/2014/main" id="{51E9964B-7A26-E233-6701-E6D17300D156}"/>
              </a:ext>
            </a:extLst>
          </p:cNvPr>
          <p:cNvCxnSpPr>
            <a:cxnSpLocks noChangeAspect="1" noChangeShapeType="1"/>
            <a:stCxn id="27677" idx="7"/>
            <a:endCxn id="27661" idx="3"/>
          </p:cNvCxnSpPr>
          <p:nvPr/>
        </p:nvCxnSpPr>
        <p:spPr bwMode="auto">
          <a:xfrm flipV="1">
            <a:off x="5002214" y="5319714"/>
            <a:ext cx="350837" cy="4524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3" name="AutoShape 16">
            <a:extLst>
              <a:ext uri="{FF2B5EF4-FFF2-40B4-BE49-F238E27FC236}">
                <a16:creationId xmlns:a16="http://schemas.microsoft.com/office/drawing/2014/main" id="{00C2E9AA-5B01-BFD5-CDDD-D8CAC7906FEB}"/>
              </a:ext>
            </a:extLst>
          </p:cNvPr>
          <p:cNvCxnSpPr>
            <a:cxnSpLocks noChangeAspect="1" noChangeShapeType="1"/>
            <a:stCxn id="27661" idx="1"/>
            <a:endCxn id="27654" idx="6"/>
          </p:cNvCxnSpPr>
          <p:nvPr/>
        </p:nvCxnSpPr>
        <p:spPr bwMode="auto">
          <a:xfrm flipH="1" flipV="1">
            <a:off x="3870326" y="4448175"/>
            <a:ext cx="1482725" cy="5921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64" name="Text Box 58">
            <a:extLst>
              <a:ext uri="{FF2B5EF4-FFF2-40B4-BE49-F238E27FC236}">
                <a16:creationId xmlns:a16="http://schemas.microsoft.com/office/drawing/2014/main" id="{B9DB2549-9A90-2D2B-43FE-782BC7E0F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4908" y="2925763"/>
            <a:ext cx="173637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discovery edge</a:t>
            </a:r>
          </a:p>
        </p:txBody>
      </p:sp>
      <p:sp>
        <p:nvSpPr>
          <p:cNvPr id="27665" name="Text Box 60">
            <a:extLst>
              <a:ext uri="{FF2B5EF4-FFF2-40B4-BE49-F238E27FC236}">
                <a16:creationId xmlns:a16="http://schemas.microsoft.com/office/drawing/2014/main" id="{94D3E30E-719C-3AB3-05F3-5BD9314C0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9810" y="3352800"/>
            <a:ext cx="13131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cross edge</a:t>
            </a:r>
          </a:p>
        </p:txBody>
      </p:sp>
      <p:sp>
        <p:nvSpPr>
          <p:cNvPr id="27666" name="Oval 61">
            <a:extLst>
              <a:ext uri="{FF2B5EF4-FFF2-40B4-BE49-F238E27FC236}">
                <a16:creationId xmlns:a16="http://schemas.microsoft.com/office/drawing/2014/main" id="{DAC2E885-6113-DE79-1A23-ADBBB6234D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25713" y="2117726"/>
            <a:ext cx="366712" cy="366713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27667" name="Text Box 62">
            <a:extLst>
              <a:ext uri="{FF2B5EF4-FFF2-40B4-BE49-F238E27FC236}">
                <a16:creationId xmlns:a16="http://schemas.microsoft.com/office/drawing/2014/main" id="{844EE457-C17C-8857-A5BD-2DAA78249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7962" y="2071688"/>
            <a:ext cx="15311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visited vertex</a:t>
            </a:r>
          </a:p>
        </p:txBody>
      </p:sp>
      <p:sp>
        <p:nvSpPr>
          <p:cNvPr id="27668" name="Oval 63">
            <a:extLst>
              <a:ext uri="{FF2B5EF4-FFF2-40B4-BE49-F238E27FC236}">
                <a16:creationId xmlns:a16="http://schemas.microsoft.com/office/drawing/2014/main" id="{E9F01A54-4187-AD61-79CC-1B802CB7A0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25713" y="168910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27669" name="Text Box 64">
            <a:extLst>
              <a:ext uri="{FF2B5EF4-FFF2-40B4-BE49-F238E27FC236}">
                <a16:creationId xmlns:a16="http://schemas.microsoft.com/office/drawing/2014/main" id="{F3FB243D-5A26-5CFC-143B-E46298908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1013" y="1644650"/>
            <a:ext cx="201850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unexplored vertex</a:t>
            </a:r>
          </a:p>
        </p:txBody>
      </p:sp>
      <p:sp>
        <p:nvSpPr>
          <p:cNvPr id="27670" name="Text Box 65">
            <a:extLst>
              <a:ext uri="{FF2B5EF4-FFF2-40B4-BE49-F238E27FC236}">
                <a16:creationId xmlns:a16="http://schemas.microsoft.com/office/drawing/2014/main" id="{167E1C73-3E23-6E53-8188-2CAC0B089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9821" y="2498725"/>
            <a:ext cx="190308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unexplored edge</a:t>
            </a:r>
          </a:p>
        </p:txBody>
      </p:sp>
      <p:grpSp>
        <p:nvGrpSpPr>
          <p:cNvPr id="27671" name="Group 73">
            <a:extLst>
              <a:ext uri="{FF2B5EF4-FFF2-40B4-BE49-F238E27FC236}">
                <a16:creationId xmlns:a16="http://schemas.microsoft.com/office/drawing/2014/main" id="{0E1363CA-74AC-B1D4-9AF9-DFD383A19128}"/>
              </a:ext>
            </a:extLst>
          </p:cNvPr>
          <p:cNvGrpSpPr>
            <a:grpSpLocks/>
          </p:cNvGrpSpPr>
          <p:nvPr/>
        </p:nvGrpSpPr>
        <p:grpSpPr bwMode="auto">
          <a:xfrm>
            <a:off x="2270125" y="2728914"/>
            <a:ext cx="877888" cy="852487"/>
            <a:chOff x="432" y="1691"/>
            <a:chExt cx="937" cy="537"/>
          </a:xfrm>
        </p:grpSpPr>
        <p:sp>
          <p:nvSpPr>
            <p:cNvPr id="27718" name="Line 57">
              <a:extLst>
                <a:ext uri="{FF2B5EF4-FFF2-40B4-BE49-F238E27FC236}">
                  <a16:creationId xmlns:a16="http://schemas.microsoft.com/office/drawing/2014/main" id="{C7CD5FE7-C38E-91A1-9FDF-1706165CAC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1959"/>
              <a:ext cx="937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19" name="Line 59">
              <a:extLst>
                <a:ext uri="{FF2B5EF4-FFF2-40B4-BE49-F238E27FC236}">
                  <a16:creationId xmlns:a16="http://schemas.microsoft.com/office/drawing/2014/main" id="{B372821F-0B51-8FD3-8469-2ADECEFE59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2228"/>
              <a:ext cx="93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20" name="Line 67">
              <a:extLst>
                <a:ext uri="{FF2B5EF4-FFF2-40B4-BE49-F238E27FC236}">
                  <a16:creationId xmlns:a16="http://schemas.microsoft.com/office/drawing/2014/main" id="{73D51724-2308-EDF9-0C38-F753A7DE70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1691"/>
              <a:ext cx="9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672" name="AutoShape 75">
            <a:extLst>
              <a:ext uri="{FF2B5EF4-FFF2-40B4-BE49-F238E27FC236}">
                <a16:creationId xmlns:a16="http://schemas.microsoft.com/office/drawing/2014/main" id="{04A59861-0D91-9FEF-2096-956D452E58C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283576" y="3643313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7673" name="AutoShape 76">
            <a:extLst>
              <a:ext uri="{FF2B5EF4-FFF2-40B4-BE49-F238E27FC236}">
                <a16:creationId xmlns:a16="http://schemas.microsoft.com/office/drawing/2014/main" id="{E902C68A-D3D2-13CA-CBC2-475EDF450412}"/>
              </a:ext>
            </a:extLst>
          </p:cNvPr>
          <p:cNvSpPr>
            <a:spLocks noChangeArrowheads="1"/>
          </p:cNvSpPr>
          <p:nvPr/>
        </p:nvSpPr>
        <p:spPr bwMode="auto">
          <a:xfrm rot="8100000" flipH="1" flipV="1">
            <a:off x="5729288" y="3629026"/>
            <a:ext cx="1243012" cy="333375"/>
          </a:xfrm>
          <a:prstGeom prst="rightArrow">
            <a:avLst>
              <a:gd name="adj1" fmla="val 50000"/>
              <a:gd name="adj2" fmla="val 93214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7674" name="Text Box 78">
            <a:extLst>
              <a:ext uri="{FF2B5EF4-FFF2-40B4-BE49-F238E27FC236}">
                <a16:creationId xmlns:a16="http://schemas.microsoft.com/office/drawing/2014/main" id="{70F9FC81-B3B9-719E-2CDB-3BC25BA90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1" y="4022726"/>
            <a:ext cx="466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L</a:t>
            </a:r>
            <a:r>
              <a:rPr lang="en-US" altLang="en-US" sz="20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7675" name="Text Box 82">
            <a:extLst>
              <a:ext uri="{FF2B5EF4-FFF2-40B4-BE49-F238E27FC236}">
                <a16:creationId xmlns:a16="http://schemas.microsoft.com/office/drawing/2014/main" id="{4CDB733E-52BC-B94C-CEF8-06D472DFC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1" y="4746626"/>
            <a:ext cx="466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L</a:t>
            </a:r>
            <a:r>
              <a:rPr lang="en-US" altLang="en-US" sz="20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cxnSp>
        <p:nvCxnSpPr>
          <p:cNvPr id="27676" name="AutoShape 83">
            <a:extLst>
              <a:ext uri="{FF2B5EF4-FFF2-40B4-BE49-F238E27FC236}">
                <a16:creationId xmlns:a16="http://schemas.microsoft.com/office/drawing/2014/main" id="{8C2E36C2-CB5D-23B9-1979-85CDEA4C30E6}"/>
              </a:ext>
            </a:extLst>
          </p:cNvPr>
          <p:cNvCxnSpPr>
            <a:cxnSpLocks noChangeAspect="1" noChangeShapeType="1"/>
            <a:stCxn id="27652" idx="6"/>
            <a:endCxn id="27661" idx="2"/>
          </p:cNvCxnSpPr>
          <p:nvPr/>
        </p:nvCxnSpPr>
        <p:spPr bwMode="auto">
          <a:xfrm>
            <a:off x="4452938" y="5180013"/>
            <a:ext cx="8366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77" name="Oval 84">
            <a:extLst>
              <a:ext uri="{FF2B5EF4-FFF2-40B4-BE49-F238E27FC236}">
                <a16:creationId xmlns:a16="http://schemas.microsoft.com/office/drawing/2014/main" id="{67DA1241-E4F1-A324-60B0-F39A1E586B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89476" y="57292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F</a:t>
            </a:r>
          </a:p>
        </p:txBody>
      </p:sp>
      <p:cxnSp>
        <p:nvCxnSpPr>
          <p:cNvPr id="27678" name="AutoShape 85">
            <a:extLst>
              <a:ext uri="{FF2B5EF4-FFF2-40B4-BE49-F238E27FC236}">
                <a16:creationId xmlns:a16="http://schemas.microsoft.com/office/drawing/2014/main" id="{07F947AD-121E-EEB9-9898-054129349F30}"/>
              </a:ext>
            </a:extLst>
          </p:cNvPr>
          <p:cNvCxnSpPr>
            <a:cxnSpLocks noChangeAspect="1" noChangeShapeType="1"/>
            <a:stCxn id="27652" idx="5"/>
            <a:endCxn id="27677" idx="1"/>
          </p:cNvCxnSpPr>
          <p:nvPr/>
        </p:nvCxnSpPr>
        <p:spPr bwMode="auto">
          <a:xfrm>
            <a:off x="4391025" y="5319714"/>
            <a:ext cx="350838" cy="4524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7679" name="Group 106">
            <a:extLst>
              <a:ext uri="{FF2B5EF4-FFF2-40B4-BE49-F238E27FC236}">
                <a16:creationId xmlns:a16="http://schemas.microsoft.com/office/drawing/2014/main" id="{2E60CA57-0905-B70F-E523-36D7BF9ECDD8}"/>
              </a:ext>
            </a:extLst>
          </p:cNvPr>
          <p:cNvGrpSpPr>
            <a:grpSpLocks/>
          </p:cNvGrpSpPr>
          <p:nvPr/>
        </p:nvGrpSpPr>
        <p:grpSpPr bwMode="auto">
          <a:xfrm>
            <a:off x="6715126" y="1289051"/>
            <a:ext cx="3533775" cy="2073275"/>
            <a:chOff x="3264" y="812"/>
            <a:chExt cx="2226" cy="1306"/>
          </a:xfrm>
        </p:grpSpPr>
        <p:sp>
          <p:nvSpPr>
            <p:cNvPr id="27699" name="AutoShape 87">
              <a:extLst>
                <a:ext uri="{FF2B5EF4-FFF2-40B4-BE49-F238E27FC236}">
                  <a16:creationId xmlns:a16="http://schemas.microsoft.com/office/drawing/2014/main" id="{B116496F-0DB0-E958-75E7-CF957C2CE6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0" y="1387"/>
              <a:ext cx="1294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7700" name="AutoShape 88">
              <a:extLst>
                <a:ext uri="{FF2B5EF4-FFF2-40B4-BE49-F238E27FC236}">
                  <a16:creationId xmlns:a16="http://schemas.microsoft.com/office/drawing/2014/main" id="{6D41DF01-A18D-BD9E-6561-880E0FB732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1" y="926"/>
              <a:ext cx="521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7701" name="Oval 89">
              <a:extLst>
                <a:ext uri="{FF2B5EF4-FFF2-40B4-BE49-F238E27FC236}">
                  <a16:creationId xmlns:a16="http://schemas.microsoft.com/office/drawing/2014/main" id="{0DFFF577-B88F-8B95-BB36-B4F39B37118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89" y="1426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27702" name="Oval 90">
              <a:extLst>
                <a:ext uri="{FF2B5EF4-FFF2-40B4-BE49-F238E27FC236}">
                  <a16:creationId xmlns:a16="http://schemas.microsoft.com/office/drawing/2014/main" id="{D92F26DC-0DF0-FD31-BA3D-B9331D4C7BA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20" y="1426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27703" name="Oval 91">
              <a:extLst>
                <a:ext uri="{FF2B5EF4-FFF2-40B4-BE49-F238E27FC236}">
                  <a16:creationId xmlns:a16="http://schemas.microsoft.com/office/drawing/2014/main" id="{736F32BE-2C13-8F66-408A-C730B8953B3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16" y="965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27704" name="Oval 92">
              <a:extLst>
                <a:ext uri="{FF2B5EF4-FFF2-40B4-BE49-F238E27FC236}">
                  <a16:creationId xmlns:a16="http://schemas.microsoft.com/office/drawing/2014/main" id="{2BB68897-E423-3E3B-2EC0-D31A233D23A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04" y="1887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27705" name="AutoShape 93">
              <a:extLst>
                <a:ext uri="{FF2B5EF4-FFF2-40B4-BE49-F238E27FC236}">
                  <a16:creationId xmlns:a16="http://schemas.microsoft.com/office/drawing/2014/main" id="{5A5EE92F-44F9-973C-A668-71DF8179C117}"/>
                </a:ext>
              </a:extLst>
            </p:cNvPr>
            <p:cNvCxnSpPr>
              <a:cxnSpLocks noChangeAspect="1" noChangeShapeType="1"/>
              <a:stCxn id="27703" idx="3"/>
              <a:endCxn id="27702" idx="7"/>
            </p:cNvCxnSpPr>
            <p:nvPr/>
          </p:nvCxnSpPr>
          <p:spPr bwMode="auto">
            <a:xfrm flipH="1">
              <a:off x="3917" y="1174"/>
              <a:ext cx="232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06" name="AutoShape 94">
              <a:extLst>
                <a:ext uri="{FF2B5EF4-FFF2-40B4-BE49-F238E27FC236}">
                  <a16:creationId xmlns:a16="http://schemas.microsoft.com/office/drawing/2014/main" id="{71E5D7F3-0917-6262-9A04-8C3E27F57EC1}"/>
                </a:ext>
              </a:extLst>
            </p:cNvPr>
            <p:cNvCxnSpPr>
              <a:cxnSpLocks noChangeAspect="1" noChangeShapeType="1"/>
              <a:stCxn id="27704" idx="1"/>
              <a:endCxn id="27702" idx="5"/>
            </p:cNvCxnSpPr>
            <p:nvPr/>
          </p:nvCxnSpPr>
          <p:spPr bwMode="auto">
            <a:xfrm flipH="1" flipV="1">
              <a:off x="3917" y="1635"/>
              <a:ext cx="220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07" name="AutoShape 95">
              <a:extLst>
                <a:ext uri="{FF2B5EF4-FFF2-40B4-BE49-F238E27FC236}">
                  <a16:creationId xmlns:a16="http://schemas.microsoft.com/office/drawing/2014/main" id="{6BE012DC-3381-7EEE-EF2F-FE50F7E6EC42}"/>
                </a:ext>
              </a:extLst>
            </p:cNvPr>
            <p:cNvCxnSpPr>
              <a:cxnSpLocks noChangeAspect="1" noChangeShapeType="1"/>
              <a:stCxn id="27704" idx="7"/>
              <a:endCxn id="27701" idx="3"/>
            </p:cNvCxnSpPr>
            <p:nvPr/>
          </p:nvCxnSpPr>
          <p:spPr bwMode="auto">
            <a:xfrm flipV="1">
              <a:off x="4301" y="1635"/>
              <a:ext cx="221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08" name="AutoShape 96">
              <a:extLst>
                <a:ext uri="{FF2B5EF4-FFF2-40B4-BE49-F238E27FC236}">
                  <a16:creationId xmlns:a16="http://schemas.microsoft.com/office/drawing/2014/main" id="{C0C6EAD2-5C04-A7FD-03FC-B7BEC4412F75}"/>
                </a:ext>
              </a:extLst>
            </p:cNvPr>
            <p:cNvCxnSpPr>
              <a:cxnSpLocks noChangeAspect="1" noChangeShapeType="1"/>
              <a:stCxn id="27703" idx="5"/>
              <a:endCxn id="27701" idx="1"/>
            </p:cNvCxnSpPr>
            <p:nvPr/>
          </p:nvCxnSpPr>
          <p:spPr bwMode="auto">
            <a:xfrm>
              <a:off x="4313" y="1174"/>
              <a:ext cx="209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09" name="AutoShape 97">
              <a:extLst>
                <a:ext uri="{FF2B5EF4-FFF2-40B4-BE49-F238E27FC236}">
                  <a16:creationId xmlns:a16="http://schemas.microsoft.com/office/drawing/2014/main" id="{318E7B97-1708-C72A-8999-393A381E63C8}"/>
                </a:ext>
              </a:extLst>
            </p:cNvPr>
            <p:cNvCxnSpPr>
              <a:cxnSpLocks noChangeAspect="1" noChangeShapeType="1"/>
              <a:stCxn id="27702" idx="6"/>
              <a:endCxn id="27701" idx="2"/>
            </p:cNvCxnSpPr>
            <p:nvPr/>
          </p:nvCxnSpPr>
          <p:spPr bwMode="auto">
            <a:xfrm>
              <a:off x="3962" y="1541"/>
              <a:ext cx="514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710" name="Oval 98">
              <a:extLst>
                <a:ext uri="{FF2B5EF4-FFF2-40B4-BE49-F238E27FC236}">
                  <a16:creationId xmlns:a16="http://schemas.microsoft.com/office/drawing/2014/main" id="{AC468608-25F0-7E21-B73A-2FA095FD1B3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59" y="1426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cxnSp>
          <p:nvCxnSpPr>
            <p:cNvPr id="27711" name="AutoShape 99">
              <a:extLst>
                <a:ext uri="{FF2B5EF4-FFF2-40B4-BE49-F238E27FC236}">
                  <a16:creationId xmlns:a16="http://schemas.microsoft.com/office/drawing/2014/main" id="{76CF3276-EF5C-5331-E7CF-D00EC6154567}"/>
                </a:ext>
              </a:extLst>
            </p:cNvPr>
            <p:cNvCxnSpPr>
              <a:cxnSpLocks noChangeAspect="1" noChangeShapeType="1"/>
              <a:stCxn id="27716" idx="7"/>
              <a:endCxn id="27710" idx="3"/>
            </p:cNvCxnSpPr>
            <p:nvPr/>
          </p:nvCxnSpPr>
          <p:spPr bwMode="auto">
            <a:xfrm flipV="1">
              <a:off x="5071" y="1629"/>
              <a:ext cx="221" cy="28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12" name="AutoShape 100">
              <a:extLst>
                <a:ext uri="{FF2B5EF4-FFF2-40B4-BE49-F238E27FC236}">
                  <a16:creationId xmlns:a16="http://schemas.microsoft.com/office/drawing/2014/main" id="{50B92720-4B74-12C4-07F4-1F357C5F5162}"/>
                </a:ext>
              </a:extLst>
            </p:cNvPr>
            <p:cNvCxnSpPr>
              <a:cxnSpLocks noChangeAspect="1" noChangeShapeType="1"/>
              <a:stCxn id="27710" idx="1"/>
              <a:endCxn id="27703" idx="6"/>
            </p:cNvCxnSpPr>
            <p:nvPr/>
          </p:nvCxnSpPr>
          <p:spPr bwMode="auto">
            <a:xfrm flipH="1" flipV="1">
              <a:off x="4358" y="1080"/>
              <a:ext cx="934" cy="3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713" name="Text Box 101">
              <a:extLst>
                <a:ext uri="{FF2B5EF4-FFF2-40B4-BE49-F238E27FC236}">
                  <a16:creationId xmlns:a16="http://schemas.microsoft.com/office/drawing/2014/main" id="{474ADB93-3FB7-4C98-5C08-DE70F5358F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812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7714" name="Text Box 102">
              <a:extLst>
                <a:ext uri="{FF2B5EF4-FFF2-40B4-BE49-F238E27FC236}">
                  <a16:creationId xmlns:a16="http://schemas.microsoft.com/office/drawing/2014/main" id="{3D405B87-F619-E3DF-0CA8-E3FF495F8A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268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27715" name="AutoShape 103">
              <a:extLst>
                <a:ext uri="{FF2B5EF4-FFF2-40B4-BE49-F238E27FC236}">
                  <a16:creationId xmlns:a16="http://schemas.microsoft.com/office/drawing/2014/main" id="{7D3D6092-3947-EDC6-A3B9-C308B10C8A56}"/>
                </a:ext>
              </a:extLst>
            </p:cNvPr>
            <p:cNvCxnSpPr>
              <a:cxnSpLocks noChangeAspect="1" noChangeShapeType="1"/>
              <a:stCxn id="27701" idx="6"/>
              <a:endCxn id="27710" idx="2"/>
            </p:cNvCxnSpPr>
            <p:nvPr/>
          </p:nvCxnSpPr>
          <p:spPr bwMode="auto">
            <a:xfrm>
              <a:off x="4731" y="1541"/>
              <a:ext cx="521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716" name="Oval 104">
              <a:extLst>
                <a:ext uri="{FF2B5EF4-FFF2-40B4-BE49-F238E27FC236}">
                  <a16:creationId xmlns:a16="http://schemas.microsoft.com/office/drawing/2014/main" id="{3D404C13-92C6-8FDF-A558-B5A5A6A78CF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74" y="1887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F</a:t>
              </a:r>
            </a:p>
          </p:txBody>
        </p:sp>
        <p:cxnSp>
          <p:nvCxnSpPr>
            <p:cNvPr id="27717" name="AutoShape 105">
              <a:extLst>
                <a:ext uri="{FF2B5EF4-FFF2-40B4-BE49-F238E27FC236}">
                  <a16:creationId xmlns:a16="http://schemas.microsoft.com/office/drawing/2014/main" id="{6B699BC2-1F83-BF33-0D93-23BE88D21F3A}"/>
                </a:ext>
              </a:extLst>
            </p:cNvPr>
            <p:cNvCxnSpPr>
              <a:cxnSpLocks noChangeAspect="1" noChangeShapeType="1"/>
              <a:stCxn id="27701" idx="5"/>
              <a:endCxn id="27716" idx="1"/>
            </p:cNvCxnSpPr>
            <p:nvPr/>
          </p:nvCxnSpPr>
          <p:spPr bwMode="auto">
            <a:xfrm>
              <a:off x="4686" y="1635"/>
              <a:ext cx="221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7680" name="AutoShape 108">
            <a:extLst>
              <a:ext uri="{FF2B5EF4-FFF2-40B4-BE49-F238E27FC236}">
                <a16:creationId xmlns:a16="http://schemas.microsoft.com/office/drawing/2014/main" id="{B36C5C7A-4955-7F65-AAE1-D9C45FEA0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5188" y="4935538"/>
            <a:ext cx="3148012" cy="48895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12700">
            <a:solidFill>
              <a:schemeClr val="tx2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7681" name="AutoShape 109">
            <a:extLst>
              <a:ext uri="{FF2B5EF4-FFF2-40B4-BE49-F238E27FC236}">
                <a16:creationId xmlns:a16="http://schemas.microsoft.com/office/drawing/2014/main" id="{D286AFF4-1550-3B5C-CD7B-69428ECAD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0025" y="4203700"/>
            <a:ext cx="827088" cy="48895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12700">
            <a:solidFill>
              <a:schemeClr val="tx2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7682" name="Oval 110">
            <a:extLst>
              <a:ext uri="{FF2B5EF4-FFF2-40B4-BE49-F238E27FC236}">
                <a16:creationId xmlns:a16="http://schemas.microsoft.com/office/drawing/2014/main" id="{CC1AD5AC-1D74-03EC-3C22-475095D7BB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58226" y="4997451"/>
            <a:ext cx="366713" cy="366713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27683" name="Oval 111">
            <a:extLst>
              <a:ext uri="{FF2B5EF4-FFF2-40B4-BE49-F238E27FC236}">
                <a16:creationId xmlns:a16="http://schemas.microsoft.com/office/drawing/2014/main" id="{12BD3044-D695-8FEA-A4AD-51AB5C7B88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37438" y="4997451"/>
            <a:ext cx="366712" cy="366713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27684" name="Oval 112">
            <a:extLst>
              <a:ext uri="{FF2B5EF4-FFF2-40B4-BE49-F238E27FC236}">
                <a16:creationId xmlns:a16="http://schemas.microsoft.com/office/drawing/2014/main" id="{875F0C3D-0190-D80E-4DCF-B912989CB1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66088" y="4265613"/>
            <a:ext cx="366712" cy="366712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27685" name="Oval 113">
            <a:extLst>
              <a:ext uri="{FF2B5EF4-FFF2-40B4-BE49-F238E27FC236}">
                <a16:creationId xmlns:a16="http://schemas.microsoft.com/office/drawing/2014/main" id="{7C97D6B4-ECA8-3F9F-F7CA-F0399299E9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47038" y="5729288"/>
            <a:ext cx="366712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27686" name="AutoShape 114">
            <a:extLst>
              <a:ext uri="{FF2B5EF4-FFF2-40B4-BE49-F238E27FC236}">
                <a16:creationId xmlns:a16="http://schemas.microsoft.com/office/drawing/2014/main" id="{A9142673-DF0F-E86A-F48E-65DB661A12D1}"/>
              </a:ext>
            </a:extLst>
          </p:cNvPr>
          <p:cNvCxnSpPr>
            <a:cxnSpLocks noChangeAspect="1" noChangeShapeType="1"/>
            <a:stCxn id="27684" idx="3"/>
            <a:endCxn id="27683" idx="7"/>
          </p:cNvCxnSpPr>
          <p:nvPr/>
        </p:nvCxnSpPr>
        <p:spPr bwMode="auto">
          <a:xfrm flipH="1">
            <a:off x="7750175" y="4597400"/>
            <a:ext cx="368300" cy="433388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87" name="AutoShape 115">
            <a:extLst>
              <a:ext uri="{FF2B5EF4-FFF2-40B4-BE49-F238E27FC236}">
                <a16:creationId xmlns:a16="http://schemas.microsoft.com/office/drawing/2014/main" id="{30EC05B4-2A09-DE16-5C30-432F1A3BF9D4}"/>
              </a:ext>
            </a:extLst>
          </p:cNvPr>
          <p:cNvCxnSpPr>
            <a:cxnSpLocks noChangeAspect="1" noChangeShapeType="1"/>
            <a:stCxn id="27685" idx="1"/>
            <a:endCxn id="27683" idx="5"/>
          </p:cNvCxnSpPr>
          <p:nvPr/>
        </p:nvCxnSpPr>
        <p:spPr bwMode="auto">
          <a:xfrm flipH="1" flipV="1">
            <a:off x="7750175" y="5329238"/>
            <a:ext cx="349250" cy="4429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88" name="AutoShape 116">
            <a:extLst>
              <a:ext uri="{FF2B5EF4-FFF2-40B4-BE49-F238E27FC236}">
                <a16:creationId xmlns:a16="http://schemas.microsoft.com/office/drawing/2014/main" id="{291EA8A1-E28F-081A-9BD2-929E3BC76148}"/>
              </a:ext>
            </a:extLst>
          </p:cNvPr>
          <p:cNvCxnSpPr>
            <a:cxnSpLocks noChangeAspect="1" noChangeShapeType="1"/>
            <a:stCxn id="27685" idx="7"/>
            <a:endCxn id="27682" idx="3"/>
          </p:cNvCxnSpPr>
          <p:nvPr/>
        </p:nvCxnSpPr>
        <p:spPr bwMode="auto">
          <a:xfrm flipV="1">
            <a:off x="8359775" y="5329238"/>
            <a:ext cx="350838" cy="4429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89" name="AutoShape 117">
            <a:extLst>
              <a:ext uri="{FF2B5EF4-FFF2-40B4-BE49-F238E27FC236}">
                <a16:creationId xmlns:a16="http://schemas.microsoft.com/office/drawing/2014/main" id="{C3318877-8471-173B-FED4-4ADB59874832}"/>
              </a:ext>
            </a:extLst>
          </p:cNvPr>
          <p:cNvCxnSpPr>
            <a:cxnSpLocks noChangeAspect="1" noChangeShapeType="1"/>
            <a:stCxn id="27684" idx="5"/>
            <a:endCxn id="27682" idx="1"/>
          </p:cNvCxnSpPr>
          <p:nvPr/>
        </p:nvCxnSpPr>
        <p:spPr bwMode="auto">
          <a:xfrm>
            <a:off x="8378825" y="4597400"/>
            <a:ext cx="331788" cy="433388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90" name="AutoShape 118">
            <a:extLst>
              <a:ext uri="{FF2B5EF4-FFF2-40B4-BE49-F238E27FC236}">
                <a16:creationId xmlns:a16="http://schemas.microsoft.com/office/drawing/2014/main" id="{30155B94-A20A-A075-E011-A74B1ED16886}"/>
              </a:ext>
            </a:extLst>
          </p:cNvPr>
          <p:cNvCxnSpPr>
            <a:cxnSpLocks noChangeAspect="1" noChangeShapeType="1"/>
            <a:stCxn id="27683" idx="6"/>
            <a:endCxn id="27682" idx="2"/>
          </p:cNvCxnSpPr>
          <p:nvPr/>
        </p:nvCxnSpPr>
        <p:spPr bwMode="auto">
          <a:xfrm>
            <a:off x="7821614" y="5180013"/>
            <a:ext cx="8159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91" name="Oval 119">
            <a:extLst>
              <a:ext uri="{FF2B5EF4-FFF2-40B4-BE49-F238E27FC236}">
                <a16:creationId xmlns:a16="http://schemas.microsoft.com/office/drawing/2014/main" id="{C3496049-DB51-F889-C9E7-6DA9E50C62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880601" y="4997451"/>
            <a:ext cx="366713" cy="366713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</a:t>
            </a:r>
          </a:p>
        </p:txBody>
      </p:sp>
      <p:cxnSp>
        <p:nvCxnSpPr>
          <p:cNvPr id="27692" name="AutoShape 120">
            <a:extLst>
              <a:ext uri="{FF2B5EF4-FFF2-40B4-BE49-F238E27FC236}">
                <a16:creationId xmlns:a16="http://schemas.microsoft.com/office/drawing/2014/main" id="{1DF5C04D-354F-EE41-BFAB-0DEFA517141B}"/>
              </a:ext>
            </a:extLst>
          </p:cNvPr>
          <p:cNvCxnSpPr>
            <a:cxnSpLocks noChangeAspect="1" noChangeShapeType="1"/>
            <a:stCxn id="27697" idx="7"/>
            <a:endCxn id="27691" idx="3"/>
          </p:cNvCxnSpPr>
          <p:nvPr/>
        </p:nvCxnSpPr>
        <p:spPr bwMode="auto">
          <a:xfrm flipV="1">
            <a:off x="9582150" y="5329238"/>
            <a:ext cx="350838" cy="4429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93" name="AutoShape 121">
            <a:extLst>
              <a:ext uri="{FF2B5EF4-FFF2-40B4-BE49-F238E27FC236}">
                <a16:creationId xmlns:a16="http://schemas.microsoft.com/office/drawing/2014/main" id="{57587991-E7E3-FEE9-76EF-1BD2CBC46C10}"/>
              </a:ext>
            </a:extLst>
          </p:cNvPr>
          <p:cNvCxnSpPr>
            <a:cxnSpLocks noChangeAspect="1" noChangeShapeType="1"/>
            <a:stCxn id="27691" idx="1"/>
            <a:endCxn id="27684" idx="6"/>
          </p:cNvCxnSpPr>
          <p:nvPr/>
        </p:nvCxnSpPr>
        <p:spPr bwMode="auto">
          <a:xfrm flipH="1" flipV="1">
            <a:off x="8450264" y="4448176"/>
            <a:ext cx="1482725" cy="582613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94" name="Text Box 122">
            <a:extLst>
              <a:ext uri="{FF2B5EF4-FFF2-40B4-BE49-F238E27FC236}">
                <a16:creationId xmlns:a16="http://schemas.microsoft.com/office/drawing/2014/main" id="{E0F3C463-218F-281B-1ED6-13AEF66C5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3139" y="4022726"/>
            <a:ext cx="466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L</a:t>
            </a:r>
            <a:r>
              <a:rPr lang="en-US" altLang="en-US" sz="20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7695" name="Text Box 123">
            <a:extLst>
              <a:ext uri="{FF2B5EF4-FFF2-40B4-BE49-F238E27FC236}">
                <a16:creationId xmlns:a16="http://schemas.microsoft.com/office/drawing/2014/main" id="{2296ACAD-1B08-3C66-4F6E-A0E18D756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3539" y="4746626"/>
            <a:ext cx="466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L</a:t>
            </a:r>
            <a:r>
              <a:rPr lang="en-US" altLang="en-US" sz="20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cxnSp>
        <p:nvCxnSpPr>
          <p:cNvPr id="27696" name="AutoShape 124">
            <a:extLst>
              <a:ext uri="{FF2B5EF4-FFF2-40B4-BE49-F238E27FC236}">
                <a16:creationId xmlns:a16="http://schemas.microsoft.com/office/drawing/2014/main" id="{4156AC7A-7D66-266B-8C81-B3497978A27F}"/>
              </a:ext>
            </a:extLst>
          </p:cNvPr>
          <p:cNvCxnSpPr>
            <a:cxnSpLocks noChangeAspect="1" noChangeShapeType="1"/>
            <a:stCxn id="27682" idx="6"/>
            <a:endCxn id="27691" idx="2"/>
          </p:cNvCxnSpPr>
          <p:nvPr/>
        </p:nvCxnSpPr>
        <p:spPr bwMode="auto">
          <a:xfrm>
            <a:off x="9042401" y="5180013"/>
            <a:ext cx="8175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97" name="Oval 125">
            <a:extLst>
              <a:ext uri="{FF2B5EF4-FFF2-40B4-BE49-F238E27FC236}">
                <a16:creationId xmlns:a16="http://schemas.microsoft.com/office/drawing/2014/main" id="{D7E65E39-3B7C-3D80-51E4-244D1F54FB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269413" y="5729288"/>
            <a:ext cx="366712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F</a:t>
            </a:r>
          </a:p>
        </p:txBody>
      </p:sp>
      <p:cxnSp>
        <p:nvCxnSpPr>
          <p:cNvPr id="27698" name="AutoShape 126">
            <a:extLst>
              <a:ext uri="{FF2B5EF4-FFF2-40B4-BE49-F238E27FC236}">
                <a16:creationId xmlns:a16="http://schemas.microsoft.com/office/drawing/2014/main" id="{EFED7E93-FB2F-9EB3-BA71-DDC4CBE6B740}"/>
              </a:ext>
            </a:extLst>
          </p:cNvPr>
          <p:cNvCxnSpPr>
            <a:cxnSpLocks noChangeAspect="1" noChangeShapeType="1"/>
            <a:stCxn id="27682" idx="5"/>
            <a:endCxn id="27697" idx="1"/>
          </p:cNvCxnSpPr>
          <p:nvPr/>
        </p:nvCxnSpPr>
        <p:spPr bwMode="auto">
          <a:xfrm>
            <a:off x="8970964" y="5329238"/>
            <a:ext cx="350837" cy="4429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026">
            <a:extLst>
              <a:ext uri="{FF2B5EF4-FFF2-40B4-BE49-F238E27FC236}">
                <a16:creationId xmlns:a16="http://schemas.microsoft.com/office/drawing/2014/main" id="{344F7822-AFBA-3809-0C2B-FE5E700870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(cont.)</a:t>
            </a:r>
          </a:p>
        </p:txBody>
      </p:sp>
      <p:sp>
        <p:nvSpPr>
          <p:cNvPr id="28674" name="AutoShape 1079">
            <a:extLst>
              <a:ext uri="{FF2B5EF4-FFF2-40B4-BE49-F238E27FC236}">
                <a16:creationId xmlns:a16="http://schemas.microsoft.com/office/drawing/2014/main" id="{5382875F-4FE6-E91F-55EB-7DDF31CABC3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234363" y="3757613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675" name="AutoShape 1080">
            <a:extLst>
              <a:ext uri="{FF2B5EF4-FFF2-40B4-BE49-F238E27FC236}">
                <a16:creationId xmlns:a16="http://schemas.microsoft.com/office/drawing/2014/main" id="{054F5C86-24BA-E3D6-5954-3C38B9BD4AC8}"/>
              </a:ext>
            </a:extLst>
          </p:cNvPr>
          <p:cNvSpPr>
            <a:spLocks noChangeArrowheads="1"/>
          </p:cNvSpPr>
          <p:nvPr/>
        </p:nvSpPr>
        <p:spPr bwMode="auto">
          <a:xfrm rot="8100000" flipH="1" flipV="1">
            <a:off x="5691188" y="3733801"/>
            <a:ext cx="1243012" cy="333375"/>
          </a:xfrm>
          <a:prstGeom prst="rightArrow">
            <a:avLst>
              <a:gd name="adj1" fmla="val 50000"/>
              <a:gd name="adj2" fmla="val 93214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676" name="AutoShape 1081">
            <a:extLst>
              <a:ext uri="{FF2B5EF4-FFF2-40B4-BE49-F238E27FC236}">
                <a16:creationId xmlns:a16="http://schemas.microsoft.com/office/drawing/2014/main" id="{3ADA51F5-866D-2E7E-5333-3DEB3797DC1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814763" y="3757613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pSp>
        <p:nvGrpSpPr>
          <p:cNvPr id="28677" name="Group 1101">
            <a:extLst>
              <a:ext uri="{FF2B5EF4-FFF2-40B4-BE49-F238E27FC236}">
                <a16:creationId xmlns:a16="http://schemas.microsoft.com/office/drawing/2014/main" id="{92307CB5-5C1B-4544-1ED7-261606903645}"/>
              </a:ext>
            </a:extLst>
          </p:cNvPr>
          <p:cNvGrpSpPr>
            <a:grpSpLocks/>
          </p:cNvGrpSpPr>
          <p:nvPr/>
        </p:nvGrpSpPr>
        <p:grpSpPr bwMode="auto">
          <a:xfrm>
            <a:off x="2219326" y="1508126"/>
            <a:ext cx="3649663" cy="2073275"/>
            <a:chOff x="384" y="950"/>
            <a:chExt cx="2299" cy="1306"/>
          </a:xfrm>
        </p:grpSpPr>
        <p:sp>
          <p:nvSpPr>
            <p:cNvPr id="28744" name="AutoShape 1082">
              <a:extLst>
                <a:ext uri="{FF2B5EF4-FFF2-40B4-BE49-F238E27FC236}">
                  <a16:creationId xmlns:a16="http://schemas.microsoft.com/office/drawing/2014/main" id="{0E4E6DEE-42D3-070E-A733-F7BAF4B27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0" y="1525"/>
              <a:ext cx="1983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745" name="AutoShape 1083">
              <a:extLst>
                <a:ext uri="{FF2B5EF4-FFF2-40B4-BE49-F238E27FC236}">
                  <a16:creationId xmlns:a16="http://schemas.microsoft.com/office/drawing/2014/main" id="{F6B41940-1B65-41E7-676E-47AADF7A61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" y="1064"/>
              <a:ext cx="521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746" name="Oval 1084">
              <a:extLst>
                <a:ext uri="{FF2B5EF4-FFF2-40B4-BE49-F238E27FC236}">
                  <a16:creationId xmlns:a16="http://schemas.microsoft.com/office/drawing/2014/main" id="{2A208F71-F57F-0F45-3B6A-8CC78846B6A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09" y="1564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28747" name="Oval 1085">
              <a:extLst>
                <a:ext uri="{FF2B5EF4-FFF2-40B4-BE49-F238E27FC236}">
                  <a16:creationId xmlns:a16="http://schemas.microsoft.com/office/drawing/2014/main" id="{6DE21C22-F23A-F18D-CDCD-0025D8B51C0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40" y="1564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28748" name="Oval 1086">
              <a:extLst>
                <a:ext uri="{FF2B5EF4-FFF2-40B4-BE49-F238E27FC236}">
                  <a16:creationId xmlns:a16="http://schemas.microsoft.com/office/drawing/2014/main" id="{D9667515-FCF3-ACBD-ED7C-52B098548C9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36" y="1103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28749" name="Oval 1087">
              <a:extLst>
                <a:ext uri="{FF2B5EF4-FFF2-40B4-BE49-F238E27FC236}">
                  <a16:creationId xmlns:a16="http://schemas.microsoft.com/office/drawing/2014/main" id="{3C73FDFC-3E24-C977-6D54-09E4A99E1B9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24" y="2025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28750" name="AutoShape 1088">
              <a:extLst>
                <a:ext uri="{FF2B5EF4-FFF2-40B4-BE49-F238E27FC236}">
                  <a16:creationId xmlns:a16="http://schemas.microsoft.com/office/drawing/2014/main" id="{C4650FB5-1F12-5E9C-6A22-1CF2905201B1}"/>
                </a:ext>
              </a:extLst>
            </p:cNvPr>
            <p:cNvCxnSpPr>
              <a:cxnSpLocks noChangeAspect="1" noChangeShapeType="1"/>
              <a:stCxn id="28748" idx="3"/>
              <a:endCxn id="28747" idx="7"/>
            </p:cNvCxnSpPr>
            <p:nvPr/>
          </p:nvCxnSpPr>
          <p:spPr bwMode="auto">
            <a:xfrm flipH="1">
              <a:off x="1037" y="1312"/>
              <a:ext cx="232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51" name="AutoShape 1089">
              <a:extLst>
                <a:ext uri="{FF2B5EF4-FFF2-40B4-BE49-F238E27FC236}">
                  <a16:creationId xmlns:a16="http://schemas.microsoft.com/office/drawing/2014/main" id="{3566CB55-9F4F-B498-D914-2EE4D6A469F9}"/>
                </a:ext>
              </a:extLst>
            </p:cNvPr>
            <p:cNvCxnSpPr>
              <a:cxnSpLocks noChangeAspect="1" noChangeShapeType="1"/>
              <a:stCxn id="28749" idx="1"/>
              <a:endCxn id="28747" idx="5"/>
            </p:cNvCxnSpPr>
            <p:nvPr/>
          </p:nvCxnSpPr>
          <p:spPr bwMode="auto">
            <a:xfrm flipH="1" flipV="1">
              <a:off x="1037" y="1773"/>
              <a:ext cx="220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52" name="AutoShape 1090">
              <a:extLst>
                <a:ext uri="{FF2B5EF4-FFF2-40B4-BE49-F238E27FC236}">
                  <a16:creationId xmlns:a16="http://schemas.microsoft.com/office/drawing/2014/main" id="{F6E63644-8EDA-CE63-48A0-379B7D7A6393}"/>
                </a:ext>
              </a:extLst>
            </p:cNvPr>
            <p:cNvCxnSpPr>
              <a:cxnSpLocks noChangeAspect="1" noChangeShapeType="1"/>
              <a:stCxn id="28749" idx="7"/>
              <a:endCxn id="28746" idx="3"/>
            </p:cNvCxnSpPr>
            <p:nvPr/>
          </p:nvCxnSpPr>
          <p:spPr bwMode="auto">
            <a:xfrm flipV="1">
              <a:off x="1421" y="1773"/>
              <a:ext cx="221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53" name="AutoShape 1091">
              <a:extLst>
                <a:ext uri="{FF2B5EF4-FFF2-40B4-BE49-F238E27FC236}">
                  <a16:creationId xmlns:a16="http://schemas.microsoft.com/office/drawing/2014/main" id="{B26F382D-A8CE-D231-BB50-0D0EBACBA287}"/>
                </a:ext>
              </a:extLst>
            </p:cNvPr>
            <p:cNvCxnSpPr>
              <a:cxnSpLocks noChangeAspect="1" noChangeShapeType="1"/>
              <a:stCxn id="28748" idx="5"/>
              <a:endCxn id="28746" idx="1"/>
            </p:cNvCxnSpPr>
            <p:nvPr/>
          </p:nvCxnSpPr>
          <p:spPr bwMode="auto">
            <a:xfrm>
              <a:off x="1433" y="1312"/>
              <a:ext cx="209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54" name="AutoShape 1092">
              <a:extLst>
                <a:ext uri="{FF2B5EF4-FFF2-40B4-BE49-F238E27FC236}">
                  <a16:creationId xmlns:a16="http://schemas.microsoft.com/office/drawing/2014/main" id="{48E485BE-8B9E-B6EB-22DD-CFD82A6808DC}"/>
                </a:ext>
              </a:extLst>
            </p:cNvPr>
            <p:cNvCxnSpPr>
              <a:cxnSpLocks noChangeAspect="1" noChangeShapeType="1"/>
              <a:stCxn id="28747" idx="6"/>
              <a:endCxn id="28746" idx="2"/>
            </p:cNvCxnSpPr>
            <p:nvPr/>
          </p:nvCxnSpPr>
          <p:spPr bwMode="auto">
            <a:xfrm>
              <a:off x="1082" y="1679"/>
              <a:ext cx="514" cy="0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755" name="Oval 1093">
              <a:extLst>
                <a:ext uri="{FF2B5EF4-FFF2-40B4-BE49-F238E27FC236}">
                  <a16:creationId xmlns:a16="http://schemas.microsoft.com/office/drawing/2014/main" id="{DA501D85-740E-637A-3632-EAF4734EED7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79" y="1564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cxnSp>
          <p:nvCxnSpPr>
            <p:cNvPr id="28756" name="AutoShape 1094">
              <a:extLst>
                <a:ext uri="{FF2B5EF4-FFF2-40B4-BE49-F238E27FC236}">
                  <a16:creationId xmlns:a16="http://schemas.microsoft.com/office/drawing/2014/main" id="{D7FBA9BF-E991-3F0E-F167-3D76F36F4EA7}"/>
                </a:ext>
              </a:extLst>
            </p:cNvPr>
            <p:cNvCxnSpPr>
              <a:cxnSpLocks noChangeAspect="1" noChangeShapeType="1"/>
              <a:stCxn id="28761" idx="7"/>
              <a:endCxn id="28755" idx="3"/>
            </p:cNvCxnSpPr>
            <p:nvPr/>
          </p:nvCxnSpPr>
          <p:spPr bwMode="auto">
            <a:xfrm flipV="1">
              <a:off x="2191" y="1773"/>
              <a:ext cx="221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57" name="AutoShape 1095">
              <a:extLst>
                <a:ext uri="{FF2B5EF4-FFF2-40B4-BE49-F238E27FC236}">
                  <a16:creationId xmlns:a16="http://schemas.microsoft.com/office/drawing/2014/main" id="{55551C8A-B5D9-32FC-A055-BB2EFA941F44}"/>
                </a:ext>
              </a:extLst>
            </p:cNvPr>
            <p:cNvCxnSpPr>
              <a:cxnSpLocks noChangeAspect="1" noChangeShapeType="1"/>
              <a:stCxn id="28755" idx="1"/>
              <a:endCxn id="28748" idx="6"/>
            </p:cNvCxnSpPr>
            <p:nvPr/>
          </p:nvCxnSpPr>
          <p:spPr bwMode="auto">
            <a:xfrm flipH="1" flipV="1">
              <a:off x="1478" y="1218"/>
              <a:ext cx="934" cy="367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758" name="Text Box 1096">
              <a:extLst>
                <a:ext uri="{FF2B5EF4-FFF2-40B4-BE49-F238E27FC236}">
                  <a16:creationId xmlns:a16="http://schemas.microsoft.com/office/drawing/2014/main" id="{000363B0-EB65-09FD-91DE-5A78AA1EFB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950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8759" name="Text Box 1097">
              <a:extLst>
                <a:ext uri="{FF2B5EF4-FFF2-40B4-BE49-F238E27FC236}">
                  <a16:creationId xmlns:a16="http://schemas.microsoft.com/office/drawing/2014/main" id="{8AC75084-196A-586D-A0EE-7632510478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406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28760" name="AutoShape 1098">
              <a:extLst>
                <a:ext uri="{FF2B5EF4-FFF2-40B4-BE49-F238E27FC236}">
                  <a16:creationId xmlns:a16="http://schemas.microsoft.com/office/drawing/2014/main" id="{34D91777-C9E4-3B08-75DE-CC35B719C774}"/>
                </a:ext>
              </a:extLst>
            </p:cNvPr>
            <p:cNvCxnSpPr>
              <a:cxnSpLocks noChangeAspect="1" noChangeShapeType="1"/>
              <a:stCxn id="28746" idx="6"/>
              <a:endCxn id="28755" idx="2"/>
            </p:cNvCxnSpPr>
            <p:nvPr/>
          </p:nvCxnSpPr>
          <p:spPr bwMode="auto">
            <a:xfrm>
              <a:off x="1851" y="1679"/>
              <a:ext cx="515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761" name="Oval 1099">
              <a:extLst>
                <a:ext uri="{FF2B5EF4-FFF2-40B4-BE49-F238E27FC236}">
                  <a16:creationId xmlns:a16="http://schemas.microsoft.com/office/drawing/2014/main" id="{DE2C3AA3-28F8-4783-60CE-D8EEE60FF59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94" y="2025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F</a:t>
              </a:r>
            </a:p>
          </p:txBody>
        </p:sp>
        <p:cxnSp>
          <p:nvCxnSpPr>
            <p:cNvPr id="28762" name="AutoShape 1100">
              <a:extLst>
                <a:ext uri="{FF2B5EF4-FFF2-40B4-BE49-F238E27FC236}">
                  <a16:creationId xmlns:a16="http://schemas.microsoft.com/office/drawing/2014/main" id="{A76371AD-6A8B-700D-1AD4-143DDA862EE0}"/>
                </a:ext>
              </a:extLst>
            </p:cNvPr>
            <p:cNvCxnSpPr>
              <a:cxnSpLocks noChangeAspect="1" noChangeShapeType="1"/>
              <a:stCxn id="28746" idx="5"/>
              <a:endCxn id="28761" idx="1"/>
            </p:cNvCxnSpPr>
            <p:nvPr/>
          </p:nvCxnSpPr>
          <p:spPr bwMode="auto">
            <a:xfrm>
              <a:off x="1806" y="1773"/>
              <a:ext cx="221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8678" name="Group 1125">
            <a:extLst>
              <a:ext uri="{FF2B5EF4-FFF2-40B4-BE49-F238E27FC236}">
                <a16:creationId xmlns:a16="http://schemas.microsoft.com/office/drawing/2014/main" id="{62C73D23-A76B-3F04-B909-97ADC632D0C2}"/>
              </a:ext>
            </a:extLst>
          </p:cNvPr>
          <p:cNvGrpSpPr>
            <a:grpSpLocks/>
          </p:cNvGrpSpPr>
          <p:nvPr/>
        </p:nvGrpSpPr>
        <p:grpSpPr bwMode="auto">
          <a:xfrm>
            <a:off x="2219326" y="4151314"/>
            <a:ext cx="3649663" cy="2130425"/>
            <a:chOff x="438" y="2616"/>
            <a:chExt cx="2299" cy="1342"/>
          </a:xfrm>
        </p:grpSpPr>
        <p:sp>
          <p:nvSpPr>
            <p:cNvPr id="28723" name="AutoShape 1123">
              <a:extLst>
                <a:ext uri="{FF2B5EF4-FFF2-40B4-BE49-F238E27FC236}">
                  <a16:creationId xmlns:a16="http://schemas.microsoft.com/office/drawing/2014/main" id="{D456D176-3828-A8B1-1C44-67BA16F186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" y="3650"/>
              <a:ext cx="521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724" name="AutoShape 1103">
              <a:extLst>
                <a:ext uri="{FF2B5EF4-FFF2-40B4-BE49-F238E27FC236}">
                  <a16:creationId xmlns:a16="http://schemas.microsoft.com/office/drawing/2014/main" id="{9981B7D6-7EC2-B510-1E7F-44C8F6CCB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" y="3191"/>
              <a:ext cx="1983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725" name="AutoShape 1104">
              <a:extLst>
                <a:ext uri="{FF2B5EF4-FFF2-40B4-BE49-F238E27FC236}">
                  <a16:creationId xmlns:a16="http://schemas.microsoft.com/office/drawing/2014/main" id="{AFA85481-D338-EAAB-C49E-FDCD3CF739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" y="2730"/>
              <a:ext cx="521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726" name="Oval 1105">
              <a:extLst>
                <a:ext uri="{FF2B5EF4-FFF2-40B4-BE49-F238E27FC236}">
                  <a16:creationId xmlns:a16="http://schemas.microsoft.com/office/drawing/2014/main" id="{99A052B2-D8B5-4A06-C2EC-147222235AE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63" y="3230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28727" name="Oval 1106">
              <a:extLst>
                <a:ext uri="{FF2B5EF4-FFF2-40B4-BE49-F238E27FC236}">
                  <a16:creationId xmlns:a16="http://schemas.microsoft.com/office/drawing/2014/main" id="{E219C711-41DB-ED2D-5391-707A6AB4BF0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94" y="3230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28728" name="Oval 1107">
              <a:extLst>
                <a:ext uri="{FF2B5EF4-FFF2-40B4-BE49-F238E27FC236}">
                  <a16:creationId xmlns:a16="http://schemas.microsoft.com/office/drawing/2014/main" id="{9A9BFC43-1D60-666F-4C15-4419BC8E6C2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90" y="2769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28729" name="Oval 1108">
              <a:extLst>
                <a:ext uri="{FF2B5EF4-FFF2-40B4-BE49-F238E27FC236}">
                  <a16:creationId xmlns:a16="http://schemas.microsoft.com/office/drawing/2014/main" id="{C9272A4E-914C-E068-AC4D-58264D81328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78" y="3691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28730" name="AutoShape 1109">
              <a:extLst>
                <a:ext uri="{FF2B5EF4-FFF2-40B4-BE49-F238E27FC236}">
                  <a16:creationId xmlns:a16="http://schemas.microsoft.com/office/drawing/2014/main" id="{E99FE058-AF08-BCB4-8DAA-74C41CF02AF0}"/>
                </a:ext>
              </a:extLst>
            </p:cNvPr>
            <p:cNvCxnSpPr>
              <a:cxnSpLocks noChangeAspect="1" noChangeShapeType="1"/>
              <a:stCxn id="28728" idx="3"/>
              <a:endCxn id="28727" idx="7"/>
            </p:cNvCxnSpPr>
            <p:nvPr/>
          </p:nvCxnSpPr>
          <p:spPr bwMode="auto">
            <a:xfrm flipH="1">
              <a:off x="1091" y="2978"/>
              <a:ext cx="232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1" name="AutoShape 1110">
              <a:extLst>
                <a:ext uri="{FF2B5EF4-FFF2-40B4-BE49-F238E27FC236}">
                  <a16:creationId xmlns:a16="http://schemas.microsoft.com/office/drawing/2014/main" id="{AEB7F638-D30A-1FFC-2074-6EF9D9426DE8}"/>
                </a:ext>
              </a:extLst>
            </p:cNvPr>
            <p:cNvCxnSpPr>
              <a:cxnSpLocks noChangeAspect="1" noChangeShapeType="1"/>
              <a:stCxn id="28729" idx="1"/>
              <a:endCxn id="28727" idx="5"/>
            </p:cNvCxnSpPr>
            <p:nvPr/>
          </p:nvCxnSpPr>
          <p:spPr bwMode="auto">
            <a:xfrm flipH="1" flipV="1">
              <a:off x="1091" y="3439"/>
              <a:ext cx="220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2" name="AutoShape 1111">
              <a:extLst>
                <a:ext uri="{FF2B5EF4-FFF2-40B4-BE49-F238E27FC236}">
                  <a16:creationId xmlns:a16="http://schemas.microsoft.com/office/drawing/2014/main" id="{53025A54-CAB5-5FC3-DFAA-6DA9BF22F9BB}"/>
                </a:ext>
              </a:extLst>
            </p:cNvPr>
            <p:cNvCxnSpPr>
              <a:cxnSpLocks noChangeAspect="1" noChangeShapeType="1"/>
              <a:stCxn id="28729" idx="7"/>
              <a:endCxn id="28726" idx="3"/>
            </p:cNvCxnSpPr>
            <p:nvPr/>
          </p:nvCxnSpPr>
          <p:spPr bwMode="auto">
            <a:xfrm flipV="1">
              <a:off x="1475" y="3439"/>
              <a:ext cx="221" cy="2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3" name="AutoShape 1112">
              <a:extLst>
                <a:ext uri="{FF2B5EF4-FFF2-40B4-BE49-F238E27FC236}">
                  <a16:creationId xmlns:a16="http://schemas.microsoft.com/office/drawing/2014/main" id="{D915CA43-0D1A-C125-D706-4D80DE383C61}"/>
                </a:ext>
              </a:extLst>
            </p:cNvPr>
            <p:cNvCxnSpPr>
              <a:cxnSpLocks noChangeAspect="1" noChangeShapeType="1"/>
              <a:stCxn id="28728" idx="5"/>
              <a:endCxn id="28726" idx="1"/>
            </p:cNvCxnSpPr>
            <p:nvPr/>
          </p:nvCxnSpPr>
          <p:spPr bwMode="auto">
            <a:xfrm>
              <a:off x="1487" y="2978"/>
              <a:ext cx="209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4" name="AutoShape 1113">
              <a:extLst>
                <a:ext uri="{FF2B5EF4-FFF2-40B4-BE49-F238E27FC236}">
                  <a16:creationId xmlns:a16="http://schemas.microsoft.com/office/drawing/2014/main" id="{345FFBF9-1B0B-3CF2-02A2-42B87DF20CEE}"/>
                </a:ext>
              </a:extLst>
            </p:cNvPr>
            <p:cNvCxnSpPr>
              <a:cxnSpLocks noChangeAspect="1" noChangeShapeType="1"/>
              <a:stCxn id="28727" idx="6"/>
              <a:endCxn id="28726" idx="2"/>
            </p:cNvCxnSpPr>
            <p:nvPr/>
          </p:nvCxnSpPr>
          <p:spPr bwMode="auto">
            <a:xfrm>
              <a:off x="1136" y="3345"/>
              <a:ext cx="514" cy="0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735" name="Oval 1114">
              <a:extLst>
                <a:ext uri="{FF2B5EF4-FFF2-40B4-BE49-F238E27FC236}">
                  <a16:creationId xmlns:a16="http://schemas.microsoft.com/office/drawing/2014/main" id="{3929CECC-F657-8A4E-CA7F-0ACFA3AA7DA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33" y="3230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cxnSp>
          <p:nvCxnSpPr>
            <p:cNvPr id="28736" name="AutoShape 1115">
              <a:extLst>
                <a:ext uri="{FF2B5EF4-FFF2-40B4-BE49-F238E27FC236}">
                  <a16:creationId xmlns:a16="http://schemas.microsoft.com/office/drawing/2014/main" id="{05A324B0-894D-EAF6-6DC0-17D14F2F0690}"/>
                </a:ext>
              </a:extLst>
            </p:cNvPr>
            <p:cNvCxnSpPr>
              <a:cxnSpLocks noChangeAspect="1" noChangeShapeType="1"/>
              <a:stCxn id="28741" idx="7"/>
              <a:endCxn id="28735" idx="3"/>
            </p:cNvCxnSpPr>
            <p:nvPr/>
          </p:nvCxnSpPr>
          <p:spPr bwMode="auto">
            <a:xfrm flipV="1">
              <a:off x="2245" y="3439"/>
              <a:ext cx="221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7" name="AutoShape 1116">
              <a:extLst>
                <a:ext uri="{FF2B5EF4-FFF2-40B4-BE49-F238E27FC236}">
                  <a16:creationId xmlns:a16="http://schemas.microsoft.com/office/drawing/2014/main" id="{6B04D4B6-4ECC-607F-8328-6D1EB3C8AB32}"/>
                </a:ext>
              </a:extLst>
            </p:cNvPr>
            <p:cNvCxnSpPr>
              <a:cxnSpLocks noChangeAspect="1" noChangeShapeType="1"/>
              <a:stCxn id="28735" idx="1"/>
              <a:endCxn id="28728" idx="6"/>
            </p:cNvCxnSpPr>
            <p:nvPr/>
          </p:nvCxnSpPr>
          <p:spPr bwMode="auto">
            <a:xfrm flipH="1" flipV="1">
              <a:off x="1532" y="2884"/>
              <a:ext cx="934" cy="367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738" name="Text Box 1117">
              <a:extLst>
                <a:ext uri="{FF2B5EF4-FFF2-40B4-BE49-F238E27FC236}">
                  <a16:creationId xmlns:a16="http://schemas.microsoft.com/office/drawing/2014/main" id="{26547CBD-5DA2-2F46-394D-AFF2DB74A5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2" y="2616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8739" name="Text Box 1118">
              <a:extLst>
                <a:ext uri="{FF2B5EF4-FFF2-40B4-BE49-F238E27FC236}">
                  <a16:creationId xmlns:a16="http://schemas.microsoft.com/office/drawing/2014/main" id="{B457820A-5008-731F-D24C-0CC28FDE1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" y="3072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28740" name="AutoShape 1119">
              <a:extLst>
                <a:ext uri="{FF2B5EF4-FFF2-40B4-BE49-F238E27FC236}">
                  <a16:creationId xmlns:a16="http://schemas.microsoft.com/office/drawing/2014/main" id="{C5004AF1-D35C-3A48-BBA1-8928F8A73F8B}"/>
                </a:ext>
              </a:extLst>
            </p:cNvPr>
            <p:cNvCxnSpPr>
              <a:cxnSpLocks noChangeAspect="1" noChangeShapeType="1"/>
              <a:stCxn id="28726" idx="6"/>
              <a:endCxn id="28735" idx="2"/>
            </p:cNvCxnSpPr>
            <p:nvPr/>
          </p:nvCxnSpPr>
          <p:spPr bwMode="auto">
            <a:xfrm>
              <a:off x="1905" y="3345"/>
              <a:ext cx="515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741" name="Oval 1120">
              <a:extLst>
                <a:ext uri="{FF2B5EF4-FFF2-40B4-BE49-F238E27FC236}">
                  <a16:creationId xmlns:a16="http://schemas.microsoft.com/office/drawing/2014/main" id="{B38C27AB-13D0-7652-D559-17C45BFA46F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48" y="3691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F</a:t>
              </a:r>
            </a:p>
          </p:txBody>
        </p:sp>
        <p:cxnSp>
          <p:nvCxnSpPr>
            <p:cNvPr id="28742" name="AutoShape 1121">
              <a:extLst>
                <a:ext uri="{FF2B5EF4-FFF2-40B4-BE49-F238E27FC236}">
                  <a16:creationId xmlns:a16="http://schemas.microsoft.com/office/drawing/2014/main" id="{95404793-3852-6277-8E85-5D3FF2956D9C}"/>
                </a:ext>
              </a:extLst>
            </p:cNvPr>
            <p:cNvCxnSpPr>
              <a:cxnSpLocks noChangeAspect="1" noChangeShapeType="1"/>
              <a:stCxn id="28726" idx="5"/>
              <a:endCxn id="28741" idx="1"/>
            </p:cNvCxnSpPr>
            <p:nvPr/>
          </p:nvCxnSpPr>
          <p:spPr bwMode="auto">
            <a:xfrm>
              <a:off x="1860" y="3439"/>
              <a:ext cx="221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743" name="Text Box 1124">
              <a:extLst>
                <a:ext uri="{FF2B5EF4-FFF2-40B4-BE49-F238E27FC236}">
                  <a16:creationId xmlns:a16="http://schemas.microsoft.com/office/drawing/2014/main" id="{97D09935-5084-645E-B037-6DF367569E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0" y="3522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28679" name="Group 1170">
            <a:extLst>
              <a:ext uri="{FF2B5EF4-FFF2-40B4-BE49-F238E27FC236}">
                <a16:creationId xmlns:a16="http://schemas.microsoft.com/office/drawing/2014/main" id="{1652F4AB-3840-386F-ED24-5FB11F9BBF7C}"/>
              </a:ext>
            </a:extLst>
          </p:cNvPr>
          <p:cNvGrpSpPr>
            <a:grpSpLocks/>
          </p:cNvGrpSpPr>
          <p:nvPr/>
        </p:nvGrpSpPr>
        <p:grpSpPr bwMode="auto">
          <a:xfrm>
            <a:off x="6637338" y="1508126"/>
            <a:ext cx="3649662" cy="2130425"/>
            <a:chOff x="3072" y="950"/>
            <a:chExt cx="2299" cy="1342"/>
          </a:xfrm>
        </p:grpSpPr>
        <p:sp>
          <p:nvSpPr>
            <p:cNvPr id="28702" name="AutoShape 1127">
              <a:extLst>
                <a:ext uri="{FF2B5EF4-FFF2-40B4-BE49-F238E27FC236}">
                  <a16:creationId xmlns:a16="http://schemas.microsoft.com/office/drawing/2014/main" id="{62E9B4E7-F878-D1B8-0773-9DA07A9B0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3" y="1984"/>
              <a:ext cx="521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703" name="AutoShape 1128">
              <a:extLst>
                <a:ext uri="{FF2B5EF4-FFF2-40B4-BE49-F238E27FC236}">
                  <a16:creationId xmlns:a16="http://schemas.microsoft.com/office/drawing/2014/main" id="{D1A9EDE3-834B-B718-F7E6-9E47BE9A1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8" y="1525"/>
              <a:ext cx="1983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704" name="AutoShape 1129">
              <a:extLst>
                <a:ext uri="{FF2B5EF4-FFF2-40B4-BE49-F238E27FC236}">
                  <a16:creationId xmlns:a16="http://schemas.microsoft.com/office/drawing/2014/main" id="{FA19344D-BE10-D576-FD1E-C61225FF99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9" y="1064"/>
              <a:ext cx="521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705" name="Oval 1130">
              <a:extLst>
                <a:ext uri="{FF2B5EF4-FFF2-40B4-BE49-F238E27FC236}">
                  <a16:creationId xmlns:a16="http://schemas.microsoft.com/office/drawing/2014/main" id="{6BEA20AB-F6DB-9E81-FFBF-9D3ABEEE5C8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97" y="1564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28706" name="Oval 1131">
              <a:extLst>
                <a:ext uri="{FF2B5EF4-FFF2-40B4-BE49-F238E27FC236}">
                  <a16:creationId xmlns:a16="http://schemas.microsoft.com/office/drawing/2014/main" id="{03F6C450-BB78-A83A-F3FC-5E8D156271D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28" y="1564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28707" name="Oval 1132">
              <a:extLst>
                <a:ext uri="{FF2B5EF4-FFF2-40B4-BE49-F238E27FC236}">
                  <a16:creationId xmlns:a16="http://schemas.microsoft.com/office/drawing/2014/main" id="{FC3677E6-726D-98AF-89CB-AC9F524A09E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24" y="1103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28708" name="Oval 1133">
              <a:extLst>
                <a:ext uri="{FF2B5EF4-FFF2-40B4-BE49-F238E27FC236}">
                  <a16:creationId xmlns:a16="http://schemas.microsoft.com/office/drawing/2014/main" id="{603D0E90-BC1C-D8CC-285E-50196295703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12" y="2025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28709" name="AutoShape 1134">
              <a:extLst>
                <a:ext uri="{FF2B5EF4-FFF2-40B4-BE49-F238E27FC236}">
                  <a16:creationId xmlns:a16="http://schemas.microsoft.com/office/drawing/2014/main" id="{8CE10AA1-A7CC-3C62-0ED1-95E46DB7B76B}"/>
                </a:ext>
              </a:extLst>
            </p:cNvPr>
            <p:cNvCxnSpPr>
              <a:cxnSpLocks noChangeAspect="1" noChangeShapeType="1"/>
              <a:stCxn id="28707" idx="3"/>
              <a:endCxn id="28706" idx="7"/>
            </p:cNvCxnSpPr>
            <p:nvPr/>
          </p:nvCxnSpPr>
          <p:spPr bwMode="auto">
            <a:xfrm flipH="1">
              <a:off x="3725" y="1312"/>
              <a:ext cx="232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10" name="AutoShape 1135">
              <a:extLst>
                <a:ext uri="{FF2B5EF4-FFF2-40B4-BE49-F238E27FC236}">
                  <a16:creationId xmlns:a16="http://schemas.microsoft.com/office/drawing/2014/main" id="{AAADF7CC-EFB0-E5BC-46FA-5615B91B3F6E}"/>
                </a:ext>
              </a:extLst>
            </p:cNvPr>
            <p:cNvCxnSpPr>
              <a:cxnSpLocks noChangeAspect="1" noChangeShapeType="1"/>
              <a:stCxn id="28708" idx="1"/>
              <a:endCxn id="28706" idx="5"/>
            </p:cNvCxnSpPr>
            <p:nvPr/>
          </p:nvCxnSpPr>
          <p:spPr bwMode="auto">
            <a:xfrm flipH="1" flipV="1">
              <a:off x="3725" y="1773"/>
              <a:ext cx="220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11" name="AutoShape 1136">
              <a:extLst>
                <a:ext uri="{FF2B5EF4-FFF2-40B4-BE49-F238E27FC236}">
                  <a16:creationId xmlns:a16="http://schemas.microsoft.com/office/drawing/2014/main" id="{58AC2FD5-7F9B-BB9C-7508-DCD962CCAC62}"/>
                </a:ext>
              </a:extLst>
            </p:cNvPr>
            <p:cNvCxnSpPr>
              <a:cxnSpLocks noChangeAspect="1" noChangeShapeType="1"/>
              <a:stCxn id="28708" idx="7"/>
              <a:endCxn id="28705" idx="3"/>
            </p:cNvCxnSpPr>
            <p:nvPr/>
          </p:nvCxnSpPr>
          <p:spPr bwMode="auto">
            <a:xfrm flipV="1">
              <a:off x="4109" y="1773"/>
              <a:ext cx="221" cy="2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12" name="AutoShape 1137">
              <a:extLst>
                <a:ext uri="{FF2B5EF4-FFF2-40B4-BE49-F238E27FC236}">
                  <a16:creationId xmlns:a16="http://schemas.microsoft.com/office/drawing/2014/main" id="{E92E47D4-6CBB-E197-D651-32FBA9293523}"/>
                </a:ext>
              </a:extLst>
            </p:cNvPr>
            <p:cNvCxnSpPr>
              <a:cxnSpLocks noChangeAspect="1" noChangeShapeType="1"/>
              <a:stCxn id="28707" idx="5"/>
              <a:endCxn id="28705" idx="1"/>
            </p:cNvCxnSpPr>
            <p:nvPr/>
          </p:nvCxnSpPr>
          <p:spPr bwMode="auto">
            <a:xfrm>
              <a:off x="4121" y="1312"/>
              <a:ext cx="209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13" name="AutoShape 1138">
              <a:extLst>
                <a:ext uri="{FF2B5EF4-FFF2-40B4-BE49-F238E27FC236}">
                  <a16:creationId xmlns:a16="http://schemas.microsoft.com/office/drawing/2014/main" id="{438312E9-3045-533B-8634-5541235A1A54}"/>
                </a:ext>
              </a:extLst>
            </p:cNvPr>
            <p:cNvCxnSpPr>
              <a:cxnSpLocks noChangeAspect="1" noChangeShapeType="1"/>
              <a:stCxn id="28706" idx="6"/>
              <a:endCxn id="28705" idx="2"/>
            </p:cNvCxnSpPr>
            <p:nvPr/>
          </p:nvCxnSpPr>
          <p:spPr bwMode="auto">
            <a:xfrm>
              <a:off x="3770" y="1679"/>
              <a:ext cx="514" cy="0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714" name="Oval 1139">
              <a:extLst>
                <a:ext uri="{FF2B5EF4-FFF2-40B4-BE49-F238E27FC236}">
                  <a16:creationId xmlns:a16="http://schemas.microsoft.com/office/drawing/2014/main" id="{86C95A66-9368-D4EA-4681-9563F9EC70B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067" y="1564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cxnSp>
          <p:nvCxnSpPr>
            <p:cNvPr id="28715" name="AutoShape 1140">
              <a:extLst>
                <a:ext uri="{FF2B5EF4-FFF2-40B4-BE49-F238E27FC236}">
                  <a16:creationId xmlns:a16="http://schemas.microsoft.com/office/drawing/2014/main" id="{3B417B92-7E14-F154-E02C-059580F4EC1B}"/>
                </a:ext>
              </a:extLst>
            </p:cNvPr>
            <p:cNvCxnSpPr>
              <a:cxnSpLocks noChangeAspect="1" noChangeShapeType="1"/>
              <a:stCxn id="28720" idx="7"/>
              <a:endCxn id="28714" idx="3"/>
            </p:cNvCxnSpPr>
            <p:nvPr/>
          </p:nvCxnSpPr>
          <p:spPr bwMode="auto">
            <a:xfrm flipV="1">
              <a:off x="4879" y="1773"/>
              <a:ext cx="221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16" name="AutoShape 1141">
              <a:extLst>
                <a:ext uri="{FF2B5EF4-FFF2-40B4-BE49-F238E27FC236}">
                  <a16:creationId xmlns:a16="http://schemas.microsoft.com/office/drawing/2014/main" id="{95A28E15-2BB6-428A-79CA-C0DEC1777E54}"/>
                </a:ext>
              </a:extLst>
            </p:cNvPr>
            <p:cNvCxnSpPr>
              <a:cxnSpLocks noChangeAspect="1" noChangeShapeType="1"/>
              <a:stCxn id="28714" idx="1"/>
              <a:endCxn id="28707" idx="6"/>
            </p:cNvCxnSpPr>
            <p:nvPr/>
          </p:nvCxnSpPr>
          <p:spPr bwMode="auto">
            <a:xfrm flipH="1" flipV="1">
              <a:off x="4166" y="1218"/>
              <a:ext cx="934" cy="367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717" name="Text Box 1142">
              <a:extLst>
                <a:ext uri="{FF2B5EF4-FFF2-40B4-BE49-F238E27FC236}">
                  <a16:creationId xmlns:a16="http://schemas.microsoft.com/office/drawing/2014/main" id="{82CDEC2F-9141-9B47-3D7F-B9D22D0170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950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8718" name="Text Box 1143">
              <a:extLst>
                <a:ext uri="{FF2B5EF4-FFF2-40B4-BE49-F238E27FC236}">
                  <a16:creationId xmlns:a16="http://schemas.microsoft.com/office/drawing/2014/main" id="{323833DF-CD68-F0FF-3D78-95277067F4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1406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28719" name="AutoShape 1144">
              <a:extLst>
                <a:ext uri="{FF2B5EF4-FFF2-40B4-BE49-F238E27FC236}">
                  <a16:creationId xmlns:a16="http://schemas.microsoft.com/office/drawing/2014/main" id="{FF7CC435-F376-9E36-4312-E50BC5CB5625}"/>
                </a:ext>
              </a:extLst>
            </p:cNvPr>
            <p:cNvCxnSpPr>
              <a:cxnSpLocks noChangeAspect="1" noChangeShapeType="1"/>
              <a:stCxn id="28705" idx="6"/>
              <a:endCxn id="28714" idx="2"/>
            </p:cNvCxnSpPr>
            <p:nvPr/>
          </p:nvCxnSpPr>
          <p:spPr bwMode="auto">
            <a:xfrm>
              <a:off x="4539" y="1679"/>
              <a:ext cx="515" cy="0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720" name="Oval 1145">
              <a:extLst>
                <a:ext uri="{FF2B5EF4-FFF2-40B4-BE49-F238E27FC236}">
                  <a16:creationId xmlns:a16="http://schemas.microsoft.com/office/drawing/2014/main" id="{E5B22B88-CB97-661C-A6AF-ADA951ABE8B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82" y="2025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F</a:t>
              </a:r>
            </a:p>
          </p:txBody>
        </p:sp>
        <p:cxnSp>
          <p:nvCxnSpPr>
            <p:cNvPr id="28721" name="AutoShape 1146">
              <a:extLst>
                <a:ext uri="{FF2B5EF4-FFF2-40B4-BE49-F238E27FC236}">
                  <a16:creationId xmlns:a16="http://schemas.microsoft.com/office/drawing/2014/main" id="{7451CE13-79DA-B121-79F4-F554AA4A1313}"/>
                </a:ext>
              </a:extLst>
            </p:cNvPr>
            <p:cNvCxnSpPr>
              <a:cxnSpLocks noChangeAspect="1" noChangeShapeType="1"/>
              <a:stCxn id="28705" idx="5"/>
              <a:endCxn id="28720" idx="1"/>
            </p:cNvCxnSpPr>
            <p:nvPr/>
          </p:nvCxnSpPr>
          <p:spPr bwMode="auto">
            <a:xfrm>
              <a:off x="4494" y="1773"/>
              <a:ext cx="221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722" name="Text Box 1147">
              <a:extLst>
                <a:ext uri="{FF2B5EF4-FFF2-40B4-BE49-F238E27FC236}">
                  <a16:creationId xmlns:a16="http://schemas.microsoft.com/office/drawing/2014/main" id="{5A911104-E210-657B-966E-6DCD887FBF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4" y="1856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28680" name="Group 1171">
            <a:extLst>
              <a:ext uri="{FF2B5EF4-FFF2-40B4-BE49-F238E27FC236}">
                <a16:creationId xmlns:a16="http://schemas.microsoft.com/office/drawing/2014/main" id="{E96F0466-A327-C33D-2DB2-0ADDD6A0B846}"/>
              </a:ext>
            </a:extLst>
          </p:cNvPr>
          <p:cNvGrpSpPr>
            <a:grpSpLocks/>
          </p:cNvGrpSpPr>
          <p:nvPr/>
        </p:nvGrpSpPr>
        <p:grpSpPr bwMode="auto">
          <a:xfrm>
            <a:off x="6637338" y="4151314"/>
            <a:ext cx="3649662" cy="2130425"/>
            <a:chOff x="3221" y="2615"/>
            <a:chExt cx="2299" cy="1342"/>
          </a:xfrm>
        </p:grpSpPr>
        <p:sp>
          <p:nvSpPr>
            <p:cNvPr id="28681" name="AutoShape 1148">
              <a:extLst>
                <a:ext uri="{FF2B5EF4-FFF2-40B4-BE49-F238E27FC236}">
                  <a16:creationId xmlns:a16="http://schemas.microsoft.com/office/drawing/2014/main" id="{9B5E6CEF-3A87-95B4-B713-FF1685F511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2" y="3649"/>
              <a:ext cx="521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682" name="AutoShape 1149">
              <a:extLst>
                <a:ext uri="{FF2B5EF4-FFF2-40B4-BE49-F238E27FC236}">
                  <a16:creationId xmlns:a16="http://schemas.microsoft.com/office/drawing/2014/main" id="{EFC8EEC1-A679-B133-C798-120FC280F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7" y="3190"/>
              <a:ext cx="1983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683" name="AutoShape 1150">
              <a:extLst>
                <a:ext uri="{FF2B5EF4-FFF2-40B4-BE49-F238E27FC236}">
                  <a16:creationId xmlns:a16="http://schemas.microsoft.com/office/drawing/2014/main" id="{1B216C69-3FA8-8D5A-F6A5-57E0F418C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8" y="2729"/>
              <a:ext cx="521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8684" name="Oval 1151">
              <a:extLst>
                <a:ext uri="{FF2B5EF4-FFF2-40B4-BE49-F238E27FC236}">
                  <a16:creationId xmlns:a16="http://schemas.microsoft.com/office/drawing/2014/main" id="{C81BC1F3-CC38-A44C-13B9-EFEB506D26F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46" y="3229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28685" name="Oval 1152">
              <a:extLst>
                <a:ext uri="{FF2B5EF4-FFF2-40B4-BE49-F238E27FC236}">
                  <a16:creationId xmlns:a16="http://schemas.microsoft.com/office/drawing/2014/main" id="{6CC397E4-7F52-E121-0A66-001368E18ED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77" y="3229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28686" name="Oval 1153">
              <a:extLst>
                <a:ext uri="{FF2B5EF4-FFF2-40B4-BE49-F238E27FC236}">
                  <a16:creationId xmlns:a16="http://schemas.microsoft.com/office/drawing/2014/main" id="{0EAE7E81-0FDA-FC44-A758-893077CE8DF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73" y="2768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28687" name="Oval 1154">
              <a:extLst>
                <a:ext uri="{FF2B5EF4-FFF2-40B4-BE49-F238E27FC236}">
                  <a16:creationId xmlns:a16="http://schemas.microsoft.com/office/drawing/2014/main" id="{EF824CAA-0B5B-2688-3C99-A8F9F46B1DE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61" y="3690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28688" name="AutoShape 1155">
              <a:extLst>
                <a:ext uri="{FF2B5EF4-FFF2-40B4-BE49-F238E27FC236}">
                  <a16:creationId xmlns:a16="http://schemas.microsoft.com/office/drawing/2014/main" id="{1E6849AB-370F-5B8D-4218-2047ED289B85}"/>
                </a:ext>
              </a:extLst>
            </p:cNvPr>
            <p:cNvCxnSpPr>
              <a:cxnSpLocks noChangeAspect="1" noChangeShapeType="1"/>
              <a:stCxn id="28686" idx="3"/>
              <a:endCxn id="28685" idx="7"/>
            </p:cNvCxnSpPr>
            <p:nvPr/>
          </p:nvCxnSpPr>
          <p:spPr bwMode="auto">
            <a:xfrm flipH="1">
              <a:off x="3874" y="2977"/>
              <a:ext cx="232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689" name="AutoShape 1156">
              <a:extLst>
                <a:ext uri="{FF2B5EF4-FFF2-40B4-BE49-F238E27FC236}">
                  <a16:creationId xmlns:a16="http://schemas.microsoft.com/office/drawing/2014/main" id="{6041DA9B-B059-A6CC-3E9C-6241DDD576B0}"/>
                </a:ext>
              </a:extLst>
            </p:cNvPr>
            <p:cNvCxnSpPr>
              <a:cxnSpLocks noChangeAspect="1" noChangeShapeType="1"/>
              <a:stCxn id="28687" idx="1"/>
              <a:endCxn id="28685" idx="5"/>
            </p:cNvCxnSpPr>
            <p:nvPr/>
          </p:nvCxnSpPr>
          <p:spPr bwMode="auto">
            <a:xfrm flipH="1" flipV="1">
              <a:off x="3874" y="3438"/>
              <a:ext cx="220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690" name="AutoShape 1157">
              <a:extLst>
                <a:ext uri="{FF2B5EF4-FFF2-40B4-BE49-F238E27FC236}">
                  <a16:creationId xmlns:a16="http://schemas.microsoft.com/office/drawing/2014/main" id="{84E9C29D-BEAE-DCC4-6B9A-522B5A0DCAEB}"/>
                </a:ext>
              </a:extLst>
            </p:cNvPr>
            <p:cNvCxnSpPr>
              <a:cxnSpLocks noChangeAspect="1" noChangeShapeType="1"/>
              <a:stCxn id="28687" idx="7"/>
              <a:endCxn id="28684" idx="3"/>
            </p:cNvCxnSpPr>
            <p:nvPr/>
          </p:nvCxnSpPr>
          <p:spPr bwMode="auto">
            <a:xfrm flipV="1">
              <a:off x="4258" y="3438"/>
              <a:ext cx="221" cy="273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691" name="AutoShape 1158">
              <a:extLst>
                <a:ext uri="{FF2B5EF4-FFF2-40B4-BE49-F238E27FC236}">
                  <a16:creationId xmlns:a16="http://schemas.microsoft.com/office/drawing/2014/main" id="{C2C4642E-4F6A-BB56-41B1-8128ABDDB502}"/>
                </a:ext>
              </a:extLst>
            </p:cNvPr>
            <p:cNvCxnSpPr>
              <a:cxnSpLocks noChangeAspect="1" noChangeShapeType="1"/>
              <a:stCxn id="28686" idx="5"/>
              <a:endCxn id="28684" idx="1"/>
            </p:cNvCxnSpPr>
            <p:nvPr/>
          </p:nvCxnSpPr>
          <p:spPr bwMode="auto">
            <a:xfrm>
              <a:off x="4270" y="2977"/>
              <a:ext cx="209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692" name="AutoShape 1159">
              <a:extLst>
                <a:ext uri="{FF2B5EF4-FFF2-40B4-BE49-F238E27FC236}">
                  <a16:creationId xmlns:a16="http://schemas.microsoft.com/office/drawing/2014/main" id="{7532990C-0CB8-201A-5AC6-5C607351EB6E}"/>
                </a:ext>
              </a:extLst>
            </p:cNvPr>
            <p:cNvCxnSpPr>
              <a:cxnSpLocks noChangeAspect="1" noChangeShapeType="1"/>
              <a:stCxn id="28685" idx="6"/>
              <a:endCxn id="28684" idx="2"/>
            </p:cNvCxnSpPr>
            <p:nvPr/>
          </p:nvCxnSpPr>
          <p:spPr bwMode="auto">
            <a:xfrm>
              <a:off x="3919" y="3344"/>
              <a:ext cx="514" cy="0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693" name="Oval 1160">
              <a:extLst>
                <a:ext uri="{FF2B5EF4-FFF2-40B4-BE49-F238E27FC236}">
                  <a16:creationId xmlns:a16="http://schemas.microsoft.com/office/drawing/2014/main" id="{E5765AC5-0A6A-337F-4921-59DFEB1E70A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16" y="3229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cxnSp>
          <p:nvCxnSpPr>
            <p:cNvPr id="28694" name="AutoShape 1161">
              <a:extLst>
                <a:ext uri="{FF2B5EF4-FFF2-40B4-BE49-F238E27FC236}">
                  <a16:creationId xmlns:a16="http://schemas.microsoft.com/office/drawing/2014/main" id="{37FB2185-CA06-7A63-6A08-CF5FF14F7A52}"/>
                </a:ext>
              </a:extLst>
            </p:cNvPr>
            <p:cNvCxnSpPr>
              <a:cxnSpLocks noChangeAspect="1" noChangeShapeType="1"/>
              <a:stCxn id="28699" idx="7"/>
              <a:endCxn id="28693" idx="3"/>
            </p:cNvCxnSpPr>
            <p:nvPr/>
          </p:nvCxnSpPr>
          <p:spPr bwMode="auto">
            <a:xfrm flipV="1">
              <a:off x="5028" y="3438"/>
              <a:ext cx="221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695" name="AutoShape 1162">
              <a:extLst>
                <a:ext uri="{FF2B5EF4-FFF2-40B4-BE49-F238E27FC236}">
                  <a16:creationId xmlns:a16="http://schemas.microsoft.com/office/drawing/2014/main" id="{458BB623-2922-09EB-0E4F-5A3233C8B8BA}"/>
                </a:ext>
              </a:extLst>
            </p:cNvPr>
            <p:cNvCxnSpPr>
              <a:cxnSpLocks noChangeAspect="1" noChangeShapeType="1"/>
              <a:stCxn id="28693" idx="1"/>
              <a:endCxn id="28686" idx="6"/>
            </p:cNvCxnSpPr>
            <p:nvPr/>
          </p:nvCxnSpPr>
          <p:spPr bwMode="auto">
            <a:xfrm flipH="1" flipV="1">
              <a:off x="4315" y="2883"/>
              <a:ext cx="934" cy="367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696" name="Text Box 1163">
              <a:extLst>
                <a:ext uri="{FF2B5EF4-FFF2-40B4-BE49-F238E27FC236}">
                  <a16:creationId xmlns:a16="http://schemas.microsoft.com/office/drawing/2014/main" id="{D866730A-2471-7B78-FDC4-2FEDF22FC5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5" y="2615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8697" name="Text Box 1164">
              <a:extLst>
                <a:ext uri="{FF2B5EF4-FFF2-40B4-BE49-F238E27FC236}">
                  <a16:creationId xmlns:a16="http://schemas.microsoft.com/office/drawing/2014/main" id="{9B3450C5-34EE-BFF1-1A6A-0B4794B673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1" y="3071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28698" name="AutoShape 1165">
              <a:extLst>
                <a:ext uri="{FF2B5EF4-FFF2-40B4-BE49-F238E27FC236}">
                  <a16:creationId xmlns:a16="http://schemas.microsoft.com/office/drawing/2014/main" id="{DEB6A90C-1788-26D6-E925-19C72A984C65}"/>
                </a:ext>
              </a:extLst>
            </p:cNvPr>
            <p:cNvCxnSpPr>
              <a:cxnSpLocks noChangeAspect="1" noChangeShapeType="1"/>
              <a:stCxn id="28684" idx="6"/>
              <a:endCxn id="28693" idx="2"/>
            </p:cNvCxnSpPr>
            <p:nvPr/>
          </p:nvCxnSpPr>
          <p:spPr bwMode="auto">
            <a:xfrm>
              <a:off x="4688" y="3344"/>
              <a:ext cx="515" cy="0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699" name="Oval 1166">
              <a:extLst>
                <a:ext uri="{FF2B5EF4-FFF2-40B4-BE49-F238E27FC236}">
                  <a16:creationId xmlns:a16="http://schemas.microsoft.com/office/drawing/2014/main" id="{0F80C2B7-F306-B297-E40F-4860408700F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31" y="3690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F</a:t>
              </a:r>
            </a:p>
          </p:txBody>
        </p:sp>
        <p:cxnSp>
          <p:nvCxnSpPr>
            <p:cNvPr id="28700" name="AutoShape 1167">
              <a:extLst>
                <a:ext uri="{FF2B5EF4-FFF2-40B4-BE49-F238E27FC236}">
                  <a16:creationId xmlns:a16="http://schemas.microsoft.com/office/drawing/2014/main" id="{4E5261A6-A7B3-F74D-9EA1-E9ACB3267C97}"/>
                </a:ext>
              </a:extLst>
            </p:cNvPr>
            <p:cNvCxnSpPr>
              <a:cxnSpLocks noChangeAspect="1" noChangeShapeType="1"/>
              <a:stCxn id="28684" idx="5"/>
              <a:endCxn id="28699" idx="1"/>
            </p:cNvCxnSpPr>
            <p:nvPr/>
          </p:nvCxnSpPr>
          <p:spPr bwMode="auto">
            <a:xfrm>
              <a:off x="4643" y="3438"/>
              <a:ext cx="221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701" name="Text Box 1168">
              <a:extLst>
                <a:ext uri="{FF2B5EF4-FFF2-40B4-BE49-F238E27FC236}">
                  <a16:creationId xmlns:a16="http://schemas.microsoft.com/office/drawing/2014/main" id="{77B808E9-0896-4322-0C3E-7B67B26D4F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3" y="3521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48BAFFED-BE70-6366-6C50-0206F4FD84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(cont.)</a:t>
            </a:r>
          </a:p>
        </p:txBody>
      </p:sp>
      <p:grpSp>
        <p:nvGrpSpPr>
          <p:cNvPr id="29698" name="Group 3">
            <a:extLst>
              <a:ext uri="{FF2B5EF4-FFF2-40B4-BE49-F238E27FC236}">
                <a16:creationId xmlns:a16="http://schemas.microsoft.com/office/drawing/2014/main" id="{1A3B2524-553B-8995-48EE-04CF7BC60DD0}"/>
              </a:ext>
            </a:extLst>
          </p:cNvPr>
          <p:cNvGrpSpPr>
            <a:grpSpLocks/>
          </p:cNvGrpSpPr>
          <p:nvPr/>
        </p:nvGrpSpPr>
        <p:grpSpPr bwMode="auto">
          <a:xfrm>
            <a:off x="2133601" y="1450976"/>
            <a:ext cx="3649663" cy="2130425"/>
            <a:chOff x="3221" y="2615"/>
            <a:chExt cx="2299" cy="1342"/>
          </a:xfrm>
        </p:grpSpPr>
        <p:sp>
          <p:nvSpPr>
            <p:cNvPr id="29745" name="AutoShape 4">
              <a:extLst>
                <a:ext uri="{FF2B5EF4-FFF2-40B4-BE49-F238E27FC236}">
                  <a16:creationId xmlns:a16="http://schemas.microsoft.com/office/drawing/2014/main" id="{63D06F51-7A32-1E0D-AAE7-ACCFBB6967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2" y="3649"/>
              <a:ext cx="521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9746" name="AutoShape 5">
              <a:extLst>
                <a:ext uri="{FF2B5EF4-FFF2-40B4-BE49-F238E27FC236}">
                  <a16:creationId xmlns:a16="http://schemas.microsoft.com/office/drawing/2014/main" id="{73F1DAD6-78A6-BC94-6537-36AE1B600D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7" y="3190"/>
              <a:ext cx="1983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9747" name="AutoShape 6">
              <a:extLst>
                <a:ext uri="{FF2B5EF4-FFF2-40B4-BE49-F238E27FC236}">
                  <a16:creationId xmlns:a16="http://schemas.microsoft.com/office/drawing/2014/main" id="{9B6F139C-50CC-AC69-1719-BED46AE8C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8" y="2729"/>
              <a:ext cx="521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9748" name="Oval 7">
              <a:extLst>
                <a:ext uri="{FF2B5EF4-FFF2-40B4-BE49-F238E27FC236}">
                  <a16:creationId xmlns:a16="http://schemas.microsoft.com/office/drawing/2014/main" id="{587494AB-7E00-2E83-D7CE-B0FA4940C39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46" y="3229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29749" name="Oval 8">
              <a:extLst>
                <a:ext uri="{FF2B5EF4-FFF2-40B4-BE49-F238E27FC236}">
                  <a16:creationId xmlns:a16="http://schemas.microsoft.com/office/drawing/2014/main" id="{FEB80EAA-16E1-7D45-4ED9-6F5BC628B32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77" y="3229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29750" name="Oval 9">
              <a:extLst>
                <a:ext uri="{FF2B5EF4-FFF2-40B4-BE49-F238E27FC236}">
                  <a16:creationId xmlns:a16="http://schemas.microsoft.com/office/drawing/2014/main" id="{1E9FE48D-F491-B2AC-057E-88B90D86A92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73" y="2768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29751" name="Oval 10">
              <a:extLst>
                <a:ext uri="{FF2B5EF4-FFF2-40B4-BE49-F238E27FC236}">
                  <a16:creationId xmlns:a16="http://schemas.microsoft.com/office/drawing/2014/main" id="{5FFEAA5A-AA06-D201-F289-68A0A5EE3B5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61" y="3690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29752" name="AutoShape 11">
              <a:extLst>
                <a:ext uri="{FF2B5EF4-FFF2-40B4-BE49-F238E27FC236}">
                  <a16:creationId xmlns:a16="http://schemas.microsoft.com/office/drawing/2014/main" id="{25C15BA7-D9E3-3689-098B-19189F05F87A}"/>
                </a:ext>
              </a:extLst>
            </p:cNvPr>
            <p:cNvCxnSpPr>
              <a:cxnSpLocks noChangeAspect="1" noChangeShapeType="1"/>
              <a:stCxn id="29750" idx="3"/>
              <a:endCxn id="29749" idx="7"/>
            </p:cNvCxnSpPr>
            <p:nvPr/>
          </p:nvCxnSpPr>
          <p:spPr bwMode="auto">
            <a:xfrm flipH="1">
              <a:off x="3874" y="2977"/>
              <a:ext cx="232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53" name="AutoShape 12">
              <a:extLst>
                <a:ext uri="{FF2B5EF4-FFF2-40B4-BE49-F238E27FC236}">
                  <a16:creationId xmlns:a16="http://schemas.microsoft.com/office/drawing/2014/main" id="{713965EA-4A32-EC4E-7ABA-CC7910415774}"/>
                </a:ext>
              </a:extLst>
            </p:cNvPr>
            <p:cNvCxnSpPr>
              <a:cxnSpLocks noChangeAspect="1" noChangeShapeType="1"/>
              <a:stCxn id="29751" idx="1"/>
              <a:endCxn id="29749" idx="5"/>
            </p:cNvCxnSpPr>
            <p:nvPr/>
          </p:nvCxnSpPr>
          <p:spPr bwMode="auto">
            <a:xfrm flipH="1" flipV="1">
              <a:off x="3874" y="3438"/>
              <a:ext cx="220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54" name="AutoShape 13">
              <a:extLst>
                <a:ext uri="{FF2B5EF4-FFF2-40B4-BE49-F238E27FC236}">
                  <a16:creationId xmlns:a16="http://schemas.microsoft.com/office/drawing/2014/main" id="{5CC3A598-0D4F-AB83-DB71-3045A91D2122}"/>
                </a:ext>
              </a:extLst>
            </p:cNvPr>
            <p:cNvCxnSpPr>
              <a:cxnSpLocks noChangeAspect="1" noChangeShapeType="1"/>
              <a:stCxn id="29751" idx="7"/>
              <a:endCxn id="29748" idx="3"/>
            </p:cNvCxnSpPr>
            <p:nvPr/>
          </p:nvCxnSpPr>
          <p:spPr bwMode="auto">
            <a:xfrm flipV="1">
              <a:off x="4258" y="3438"/>
              <a:ext cx="221" cy="273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55" name="AutoShape 14">
              <a:extLst>
                <a:ext uri="{FF2B5EF4-FFF2-40B4-BE49-F238E27FC236}">
                  <a16:creationId xmlns:a16="http://schemas.microsoft.com/office/drawing/2014/main" id="{68F08D2D-EB24-7DA5-6413-7AFCEA2CFAF2}"/>
                </a:ext>
              </a:extLst>
            </p:cNvPr>
            <p:cNvCxnSpPr>
              <a:cxnSpLocks noChangeAspect="1" noChangeShapeType="1"/>
              <a:stCxn id="29750" idx="5"/>
              <a:endCxn id="29748" idx="1"/>
            </p:cNvCxnSpPr>
            <p:nvPr/>
          </p:nvCxnSpPr>
          <p:spPr bwMode="auto">
            <a:xfrm>
              <a:off x="4270" y="2977"/>
              <a:ext cx="209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56" name="AutoShape 15">
              <a:extLst>
                <a:ext uri="{FF2B5EF4-FFF2-40B4-BE49-F238E27FC236}">
                  <a16:creationId xmlns:a16="http://schemas.microsoft.com/office/drawing/2014/main" id="{6777D402-5795-52F4-2C8A-B660E9FC41FE}"/>
                </a:ext>
              </a:extLst>
            </p:cNvPr>
            <p:cNvCxnSpPr>
              <a:cxnSpLocks noChangeAspect="1" noChangeShapeType="1"/>
              <a:stCxn id="29749" idx="6"/>
              <a:endCxn id="29748" idx="2"/>
            </p:cNvCxnSpPr>
            <p:nvPr/>
          </p:nvCxnSpPr>
          <p:spPr bwMode="auto">
            <a:xfrm>
              <a:off x="3919" y="3344"/>
              <a:ext cx="514" cy="0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57" name="Oval 16">
              <a:extLst>
                <a:ext uri="{FF2B5EF4-FFF2-40B4-BE49-F238E27FC236}">
                  <a16:creationId xmlns:a16="http://schemas.microsoft.com/office/drawing/2014/main" id="{6902DA36-50E4-6C7C-7FDD-C9FF065EA0B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16" y="3229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cxnSp>
          <p:nvCxnSpPr>
            <p:cNvPr id="29758" name="AutoShape 17">
              <a:extLst>
                <a:ext uri="{FF2B5EF4-FFF2-40B4-BE49-F238E27FC236}">
                  <a16:creationId xmlns:a16="http://schemas.microsoft.com/office/drawing/2014/main" id="{3FFC2538-1D93-7DD7-9F90-93C4545D6429}"/>
                </a:ext>
              </a:extLst>
            </p:cNvPr>
            <p:cNvCxnSpPr>
              <a:cxnSpLocks noChangeAspect="1" noChangeShapeType="1"/>
              <a:stCxn id="29763" idx="7"/>
              <a:endCxn id="29757" idx="3"/>
            </p:cNvCxnSpPr>
            <p:nvPr/>
          </p:nvCxnSpPr>
          <p:spPr bwMode="auto">
            <a:xfrm flipV="1">
              <a:off x="5028" y="3438"/>
              <a:ext cx="221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59" name="AutoShape 18">
              <a:extLst>
                <a:ext uri="{FF2B5EF4-FFF2-40B4-BE49-F238E27FC236}">
                  <a16:creationId xmlns:a16="http://schemas.microsoft.com/office/drawing/2014/main" id="{48CABAC8-2C70-51BF-0376-03A0C4683003}"/>
                </a:ext>
              </a:extLst>
            </p:cNvPr>
            <p:cNvCxnSpPr>
              <a:cxnSpLocks noChangeAspect="1" noChangeShapeType="1"/>
              <a:stCxn id="29757" idx="1"/>
              <a:endCxn id="29750" idx="6"/>
            </p:cNvCxnSpPr>
            <p:nvPr/>
          </p:nvCxnSpPr>
          <p:spPr bwMode="auto">
            <a:xfrm flipH="1" flipV="1">
              <a:off x="4315" y="2883"/>
              <a:ext cx="934" cy="367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60" name="Text Box 19">
              <a:extLst>
                <a:ext uri="{FF2B5EF4-FFF2-40B4-BE49-F238E27FC236}">
                  <a16:creationId xmlns:a16="http://schemas.microsoft.com/office/drawing/2014/main" id="{E9B3AFB3-29FB-9DC8-8B25-1B2EA7D09D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5" y="2615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9761" name="Text Box 20">
              <a:extLst>
                <a:ext uri="{FF2B5EF4-FFF2-40B4-BE49-F238E27FC236}">
                  <a16:creationId xmlns:a16="http://schemas.microsoft.com/office/drawing/2014/main" id="{B77C1930-2F58-AE14-DA96-8957B4B47D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1" y="3071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29762" name="AutoShape 21">
              <a:extLst>
                <a:ext uri="{FF2B5EF4-FFF2-40B4-BE49-F238E27FC236}">
                  <a16:creationId xmlns:a16="http://schemas.microsoft.com/office/drawing/2014/main" id="{3A59B68D-8940-F536-0320-F604C0C7B707}"/>
                </a:ext>
              </a:extLst>
            </p:cNvPr>
            <p:cNvCxnSpPr>
              <a:cxnSpLocks noChangeAspect="1" noChangeShapeType="1"/>
              <a:stCxn id="29748" idx="6"/>
              <a:endCxn id="29757" idx="2"/>
            </p:cNvCxnSpPr>
            <p:nvPr/>
          </p:nvCxnSpPr>
          <p:spPr bwMode="auto">
            <a:xfrm>
              <a:off x="4688" y="3344"/>
              <a:ext cx="515" cy="0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63" name="Oval 22">
              <a:extLst>
                <a:ext uri="{FF2B5EF4-FFF2-40B4-BE49-F238E27FC236}">
                  <a16:creationId xmlns:a16="http://schemas.microsoft.com/office/drawing/2014/main" id="{9FBD6968-2F05-FDAE-C3E9-30C9A47C106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31" y="3690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F</a:t>
              </a:r>
            </a:p>
          </p:txBody>
        </p:sp>
        <p:cxnSp>
          <p:nvCxnSpPr>
            <p:cNvPr id="29764" name="AutoShape 23">
              <a:extLst>
                <a:ext uri="{FF2B5EF4-FFF2-40B4-BE49-F238E27FC236}">
                  <a16:creationId xmlns:a16="http://schemas.microsoft.com/office/drawing/2014/main" id="{475B8184-29F5-8186-AA02-6978C9758403}"/>
                </a:ext>
              </a:extLst>
            </p:cNvPr>
            <p:cNvCxnSpPr>
              <a:cxnSpLocks noChangeAspect="1" noChangeShapeType="1"/>
              <a:stCxn id="29748" idx="5"/>
              <a:endCxn id="29763" idx="1"/>
            </p:cNvCxnSpPr>
            <p:nvPr/>
          </p:nvCxnSpPr>
          <p:spPr bwMode="auto">
            <a:xfrm>
              <a:off x="4643" y="3438"/>
              <a:ext cx="221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65" name="Text Box 24">
              <a:extLst>
                <a:ext uri="{FF2B5EF4-FFF2-40B4-BE49-F238E27FC236}">
                  <a16:creationId xmlns:a16="http://schemas.microsoft.com/office/drawing/2014/main" id="{0C0FEB64-4002-9B60-8252-7FDFFBA602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3" y="3521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29699" name="AutoShape 26">
            <a:extLst>
              <a:ext uri="{FF2B5EF4-FFF2-40B4-BE49-F238E27FC236}">
                <a16:creationId xmlns:a16="http://schemas.microsoft.com/office/drawing/2014/main" id="{02960E60-6C75-D3B8-B581-79FB92EB1156}"/>
              </a:ext>
            </a:extLst>
          </p:cNvPr>
          <p:cNvSpPr>
            <a:spLocks noChangeArrowheads="1"/>
          </p:cNvSpPr>
          <p:nvPr/>
        </p:nvSpPr>
        <p:spPr bwMode="auto">
          <a:xfrm rot="8100000" flipH="1" flipV="1">
            <a:off x="5691188" y="3733801"/>
            <a:ext cx="1243012" cy="333375"/>
          </a:xfrm>
          <a:prstGeom prst="rightArrow">
            <a:avLst>
              <a:gd name="adj1" fmla="val 50000"/>
              <a:gd name="adj2" fmla="val 93214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00" name="AutoShape 27">
            <a:extLst>
              <a:ext uri="{FF2B5EF4-FFF2-40B4-BE49-F238E27FC236}">
                <a16:creationId xmlns:a16="http://schemas.microsoft.com/office/drawing/2014/main" id="{C351265E-4F71-6BB4-E786-F4ED27E7B27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30626" y="3757613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pSp>
        <p:nvGrpSpPr>
          <p:cNvPr id="29701" name="Group 50">
            <a:extLst>
              <a:ext uri="{FF2B5EF4-FFF2-40B4-BE49-F238E27FC236}">
                <a16:creationId xmlns:a16="http://schemas.microsoft.com/office/drawing/2014/main" id="{DA247F9C-CED8-A4B4-F795-B642ED524DBF}"/>
              </a:ext>
            </a:extLst>
          </p:cNvPr>
          <p:cNvGrpSpPr>
            <a:grpSpLocks/>
          </p:cNvGrpSpPr>
          <p:nvPr/>
        </p:nvGrpSpPr>
        <p:grpSpPr bwMode="auto">
          <a:xfrm>
            <a:off x="2133601" y="4152901"/>
            <a:ext cx="3649663" cy="2130425"/>
            <a:chOff x="384" y="2616"/>
            <a:chExt cx="2299" cy="1342"/>
          </a:xfrm>
        </p:grpSpPr>
        <p:sp>
          <p:nvSpPr>
            <p:cNvPr id="29724" name="AutoShape 29">
              <a:extLst>
                <a:ext uri="{FF2B5EF4-FFF2-40B4-BE49-F238E27FC236}">
                  <a16:creationId xmlns:a16="http://schemas.microsoft.com/office/drawing/2014/main" id="{C0AB2152-6901-A925-C02C-8C283B105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" y="3650"/>
              <a:ext cx="1291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9725" name="AutoShape 30">
              <a:extLst>
                <a:ext uri="{FF2B5EF4-FFF2-40B4-BE49-F238E27FC236}">
                  <a16:creationId xmlns:a16="http://schemas.microsoft.com/office/drawing/2014/main" id="{44C8B43F-35EA-F341-7C23-4E8BE4DCED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0" y="3191"/>
              <a:ext cx="1983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9726" name="AutoShape 31">
              <a:extLst>
                <a:ext uri="{FF2B5EF4-FFF2-40B4-BE49-F238E27FC236}">
                  <a16:creationId xmlns:a16="http://schemas.microsoft.com/office/drawing/2014/main" id="{F7B560F5-6DE1-DDBE-0AF0-224F3A6ADC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" y="2730"/>
              <a:ext cx="521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9727" name="Oval 32">
              <a:extLst>
                <a:ext uri="{FF2B5EF4-FFF2-40B4-BE49-F238E27FC236}">
                  <a16:creationId xmlns:a16="http://schemas.microsoft.com/office/drawing/2014/main" id="{15B5B8D6-1E82-24A5-F071-B03E24743F8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09" y="3230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29728" name="Oval 33">
              <a:extLst>
                <a:ext uri="{FF2B5EF4-FFF2-40B4-BE49-F238E27FC236}">
                  <a16:creationId xmlns:a16="http://schemas.microsoft.com/office/drawing/2014/main" id="{50C2A183-751C-FDE5-FCB2-0DC65E3BB10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40" y="3230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29729" name="Oval 34">
              <a:extLst>
                <a:ext uri="{FF2B5EF4-FFF2-40B4-BE49-F238E27FC236}">
                  <a16:creationId xmlns:a16="http://schemas.microsoft.com/office/drawing/2014/main" id="{BB133EAD-32D6-766E-ACC6-BFAAED000C4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36" y="2769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29730" name="Oval 35">
              <a:extLst>
                <a:ext uri="{FF2B5EF4-FFF2-40B4-BE49-F238E27FC236}">
                  <a16:creationId xmlns:a16="http://schemas.microsoft.com/office/drawing/2014/main" id="{8C5FE663-FA16-71DE-ADF5-79F1052AF1B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24" y="3691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29731" name="AutoShape 36">
              <a:extLst>
                <a:ext uri="{FF2B5EF4-FFF2-40B4-BE49-F238E27FC236}">
                  <a16:creationId xmlns:a16="http://schemas.microsoft.com/office/drawing/2014/main" id="{81980C66-4CC2-F6D2-BFD0-84496EE3B92B}"/>
                </a:ext>
              </a:extLst>
            </p:cNvPr>
            <p:cNvCxnSpPr>
              <a:cxnSpLocks noChangeAspect="1" noChangeShapeType="1"/>
              <a:stCxn id="29729" idx="3"/>
              <a:endCxn id="29728" idx="7"/>
            </p:cNvCxnSpPr>
            <p:nvPr/>
          </p:nvCxnSpPr>
          <p:spPr bwMode="auto">
            <a:xfrm flipH="1">
              <a:off x="1037" y="2978"/>
              <a:ext cx="232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32" name="AutoShape 37">
              <a:extLst>
                <a:ext uri="{FF2B5EF4-FFF2-40B4-BE49-F238E27FC236}">
                  <a16:creationId xmlns:a16="http://schemas.microsoft.com/office/drawing/2014/main" id="{191B3AA1-6CD4-20DA-98A4-3B1C80F3B752}"/>
                </a:ext>
              </a:extLst>
            </p:cNvPr>
            <p:cNvCxnSpPr>
              <a:cxnSpLocks noChangeAspect="1" noChangeShapeType="1"/>
              <a:stCxn id="29730" idx="1"/>
              <a:endCxn id="29728" idx="5"/>
            </p:cNvCxnSpPr>
            <p:nvPr/>
          </p:nvCxnSpPr>
          <p:spPr bwMode="auto">
            <a:xfrm flipH="1" flipV="1">
              <a:off x="1037" y="3439"/>
              <a:ext cx="220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33" name="AutoShape 38">
              <a:extLst>
                <a:ext uri="{FF2B5EF4-FFF2-40B4-BE49-F238E27FC236}">
                  <a16:creationId xmlns:a16="http://schemas.microsoft.com/office/drawing/2014/main" id="{8E4BC1A8-8817-6459-93E1-BCD4AFF4071E}"/>
                </a:ext>
              </a:extLst>
            </p:cNvPr>
            <p:cNvCxnSpPr>
              <a:cxnSpLocks noChangeAspect="1" noChangeShapeType="1"/>
              <a:stCxn id="29730" idx="7"/>
              <a:endCxn id="29727" idx="3"/>
            </p:cNvCxnSpPr>
            <p:nvPr/>
          </p:nvCxnSpPr>
          <p:spPr bwMode="auto">
            <a:xfrm flipV="1">
              <a:off x="1421" y="3439"/>
              <a:ext cx="221" cy="273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34" name="AutoShape 39">
              <a:extLst>
                <a:ext uri="{FF2B5EF4-FFF2-40B4-BE49-F238E27FC236}">
                  <a16:creationId xmlns:a16="http://schemas.microsoft.com/office/drawing/2014/main" id="{0E749A25-5245-22BC-149E-457733662EC4}"/>
                </a:ext>
              </a:extLst>
            </p:cNvPr>
            <p:cNvCxnSpPr>
              <a:cxnSpLocks noChangeAspect="1" noChangeShapeType="1"/>
              <a:stCxn id="29729" idx="5"/>
              <a:endCxn id="29727" idx="1"/>
            </p:cNvCxnSpPr>
            <p:nvPr/>
          </p:nvCxnSpPr>
          <p:spPr bwMode="auto">
            <a:xfrm>
              <a:off x="1433" y="2978"/>
              <a:ext cx="209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35" name="AutoShape 40">
              <a:extLst>
                <a:ext uri="{FF2B5EF4-FFF2-40B4-BE49-F238E27FC236}">
                  <a16:creationId xmlns:a16="http://schemas.microsoft.com/office/drawing/2014/main" id="{F17712A4-62AA-3149-6B91-C84FAD75B7D2}"/>
                </a:ext>
              </a:extLst>
            </p:cNvPr>
            <p:cNvCxnSpPr>
              <a:cxnSpLocks noChangeAspect="1" noChangeShapeType="1"/>
              <a:stCxn id="29728" idx="6"/>
              <a:endCxn id="29727" idx="2"/>
            </p:cNvCxnSpPr>
            <p:nvPr/>
          </p:nvCxnSpPr>
          <p:spPr bwMode="auto">
            <a:xfrm>
              <a:off x="1082" y="3345"/>
              <a:ext cx="514" cy="0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36" name="Oval 41">
              <a:extLst>
                <a:ext uri="{FF2B5EF4-FFF2-40B4-BE49-F238E27FC236}">
                  <a16:creationId xmlns:a16="http://schemas.microsoft.com/office/drawing/2014/main" id="{173CB04E-361D-219E-BD32-5569A3FCA02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79" y="3230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cxnSp>
          <p:nvCxnSpPr>
            <p:cNvPr id="29737" name="AutoShape 42">
              <a:extLst>
                <a:ext uri="{FF2B5EF4-FFF2-40B4-BE49-F238E27FC236}">
                  <a16:creationId xmlns:a16="http://schemas.microsoft.com/office/drawing/2014/main" id="{DD736FD6-6912-E70A-4188-B195ADCD3131}"/>
                </a:ext>
              </a:extLst>
            </p:cNvPr>
            <p:cNvCxnSpPr>
              <a:cxnSpLocks noChangeAspect="1" noChangeShapeType="1"/>
              <a:stCxn id="29742" idx="7"/>
              <a:endCxn id="29736" idx="3"/>
            </p:cNvCxnSpPr>
            <p:nvPr/>
          </p:nvCxnSpPr>
          <p:spPr bwMode="auto">
            <a:xfrm flipV="1">
              <a:off x="2191" y="3439"/>
              <a:ext cx="221" cy="2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38" name="AutoShape 43">
              <a:extLst>
                <a:ext uri="{FF2B5EF4-FFF2-40B4-BE49-F238E27FC236}">
                  <a16:creationId xmlns:a16="http://schemas.microsoft.com/office/drawing/2014/main" id="{778E46CC-972C-A351-C452-395C238A6B88}"/>
                </a:ext>
              </a:extLst>
            </p:cNvPr>
            <p:cNvCxnSpPr>
              <a:cxnSpLocks noChangeAspect="1" noChangeShapeType="1"/>
              <a:stCxn id="29736" idx="1"/>
              <a:endCxn id="29729" idx="6"/>
            </p:cNvCxnSpPr>
            <p:nvPr/>
          </p:nvCxnSpPr>
          <p:spPr bwMode="auto">
            <a:xfrm flipH="1" flipV="1">
              <a:off x="1478" y="2884"/>
              <a:ext cx="934" cy="367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39" name="Text Box 44">
              <a:extLst>
                <a:ext uri="{FF2B5EF4-FFF2-40B4-BE49-F238E27FC236}">
                  <a16:creationId xmlns:a16="http://schemas.microsoft.com/office/drawing/2014/main" id="{349EAEF4-8792-07B2-2A7D-B565DF0ED1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2616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9740" name="Text Box 45">
              <a:extLst>
                <a:ext uri="{FF2B5EF4-FFF2-40B4-BE49-F238E27FC236}">
                  <a16:creationId xmlns:a16="http://schemas.microsoft.com/office/drawing/2014/main" id="{C935750E-9B19-C12C-3224-3C6A9CE5A9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072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29741" name="AutoShape 46">
              <a:extLst>
                <a:ext uri="{FF2B5EF4-FFF2-40B4-BE49-F238E27FC236}">
                  <a16:creationId xmlns:a16="http://schemas.microsoft.com/office/drawing/2014/main" id="{4E70C859-AAB4-2F85-97DE-A863ADE7951D}"/>
                </a:ext>
              </a:extLst>
            </p:cNvPr>
            <p:cNvCxnSpPr>
              <a:cxnSpLocks noChangeAspect="1" noChangeShapeType="1"/>
              <a:stCxn id="29727" idx="6"/>
              <a:endCxn id="29736" idx="2"/>
            </p:cNvCxnSpPr>
            <p:nvPr/>
          </p:nvCxnSpPr>
          <p:spPr bwMode="auto">
            <a:xfrm>
              <a:off x="1851" y="3345"/>
              <a:ext cx="515" cy="0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42" name="Oval 47">
              <a:extLst>
                <a:ext uri="{FF2B5EF4-FFF2-40B4-BE49-F238E27FC236}">
                  <a16:creationId xmlns:a16="http://schemas.microsoft.com/office/drawing/2014/main" id="{233735CE-0074-1EB2-612D-1FEB185459B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94" y="3691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F</a:t>
              </a:r>
            </a:p>
          </p:txBody>
        </p:sp>
        <p:cxnSp>
          <p:nvCxnSpPr>
            <p:cNvPr id="29743" name="AutoShape 48">
              <a:extLst>
                <a:ext uri="{FF2B5EF4-FFF2-40B4-BE49-F238E27FC236}">
                  <a16:creationId xmlns:a16="http://schemas.microsoft.com/office/drawing/2014/main" id="{49EC6C68-1D58-62E1-9296-22AF41EB4822}"/>
                </a:ext>
              </a:extLst>
            </p:cNvPr>
            <p:cNvCxnSpPr>
              <a:cxnSpLocks noChangeAspect="1" noChangeShapeType="1"/>
              <a:stCxn id="29727" idx="5"/>
              <a:endCxn id="29742" idx="1"/>
            </p:cNvCxnSpPr>
            <p:nvPr/>
          </p:nvCxnSpPr>
          <p:spPr bwMode="auto">
            <a:xfrm>
              <a:off x="1806" y="3439"/>
              <a:ext cx="221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44" name="Text Box 49">
              <a:extLst>
                <a:ext uri="{FF2B5EF4-FFF2-40B4-BE49-F238E27FC236}">
                  <a16:creationId xmlns:a16="http://schemas.microsoft.com/office/drawing/2014/main" id="{691F9B01-4447-2891-6D52-B34E5CC26B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" y="3522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29702" name="AutoShape 52">
            <a:extLst>
              <a:ext uri="{FF2B5EF4-FFF2-40B4-BE49-F238E27FC236}">
                <a16:creationId xmlns:a16="http://schemas.microsoft.com/office/drawing/2014/main" id="{B0FBDC0F-5BB3-5B28-F55F-B1A1D0975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7613" y="3092450"/>
            <a:ext cx="2049462" cy="48895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12700">
            <a:solidFill>
              <a:schemeClr val="tx2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03" name="AutoShape 53">
            <a:extLst>
              <a:ext uri="{FF2B5EF4-FFF2-40B4-BE49-F238E27FC236}">
                <a16:creationId xmlns:a16="http://schemas.microsoft.com/office/drawing/2014/main" id="{E34C3633-F72B-B6E2-9871-91E51767E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2301" y="2363788"/>
            <a:ext cx="3148013" cy="48895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12700">
            <a:solidFill>
              <a:schemeClr val="tx2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04" name="AutoShape 54">
            <a:extLst>
              <a:ext uri="{FF2B5EF4-FFF2-40B4-BE49-F238E27FC236}">
                <a16:creationId xmlns:a16="http://schemas.microsoft.com/office/drawing/2014/main" id="{42C49CB0-17D8-4445-940D-174E33270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7139" y="1631950"/>
            <a:ext cx="827087" cy="48895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12700">
            <a:solidFill>
              <a:schemeClr val="tx2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05" name="Oval 55">
            <a:extLst>
              <a:ext uri="{FF2B5EF4-FFF2-40B4-BE49-F238E27FC236}">
                <a16:creationId xmlns:a16="http://schemas.microsoft.com/office/drawing/2014/main" id="{E245FDA9-BEF7-B062-B5AD-7DCB52590A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415338" y="2425701"/>
            <a:ext cx="366712" cy="366713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29706" name="Oval 56">
            <a:extLst>
              <a:ext uri="{FF2B5EF4-FFF2-40B4-BE49-F238E27FC236}">
                <a16:creationId xmlns:a16="http://schemas.microsoft.com/office/drawing/2014/main" id="{8CFE013D-8AA9-BD53-9930-0D4777CDBB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94551" y="2425701"/>
            <a:ext cx="366713" cy="366713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29707" name="Oval 57">
            <a:extLst>
              <a:ext uri="{FF2B5EF4-FFF2-40B4-BE49-F238E27FC236}">
                <a16:creationId xmlns:a16="http://schemas.microsoft.com/office/drawing/2014/main" id="{3E037D2B-387A-002E-CE86-9660B1A778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23201" y="1693863"/>
            <a:ext cx="366713" cy="366712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29708" name="Oval 58">
            <a:extLst>
              <a:ext uri="{FF2B5EF4-FFF2-40B4-BE49-F238E27FC236}">
                <a16:creationId xmlns:a16="http://schemas.microsoft.com/office/drawing/2014/main" id="{A5FA2548-7466-765C-24CE-4BB3604C23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04151" y="3157538"/>
            <a:ext cx="366713" cy="366712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29709" name="AutoShape 59">
            <a:extLst>
              <a:ext uri="{FF2B5EF4-FFF2-40B4-BE49-F238E27FC236}">
                <a16:creationId xmlns:a16="http://schemas.microsoft.com/office/drawing/2014/main" id="{FFCF46D9-115A-4C4A-B772-016D81212A42}"/>
              </a:ext>
            </a:extLst>
          </p:cNvPr>
          <p:cNvCxnSpPr>
            <a:cxnSpLocks noChangeAspect="1" noChangeShapeType="1"/>
            <a:stCxn id="29707" idx="3"/>
            <a:endCxn id="29706" idx="7"/>
          </p:cNvCxnSpPr>
          <p:nvPr/>
        </p:nvCxnSpPr>
        <p:spPr bwMode="auto">
          <a:xfrm flipH="1">
            <a:off x="7507288" y="2025650"/>
            <a:ext cx="368300" cy="433388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0" name="AutoShape 60">
            <a:extLst>
              <a:ext uri="{FF2B5EF4-FFF2-40B4-BE49-F238E27FC236}">
                <a16:creationId xmlns:a16="http://schemas.microsoft.com/office/drawing/2014/main" id="{CCDCCFAA-12D8-68AD-F135-D1EEEDB852F8}"/>
              </a:ext>
            </a:extLst>
          </p:cNvPr>
          <p:cNvCxnSpPr>
            <a:cxnSpLocks noChangeAspect="1" noChangeShapeType="1"/>
            <a:stCxn id="29708" idx="1"/>
            <a:endCxn id="29706" idx="5"/>
          </p:cNvCxnSpPr>
          <p:nvPr/>
        </p:nvCxnSpPr>
        <p:spPr bwMode="auto">
          <a:xfrm flipH="1" flipV="1">
            <a:off x="7507288" y="2757489"/>
            <a:ext cx="349250" cy="43338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1" name="AutoShape 61">
            <a:extLst>
              <a:ext uri="{FF2B5EF4-FFF2-40B4-BE49-F238E27FC236}">
                <a16:creationId xmlns:a16="http://schemas.microsoft.com/office/drawing/2014/main" id="{9CECDD84-4D9F-1B35-F99B-391F4166338F}"/>
              </a:ext>
            </a:extLst>
          </p:cNvPr>
          <p:cNvCxnSpPr>
            <a:cxnSpLocks noChangeAspect="1" noChangeShapeType="1"/>
            <a:stCxn id="29708" idx="7"/>
            <a:endCxn id="29705" idx="3"/>
          </p:cNvCxnSpPr>
          <p:nvPr/>
        </p:nvCxnSpPr>
        <p:spPr bwMode="auto">
          <a:xfrm flipV="1">
            <a:off x="8116889" y="2757489"/>
            <a:ext cx="350837" cy="433387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2" name="AutoShape 62">
            <a:extLst>
              <a:ext uri="{FF2B5EF4-FFF2-40B4-BE49-F238E27FC236}">
                <a16:creationId xmlns:a16="http://schemas.microsoft.com/office/drawing/2014/main" id="{A6ADF16E-5DBC-D956-5076-735E1A6F22FB}"/>
              </a:ext>
            </a:extLst>
          </p:cNvPr>
          <p:cNvCxnSpPr>
            <a:cxnSpLocks noChangeAspect="1" noChangeShapeType="1"/>
            <a:stCxn id="29707" idx="5"/>
            <a:endCxn id="29705" idx="1"/>
          </p:cNvCxnSpPr>
          <p:nvPr/>
        </p:nvCxnSpPr>
        <p:spPr bwMode="auto">
          <a:xfrm>
            <a:off x="8135939" y="2025650"/>
            <a:ext cx="331787" cy="433388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3" name="AutoShape 63">
            <a:extLst>
              <a:ext uri="{FF2B5EF4-FFF2-40B4-BE49-F238E27FC236}">
                <a16:creationId xmlns:a16="http://schemas.microsoft.com/office/drawing/2014/main" id="{16356E1B-F910-6010-2F6C-97DD376E2F33}"/>
              </a:ext>
            </a:extLst>
          </p:cNvPr>
          <p:cNvCxnSpPr>
            <a:cxnSpLocks noChangeAspect="1" noChangeShapeType="1"/>
            <a:stCxn id="29706" idx="6"/>
            <a:endCxn id="29705" idx="2"/>
          </p:cNvCxnSpPr>
          <p:nvPr/>
        </p:nvCxnSpPr>
        <p:spPr bwMode="auto">
          <a:xfrm>
            <a:off x="7578726" y="2608263"/>
            <a:ext cx="815975" cy="0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14" name="Oval 64">
            <a:extLst>
              <a:ext uri="{FF2B5EF4-FFF2-40B4-BE49-F238E27FC236}">
                <a16:creationId xmlns:a16="http://schemas.microsoft.com/office/drawing/2014/main" id="{5157ACDA-2E7B-4658-60C0-A8DEFF50F9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637713" y="2425701"/>
            <a:ext cx="366712" cy="366713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</a:t>
            </a:r>
          </a:p>
        </p:txBody>
      </p:sp>
      <p:cxnSp>
        <p:nvCxnSpPr>
          <p:cNvPr id="29715" name="AutoShape 65">
            <a:extLst>
              <a:ext uri="{FF2B5EF4-FFF2-40B4-BE49-F238E27FC236}">
                <a16:creationId xmlns:a16="http://schemas.microsoft.com/office/drawing/2014/main" id="{BFBE2EA1-FCF3-940C-C8FE-A090DB453AD7}"/>
              </a:ext>
            </a:extLst>
          </p:cNvPr>
          <p:cNvCxnSpPr>
            <a:cxnSpLocks noChangeAspect="1" noChangeShapeType="1"/>
            <a:stCxn id="29720" idx="7"/>
            <a:endCxn id="29714" idx="3"/>
          </p:cNvCxnSpPr>
          <p:nvPr/>
        </p:nvCxnSpPr>
        <p:spPr bwMode="auto">
          <a:xfrm flipV="1">
            <a:off x="9339264" y="2757489"/>
            <a:ext cx="350837" cy="433387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6" name="AutoShape 66">
            <a:extLst>
              <a:ext uri="{FF2B5EF4-FFF2-40B4-BE49-F238E27FC236}">
                <a16:creationId xmlns:a16="http://schemas.microsoft.com/office/drawing/2014/main" id="{0F809B5D-EA1F-BC07-8AA5-D7E337CBA6E5}"/>
              </a:ext>
            </a:extLst>
          </p:cNvPr>
          <p:cNvCxnSpPr>
            <a:cxnSpLocks noChangeAspect="1" noChangeShapeType="1"/>
            <a:stCxn id="29714" idx="1"/>
            <a:endCxn id="29707" idx="6"/>
          </p:cNvCxnSpPr>
          <p:nvPr/>
        </p:nvCxnSpPr>
        <p:spPr bwMode="auto">
          <a:xfrm flipH="1" flipV="1">
            <a:off x="8207376" y="1876426"/>
            <a:ext cx="1482725" cy="582613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17" name="Text Box 67">
            <a:extLst>
              <a:ext uri="{FF2B5EF4-FFF2-40B4-BE49-F238E27FC236}">
                <a16:creationId xmlns:a16="http://schemas.microsoft.com/office/drawing/2014/main" id="{8F1E0D2E-78BA-B9BF-9E91-3001EB97E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251" y="1450976"/>
            <a:ext cx="466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L</a:t>
            </a:r>
            <a:r>
              <a:rPr lang="en-US" altLang="en-US" sz="20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9718" name="Text Box 68">
            <a:extLst>
              <a:ext uri="{FF2B5EF4-FFF2-40B4-BE49-F238E27FC236}">
                <a16:creationId xmlns:a16="http://schemas.microsoft.com/office/drawing/2014/main" id="{C6570A1D-050A-88AD-3923-12BB0F4DB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0651" y="2174876"/>
            <a:ext cx="466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L</a:t>
            </a:r>
            <a:r>
              <a:rPr lang="en-US" altLang="en-US" sz="20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cxnSp>
        <p:nvCxnSpPr>
          <p:cNvPr id="29719" name="AutoShape 69">
            <a:extLst>
              <a:ext uri="{FF2B5EF4-FFF2-40B4-BE49-F238E27FC236}">
                <a16:creationId xmlns:a16="http://schemas.microsoft.com/office/drawing/2014/main" id="{38C5644E-0303-3F00-8EA1-A40EE69B7EE5}"/>
              </a:ext>
            </a:extLst>
          </p:cNvPr>
          <p:cNvCxnSpPr>
            <a:cxnSpLocks noChangeAspect="1" noChangeShapeType="1"/>
            <a:stCxn id="29705" idx="6"/>
            <a:endCxn id="29714" idx="2"/>
          </p:cNvCxnSpPr>
          <p:nvPr/>
        </p:nvCxnSpPr>
        <p:spPr bwMode="auto">
          <a:xfrm>
            <a:off x="8799513" y="2608263"/>
            <a:ext cx="817562" cy="0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20" name="Oval 70">
            <a:extLst>
              <a:ext uri="{FF2B5EF4-FFF2-40B4-BE49-F238E27FC236}">
                <a16:creationId xmlns:a16="http://schemas.microsoft.com/office/drawing/2014/main" id="{891A8223-EDE1-ECCE-B77A-1D1341B0AB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26526" y="3157538"/>
            <a:ext cx="366713" cy="366712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F</a:t>
            </a:r>
          </a:p>
        </p:txBody>
      </p:sp>
      <p:cxnSp>
        <p:nvCxnSpPr>
          <p:cNvPr id="29721" name="AutoShape 71">
            <a:extLst>
              <a:ext uri="{FF2B5EF4-FFF2-40B4-BE49-F238E27FC236}">
                <a16:creationId xmlns:a16="http://schemas.microsoft.com/office/drawing/2014/main" id="{E248CF89-8F8A-99FB-299B-A308089BF65B}"/>
              </a:ext>
            </a:extLst>
          </p:cNvPr>
          <p:cNvCxnSpPr>
            <a:cxnSpLocks noChangeAspect="1" noChangeShapeType="1"/>
            <a:stCxn id="29705" idx="5"/>
            <a:endCxn id="29720" idx="1"/>
          </p:cNvCxnSpPr>
          <p:nvPr/>
        </p:nvCxnSpPr>
        <p:spPr bwMode="auto">
          <a:xfrm>
            <a:off x="8728075" y="2757489"/>
            <a:ext cx="350838" cy="43338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22" name="Text Box 72">
            <a:extLst>
              <a:ext uri="{FF2B5EF4-FFF2-40B4-BE49-F238E27FC236}">
                <a16:creationId xmlns:a16="http://schemas.microsoft.com/office/drawing/2014/main" id="{D5946A9B-09CD-44B2-EAFC-435CE8EB49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1201" y="2889251"/>
            <a:ext cx="466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L</a:t>
            </a:r>
            <a:r>
              <a:rPr lang="en-US" altLang="en-US" sz="20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9723" name="TextBox 72">
            <a:extLst>
              <a:ext uri="{FF2B5EF4-FFF2-40B4-BE49-F238E27FC236}">
                <a16:creationId xmlns:a16="http://schemas.microsoft.com/office/drawing/2014/main" id="{16050737-3E43-F8B9-6F09-1FA6427B63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4572001"/>
            <a:ext cx="1828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L</a:t>
            </a:r>
            <a:r>
              <a:rPr lang="en-US" altLang="en-US" sz="2000" baseline="-25000"/>
              <a:t>3</a:t>
            </a:r>
            <a:r>
              <a:rPr lang="en-US" altLang="en-US" sz="2000"/>
              <a:t> is empty. Done!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87D2373E-E7D3-3A9C-3C1B-E153A9EAA4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Properties</a:t>
            </a:r>
          </a:p>
        </p:txBody>
      </p:sp>
      <p:sp>
        <p:nvSpPr>
          <p:cNvPr id="3072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F2D136C-F5A0-C794-72E1-AEA3B50440D3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057400" y="1447800"/>
            <a:ext cx="4343400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chemeClr val="tx2"/>
                </a:solidFill>
              </a:rPr>
              <a:t>Notation</a:t>
            </a:r>
          </a:p>
          <a:p>
            <a:pPr lvl="1" eaLnBrk="1" hangingPunct="1"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G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s</a:t>
            </a:r>
            <a:r>
              <a:rPr lang="en-US" altLang="en-US" sz="2000"/>
              <a:t>: connected component of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chemeClr val="tx2"/>
                </a:solidFill>
              </a:rPr>
              <a:t>Property 1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US" altLang="en-US" sz="2000"/>
              <a:t>	</a:t>
            </a:r>
            <a:r>
              <a:rPr lang="en-US" altLang="en-US" sz="2000" b="1" i="1">
                <a:latin typeface="Times New Roman" panose="02020603050405020304" pitchFamily="18" charset="0"/>
              </a:rPr>
              <a:t>BFS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G, s</a:t>
            </a:r>
            <a:r>
              <a:rPr lang="en-US" altLang="en-US" sz="2000">
                <a:latin typeface="Times New Roman" panose="02020603050405020304" pitchFamily="18" charset="0"/>
              </a:rPr>
              <a:t>) </a:t>
            </a:r>
            <a:r>
              <a:rPr lang="en-US" altLang="en-US" sz="2000"/>
              <a:t>visits all the vertices and edges of </a:t>
            </a:r>
            <a:r>
              <a:rPr lang="en-US" altLang="en-US" sz="2000" b="1" i="1">
                <a:latin typeface="Times New Roman" panose="02020603050405020304" pitchFamily="18" charset="0"/>
              </a:rPr>
              <a:t>G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s</a:t>
            </a:r>
            <a:r>
              <a:rPr lang="en-US" altLang="en-US" sz="2000"/>
              <a:t> 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chemeClr val="tx2"/>
                </a:solidFill>
              </a:rPr>
              <a:t>Property 2</a:t>
            </a:r>
            <a:endParaRPr lang="en-US" altLang="en-US" sz="2400"/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US" altLang="en-US" sz="2000"/>
              <a:t>	The </a:t>
            </a:r>
            <a:r>
              <a:rPr lang="en-US" altLang="en-US" sz="2000" i="1"/>
              <a:t>discovery</a:t>
            </a:r>
            <a:r>
              <a:rPr lang="en-US" altLang="en-US" sz="2000"/>
              <a:t> edges labeled by </a:t>
            </a:r>
            <a:r>
              <a:rPr lang="en-US" altLang="en-US" sz="2000" b="1" i="1">
                <a:latin typeface="Times New Roman" panose="02020603050405020304" pitchFamily="18" charset="0"/>
              </a:rPr>
              <a:t>BFS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G, s</a:t>
            </a:r>
            <a:r>
              <a:rPr lang="en-US" altLang="en-US" sz="2000">
                <a:latin typeface="Times New Roman" panose="02020603050405020304" pitchFamily="18" charset="0"/>
              </a:rPr>
              <a:t>) </a:t>
            </a:r>
            <a:r>
              <a:rPr lang="en-US" altLang="en-US" sz="2000"/>
              <a:t>form a spanning tree </a:t>
            </a:r>
            <a:r>
              <a:rPr lang="en-US" altLang="en-US" sz="2000" b="1" i="1">
                <a:latin typeface="Times New Roman" panose="02020603050405020304" pitchFamily="18" charset="0"/>
              </a:rPr>
              <a:t>T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s</a:t>
            </a:r>
            <a:r>
              <a:rPr lang="en-US" altLang="en-US" sz="2000"/>
              <a:t> of </a:t>
            </a:r>
            <a:r>
              <a:rPr lang="en-US" altLang="en-US" sz="2000" b="1" i="1">
                <a:latin typeface="Times New Roman" panose="02020603050405020304" pitchFamily="18" charset="0"/>
              </a:rPr>
              <a:t>G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s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chemeClr val="tx2"/>
                </a:solidFill>
              </a:rPr>
              <a:t>Property 3</a:t>
            </a:r>
            <a:endParaRPr lang="en-US" altLang="en-US" sz="2400"/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US" altLang="en-US" sz="2000"/>
              <a:t>	For each vertex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/>
              <a:t> in </a:t>
            </a:r>
            <a:r>
              <a:rPr lang="en-US" altLang="en-US" sz="2000" b="1" i="1">
                <a:latin typeface="Times New Roman" panose="02020603050405020304" pitchFamily="18" charset="0"/>
              </a:rPr>
              <a:t>L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i</a:t>
            </a:r>
          </a:p>
          <a:p>
            <a:pPr lvl="1" eaLnBrk="1" hangingPunct="1">
              <a:lnSpc>
                <a:spcPct val="90000"/>
              </a:lnSpc>
              <a:spcBef>
                <a:spcPct val="15000"/>
              </a:spcBef>
            </a:pPr>
            <a:r>
              <a:rPr lang="en-US" altLang="en-US" sz="1800"/>
              <a:t>The path from </a:t>
            </a:r>
            <a:r>
              <a:rPr lang="en-US" altLang="en-US" sz="1800" b="1" i="1">
                <a:latin typeface="Times New Roman" panose="02020603050405020304" pitchFamily="18" charset="0"/>
              </a:rPr>
              <a:t>s </a:t>
            </a:r>
            <a:r>
              <a:rPr lang="en-US" altLang="en-US" sz="1800"/>
              <a:t>to </a:t>
            </a:r>
            <a:r>
              <a:rPr lang="en-US" altLang="en-US" sz="1800" b="1" i="1">
                <a:latin typeface="Times New Roman" panose="02020603050405020304" pitchFamily="18" charset="0"/>
              </a:rPr>
              <a:t>v </a:t>
            </a:r>
            <a:r>
              <a:rPr lang="en-US" altLang="en-US" sz="1800"/>
              <a:t>in </a:t>
            </a:r>
            <a:r>
              <a:rPr lang="en-US" altLang="en-US" sz="1800" b="1" i="1">
                <a:latin typeface="Times New Roman" panose="02020603050405020304" pitchFamily="18" charset="0"/>
              </a:rPr>
              <a:t>T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s</a:t>
            </a:r>
            <a:r>
              <a:rPr lang="en-US" altLang="en-US" sz="1800"/>
              <a:t> has exactly </a:t>
            </a:r>
            <a:r>
              <a:rPr lang="en-US" altLang="en-US" sz="1800" b="1" i="1">
                <a:latin typeface="Times New Roman" panose="02020603050405020304" pitchFamily="18" charset="0"/>
              </a:rPr>
              <a:t>i</a:t>
            </a:r>
            <a:r>
              <a:rPr lang="en-US" altLang="en-US" sz="1800"/>
              <a:t> edges </a:t>
            </a:r>
          </a:p>
          <a:p>
            <a:pPr lvl="1" eaLnBrk="1" hangingPunct="1">
              <a:lnSpc>
                <a:spcPct val="90000"/>
              </a:lnSpc>
              <a:spcBef>
                <a:spcPct val="15000"/>
              </a:spcBef>
            </a:pPr>
            <a:r>
              <a:rPr lang="en-US" altLang="en-US" sz="1800"/>
              <a:t>Every other path from </a:t>
            </a:r>
            <a:r>
              <a:rPr lang="en-US" altLang="en-US" sz="1800" b="1" i="1">
                <a:latin typeface="Times New Roman" panose="02020603050405020304" pitchFamily="18" charset="0"/>
              </a:rPr>
              <a:t>s </a:t>
            </a:r>
            <a:r>
              <a:rPr lang="en-US" altLang="en-US" sz="1800"/>
              <a:t>to </a:t>
            </a:r>
            <a:r>
              <a:rPr lang="en-US" altLang="en-US" sz="1800" b="1" i="1">
                <a:latin typeface="Times New Roman" panose="02020603050405020304" pitchFamily="18" charset="0"/>
              </a:rPr>
              <a:t>v </a:t>
            </a:r>
            <a:r>
              <a:rPr lang="en-US" altLang="en-US" sz="1800"/>
              <a:t>in </a:t>
            </a:r>
            <a:r>
              <a:rPr lang="en-US" altLang="en-US" sz="1800" b="1" i="1">
                <a:latin typeface="Times New Roman" panose="02020603050405020304" pitchFamily="18" charset="0"/>
              </a:rPr>
              <a:t>G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s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r>
              <a:rPr lang="en-US" altLang="en-US" sz="1800"/>
              <a:t>has at least </a:t>
            </a:r>
            <a:r>
              <a:rPr lang="en-US" altLang="en-US" sz="1800" b="1" i="1">
                <a:latin typeface="Times New Roman" panose="02020603050405020304" pitchFamily="18" charset="0"/>
              </a:rPr>
              <a:t>i</a:t>
            </a:r>
            <a:r>
              <a:rPr lang="en-US" altLang="en-US" sz="1800"/>
              <a:t> edges</a:t>
            </a:r>
          </a:p>
        </p:txBody>
      </p:sp>
      <p:sp>
        <p:nvSpPr>
          <p:cNvPr id="30723" name="AutoShape 18">
            <a:extLst>
              <a:ext uri="{FF2B5EF4-FFF2-40B4-BE49-F238E27FC236}">
                <a16:creationId xmlns:a16="http://schemas.microsoft.com/office/drawing/2014/main" id="{8378D445-6711-08CB-49B7-B71EDDB37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7613" y="5683250"/>
            <a:ext cx="2049462" cy="48895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12700">
            <a:solidFill>
              <a:schemeClr val="tx2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724" name="AutoShape 19">
            <a:extLst>
              <a:ext uri="{FF2B5EF4-FFF2-40B4-BE49-F238E27FC236}">
                <a16:creationId xmlns:a16="http://schemas.microsoft.com/office/drawing/2014/main" id="{FA2B2E6E-B83C-B34A-BF12-D3C97C66D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2301" y="4954588"/>
            <a:ext cx="3148013" cy="48895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12700">
            <a:solidFill>
              <a:schemeClr val="tx2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725" name="AutoShape 20">
            <a:extLst>
              <a:ext uri="{FF2B5EF4-FFF2-40B4-BE49-F238E27FC236}">
                <a16:creationId xmlns:a16="http://schemas.microsoft.com/office/drawing/2014/main" id="{1962E97E-A9FE-F638-2174-9525C7C2B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7139" y="4222750"/>
            <a:ext cx="827087" cy="48895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12700">
            <a:solidFill>
              <a:schemeClr val="tx2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726" name="Oval 21">
            <a:extLst>
              <a:ext uri="{FF2B5EF4-FFF2-40B4-BE49-F238E27FC236}">
                <a16:creationId xmlns:a16="http://schemas.microsoft.com/office/drawing/2014/main" id="{443CA16D-A16E-0C9A-873B-91615CA56A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415338" y="5016501"/>
            <a:ext cx="366712" cy="366713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30727" name="Oval 22">
            <a:extLst>
              <a:ext uri="{FF2B5EF4-FFF2-40B4-BE49-F238E27FC236}">
                <a16:creationId xmlns:a16="http://schemas.microsoft.com/office/drawing/2014/main" id="{59E17FC7-CC0F-C696-B5B1-FE2CFB9C1E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94551" y="5016501"/>
            <a:ext cx="366713" cy="366713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30728" name="Oval 23">
            <a:extLst>
              <a:ext uri="{FF2B5EF4-FFF2-40B4-BE49-F238E27FC236}">
                <a16:creationId xmlns:a16="http://schemas.microsoft.com/office/drawing/2014/main" id="{AAA13A25-BFA2-ADB1-EB06-ACF8C0AA65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23201" y="4284663"/>
            <a:ext cx="366713" cy="366712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30729" name="Oval 24">
            <a:extLst>
              <a:ext uri="{FF2B5EF4-FFF2-40B4-BE49-F238E27FC236}">
                <a16:creationId xmlns:a16="http://schemas.microsoft.com/office/drawing/2014/main" id="{FB1B0E8C-FAAA-474A-2122-82687090A4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04151" y="5748338"/>
            <a:ext cx="366713" cy="366712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30730" name="AutoShape 25">
            <a:extLst>
              <a:ext uri="{FF2B5EF4-FFF2-40B4-BE49-F238E27FC236}">
                <a16:creationId xmlns:a16="http://schemas.microsoft.com/office/drawing/2014/main" id="{74537005-88AA-DBF5-57DB-DC8580C95EED}"/>
              </a:ext>
            </a:extLst>
          </p:cNvPr>
          <p:cNvCxnSpPr>
            <a:cxnSpLocks noChangeAspect="1" noChangeShapeType="1"/>
            <a:stCxn id="30728" idx="3"/>
            <a:endCxn id="30727" idx="7"/>
          </p:cNvCxnSpPr>
          <p:nvPr/>
        </p:nvCxnSpPr>
        <p:spPr bwMode="auto">
          <a:xfrm flipH="1">
            <a:off x="7507288" y="4616450"/>
            <a:ext cx="368300" cy="433388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31" name="AutoShape 26">
            <a:extLst>
              <a:ext uri="{FF2B5EF4-FFF2-40B4-BE49-F238E27FC236}">
                <a16:creationId xmlns:a16="http://schemas.microsoft.com/office/drawing/2014/main" id="{2479D2E3-7C88-FF9A-B5B1-55ECF4DB5421}"/>
              </a:ext>
            </a:extLst>
          </p:cNvPr>
          <p:cNvCxnSpPr>
            <a:cxnSpLocks noChangeAspect="1" noChangeShapeType="1"/>
            <a:stCxn id="30729" idx="1"/>
            <a:endCxn id="30727" idx="5"/>
          </p:cNvCxnSpPr>
          <p:nvPr/>
        </p:nvCxnSpPr>
        <p:spPr bwMode="auto">
          <a:xfrm flipH="1" flipV="1">
            <a:off x="7507288" y="5348289"/>
            <a:ext cx="349250" cy="43338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32" name="AutoShape 27">
            <a:extLst>
              <a:ext uri="{FF2B5EF4-FFF2-40B4-BE49-F238E27FC236}">
                <a16:creationId xmlns:a16="http://schemas.microsoft.com/office/drawing/2014/main" id="{9D369F3E-DDAB-54EC-9C23-FD8ECFB44933}"/>
              </a:ext>
            </a:extLst>
          </p:cNvPr>
          <p:cNvCxnSpPr>
            <a:cxnSpLocks noChangeAspect="1" noChangeShapeType="1"/>
            <a:stCxn id="30729" idx="7"/>
            <a:endCxn id="30726" idx="3"/>
          </p:cNvCxnSpPr>
          <p:nvPr/>
        </p:nvCxnSpPr>
        <p:spPr bwMode="auto">
          <a:xfrm flipV="1">
            <a:off x="8116889" y="5348289"/>
            <a:ext cx="350837" cy="433387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33" name="AutoShape 28">
            <a:extLst>
              <a:ext uri="{FF2B5EF4-FFF2-40B4-BE49-F238E27FC236}">
                <a16:creationId xmlns:a16="http://schemas.microsoft.com/office/drawing/2014/main" id="{88A4ADF8-B8F2-B612-10E0-2E3F28DCB00D}"/>
              </a:ext>
            </a:extLst>
          </p:cNvPr>
          <p:cNvCxnSpPr>
            <a:cxnSpLocks noChangeAspect="1" noChangeShapeType="1"/>
            <a:stCxn id="30728" idx="5"/>
            <a:endCxn id="30726" idx="1"/>
          </p:cNvCxnSpPr>
          <p:nvPr/>
        </p:nvCxnSpPr>
        <p:spPr bwMode="auto">
          <a:xfrm>
            <a:off x="8135939" y="4616450"/>
            <a:ext cx="331787" cy="433388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34" name="AutoShape 29">
            <a:extLst>
              <a:ext uri="{FF2B5EF4-FFF2-40B4-BE49-F238E27FC236}">
                <a16:creationId xmlns:a16="http://schemas.microsoft.com/office/drawing/2014/main" id="{8EFAAFE4-1050-85B8-348C-998F096ADC91}"/>
              </a:ext>
            </a:extLst>
          </p:cNvPr>
          <p:cNvCxnSpPr>
            <a:cxnSpLocks noChangeAspect="1" noChangeShapeType="1"/>
            <a:stCxn id="30727" idx="6"/>
            <a:endCxn id="30726" idx="2"/>
          </p:cNvCxnSpPr>
          <p:nvPr/>
        </p:nvCxnSpPr>
        <p:spPr bwMode="auto">
          <a:xfrm>
            <a:off x="7578726" y="5199063"/>
            <a:ext cx="815975" cy="0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35" name="Oval 30">
            <a:extLst>
              <a:ext uri="{FF2B5EF4-FFF2-40B4-BE49-F238E27FC236}">
                <a16:creationId xmlns:a16="http://schemas.microsoft.com/office/drawing/2014/main" id="{D6312B8D-85A2-9C5E-23E3-5A7717B741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637713" y="5016501"/>
            <a:ext cx="366712" cy="366713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</a:t>
            </a:r>
          </a:p>
        </p:txBody>
      </p:sp>
      <p:cxnSp>
        <p:nvCxnSpPr>
          <p:cNvPr id="30736" name="AutoShape 31">
            <a:extLst>
              <a:ext uri="{FF2B5EF4-FFF2-40B4-BE49-F238E27FC236}">
                <a16:creationId xmlns:a16="http://schemas.microsoft.com/office/drawing/2014/main" id="{89516D06-C965-0B94-93FD-EA4DD43B2FAC}"/>
              </a:ext>
            </a:extLst>
          </p:cNvPr>
          <p:cNvCxnSpPr>
            <a:cxnSpLocks noChangeAspect="1" noChangeShapeType="1"/>
            <a:stCxn id="30741" idx="7"/>
            <a:endCxn id="30735" idx="3"/>
          </p:cNvCxnSpPr>
          <p:nvPr/>
        </p:nvCxnSpPr>
        <p:spPr bwMode="auto">
          <a:xfrm flipV="1">
            <a:off x="9339264" y="5348289"/>
            <a:ext cx="350837" cy="433387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37" name="AutoShape 32">
            <a:extLst>
              <a:ext uri="{FF2B5EF4-FFF2-40B4-BE49-F238E27FC236}">
                <a16:creationId xmlns:a16="http://schemas.microsoft.com/office/drawing/2014/main" id="{939DDD2E-EDC1-B25B-1040-5C6FFC6EFAC0}"/>
              </a:ext>
            </a:extLst>
          </p:cNvPr>
          <p:cNvCxnSpPr>
            <a:cxnSpLocks noChangeAspect="1" noChangeShapeType="1"/>
            <a:stCxn id="30735" idx="1"/>
            <a:endCxn id="30728" idx="6"/>
          </p:cNvCxnSpPr>
          <p:nvPr/>
        </p:nvCxnSpPr>
        <p:spPr bwMode="auto">
          <a:xfrm flipH="1" flipV="1">
            <a:off x="8207376" y="4467226"/>
            <a:ext cx="1482725" cy="582613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38" name="Text Box 33">
            <a:extLst>
              <a:ext uri="{FF2B5EF4-FFF2-40B4-BE49-F238E27FC236}">
                <a16:creationId xmlns:a16="http://schemas.microsoft.com/office/drawing/2014/main" id="{734560F1-A90A-F414-F1EC-5F4319523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251" y="4041776"/>
            <a:ext cx="466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L</a:t>
            </a:r>
            <a:r>
              <a:rPr lang="en-US" altLang="en-US" sz="20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0739" name="Text Box 34">
            <a:extLst>
              <a:ext uri="{FF2B5EF4-FFF2-40B4-BE49-F238E27FC236}">
                <a16:creationId xmlns:a16="http://schemas.microsoft.com/office/drawing/2014/main" id="{E55844B3-2DC1-83B6-92D2-1F92758A08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0651" y="4765676"/>
            <a:ext cx="466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L</a:t>
            </a:r>
            <a:r>
              <a:rPr lang="en-US" altLang="en-US" sz="20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cxnSp>
        <p:nvCxnSpPr>
          <p:cNvPr id="30740" name="AutoShape 35">
            <a:extLst>
              <a:ext uri="{FF2B5EF4-FFF2-40B4-BE49-F238E27FC236}">
                <a16:creationId xmlns:a16="http://schemas.microsoft.com/office/drawing/2014/main" id="{51243FCA-3165-D98E-C555-D525F8E104BA}"/>
              </a:ext>
            </a:extLst>
          </p:cNvPr>
          <p:cNvCxnSpPr>
            <a:cxnSpLocks noChangeAspect="1" noChangeShapeType="1"/>
            <a:stCxn id="30726" idx="6"/>
            <a:endCxn id="30735" idx="2"/>
          </p:cNvCxnSpPr>
          <p:nvPr/>
        </p:nvCxnSpPr>
        <p:spPr bwMode="auto">
          <a:xfrm>
            <a:off x="8799513" y="5199063"/>
            <a:ext cx="817562" cy="0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41" name="Oval 36">
            <a:extLst>
              <a:ext uri="{FF2B5EF4-FFF2-40B4-BE49-F238E27FC236}">
                <a16:creationId xmlns:a16="http://schemas.microsoft.com/office/drawing/2014/main" id="{FDAF6FBE-39A8-EEE3-DFBF-A2790BE7D9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26526" y="5748338"/>
            <a:ext cx="366713" cy="366712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F</a:t>
            </a:r>
          </a:p>
        </p:txBody>
      </p:sp>
      <p:cxnSp>
        <p:nvCxnSpPr>
          <p:cNvPr id="30742" name="AutoShape 37">
            <a:extLst>
              <a:ext uri="{FF2B5EF4-FFF2-40B4-BE49-F238E27FC236}">
                <a16:creationId xmlns:a16="http://schemas.microsoft.com/office/drawing/2014/main" id="{9808F157-6D70-B0D7-39B3-A1941A37AF6F}"/>
              </a:ext>
            </a:extLst>
          </p:cNvPr>
          <p:cNvCxnSpPr>
            <a:cxnSpLocks noChangeAspect="1" noChangeShapeType="1"/>
            <a:stCxn id="30726" idx="5"/>
            <a:endCxn id="30741" idx="1"/>
          </p:cNvCxnSpPr>
          <p:nvPr/>
        </p:nvCxnSpPr>
        <p:spPr bwMode="auto">
          <a:xfrm>
            <a:off x="8728075" y="5348289"/>
            <a:ext cx="350838" cy="43338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43" name="Text Box 38">
            <a:extLst>
              <a:ext uri="{FF2B5EF4-FFF2-40B4-BE49-F238E27FC236}">
                <a16:creationId xmlns:a16="http://schemas.microsoft.com/office/drawing/2014/main" id="{CB4E2269-E035-A067-AC60-F4D0FB678E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1201" y="5480051"/>
            <a:ext cx="466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L</a:t>
            </a:r>
            <a:r>
              <a:rPr lang="en-US" altLang="en-US" sz="20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0744" name="Oval 40">
            <a:extLst>
              <a:ext uri="{FF2B5EF4-FFF2-40B4-BE49-F238E27FC236}">
                <a16:creationId xmlns:a16="http://schemas.microsoft.com/office/drawing/2014/main" id="{30CBDF14-FB18-3608-556C-2648DB3A6E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93113" y="240665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30745" name="Oval 41">
            <a:extLst>
              <a:ext uri="{FF2B5EF4-FFF2-40B4-BE49-F238E27FC236}">
                <a16:creationId xmlns:a16="http://schemas.microsoft.com/office/drawing/2014/main" id="{4AC56BCE-2493-2CDB-6F9C-3F37196953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72326" y="2406651"/>
            <a:ext cx="366713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30746" name="Oval 42">
            <a:extLst>
              <a:ext uri="{FF2B5EF4-FFF2-40B4-BE49-F238E27FC236}">
                <a16:creationId xmlns:a16="http://schemas.microsoft.com/office/drawing/2014/main" id="{970E3DF9-42F8-C352-7CB6-A8E03F122E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00976" y="1674813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30747" name="Oval 43">
            <a:extLst>
              <a:ext uri="{FF2B5EF4-FFF2-40B4-BE49-F238E27FC236}">
                <a16:creationId xmlns:a16="http://schemas.microsoft.com/office/drawing/2014/main" id="{F5E77719-C7D7-0323-0753-B48F821AE2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81926" y="31384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30748" name="AutoShape 44">
            <a:extLst>
              <a:ext uri="{FF2B5EF4-FFF2-40B4-BE49-F238E27FC236}">
                <a16:creationId xmlns:a16="http://schemas.microsoft.com/office/drawing/2014/main" id="{5F22C626-B49A-8FB5-7519-D905125C0A09}"/>
              </a:ext>
            </a:extLst>
          </p:cNvPr>
          <p:cNvCxnSpPr>
            <a:cxnSpLocks noChangeAspect="1" noChangeShapeType="1"/>
            <a:stCxn id="30746" idx="3"/>
            <a:endCxn id="30745" idx="7"/>
          </p:cNvCxnSpPr>
          <p:nvPr/>
        </p:nvCxnSpPr>
        <p:spPr bwMode="auto">
          <a:xfrm flipH="1">
            <a:off x="7485063" y="1997075"/>
            <a:ext cx="368300" cy="452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9" name="AutoShape 45">
            <a:extLst>
              <a:ext uri="{FF2B5EF4-FFF2-40B4-BE49-F238E27FC236}">
                <a16:creationId xmlns:a16="http://schemas.microsoft.com/office/drawing/2014/main" id="{3A1EE416-0274-B2AC-987B-7582EDD79084}"/>
              </a:ext>
            </a:extLst>
          </p:cNvPr>
          <p:cNvCxnSpPr>
            <a:cxnSpLocks noChangeAspect="1" noChangeShapeType="1"/>
            <a:stCxn id="30747" idx="1"/>
            <a:endCxn id="30745" idx="5"/>
          </p:cNvCxnSpPr>
          <p:nvPr/>
        </p:nvCxnSpPr>
        <p:spPr bwMode="auto">
          <a:xfrm flipH="1" flipV="1">
            <a:off x="7485063" y="2728914"/>
            <a:ext cx="349250" cy="4524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50" name="AutoShape 46">
            <a:extLst>
              <a:ext uri="{FF2B5EF4-FFF2-40B4-BE49-F238E27FC236}">
                <a16:creationId xmlns:a16="http://schemas.microsoft.com/office/drawing/2014/main" id="{DE1E9ADA-3016-E982-F54E-3822973B439B}"/>
              </a:ext>
            </a:extLst>
          </p:cNvPr>
          <p:cNvCxnSpPr>
            <a:cxnSpLocks noChangeAspect="1" noChangeShapeType="1"/>
            <a:stCxn id="30747" idx="7"/>
            <a:endCxn id="30744" idx="3"/>
          </p:cNvCxnSpPr>
          <p:nvPr/>
        </p:nvCxnSpPr>
        <p:spPr bwMode="auto">
          <a:xfrm flipV="1">
            <a:off x="8094664" y="2728914"/>
            <a:ext cx="350837" cy="4524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51" name="AutoShape 47">
            <a:extLst>
              <a:ext uri="{FF2B5EF4-FFF2-40B4-BE49-F238E27FC236}">
                <a16:creationId xmlns:a16="http://schemas.microsoft.com/office/drawing/2014/main" id="{6840B37D-DA7D-E7D7-D913-C51E76C21F63}"/>
              </a:ext>
            </a:extLst>
          </p:cNvPr>
          <p:cNvCxnSpPr>
            <a:cxnSpLocks noChangeAspect="1" noChangeShapeType="1"/>
            <a:stCxn id="30746" idx="5"/>
            <a:endCxn id="30744" idx="1"/>
          </p:cNvCxnSpPr>
          <p:nvPr/>
        </p:nvCxnSpPr>
        <p:spPr bwMode="auto">
          <a:xfrm>
            <a:off x="8113714" y="1997075"/>
            <a:ext cx="331787" cy="452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52" name="AutoShape 48">
            <a:extLst>
              <a:ext uri="{FF2B5EF4-FFF2-40B4-BE49-F238E27FC236}">
                <a16:creationId xmlns:a16="http://schemas.microsoft.com/office/drawing/2014/main" id="{7C5E2F9C-A135-61E0-0219-33F0B0C35717}"/>
              </a:ext>
            </a:extLst>
          </p:cNvPr>
          <p:cNvCxnSpPr>
            <a:cxnSpLocks noChangeAspect="1" noChangeShapeType="1"/>
            <a:stCxn id="30745" idx="6"/>
            <a:endCxn id="30744" idx="2"/>
          </p:cNvCxnSpPr>
          <p:nvPr/>
        </p:nvCxnSpPr>
        <p:spPr bwMode="auto">
          <a:xfrm>
            <a:off x="7546976" y="2589213"/>
            <a:ext cx="8350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53" name="Oval 49">
            <a:extLst>
              <a:ext uri="{FF2B5EF4-FFF2-40B4-BE49-F238E27FC236}">
                <a16:creationId xmlns:a16="http://schemas.microsoft.com/office/drawing/2014/main" id="{6666BFF4-BB8E-04AA-D758-030828D0E8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615488" y="240665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</a:t>
            </a:r>
          </a:p>
        </p:txBody>
      </p:sp>
      <p:cxnSp>
        <p:nvCxnSpPr>
          <p:cNvPr id="30754" name="AutoShape 50">
            <a:extLst>
              <a:ext uri="{FF2B5EF4-FFF2-40B4-BE49-F238E27FC236}">
                <a16:creationId xmlns:a16="http://schemas.microsoft.com/office/drawing/2014/main" id="{C6403C19-D156-D46E-2DE2-0F2497AACD63}"/>
              </a:ext>
            </a:extLst>
          </p:cNvPr>
          <p:cNvCxnSpPr>
            <a:cxnSpLocks noChangeAspect="1" noChangeShapeType="1"/>
            <a:stCxn id="30757" idx="7"/>
            <a:endCxn id="30753" idx="3"/>
          </p:cNvCxnSpPr>
          <p:nvPr/>
        </p:nvCxnSpPr>
        <p:spPr bwMode="auto">
          <a:xfrm flipV="1">
            <a:off x="9317039" y="2728914"/>
            <a:ext cx="350837" cy="4524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55" name="AutoShape 51">
            <a:extLst>
              <a:ext uri="{FF2B5EF4-FFF2-40B4-BE49-F238E27FC236}">
                <a16:creationId xmlns:a16="http://schemas.microsoft.com/office/drawing/2014/main" id="{E563FD01-7454-0D25-CEC8-429931ABF240}"/>
              </a:ext>
            </a:extLst>
          </p:cNvPr>
          <p:cNvCxnSpPr>
            <a:cxnSpLocks noChangeAspect="1" noChangeShapeType="1"/>
            <a:stCxn id="30753" idx="1"/>
            <a:endCxn id="30746" idx="6"/>
          </p:cNvCxnSpPr>
          <p:nvPr/>
        </p:nvCxnSpPr>
        <p:spPr bwMode="auto">
          <a:xfrm flipH="1" flipV="1">
            <a:off x="8175625" y="1857375"/>
            <a:ext cx="1492250" cy="5921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56" name="AutoShape 52">
            <a:extLst>
              <a:ext uri="{FF2B5EF4-FFF2-40B4-BE49-F238E27FC236}">
                <a16:creationId xmlns:a16="http://schemas.microsoft.com/office/drawing/2014/main" id="{5026DC26-EB36-7227-36D5-A370D10DFEC0}"/>
              </a:ext>
            </a:extLst>
          </p:cNvPr>
          <p:cNvCxnSpPr>
            <a:cxnSpLocks noChangeAspect="1" noChangeShapeType="1"/>
            <a:stCxn id="30744" idx="6"/>
            <a:endCxn id="30753" idx="2"/>
          </p:cNvCxnSpPr>
          <p:nvPr/>
        </p:nvCxnSpPr>
        <p:spPr bwMode="auto">
          <a:xfrm>
            <a:off x="8767763" y="2589213"/>
            <a:ext cx="8366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57" name="Oval 53">
            <a:extLst>
              <a:ext uri="{FF2B5EF4-FFF2-40B4-BE49-F238E27FC236}">
                <a16:creationId xmlns:a16="http://schemas.microsoft.com/office/drawing/2014/main" id="{C55701FD-7AD5-F714-EF0B-33EE3B51A6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04301" y="31384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F</a:t>
            </a:r>
          </a:p>
        </p:txBody>
      </p:sp>
      <p:cxnSp>
        <p:nvCxnSpPr>
          <p:cNvPr id="30758" name="AutoShape 54">
            <a:extLst>
              <a:ext uri="{FF2B5EF4-FFF2-40B4-BE49-F238E27FC236}">
                <a16:creationId xmlns:a16="http://schemas.microsoft.com/office/drawing/2014/main" id="{E0053BCD-9C95-3713-2141-448773E785F7}"/>
              </a:ext>
            </a:extLst>
          </p:cNvPr>
          <p:cNvCxnSpPr>
            <a:cxnSpLocks noChangeAspect="1" noChangeShapeType="1"/>
            <a:stCxn id="30744" idx="5"/>
            <a:endCxn id="30757" idx="1"/>
          </p:cNvCxnSpPr>
          <p:nvPr/>
        </p:nvCxnSpPr>
        <p:spPr bwMode="auto">
          <a:xfrm>
            <a:off x="8705850" y="2728914"/>
            <a:ext cx="350838" cy="4524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E854F4F6-04C1-3870-3BB6-958FC247C0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/>
              <a:t>Analysis</a:t>
            </a:r>
          </a:p>
        </p:txBody>
      </p:sp>
      <p:sp>
        <p:nvSpPr>
          <p:cNvPr id="3174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0BD659F-87AD-C8A7-9D28-41D069E1BC7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286000" y="1447800"/>
            <a:ext cx="7848600" cy="45720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Setting/getting a vertex/edge label takes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(1)</a:t>
            </a:r>
            <a:r>
              <a:rPr lang="en-US" altLang="en-US" sz="2000"/>
              <a:t> time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Each vertex is labeled twice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900"/>
              <a:t>once as UNEXPLORED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900"/>
              <a:t>once as </a:t>
            </a:r>
            <a:r>
              <a:rPr lang="en-US" altLang="en-US" sz="1900">
                <a:solidFill>
                  <a:schemeClr val="tx2"/>
                </a:solidFill>
              </a:rPr>
              <a:t>VISITED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Each edge is labeled twice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900"/>
              <a:t>once as UNEXPLORED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900"/>
              <a:t>once as </a:t>
            </a:r>
            <a:r>
              <a:rPr lang="en-US" altLang="en-US" sz="1900">
                <a:solidFill>
                  <a:schemeClr val="tx2"/>
                </a:solidFill>
              </a:rPr>
              <a:t>DISCOVERY</a:t>
            </a:r>
            <a:r>
              <a:rPr lang="en-US" altLang="en-US" sz="1900"/>
              <a:t> or </a:t>
            </a:r>
            <a:r>
              <a:rPr lang="en-US" altLang="en-US" sz="1900">
                <a:solidFill>
                  <a:schemeClr val="accent2"/>
                </a:solidFill>
              </a:rPr>
              <a:t>CROSS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Each vertex is inserted once into a sequence </a:t>
            </a:r>
            <a:r>
              <a:rPr lang="en-US" altLang="en-US" sz="2000" b="1" i="1">
                <a:latin typeface="Times New Roman" panose="02020603050405020304" pitchFamily="18" charset="0"/>
              </a:rPr>
              <a:t>L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i</a:t>
            </a:r>
            <a:r>
              <a:rPr lang="en-US" altLang="en-US" sz="200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Method incidentEdges is called once for each vertex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900"/>
              <a:t>Each edge is examined twice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900"/>
              <a:t>Recall that </a:t>
            </a:r>
            <a:r>
              <a:rPr lang="en-US" altLang="en-US" sz="1900" b="1">
                <a:latin typeface="Symbol" panose="05050102010706020507" pitchFamily="18" charset="2"/>
              </a:rPr>
              <a:t>S</a:t>
            </a:r>
            <a:r>
              <a:rPr lang="en-US" altLang="en-US" sz="1900" b="1" i="1" baseline="-25000">
                <a:latin typeface="Times New Roman" panose="02020603050405020304" pitchFamily="18" charset="0"/>
              </a:rPr>
              <a:t>v </a:t>
            </a:r>
            <a:r>
              <a:rPr lang="en-US" altLang="en-US" sz="1900">
                <a:latin typeface="Times New Roman" panose="02020603050405020304" pitchFamily="18" charset="0"/>
              </a:rPr>
              <a:t>deg(</a:t>
            </a:r>
            <a:r>
              <a:rPr lang="en-US" altLang="en-US" sz="1900" b="1" i="1">
                <a:latin typeface="Times New Roman" panose="02020603050405020304" pitchFamily="18" charset="0"/>
              </a:rPr>
              <a:t>v</a:t>
            </a:r>
            <a:r>
              <a:rPr lang="en-US" altLang="en-US" sz="1900">
                <a:latin typeface="Times New Roman" panose="02020603050405020304" pitchFamily="18" charset="0"/>
              </a:rPr>
              <a:t>)</a:t>
            </a:r>
            <a:r>
              <a:rPr lang="en-US" altLang="en-US" sz="1900" b="1" i="1">
                <a:latin typeface="Times New Roman" panose="02020603050405020304" pitchFamily="18" charset="0"/>
              </a:rPr>
              <a:t> </a:t>
            </a:r>
            <a:r>
              <a:rPr lang="en-US" altLang="en-US" sz="1900">
                <a:latin typeface="Symbol" panose="05050102010706020507" pitchFamily="18" charset="2"/>
              </a:rPr>
              <a:t>= </a:t>
            </a:r>
            <a:r>
              <a:rPr lang="en-US" altLang="en-US" sz="1900">
                <a:latin typeface="Times New Roman" panose="02020603050405020304" pitchFamily="18" charset="0"/>
              </a:rPr>
              <a:t>2</a:t>
            </a:r>
            <a:r>
              <a:rPr lang="en-US" altLang="en-US" sz="1900" b="1" i="1">
                <a:latin typeface="Times New Roman" panose="02020603050405020304" pitchFamily="18" charset="0"/>
              </a:rPr>
              <a:t>m</a:t>
            </a:r>
            <a:endParaRPr lang="en-US" altLang="en-US" sz="19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BFS runs in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n </a:t>
            </a:r>
            <a:r>
              <a:rPr lang="en-US" altLang="en-US" sz="2000">
                <a:latin typeface="Symbol" panose="05050102010706020507" pitchFamily="18" charset="2"/>
              </a:rPr>
              <a:t>+</a:t>
            </a:r>
            <a:r>
              <a:rPr lang="en-US" altLang="en-US" sz="2000" b="1" i="1">
                <a:latin typeface="Times New Roman" panose="02020603050405020304" pitchFamily="18" charset="0"/>
              </a:rPr>
              <a:t> m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time provided the graph is represented by the adjacency list structure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BB09D29E-BFE6-0ED5-B901-23AEA480D2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Applications</a:t>
            </a:r>
          </a:p>
        </p:txBody>
      </p:sp>
      <p:sp>
        <p:nvSpPr>
          <p:cNvPr id="3277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16ADF2C-413B-8CB5-89A4-DF29C62B67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0" y="1371600"/>
            <a:ext cx="7772400" cy="5029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/>
              <a:t>Using the template method pattern, we can specialize the BFS traversal of a graph </a:t>
            </a:r>
            <a:r>
              <a:rPr lang="en-US" altLang="en-US" b="1" i="1">
                <a:latin typeface="Times New Roman" panose="02020603050405020304" pitchFamily="18" charset="0"/>
              </a:rPr>
              <a:t>G</a:t>
            </a:r>
            <a:r>
              <a:rPr lang="en-US" altLang="en-US" b="1" i="1"/>
              <a:t> </a:t>
            </a:r>
            <a:r>
              <a:rPr lang="en-US" altLang="en-US"/>
              <a:t>to solve the following problems in </a:t>
            </a:r>
            <a:r>
              <a:rPr lang="en-US" altLang="en-US" b="1" i="1">
                <a:latin typeface="Times New Roman" panose="02020603050405020304" pitchFamily="18" charset="0"/>
              </a:rPr>
              <a:t>O</a:t>
            </a:r>
            <a:r>
              <a:rPr lang="en-US" altLang="en-US"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latin typeface="Times New Roman" panose="02020603050405020304" pitchFamily="18" charset="0"/>
              </a:rPr>
              <a:t>n </a:t>
            </a:r>
            <a:r>
              <a:rPr lang="en-US" altLang="en-US">
                <a:latin typeface="Symbol" panose="05050102010706020507" pitchFamily="18" charset="2"/>
              </a:rPr>
              <a:t>+</a:t>
            </a:r>
            <a:r>
              <a:rPr lang="en-US" altLang="en-US" b="1" i="1">
                <a:latin typeface="Times New Roman" panose="02020603050405020304" pitchFamily="18" charset="0"/>
              </a:rPr>
              <a:t> m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  <a:r>
              <a:rPr lang="en-US" altLang="en-US"/>
              <a:t> time</a:t>
            </a:r>
          </a:p>
          <a:p>
            <a:pPr lvl="1" eaLnBrk="1" hangingPunct="1"/>
            <a:r>
              <a:rPr lang="en-US" altLang="en-US"/>
              <a:t>Compute the connected components of </a:t>
            </a:r>
            <a:r>
              <a:rPr lang="en-US" altLang="en-US" b="1" i="1">
                <a:latin typeface="Times New Roman" panose="02020603050405020304" pitchFamily="18" charset="0"/>
              </a:rPr>
              <a:t>G</a:t>
            </a:r>
            <a:endParaRPr lang="en-US" altLang="en-US"/>
          </a:p>
          <a:p>
            <a:pPr lvl="1" eaLnBrk="1" hangingPunct="1"/>
            <a:r>
              <a:rPr lang="en-US" altLang="en-US"/>
              <a:t>Compute a spanning forest of </a:t>
            </a:r>
            <a:r>
              <a:rPr lang="en-US" altLang="en-US" b="1" i="1">
                <a:latin typeface="Times New Roman" panose="02020603050405020304" pitchFamily="18" charset="0"/>
              </a:rPr>
              <a:t>G</a:t>
            </a:r>
            <a:endParaRPr lang="en-US" altLang="en-US"/>
          </a:p>
          <a:p>
            <a:pPr lvl="1" eaLnBrk="1" hangingPunct="1"/>
            <a:r>
              <a:rPr lang="en-US" altLang="en-US"/>
              <a:t>Find a simple cycle in </a:t>
            </a:r>
            <a:r>
              <a:rPr lang="en-US" altLang="en-US" b="1" i="1">
                <a:latin typeface="Times New Roman" panose="02020603050405020304" pitchFamily="18" charset="0"/>
              </a:rPr>
              <a:t>G</a:t>
            </a:r>
            <a:r>
              <a:rPr lang="en-US" altLang="en-US"/>
              <a:t>, or report that </a:t>
            </a:r>
            <a:r>
              <a:rPr lang="en-US" altLang="en-US" b="1" i="1">
                <a:latin typeface="Times New Roman" panose="02020603050405020304" pitchFamily="18" charset="0"/>
              </a:rPr>
              <a:t>G</a:t>
            </a:r>
            <a:r>
              <a:rPr lang="en-US" altLang="en-US"/>
              <a:t> is a forest</a:t>
            </a:r>
          </a:p>
          <a:p>
            <a:pPr lvl="1" eaLnBrk="1" hangingPunct="1"/>
            <a:r>
              <a:rPr lang="en-US" altLang="en-US"/>
              <a:t>Given two vertices of </a:t>
            </a:r>
            <a:r>
              <a:rPr lang="en-US" altLang="en-US" b="1" i="1">
                <a:latin typeface="Times New Roman" panose="02020603050405020304" pitchFamily="18" charset="0"/>
              </a:rPr>
              <a:t>G</a:t>
            </a:r>
            <a:r>
              <a:rPr lang="en-US" altLang="en-US"/>
              <a:t>, find a path in </a:t>
            </a:r>
            <a:r>
              <a:rPr lang="en-US" altLang="en-US" b="1" i="1">
                <a:latin typeface="Times New Roman" panose="02020603050405020304" pitchFamily="18" charset="0"/>
              </a:rPr>
              <a:t>G</a:t>
            </a:r>
            <a:r>
              <a:rPr lang="en-US" altLang="en-US"/>
              <a:t> between them with the minimum number of edges, or report that no such path exists</a:t>
            </a:r>
          </a:p>
          <a:p>
            <a:pPr lvl="1" eaLnBrk="1" hangingPunct="1"/>
            <a:endParaRPr lang="en-US" altLang="en-US"/>
          </a:p>
          <a:p>
            <a:pPr eaLnBrk="1" hangingPunct="1"/>
            <a:r>
              <a:rPr lang="en-US" altLang="en-US"/>
              <a:t>A simple way to detect circle in a graph</a:t>
            </a:r>
          </a:p>
          <a:p>
            <a:pPr lvl="1" eaLnBrk="1" hangingPunct="1"/>
            <a:r>
              <a:rPr lang="en-US" altLang="en-US"/>
              <a:t>With DFS?</a:t>
            </a:r>
          </a:p>
          <a:p>
            <a:pPr lvl="1" eaLnBrk="1" hangingPunct="1"/>
            <a:r>
              <a:rPr lang="en-US" altLang="en-US"/>
              <a:t>With BFS?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5F8F0F2E-F058-552B-B5EE-ACEB1B40AB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DFS vs. BFS</a:t>
            </a:r>
          </a:p>
        </p:txBody>
      </p:sp>
      <p:sp>
        <p:nvSpPr>
          <p:cNvPr id="3379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91B3C16-D830-2D64-B2C0-D4681F37BEB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133600" y="1676401"/>
            <a:ext cx="3810000" cy="21177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chemeClr val="accent2"/>
                </a:solidFill>
              </a:rPr>
              <a:t>Back edge</a:t>
            </a:r>
            <a:r>
              <a:rPr lang="en-US" altLang="en-US" sz="2400"/>
              <a:t> </a:t>
            </a:r>
            <a:r>
              <a:rPr lang="en-US" altLang="en-US" sz="2400">
                <a:latin typeface="Times New Roman" panose="02020603050405020304" pitchFamily="18" charset="0"/>
              </a:rPr>
              <a:t>(</a:t>
            </a:r>
            <a:r>
              <a:rPr lang="en-US" altLang="en-US" sz="2400" b="1" i="1">
                <a:latin typeface="Times New Roman" panose="02020603050405020304" pitchFamily="18" charset="0"/>
              </a:rPr>
              <a:t>v,w</a:t>
            </a:r>
            <a:r>
              <a:rPr lang="en-US" altLang="en-US" sz="2400">
                <a:latin typeface="Times New Roman" panose="02020603050405020304" pitchFamily="18" charset="0"/>
              </a:rPr>
              <a:t>)</a:t>
            </a:r>
          </a:p>
          <a:p>
            <a:pPr lvl="1" eaLnBrk="1" hangingPunct="1"/>
            <a:r>
              <a:rPr lang="en-US" altLang="en-US" sz="2000" b="1" i="1">
                <a:latin typeface="Times New Roman" panose="02020603050405020304" pitchFamily="18" charset="0"/>
              </a:rPr>
              <a:t>w</a:t>
            </a:r>
            <a:r>
              <a:rPr lang="en-US" altLang="en-US" sz="2000"/>
              <a:t> is an ancestor of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/>
              <a:t> in the tree of discovery edges</a:t>
            </a:r>
          </a:p>
        </p:txBody>
      </p:sp>
      <p:sp>
        <p:nvSpPr>
          <p:cNvPr id="33795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AC68CE1-43E8-F1EA-DB5B-AA1F58CE7AA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324600" y="1676401"/>
            <a:ext cx="3810000" cy="19335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chemeClr val="accent2"/>
                </a:solidFill>
              </a:rPr>
              <a:t>Cross edge</a:t>
            </a:r>
            <a:r>
              <a:rPr lang="en-US" altLang="en-US" sz="2400"/>
              <a:t> </a:t>
            </a:r>
            <a:r>
              <a:rPr lang="en-US" altLang="en-US" sz="2400">
                <a:latin typeface="Times New Roman" panose="02020603050405020304" pitchFamily="18" charset="0"/>
              </a:rPr>
              <a:t>(</a:t>
            </a:r>
            <a:r>
              <a:rPr lang="en-US" altLang="en-US" sz="2400" b="1" i="1">
                <a:latin typeface="Times New Roman" panose="02020603050405020304" pitchFamily="18" charset="0"/>
              </a:rPr>
              <a:t>v,w</a:t>
            </a:r>
            <a:r>
              <a:rPr lang="en-US" altLang="en-US" sz="2400">
                <a:latin typeface="Times New Roman" panose="02020603050405020304" pitchFamily="18" charset="0"/>
              </a:rPr>
              <a:t>)</a:t>
            </a:r>
          </a:p>
          <a:p>
            <a:pPr lvl="1" eaLnBrk="1" hangingPunct="1"/>
            <a:r>
              <a:rPr lang="en-US" altLang="en-US" sz="2000" b="1" i="1">
                <a:latin typeface="Times New Roman" panose="02020603050405020304" pitchFamily="18" charset="0"/>
              </a:rPr>
              <a:t>w</a:t>
            </a:r>
            <a:r>
              <a:rPr lang="en-US" altLang="en-US" sz="2000"/>
              <a:t> is in the same level as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/>
              <a:t> or in the next level in the tree of discovery edges</a:t>
            </a:r>
          </a:p>
          <a:p>
            <a:pPr lvl="1" eaLnBrk="1" hangingPunct="1"/>
            <a:endParaRPr lang="en-US" altLang="en-US" sz="2000"/>
          </a:p>
        </p:txBody>
      </p:sp>
      <p:grpSp>
        <p:nvGrpSpPr>
          <p:cNvPr id="33796" name="Group 5">
            <a:extLst>
              <a:ext uri="{FF2B5EF4-FFF2-40B4-BE49-F238E27FC236}">
                <a16:creationId xmlns:a16="http://schemas.microsoft.com/office/drawing/2014/main" id="{796612E8-AB35-72AC-B52E-F65AE5E6F9E4}"/>
              </a:ext>
            </a:extLst>
          </p:cNvPr>
          <p:cNvGrpSpPr>
            <a:grpSpLocks/>
          </p:cNvGrpSpPr>
          <p:nvPr/>
        </p:nvGrpSpPr>
        <p:grpSpPr bwMode="auto">
          <a:xfrm>
            <a:off x="6232526" y="3657601"/>
            <a:ext cx="3649663" cy="2130425"/>
            <a:chOff x="3116" y="2546"/>
            <a:chExt cx="2299" cy="1342"/>
          </a:xfrm>
        </p:grpSpPr>
        <p:sp>
          <p:nvSpPr>
            <p:cNvPr id="33814" name="AutoShape 6">
              <a:extLst>
                <a:ext uri="{FF2B5EF4-FFF2-40B4-BE49-F238E27FC236}">
                  <a16:creationId xmlns:a16="http://schemas.microsoft.com/office/drawing/2014/main" id="{180C7918-6266-B246-0970-8A63AAEDC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7" y="3580"/>
              <a:ext cx="1291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15" name="AutoShape 7">
              <a:extLst>
                <a:ext uri="{FF2B5EF4-FFF2-40B4-BE49-F238E27FC236}">
                  <a16:creationId xmlns:a16="http://schemas.microsoft.com/office/drawing/2014/main" id="{7FBB5CF8-CFA9-544A-1F93-7EAF691BF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2" y="3121"/>
              <a:ext cx="1983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16" name="AutoShape 8">
              <a:extLst>
                <a:ext uri="{FF2B5EF4-FFF2-40B4-BE49-F238E27FC236}">
                  <a16:creationId xmlns:a16="http://schemas.microsoft.com/office/drawing/2014/main" id="{CD133E60-27B0-3FA1-2EE5-8702A8393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3" y="2660"/>
              <a:ext cx="521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17" name="Oval 9">
              <a:extLst>
                <a:ext uri="{FF2B5EF4-FFF2-40B4-BE49-F238E27FC236}">
                  <a16:creationId xmlns:a16="http://schemas.microsoft.com/office/drawing/2014/main" id="{36C2AF0F-67DE-D1A4-BDD4-F42438C8354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41" y="3160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33818" name="Oval 10">
              <a:extLst>
                <a:ext uri="{FF2B5EF4-FFF2-40B4-BE49-F238E27FC236}">
                  <a16:creationId xmlns:a16="http://schemas.microsoft.com/office/drawing/2014/main" id="{2FC0143A-7768-CC47-3D28-7D0D7A78387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72" y="3160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33819" name="Oval 11">
              <a:extLst>
                <a:ext uri="{FF2B5EF4-FFF2-40B4-BE49-F238E27FC236}">
                  <a16:creationId xmlns:a16="http://schemas.microsoft.com/office/drawing/2014/main" id="{F03C5873-2891-BB3C-728B-7EC0E3D531E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68" y="2699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33820" name="Oval 12">
              <a:extLst>
                <a:ext uri="{FF2B5EF4-FFF2-40B4-BE49-F238E27FC236}">
                  <a16:creationId xmlns:a16="http://schemas.microsoft.com/office/drawing/2014/main" id="{AF0A75F6-491A-4FD6-8FF8-A2D9487E455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56" y="3621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33821" name="AutoShape 13">
              <a:extLst>
                <a:ext uri="{FF2B5EF4-FFF2-40B4-BE49-F238E27FC236}">
                  <a16:creationId xmlns:a16="http://schemas.microsoft.com/office/drawing/2014/main" id="{8C147856-087C-9BC2-3F3C-F5EE96D4950D}"/>
                </a:ext>
              </a:extLst>
            </p:cNvPr>
            <p:cNvCxnSpPr>
              <a:cxnSpLocks noChangeAspect="1" noChangeShapeType="1"/>
              <a:stCxn id="33819" idx="3"/>
              <a:endCxn id="33818" idx="7"/>
            </p:cNvCxnSpPr>
            <p:nvPr/>
          </p:nvCxnSpPr>
          <p:spPr bwMode="auto">
            <a:xfrm flipH="1">
              <a:off x="3769" y="2908"/>
              <a:ext cx="232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22" name="AutoShape 14">
              <a:extLst>
                <a:ext uri="{FF2B5EF4-FFF2-40B4-BE49-F238E27FC236}">
                  <a16:creationId xmlns:a16="http://schemas.microsoft.com/office/drawing/2014/main" id="{10F106B5-A760-EE3E-7896-C3B3A6AC685F}"/>
                </a:ext>
              </a:extLst>
            </p:cNvPr>
            <p:cNvCxnSpPr>
              <a:cxnSpLocks noChangeAspect="1" noChangeShapeType="1"/>
              <a:stCxn id="33820" idx="1"/>
              <a:endCxn id="33818" idx="5"/>
            </p:cNvCxnSpPr>
            <p:nvPr/>
          </p:nvCxnSpPr>
          <p:spPr bwMode="auto">
            <a:xfrm flipH="1" flipV="1">
              <a:off x="3769" y="3369"/>
              <a:ext cx="220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23" name="AutoShape 15">
              <a:extLst>
                <a:ext uri="{FF2B5EF4-FFF2-40B4-BE49-F238E27FC236}">
                  <a16:creationId xmlns:a16="http://schemas.microsoft.com/office/drawing/2014/main" id="{05D7C723-3880-3CA1-9C81-2FF2FCA1A13C}"/>
                </a:ext>
              </a:extLst>
            </p:cNvPr>
            <p:cNvCxnSpPr>
              <a:cxnSpLocks noChangeAspect="1" noChangeShapeType="1"/>
              <a:stCxn id="33820" idx="7"/>
              <a:endCxn id="33817" idx="3"/>
            </p:cNvCxnSpPr>
            <p:nvPr/>
          </p:nvCxnSpPr>
          <p:spPr bwMode="auto">
            <a:xfrm flipV="1">
              <a:off x="4153" y="3369"/>
              <a:ext cx="221" cy="273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24" name="AutoShape 16">
              <a:extLst>
                <a:ext uri="{FF2B5EF4-FFF2-40B4-BE49-F238E27FC236}">
                  <a16:creationId xmlns:a16="http://schemas.microsoft.com/office/drawing/2014/main" id="{C4178808-96B1-EC11-E45D-6B836E748BF2}"/>
                </a:ext>
              </a:extLst>
            </p:cNvPr>
            <p:cNvCxnSpPr>
              <a:cxnSpLocks noChangeAspect="1" noChangeShapeType="1"/>
              <a:stCxn id="33819" idx="5"/>
              <a:endCxn id="33817" idx="1"/>
            </p:cNvCxnSpPr>
            <p:nvPr/>
          </p:nvCxnSpPr>
          <p:spPr bwMode="auto">
            <a:xfrm>
              <a:off x="4165" y="2908"/>
              <a:ext cx="209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25" name="AutoShape 17">
              <a:extLst>
                <a:ext uri="{FF2B5EF4-FFF2-40B4-BE49-F238E27FC236}">
                  <a16:creationId xmlns:a16="http://schemas.microsoft.com/office/drawing/2014/main" id="{0050882A-FFEF-7EDE-EF7B-F88337AC64CE}"/>
                </a:ext>
              </a:extLst>
            </p:cNvPr>
            <p:cNvCxnSpPr>
              <a:cxnSpLocks noChangeAspect="1" noChangeShapeType="1"/>
              <a:stCxn id="33818" idx="6"/>
              <a:endCxn id="33817" idx="2"/>
            </p:cNvCxnSpPr>
            <p:nvPr/>
          </p:nvCxnSpPr>
          <p:spPr bwMode="auto">
            <a:xfrm>
              <a:off x="3814" y="3275"/>
              <a:ext cx="514" cy="0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826" name="Oval 18">
              <a:extLst>
                <a:ext uri="{FF2B5EF4-FFF2-40B4-BE49-F238E27FC236}">
                  <a16:creationId xmlns:a16="http://schemas.microsoft.com/office/drawing/2014/main" id="{53A77570-6BF0-DAAE-1DC0-0C9C7612A16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11" y="3160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cxnSp>
          <p:nvCxnSpPr>
            <p:cNvPr id="33827" name="AutoShape 19">
              <a:extLst>
                <a:ext uri="{FF2B5EF4-FFF2-40B4-BE49-F238E27FC236}">
                  <a16:creationId xmlns:a16="http://schemas.microsoft.com/office/drawing/2014/main" id="{653A44AC-49E9-F623-291E-24C7B426367E}"/>
                </a:ext>
              </a:extLst>
            </p:cNvPr>
            <p:cNvCxnSpPr>
              <a:cxnSpLocks noChangeAspect="1" noChangeShapeType="1"/>
              <a:stCxn id="33832" idx="7"/>
              <a:endCxn id="33826" idx="3"/>
            </p:cNvCxnSpPr>
            <p:nvPr/>
          </p:nvCxnSpPr>
          <p:spPr bwMode="auto">
            <a:xfrm flipV="1">
              <a:off x="4923" y="3369"/>
              <a:ext cx="221" cy="273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28" name="AutoShape 20">
              <a:extLst>
                <a:ext uri="{FF2B5EF4-FFF2-40B4-BE49-F238E27FC236}">
                  <a16:creationId xmlns:a16="http://schemas.microsoft.com/office/drawing/2014/main" id="{5E1207FD-6BFF-96C2-1F0F-6853BE6EDFC2}"/>
                </a:ext>
              </a:extLst>
            </p:cNvPr>
            <p:cNvCxnSpPr>
              <a:cxnSpLocks noChangeAspect="1" noChangeShapeType="1"/>
              <a:stCxn id="33826" idx="1"/>
              <a:endCxn id="33819" idx="6"/>
            </p:cNvCxnSpPr>
            <p:nvPr/>
          </p:nvCxnSpPr>
          <p:spPr bwMode="auto">
            <a:xfrm flipH="1" flipV="1">
              <a:off x="4210" y="2814"/>
              <a:ext cx="934" cy="367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829" name="Text Box 21">
              <a:extLst>
                <a:ext uri="{FF2B5EF4-FFF2-40B4-BE49-F238E27FC236}">
                  <a16:creationId xmlns:a16="http://schemas.microsoft.com/office/drawing/2014/main" id="{AD76D649-3420-01DB-7972-079626C20F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0" y="2546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3830" name="Text Box 22">
              <a:extLst>
                <a:ext uri="{FF2B5EF4-FFF2-40B4-BE49-F238E27FC236}">
                  <a16:creationId xmlns:a16="http://schemas.microsoft.com/office/drawing/2014/main" id="{59FBC678-C766-7E5D-8B37-9D5B397F10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6" y="3002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33831" name="AutoShape 23">
              <a:extLst>
                <a:ext uri="{FF2B5EF4-FFF2-40B4-BE49-F238E27FC236}">
                  <a16:creationId xmlns:a16="http://schemas.microsoft.com/office/drawing/2014/main" id="{EEF976ED-E7FF-CC06-3127-9339A2B77B92}"/>
                </a:ext>
              </a:extLst>
            </p:cNvPr>
            <p:cNvCxnSpPr>
              <a:cxnSpLocks noChangeAspect="1" noChangeShapeType="1"/>
              <a:stCxn id="33817" idx="6"/>
              <a:endCxn id="33826" idx="2"/>
            </p:cNvCxnSpPr>
            <p:nvPr/>
          </p:nvCxnSpPr>
          <p:spPr bwMode="auto">
            <a:xfrm>
              <a:off x="4583" y="3275"/>
              <a:ext cx="515" cy="0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832" name="Oval 24">
              <a:extLst>
                <a:ext uri="{FF2B5EF4-FFF2-40B4-BE49-F238E27FC236}">
                  <a16:creationId xmlns:a16="http://schemas.microsoft.com/office/drawing/2014/main" id="{8619FC1E-4147-A498-B093-A1140CCCE84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26" y="3621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F</a:t>
              </a:r>
            </a:p>
          </p:txBody>
        </p:sp>
        <p:cxnSp>
          <p:nvCxnSpPr>
            <p:cNvPr id="33833" name="AutoShape 25">
              <a:extLst>
                <a:ext uri="{FF2B5EF4-FFF2-40B4-BE49-F238E27FC236}">
                  <a16:creationId xmlns:a16="http://schemas.microsoft.com/office/drawing/2014/main" id="{507AB08A-2E69-EC6B-E9AC-035174BD25DC}"/>
                </a:ext>
              </a:extLst>
            </p:cNvPr>
            <p:cNvCxnSpPr>
              <a:cxnSpLocks noChangeAspect="1" noChangeShapeType="1"/>
              <a:stCxn id="33817" idx="5"/>
              <a:endCxn id="33832" idx="1"/>
            </p:cNvCxnSpPr>
            <p:nvPr/>
          </p:nvCxnSpPr>
          <p:spPr bwMode="auto">
            <a:xfrm>
              <a:off x="4538" y="3369"/>
              <a:ext cx="221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834" name="Text Box 26">
              <a:extLst>
                <a:ext uri="{FF2B5EF4-FFF2-40B4-BE49-F238E27FC236}">
                  <a16:creationId xmlns:a16="http://schemas.microsoft.com/office/drawing/2014/main" id="{49546D10-ADF9-5DC6-56EF-FB79C42511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8" y="3452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33797" name="Oval 28">
            <a:extLst>
              <a:ext uri="{FF2B5EF4-FFF2-40B4-BE49-F238E27FC236}">
                <a16:creationId xmlns:a16="http://schemas.microsoft.com/office/drawing/2014/main" id="{38DCFCBB-2159-7791-AB5D-F70F068ABE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5388" y="4630738"/>
            <a:ext cx="366712" cy="366712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33798" name="Oval 29">
            <a:extLst>
              <a:ext uri="{FF2B5EF4-FFF2-40B4-BE49-F238E27FC236}">
                <a16:creationId xmlns:a16="http://schemas.microsoft.com/office/drawing/2014/main" id="{584FBA1E-974D-248C-EA3B-1C77C1C802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14601" y="4630738"/>
            <a:ext cx="366713" cy="366712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33799" name="Oval 30">
            <a:extLst>
              <a:ext uri="{FF2B5EF4-FFF2-40B4-BE49-F238E27FC236}">
                <a16:creationId xmlns:a16="http://schemas.microsoft.com/office/drawing/2014/main" id="{2AF7444E-9C81-0252-8174-BF8C267202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43251" y="3898901"/>
            <a:ext cx="366713" cy="366713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33800" name="Oval 31">
            <a:extLst>
              <a:ext uri="{FF2B5EF4-FFF2-40B4-BE49-F238E27FC236}">
                <a16:creationId xmlns:a16="http://schemas.microsoft.com/office/drawing/2014/main" id="{75F29D8B-AC30-44C3-CFCF-6D1A3C4D3E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24201" y="5362576"/>
            <a:ext cx="366713" cy="366713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33801" name="AutoShape 32">
            <a:extLst>
              <a:ext uri="{FF2B5EF4-FFF2-40B4-BE49-F238E27FC236}">
                <a16:creationId xmlns:a16="http://schemas.microsoft.com/office/drawing/2014/main" id="{C1B55853-92CD-BA8D-A39F-4611409FFAB5}"/>
              </a:ext>
            </a:extLst>
          </p:cNvPr>
          <p:cNvCxnSpPr>
            <a:cxnSpLocks noChangeAspect="1" noChangeShapeType="1"/>
            <a:stCxn id="33799" idx="3"/>
            <a:endCxn id="33798" idx="7"/>
          </p:cNvCxnSpPr>
          <p:nvPr/>
        </p:nvCxnSpPr>
        <p:spPr bwMode="auto">
          <a:xfrm flipH="1">
            <a:off x="2827338" y="4230689"/>
            <a:ext cx="368300" cy="43338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2" name="AutoShape 33">
            <a:extLst>
              <a:ext uri="{FF2B5EF4-FFF2-40B4-BE49-F238E27FC236}">
                <a16:creationId xmlns:a16="http://schemas.microsoft.com/office/drawing/2014/main" id="{AB082AC8-1A30-E559-881F-687FC886BC0B}"/>
              </a:ext>
            </a:extLst>
          </p:cNvPr>
          <p:cNvCxnSpPr>
            <a:cxnSpLocks noChangeAspect="1" noChangeShapeType="1"/>
            <a:stCxn id="33800" idx="1"/>
            <a:endCxn id="33798" idx="5"/>
          </p:cNvCxnSpPr>
          <p:nvPr/>
        </p:nvCxnSpPr>
        <p:spPr bwMode="auto">
          <a:xfrm flipH="1" flipV="1">
            <a:off x="2827338" y="4962525"/>
            <a:ext cx="349250" cy="433388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3" name="AutoShape 34">
            <a:extLst>
              <a:ext uri="{FF2B5EF4-FFF2-40B4-BE49-F238E27FC236}">
                <a16:creationId xmlns:a16="http://schemas.microsoft.com/office/drawing/2014/main" id="{30B12410-00F4-911E-B554-80245BC7E1F0}"/>
              </a:ext>
            </a:extLst>
          </p:cNvPr>
          <p:cNvCxnSpPr>
            <a:cxnSpLocks noChangeAspect="1" noChangeShapeType="1"/>
            <a:stCxn id="33800" idx="7"/>
            <a:endCxn id="33797" idx="3"/>
          </p:cNvCxnSpPr>
          <p:nvPr/>
        </p:nvCxnSpPr>
        <p:spPr bwMode="auto">
          <a:xfrm flipV="1">
            <a:off x="3436939" y="4962525"/>
            <a:ext cx="350837" cy="433388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4" name="AutoShape 35">
            <a:extLst>
              <a:ext uri="{FF2B5EF4-FFF2-40B4-BE49-F238E27FC236}">
                <a16:creationId xmlns:a16="http://schemas.microsoft.com/office/drawing/2014/main" id="{88E1E14D-A3A1-D16B-649B-9512BD6E6745}"/>
              </a:ext>
            </a:extLst>
          </p:cNvPr>
          <p:cNvCxnSpPr>
            <a:cxnSpLocks noChangeAspect="1" noChangeShapeType="1"/>
            <a:stCxn id="33799" idx="5"/>
            <a:endCxn id="33797" idx="1"/>
          </p:cNvCxnSpPr>
          <p:nvPr/>
        </p:nvCxnSpPr>
        <p:spPr bwMode="auto">
          <a:xfrm>
            <a:off x="3455989" y="4230689"/>
            <a:ext cx="331787" cy="433387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5" name="AutoShape 36">
            <a:extLst>
              <a:ext uri="{FF2B5EF4-FFF2-40B4-BE49-F238E27FC236}">
                <a16:creationId xmlns:a16="http://schemas.microsoft.com/office/drawing/2014/main" id="{DA2513DF-9295-E472-9FB2-6454D60A7BC8}"/>
              </a:ext>
            </a:extLst>
          </p:cNvPr>
          <p:cNvCxnSpPr>
            <a:cxnSpLocks noChangeAspect="1" noChangeShapeType="1"/>
            <a:stCxn id="33798" idx="6"/>
            <a:endCxn id="33797" idx="2"/>
          </p:cNvCxnSpPr>
          <p:nvPr/>
        </p:nvCxnSpPr>
        <p:spPr bwMode="auto">
          <a:xfrm>
            <a:off x="2898776" y="4813300"/>
            <a:ext cx="81597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806" name="Oval 37">
            <a:extLst>
              <a:ext uri="{FF2B5EF4-FFF2-40B4-BE49-F238E27FC236}">
                <a16:creationId xmlns:a16="http://schemas.microsoft.com/office/drawing/2014/main" id="{9618DF98-D4B9-A463-B2E5-2D79915971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57763" y="4630738"/>
            <a:ext cx="366712" cy="366712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</a:t>
            </a:r>
          </a:p>
        </p:txBody>
      </p:sp>
      <p:cxnSp>
        <p:nvCxnSpPr>
          <p:cNvPr id="33807" name="AutoShape 38">
            <a:extLst>
              <a:ext uri="{FF2B5EF4-FFF2-40B4-BE49-F238E27FC236}">
                <a16:creationId xmlns:a16="http://schemas.microsoft.com/office/drawing/2014/main" id="{CCC4350F-A3D9-6880-03A5-C230BBB8AE55}"/>
              </a:ext>
            </a:extLst>
          </p:cNvPr>
          <p:cNvCxnSpPr>
            <a:cxnSpLocks noChangeAspect="1" noChangeShapeType="1"/>
            <a:stCxn id="33810" idx="7"/>
            <a:endCxn id="33806" idx="3"/>
          </p:cNvCxnSpPr>
          <p:nvPr/>
        </p:nvCxnSpPr>
        <p:spPr bwMode="auto">
          <a:xfrm flipV="1">
            <a:off x="4659314" y="4962525"/>
            <a:ext cx="350837" cy="433388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8" name="AutoShape 39">
            <a:extLst>
              <a:ext uri="{FF2B5EF4-FFF2-40B4-BE49-F238E27FC236}">
                <a16:creationId xmlns:a16="http://schemas.microsoft.com/office/drawing/2014/main" id="{EA183F2D-3B1F-A76F-66D1-91A8AD6D20B7}"/>
              </a:ext>
            </a:extLst>
          </p:cNvPr>
          <p:cNvCxnSpPr>
            <a:cxnSpLocks noChangeAspect="1" noChangeShapeType="1"/>
            <a:stCxn id="33806" idx="1"/>
            <a:endCxn id="33799" idx="6"/>
          </p:cNvCxnSpPr>
          <p:nvPr/>
        </p:nvCxnSpPr>
        <p:spPr bwMode="auto">
          <a:xfrm flipH="1" flipV="1">
            <a:off x="3527426" y="4081463"/>
            <a:ext cx="1482725" cy="582612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9" name="AutoShape 40">
            <a:extLst>
              <a:ext uri="{FF2B5EF4-FFF2-40B4-BE49-F238E27FC236}">
                <a16:creationId xmlns:a16="http://schemas.microsoft.com/office/drawing/2014/main" id="{0502C1B0-DE47-A6B1-CA90-A4F1AE035B24}"/>
              </a:ext>
            </a:extLst>
          </p:cNvPr>
          <p:cNvCxnSpPr>
            <a:cxnSpLocks noChangeAspect="1" noChangeShapeType="1"/>
            <a:stCxn id="33797" idx="6"/>
            <a:endCxn id="33806" idx="2"/>
          </p:cNvCxnSpPr>
          <p:nvPr/>
        </p:nvCxnSpPr>
        <p:spPr bwMode="auto">
          <a:xfrm>
            <a:off x="4119563" y="4813300"/>
            <a:ext cx="817562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810" name="Oval 41">
            <a:extLst>
              <a:ext uri="{FF2B5EF4-FFF2-40B4-BE49-F238E27FC236}">
                <a16:creationId xmlns:a16="http://schemas.microsoft.com/office/drawing/2014/main" id="{F77143A8-7269-D6A8-4244-DAAF74E225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6576" y="5362576"/>
            <a:ext cx="366713" cy="366713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F</a:t>
            </a:r>
          </a:p>
        </p:txBody>
      </p:sp>
      <p:cxnSp>
        <p:nvCxnSpPr>
          <p:cNvPr id="33811" name="AutoShape 42">
            <a:extLst>
              <a:ext uri="{FF2B5EF4-FFF2-40B4-BE49-F238E27FC236}">
                <a16:creationId xmlns:a16="http://schemas.microsoft.com/office/drawing/2014/main" id="{DB2FFB4F-61D3-B5F9-0AF4-3EEF0CF46DAE}"/>
              </a:ext>
            </a:extLst>
          </p:cNvPr>
          <p:cNvCxnSpPr>
            <a:cxnSpLocks noChangeAspect="1" noChangeShapeType="1"/>
            <a:stCxn id="33797" idx="5"/>
            <a:endCxn id="33810" idx="1"/>
          </p:cNvCxnSpPr>
          <p:nvPr/>
        </p:nvCxnSpPr>
        <p:spPr bwMode="auto">
          <a:xfrm>
            <a:off x="4048125" y="4962525"/>
            <a:ext cx="350838" cy="433388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812" name="Text Box 43">
            <a:extLst>
              <a:ext uri="{FF2B5EF4-FFF2-40B4-BE49-F238E27FC236}">
                <a16:creationId xmlns:a16="http://schemas.microsoft.com/office/drawing/2014/main" id="{A3856E73-0459-CE29-5CDD-144DAE6765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1" y="5788025"/>
            <a:ext cx="15906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DFS</a:t>
            </a:r>
          </a:p>
        </p:txBody>
      </p:sp>
      <p:sp>
        <p:nvSpPr>
          <p:cNvPr id="33813" name="Text Box 44">
            <a:extLst>
              <a:ext uri="{FF2B5EF4-FFF2-40B4-BE49-F238E27FC236}">
                <a16:creationId xmlns:a16="http://schemas.microsoft.com/office/drawing/2014/main" id="{C4AA5345-AC8D-E49C-EE94-A1D75ADB83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2814" y="5788025"/>
            <a:ext cx="15906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BFS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4B45DF7E-7F47-8A7D-78EF-BB2F568258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DFS vs. BFS (cont.)</a:t>
            </a:r>
          </a:p>
        </p:txBody>
      </p:sp>
      <p:grpSp>
        <p:nvGrpSpPr>
          <p:cNvPr id="34818" name="Group 41">
            <a:extLst>
              <a:ext uri="{FF2B5EF4-FFF2-40B4-BE49-F238E27FC236}">
                <a16:creationId xmlns:a16="http://schemas.microsoft.com/office/drawing/2014/main" id="{3B3CDD78-AAE1-41DB-562A-44EE3813A7A3}"/>
              </a:ext>
            </a:extLst>
          </p:cNvPr>
          <p:cNvGrpSpPr>
            <a:grpSpLocks/>
          </p:cNvGrpSpPr>
          <p:nvPr/>
        </p:nvGrpSpPr>
        <p:grpSpPr bwMode="auto">
          <a:xfrm>
            <a:off x="6232526" y="3841751"/>
            <a:ext cx="3649663" cy="2130425"/>
            <a:chOff x="3116" y="2546"/>
            <a:chExt cx="2299" cy="1342"/>
          </a:xfrm>
        </p:grpSpPr>
        <p:sp>
          <p:nvSpPr>
            <p:cNvPr id="34858" name="AutoShape 4">
              <a:extLst>
                <a:ext uri="{FF2B5EF4-FFF2-40B4-BE49-F238E27FC236}">
                  <a16:creationId xmlns:a16="http://schemas.microsoft.com/office/drawing/2014/main" id="{56B8C2EF-6546-0526-BCEB-CFA09F4BE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7" y="3580"/>
              <a:ext cx="1291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4859" name="AutoShape 5">
              <a:extLst>
                <a:ext uri="{FF2B5EF4-FFF2-40B4-BE49-F238E27FC236}">
                  <a16:creationId xmlns:a16="http://schemas.microsoft.com/office/drawing/2014/main" id="{1E81EB04-84FF-964D-F56C-08865D59C3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2" y="3121"/>
              <a:ext cx="1983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4860" name="AutoShape 6">
              <a:extLst>
                <a:ext uri="{FF2B5EF4-FFF2-40B4-BE49-F238E27FC236}">
                  <a16:creationId xmlns:a16="http://schemas.microsoft.com/office/drawing/2014/main" id="{AB4D6AFA-2E29-84FF-3687-9B08D6D37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3" y="2660"/>
              <a:ext cx="521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4861" name="Oval 7">
              <a:extLst>
                <a:ext uri="{FF2B5EF4-FFF2-40B4-BE49-F238E27FC236}">
                  <a16:creationId xmlns:a16="http://schemas.microsoft.com/office/drawing/2014/main" id="{19ADE737-9FD9-37D1-7F7A-AB313489F47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41" y="3160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34862" name="Oval 8">
              <a:extLst>
                <a:ext uri="{FF2B5EF4-FFF2-40B4-BE49-F238E27FC236}">
                  <a16:creationId xmlns:a16="http://schemas.microsoft.com/office/drawing/2014/main" id="{9330073F-B4DB-DDCB-A009-7A6F6040372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72" y="3160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34863" name="Oval 9">
              <a:extLst>
                <a:ext uri="{FF2B5EF4-FFF2-40B4-BE49-F238E27FC236}">
                  <a16:creationId xmlns:a16="http://schemas.microsoft.com/office/drawing/2014/main" id="{A5B90250-ECBF-4BD5-D4CB-7BE2DAA16B2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68" y="2699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34864" name="Oval 10">
              <a:extLst>
                <a:ext uri="{FF2B5EF4-FFF2-40B4-BE49-F238E27FC236}">
                  <a16:creationId xmlns:a16="http://schemas.microsoft.com/office/drawing/2014/main" id="{0A9A46EC-D13A-6AF3-9520-CD4DCDE4EB6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56" y="3621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34865" name="AutoShape 11">
              <a:extLst>
                <a:ext uri="{FF2B5EF4-FFF2-40B4-BE49-F238E27FC236}">
                  <a16:creationId xmlns:a16="http://schemas.microsoft.com/office/drawing/2014/main" id="{B0C380BF-F73C-D13F-5376-03BE826DD258}"/>
                </a:ext>
              </a:extLst>
            </p:cNvPr>
            <p:cNvCxnSpPr>
              <a:cxnSpLocks noChangeAspect="1" noChangeShapeType="1"/>
              <a:stCxn id="34863" idx="3"/>
              <a:endCxn id="34862" idx="7"/>
            </p:cNvCxnSpPr>
            <p:nvPr/>
          </p:nvCxnSpPr>
          <p:spPr bwMode="auto">
            <a:xfrm flipH="1">
              <a:off x="3769" y="2908"/>
              <a:ext cx="232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66" name="AutoShape 12">
              <a:extLst>
                <a:ext uri="{FF2B5EF4-FFF2-40B4-BE49-F238E27FC236}">
                  <a16:creationId xmlns:a16="http://schemas.microsoft.com/office/drawing/2014/main" id="{24271CED-B3D5-1A27-25E2-E8696B2988CF}"/>
                </a:ext>
              </a:extLst>
            </p:cNvPr>
            <p:cNvCxnSpPr>
              <a:cxnSpLocks noChangeAspect="1" noChangeShapeType="1"/>
              <a:stCxn id="34864" idx="1"/>
              <a:endCxn id="34862" idx="5"/>
            </p:cNvCxnSpPr>
            <p:nvPr/>
          </p:nvCxnSpPr>
          <p:spPr bwMode="auto">
            <a:xfrm flipH="1" flipV="1">
              <a:off x="3769" y="3369"/>
              <a:ext cx="220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67" name="AutoShape 13">
              <a:extLst>
                <a:ext uri="{FF2B5EF4-FFF2-40B4-BE49-F238E27FC236}">
                  <a16:creationId xmlns:a16="http://schemas.microsoft.com/office/drawing/2014/main" id="{7AE65350-35C3-B62F-B4D6-BA8EBA0AE413}"/>
                </a:ext>
              </a:extLst>
            </p:cNvPr>
            <p:cNvCxnSpPr>
              <a:cxnSpLocks noChangeAspect="1" noChangeShapeType="1"/>
              <a:stCxn id="34864" idx="7"/>
              <a:endCxn id="34861" idx="3"/>
            </p:cNvCxnSpPr>
            <p:nvPr/>
          </p:nvCxnSpPr>
          <p:spPr bwMode="auto">
            <a:xfrm flipV="1">
              <a:off x="4153" y="3369"/>
              <a:ext cx="221" cy="273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68" name="AutoShape 14">
              <a:extLst>
                <a:ext uri="{FF2B5EF4-FFF2-40B4-BE49-F238E27FC236}">
                  <a16:creationId xmlns:a16="http://schemas.microsoft.com/office/drawing/2014/main" id="{9FE1EFC3-BB31-2408-EC8D-29BC04CF1901}"/>
                </a:ext>
              </a:extLst>
            </p:cNvPr>
            <p:cNvCxnSpPr>
              <a:cxnSpLocks noChangeAspect="1" noChangeShapeType="1"/>
              <a:stCxn id="34863" idx="5"/>
              <a:endCxn id="34861" idx="1"/>
            </p:cNvCxnSpPr>
            <p:nvPr/>
          </p:nvCxnSpPr>
          <p:spPr bwMode="auto">
            <a:xfrm>
              <a:off x="4165" y="2908"/>
              <a:ext cx="209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69" name="AutoShape 15">
              <a:extLst>
                <a:ext uri="{FF2B5EF4-FFF2-40B4-BE49-F238E27FC236}">
                  <a16:creationId xmlns:a16="http://schemas.microsoft.com/office/drawing/2014/main" id="{A1B697CC-766F-6444-4C57-7F53C0D80DB5}"/>
                </a:ext>
              </a:extLst>
            </p:cNvPr>
            <p:cNvCxnSpPr>
              <a:cxnSpLocks noChangeAspect="1" noChangeShapeType="1"/>
              <a:stCxn id="34862" idx="6"/>
              <a:endCxn id="34861" idx="2"/>
            </p:cNvCxnSpPr>
            <p:nvPr/>
          </p:nvCxnSpPr>
          <p:spPr bwMode="auto">
            <a:xfrm>
              <a:off x="3814" y="3275"/>
              <a:ext cx="514" cy="0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870" name="Oval 16">
              <a:extLst>
                <a:ext uri="{FF2B5EF4-FFF2-40B4-BE49-F238E27FC236}">
                  <a16:creationId xmlns:a16="http://schemas.microsoft.com/office/drawing/2014/main" id="{5C1E7151-C398-061F-A9D5-E729B98AF27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11" y="3160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cxnSp>
          <p:nvCxnSpPr>
            <p:cNvPr id="34871" name="AutoShape 17">
              <a:extLst>
                <a:ext uri="{FF2B5EF4-FFF2-40B4-BE49-F238E27FC236}">
                  <a16:creationId xmlns:a16="http://schemas.microsoft.com/office/drawing/2014/main" id="{B901428D-0487-3F70-FD7A-1E40EC0DF648}"/>
                </a:ext>
              </a:extLst>
            </p:cNvPr>
            <p:cNvCxnSpPr>
              <a:cxnSpLocks noChangeAspect="1" noChangeShapeType="1"/>
              <a:stCxn id="34876" idx="7"/>
              <a:endCxn id="34870" idx="3"/>
            </p:cNvCxnSpPr>
            <p:nvPr/>
          </p:nvCxnSpPr>
          <p:spPr bwMode="auto">
            <a:xfrm flipV="1">
              <a:off x="4923" y="3369"/>
              <a:ext cx="221" cy="273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72" name="AutoShape 18">
              <a:extLst>
                <a:ext uri="{FF2B5EF4-FFF2-40B4-BE49-F238E27FC236}">
                  <a16:creationId xmlns:a16="http://schemas.microsoft.com/office/drawing/2014/main" id="{FD175FC3-8D13-33BB-69EF-8400FBA9033A}"/>
                </a:ext>
              </a:extLst>
            </p:cNvPr>
            <p:cNvCxnSpPr>
              <a:cxnSpLocks noChangeAspect="1" noChangeShapeType="1"/>
              <a:stCxn id="34870" idx="1"/>
              <a:endCxn id="34863" idx="6"/>
            </p:cNvCxnSpPr>
            <p:nvPr/>
          </p:nvCxnSpPr>
          <p:spPr bwMode="auto">
            <a:xfrm flipH="1" flipV="1">
              <a:off x="4210" y="2814"/>
              <a:ext cx="934" cy="367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873" name="Text Box 19">
              <a:extLst>
                <a:ext uri="{FF2B5EF4-FFF2-40B4-BE49-F238E27FC236}">
                  <a16:creationId xmlns:a16="http://schemas.microsoft.com/office/drawing/2014/main" id="{D64C231F-4416-9FD1-4275-15918A9AA5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0" y="2546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4874" name="Text Box 20">
              <a:extLst>
                <a:ext uri="{FF2B5EF4-FFF2-40B4-BE49-F238E27FC236}">
                  <a16:creationId xmlns:a16="http://schemas.microsoft.com/office/drawing/2014/main" id="{C4336D60-C91C-CB76-7843-2E04BCFCA6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6" y="3002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34875" name="AutoShape 21">
              <a:extLst>
                <a:ext uri="{FF2B5EF4-FFF2-40B4-BE49-F238E27FC236}">
                  <a16:creationId xmlns:a16="http://schemas.microsoft.com/office/drawing/2014/main" id="{A8162883-C33D-ADF2-31F8-BE6E914D009B}"/>
                </a:ext>
              </a:extLst>
            </p:cNvPr>
            <p:cNvCxnSpPr>
              <a:cxnSpLocks noChangeAspect="1" noChangeShapeType="1"/>
              <a:stCxn id="34861" idx="6"/>
              <a:endCxn id="34870" idx="2"/>
            </p:cNvCxnSpPr>
            <p:nvPr/>
          </p:nvCxnSpPr>
          <p:spPr bwMode="auto">
            <a:xfrm>
              <a:off x="4583" y="3275"/>
              <a:ext cx="515" cy="0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876" name="Oval 22">
              <a:extLst>
                <a:ext uri="{FF2B5EF4-FFF2-40B4-BE49-F238E27FC236}">
                  <a16:creationId xmlns:a16="http://schemas.microsoft.com/office/drawing/2014/main" id="{4E9E7FA5-5C20-4342-AA85-34286A20CF8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26" y="3621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F</a:t>
              </a:r>
            </a:p>
          </p:txBody>
        </p:sp>
        <p:cxnSp>
          <p:nvCxnSpPr>
            <p:cNvPr id="34877" name="AutoShape 23">
              <a:extLst>
                <a:ext uri="{FF2B5EF4-FFF2-40B4-BE49-F238E27FC236}">
                  <a16:creationId xmlns:a16="http://schemas.microsoft.com/office/drawing/2014/main" id="{9086396B-AEE0-706E-6165-DCCAE077F2CF}"/>
                </a:ext>
              </a:extLst>
            </p:cNvPr>
            <p:cNvCxnSpPr>
              <a:cxnSpLocks noChangeAspect="1" noChangeShapeType="1"/>
              <a:stCxn id="34861" idx="5"/>
              <a:endCxn id="34876" idx="1"/>
            </p:cNvCxnSpPr>
            <p:nvPr/>
          </p:nvCxnSpPr>
          <p:spPr bwMode="auto">
            <a:xfrm>
              <a:off x="4538" y="3369"/>
              <a:ext cx="221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878" name="Text Box 24">
              <a:extLst>
                <a:ext uri="{FF2B5EF4-FFF2-40B4-BE49-F238E27FC236}">
                  <a16:creationId xmlns:a16="http://schemas.microsoft.com/office/drawing/2014/main" id="{A5760714-E2C0-FDC1-DD24-519BFA396C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8" y="3452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34819" name="Oval 25">
            <a:extLst>
              <a:ext uri="{FF2B5EF4-FFF2-40B4-BE49-F238E27FC236}">
                <a16:creationId xmlns:a16="http://schemas.microsoft.com/office/drawing/2014/main" id="{60665605-0394-521A-818E-F7BE8C7586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63988" y="4814888"/>
            <a:ext cx="366712" cy="366712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34820" name="Oval 26">
            <a:extLst>
              <a:ext uri="{FF2B5EF4-FFF2-40B4-BE49-F238E27FC236}">
                <a16:creationId xmlns:a16="http://schemas.microsoft.com/office/drawing/2014/main" id="{613468C4-17C2-70A1-F897-039C11E36E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43201" y="4814888"/>
            <a:ext cx="366713" cy="366712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34821" name="Oval 27">
            <a:extLst>
              <a:ext uri="{FF2B5EF4-FFF2-40B4-BE49-F238E27FC236}">
                <a16:creationId xmlns:a16="http://schemas.microsoft.com/office/drawing/2014/main" id="{46F6D1FC-F57A-BC3D-DF93-DE94C6D4CB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71851" y="4083051"/>
            <a:ext cx="366713" cy="366713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34822" name="Oval 28">
            <a:extLst>
              <a:ext uri="{FF2B5EF4-FFF2-40B4-BE49-F238E27FC236}">
                <a16:creationId xmlns:a16="http://schemas.microsoft.com/office/drawing/2014/main" id="{E7E247FF-EBD9-26F1-431C-F9982584D6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52801" y="5546726"/>
            <a:ext cx="366713" cy="366713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34823" name="AutoShape 29">
            <a:extLst>
              <a:ext uri="{FF2B5EF4-FFF2-40B4-BE49-F238E27FC236}">
                <a16:creationId xmlns:a16="http://schemas.microsoft.com/office/drawing/2014/main" id="{04892B19-EE40-54A7-282F-64E6259638C8}"/>
              </a:ext>
            </a:extLst>
          </p:cNvPr>
          <p:cNvCxnSpPr>
            <a:cxnSpLocks noChangeAspect="1" noChangeShapeType="1"/>
            <a:stCxn id="34821" idx="3"/>
            <a:endCxn id="34820" idx="7"/>
          </p:cNvCxnSpPr>
          <p:nvPr/>
        </p:nvCxnSpPr>
        <p:spPr bwMode="auto">
          <a:xfrm flipH="1">
            <a:off x="3055938" y="4414839"/>
            <a:ext cx="368300" cy="43338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24" name="AutoShape 30">
            <a:extLst>
              <a:ext uri="{FF2B5EF4-FFF2-40B4-BE49-F238E27FC236}">
                <a16:creationId xmlns:a16="http://schemas.microsoft.com/office/drawing/2014/main" id="{36454C12-DAC7-E8B2-5EA9-BE6279E14549}"/>
              </a:ext>
            </a:extLst>
          </p:cNvPr>
          <p:cNvCxnSpPr>
            <a:cxnSpLocks noChangeAspect="1" noChangeShapeType="1"/>
            <a:stCxn id="34822" idx="1"/>
            <a:endCxn id="34820" idx="5"/>
          </p:cNvCxnSpPr>
          <p:nvPr/>
        </p:nvCxnSpPr>
        <p:spPr bwMode="auto">
          <a:xfrm flipH="1" flipV="1">
            <a:off x="3055938" y="5146675"/>
            <a:ext cx="349250" cy="433388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25" name="AutoShape 31">
            <a:extLst>
              <a:ext uri="{FF2B5EF4-FFF2-40B4-BE49-F238E27FC236}">
                <a16:creationId xmlns:a16="http://schemas.microsoft.com/office/drawing/2014/main" id="{05227F81-91F2-CC63-AB2F-918196C0BB47}"/>
              </a:ext>
            </a:extLst>
          </p:cNvPr>
          <p:cNvCxnSpPr>
            <a:cxnSpLocks noChangeAspect="1" noChangeShapeType="1"/>
            <a:stCxn id="34822" idx="7"/>
            <a:endCxn id="34819" idx="3"/>
          </p:cNvCxnSpPr>
          <p:nvPr/>
        </p:nvCxnSpPr>
        <p:spPr bwMode="auto">
          <a:xfrm flipV="1">
            <a:off x="3665539" y="5146675"/>
            <a:ext cx="350837" cy="433388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26" name="AutoShape 32">
            <a:extLst>
              <a:ext uri="{FF2B5EF4-FFF2-40B4-BE49-F238E27FC236}">
                <a16:creationId xmlns:a16="http://schemas.microsoft.com/office/drawing/2014/main" id="{F473CF27-8EA1-82E2-858F-98003AEBB10A}"/>
              </a:ext>
            </a:extLst>
          </p:cNvPr>
          <p:cNvCxnSpPr>
            <a:cxnSpLocks noChangeAspect="1" noChangeShapeType="1"/>
            <a:stCxn id="34821" idx="5"/>
            <a:endCxn id="34819" idx="1"/>
          </p:cNvCxnSpPr>
          <p:nvPr/>
        </p:nvCxnSpPr>
        <p:spPr bwMode="auto">
          <a:xfrm>
            <a:off x="3684589" y="4414839"/>
            <a:ext cx="331787" cy="433387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27" name="AutoShape 33">
            <a:extLst>
              <a:ext uri="{FF2B5EF4-FFF2-40B4-BE49-F238E27FC236}">
                <a16:creationId xmlns:a16="http://schemas.microsoft.com/office/drawing/2014/main" id="{C9C86346-BDC8-1423-A666-3A4FC4BC5FB8}"/>
              </a:ext>
            </a:extLst>
          </p:cNvPr>
          <p:cNvCxnSpPr>
            <a:cxnSpLocks noChangeAspect="1" noChangeShapeType="1"/>
            <a:stCxn id="34820" idx="6"/>
            <a:endCxn id="34819" idx="2"/>
          </p:cNvCxnSpPr>
          <p:nvPr/>
        </p:nvCxnSpPr>
        <p:spPr bwMode="auto">
          <a:xfrm>
            <a:off x="3127376" y="4997450"/>
            <a:ext cx="81597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28" name="Oval 34">
            <a:extLst>
              <a:ext uri="{FF2B5EF4-FFF2-40B4-BE49-F238E27FC236}">
                <a16:creationId xmlns:a16="http://schemas.microsoft.com/office/drawing/2014/main" id="{3FAA561C-65E7-ED23-E904-DF3285BE6F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86363" y="4814888"/>
            <a:ext cx="366712" cy="366712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</a:t>
            </a:r>
          </a:p>
        </p:txBody>
      </p:sp>
      <p:cxnSp>
        <p:nvCxnSpPr>
          <p:cNvPr id="34829" name="AutoShape 35">
            <a:extLst>
              <a:ext uri="{FF2B5EF4-FFF2-40B4-BE49-F238E27FC236}">
                <a16:creationId xmlns:a16="http://schemas.microsoft.com/office/drawing/2014/main" id="{EF594446-52FB-6BC4-5F00-E51B49B8B06C}"/>
              </a:ext>
            </a:extLst>
          </p:cNvPr>
          <p:cNvCxnSpPr>
            <a:cxnSpLocks noChangeAspect="1" noChangeShapeType="1"/>
            <a:stCxn id="34832" idx="7"/>
            <a:endCxn id="34828" idx="3"/>
          </p:cNvCxnSpPr>
          <p:nvPr/>
        </p:nvCxnSpPr>
        <p:spPr bwMode="auto">
          <a:xfrm flipV="1">
            <a:off x="4887914" y="5146675"/>
            <a:ext cx="350837" cy="433388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30" name="AutoShape 36">
            <a:extLst>
              <a:ext uri="{FF2B5EF4-FFF2-40B4-BE49-F238E27FC236}">
                <a16:creationId xmlns:a16="http://schemas.microsoft.com/office/drawing/2014/main" id="{27B6C2E7-2785-0928-4C4D-D15ADF54DBFA}"/>
              </a:ext>
            </a:extLst>
          </p:cNvPr>
          <p:cNvCxnSpPr>
            <a:cxnSpLocks noChangeAspect="1" noChangeShapeType="1"/>
            <a:stCxn id="34828" idx="1"/>
            <a:endCxn id="34821" idx="6"/>
          </p:cNvCxnSpPr>
          <p:nvPr/>
        </p:nvCxnSpPr>
        <p:spPr bwMode="auto">
          <a:xfrm flipH="1" flipV="1">
            <a:off x="3756026" y="4265613"/>
            <a:ext cx="1482725" cy="582612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31" name="AutoShape 37">
            <a:extLst>
              <a:ext uri="{FF2B5EF4-FFF2-40B4-BE49-F238E27FC236}">
                <a16:creationId xmlns:a16="http://schemas.microsoft.com/office/drawing/2014/main" id="{12019127-EDEB-34D1-75DA-976E3E9C8C94}"/>
              </a:ext>
            </a:extLst>
          </p:cNvPr>
          <p:cNvCxnSpPr>
            <a:cxnSpLocks noChangeAspect="1" noChangeShapeType="1"/>
            <a:stCxn id="34819" idx="6"/>
            <a:endCxn id="34828" idx="2"/>
          </p:cNvCxnSpPr>
          <p:nvPr/>
        </p:nvCxnSpPr>
        <p:spPr bwMode="auto">
          <a:xfrm>
            <a:off x="4348163" y="4997450"/>
            <a:ext cx="817562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32" name="Oval 38">
            <a:extLst>
              <a:ext uri="{FF2B5EF4-FFF2-40B4-BE49-F238E27FC236}">
                <a16:creationId xmlns:a16="http://schemas.microsoft.com/office/drawing/2014/main" id="{AADEFF41-FC94-0A57-2D0B-64886C837F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5176" y="5546726"/>
            <a:ext cx="366713" cy="366713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F</a:t>
            </a:r>
          </a:p>
        </p:txBody>
      </p:sp>
      <p:cxnSp>
        <p:nvCxnSpPr>
          <p:cNvPr id="34833" name="AutoShape 39">
            <a:extLst>
              <a:ext uri="{FF2B5EF4-FFF2-40B4-BE49-F238E27FC236}">
                <a16:creationId xmlns:a16="http://schemas.microsoft.com/office/drawing/2014/main" id="{201BDC3C-951B-2A4D-716E-C5415175FC91}"/>
              </a:ext>
            </a:extLst>
          </p:cNvPr>
          <p:cNvCxnSpPr>
            <a:cxnSpLocks noChangeAspect="1" noChangeShapeType="1"/>
            <a:stCxn id="34819" idx="5"/>
            <a:endCxn id="34832" idx="1"/>
          </p:cNvCxnSpPr>
          <p:nvPr/>
        </p:nvCxnSpPr>
        <p:spPr bwMode="auto">
          <a:xfrm>
            <a:off x="4276725" y="5146675"/>
            <a:ext cx="350838" cy="433388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34" name="Text Box 43">
            <a:extLst>
              <a:ext uri="{FF2B5EF4-FFF2-40B4-BE49-F238E27FC236}">
                <a16:creationId xmlns:a16="http://schemas.microsoft.com/office/drawing/2014/main" id="{45379293-406F-A21C-32CF-A67B5BC3C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1" y="5972175"/>
            <a:ext cx="15906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DFS</a:t>
            </a:r>
          </a:p>
        </p:txBody>
      </p:sp>
      <p:sp>
        <p:nvSpPr>
          <p:cNvPr id="34835" name="Text Box 44">
            <a:extLst>
              <a:ext uri="{FF2B5EF4-FFF2-40B4-BE49-F238E27FC236}">
                <a16:creationId xmlns:a16="http://schemas.microsoft.com/office/drawing/2014/main" id="{51C959F2-7DEE-F591-9764-3F924679B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2814" y="5972175"/>
            <a:ext cx="15906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BFS</a:t>
            </a:r>
          </a:p>
        </p:txBody>
      </p:sp>
      <p:graphicFrame>
        <p:nvGraphicFramePr>
          <p:cNvPr id="238678" name="Group 86">
            <a:extLst>
              <a:ext uri="{FF2B5EF4-FFF2-40B4-BE49-F238E27FC236}">
                <a16:creationId xmlns:a16="http://schemas.microsoft.com/office/drawing/2014/main" id="{41D46DDF-F475-DBD7-AF69-45F62F11F904}"/>
              </a:ext>
            </a:extLst>
          </p:cNvPr>
          <p:cNvGraphicFramePr>
            <a:graphicFrameLocks noGrp="1"/>
          </p:cNvGraphicFramePr>
          <p:nvPr/>
        </p:nvGraphicFramePr>
        <p:xfrm>
          <a:off x="3352801" y="1447801"/>
          <a:ext cx="5203825" cy="2139949"/>
        </p:xfrm>
        <a:graphic>
          <a:graphicData uri="http://schemas.openxmlformats.org/drawingml/2006/table">
            <a:tbl>
              <a:tblPr/>
              <a:tblGrid>
                <a:gridCol w="348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9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5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Applications</a:t>
                      </a:r>
                    </a:p>
                  </a:txBody>
                  <a:tcPr marT="45734" marB="4573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DFS</a:t>
                      </a: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BFS</a:t>
                      </a: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2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Spanning forest, connected components, paths, cycles</a:t>
                      </a:r>
                    </a:p>
                  </a:txBody>
                  <a:tcPr marT="45734" marB="4573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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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5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Shortest paths</a:t>
                      </a:r>
                    </a:p>
                  </a:txBody>
                  <a:tcPr marT="45734" marB="4573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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5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Biconnected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components</a:t>
                      </a:r>
                    </a:p>
                  </a:txBody>
                  <a:tcPr marT="45734" marB="4573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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>
            <a:extLst>
              <a:ext uri="{FF2B5EF4-FFF2-40B4-BE49-F238E27FC236}">
                <a16:creationId xmlns:a16="http://schemas.microsoft.com/office/drawing/2014/main" id="{E93369D5-3CF4-5140-A84D-FFD1816A09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905000"/>
            <a:ext cx="8229600" cy="2362200"/>
          </a:xfrm>
        </p:spPr>
        <p:txBody>
          <a:bodyPr/>
          <a:lstStyle/>
          <a:p>
            <a:pPr eaLnBrk="1" hangingPunct="1"/>
            <a:r>
              <a:rPr lang="en-US" altLang="en-US"/>
              <a:t>Extra Slides </a:t>
            </a:r>
            <a:br>
              <a:rPr lang="en-US" altLang="en-US"/>
            </a:br>
            <a:r>
              <a:rPr lang="en-US" altLang="en-US"/>
              <a:t>on Biconnected Components</a:t>
            </a:r>
            <a:br>
              <a:rPr lang="en-US" altLang="en-US" sz="2400"/>
            </a:br>
            <a:endParaRPr lang="en-US" altLang="en-US"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CFDEEBB1-846A-82F2-F534-5142389253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Separation Edges and Vertices</a:t>
            </a:r>
          </a:p>
        </p:txBody>
      </p:sp>
      <p:sp>
        <p:nvSpPr>
          <p:cNvPr id="3686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DACCBDB-F5CC-CEF5-031D-5BEFCF382E4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162175" y="1543050"/>
            <a:ext cx="7905750" cy="32004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Definitions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Let </a:t>
            </a:r>
            <a:r>
              <a:rPr lang="en-US" altLang="en-US" sz="1800" b="1" i="1">
                <a:latin typeface="Times New Roman" panose="02020603050405020304" pitchFamily="18" charset="0"/>
              </a:rPr>
              <a:t>G </a:t>
            </a:r>
            <a:r>
              <a:rPr lang="en-US" altLang="en-US" sz="1800"/>
              <a:t>be a connected graph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 separation edge of </a:t>
            </a:r>
            <a:r>
              <a:rPr lang="en-US" altLang="en-US" sz="1800" b="1" i="1">
                <a:latin typeface="Times New Roman" panose="02020603050405020304" pitchFamily="18" charset="0"/>
              </a:rPr>
              <a:t>G </a:t>
            </a:r>
            <a:r>
              <a:rPr lang="en-US" altLang="en-US" sz="1800"/>
              <a:t>is an edge whose removal disconnects </a:t>
            </a:r>
            <a:r>
              <a:rPr lang="en-US" altLang="en-US" sz="1800" b="1" i="1">
                <a:latin typeface="Times New Roman" panose="02020603050405020304" pitchFamily="18" charset="0"/>
              </a:rPr>
              <a:t>G </a:t>
            </a:r>
            <a:endParaRPr lang="en-US" altLang="en-US" sz="1800">
              <a:solidFill>
                <a:schemeClr val="tx2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 separation vertex of </a:t>
            </a:r>
            <a:r>
              <a:rPr lang="en-US" altLang="en-US" sz="1800" b="1" i="1">
                <a:latin typeface="Times New Roman" panose="02020603050405020304" pitchFamily="18" charset="0"/>
              </a:rPr>
              <a:t>G </a:t>
            </a:r>
            <a:r>
              <a:rPr lang="en-US" altLang="en-US" sz="1800"/>
              <a:t>is a vertex whose removal disconnects </a:t>
            </a:r>
            <a:r>
              <a:rPr lang="en-US" altLang="en-US" sz="1800" b="1" i="1">
                <a:latin typeface="Times New Roman" panose="02020603050405020304" pitchFamily="18" charset="0"/>
              </a:rPr>
              <a:t>G </a:t>
            </a:r>
            <a:endParaRPr lang="en-US" altLang="en-US" sz="180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Applications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Separation edges and vertices represent single points of failure in a network and are critical to the operation of the network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Example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DFW, LGA and LAX are separation vertices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(DFW,LAX) is a separation edge</a:t>
            </a:r>
          </a:p>
        </p:txBody>
      </p:sp>
      <p:sp>
        <p:nvSpPr>
          <p:cNvPr id="36867" name="Oval 12">
            <a:extLst>
              <a:ext uri="{FF2B5EF4-FFF2-40B4-BE49-F238E27FC236}">
                <a16:creationId xmlns:a16="http://schemas.microsoft.com/office/drawing/2014/main" id="{ECC3752E-8EBE-4E4A-5DB2-18D94E2F0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3176" y="4549775"/>
            <a:ext cx="784225" cy="38258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ORD</a:t>
            </a:r>
          </a:p>
        </p:txBody>
      </p:sp>
      <p:sp>
        <p:nvSpPr>
          <p:cNvPr id="36868" name="Oval 99">
            <a:extLst>
              <a:ext uri="{FF2B5EF4-FFF2-40B4-BE49-F238E27FC236}">
                <a16:creationId xmlns:a16="http://schemas.microsoft.com/office/drawing/2014/main" id="{768891A6-9066-425F-4AAF-D47B6A5CA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0314" y="4549775"/>
            <a:ext cx="784225" cy="38258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PVD</a:t>
            </a:r>
          </a:p>
        </p:txBody>
      </p:sp>
      <p:sp>
        <p:nvSpPr>
          <p:cNvPr id="36869" name="Oval 100">
            <a:extLst>
              <a:ext uri="{FF2B5EF4-FFF2-40B4-BE49-F238E27FC236}">
                <a16:creationId xmlns:a16="http://schemas.microsoft.com/office/drawing/2014/main" id="{BE4F2266-A7CD-5F40-3AE4-6CD930196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3901" y="5880100"/>
            <a:ext cx="784225" cy="38258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MIA</a:t>
            </a:r>
          </a:p>
        </p:txBody>
      </p:sp>
      <p:sp>
        <p:nvSpPr>
          <p:cNvPr id="36870" name="Oval 101">
            <a:extLst>
              <a:ext uri="{FF2B5EF4-FFF2-40B4-BE49-F238E27FC236}">
                <a16:creationId xmlns:a16="http://schemas.microsoft.com/office/drawing/2014/main" id="{A396078E-9A4C-26CF-09B3-C67E69852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75" y="5816600"/>
            <a:ext cx="782638" cy="382588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DFW</a:t>
            </a:r>
          </a:p>
        </p:txBody>
      </p:sp>
      <p:sp>
        <p:nvSpPr>
          <p:cNvPr id="36871" name="Oval 102">
            <a:extLst>
              <a:ext uri="{FF2B5EF4-FFF2-40B4-BE49-F238E27FC236}">
                <a16:creationId xmlns:a16="http://schemas.microsoft.com/office/drawing/2014/main" id="{06241097-703C-F7AE-3B36-2F8527E90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1" y="4741864"/>
            <a:ext cx="784225" cy="382587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SFO</a:t>
            </a:r>
          </a:p>
        </p:txBody>
      </p:sp>
      <p:sp>
        <p:nvSpPr>
          <p:cNvPr id="36872" name="Oval 103">
            <a:extLst>
              <a:ext uri="{FF2B5EF4-FFF2-40B4-BE49-F238E27FC236}">
                <a16:creationId xmlns:a16="http://schemas.microsoft.com/office/drawing/2014/main" id="{D88C1218-9F36-326A-283A-849B77BBA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0739" y="5697539"/>
            <a:ext cx="784225" cy="382587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LAX</a:t>
            </a:r>
          </a:p>
        </p:txBody>
      </p:sp>
      <p:sp>
        <p:nvSpPr>
          <p:cNvPr id="36873" name="Oval 104">
            <a:extLst>
              <a:ext uri="{FF2B5EF4-FFF2-40B4-BE49-F238E27FC236}">
                <a16:creationId xmlns:a16="http://schemas.microsoft.com/office/drawing/2014/main" id="{DC1E3FD5-638C-5F84-F244-AAE141024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3976" y="5059364"/>
            <a:ext cx="784225" cy="382587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LGA</a:t>
            </a:r>
          </a:p>
        </p:txBody>
      </p:sp>
      <p:sp>
        <p:nvSpPr>
          <p:cNvPr id="36874" name="Oval 105">
            <a:extLst>
              <a:ext uri="{FF2B5EF4-FFF2-40B4-BE49-F238E27FC236}">
                <a16:creationId xmlns:a16="http://schemas.microsoft.com/office/drawing/2014/main" id="{5C37AE9B-ED62-BA01-5ACC-ABC7AD9A1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1" y="5507039"/>
            <a:ext cx="784225" cy="382587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HNL</a:t>
            </a:r>
          </a:p>
        </p:txBody>
      </p:sp>
      <p:cxnSp>
        <p:nvCxnSpPr>
          <p:cNvPr id="36875" name="AutoShape 107">
            <a:extLst>
              <a:ext uri="{FF2B5EF4-FFF2-40B4-BE49-F238E27FC236}">
                <a16:creationId xmlns:a16="http://schemas.microsoft.com/office/drawing/2014/main" id="{7DE58EE0-6DD6-1783-15AD-FFFA4D46D326}"/>
              </a:ext>
            </a:extLst>
          </p:cNvPr>
          <p:cNvCxnSpPr>
            <a:cxnSpLocks noChangeShapeType="1"/>
            <a:stCxn id="36870" idx="0"/>
            <a:endCxn id="36867" idx="4"/>
          </p:cNvCxnSpPr>
          <p:nvPr/>
        </p:nvCxnSpPr>
        <p:spPr bwMode="auto">
          <a:xfrm flipV="1">
            <a:off x="6502400" y="4940301"/>
            <a:ext cx="242888" cy="8604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6" name="AutoShape 108">
            <a:extLst>
              <a:ext uri="{FF2B5EF4-FFF2-40B4-BE49-F238E27FC236}">
                <a16:creationId xmlns:a16="http://schemas.microsoft.com/office/drawing/2014/main" id="{DFED60DE-7D26-849B-3C6A-6616226146D6}"/>
              </a:ext>
            </a:extLst>
          </p:cNvPr>
          <p:cNvCxnSpPr>
            <a:cxnSpLocks noChangeShapeType="1"/>
            <a:stCxn id="36870" idx="7"/>
            <a:endCxn id="36873" idx="3"/>
          </p:cNvCxnSpPr>
          <p:nvPr/>
        </p:nvCxnSpPr>
        <p:spPr bwMode="auto">
          <a:xfrm flipV="1">
            <a:off x="6780213" y="5402263"/>
            <a:ext cx="1008062" cy="4556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7" name="AutoShape 109">
            <a:extLst>
              <a:ext uri="{FF2B5EF4-FFF2-40B4-BE49-F238E27FC236}">
                <a16:creationId xmlns:a16="http://schemas.microsoft.com/office/drawing/2014/main" id="{43D236E1-5087-E2C6-7473-6A6B9BD28E07}"/>
              </a:ext>
            </a:extLst>
          </p:cNvPr>
          <p:cNvCxnSpPr>
            <a:cxnSpLocks noChangeShapeType="1"/>
            <a:stCxn id="36873" idx="7"/>
            <a:endCxn id="36868" idx="3"/>
          </p:cNvCxnSpPr>
          <p:nvPr/>
        </p:nvCxnSpPr>
        <p:spPr bwMode="auto">
          <a:xfrm flipV="1">
            <a:off x="8343901" y="4886325"/>
            <a:ext cx="620713" cy="2095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8" name="AutoShape 111">
            <a:extLst>
              <a:ext uri="{FF2B5EF4-FFF2-40B4-BE49-F238E27FC236}">
                <a16:creationId xmlns:a16="http://schemas.microsoft.com/office/drawing/2014/main" id="{1D8979A9-D461-8E92-53A6-A9F0E16A3487}"/>
              </a:ext>
            </a:extLst>
          </p:cNvPr>
          <p:cNvCxnSpPr>
            <a:cxnSpLocks noChangeShapeType="1"/>
            <a:stCxn id="36874" idx="6"/>
            <a:endCxn id="36872" idx="2"/>
          </p:cNvCxnSpPr>
          <p:nvPr/>
        </p:nvCxnSpPr>
        <p:spPr bwMode="auto">
          <a:xfrm>
            <a:off x="3763963" y="5697539"/>
            <a:ext cx="850900" cy="1920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9" name="AutoShape 112">
            <a:extLst>
              <a:ext uri="{FF2B5EF4-FFF2-40B4-BE49-F238E27FC236}">
                <a16:creationId xmlns:a16="http://schemas.microsoft.com/office/drawing/2014/main" id="{00130551-7BC3-8B64-7711-C4D92FA9D498}"/>
              </a:ext>
            </a:extLst>
          </p:cNvPr>
          <p:cNvCxnSpPr>
            <a:cxnSpLocks noChangeShapeType="1"/>
            <a:stCxn id="36871" idx="4"/>
            <a:endCxn id="36872" idx="0"/>
          </p:cNvCxnSpPr>
          <p:nvPr/>
        </p:nvCxnSpPr>
        <p:spPr bwMode="auto">
          <a:xfrm>
            <a:off x="4894264" y="5132389"/>
            <a:ext cx="128587" cy="5492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80" name="AutoShape 113">
            <a:extLst>
              <a:ext uri="{FF2B5EF4-FFF2-40B4-BE49-F238E27FC236}">
                <a16:creationId xmlns:a16="http://schemas.microsoft.com/office/drawing/2014/main" id="{177D3410-AA6C-C4FC-039B-8AB0A1826076}"/>
              </a:ext>
            </a:extLst>
          </p:cNvPr>
          <p:cNvCxnSpPr>
            <a:cxnSpLocks noChangeShapeType="1"/>
            <a:stCxn id="36873" idx="4"/>
            <a:endCxn id="36869" idx="1"/>
          </p:cNvCxnSpPr>
          <p:nvPr/>
        </p:nvCxnSpPr>
        <p:spPr bwMode="auto">
          <a:xfrm>
            <a:off x="8066088" y="5461000"/>
            <a:ext cx="392112" cy="4651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81" name="AutoShape 114">
            <a:extLst>
              <a:ext uri="{FF2B5EF4-FFF2-40B4-BE49-F238E27FC236}">
                <a16:creationId xmlns:a16="http://schemas.microsoft.com/office/drawing/2014/main" id="{7DC9AC3B-A32A-33DE-1423-C49E1F659D75}"/>
              </a:ext>
            </a:extLst>
          </p:cNvPr>
          <p:cNvCxnSpPr>
            <a:cxnSpLocks noChangeShapeType="1"/>
            <a:stCxn id="36873" idx="1"/>
            <a:endCxn id="36867" idx="5"/>
          </p:cNvCxnSpPr>
          <p:nvPr/>
        </p:nvCxnSpPr>
        <p:spPr bwMode="auto">
          <a:xfrm flipH="1" flipV="1">
            <a:off x="7023101" y="4886325"/>
            <a:ext cx="765175" cy="2095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82" name="AutoShape 115">
            <a:extLst>
              <a:ext uri="{FF2B5EF4-FFF2-40B4-BE49-F238E27FC236}">
                <a16:creationId xmlns:a16="http://schemas.microsoft.com/office/drawing/2014/main" id="{8689A98B-6834-8362-4CE5-04FA6A67538B}"/>
              </a:ext>
            </a:extLst>
          </p:cNvPr>
          <p:cNvCxnSpPr>
            <a:cxnSpLocks noChangeShapeType="1"/>
            <a:stCxn id="36872" idx="6"/>
            <a:endCxn id="36870" idx="2"/>
          </p:cNvCxnSpPr>
          <p:nvPr/>
        </p:nvCxnSpPr>
        <p:spPr bwMode="auto">
          <a:xfrm>
            <a:off x="5430839" y="5889626"/>
            <a:ext cx="663575" cy="119063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83" name="AutoShape 116">
            <a:extLst>
              <a:ext uri="{FF2B5EF4-FFF2-40B4-BE49-F238E27FC236}">
                <a16:creationId xmlns:a16="http://schemas.microsoft.com/office/drawing/2014/main" id="{7DE76B15-FDD6-415B-2335-05188F4D969A}"/>
              </a:ext>
            </a:extLst>
          </p:cNvPr>
          <p:cNvCxnSpPr>
            <a:cxnSpLocks noChangeShapeType="1"/>
            <a:stCxn id="36874" idx="7"/>
            <a:endCxn id="36871" idx="3"/>
          </p:cNvCxnSpPr>
          <p:nvPr/>
        </p:nvCxnSpPr>
        <p:spPr bwMode="auto">
          <a:xfrm flipV="1">
            <a:off x="3641726" y="5075239"/>
            <a:ext cx="974725" cy="4794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84" name="AutoShape 129">
            <a:extLst>
              <a:ext uri="{FF2B5EF4-FFF2-40B4-BE49-F238E27FC236}">
                <a16:creationId xmlns:a16="http://schemas.microsoft.com/office/drawing/2014/main" id="{57A7163E-2185-E112-C902-3DCCCEE7259F}"/>
              </a:ext>
            </a:extLst>
          </p:cNvPr>
          <p:cNvCxnSpPr>
            <a:cxnSpLocks noChangeShapeType="1"/>
            <a:stCxn id="36869" idx="0"/>
            <a:endCxn id="36868" idx="4"/>
          </p:cNvCxnSpPr>
          <p:nvPr/>
        </p:nvCxnSpPr>
        <p:spPr bwMode="auto">
          <a:xfrm flipV="1">
            <a:off x="8736013" y="4941889"/>
            <a:ext cx="506412" cy="9286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5427C31A-1FB1-8C48-D012-3F914B3B70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Biconnected Graph</a:t>
            </a:r>
          </a:p>
        </p:txBody>
      </p:sp>
      <p:sp>
        <p:nvSpPr>
          <p:cNvPr id="3789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26A2A03-2A63-2689-7B45-23AB88518C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0" y="1600201"/>
            <a:ext cx="7772400" cy="274637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Equivalent definitions of a biconnected graph </a:t>
            </a:r>
            <a:r>
              <a:rPr lang="en-US" altLang="en-US" b="1" i="1">
                <a:latin typeface="Times New Roman" panose="02020603050405020304" pitchFamily="18" charset="0"/>
              </a:rPr>
              <a:t>G</a:t>
            </a:r>
            <a:endParaRPr lang="en-US" altLang="en-US"/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Graph </a:t>
            </a:r>
            <a:r>
              <a:rPr lang="en-US" altLang="en-US" b="1" i="1">
                <a:latin typeface="Times New Roman" panose="02020603050405020304" pitchFamily="18" charset="0"/>
              </a:rPr>
              <a:t>G </a:t>
            </a:r>
            <a:r>
              <a:rPr lang="en-US" altLang="en-US"/>
              <a:t>has no separation edges and no separation vertices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For any two vertices </a:t>
            </a:r>
            <a:r>
              <a:rPr lang="en-US" altLang="en-US" b="1" i="1">
                <a:latin typeface="Times New Roman" panose="02020603050405020304" pitchFamily="18" charset="0"/>
              </a:rPr>
              <a:t>u </a:t>
            </a:r>
            <a:r>
              <a:rPr lang="en-US" altLang="en-US"/>
              <a:t>and </a:t>
            </a:r>
            <a:r>
              <a:rPr lang="en-US" altLang="en-US" b="1" i="1">
                <a:latin typeface="Times New Roman" panose="02020603050405020304" pitchFamily="18" charset="0"/>
              </a:rPr>
              <a:t>v </a:t>
            </a:r>
            <a:r>
              <a:rPr lang="en-US" altLang="en-US"/>
              <a:t>of </a:t>
            </a:r>
            <a:r>
              <a:rPr lang="en-US" altLang="en-US" b="1" i="1">
                <a:latin typeface="Times New Roman" panose="02020603050405020304" pitchFamily="18" charset="0"/>
              </a:rPr>
              <a:t>G</a:t>
            </a:r>
            <a:r>
              <a:rPr lang="en-US" altLang="en-US"/>
              <a:t>,</a:t>
            </a:r>
            <a:r>
              <a:rPr lang="en-US" altLang="en-US" b="1" i="1"/>
              <a:t> </a:t>
            </a:r>
            <a:r>
              <a:rPr lang="en-US" altLang="en-US"/>
              <a:t>there are two disjoint simple paths between </a:t>
            </a:r>
            <a:r>
              <a:rPr lang="en-US" altLang="en-US" b="1" i="1">
                <a:latin typeface="Times New Roman" panose="02020603050405020304" pitchFamily="18" charset="0"/>
              </a:rPr>
              <a:t>u </a:t>
            </a:r>
            <a:r>
              <a:rPr lang="en-US" altLang="en-US"/>
              <a:t>and </a:t>
            </a:r>
            <a:r>
              <a:rPr lang="en-US" altLang="en-US" b="1" i="1">
                <a:latin typeface="Times New Roman" panose="02020603050405020304" pitchFamily="18" charset="0"/>
              </a:rPr>
              <a:t>v</a:t>
            </a:r>
            <a:r>
              <a:rPr lang="en-US" altLang="en-US"/>
              <a:t> (i.e., two simple paths between </a:t>
            </a:r>
            <a:r>
              <a:rPr lang="en-US" altLang="en-US" b="1" i="1">
                <a:latin typeface="Times New Roman" panose="02020603050405020304" pitchFamily="18" charset="0"/>
              </a:rPr>
              <a:t>u </a:t>
            </a:r>
            <a:r>
              <a:rPr lang="en-US" altLang="en-US"/>
              <a:t>and </a:t>
            </a:r>
            <a:r>
              <a:rPr lang="en-US" altLang="en-US" b="1" i="1">
                <a:latin typeface="Times New Roman" panose="02020603050405020304" pitchFamily="18" charset="0"/>
              </a:rPr>
              <a:t>v</a:t>
            </a:r>
            <a:r>
              <a:rPr lang="en-US" altLang="en-US"/>
              <a:t> that  share no other vertices or edges)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For any two vertices </a:t>
            </a:r>
            <a:r>
              <a:rPr lang="en-US" altLang="en-US" b="1" i="1">
                <a:latin typeface="Times New Roman" panose="02020603050405020304" pitchFamily="18" charset="0"/>
              </a:rPr>
              <a:t>u </a:t>
            </a:r>
            <a:r>
              <a:rPr lang="en-US" altLang="en-US"/>
              <a:t>and </a:t>
            </a:r>
            <a:r>
              <a:rPr lang="en-US" altLang="en-US" b="1" i="1">
                <a:latin typeface="Times New Roman" panose="02020603050405020304" pitchFamily="18" charset="0"/>
              </a:rPr>
              <a:t>v </a:t>
            </a:r>
            <a:r>
              <a:rPr lang="en-US" altLang="en-US"/>
              <a:t>of </a:t>
            </a:r>
            <a:r>
              <a:rPr lang="en-US" altLang="en-US" b="1" i="1">
                <a:latin typeface="Times New Roman" panose="02020603050405020304" pitchFamily="18" charset="0"/>
              </a:rPr>
              <a:t>G</a:t>
            </a:r>
            <a:r>
              <a:rPr lang="en-US" altLang="en-US"/>
              <a:t>, there is a simple cycle containing </a:t>
            </a:r>
            <a:r>
              <a:rPr lang="en-US" altLang="en-US" b="1" i="1">
                <a:latin typeface="Times New Roman" panose="02020603050405020304" pitchFamily="18" charset="0"/>
              </a:rPr>
              <a:t>u </a:t>
            </a:r>
            <a:r>
              <a:rPr lang="en-US" altLang="en-US"/>
              <a:t>and </a:t>
            </a:r>
            <a:r>
              <a:rPr lang="en-US" altLang="en-US" b="1" i="1">
                <a:latin typeface="Times New Roman" panose="02020603050405020304" pitchFamily="18" charset="0"/>
              </a:rPr>
              <a:t>v</a:t>
            </a:r>
            <a:r>
              <a:rPr lang="en-US" altLang="en-US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Example</a:t>
            </a:r>
          </a:p>
        </p:txBody>
      </p:sp>
      <p:sp>
        <p:nvSpPr>
          <p:cNvPr id="37891" name="Oval 4">
            <a:extLst>
              <a:ext uri="{FF2B5EF4-FFF2-40B4-BE49-F238E27FC236}">
                <a16:creationId xmlns:a16="http://schemas.microsoft.com/office/drawing/2014/main" id="{C0BFF7D7-72AD-BE78-379C-C8D4C7862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1714" y="4333875"/>
            <a:ext cx="784225" cy="38258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ORD</a:t>
            </a:r>
          </a:p>
        </p:txBody>
      </p:sp>
      <p:sp>
        <p:nvSpPr>
          <p:cNvPr id="37892" name="Oval 5">
            <a:extLst>
              <a:ext uri="{FF2B5EF4-FFF2-40B4-BE49-F238E27FC236}">
                <a16:creationId xmlns:a16="http://schemas.microsoft.com/office/drawing/2014/main" id="{6E9C4A03-FE58-6337-B7AB-D266F9FBD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8851" y="4154489"/>
            <a:ext cx="784225" cy="382587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PVD</a:t>
            </a:r>
          </a:p>
        </p:txBody>
      </p:sp>
      <p:sp>
        <p:nvSpPr>
          <p:cNvPr id="37893" name="Oval 6">
            <a:extLst>
              <a:ext uri="{FF2B5EF4-FFF2-40B4-BE49-F238E27FC236}">
                <a16:creationId xmlns:a16="http://schemas.microsoft.com/office/drawing/2014/main" id="{88F8563B-B802-B15F-136C-D25D5791F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8851" y="5865814"/>
            <a:ext cx="784225" cy="382587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MIA</a:t>
            </a:r>
          </a:p>
        </p:txBody>
      </p:sp>
      <p:sp>
        <p:nvSpPr>
          <p:cNvPr id="37894" name="Oval 7">
            <a:extLst>
              <a:ext uri="{FF2B5EF4-FFF2-40B4-BE49-F238E27FC236}">
                <a16:creationId xmlns:a16="http://schemas.microsoft.com/office/drawing/2014/main" id="{AF397D9A-82C1-F993-7935-D9FE376D4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9000" y="5837239"/>
            <a:ext cx="782638" cy="382587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DFW</a:t>
            </a:r>
          </a:p>
        </p:txBody>
      </p:sp>
      <p:sp>
        <p:nvSpPr>
          <p:cNvPr id="37895" name="Oval 8">
            <a:extLst>
              <a:ext uri="{FF2B5EF4-FFF2-40B4-BE49-F238E27FC236}">
                <a16:creationId xmlns:a16="http://schemas.microsoft.com/office/drawing/2014/main" id="{C1AFAFCD-2FC5-50C9-623B-C20E1DC44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0689" y="4525964"/>
            <a:ext cx="784225" cy="382587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SFO</a:t>
            </a:r>
          </a:p>
        </p:txBody>
      </p:sp>
      <p:sp>
        <p:nvSpPr>
          <p:cNvPr id="37896" name="Oval 9">
            <a:extLst>
              <a:ext uri="{FF2B5EF4-FFF2-40B4-BE49-F238E27FC236}">
                <a16:creationId xmlns:a16="http://schemas.microsoft.com/office/drawing/2014/main" id="{D61916C4-E41A-75E7-98A6-83E9876C4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0214" y="5673725"/>
            <a:ext cx="784225" cy="38258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LAX</a:t>
            </a:r>
          </a:p>
        </p:txBody>
      </p:sp>
      <p:sp>
        <p:nvSpPr>
          <p:cNvPr id="37897" name="Oval 10">
            <a:extLst>
              <a:ext uri="{FF2B5EF4-FFF2-40B4-BE49-F238E27FC236}">
                <a16:creationId xmlns:a16="http://schemas.microsoft.com/office/drawing/2014/main" id="{60EDFC14-A74D-1284-CF69-F84AF4F4A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214" y="4994275"/>
            <a:ext cx="784225" cy="38258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LGA</a:t>
            </a:r>
          </a:p>
        </p:txBody>
      </p:sp>
      <p:sp>
        <p:nvSpPr>
          <p:cNvPr id="37898" name="Oval 11">
            <a:extLst>
              <a:ext uri="{FF2B5EF4-FFF2-40B4-BE49-F238E27FC236}">
                <a16:creationId xmlns:a16="http://schemas.microsoft.com/office/drawing/2014/main" id="{B8F41F46-645F-606F-B80E-90A420F40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6039" y="5272089"/>
            <a:ext cx="784225" cy="382587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HNL</a:t>
            </a:r>
          </a:p>
        </p:txBody>
      </p:sp>
      <p:cxnSp>
        <p:nvCxnSpPr>
          <p:cNvPr id="37899" name="AutoShape 12">
            <a:extLst>
              <a:ext uri="{FF2B5EF4-FFF2-40B4-BE49-F238E27FC236}">
                <a16:creationId xmlns:a16="http://schemas.microsoft.com/office/drawing/2014/main" id="{7A2267FA-A20B-B0B6-1B93-ADD599C2CA06}"/>
              </a:ext>
            </a:extLst>
          </p:cNvPr>
          <p:cNvCxnSpPr>
            <a:cxnSpLocks noChangeShapeType="1"/>
            <a:stCxn id="37894" idx="0"/>
            <a:endCxn id="37891" idx="4"/>
          </p:cNvCxnSpPr>
          <p:nvPr/>
        </p:nvCxnSpPr>
        <p:spPr bwMode="auto">
          <a:xfrm flipV="1">
            <a:off x="6361113" y="4725989"/>
            <a:ext cx="112712" cy="1101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0" name="AutoShape 13">
            <a:extLst>
              <a:ext uri="{FF2B5EF4-FFF2-40B4-BE49-F238E27FC236}">
                <a16:creationId xmlns:a16="http://schemas.microsoft.com/office/drawing/2014/main" id="{97105B7E-6F6E-8E92-1A65-B4D97BEED071}"/>
              </a:ext>
            </a:extLst>
          </p:cNvPr>
          <p:cNvCxnSpPr>
            <a:cxnSpLocks noChangeShapeType="1"/>
            <a:stCxn id="37894" idx="7"/>
            <a:endCxn id="37897" idx="3"/>
          </p:cNvCxnSpPr>
          <p:nvPr/>
        </p:nvCxnSpPr>
        <p:spPr bwMode="auto">
          <a:xfrm flipV="1">
            <a:off x="6637339" y="5330825"/>
            <a:ext cx="765175" cy="5524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1" name="AutoShape 14">
            <a:extLst>
              <a:ext uri="{FF2B5EF4-FFF2-40B4-BE49-F238E27FC236}">
                <a16:creationId xmlns:a16="http://schemas.microsoft.com/office/drawing/2014/main" id="{03A46B4A-F738-CEF1-C81D-2479F340054E}"/>
              </a:ext>
            </a:extLst>
          </p:cNvPr>
          <p:cNvCxnSpPr>
            <a:cxnSpLocks noChangeShapeType="1"/>
            <a:stCxn id="37897" idx="7"/>
            <a:endCxn id="37892" idx="3"/>
          </p:cNvCxnSpPr>
          <p:nvPr/>
        </p:nvCxnSpPr>
        <p:spPr bwMode="auto">
          <a:xfrm flipV="1">
            <a:off x="7958138" y="4491039"/>
            <a:ext cx="735012" cy="5492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2" name="AutoShape 15">
            <a:extLst>
              <a:ext uri="{FF2B5EF4-FFF2-40B4-BE49-F238E27FC236}">
                <a16:creationId xmlns:a16="http://schemas.microsoft.com/office/drawing/2014/main" id="{24EF2BD6-02AA-C9BC-2673-C4129C034E9F}"/>
              </a:ext>
            </a:extLst>
          </p:cNvPr>
          <p:cNvCxnSpPr>
            <a:cxnSpLocks noChangeShapeType="1"/>
            <a:stCxn id="37898" idx="6"/>
            <a:endCxn id="37896" idx="2"/>
          </p:cNvCxnSpPr>
          <p:nvPr/>
        </p:nvCxnSpPr>
        <p:spPr bwMode="auto">
          <a:xfrm>
            <a:off x="3379788" y="5464175"/>
            <a:ext cx="850900" cy="4016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3" name="AutoShape 16">
            <a:extLst>
              <a:ext uri="{FF2B5EF4-FFF2-40B4-BE49-F238E27FC236}">
                <a16:creationId xmlns:a16="http://schemas.microsoft.com/office/drawing/2014/main" id="{D7C4E96F-64F3-6C27-3A32-235AE77CD274}"/>
              </a:ext>
            </a:extLst>
          </p:cNvPr>
          <p:cNvCxnSpPr>
            <a:cxnSpLocks noChangeShapeType="1"/>
            <a:stCxn id="37895" idx="4"/>
            <a:endCxn id="37896" idx="0"/>
          </p:cNvCxnSpPr>
          <p:nvPr/>
        </p:nvCxnSpPr>
        <p:spPr bwMode="auto">
          <a:xfrm>
            <a:off x="4622801" y="4918076"/>
            <a:ext cx="9525" cy="7461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4" name="AutoShape 17">
            <a:extLst>
              <a:ext uri="{FF2B5EF4-FFF2-40B4-BE49-F238E27FC236}">
                <a16:creationId xmlns:a16="http://schemas.microsoft.com/office/drawing/2014/main" id="{1019B7F5-589E-EFEC-0999-0BCBDB49D9D3}"/>
              </a:ext>
            </a:extLst>
          </p:cNvPr>
          <p:cNvCxnSpPr>
            <a:cxnSpLocks noChangeShapeType="1"/>
            <a:stCxn id="37897" idx="5"/>
            <a:endCxn id="37893" idx="1"/>
          </p:cNvCxnSpPr>
          <p:nvPr/>
        </p:nvCxnSpPr>
        <p:spPr bwMode="auto">
          <a:xfrm>
            <a:off x="7958138" y="5330826"/>
            <a:ext cx="735012" cy="5810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5" name="AutoShape 18">
            <a:extLst>
              <a:ext uri="{FF2B5EF4-FFF2-40B4-BE49-F238E27FC236}">
                <a16:creationId xmlns:a16="http://schemas.microsoft.com/office/drawing/2014/main" id="{441F3A43-B71A-71AC-1377-F3813F4FBBC1}"/>
              </a:ext>
            </a:extLst>
          </p:cNvPr>
          <p:cNvCxnSpPr>
            <a:cxnSpLocks noChangeShapeType="1"/>
            <a:stCxn id="37897" idx="1"/>
            <a:endCxn id="37891" idx="5"/>
          </p:cNvCxnSpPr>
          <p:nvPr/>
        </p:nvCxnSpPr>
        <p:spPr bwMode="auto">
          <a:xfrm flipH="1" flipV="1">
            <a:off x="6751639" y="4670425"/>
            <a:ext cx="650875" cy="3698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6" name="AutoShape 19">
            <a:extLst>
              <a:ext uri="{FF2B5EF4-FFF2-40B4-BE49-F238E27FC236}">
                <a16:creationId xmlns:a16="http://schemas.microsoft.com/office/drawing/2014/main" id="{994E66C3-B224-1FAE-331E-3EB3828B796C}"/>
              </a:ext>
            </a:extLst>
          </p:cNvPr>
          <p:cNvCxnSpPr>
            <a:cxnSpLocks noChangeShapeType="1"/>
            <a:stCxn id="37896" idx="6"/>
            <a:endCxn id="37894" idx="2"/>
          </p:cNvCxnSpPr>
          <p:nvPr/>
        </p:nvCxnSpPr>
        <p:spPr bwMode="auto">
          <a:xfrm>
            <a:off x="5033963" y="5865813"/>
            <a:ext cx="925512" cy="1635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7" name="AutoShape 20">
            <a:extLst>
              <a:ext uri="{FF2B5EF4-FFF2-40B4-BE49-F238E27FC236}">
                <a16:creationId xmlns:a16="http://schemas.microsoft.com/office/drawing/2014/main" id="{3292997D-ABBE-B636-B4CA-767585880F38}"/>
              </a:ext>
            </a:extLst>
          </p:cNvPr>
          <p:cNvCxnSpPr>
            <a:cxnSpLocks noChangeShapeType="1"/>
            <a:stCxn id="37898" idx="7"/>
            <a:endCxn id="37895" idx="3"/>
          </p:cNvCxnSpPr>
          <p:nvPr/>
        </p:nvCxnSpPr>
        <p:spPr bwMode="auto">
          <a:xfrm flipV="1">
            <a:off x="3255964" y="4862513"/>
            <a:ext cx="1089025" cy="4556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8" name="AutoShape 21">
            <a:extLst>
              <a:ext uri="{FF2B5EF4-FFF2-40B4-BE49-F238E27FC236}">
                <a16:creationId xmlns:a16="http://schemas.microsoft.com/office/drawing/2014/main" id="{C5A5FD73-99A3-8393-D107-8E74F00300F8}"/>
              </a:ext>
            </a:extLst>
          </p:cNvPr>
          <p:cNvCxnSpPr>
            <a:cxnSpLocks noChangeShapeType="1"/>
            <a:stCxn id="37893" idx="0"/>
            <a:endCxn id="37892" idx="4"/>
          </p:cNvCxnSpPr>
          <p:nvPr/>
        </p:nvCxnSpPr>
        <p:spPr bwMode="auto">
          <a:xfrm flipV="1">
            <a:off x="8970963" y="4546600"/>
            <a:ext cx="0" cy="13096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9" name="AutoShape 22">
            <a:extLst>
              <a:ext uri="{FF2B5EF4-FFF2-40B4-BE49-F238E27FC236}">
                <a16:creationId xmlns:a16="http://schemas.microsoft.com/office/drawing/2014/main" id="{41B146E0-4479-EBD8-E930-E68496959002}"/>
              </a:ext>
            </a:extLst>
          </p:cNvPr>
          <p:cNvCxnSpPr>
            <a:cxnSpLocks noChangeShapeType="1"/>
            <a:stCxn id="37895" idx="6"/>
            <a:endCxn id="37891" idx="2"/>
          </p:cNvCxnSpPr>
          <p:nvPr/>
        </p:nvCxnSpPr>
        <p:spPr bwMode="auto">
          <a:xfrm flipV="1">
            <a:off x="5024438" y="4525964"/>
            <a:ext cx="1047750" cy="1920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10" name="AutoShape 23">
            <a:extLst>
              <a:ext uri="{FF2B5EF4-FFF2-40B4-BE49-F238E27FC236}">
                <a16:creationId xmlns:a16="http://schemas.microsoft.com/office/drawing/2014/main" id="{1697F454-89EA-1E96-AE3B-DD90555A1DEF}"/>
              </a:ext>
            </a:extLst>
          </p:cNvPr>
          <p:cNvCxnSpPr>
            <a:cxnSpLocks noChangeShapeType="1"/>
            <a:stCxn id="37891" idx="6"/>
            <a:endCxn id="37892" idx="2"/>
          </p:cNvCxnSpPr>
          <p:nvPr/>
        </p:nvCxnSpPr>
        <p:spPr bwMode="auto">
          <a:xfrm flipV="1">
            <a:off x="6875463" y="4346575"/>
            <a:ext cx="1693862" cy="1793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Oval 28">
            <a:extLst>
              <a:ext uri="{FF2B5EF4-FFF2-40B4-BE49-F238E27FC236}">
                <a16:creationId xmlns:a16="http://schemas.microsoft.com/office/drawing/2014/main" id="{5C9EFECD-3F9B-C0FA-4EB0-2ADD04FDDCD7}"/>
              </a:ext>
            </a:extLst>
          </p:cNvPr>
          <p:cNvSpPr>
            <a:spLocks noChangeArrowheads="1"/>
          </p:cNvSpPr>
          <p:nvPr/>
        </p:nvSpPr>
        <p:spPr bwMode="auto">
          <a:xfrm rot="614701">
            <a:off x="4860926" y="5605463"/>
            <a:ext cx="1204913" cy="5842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2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8914" name="Freeform 25">
            <a:extLst>
              <a:ext uri="{FF2B5EF4-FFF2-40B4-BE49-F238E27FC236}">
                <a16:creationId xmlns:a16="http://schemas.microsoft.com/office/drawing/2014/main" id="{3FE03027-877D-9DA5-1771-1CC29D4DFA73}"/>
              </a:ext>
            </a:extLst>
          </p:cNvPr>
          <p:cNvSpPr>
            <a:spLocks/>
          </p:cNvSpPr>
          <p:nvPr/>
        </p:nvSpPr>
        <p:spPr bwMode="auto">
          <a:xfrm>
            <a:off x="7608888" y="4210051"/>
            <a:ext cx="2419350" cy="2195513"/>
          </a:xfrm>
          <a:custGeom>
            <a:avLst/>
            <a:gdLst>
              <a:gd name="T0" fmla="*/ 2147483646 w 1524"/>
              <a:gd name="T1" fmla="*/ 2147483646 h 1383"/>
              <a:gd name="T2" fmla="*/ 2147483646 w 1524"/>
              <a:gd name="T3" fmla="*/ 2147483646 h 1383"/>
              <a:gd name="T4" fmla="*/ 2147483646 w 1524"/>
              <a:gd name="T5" fmla="*/ 2147483646 h 1383"/>
              <a:gd name="T6" fmla="*/ 2147483646 w 1524"/>
              <a:gd name="T7" fmla="*/ 2147483646 h 1383"/>
              <a:gd name="T8" fmla="*/ 2147483646 w 1524"/>
              <a:gd name="T9" fmla="*/ 2147483646 h 1383"/>
              <a:gd name="T10" fmla="*/ 2147483646 w 1524"/>
              <a:gd name="T11" fmla="*/ 2147483646 h 138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524"/>
              <a:gd name="T19" fmla="*/ 0 h 1383"/>
              <a:gd name="T20" fmla="*/ 1524 w 1524"/>
              <a:gd name="T21" fmla="*/ 1383 h 138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524" h="1383">
                <a:moveTo>
                  <a:pt x="234" y="264"/>
                </a:moveTo>
                <a:cubicBezTo>
                  <a:pt x="414" y="0"/>
                  <a:pt x="954" y="61"/>
                  <a:pt x="1134" y="180"/>
                </a:cubicBezTo>
                <a:cubicBezTo>
                  <a:pt x="1331" y="290"/>
                  <a:pt x="1524" y="727"/>
                  <a:pt x="1416" y="924"/>
                </a:cubicBezTo>
                <a:cubicBezTo>
                  <a:pt x="1308" y="1121"/>
                  <a:pt x="710" y="1341"/>
                  <a:pt x="486" y="1362"/>
                </a:cubicBezTo>
                <a:cubicBezTo>
                  <a:pt x="262" y="1383"/>
                  <a:pt x="144" y="1230"/>
                  <a:pt x="72" y="1050"/>
                </a:cubicBezTo>
                <a:cubicBezTo>
                  <a:pt x="0" y="870"/>
                  <a:pt x="54" y="528"/>
                  <a:pt x="234" y="264"/>
                </a:cubicBezTo>
                <a:close/>
              </a:path>
            </a:pathLst>
          </a:custGeom>
          <a:solidFill>
            <a:schemeClr val="folHlink"/>
          </a:solidFill>
          <a:ln w="12700">
            <a:solidFill>
              <a:schemeClr val="tx2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915" name="Freeform 26">
            <a:extLst>
              <a:ext uri="{FF2B5EF4-FFF2-40B4-BE49-F238E27FC236}">
                <a16:creationId xmlns:a16="http://schemas.microsoft.com/office/drawing/2014/main" id="{D328C7F5-59EB-ECAB-78D3-CA5F42C727C3}"/>
              </a:ext>
            </a:extLst>
          </p:cNvPr>
          <p:cNvSpPr>
            <a:spLocks/>
          </p:cNvSpPr>
          <p:nvPr/>
        </p:nvSpPr>
        <p:spPr bwMode="auto">
          <a:xfrm>
            <a:off x="5580063" y="4191000"/>
            <a:ext cx="2220912" cy="2046288"/>
          </a:xfrm>
          <a:custGeom>
            <a:avLst/>
            <a:gdLst>
              <a:gd name="T0" fmla="*/ 2147483646 w 1399"/>
              <a:gd name="T1" fmla="*/ 2147483646 h 1289"/>
              <a:gd name="T2" fmla="*/ 2147483646 w 1399"/>
              <a:gd name="T3" fmla="*/ 2147483646 h 1289"/>
              <a:gd name="T4" fmla="*/ 2147483646 w 1399"/>
              <a:gd name="T5" fmla="*/ 2147483646 h 1289"/>
              <a:gd name="T6" fmla="*/ 2147483646 w 1399"/>
              <a:gd name="T7" fmla="*/ 2147483646 h 1289"/>
              <a:gd name="T8" fmla="*/ 2147483646 w 1399"/>
              <a:gd name="T9" fmla="*/ 2147483646 h 1289"/>
              <a:gd name="T10" fmla="*/ 2147483646 w 1399"/>
              <a:gd name="T11" fmla="*/ 2147483646 h 128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99"/>
              <a:gd name="T19" fmla="*/ 0 h 1289"/>
              <a:gd name="T20" fmla="*/ 1399 w 1399"/>
              <a:gd name="T21" fmla="*/ 1289 h 128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99" h="1289">
                <a:moveTo>
                  <a:pt x="180" y="264"/>
                </a:moveTo>
                <a:cubicBezTo>
                  <a:pt x="360" y="0"/>
                  <a:pt x="1037" y="190"/>
                  <a:pt x="1218" y="306"/>
                </a:cubicBezTo>
                <a:cubicBezTo>
                  <a:pt x="1399" y="422"/>
                  <a:pt x="1333" y="800"/>
                  <a:pt x="1266" y="960"/>
                </a:cubicBezTo>
                <a:cubicBezTo>
                  <a:pt x="1199" y="1120"/>
                  <a:pt x="970" y="1243"/>
                  <a:pt x="816" y="1266"/>
                </a:cubicBezTo>
                <a:cubicBezTo>
                  <a:pt x="662" y="1289"/>
                  <a:pt x="492" y="1254"/>
                  <a:pt x="342" y="1098"/>
                </a:cubicBezTo>
                <a:cubicBezTo>
                  <a:pt x="192" y="942"/>
                  <a:pt x="0" y="528"/>
                  <a:pt x="180" y="264"/>
                </a:cubicBezTo>
                <a:close/>
              </a:path>
            </a:pathLst>
          </a:custGeom>
          <a:solidFill>
            <a:schemeClr val="folHlink"/>
          </a:solidFill>
          <a:ln w="12700">
            <a:solidFill>
              <a:schemeClr val="tx2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916" name="Freeform 24">
            <a:extLst>
              <a:ext uri="{FF2B5EF4-FFF2-40B4-BE49-F238E27FC236}">
                <a16:creationId xmlns:a16="http://schemas.microsoft.com/office/drawing/2014/main" id="{B3FE233D-FE7E-616E-D645-4A239F7B002E}"/>
              </a:ext>
            </a:extLst>
          </p:cNvPr>
          <p:cNvSpPr>
            <a:spLocks/>
          </p:cNvSpPr>
          <p:nvPr/>
        </p:nvSpPr>
        <p:spPr bwMode="auto">
          <a:xfrm>
            <a:off x="2362200" y="4503739"/>
            <a:ext cx="2806700" cy="1724025"/>
          </a:xfrm>
          <a:custGeom>
            <a:avLst/>
            <a:gdLst>
              <a:gd name="T0" fmla="*/ 2147483646 w 1768"/>
              <a:gd name="T1" fmla="*/ 2147483646 h 1086"/>
              <a:gd name="T2" fmla="*/ 2147483646 w 1768"/>
              <a:gd name="T3" fmla="*/ 2147483646 h 1086"/>
              <a:gd name="T4" fmla="*/ 2147483646 w 1768"/>
              <a:gd name="T5" fmla="*/ 2147483646 h 1086"/>
              <a:gd name="T6" fmla="*/ 2147483646 w 1768"/>
              <a:gd name="T7" fmla="*/ 2147483646 h 1086"/>
              <a:gd name="T8" fmla="*/ 2147483646 w 1768"/>
              <a:gd name="T9" fmla="*/ 2147483646 h 1086"/>
              <a:gd name="T10" fmla="*/ 2147483646 w 1768"/>
              <a:gd name="T11" fmla="*/ 2147483646 h 1086"/>
              <a:gd name="T12" fmla="*/ 2147483646 w 1768"/>
              <a:gd name="T13" fmla="*/ 2147483646 h 10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68"/>
              <a:gd name="T22" fmla="*/ 0 h 1086"/>
              <a:gd name="T23" fmla="*/ 1768 w 1768"/>
              <a:gd name="T24" fmla="*/ 1086 h 108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68" h="1086">
                <a:moveTo>
                  <a:pt x="281" y="451"/>
                </a:moveTo>
                <a:cubicBezTo>
                  <a:pt x="443" y="319"/>
                  <a:pt x="759" y="151"/>
                  <a:pt x="989" y="91"/>
                </a:cubicBezTo>
                <a:cubicBezTo>
                  <a:pt x="1219" y="31"/>
                  <a:pt x="1554" y="0"/>
                  <a:pt x="1661" y="91"/>
                </a:cubicBezTo>
                <a:cubicBezTo>
                  <a:pt x="1768" y="182"/>
                  <a:pt x="1724" y="477"/>
                  <a:pt x="1631" y="637"/>
                </a:cubicBezTo>
                <a:cubicBezTo>
                  <a:pt x="1538" y="797"/>
                  <a:pt x="1352" y="1016"/>
                  <a:pt x="1103" y="1051"/>
                </a:cubicBezTo>
                <a:cubicBezTo>
                  <a:pt x="854" y="1086"/>
                  <a:pt x="274" y="947"/>
                  <a:pt x="137" y="847"/>
                </a:cubicBezTo>
                <a:cubicBezTo>
                  <a:pt x="0" y="747"/>
                  <a:pt x="119" y="583"/>
                  <a:pt x="281" y="451"/>
                </a:cubicBezTo>
                <a:close/>
              </a:path>
            </a:pathLst>
          </a:custGeom>
          <a:solidFill>
            <a:schemeClr val="folHlink"/>
          </a:solidFill>
          <a:ln w="12700">
            <a:solidFill>
              <a:schemeClr val="tx2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917" name="Rectangle 2">
            <a:extLst>
              <a:ext uri="{FF2B5EF4-FFF2-40B4-BE49-F238E27FC236}">
                <a16:creationId xmlns:a16="http://schemas.microsoft.com/office/drawing/2014/main" id="{6FC1CB67-96F0-9738-0DFE-2D02FA879D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Biconnected Components</a:t>
            </a:r>
          </a:p>
        </p:txBody>
      </p:sp>
      <p:sp>
        <p:nvSpPr>
          <p:cNvPr id="3891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EB72ABA-78E8-2737-4B00-3FDB899604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90750" y="1590676"/>
            <a:ext cx="8172450" cy="2600325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Biconnected component of a graph </a:t>
            </a:r>
            <a:r>
              <a:rPr lang="en-US" altLang="en-US" sz="2000" b="1" i="1">
                <a:latin typeface="Times New Roman" panose="02020603050405020304" pitchFamily="18" charset="0"/>
              </a:rPr>
              <a:t>G</a:t>
            </a:r>
            <a:endParaRPr lang="en-US" altLang="en-US" sz="20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 maximal biconnected subgraph of </a:t>
            </a:r>
            <a:r>
              <a:rPr lang="en-US" altLang="en-US" sz="1800" b="1" i="1">
                <a:latin typeface="Times New Roman" panose="02020603050405020304" pitchFamily="18" charset="0"/>
              </a:rPr>
              <a:t>G</a:t>
            </a:r>
            <a:r>
              <a:rPr lang="en-US" altLang="en-US" sz="1800"/>
              <a:t>, 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 subgraph consisting of a separation edge of </a:t>
            </a:r>
            <a:r>
              <a:rPr lang="en-US" altLang="en-US" sz="1800" b="1" i="1">
                <a:latin typeface="Times New Roman" panose="02020603050405020304" pitchFamily="18" charset="0"/>
              </a:rPr>
              <a:t>G</a:t>
            </a:r>
            <a:r>
              <a:rPr lang="en-US" altLang="en-US" sz="1800"/>
              <a:t> and its end vertices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Interaction of biconnected components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An edge belongs to exactly one biconnected component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 nonseparation vertex belongs to exactly one biconnected component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 separation vertex belongs to two or more biconnected components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Example of a graph with four biconnected components</a:t>
            </a:r>
          </a:p>
        </p:txBody>
      </p:sp>
      <p:sp>
        <p:nvSpPr>
          <p:cNvPr id="38919" name="Oval 4">
            <a:extLst>
              <a:ext uri="{FF2B5EF4-FFF2-40B4-BE49-F238E27FC236}">
                <a16:creationId xmlns:a16="http://schemas.microsoft.com/office/drawing/2014/main" id="{9872AF4D-4816-C15B-D705-AA4581D16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4" y="4505325"/>
            <a:ext cx="784225" cy="38258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ORD</a:t>
            </a:r>
          </a:p>
        </p:txBody>
      </p:sp>
      <p:sp>
        <p:nvSpPr>
          <p:cNvPr id="38920" name="Oval 5">
            <a:extLst>
              <a:ext uri="{FF2B5EF4-FFF2-40B4-BE49-F238E27FC236}">
                <a16:creationId xmlns:a16="http://schemas.microsoft.com/office/drawing/2014/main" id="{EFE62311-C5CC-010A-D29F-E274E8D3F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5351" y="4505325"/>
            <a:ext cx="784225" cy="38258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PVD</a:t>
            </a:r>
          </a:p>
        </p:txBody>
      </p:sp>
      <p:sp>
        <p:nvSpPr>
          <p:cNvPr id="38921" name="Oval 6">
            <a:extLst>
              <a:ext uri="{FF2B5EF4-FFF2-40B4-BE49-F238E27FC236}">
                <a16:creationId xmlns:a16="http://schemas.microsoft.com/office/drawing/2014/main" id="{9C4A8011-9CE9-AD84-9363-28426F4D0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8939" y="5835650"/>
            <a:ext cx="784225" cy="38258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MIA</a:t>
            </a:r>
          </a:p>
        </p:txBody>
      </p:sp>
      <p:sp>
        <p:nvSpPr>
          <p:cNvPr id="38922" name="Oval 7">
            <a:extLst>
              <a:ext uri="{FF2B5EF4-FFF2-40B4-BE49-F238E27FC236}">
                <a16:creationId xmlns:a16="http://schemas.microsoft.com/office/drawing/2014/main" id="{A1390726-891A-C9A9-01B6-9EBBBB59D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4" y="5772150"/>
            <a:ext cx="782637" cy="382588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DFW</a:t>
            </a:r>
          </a:p>
        </p:txBody>
      </p:sp>
      <p:sp>
        <p:nvSpPr>
          <p:cNvPr id="38923" name="Oval 8">
            <a:extLst>
              <a:ext uri="{FF2B5EF4-FFF2-40B4-BE49-F238E27FC236}">
                <a16:creationId xmlns:a16="http://schemas.microsoft.com/office/drawing/2014/main" id="{879A941B-7AEF-D4B0-EB8B-BBC1212D8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7189" y="4697414"/>
            <a:ext cx="784225" cy="382587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SFO</a:t>
            </a:r>
          </a:p>
        </p:txBody>
      </p:sp>
      <p:sp>
        <p:nvSpPr>
          <p:cNvPr id="38924" name="Oval 9">
            <a:extLst>
              <a:ext uri="{FF2B5EF4-FFF2-40B4-BE49-F238E27FC236}">
                <a16:creationId xmlns:a16="http://schemas.microsoft.com/office/drawing/2014/main" id="{F9A7F0FF-478B-9CB0-547B-95E0BBF85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6" y="5653089"/>
            <a:ext cx="784225" cy="382587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LAX</a:t>
            </a:r>
          </a:p>
        </p:txBody>
      </p:sp>
      <p:sp>
        <p:nvSpPr>
          <p:cNvPr id="38925" name="Oval 10">
            <a:extLst>
              <a:ext uri="{FF2B5EF4-FFF2-40B4-BE49-F238E27FC236}">
                <a16:creationId xmlns:a16="http://schemas.microsoft.com/office/drawing/2014/main" id="{A940A6B6-2757-247E-98CC-75042656D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9014" y="5014914"/>
            <a:ext cx="784225" cy="382587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LGA</a:t>
            </a:r>
          </a:p>
        </p:txBody>
      </p:sp>
      <p:sp>
        <p:nvSpPr>
          <p:cNvPr id="38926" name="Oval 11">
            <a:extLst>
              <a:ext uri="{FF2B5EF4-FFF2-40B4-BE49-F238E27FC236}">
                <a16:creationId xmlns:a16="http://schemas.microsoft.com/office/drawing/2014/main" id="{F1D0A801-D3DC-5784-8C6C-9E5AEE168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6839" y="5462589"/>
            <a:ext cx="784225" cy="382587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HNL</a:t>
            </a:r>
          </a:p>
        </p:txBody>
      </p:sp>
      <p:cxnSp>
        <p:nvCxnSpPr>
          <p:cNvPr id="38927" name="AutoShape 12">
            <a:extLst>
              <a:ext uri="{FF2B5EF4-FFF2-40B4-BE49-F238E27FC236}">
                <a16:creationId xmlns:a16="http://schemas.microsoft.com/office/drawing/2014/main" id="{9F144ED0-3D07-14CE-2AB2-BCDC48CD699C}"/>
              </a:ext>
            </a:extLst>
          </p:cNvPr>
          <p:cNvCxnSpPr>
            <a:cxnSpLocks noChangeShapeType="1"/>
            <a:stCxn id="38922" idx="0"/>
            <a:endCxn id="38919" idx="4"/>
          </p:cNvCxnSpPr>
          <p:nvPr/>
        </p:nvCxnSpPr>
        <p:spPr bwMode="auto">
          <a:xfrm flipV="1">
            <a:off x="6169025" y="4897438"/>
            <a:ext cx="241300" cy="8556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8" name="AutoShape 13">
            <a:extLst>
              <a:ext uri="{FF2B5EF4-FFF2-40B4-BE49-F238E27FC236}">
                <a16:creationId xmlns:a16="http://schemas.microsoft.com/office/drawing/2014/main" id="{85F96369-6417-A1E9-FE9B-7D1858ADF8F7}"/>
              </a:ext>
            </a:extLst>
          </p:cNvPr>
          <p:cNvCxnSpPr>
            <a:cxnSpLocks noChangeShapeType="1"/>
            <a:stCxn id="38922" idx="7"/>
            <a:endCxn id="38925" idx="3"/>
          </p:cNvCxnSpPr>
          <p:nvPr/>
        </p:nvCxnSpPr>
        <p:spPr bwMode="auto">
          <a:xfrm flipV="1">
            <a:off x="6445251" y="5360989"/>
            <a:ext cx="1008063" cy="4476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9" name="AutoShape 14">
            <a:extLst>
              <a:ext uri="{FF2B5EF4-FFF2-40B4-BE49-F238E27FC236}">
                <a16:creationId xmlns:a16="http://schemas.microsoft.com/office/drawing/2014/main" id="{8FC358A1-275B-D509-09D3-8DBB6DB283B7}"/>
              </a:ext>
            </a:extLst>
          </p:cNvPr>
          <p:cNvCxnSpPr>
            <a:cxnSpLocks noChangeShapeType="1"/>
            <a:stCxn id="38925" idx="7"/>
            <a:endCxn id="38920" idx="3"/>
          </p:cNvCxnSpPr>
          <p:nvPr/>
        </p:nvCxnSpPr>
        <p:spPr bwMode="auto">
          <a:xfrm flipV="1">
            <a:off x="8008938" y="4841875"/>
            <a:ext cx="620712" cy="2095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0" name="AutoShape 15">
            <a:extLst>
              <a:ext uri="{FF2B5EF4-FFF2-40B4-BE49-F238E27FC236}">
                <a16:creationId xmlns:a16="http://schemas.microsoft.com/office/drawing/2014/main" id="{AE95F985-CBD8-797B-664D-8DDAE4B48401}"/>
              </a:ext>
            </a:extLst>
          </p:cNvPr>
          <p:cNvCxnSpPr>
            <a:cxnSpLocks noChangeShapeType="1"/>
            <a:stCxn id="38926" idx="6"/>
            <a:endCxn id="38924" idx="2"/>
          </p:cNvCxnSpPr>
          <p:nvPr/>
        </p:nvCxnSpPr>
        <p:spPr bwMode="auto">
          <a:xfrm>
            <a:off x="3430589" y="5654675"/>
            <a:ext cx="846137" cy="1905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1" name="AutoShape 16">
            <a:extLst>
              <a:ext uri="{FF2B5EF4-FFF2-40B4-BE49-F238E27FC236}">
                <a16:creationId xmlns:a16="http://schemas.microsoft.com/office/drawing/2014/main" id="{2E903CBA-6B16-4921-72B7-4B4D5374311C}"/>
              </a:ext>
            </a:extLst>
          </p:cNvPr>
          <p:cNvCxnSpPr>
            <a:cxnSpLocks noChangeShapeType="1"/>
            <a:stCxn id="38923" idx="4"/>
            <a:endCxn id="38924" idx="0"/>
          </p:cNvCxnSpPr>
          <p:nvPr/>
        </p:nvCxnSpPr>
        <p:spPr bwMode="auto">
          <a:xfrm>
            <a:off x="4559300" y="5089526"/>
            <a:ext cx="128588" cy="5445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2" name="AutoShape 17">
            <a:extLst>
              <a:ext uri="{FF2B5EF4-FFF2-40B4-BE49-F238E27FC236}">
                <a16:creationId xmlns:a16="http://schemas.microsoft.com/office/drawing/2014/main" id="{B4771232-73DC-0FFE-564C-CF3075B16E60}"/>
              </a:ext>
            </a:extLst>
          </p:cNvPr>
          <p:cNvCxnSpPr>
            <a:cxnSpLocks noChangeShapeType="1"/>
            <a:stCxn id="38925" idx="4"/>
            <a:endCxn id="38921" idx="1"/>
          </p:cNvCxnSpPr>
          <p:nvPr/>
        </p:nvCxnSpPr>
        <p:spPr bwMode="auto">
          <a:xfrm>
            <a:off x="7731126" y="5416550"/>
            <a:ext cx="392113" cy="4651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3" name="AutoShape 18">
            <a:extLst>
              <a:ext uri="{FF2B5EF4-FFF2-40B4-BE49-F238E27FC236}">
                <a16:creationId xmlns:a16="http://schemas.microsoft.com/office/drawing/2014/main" id="{6E60A7C1-3454-7153-08B1-44CC1A81E738}"/>
              </a:ext>
            </a:extLst>
          </p:cNvPr>
          <p:cNvCxnSpPr>
            <a:cxnSpLocks noChangeShapeType="1"/>
            <a:stCxn id="38925" idx="1"/>
            <a:endCxn id="38919" idx="5"/>
          </p:cNvCxnSpPr>
          <p:nvPr/>
        </p:nvCxnSpPr>
        <p:spPr bwMode="auto">
          <a:xfrm flipH="1" flipV="1">
            <a:off x="6688139" y="4841875"/>
            <a:ext cx="765175" cy="2095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4" name="AutoShape 19">
            <a:extLst>
              <a:ext uri="{FF2B5EF4-FFF2-40B4-BE49-F238E27FC236}">
                <a16:creationId xmlns:a16="http://schemas.microsoft.com/office/drawing/2014/main" id="{F4CDFB2F-BFB0-1757-5DDB-92F75894FC94}"/>
              </a:ext>
            </a:extLst>
          </p:cNvPr>
          <p:cNvCxnSpPr>
            <a:cxnSpLocks noChangeShapeType="1"/>
            <a:stCxn id="38924" idx="6"/>
            <a:endCxn id="38922" idx="2"/>
          </p:cNvCxnSpPr>
          <p:nvPr/>
        </p:nvCxnSpPr>
        <p:spPr bwMode="auto">
          <a:xfrm>
            <a:off x="5099051" y="5845176"/>
            <a:ext cx="658813" cy="119063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5" name="AutoShape 20">
            <a:extLst>
              <a:ext uri="{FF2B5EF4-FFF2-40B4-BE49-F238E27FC236}">
                <a16:creationId xmlns:a16="http://schemas.microsoft.com/office/drawing/2014/main" id="{93FC72C2-8F36-6E92-AC1D-CF4B6C0FFE42}"/>
              </a:ext>
            </a:extLst>
          </p:cNvPr>
          <p:cNvCxnSpPr>
            <a:cxnSpLocks noChangeShapeType="1"/>
            <a:stCxn id="38926" idx="7"/>
            <a:endCxn id="38923" idx="3"/>
          </p:cNvCxnSpPr>
          <p:nvPr/>
        </p:nvCxnSpPr>
        <p:spPr bwMode="auto">
          <a:xfrm flipV="1">
            <a:off x="3306764" y="5030789"/>
            <a:ext cx="974725" cy="4794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6" name="AutoShape 21">
            <a:extLst>
              <a:ext uri="{FF2B5EF4-FFF2-40B4-BE49-F238E27FC236}">
                <a16:creationId xmlns:a16="http://schemas.microsoft.com/office/drawing/2014/main" id="{986E7F93-5BE3-ABA5-45FA-5918151A0B50}"/>
              </a:ext>
            </a:extLst>
          </p:cNvPr>
          <p:cNvCxnSpPr>
            <a:cxnSpLocks noChangeShapeType="1"/>
            <a:stCxn id="38921" idx="0"/>
            <a:endCxn id="38920" idx="4"/>
          </p:cNvCxnSpPr>
          <p:nvPr/>
        </p:nvCxnSpPr>
        <p:spPr bwMode="auto">
          <a:xfrm flipV="1">
            <a:off x="8401051" y="4897439"/>
            <a:ext cx="506413" cy="9286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37" name="Oval 29">
            <a:extLst>
              <a:ext uri="{FF2B5EF4-FFF2-40B4-BE49-F238E27FC236}">
                <a16:creationId xmlns:a16="http://schemas.microsoft.com/office/drawing/2014/main" id="{AE6D8A2A-6CBA-832D-3D7D-5ECC047DB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5414" y="5229225"/>
            <a:ext cx="784225" cy="38258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RDU</a:t>
            </a:r>
          </a:p>
        </p:txBody>
      </p:sp>
      <p:cxnSp>
        <p:nvCxnSpPr>
          <p:cNvPr id="38938" name="AutoShape 30">
            <a:extLst>
              <a:ext uri="{FF2B5EF4-FFF2-40B4-BE49-F238E27FC236}">
                <a16:creationId xmlns:a16="http://schemas.microsoft.com/office/drawing/2014/main" id="{2F3D4772-5D9E-035B-3BD8-BEFB06379E6F}"/>
              </a:ext>
            </a:extLst>
          </p:cNvPr>
          <p:cNvCxnSpPr>
            <a:cxnSpLocks noChangeShapeType="1"/>
            <a:stCxn id="38921" idx="7"/>
            <a:endCxn id="38937" idx="4"/>
          </p:cNvCxnSpPr>
          <p:nvPr/>
        </p:nvCxnSpPr>
        <p:spPr bwMode="auto">
          <a:xfrm flipV="1">
            <a:off x="8678863" y="5621338"/>
            <a:ext cx="728662" cy="260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9" name="AutoShape 31">
            <a:extLst>
              <a:ext uri="{FF2B5EF4-FFF2-40B4-BE49-F238E27FC236}">
                <a16:creationId xmlns:a16="http://schemas.microsoft.com/office/drawing/2014/main" id="{34FFAB21-9BEA-34DB-3BE0-89F753D3AD82}"/>
              </a:ext>
            </a:extLst>
          </p:cNvPr>
          <p:cNvCxnSpPr>
            <a:cxnSpLocks noChangeShapeType="1"/>
            <a:stCxn id="38937" idx="0"/>
            <a:endCxn id="38920" idx="5"/>
          </p:cNvCxnSpPr>
          <p:nvPr/>
        </p:nvCxnSpPr>
        <p:spPr bwMode="auto">
          <a:xfrm flipH="1" flipV="1">
            <a:off x="9185275" y="4841876"/>
            <a:ext cx="222250" cy="377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41</TotalTime>
  <Words>1906</Words>
  <Application>Microsoft Office PowerPoint</Application>
  <PresentationFormat>Widescreen</PresentationFormat>
  <Paragraphs>424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Aptos</vt:lpstr>
      <vt:lpstr>Arial</vt:lpstr>
      <vt:lpstr>Symbol</vt:lpstr>
      <vt:lpstr>Tahoma</vt:lpstr>
      <vt:lpstr>Times New Roman</vt:lpstr>
      <vt:lpstr>Trebuchet MS</vt:lpstr>
      <vt:lpstr>Wingdings</vt:lpstr>
      <vt:lpstr>Wingdings 3</vt:lpstr>
      <vt:lpstr>Facet</vt:lpstr>
      <vt:lpstr>CS535: Algorithm Design and Analysis   Graph Traversal</vt:lpstr>
      <vt:lpstr>Depth-First Search</vt:lpstr>
      <vt:lpstr>DFS Algorithm</vt:lpstr>
      <vt:lpstr>Example</vt:lpstr>
      <vt:lpstr>Example (cont.)</vt:lpstr>
      <vt:lpstr>Analysis of DFS</vt:lpstr>
      <vt:lpstr>Properties and Applications of DFS</vt:lpstr>
      <vt:lpstr>Path Finding</vt:lpstr>
      <vt:lpstr>Breadth-First Search</vt:lpstr>
      <vt:lpstr>BFS Algorithm</vt:lpstr>
      <vt:lpstr>Example</vt:lpstr>
      <vt:lpstr>Example (cont.)</vt:lpstr>
      <vt:lpstr>Example (cont.)</vt:lpstr>
      <vt:lpstr>Properties</vt:lpstr>
      <vt:lpstr>Analysis</vt:lpstr>
      <vt:lpstr>Applications</vt:lpstr>
      <vt:lpstr>DFS vs. BFS</vt:lpstr>
      <vt:lpstr>DFS vs. BFS (cont.)</vt:lpstr>
      <vt:lpstr>Extra Slides  on Biconnected Components </vt:lpstr>
      <vt:lpstr>Separation Edges and Vertices</vt:lpstr>
      <vt:lpstr>Biconnected Graph</vt:lpstr>
      <vt:lpstr>Biconnected Components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Rohit (singh2ro)</dc:creator>
  <cp:lastModifiedBy>Singh, Rohit (singh2ro)</cp:lastModifiedBy>
  <cp:revision>2</cp:revision>
  <dcterms:created xsi:type="dcterms:W3CDTF">2024-11-18T02:53:41Z</dcterms:created>
  <dcterms:modified xsi:type="dcterms:W3CDTF">2024-11-18T03:35:32Z</dcterms:modified>
</cp:coreProperties>
</file>