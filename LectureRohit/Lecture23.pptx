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8"/>
  </p:notes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0C6247-4929-4ED1-904E-BF58A332CDD0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0A0128-38C6-4A2C-94B6-86CB3A5ED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094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D1F9A7AE-00A6-D10F-49A3-5601F0A54E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96AC6ECE-172A-3361-C2F4-1CE3E4F38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E6AE4047-71A5-84AC-A22A-FCDCBA3FD9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5867298-E436-48DD-AFED-49559D16D2DD}" type="slidenum">
              <a:rPr lang="en-US" altLang="en-US" sz="1300" smtClean="0"/>
              <a:pPr>
                <a:spcBef>
                  <a:spcPct val="0"/>
                </a:spcBef>
              </a:pPr>
              <a:t>1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>
            <a:extLst>
              <a:ext uri="{FF2B5EF4-FFF2-40B4-BE49-F238E27FC236}">
                <a16:creationId xmlns:a16="http://schemas.microsoft.com/office/drawing/2014/main" id="{A8A7EDD8-B3E5-DFCD-8260-EF53F99A3C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8" name="Notes Placeholder 2">
            <a:extLst>
              <a:ext uri="{FF2B5EF4-FFF2-40B4-BE49-F238E27FC236}">
                <a16:creationId xmlns:a16="http://schemas.microsoft.com/office/drawing/2014/main" id="{806DA753-D154-0EA9-BD02-54C695861D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59" name="Slide Number Placeholder 3">
            <a:extLst>
              <a:ext uri="{FF2B5EF4-FFF2-40B4-BE49-F238E27FC236}">
                <a16:creationId xmlns:a16="http://schemas.microsoft.com/office/drawing/2014/main" id="{07009C55-68E2-3117-FE55-1B80EA26CF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3306842-EB70-4636-A7A0-909B35C3C028}" type="slidenum">
              <a:rPr lang="en-US" altLang="en-US" sz="1300" smtClean="0"/>
              <a:pPr>
                <a:spcBef>
                  <a:spcPct val="0"/>
                </a:spcBef>
              </a:pPr>
              <a:t>3</a:t>
            </a:fld>
            <a:endParaRPr lang="en-US" altLang="en-US" sz="13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DF81B-C15A-4E4E-9E43-F11C5B3DCBC0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782D2-3D1D-4EA5-BC55-860F3CF93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723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DF81B-C15A-4E4E-9E43-F11C5B3DCBC0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782D2-3D1D-4EA5-BC55-860F3CF93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584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DF81B-C15A-4E4E-9E43-F11C5B3DCBC0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782D2-3D1D-4EA5-BC55-860F3CF93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347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DF81B-C15A-4E4E-9E43-F11C5B3DCBC0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782D2-3D1D-4EA5-BC55-860F3CF93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788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DF81B-C15A-4E4E-9E43-F11C5B3DCBC0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782D2-3D1D-4EA5-BC55-860F3CF93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701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DF81B-C15A-4E4E-9E43-F11C5B3DCBC0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782D2-3D1D-4EA5-BC55-860F3CF93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044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DF81B-C15A-4E4E-9E43-F11C5B3DCBC0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782D2-3D1D-4EA5-BC55-860F3CF93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937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DF81B-C15A-4E4E-9E43-F11C5B3DCBC0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782D2-3D1D-4EA5-BC55-860F3CF93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362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DF81B-C15A-4E4E-9E43-F11C5B3DCBC0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782D2-3D1D-4EA5-BC55-860F3CF93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372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DF81B-C15A-4E4E-9E43-F11C5B3DCBC0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782D2-3D1D-4EA5-BC55-860F3CF93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011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DF81B-C15A-4E4E-9E43-F11C5B3DCBC0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782D2-3D1D-4EA5-BC55-860F3CF93AAE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6521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DF81B-C15A-4E4E-9E43-F11C5B3DCBC0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782D2-3D1D-4EA5-BC55-860F3CF93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344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DF81B-C15A-4E4E-9E43-F11C5B3DCBC0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782D2-3D1D-4EA5-BC55-860F3CF93AAE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911759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DF81B-C15A-4E4E-9E43-F11C5B3DCBC0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782D2-3D1D-4EA5-BC55-860F3CF93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055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DF81B-C15A-4E4E-9E43-F11C5B3DCBC0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782D2-3D1D-4EA5-BC55-860F3CF93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2109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DF81B-C15A-4E4E-9E43-F11C5B3DCBC0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782D2-3D1D-4EA5-BC55-860F3CF93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097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5DF81B-C15A-4E4E-9E43-F11C5B3DCBC0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9E782D2-3D1D-4EA5-BC55-860F3CF93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040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91576EE7-8092-FDC8-185C-AC1D0DA2D53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828800" y="1066801"/>
            <a:ext cx="8534400" cy="169862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2000" dirty="0">
                <a:solidFill>
                  <a:srgbClr val="FF9900"/>
                </a:solidFill>
              </a:rPr>
              <a:t>CS535: Algorithm Design and Analysis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/>
              <a:t>Flow Network</a:t>
            </a:r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360BB727-6C8C-5717-BA74-6C8647DF367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895600" y="3657600"/>
            <a:ext cx="6400800" cy="1981200"/>
          </a:xfrm>
        </p:spPr>
        <p:txBody>
          <a:bodyPr/>
          <a:lstStyle/>
          <a:p>
            <a:pPr algn="ctr" eaLnBrk="1" hangingPunct="1"/>
            <a:r>
              <a:rPr lang="en-US" altLang="en-US" sz="2000" b="1" dirty="0">
                <a:solidFill>
                  <a:srgbClr val="0000FF"/>
                </a:solidFill>
              </a:rPr>
              <a:t>Prof. Rohit Pal Singh</a:t>
            </a: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Department of Computer Science</a:t>
            </a: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University of Wisconsin, Milwaukee</a:t>
            </a:r>
          </a:p>
          <a:p>
            <a:pPr algn="ctr" eaLnBrk="1" hangingPunct="1"/>
            <a:endParaRPr lang="en-US" altLang="en-US" sz="1600" b="1" dirty="0">
              <a:solidFill>
                <a:srgbClr val="0000FF"/>
              </a:solidFill>
            </a:endParaRP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December 4, 2024</a:t>
            </a:r>
          </a:p>
        </p:txBody>
      </p:sp>
      <p:sp>
        <p:nvSpPr>
          <p:cNvPr id="15363" name="TextBox 3">
            <a:extLst>
              <a:ext uri="{FF2B5EF4-FFF2-40B4-BE49-F238E27FC236}">
                <a16:creationId xmlns:a16="http://schemas.microsoft.com/office/drawing/2014/main" id="{4D084B98-DA4B-7885-1F1B-0D1F20F8D1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638800"/>
            <a:ext cx="86106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Readings: Chapter </a:t>
            </a:r>
            <a:r>
              <a:rPr lang="en-US" altLang="en-US" sz="1800" dirty="0">
                <a:ea typeface="宋体" panose="02010600030101010101" pitchFamily="2" charset="-122"/>
              </a:rPr>
              <a:t>8</a:t>
            </a:r>
            <a:r>
              <a:rPr lang="en-US" altLang="zh-CN" sz="1800" dirty="0">
                <a:ea typeface="宋体" panose="02010600030101010101" pitchFamily="2" charset="-122"/>
              </a:rPr>
              <a:t>.1, 8.2</a:t>
            </a:r>
            <a:endParaRPr lang="en-US" altLang="en-US" sz="1800" dirty="0"/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E1A5FF4F-9350-6D84-58B5-960283C843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Flow Network</a:t>
            </a:r>
          </a:p>
        </p:txBody>
      </p:sp>
      <p:sp>
        <p:nvSpPr>
          <p:cNvPr id="17410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3DB5862-B197-2378-5B4C-F8525AEA5A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62200" y="1447800"/>
            <a:ext cx="7772400" cy="24384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2000"/>
              <a:t>A flow network (or just network) </a:t>
            </a:r>
            <a:r>
              <a:rPr lang="en-US" altLang="en-US" sz="2000" b="1" i="1">
                <a:latin typeface="Times New Roman" panose="02020603050405020304" pitchFamily="18" charset="0"/>
              </a:rPr>
              <a:t>N </a:t>
            </a:r>
            <a:r>
              <a:rPr lang="en-US" altLang="en-US" sz="2000"/>
              <a:t>consists of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A weighted digraph </a:t>
            </a:r>
            <a:r>
              <a:rPr lang="en-US" altLang="en-US" sz="1800" b="1" i="1">
                <a:latin typeface="Times New Roman" panose="02020603050405020304" pitchFamily="18" charset="0"/>
              </a:rPr>
              <a:t>G</a:t>
            </a:r>
            <a:r>
              <a:rPr lang="en-US" altLang="en-US" sz="1800"/>
              <a:t> with nonnegative integer edge weights, where the weight of an edge </a:t>
            </a:r>
            <a:r>
              <a:rPr lang="en-US" altLang="en-US" sz="1800" b="1" i="1">
                <a:latin typeface="Times New Roman" panose="02020603050405020304" pitchFamily="18" charset="0"/>
              </a:rPr>
              <a:t>e</a:t>
            </a:r>
            <a:r>
              <a:rPr lang="en-US" altLang="en-US" sz="1800"/>
              <a:t> is called the </a:t>
            </a:r>
            <a:r>
              <a:rPr lang="en-US" altLang="en-US" sz="1800" b="1"/>
              <a:t>capacity</a:t>
            </a:r>
            <a:r>
              <a:rPr lang="en-US" altLang="en-US" sz="1800"/>
              <a:t> </a:t>
            </a:r>
            <a:r>
              <a:rPr lang="en-US" altLang="en-US" sz="1800" b="1" i="1">
                <a:latin typeface="Times New Roman" panose="02020603050405020304" pitchFamily="18" charset="0"/>
              </a:rPr>
              <a:t>c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e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r>
              <a:rPr lang="en-US" altLang="en-US" sz="1800"/>
              <a:t> of </a:t>
            </a:r>
            <a:r>
              <a:rPr lang="en-US" altLang="en-US" sz="1800" b="1" i="1">
                <a:latin typeface="Times New Roman" panose="02020603050405020304" pitchFamily="18" charset="0"/>
              </a:rPr>
              <a:t>e</a:t>
            </a:r>
            <a:r>
              <a:rPr lang="en-US" altLang="en-US" sz="1800"/>
              <a:t> 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Two distinctive vertices, </a:t>
            </a:r>
            <a:r>
              <a:rPr lang="en-US" altLang="en-US" sz="1800" b="1" i="1">
                <a:latin typeface="Times New Roman" panose="02020603050405020304" pitchFamily="18" charset="0"/>
              </a:rPr>
              <a:t>s</a:t>
            </a:r>
            <a:r>
              <a:rPr lang="en-US" altLang="en-US" sz="1800"/>
              <a:t> and </a:t>
            </a:r>
            <a:r>
              <a:rPr lang="en-US" altLang="en-US" sz="1800" b="1" i="1">
                <a:latin typeface="Times New Roman" panose="02020603050405020304" pitchFamily="18" charset="0"/>
              </a:rPr>
              <a:t>t</a:t>
            </a:r>
            <a:r>
              <a:rPr lang="en-US" altLang="en-US" sz="1800"/>
              <a:t> of </a:t>
            </a:r>
            <a:r>
              <a:rPr lang="en-US" altLang="en-US" sz="1800" b="1" i="1">
                <a:latin typeface="Times New Roman" panose="02020603050405020304" pitchFamily="18" charset="0"/>
              </a:rPr>
              <a:t>G</a:t>
            </a:r>
            <a:r>
              <a:rPr lang="en-US" altLang="en-US" sz="1800"/>
              <a:t>, called the </a:t>
            </a:r>
            <a:r>
              <a:rPr lang="en-US" altLang="en-US" sz="1800" b="1"/>
              <a:t>source</a:t>
            </a:r>
            <a:r>
              <a:rPr lang="en-US" altLang="en-US" sz="1800"/>
              <a:t> and </a:t>
            </a:r>
            <a:r>
              <a:rPr lang="en-US" altLang="en-US" sz="1800" b="1"/>
              <a:t>sink</a:t>
            </a:r>
            <a:r>
              <a:rPr lang="en-US" altLang="en-US" sz="1800"/>
              <a:t>, respectively, such that </a:t>
            </a:r>
            <a:r>
              <a:rPr lang="en-US" altLang="en-US" sz="1800" b="1" i="1">
                <a:latin typeface="Times New Roman" panose="02020603050405020304" pitchFamily="18" charset="0"/>
              </a:rPr>
              <a:t>s</a:t>
            </a:r>
            <a:r>
              <a:rPr lang="en-US" altLang="en-US" sz="1800"/>
              <a:t> has no incoming edges and </a:t>
            </a:r>
            <a:r>
              <a:rPr lang="en-US" altLang="en-US" sz="1800" b="1" i="1">
                <a:latin typeface="Times New Roman" panose="02020603050405020304" pitchFamily="18" charset="0"/>
              </a:rPr>
              <a:t>t</a:t>
            </a:r>
            <a:r>
              <a:rPr lang="en-US" altLang="en-US" sz="1800"/>
              <a:t> has no outgoing edges.</a:t>
            </a:r>
          </a:p>
          <a:p>
            <a:pPr lvl="1">
              <a:lnSpc>
                <a:spcPct val="90000"/>
              </a:lnSpc>
            </a:pPr>
            <a:endParaRPr lang="en-US" altLang="en-US" sz="1800"/>
          </a:p>
          <a:p>
            <a:pPr>
              <a:lnSpc>
                <a:spcPct val="90000"/>
              </a:lnSpc>
            </a:pPr>
            <a:r>
              <a:rPr lang="en-US" altLang="en-US" sz="2000"/>
              <a:t>Example:</a:t>
            </a:r>
          </a:p>
        </p:txBody>
      </p:sp>
      <p:sp>
        <p:nvSpPr>
          <p:cNvPr id="17411" name="Oval 37">
            <a:extLst>
              <a:ext uri="{FF2B5EF4-FFF2-40B4-BE49-F238E27FC236}">
                <a16:creationId xmlns:a16="http://schemas.microsoft.com/office/drawing/2014/main" id="{93EE25A6-7F3B-7E23-AEC7-FEBD286C06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99188" y="4881563"/>
            <a:ext cx="366712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17412" name="Oval 38">
            <a:extLst>
              <a:ext uri="{FF2B5EF4-FFF2-40B4-BE49-F238E27FC236}">
                <a16:creationId xmlns:a16="http://schemas.microsoft.com/office/drawing/2014/main" id="{BE59922E-B320-4F08-988A-19EE446EAA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9751" y="4656138"/>
            <a:ext cx="366713" cy="366712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17413" name="Oval 39">
            <a:extLst>
              <a:ext uri="{FF2B5EF4-FFF2-40B4-BE49-F238E27FC236}">
                <a16:creationId xmlns:a16="http://schemas.microsoft.com/office/drawing/2014/main" id="{A57CEAD5-3B01-2BC8-4740-FB171EE23D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53063" y="3922713"/>
            <a:ext cx="366712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17414" name="Oval 40">
            <a:extLst>
              <a:ext uri="{FF2B5EF4-FFF2-40B4-BE49-F238E27FC236}">
                <a16:creationId xmlns:a16="http://schemas.microsoft.com/office/drawing/2014/main" id="{ECE338AC-8EBB-08E3-5077-8A979325F1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276851" y="5575301"/>
            <a:ext cx="366713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17415" name="Oval 46">
            <a:extLst>
              <a:ext uri="{FF2B5EF4-FFF2-40B4-BE49-F238E27FC236}">
                <a16:creationId xmlns:a16="http://schemas.microsoft.com/office/drawing/2014/main" id="{51FD8D7B-78E0-C1F9-F8DA-B7A46EA502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42213" y="4452938"/>
            <a:ext cx="366712" cy="366712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7416" name="Oval 50">
            <a:extLst>
              <a:ext uri="{FF2B5EF4-FFF2-40B4-BE49-F238E27FC236}">
                <a16:creationId xmlns:a16="http://schemas.microsoft.com/office/drawing/2014/main" id="{9BDE51AF-EF9D-E3B8-49C2-3A6D80E5A7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94538" y="5564188"/>
            <a:ext cx="366712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z</a:t>
            </a:r>
          </a:p>
        </p:txBody>
      </p:sp>
      <p:sp>
        <p:nvSpPr>
          <p:cNvPr id="17417" name="Text Box 53">
            <a:extLst>
              <a:ext uri="{FF2B5EF4-FFF2-40B4-BE49-F238E27FC236}">
                <a16:creationId xmlns:a16="http://schemas.microsoft.com/office/drawing/2014/main" id="{696E74BE-C033-2351-26FC-16180F535B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7000" y="461168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17418" name="Text Box 55">
            <a:extLst>
              <a:ext uri="{FF2B5EF4-FFF2-40B4-BE49-F238E27FC236}">
                <a16:creationId xmlns:a16="http://schemas.microsoft.com/office/drawing/2014/main" id="{F738587B-FB15-873E-8FAF-11EBC3413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125" y="50673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anose="05050102010706020507" pitchFamily="18" charset="2"/>
              </a:rPr>
              <a:t>9</a:t>
            </a:r>
          </a:p>
        </p:txBody>
      </p:sp>
      <p:sp>
        <p:nvSpPr>
          <p:cNvPr id="17419" name="Text Box 58">
            <a:extLst>
              <a:ext uri="{FF2B5EF4-FFF2-40B4-BE49-F238E27FC236}">
                <a16:creationId xmlns:a16="http://schemas.microsoft.com/office/drawing/2014/main" id="{911632DF-1193-34D7-9CF4-F482BAE759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3125" y="43037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7420" name="Text Box 60">
            <a:extLst>
              <a:ext uri="{FF2B5EF4-FFF2-40B4-BE49-F238E27FC236}">
                <a16:creationId xmlns:a16="http://schemas.microsoft.com/office/drawing/2014/main" id="{85041D0D-08BE-291E-5BC4-68037A52BC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5900" y="393858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7421" name="Text Box 61">
            <a:extLst>
              <a:ext uri="{FF2B5EF4-FFF2-40B4-BE49-F238E27FC236}">
                <a16:creationId xmlns:a16="http://schemas.microsoft.com/office/drawing/2014/main" id="{51D2C771-E161-F31C-44B4-10F1D96CD8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125" y="448786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17422" name="Text Box 62">
            <a:extLst>
              <a:ext uri="{FF2B5EF4-FFF2-40B4-BE49-F238E27FC236}">
                <a16:creationId xmlns:a16="http://schemas.microsoft.com/office/drawing/2014/main" id="{A9941014-75DF-9322-D9DA-2D4A8F416A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3300" y="41513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17423" name="Text Box 63">
            <a:extLst>
              <a:ext uri="{FF2B5EF4-FFF2-40B4-BE49-F238E27FC236}">
                <a16:creationId xmlns:a16="http://schemas.microsoft.com/office/drawing/2014/main" id="{202E008D-1E44-EB3A-4664-03F1B8E8A8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1875" y="50673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7424" name="Text Box 64">
            <a:extLst>
              <a:ext uri="{FF2B5EF4-FFF2-40B4-BE49-F238E27FC236}">
                <a16:creationId xmlns:a16="http://schemas.microsoft.com/office/drawing/2014/main" id="{71E67464-A46E-599F-E079-AC174D9A7B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8950" y="51419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7425" name="Text Box 65">
            <a:extLst>
              <a:ext uri="{FF2B5EF4-FFF2-40B4-BE49-F238E27FC236}">
                <a16:creationId xmlns:a16="http://schemas.microsoft.com/office/drawing/2014/main" id="{296D67CB-D863-A7CB-FB05-712947B3AC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463" y="525145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7426" name="Text Box 66">
            <a:extLst>
              <a:ext uri="{FF2B5EF4-FFF2-40B4-BE49-F238E27FC236}">
                <a16:creationId xmlns:a16="http://schemas.microsoft.com/office/drawing/2014/main" id="{84FA9CC2-7426-33C7-DE71-4C0605625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0450" y="5699126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cxnSp>
        <p:nvCxnSpPr>
          <p:cNvPr id="17427" name="AutoShape 68">
            <a:extLst>
              <a:ext uri="{FF2B5EF4-FFF2-40B4-BE49-F238E27FC236}">
                <a16:creationId xmlns:a16="http://schemas.microsoft.com/office/drawing/2014/main" id="{F81F8F05-DBB4-9CB4-0A84-CBAE8F9F6F5A}"/>
              </a:ext>
            </a:extLst>
          </p:cNvPr>
          <p:cNvCxnSpPr>
            <a:cxnSpLocks noChangeShapeType="1"/>
            <a:stCxn id="17412" idx="7"/>
            <a:endCxn id="17413" idx="3"/>
          </p:cNvCxnSpPr>
          <p:nvPr/>
        </p:nvCxnSpPr>
        <p:spPr bwMode="auto">
          <a:xfrm flipV="1">
            <a:off x="4662488" y="4244975"/>
            <a:ext cx="842962" cy="4445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28" name="AutoShape 69">
            <a:extLst>
              <a:ext uri="{FF2B5EF4-FFF2-40B4-BE49-F238E27FC236}">
                <a16:creationId xmlns:a16="http://schemas.microsoft.com/office/drawing/2014/main" id="{1C861439-117B-05C7-4962-EBE9D5DFD412}"/>
              </a:ext>
            </a:extLst>
          </p:cNvPr>
          <p:cNvCxnSpPr>
            <a:cxnSpLocks noChangeShapeType="1"/>
            <a:stCxn id="17412" idx="5"/>
            <a:endCxn id="17414" idx="1"/>
          </p:cNvCxnSpPr>
          <p:nvPr/>
        </p:nvCxnSpPr>
        <p:spPr bwMode="auto">
          <a:xfrm>
            <a:off x="4662488" y="4987925"/>
            <a:ext cx="666750" cy="630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29" name="AutoShape 70">
            <a:extLst>
              <a:ext uri="{FF2B5EF4-FFF2-40B4-BE49-F238E27FC236}">
                <a16:creationId xmlns:a16="http://schemas.microsoft.com/office/drawing/2014/main" id="{2B7B3CAE-10D1-FD62-8199-6C56BCCFBD7A}"/>
              </a:ext>
            </a:extLst>
          </p:cNvPr>
          <p:cNvCxnSpPr>
            <a:cxnSpLocks noChangeShapeType="1"/>
            <a:stCxn id="17413" idx="5"/>
            <a:endCxn id="17411" idx="1"/>
          </p:cNvCxnSpPr>
          <p:nvPr/>
        </p:nvCxnSpPr>
        <p:spPr bwMode="auto">
          <a:xfrm>
            <a:off x="5765801" y="4244975"/>
            <a:ext cx="485775" cy="6794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30" name="AutoShape 71">
            <a:extLst>
              <a:ext uri="{FF2B5EF4-FFF2-40B4-BE49-F238E27FC236}">
                <a16:creationId xmlns:a16="http://schemas.microsoft.com/office/drawing/2014/main" id="{41C3100B-1BC2-BB78-199D-F1F04D3B8A42}"/>
              </a:ext>
            </a:extLst>
          </p:cNvPr>
          <p:cNvCxnSpPr>
            <a:cxnSpLocks noChangeShapeType="1"/>
            <a:stCxn id="17413" idx="6"/>
            <a:endCxn id="17415" idx="1"/>
          </p:cNvCxnSpPr>
          <p:nvPr/>
        </p:nvCxnSpPr>
        <p:spPr bwMode="auto">
          <a:xfrm>
            <a:off x="5827714" y="4105275"/>
            <a:ext cx="1766887" cy="3810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31" name="AutoShape 72">
            <a:extLst>
              <a:ext uri="{FF2B5EF4-FFF2-40B4-BE49-F238E27FC236}">
                <a16:creationId xmlns:a16="http://schemas.microsoft.com/office/drawing/2014/main" id="{FFD97C0F-9803-87A5-1613-835DC875E841}"/>
              </a:ext>
            </a:extLst>
          </p:cNvPr>
          <p:cNvCxnSpPr>
            <a:cxnSpLocks noChangeShapeType="1"/>
            <a:stCxn id="17411" idx="7"/>
            <a:endCxn id="17415" idx="2"/>
          </p:cNvCxnSpPr>
          <p:nvPr/>
        </p:nvCxnSpPr>
        <p:spPr bwMode="auto">
          <a:xfrm flipV="1">
            <a:off x="6511925" y="4635501"/>
            <a:ext cx="1009650" cy="2889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32" name="AutoShape 73">
            <a:extLst>
              <a:ext uri="{FF2B5EF4-FFF2-40B4-BE49-F238E27FC236}">
                <a16:creationId xmlns:a16="http://schemas.microsoft.com/office/drawing/2014/main" id="{EEB9FEBA-0F5C-39DF-E706-E87BB9A93310}"/>
              </a:ext>
            </a:extLst>
          </p:cNvPr>
          <p:cNvCxnSpPr>
            <a:cxnSpLocks noChangeShapeType="1"/>
            <a:stCxn id="17411" idx="5"/>
            <a:endCxn id="17416" idx="1"/>
          </p:cNvCxnSpPr>
          <p:nvPr/>
        </p:nvCxnSpPr>
        <p:spPr bwMode="auto">
          <a:xfrm>
            <a:off x="6511925" y="5203826"/>
            <a:ext cx="635000" cy="4032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33" name="AutoShape 74">
            <a:extLst>
              <a:ext uri="{FF2B5EF4-FFF2-40B4-BE49-F238E27FC236}">
                <a16:creationId xmlns:a16="http://schemas.microsoft.com/office/drawing/2014/main" id="{3498D4E5-3A60-79DA-A785-F68136BDD591}"/>
              </a:ext>
            </a:extLst>
          </p:cNvPr>
          <p:cNvCxnSpPr>
            <a:cxnSpLocks noChangeShapeType="1"/>
            <a:stCxn id="17416" idx="0"/>
            <a:endCxn id="17415" idx="3"/>
          </p:cNvCxnSpPr>
          <p:nvPr/>
        </p:nvCxnSpPr>
        <p:spPr bwMode="auto">
          <a:xfrm flipV="1">
            <a:off x="7277100" y="4784725"/>
            <a:ext cx="317500" cy="7683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34" name="AutoShape 75">
            <a:extLst>
              <a:ext uri="{FF2B5EF4-FFF2-40B4-BE49-F238E27FC236}">
                <a16:creationId xmlns:a16="http://schemas.microsoft.com/office/drawing/2014/main" id="{39685DFD-1EDE-978E-62E8-B5F781ED2B60}"/>
              </a:ext>
            </a:extLst>
          </p:cNvPr>
          <p:cNvCxnSpPr>
            <a:cxnSpLocks noChangeShapeType="1"/>
            <a:stCxn id="17414" idx="6"/>
            <a:endCxn id="17416" idx="2"/>
          </p:cNvCxnSpPr>
          <p:nvPr/>
        </p:nvCxnSpPr>
        <p:spPr bwMode="auto">
          <a:xfrm flipV="1">
            <a:off x="5651501" y="5746751"/>
            <a:ext cx="1431925" cy="111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35" name="AutoShape 76">
            <a:extLst>
              <a:ext uri="{FF2B5EF4-FFF2-40B4-BE49-F238E27FC236}">
                <a16:creationId xmlns:a16="http://schemas.microsoft.com/office/drawing/2014/main" id="{9F87657C-9200-2794-624F-2A0851A94C79}"/>
              </a:ext>
            </a:extLst>
          </p:cNvPr>
          <p:cNvCxnSpPr>
            <a:cxnSpLocks noChangeShapeType="1"/>
            <a:stCxn id="17414" idx="7"/>
            <a:endCxn id="17411" idx="3"/>
          </p:cNvCxnSpPr>
          <p:nvPr/>
        </p:nvCxnSpPr>
        <p:spPr bwMode="auto">
          <a:xfrm flipV="1">
            <a:off x="5589589" y="5203825"/>
            <a:ext cx="661987" cy="4143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36" name="AutoShape 77">
            <a:extLst>
              <a:ext uri="{FF2B5EF4-FFF2-40B4-BE49-F238E27FC236}">
                <a16:creationId xmlns:a16="http://schemas.microsoft.com/office/drawing/2014/main" id="{DA7B323F-2DDA-036C-013A-B7D8E2DAAE22}"/>
              </a:ext>
            </a:extLst>
          </p:cNvPr>
          <p:cNvCxnSpPr>
            <a:cxnSpLocks noChangeShapeType="1"/>
            <a:stCxn id="17412" idx="6"/>
            <a:endCxn id="17411" idx="2"/>
          </p:cNvCxnSpPr>
          <p:nvPr/>
        </p:nvCxnSpPr>
        <p:spPr bwMode="auto">
          <a:xfrm>
            <a:off x="4733925" y="4838701"/>
            <a:ext cx="1454150" cy="2254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026">
            <a:extLst>
              <a:ext uri="{FF2B5EF4-FFF2-40B4-BE49-F238E27FC236}">
                <a16:creationId xmlns:a16="http://schemas.microsoft.com/office/drawing/2014/main" id="{56D3E20E-F4B0-E367-66FC-BAEE25B507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Flow</a:t>
            </a:r>
          </a:p>
        </p:txBody>
      </p:sp>
      <p:sp>
        <p:nvSpPr>
          <p:cNvPr id="18434" name="Rectangle 1027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83EB12B-FC2D-66F3-DAD2-077A69B78C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33600" y="1066800"/>
            <a:ext cx="8077200" cy="2971800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sz="2000"/>
              <a:t>A flow </a:t>
            </a:r>
            <a:r>
              <a:rPr lang="en-US" altLang="en-US" sz="2000" b="1" i="1">
                <a:latin typeface="Times New Roman" panose="02020603050405020304" pitchFamily="18" charset="0"/>
              </a:rPr>
              <a:t>f</a:t>
            </a:r>
            <a:r>
              <a:rPr lang="en-US" altLang="en-US" sz="2000"/>
              <a:t> for a network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/>
              <a:t> is an assignment of an integer value </a:t>
            </a:r>
            <a:r>
              <a:rPr lang="en-US" altLang="en-US" sz="2000" b="1" i="1">
                <a:latin typeface="Times New Roman" panose="02020603050405020304" pitchFamily="18" charset="0"/>
              </a:rPr>
              <a:t>f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e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r>
              <a:rPr lang="en-US" altLang="en-US" sz="2000"/>
              <a:t> to each edge </a:t>
            </a:r>
            <a:r>
              <a:rPr lang="en-US" altLang="en-US" sz="2000" b="1" i="1">
                <a:latin typeface="Times New Roman" panose="02020603050405020304" pitchFamily="18" charset="0"/>
              </a:rPr>
              <a:t>e</a:t>
            </a:r>
            <a:r>
              <a:rPr lang="en-US" altLang="en-US" sz="2000"/>
              <a:t> that satisfies the following properties:</a:t>
            </a:r>
          </a:p>
          <a:p>
            <a:pPr lvl="1">
              <a:spcAft>
                <a:spcPct val="40000"/>
              </a:spcAft>
              <a:buFont typeface="Wingdings" panose="05000000000000000000" pitchFamily="2" charset="2"/>
              <a:buNone/>
            </a:pPr>
            <a:r>
              <a:rPr lang="en-US" altLang="en-US" sz="1800" i="1">
                <a:solidFill>
                  <a:schemeClr val="tx2"/>
                </a:solidFill>
              </a:rPr>
              <a:t>Capacity Rule</a:t>
            </a:r>
            <a:r>
              <a:rPr lang="en-US" altLang="en-US" sz="1800">
                <a:solidFill>
                  <a:schemeClr val="tx2"/>
                </a:solidFill>
              </a:rPr>
              <a:t>:</a:t>
            </a:r>
            <a:r>
              <a:rPr lang="en-US" altLang="en-US" sz="1800"/>
              <a:t> For each edge </a:t>
            </a:r>
            <a:r>
              <a:rPr lang="en-US" altLang="en-US" sz="1800" b="1" i="1">
                <a:latin typeface="Times New Roman" panose="02020603050405020304" pitchFamily="18" charset="0"/>
              </a:rPr>
              <a:t>e</a:t>
            </a:r>
            <a:r>
              <a:rPr lang="en-US" altLang="en-US" sz="1800"/>
              <a:t>,  </a:t>
            </a:r>
            <a:r>
              <a:rPr lang="en-US" altLang="en-US" sz="1800">
                <a:latin typeface="Times New Roman" panose="02020603050405020304" pitchFamily="18" charset="0"/>
              </a:rPr>
              <a:t>0 </a:t>
            </a:r>
            <a:r>
              <a:rPr lang="en-US" altLang="en-US" sz="1800">
                <a:latin typeface="Symbol" panose="05050102010706020507" pitchFamily="18" charset="2"/>
                <a:sym typeface="Symbol" panose="05050102010706020507" pitchFamily="18" charset="2"/>
              </a:rPr>
              <a:t>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latin typeface="Times New Roman" panose="02020603050405020304" pitchFamily="18" charset="0"/>
              </a:rPr>
              <a:t>f</a:t>
            </a:r>
            <a:r>
              <a:rPr lang="en-US" altLang="en-US" sz="1800">
                <a:latin typeface="Times New Roman" panose="02020603050405020304" pitchFamily="18" charset="0"/>
              </a:rPr>
              <a:t> (</a:t>
            </a:r>
            <a:r>
              <a:rPr lang="en-US" altLang="en-US" sz="1800" b="1" i="1">
                <a:latin typeface="Times New Roman" panose="02020603050405020304" pitchFamily="18" charset="0"/>
              </a:rPr>
              <a:t>e</a:t>
            </a:r>
            <a:r>
              <a:rPr lang="en-US" altLang="en-US" sz="1800">
                <a:latin typeface="Times New Roman" panose="02020603050405020304" pitchFamily="18" charset="0"/>
              </a:rPr>
              <a:t>) </a:t>
            </a:r>
            <a:r>
              <a:rPr lang="en-US" altLang="en-US" sz="1800">
                <a:latin typeface="Symbol" panose="05050102010706020507" pitchFamily="18" charset="2"/>
                <a:sym typeface="Symbol" panose="05050102010706020507" pitchFamily="18" charset="2"/>
              </a:rPr>
              <a:t>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latin typeface="Times New Roman" panose="02020603050405020304" pitchFamily="18" charset="0"/>
              </a:rPr>
              <a:t>c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e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endParaRPr lang="en-US" altLang="en-US" sz="1800"/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1800" i="1">
                <a:solidFill>
                  <a:schemeClr val="tx2"/>
                </a:solidFill>
              </a:rPr>
              <a:t>Conservation Rule</a:t>
            </a:r>
            <a:r>
              <a:rPr lang="en-US" altLang="en-US" sz="1800">
                <a:solidFill>
                  <a:schemeClr val="tx2"/>
                </a:solidFill>
              </a:rPr>
              <a:t>:</a:t>
            </a:r>
            <a:r>
              <a:rPr lang="en-US" altLang="en-US" sz="1800"/>
              <a:t> For each vertex </a:t>
            </a:r>
            <a:r>
              <a:rPr lang="en-US" altLang="en-US" sz="1800" b="1" i="1">
                <a:latin typeface="Times New Roman" panose="02020603050405020304" pitchFamily="18" charset="0"/>
              </a:rPr>
              <a:t>v </a:t>
            </a:r>
            <a:r>
              <a:rPr lang="en-US" altLang="en-US" sz="1800" b="1" i="1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en-US" sz="1800" b="1" i="1">
                <a:latin typeface="Times New Roman" panose="02020603050405020304" pitchFamily="18" charset="0"/>
              </a:rPr>
              <a:t> s,t</a:t>
            </a:r>
            <a:br>
              <a:rPr lang="en-US" altLang="en-US" sz="1800" b="1" i="1">
                <a:latin typeface="Times New Roman" panose="02020603050405020304" pitchFamily="18" charset="0"/>
              </a:rPr>
            </a:br>
            <a:r>
              <a:rPr lang="en-US" altLang="en-US" sz="1800" b="1" i="1">
                <a:latin typeface="Times New Roman" panose="02020603050405020304" pitchFamily="18" charset="0"/>
              </a:rPr>
              <a:t> </a:t>
            </a:r>
            <a:br>
              <a:rPr lang="en-US" altLang="en-US" sz="1800" b="1" i="1">
                <a:latin typeface="Times New Roman" panose="02020603050405020304" pitchFamily="18" charset="0"/>
              </a:rPr>
            </a:br>
            <a:r>
              <a:rPr lang="en-US" altLang="en-US" sz="1800"/>
              <a:t>where </a:t>
            </a:r>
            <a:r>
              <a:rPr lang="en-US" altLang="en-US" sz="1800" b="1" i="1">
                <a:latin typeface="Times New Roman" panose="02020603050405020304" pitchFamily="18" charset="0"/>
              </a:rPr>
              <a:t>E</a:t>
            </a:r>
            <a:r>
              <a:rPr lang="en-US" altLang="en-US" sz="1800" baseline="30000">
                <a:latin typeface="Symbol" panose="05050102010706020507" pitchFamily="18" charset="2"/>
              </a:rPr>
              <a:t>-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r>
              <a:rPr lang="en-US" altLang="en-US" sz="1800"/>
              <a:t> and </a:t>
            </a:r>
            <a:r>
              <a:rPr lang="en-US" altLang="en-US" sz="1800" b="1" i="1">
                <a:latin typeface="Times New Roman" panose="02020603050405020304" pitchFamily="18" charset="0"/>
              </a:rPr>
              <a:t>E</a:t>
            </a:r>
            <a:r>
              <a:rPr lang="en-US" altLang="en-US" sz="1800" baseline="30000">
                <a:latin typeface="Symbol" panose="05050102010706020507" pitchFamily="18" charset="2"/>
              </a:rPr>
              <a:t>+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r>
              <a:rPr lang="en-US" altLang="en-US" sz="1800"/>
              <a:t> are the incoming and outgoing edges of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/>
              <a:t>, resp.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800"/>
              <a:t> </a:t>
            </a:r>
            <a:endParaRPr lang="en-US" altLang="en-US" sz="800" b="1" i="1">
              <a:latin typeface="Times New Roman" panose="02020603050405020304" pitchFamily="18" charset="0"/>
            </a:endParaRPr>
          </a:p>
          <a:p>
            <a:r>
              <a:rPr lang="en-US" altLang="en-US" sz="2000"/>
              <a:t>The </a:t>
            </a:r>
            <a:r>
              <a:rPr lang="en-US" altLang="en-US" sz="2000" b="1"/>
              <a:t>value</a:t>
            </a:r>
            <a:r>
              <a:rPr lang="en-US" altLang="en-US" sz="2000"/>
              <a:t> of a flow </a:t>
            </a:r>
            <a:r>
              <a:rPr lang="en-US" altLang="en-US" sz="2000" b="1" i="1">
                <a:latin typeface="Times New Roman" panose="02020603050405020304" pitchFamily="18" charset="0"/>
              </a:rPr>
              <a:t>f </a:t>
            </a:r>
            <a:r>
              <a:rPr lang="en-US" altLang="en-US" sz="2000"/>
              <a:t>, denoted </a:t>
            </a:r>
            <a:r>
              <a:rPr lang="en-US" altLang="en-US" sz="2000">
                <a:latin typeface="Times New Roman" panose="02020603050405020304" pitchFamily="18" charset="0"/>
              </a:rPr>
              <a:t>|</a:t>
            </a:r>
            <a:r>
              <a:rPr lang="en-US" altLang="en-US" sz="2000" b="1" i="1">
                <a:latin typeface="Times New Roman" panose="02020603050405020304" pitchFamily="18" charset="0"/>
              </a:rPr>
              <a:t>f</a:t>
            </a:r>
            <a:r>
              <a:rPr lang="en-US" altLang="en-US" sz="2000">
                <a:latin typeface="Times New Roman" panose="02020603050405020304" pitchFamily="18" charset="0"/>
              </a:rPr>
              <a:t>|</a:t>
            </a:r>
            <a:r>
              <a:rPr lang="en-US" altLang="en-US" sz="2000"/>
              <a:t>, is the total flow from the source, which is the same as the total flow into the sink (</a:t>
            </a:r>
            <a:r>
              <a:rPr lang="en-US" altLang="en-US" sz="2000">
                <a:solidFill>
                  <a:srgbClr val="FF0000"/>
                </a:solidFill>
              </a:rPr>
              <a:t>Why? consider the conservation rule)</a:t>
            </a:r>
            <a:endParaRPr lang="en-US" altLang="en-US" sz="2000"/>
          </a:p>
          <a:p>
            <a:endParaRPr lang="en-US" altLang="en-US" sz="800"/>
          </a:p>
          <a:p>
            <a:r>
              <a:rPr lang="en-US" altLang="en-US" sz="2000"/>
              <a:t>Example:</a:t>
            </a:r>
          </a:p>
        </p:txBody>
      </p:sp>
      <p:graphicFrame>
        <p:nvGraphicFramePr>
          <p:cNvPr id="18435" name="Object 2">
            <a:extLst>
              <a:ext uri="{FF2B5EF4-FFF2-40B4-BE49-F238E27FC236}">
                <a16:creationId xmlns:a16="http://schemas.microsoft.com/office/drawing/2014/main" id="{B533DBCF-20AF-1D41-33EC-C61A98DD05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7489483"/>
              </p:ext>
            </p:extLst>
          </p:nvPr>
        </p:nvGraphicFramePr>
        <p:xfrm>
          <a:off x="7312154" y="1682369"/>
          <a:ext cx="2286000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0" imgH="0" progId="Equation.3">
                  <p:embed/>
                </p:oleObj>
              </mc:Choice>
              <mc:Fallback>
                <p:oleObj name="Equation" r:id="rId3" imgW="0" imgH="0" progId="Equation.3">
                  <p:embed/>
                  <p:pic>
                    <p:nvPicPr>
                      <p:cNvPr id="18435" name="Object 2">
                        <a:extLst>
                          <a:ext uri="{FF2B5EF4-FFF2-40B4-BE49-F238E27FC236}">
                            <a16:creationId xmlns:a16="http://schemas.microsoft.com/office/drawing/2014/main" id="{B533DBCF-20AF-1D41-33EC-C61A98DD05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2154" y="1682369"/>
                        <a:ext cx="2286000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436" name="Group 31">
            <a:extLst>
              <a:ext uri="{FF2B5EF4-FFF2-40B4-BE49-F238E27FC236}">
                <a16:creationId xmlns:a16="http://schemas.microsoft.com/office/drawing/2014/main" id="{B7A429AF-D0C6-3DB2-E633-5EB31F66F24C}"/>
              </a:ext>
            </a:extLst>
          </p:cNvPr>
          <p:cNvGrpSpPr>
            <a:grpSpLocks/>
          </p:cNvGrpSpPr>
          <p:nvPr/>
        </p:nvGrpSpPr>
        <p:grpSpPr bwMode="auto">
          <a:xfrm>
            <a:off x="5051426" y="4333876"/>
            <a:ext cx="3559175" cy="2143125"/>
            <a:chOff x="2819400" y="4267200"/>
            <a:chExt cx="3559175" cy="2143125"/>
          </a:xfrm>
        </p:grpSpPr>
        <p:sp>
          <p:nvSpPr>
            <p:cNvPr id="18437" name="Oval 1029">
              <a:extLst>
                <a:ext uri="{FF2B5EF4-FFF2-40B4-BE49-F238E27FC236}">
                  <a16:creationId xmlns:a16="http://schemas.microsoft.com/office/drawing/2014/main" id="{9FA1233F-58A6-2C3C-0077-CE7023018F2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668838" y="5226050"/>
              <a:ext cx="366712" cy="366713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latin typeface="Times New Roman" panose="02020603050405020304" pitchFamily="18" charset="0"/>
                </a:rPr>
                <a:t>w</a:t>
              </a:r>
            </a:p>
          </p:txBody>
        </p:sp>
        <p:sp>
          <p:nvSpPr>
            <p:cNvPr id="18438" name="Oval 1030">
              <a:extLst>
                <a:ext uri="{FF2B5EF4-FFF2-40B4-BE49-F238E27FC236}">
                  <a16:creationId xmlns:a16="http://schemas.microsoft.com/office/drawing/2014/main" id="{3D534EB8-98E4-B475-1639-4BF7410A34F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19400" y="5000625"/>
              <a:ext cx="366713" cy="366713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18439" name="Oval 1031">
              <a:extLst>
                <a:ext uri="{FF2B5EF4-FFF2-40B4-BE49-F238E27FC236}">
                  <a16:creationId xmlns:a16="http://schemas.microsoft.com/office/drawing/2014/main" id="{4EDDD322-ADBE-5BD0-0EDE-44FF564CBFD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22713" y="4267200"/>
              <a:ext cx="366712" cy="366713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latin typeface="Times New Roman" panose="02020603050405020304" pitchFamily="18" charset="0"/>
                </a:rPr>
                <a:t>v</a:t>
              </a:r>
            </a:p>
          </p:txBody>
        </p:sp>
        <p:sp>
          <p:nvSpPr>
            <p:cNvPr id="18440" name="Oval 1032">
              <a:extLst>
                <a:ext uri="{FF2B5EF4-FFF2-40B4-BE49-F238E27FC236}">
                  <a16:creationId xmlns:a16="http://schemas.microsoft.com/office/drawing/2014/main" id="{263D9E41-3CD4-F040-962F-58EE96AA0BC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746500" y="5919788"/>
              <a:ext cx="366713" cy="36671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latin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18441" name="Oval 1033">
              <a:extLst>
                <a:ext uri="{FF2B5EF4-FFF2-40B4-BE49-F238E27FC236}">
                  <a16:creationId xmlns:a16="http://schemas.microsoft.com/office/drawing/2014/main" id="{2850CF70-0FC9-87AA-D08D-37A82405726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011863" y="4797425"/>
              <a:ext cx="366712" cy="366713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18442" name="Oval 1034">
              <a:extLst>
                <a:ext uri="{FF2B5EF4-FFF2-40B4-BE49-F238E27FC236}">
                  <a16:creationId xmlns:a16="http://schemas.microsoft.com/office/drawing/2014/main" id="{425A5D51-F8B1-2282-8145-D12ADA9C18A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564188" y="5908675"/>
              <a:ext cx="366712" cy="366713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latin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18443" name="Text Box 1035">
              <a:extLst>
                <a:ext uri="{FF2B5EF4-FFF2-40B4-BE49-F238E27FC236}">
                  <a16:creationId xmlns:a16="http://schemas.microsoft.com/office/drawing/2014/main" id="{43084A3D-7BB3-13C9-0032-AAD6245270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6025" y="4978400"/>
              <a:ext cx="4762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3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  <a:sym typeface="Symbol" panose="05050102010706020507" pitchFamily="18" charset="2"/>
                </a:rPr>
                <a:t>3</a:t>
              </a:r>
            </a:p>
          </p:txBody>
        </p:sp>
        <p:sp>
          <p:nvSpPr>
            <p:cNvPr id="18444" name="Text Box 1036">
              <a:extLst>
                <a:ext uri="{FF2B5EF4-FFF2-40B4-BE49-F238E27FC236}">
                  <a16:creationId xmlns:a16="http://schemas.microsoft.com/office/drawing/2014/main" id="{CE07BD4C-B79C-147F-F47F-3256F0E849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03825" y="5411788"/>
              <a:ext cx="4762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  <a:sym typeface="Symbol" panose="05050102010706020507" pitchFamily="18" charset="2"/>
                </a:rPr>
                <a:t>9</a:t>
              </a:r>
            </a:p>
          </p:txBody>
        </p:sp>
        <p:sp>
          <p:nvSpPr>
            <p:cNvPr id="18445" name="Text Box 1037">
              <a:extLst>
                <a:ext uri="{FF2B5EF4-FFF2-40B4-BE49-F238E27FC236}">
                  <a16:creationId xmlns:a16="http://schemas.microsoft.com/office/drawing/2014/main" id="{31731ABE-7E3B-14A2-9933-C98467406E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70400" y="4702175"/>
              <a:ext cx="4762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8446" name="Text Box 1038">
              <a:extLst>
                <a:ext uri="{FF2B5EF4-FFF2-40B4-BE49-F238E27FC236}">
                  <a16:creationId xmlns:a16="http://schemas.microsoft.com/office/drawing/2014/main" id="{79E9E472-528C-6737-9F0C-63F4E9344D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6650" y="4283075"/>
              <a:ext cx="4762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8447" name="Text Box 1039">
              <a:extLst>
                <a:ext uri="{FF2B5EF4-FFF2-40B4-BE49-F238E27FC236}">
                  <a16:creationId xmlns:a16="http://schemas.microsoft.com/office/drawing/2014/main" id="{629D12D7-2163-7CC8-FAB7-E425E4B8F2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5875" y="4832350"/>
              <a:ext cx="4762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3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18448" name="Text Box 1040">
              <a:extLst>
                <a:ext uri="{FF2B5EF4-FFF2-40B4-BE49-F238E27FC236}">
                  <a16:creationId xmlns:a16="http://schemas.microsoft.com/office/drawing/2014/main" id="{04FBA380-BF71-1B95-13A2-26C0049096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4050" y="4495800"/>
              <a:ext cx="4762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8449" name="Text Box 1041">
              <a:extLst>
                <a:ext uri="{FF2B5EF4-FFF2-40B4-BE49-F238E27FC236}">
                  <a16:creationId xmlns:a16="http://schemas.microsoft.com/office/drawing/2014/main" id="{FC1FD818-4E19-1181-ACD5-B7161C9697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89625" y="5411788"/>
              <a:ext cx="4762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4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18450" name="Text Box 1042">
              <a:extLst>
                <a:ext uri="{FF2B5EF4-FFF2-40B4-BE49-F238E27FC236}">
                  <a16:creationId xmlns:a16="http://schemas.microsoft.com/office/drawing/2014/main" id="{5481DE00-BA40-2E1B-C13B-7494929492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9700" y="5486400"/>
              <a:ext cx="4762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8451" name="Text Box 1043">
              <a:extLst>
                <a:ext uri="{FF2B5EF4-FFF2-40B4-BE49-F238E27FC236}">
                  <a16:creationId xmlns:a16="http://schemas.microsoft.com/office/drawing/2014/main" id="{15D5BAF9-8560-F015-A4A5-28678C5FF8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1650" y="5595938"/>
              <a:ext cx="4762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3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18452" name="Text Box 1044">
              <a:extLst>
                <a:ext uri="{FF2B5EF4-FFF2-40B4-BE49-F238E27FC236}">
                  <a16:creationId xmlns:a16="http://schemas.microsoft.com/office/drawing/2014/main" id="{9752E525-690E-3A2E-4B67-11343FAFAB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1200" y="6043613"/>
              <a:ext cx="4762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</a:rPr>
                <a:t>2</a:t>
              </a:r>
            </a:p>
          </p:txBody>
        </p:sp>
        <p:cxnSp>
          <p:nvCxnSpPr>
            <p:cNvPr id="18453" name="AutoShape 1045">
              <a:extLst>
                <a:ext uri="{FF2B5EF4-FFF2-40B4-BE49-F238E27FC236}">
                  <a16:creationId xmlns:a16="http://schemas.microsoft.com/office/drawing/2014/main" id="{C52F2A4C-C60F-43D6-5C36-122E0F4A30F5}"/>
                </a:ext>
              </a:extLst>
            </p:cNvPr>
            <p:cNvCxnSpPr>
              <a:cxnSpLocks noChangeShapeType="1"/>
              <a:stCxn id="18438" idx="7"/>
              <a:endCxn id="18439" idx="3"/>
            </p:cNvCxnSpPr>
            <p:nvPr/>
          </p:nvCxnSpPr>
          <p:spPr bwMode="auto">
            <a:xfrm flipV="1">
              <a:off x="3132138" y="4589463"/>
              <a:ext cx="842962" cy="4445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54" name="AutoShape 1046">
              <a:extLst>
                <a:ext uri="{FF2B5EF4-FFF2-40B4-BE49-F238E27FC236}">
                  <a16:creationId xmlns:a16="http://schemas.microsoft.com/office/drawing/2014/main" id="{365AA737-53EB-F8C4-D503-9620DC48FE66}"/>
                </a:ext>
              </a:extLst>
            </p:cNvPr>
            <p:cNvCxnSpPr>
              <a:cxnSpLocks noChangeShapeType="1"/>
              <a:stCxn id="18438" idx="5"/>
              <a:endCxn id="18440" idx="1"/>
            </p:cNvCxnSpPr>
            <p:nvPr/>
          </p:nvCxnSpPr>
          <p:spPr bwMode="auto">
            <a:xfrm>
              <a:off x="3132138" y="5332413"/>
              <a:ext cx="666750" cy="63023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55" name="AutoShape 1047">
              <a:extLst>
                <a:ext uri="{FF2B5EF4-FFF2-40B4-BE49-F238E27FC236}">
                  <a16:creationId xmlns:a16="http://schemas.microsoft.com/office/drawing/2014/main" id="{88429A7C-B85C-3C8A-A7D7-739A47C5AE34}"/>
                </a:ext>
              </a:extLst>
            </p:cNvPr>
            <p:cNvCxnSpPr>
              <a:cxnSpLocks noChangeShapeType="1"/>
              <a:stCxn id="18439" idx="5"/>
              <a:endCxn id="18437" idx="1"/>
            </p:cNvCxnSpPr>
            <p:nvPr/>
          </p:nvCxnSpPr>
          <p:spPr bwMode="auto">
            <a:xfrm>
              <a:off x="4235450" y="4589463"/>
              <a:ext cx="485775" cy="67945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56" name="AutoShape 1048">
              <a:extLst>
                <a:ext uri="{FF2B5EF4-FFF2-40B4-BE49-F238E27FC236}">
                  <a16:creationId xmlns:a16="http://schemas.microsoft.com/office/drawing/2014/main" id="{9E8F6A0C-9ABF-0F86-008D-CA5630FD33D1}"/>
                </a:ext>
              </a:extLst>
            </p:cNvPr>
            <p:cNvCxnSpPr>
              <a:cxnSpLocks noChangeShapeType="1"/>
              <a:stCxn id="18439" idx="6"/>
              <a:endCxn id="18441" idx="1"/>
            </p:cNvCxnSpPr>
            <p:nvPr/>
          </p:nvCxnSpPr>
          <p:spPr bwMode="auto">
            <a:xfrm>
              <a:off x="4297363" y="4449763"/>
              <a:ext cx="1766887" cy="3810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57" name="AutoShape 1049">
              <a:extLst>
                <a:ext uri="{FF2B5EF4-FFF2-40B4-BE49-F238E27FC236}">
                  <a16:creationId xmlns:a16="http://schemas.microsoft.com/office/drawing/2014/main" id="{42F89B05-8238-87B1-6BBC-70ABF7DD45BB}"/>
                </a:ext>
              </a:extLst>
            </p:cNvPr>
            <p:cNvCxnSpPr>
              <a:cxnSpLocks noChangeShapeType="1"/>
              <a:stCxn id="18437" idx="7"/>
              <a:endCxn id="18441" idx="2"/>
            </p:cNvCxnSpPr>
            <p:nvPr/>
          </p:nvCxnSpPr>
          <p:spPr bwMode="auto">
            <a:xfrm flipV="1">
              <a:off x="4981575" y="4979988"/>
              <a:ext cx="1009650" cy="28892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58" name="AutoShape 1050">
              <a:extLst>
                <a:ext uri="{FF2B5EF4-FFF2-40B4-BE49-F238E27FC236}">
                  <a16:creationId xmlns:a16="http://schemas.microsoft.com/office/drawing/2014/main" id="{98D64634-F4AF-F163-CB92-DE5B879E8979}"/>
                </a:ext>
              </a:extLst>
            </p:cNvPr>
            <p:cNvCxnSpPr>
              <a:cxnSpLocks noChangeShapeType="1"/>
              <a:stCxn id="18437" idx="5"/>
              <a:endCxn id="18442" idx="1"/>
            </p:cNvCxnSpPr>
            <p:nvPr/>
          </p:nvCxnSpPr>
          <p:spPr bwMode="auto">
            <a:xfrm>
              <a:off x="4981575" y="5548313"/>
              <a:ext cx="635000" cy="40322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59" name="AutoShape 1051">
              <a:extLst>
                <a:ext uri="{FF2B5EF4-FFF2-40B4-BE49-F238E27FC236}">
                  <a16:creationId xmlns:a16="http://schemas.microsoft.com/office/drawing/2014/main" id="{45C60AF1-CC10-6CDF-960D-A23FDD4352A5}"/>
                </a:ext>
              </a:extLst>
            </p:cNvPr>
            <p:cNvCxnSpPr>
              <a:cxnSpLocks noChangeShapeType="1"/>
              <a:stCxn id="18442" idx="0"/>
              <a:endCxn id="18441" idx="3"/>
            </p:cNvCxnSpPr>
            <p:nvPr/>
          </p:nvCxnSpPr>
          <p:spPr bwMode="auto">
            <a:xfrm flipV="1">
              <a:off x="5746750" y="5129213"/>
              <a:ext cx="317500" cy="76835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60" name="AutoShape 1052">
              <a:extLst>
                <a:ext uri="{FF2B5EF4-FFF2-40B4-BE49-F238E27FC236}">
                  <a16:creationId xmlns:a16="http://schemas.microsoft.com/office/drawing/2014/main" id="{16ED3D53-CDF0-E39B-B736-D2F77EDFF82D}"/>
                </a:ext>
              </a:extLst>
            </p:cNvPr>
            <p:cNvCxnSpPr>
              <a:cxnSpLocks noChangeShapeType="1"/>
              <a:stCxn id="18440" idx="6"/>
              <a:endCxn id="18442" idx="2"/>
            </p:cNvCxnSpPr>
            <p:nvPr/>
          </p:nvCxnSpPr>
          <p:spPr bwMode="auto">
            <a:xfrm flipV="1">
              <a:off x="4121150" y="6091238"/>
              <a:ext cx="1431925" cy="1111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61" name="AutoShape 1053">
              <a:extLst>
                <a:ext uri="{FF2B5EF4-FFF2-40B4-BE49-F238E27FC236}">
                  <a16:creationId xmlns:a16="http://schemas.microsoft.com/office/drawing/2014/main" id="{AD4F9BC3-32B1-83D3-DD23-528C8B4EA412}"/>
                </a:ext>
              </a:extLst>
            </p:cNvPr>
            <p:cNvCxnSpPr>
              <a:cxnSpLocks noChangeShapeType="1"/>
              <a:stCxn id="18440" idx="7"/>
              <a:endCxn id="18437" idx="3"/>
            </p:cNvCxnSpPr>
            <p:nvPr/>
          </p:nvCxnSpPr>
          <p:spPr bwMode="auto">
            <a:xfrm flipV="1">
              <a:off x="4059238" y="5548313"/>
              <a:ext cx="661987" cy="41433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62" name="AutoShape 1054">
              <a:extLst>
                <a:ext uri="{FF2B5EF4-FFF2-40B4-BE49-F238E27FC236}">
                  <a16:creationId xmlns:a16="http://schemas.microsoft.com/office/drawing/2014/main" id="{52B2FFB1-8B30-B778-61D2-B8AD78BB2BC7}"/>
                </a:ext>
              </a:extLst>
            </p:cNvPr>
            <p:cNvCxnSpPr>
              <a:cxnSpLocks noChangeShapeType="1"/>
              <a:stCxn id="18438" idx="6"/>
              <a:endCxn id="18437" idx="2"/>
            </p:cNvCxnSpPr>
            <p:nvPr/>
          </p:nvCxnSpPr>
          <p:spPr bwMode="auto">
            <a:xfrm>
              <a:off x="3203575" y="5183188"/>
              <a:ext cx="1454150" cy="22542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D14B0E8F-C4AE-34FF-B647-09A4149909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Maximum Flow</a:t>
            </a:r>
          </a:p>
        </p:txBody>
      </p:sp>
      <p:sp>
        <p:nvSpPr>
          <p:cNvPr id="20482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040A7E5-C43A-8A20-CA94-C5385A7142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1219200"/>
            <a:ext cx="3886200" cy="5181600"/>
          </a:xfrm>
        </p:spPr>
        <p:txBody>
          <a:bodyPr>
            <a:normAutofit lnSpcReduction="10000"/>
          </a:bodyPr>
          <a:lstStyle/>
          <a:p>
            <a:r>
              <a:rPr lang="en-US" altLang="en-US" sz="2000"/>
              <a:t>A flow for a network </a:t>
            </a:r>
            <a:r>
              <a:rPr lang="en-US" altLang="en-US" sz="2000" b="1" i="1">
                <a:latin typeface="Times New Roman" panose="02020603050405020304" pitchFamily="18" charset="0"/>
              </a:rPr>
              <a:t>N </a:t>
            </a:r>
            <a:r>
              <a:rPr lang="en-US" altLang="en-US" sz="2000"/>
              <a:t>is said to be </a:t>
            </a:r>
            <a:r>
              <a:rPr lang="en-US" altLang="en-US" sz="2000" b="1"/>
              <a:t>maximum</a:t>
            </a:r>
            <a:r>
              <a:rPr lang="en-US" altLang="en-US" sz="2000"/>
              <a:t> if its value is the largest of all flows for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</a:p>
          <a:p>
            <a:endParaRPr lang="en-US" altLang="en-US" sz="2000"/>
          </a:p>
          <a:p>
            <a:r>
              <a:rPr lang="en-US" altLang="en-US" sz="2000"/>
              <a:t>The maximum flow problem consists of finding a maximum flow for a given network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</a:p>
          <a:p>
            <a:endParaRPr lang="en-US" altLang="en-US" sz="2000" b="1" i="1">
              <a:latin typeface="Times New Roman" panose="02020603050405020304" pitchFamily="18" charset="0"/>
            </a:endParaRPr>
          </a:p>
          <a:p>
            <a:r>
              <a:rPr lang="en-US" altLang="en-US" sz="2000"/>
              <a:t>Applications</a:t>
            </a:r>
          </a:p>
          <a:p>
            <a:pPr lvl="1"/>
            <a:r>
              <a:rPr lang="en-US" altLang="en-US" sz="1800"/>
              <a:t>Hydraulic systems</a:t>
            </a:r>
          </a:p>
          <a:p>
            <a:pPr lvl="1"/>
            <a:r>
              <a:rPr lang="en-US" altLang="en-US" sz="1800"/>
              <a:t>Electrical circuits</a:t>
            </a:r>
          </a:p>
          <a:p>
            <a:pPr lvl="1"/>
            <a:r>
              <a:rPr lang="en-US" altLang="en-US" sz="1800"/>
              <a:t>Traffic movements</a:t>
            </a:r>
          </a:p>
          <a:p>
            <a:pPr lvl="1"/>
            <a:r>
              <a:rPr lang="en-US" altLang="en-US" sz="1800"/>
              <a:t>Freight transportation</a:t>
            </a:r>
          </a:p>
        </p:txBody>
      </p:sp>
      <p:grpSp>
        <p:nvGrpSpPr>
          <p:cNvPr id="20483" name="Group 58">
            <a:extLst>
              <a:ext uri="{FF2B5EF4-FFF2-40B4-BE49-F238E27FC236}">
                <a16:creationId xmlns:a16="http://schemas.microsoft.com/office/drawing/2014/main" id="{CDCC0281-DF2A-7052-5698-D8D877D9482A}"/>
              </a:ext>
            </a:extLst>
          </p:cNvPr>
          <p:cNvGrpSpPr>
            <a:grpSpLocks/>
          </p:cNvGrpSpPr>
          <p:nvPr/>
        </p:nvGrpSpPr>
        <p:grpSpPr bwMode="auto">
          <a:xfrm>
            <a:off x="6499226" y="1219201"/>
            <a:ext cx="3559175" cy="2143125"/>
            <a:chOff x="4975225" y="1219200"/>
            <a:chExt cx="3559175" cy="2143125"/>
          </a:xfrm>
        </p:grpSpPr>
        <p:sp>
          <p:nvSpPr>
            <p:cNvPr id="20513" name="Oval 4">
              <a:extLst>
                <a:ext uri="{FF2B5EF4-FFF2-40B4-BE49-F238E27FC236}">
                  <a16:creationId xmlns:a16="http://schemas.microsoft.com/office/drawing/2014/main" id="{4F9A5C15-8523-FF02-6012-9D2558B55D2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824663" y="2178050"/>
              <a:ext cx="366712" cy="366713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latin typeface="Times New Roman" panose="02020603050405020304" pitchFamily="18" charset="0"/>
                </a:rPr>
                <a:t>w</a:t>
              </a:r>
            </a:p>
          </p:txBody>
        </p:sp>
        <p:sp>
          <p:nvSpPr>
            <p:cNvPr id="20514" name="Oval 5">
              <a:extLst>
                <a:ext uri="{FF2B5EF4-FFF2-40B4-BE49-F238E27FC236}">
                  <a16:creationId xmlns:a16="http://schemas.microsoft.com/office/drawing/2014/main" id="{27849253-8CD1-F09A-1876-CDCD47BEDC3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975225" y="1952625"/>
              <a:ext cx="366713" cy="366713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20515" name="Oval 6">
              <a:extLst>
                <a:ext uri="{FF2B5EF4-FFF2-40B4-BE49-F238E27FC236}">
                  <a16:creationId xmlns:a16="http://schemas.microsoft.com/office/drawing/2014/main" id="{90FA7FC0-2EA5-576E-1AD7-BBBD853BA08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078538" y="1219200"/>
              <a:ext cx="366712" cy="366713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latin typeface="Times New Roman" panose="02020603050405020304" pitchFamily="18" charset="0"/>
                </a:rPr>
                <a:t>v</a:t>
              </a:r>
            </a:p>
          </p:txBody>
        </p:sp>
        <p:sp>
          <p:nvSpPr>
            <p:cNvPr id="20516" name="Oval 7">
              <a:extLst>
                <a:ext uri="{FF2B5EF4-FFF2-40B4-BE49-F238E27FC236}">
                  <a16:creationId xmlns:a16="http://schemas.microsoft.com/office/drawing/2014/main" id="{B4F16266-0502-3E01-5C19-FD660D7CF81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902325" y="2871788"/>
              <a:ext cx="366713" cy="36671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latin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20517" name="Oval 8">
              <a:extLst>
                <a:ext uri="{FF2B5EF4-FFF2-40B4-BE49-F238E27FC236}">
                  <a16:creationId xmlns:a16="http://schemas.microsoft.com/office/drawing/2014/main" id="{C3E6D9E0-9C44-36FC-F8F6-347CCAE094B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167688" y="1749425"/>
              <a:ext cx="366712" cy="366713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20518" name="Oval 9">
              <a:extLst>
                <a:ext uri="{FF2B5EF4-FFF2-40B4-BE49-F238E27FC236}">
                  <a16:creationId xmlns:a16="http://schemas.microsoft.com/office/drawing/2014/main" id="{F2F686DF-6EB3-87CF-5292-BAF0E4D7ED9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720013" y="2860675"/>
              <a:ext cx="366712" cy="366713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latin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20519" name="Text Box 10">
              <a:extLst>
                <a:ext uri="{FF2B5EF4-FFF2-40B4-BE49-F238E27FC236}">
                  <a16:creationId xmlns:a16="http://schemas.microsoft.com/office/drawing/2014/main" id="{EBF9A283-9E48-560E-8A28-1D266A3F41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11850" y="1930400"/>
              <a:ext cx="4762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3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  <a:sym typeface="Symbol" panose="05050102010706020507" pitchFamily="18" charset="2"/>
                </a:rPr>
                <a:t>3</a:t>
              </a:r>
            </a:p>
          </p:txBody>
        </p:sp>
        <p:sp>
          <p:nvSpPr>
            <p:cNvPr id="20520" name="Text Box 11">
              <a:extLst>
                <a:ext uri="{FF2B5EF4-FFF2-40B4-BE49-F238E27FC236}">
                  <a16:creationId xmlns:a16="http://schemas.microsoft.com/office/drawing/2014/main" id="{AFB82DAA-360A-37DB-2EF2-C642E3473D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59650" y="2363788"/>
              <a:ext cx="4762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  <a:sym typeface="Symbol" panose="05050102010706020507" pitchFamily="18" charset="2"/>
                </a:rPr>
                <a:t>9</a:t>
              </a:r>
            </a:p>
          </p:txBody>
        </p:sp>
        <p:sp>
          <p:nvSpPr>
            <p:cNvPr id="20521" name="Text Box 12">
              <a:extLst>
                <a:ext uri="{FF2B5EF4-FFF2-40B4-BE49-F238E27FC236}">
                  <a16:creationId xmlns:a16="http://schemas.microsoft.com/office/drawing/2014/main" id="{09C73C11-7B63-2139-4544-0B17A3C404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26225" y="1654175"/>
              <a:ext cx="4762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0522" name="Text Box 13">
              <a:extLst>
                <a:ext uri="{FF2B5EF4-FFF2-40B4-BE49-F238E27FC236}">
                  <a16:creationId xmlns:a16="http://schemas.microsoft.com/office/drawing/2014/main" id="{DB33D789-D2DF-3224-EAD7-CD15A7B954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02475" y="1235075"/>
              <a:ext cx="4762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0523" name="Text Box 14">
              <a:extLst>
                <a:ext uri="{FF2B5EF4-FFF2-40B4-BE49-F238E27FC236}">
                  <a16:creationId xmlns:a16="http://schemas.microsoft.com/office/drawing/2014/main" id="{FC8A4880-8ECF-1B78-D1E9-C2E18F0FCB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51700" y="1784350"/>
              <a:ext cx="4762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3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20524" name="Text Box 15">
              <a:extLst>
                <a:ext uri="{FF2B5EF4-FFF2-40B4-BE49-F238E27FC236}">
                  <a16:creationId xmlns:a16="http://schemas.microsoft.com/office/drawing/2014/main" id="{4CF29F2A-A9D9-F792-2299-B4487737DE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49875" y="1447800"/>
              <a:ext cx="4762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20525" name="Text Box 16">
              <a:extLst>
                <a:ext uri="{FF2B5EF4-FFF2-40B4-BE49-F238E27FC236}">
                  <a16:creationId xmlns:a16="http://schemas.microsoft.com/office/drawing/2014/main" id="{E13AB02F-983B-B2D4-C1FA-070714C1EE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45450" y="2363788"/>
              <a:ext cx="4762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4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20526" name="Text Box 17">
              <a:extLst>
                <a:ext uri="{FF2B5EF4-FFF2-40B4-BE49-F238E27FC236}">
                  <a16:creationId xmlns:a16="http://schemas.microsoft.com/office/drawing/2014/main" id="{3A2EC0BA-0AAB-6430-F8D9-3B0DB1137E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05525" y="2438400"/>
              <a:ext cx="4762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0527" name="Text Box 18">
              <a:extLst>
                <a:ext uri="{FF2B5EF4-FFF2-40B4-BE49-F238E27FC236}">
                  <a16:creationId xmlns:a16="http://schemas.microsoft.com/office/drawing/2014/main" id="{81F155CE-B88F-DBB3-8654-26775D78DA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7475" y="2547938"/>
              <a:ext cx="4762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3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20528" name="Text Box 19">
              <a:extLst>
                <a:ext uri="{FF2B5EF4-FFF2-40B4-BE49-F238E27FC236}">
                  <a16:creationId xmlns:a16="http://schemas.microsoft.com/office/drawing/2014/main" id="{0034D26E-175D-5B23-C784-AFC7E70261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77025" y="2995613"/>
              <a:ext cx="4762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</a:rPr>
                <a:t>2</a:t>
              </a:r>
            </a:p>
          </p:txBody>
        </p:sp>
        <p:cxnSp>
          <p:nvCxnSpPr>
            <p:cNvPr id="20529" name="AutoShape 20">
              <a:extLst>
                <a:ext uri="{FF2B5EF4-FFF2-40B4-BE49-F238E27FC236}">
                  <a16:creationId xmlns:a16="http://schemas.microsoft.com/office/drawing/2014/main" id="{B2627771-0EF1-323A-7B22-3B8A6B4AA612}"/>
                </a:ext>
              </a:extLst>
            </p:cNvPr>
            <p:cNvCxnSpPr>
              <a:cxnSpLocks noChangeShapeType="1"/>
              <a:stCxn id="20514" idx="7"/>
              <a:endCxn id="20515" idx="3"/>
            </p:cNvCxnSpPr>
            <p:nvPr/>
          </p:nvCxnSpPr>
          <p:spPr bwMode="auto">
            <a:xfrm flipV="1">
              <a:off x="5287963" y="1541463"/>
              <a:ext cx="842962" cy="4445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30" name="AutoShape 21">
              <a:extLst>
                <a:ext uri="{FF2B5EF4-FFF2-40B4-BE49-F238E27FC236}">
                  <a16:creationId xmlns:a16="http://schemas.microsoft.com/office/drawing/2014/main" id="{C81EF72A-CE3A-3157-D5D5-05B8746FCC7D}"/>
                </a:ext>
              </a:extLst>
            </p:cNvPr>
            <p:cNvCxnSpPr>
              <a:cxnSpLocks noChangeShapeType="1"/>
              <a:stCxn id="20514" idx="5"/>
              <a:endCxn id="20516" idx="1"/>
            </p:cNvCxnSpPr>
            <p:nvPr/>
          </p:nvCxnSpPr>
          <p:spPr bwMode="auto">
            <a:xfrm>
              <a:off x="5287963" y="2284413"/>
              <a:ext cx="666750" cy="63023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31" name="AutoShape 22">
              <a:extLst>
                <a:ext uri="{FF2B5EF4-FFF2-40B4-BE49-F238E27FC236}">
                  <a16:creationId xmlns:a16="http://schemas.microsoft.com/office/drawing/2014/main" id="{BD60E520-468C-9AE8-5FAC-A0D092E42627}"/>
                </a:ext>
              </a:extLst>
            </p:cNvPr>
            <p:cNvCxnSpPr>
              <a:cxnSpLocks noChangeShapeType="1"/>
              <a:stCxn id="20515" idx="5"/>
              <a:endCxn id="20513" idx="1"/>
            </p:cNvCxnSpPr>
            <p:nvPr/>
          </p:nvCxnSpPr>
          <p:spPr bwMode="auto">
            <a:xfrm>
              <a:off x="6391275" y="1541463"/>
              <a:ext cx="485775" cy="67945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32" name="AutoShape 23">
              <a:extLst>
                <a:ext uri="{FF2B5EF4-FFF2-40B4-BE49-F238E27FC236}">
                  <a16:creationId xmlns:a16="http://schemas.microsoft.com/office/drawing/2014/main" id="{E4463753-E595-8FB4-64F3-112EC7E5A791}"/>
                </a:ext>
              </a:extLst>
            </p:cNvPr>
            <p:cNvCxnSpPr>
              <a:cxnSpLocks noChangeShapeType="1"/>
              <a:stCxn id="20515" idx="6"/>
              <a:endCxn id="20517" idx="1"/>
            </p:cNvCxnSpPr>
            <p:nvPr/>
          </p:nvCxnSpPr>
          <p:spPr bwMode="auto">
            <a:xfrm>
              <a:off x="6453188" y="1401763"/>
              <a:ext cx="1766887" cy="3810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33" name="AutoShape 24">
              <a:extLst>
                <a:ext uri="{FF2B5EF4-FFF2-40B4-BE49-F238E27FC236}">
                  <a16:creationId xmlns:a16="http://schemas.microsoft.com/office/drawing/2014/main" id="{BFF31B47-4136-B853-D9C4-7ABA25B5FF9F}"/>
                </a:ext>
              </a:extLst>
            </p:cNvPr>
            <p:cNvCxnSpPr>
              <a:cxnSpLocks noChangeShapeType="1"/>
              <a:stCxn id="20513" idx="7"/>
              <a:endCxn id="20517" idx="2"/>
            </p:cNvCxnSpPr>
            <p:nvPr/>
          </p:nvCxnSpPr>
          <p:spPr bwMode="auto">
            <a:xfrm flipV="1">
              <a:off x="7137400" y="1931988"/>
              <a:ext cx="1009650" cy="28892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34" name="AutoShape 25">
              <a:extLst>
                <a:ext uri="{FF2B5EF4-FFF2-40B4-BE49-F238E27FC236}">
                  <a16:creationId xmlns:a16="http://schemas.microsoft.com/office/drawing/2014/main" id="{165662D8-E819-6E16-830B-5B68B3AC8D55}"/>
                </a:ext>
              </a:extLst>
            </p:cNvPr>
            <p:cNvCxnSpPr>
              <a:cxnSpLocks noChangeShapeType="1"/>
              <a:stCxn id="20513" idx="5"/>
              <a:endCxn id="20518" idx="1"/>
            </p:cNvCxnSpPr>
            <p:nvPr/>
          </p:nvCxnSpPr>
          <p:spPr bwMode="auto">
            <a:xfrm>
              <a:off x="7137400" y="2500313"/>
              <a:ext cx="635000" cy="40322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35" name="AutoShape 26">
              <a:extLst>
                <a:ext uri="{FF2B5EF4-FFF2-40B4-BE49-F238E27FC236}">
                  <a16:creationId xmlns:a16="http://schemas.microsoft.com/office/drawing/2014/main" id="{428AB231-5A70-BF0E-3453-A6D5ABED5CB2}"/>
                </a:ext>
              </a:extLst>
            </p:cNvPr>
            <p:cNvCxnSpPr>
              <a:cxnSpLocks noChangeShapeType="1"/>
              <a:stCxn id="20518" idx="0"/>
              <a:endCxn id="20517" idx="3"/>
            </p:cNvCxnSpPr>
            <p:nvPr/>
          </p:nvCxnSpPr>
          <p:spPr bwMode="auto">
            <a:xfrm flipV="1">
              <a:off x="7902575" y="2081213"/>
              <a:ext cx="317500" cy="76835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36" name="AutoShape 27">
              <a:extLst>
                <a:ext uri="{FF2B5EF4-FFF2-40B4-BE49-F238E27FC236}">
                  <a16:creationId xmlns:a16="http://schemas.microsoft.com/office/drawing/2014/main" id="{EF721C24-042C-AD84-7EA9-49895B39DF60}"/>
                </a:ext>
              </a:extLst>
            </p:cNvPr>
            <p:cNvCxnSpPr>
              <a:cxnSpLocks noChangeShapeType="1"/>
              <a:stCxn id="20516" idx="6"/>
              <a:endCxn id="20518" idx="2"/>
            </p:cNvCxnSpPr>
            <p:nvPr/>
          </p:nvCxnSpPr>
          <p:spPr bwMode="auto">
            <a:xfrm flipV="1">
              <a:off x="6276975" y="3043238"/>
              <a:ext cx="1431925" cy="1111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37" name="AutoShape 28">
              <a:extLst>
                <a:ext uri="{FF2B5EF4-FFF2-40B4-BE49-F238E27FC236}">
                  <a16:creationId xmlns:a16="http://schemas.microsoft.com/office/drawing/2014/main" id="{675A1C4C-50A0-A89C-3D9C-0C240E58C428}"/>
                </a:ext>
              </a:extLst>
            </p:cNvPr>
            <p:cNvCxnSpPr>
              <a:cxnSpLocks noChangeShapeType="1"/>
              <a:stCxn id="20516" idx="7"/>
              <a:endCxn id="20513" idx="3"/>
            </p:cNvCxnSpPr>
            <p:nvPr/>
          </p:nvCxnSpPr>
          <p:spPr bwMode="auto">
            <a:xfrm flipV="1">
              <a:off x="6215063" y="2500313"/>
              <a:ext cx="661987" cy="41433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38" name="AutoShape 29">
              <a:extLst>
                <a:ext uri="{FF2B5EF4-FFF2-40B4-BE49-F238E27FC236}">
                  <a16:creationId xmlns:a16="http://schemas.microsoft.com/office/drawing/2014/main" id="{E484B43B-20E4-FC45-A9D6-1FAB24381872}"/>
                </a:ext>
              </a:extLst>
            </p:cNvPr>
            <p:cNvCxnSpPr>
              <a:cxnSpLocks noChangeShapeType="1"/>
              <a:stCxn id="20514" idx="6"/>
              <a:endCxn id="20513" idx="2"/>
            </p:cNvCxnSpPr>
            <p:nvPr/>
          </p:nvCxnSpPr>
          <p:spPr bwMode="auto">
            <a:xfrm>
              <a:off x="5359400" y="2135188"/>
              <a:ext cx="1454150" cy="22542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0484" name="Group 59">
            <a:extLst>
              <a:ext uri="{FF2B5EF4-FFF2-40B4-BE49-F238E27FC236}">
                <a16:creationId xmlns:a16="http://schemas.microsoft.com/office/drawing/2014/main" id="{47CC211C-D3EB-4702-F353-53B1B9CCF045}"/>
              </a:ext>
            </a:extLst>
          </p:cNvPr>
          <p:cNvGrpSpPr>
            <a:grpSpLocks/>
          </p:cNvGrpSpPr>
          <p:nvPr/>
        </p:nvGrpSpPr>
        <p:grpSpPr bwMode="auto">
          <a:xfrm>
            <a:off x="6499226" y="4029076"/>
            <a:ext cx="3559175" cy="2143125"/>
            <a:chOff x="4975225" y="3959225"/>
            <a:chExt cx="3559175" cy="2143125"/>
          </a:xfrm>
        </p:grpSpPr>
        <p:sp>
          <p:nvSpPr>
            <p:cNvPr id="20487" name="Oval 30">
              <a:extLst>
                <a:ext uri="{FF2B5EF4-FFF2-40B4-BE49-F238E27FC236}">
                  <a16:creationId xmlns:a16="http://schemas.microsoft.com/office/drawing/2014/main" id="{8998063C-4F6C-F76B-075D-68DA32E22E7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824663" y="4918075"/>
              <a:ext cx="366712" cy="366713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latin typeface="Times New Roman" panose="02020603050405020304" pitchFamily="18" charset="0"/>
                </a:rPr>
                <a:t>w</a:t>
              </a:r>
            </a:p>
          </p:txBody>
        </p:sp>
        <p:sp>
          <p:nvSpPr>
            <p:cNvPr id="20488" name="Oval 31">
              <a:extLst>
                <a:ext uri="{FF2B5EF4-FFF2-40B4-BE49-F238E27FC236}">
                  <a16:creationId xmlns:a16="http://schemas.microsoft.com/office/drawing/2014/main" id="{61142B5D-66F2-5B7C-FBB8-0E088EF3B23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975225" y="4692650"/>
              <a:ext cx="366713" cy="366713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20489" name="Oval 32">
              <a:extLst>
                <a:ext uri="{FF2B5EF4-FFF2-40B4-BE49-F238E27FC236}">
                  <a16:creationId xmlns:a16="http://schemas.microsoft.com/office/drawing/2014/main" id="{5037067C-36CA-F4D3-3815-F7377256374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078538" y="3959225"/>
              <a:ext cx="366712" cy="366713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latin typeface="Times New Roman" panose="02020603050405020304" pitchFamily="18" charset="0"/>
                </a:rPr>
                <a:t>v</a:t>
              </a:r>
            </a:p>
          </p:txBody>
        </p:sp>
        <p:sp>
          <p:nvSpPr>
            <p:cNvPr id="20490" name="Oval 33">
              <a:extLst>
                <a:ext uri="{FF2B5EF4-FFF2-40B4-BE49-F238E27FC236}">
                  <a16:creationId xmlns:a16="http://schemas.microsoft.com/office/drawing/2014/main" id="{771448B9-98CF-08A0-0C4F-AC8B6378274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902325" y="5611813"/>
              <a:ext cx="366713" cy="36671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latin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20491" name="Oval 34">
              <a:extLst>
                <a:ext uri="{FF2B5EF4-FFF2-40B4-BE49-F238E27FC236}">
                  <a16:creationId xmlns:a16="http://schemas.microsoft.com/office/drawing/2014/main" id="{C4589A74-BE8A-DD3F-8EAD-47C9E4E583D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167688" y="4489450"/>
              <a:ext cx="366712" cy="366713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20492" name="Oval 35">
              <a:extLst>
                <a:ext uri="{FF2B5EF4-FFF2-40B4-BE49-F238E27FC236}">
                  <a16:creationId xmlns:a16="http://schemas.microsoft.com/office/drawing/2014/main" id="{C4BAF5DB-419D-36AA-5729-88EDFB1A4DA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720013" y="5600700"/>
              <a:ext cx="366712" cy="366713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latin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20493" name="Text Box 36">
              <a:extLst>
                <a:ext uri="{FF2B5EF4-FFF2-40B4-BE49-F238E27FC236}">
                  <a16:creationId xmlns:a16="http://schemas.microsoft.com/office/drawing/2014/main" id="{EE57FC62-4A39-7A48-F431-E09B394813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11850" y="4670425"/>
              <a:ext cx="4762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3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  <a:sym typeface="Symbol" panose="05050102010706020507" pitchFamily="18" charset="2"/>
                </a:rPr>
                <a:t>3</a:t>
              </a:r>
            </a:p>
          </p:txBody>
        </p:sp>
        <p:sp>
          <p:nvSpPr>
            <p:cNvPr id="20494" name="Text Box 37">
              <a:extLst>
                <a:ext uri="{FF2B5EF4-FFF2-40B4-BE49-F238E27FC236}">
                  <a16:creationId xmlns:a16="http://schemas.microsoft.com/office/drawing/2014/main" id="{6B8E9FEF-3F06-CA36-C7CB-B6B2559276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59650" y="5103813"/>
              <a:ext cx="4762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  <a:sym typeface="Symbol" panose="05050102010706020507" pitchFamily="18" charset="2"/>
                </a:rPr>
                <a:t>9</a:t>
              </a:r>
            </a:p>
          </p:txBody>
        </p:sp>
        <p:sp>
          <p:nvSpPr>
            <p:cNvPr id="20495" name="Text Box 38">
              <a:extLst>
                <a:ext uri="{FF2B5EF4-FFF2-40B4-BE49-F238E27FC236}">
                  <a16:creationId xmlns:a16="http://schemas.microsoft.com/office/drawing/2014/main" id="{4A80C601-2AFF-42B0-3ED3-B3731B48B7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26225" y="4394200"/>
              <a:ext cx="4762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0496" name="Text Box 39">
              <a:extLst>
                <a:ext uri="{FF2B5EF4-FFF2-40B4-BE49-F238E27FC236}">
                  <a16:creationId xmlns:a16="http://schemas.microsoft.com/office/drawing/2014/main" id="{1771F4F9-9D81-64B8-7C4C-2281DB12F9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02475" y="3975100"/>
              <a:ext cx="4762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3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0497" name="Text Box 40">
              <a:extLst>
                <a:ext uri="{FF2B5EF4-FFF2-40B4-BE49-F238E27FC236}">
                  <a16:creationId xmlns:a16="http://schemas.microsoft.com/office/drawing/2014/main" id="{DF35B57F-69F3-50AB-0844-E4B36A2584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51700" y="4524375"/>
              <a:ext cx="4762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3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20498" name="Text Box 41">
              <a:extLst>
                <a:ext uri="{FF2B5EF4-FFF2-40B4-BE49-F238E27FC236}">
                  <a16:creationId xmlns:a16="http://schemas.microsoft.com/office/drawing/2014/main" id="{ADEE5315-AC1C-02D9-4B82-B9E4BF9F50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49875" y="4187825"/>
              <a:ext cx="4762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4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20499" name="Text Box 42">
              <a:extLst>
                <a:ext uri="{FF2B5EF4-FFF2-40B4-BE49-F238E27FC236}">
                  <a16:creationId xmlns:a16="http://schemas.microsoft.com/office/drawing/2014/main" id="{0C7F8231-ED0E-9B3B-6176-FACC4B4203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45450" y="5103813"/>
              <a:ext cx="4762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4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20500" name="Text Box 43">
              <a:extLst>
                <a:ext uri="{FF2B5EF4-FFF2-40B4-BE49-F238E27FC236}">
                  <a16:creationId xmlns:a16="http://schemas.microsoft.com/office/drawing/2014/main" id="{BA109661-A292-F54E-85C9-0013A2BD67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05525" y="5178425"/>
              <a:ext cx="4762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0501" name="Text Box 44">
              <a:extLst>
                <a:ext uri="{FF2B5EF4-FFF2-40B4-BE49-F238E27FC236}">
                  <a16:creationId xmlns:a16="http://schemas.microsoft.com/office/drawing/2014/main" id="{A0BA1288-6CB0-A193-D6C1-4B5ED76569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7475" y="5287963"/>
              <a:ext cx="4762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3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20502" name="Text Box 45">
              <a:extLst>
                <a:ext uri="{FF2B5EF4-FFF2-40B4-BE49-F238E27FC236}">
                  <a16:creationId xmlns:a16="http://schemas.microsoft.com/office/drawing/2014/main" id="{344D92FA-B483-B72A-2CAF-DFE938E1C1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77025" y="5735638"/>
              <a:ext cx="4762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</a:rPr>
                <a:t>2</a:t>
              </a:r>
            </a:p>
          </p:txBody>
        </p:sp>
        <p:cxnSp>
          <p:nvCxnSpPr>
            <p:cNvPr id="20503" name="AutoShape 46">
              <a:extLst>
                <a:ext uri="{FF2B5EF4-FFF2-40B4-BE49-F238E27FC236}">
                  <a16:creationId xmlns:a16="http://schemas.microsoft.com/office/drawing/2014/main" id="{F29CFA3B-FC10-FAE4-F72F-27BBC7A16ABE}"/>
                </a:ext>
              </a:extLst>
            </p:cNvPr>
            <p:cNvCxnSpPr>
              <a:cxnSpLocks noChangeShapeType="1"/>
              <a:stCxn id="20488" idx="7"/>
              <a:endCxn id="20489" idx="3"/>
            </p:cNvCxnSpPr>
            <p:nvPr/>
          </p:nvCxnSpPr>
          <p:spPr bwMode="auto">
            <a:xfrm flipV="1">
              <a:off x="5287963" y="4281488"/>
              <a:ext cx="842962" cy="4445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04" name="AutoShape 47">
              <a:extLst>
                <a:ext uri="{FF2B5EF4-FFF2-40B4-BE49-F238E27FC236}">
                  <a16:creationId xmlns:a16="http://schemas.microsoft.com/office/drawing/2014/main" id="{3CBAAF37-BD3E-BEB4-CF0E-6FBD282A92C3}"/>
                </a:ext>
              </a:extLst>
            </p:cNvPr>
            <p:cNvCxnSpPr>
              <a:cxnSpLocks noChangeShapeType="1"/>
              <a:stCxn id="20488" idx="5"/>
              <a:endCxn id="20490" idx="1"/>
            </p:cNvCxnSpPr>
            <p:nvPr/>
          </p:nvCxnSpPr>
          <p:spPr bwMode="auto">
            <a:xfrm>
              <a:off x="5287963" y="5024438"/>
              <a:ext cx="666750" cy="63023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05" name="AutoShape 48">
              <a:extLst>
                <a:ext uri="{FF2B5EF4-FFF2-40B4-BE49-F238E27FC236}">
                  <a16:creationId xmlns:a16="http://schemas.microsoft.com/office/drawing/2014/main" id="{CD91F2AB-BE86-E4BF-1CC0-C2D30BC7EE11}"/>
                </a:ext>
              </a:extLst>
            </p:cNvPr>
            <p:cNvCxnSpPr>
              <a:cxnSpLocks noChangeShapeType="1"/>
              <a:stCxn id="20489" idx="5"/>
              <a:endCxn id="20487" idx="1"/>
            </p:cNvCxnSpPr>
            <p:nvPr/>
          </p:nvCxnSpPr>
          <p:spPr bwMode="auto">
            <a:xfrm>
              <a:off x="6391275" y="4281488"/>
              <a:ext cx="485775" cy="67945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06" name="AutoShape 49">
              <a:extLst>
                <a:ext uri="{FF2B5EF4-FFF2-40B4-BE49-F238E27FC236}">
                  <a16:creationId xmlns:a16="http://schemas.microsoft.com/office/drawing/2014/main" id="{E3C4405F-B4B9-4F7E-35AC-81E32E6D2EF9}"/>
                </a:ext>
              </a:extLst>
            </p:cNvPr>
            <p:cNvCxnSpPr>
              <a:cxnSpLocks noChangeShapeType="1"/>
              <a:stCxn id="20489" idx="6"/>
              <a:endCxn id="20491" idx="1"/>
            </p:cNvCxnSpPr>
            <p:nvPr/>
          </p:nvCxnSpPr>
          <p:spPr bwMode="auto">
            <a:xfrm>
              <a:off x="6453188" y="4141788"/>
              <a:ext cx="1766887" cy="3810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07" name="AutoShape 50">
              <a:extLst>
                <a:ext uri="{FF2B5EF4-FFF2-40B4-BE49-F238E27FC236}">
                  <a16:creationId xmlns:a16="http://schemas.microsoft.com/office/drawing/2014/main" id="{72E35E89-E104-5498-A38F-BCAAAE93AEA6}"/>
                </a:ext>
              </a:extLst>
            </p:cNvPr>
            <p:cNvCxnSpPr>
              <a:cxnSpLocks noChangeShapeType="1"/>
              <a:stCxn id="20487" idx="7"/>
              <a:endCxn id="20491" idx="2"/>
            </p:cNvCxnSpPr>
            <p:nvPr/>
          </p:nvCxnSpPr>
          <p:spPr bwMode="auto">
            <a:xfrm flipV="1">
              <a:off x="7137400" y="4672013"/>
              <a:ext cx="1009650" cy="28892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08" name="AutoShape 51">
              <a:extLst>
                <a:ext uri="{FF2B5EF4-FFF2-40B4-BE49-F238E27FC236}">
                  <a16:creationId xmlns:a16="http://schemas.microsoft.com/office/drawing/2014/main" id="{70E58399-04FA-B04B-4341-C1543F292F2F}"/>
                </a:ext>
              </a:extLst>
            </p:cNvPr>
            <p:cNvCxnSpPr>
              <a:cxnSpLocks noChangeShapeType="1"/>
              <a:stCxn id="20487" idx="5"/>
              <a:endCxn id="20492" idx="1"/>
            </p:cNvCxnSpPr>
            <p:nvPr/>
          </p:nvCxnSpPr>
          <p:spPr bwMode="auto">
            <a:xfrm>
              <a:off x="7137400" y="5240338"/>
              <a:ext cx="635000" cy="40322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09" name="AutoShape 52">
              <a:extLst>
                <a:ext uri="{FF2B5EF4-FFF2-40B4-BE49-F238E27FC236}">
                  <a16:creationId xmlns:a16="http://schemas.microsoft.com/office/drawing/2014/main" id="{A97D7C4E-CCAA-943A-04B6-1D785C7D7038}"/>
                </a:ext>
              </a:extLst>
            </p:cNvPr>
            <p:cNvCxnSpPr>
              <a:cxnSpLocks noChangeShapeType="1"/>
              <a:stCxn id="20492" idx="0"/>
              <a:endCxn id="20491" idx="3"/>
            </p:cNvCxnSpPr>
            <p:nvPr/>
          </p:nvCxnSpPr>
          <p:spPr bwMode="auto">
            <a:xfrm flipV="1">
              <a:off x="7902575" y="4821238"/>
              <a:ext cx="317500" cy="76835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10" name="AutoShape 53">
              <a:extLst>
                <a:ext uri="{FF2B5EF4-FFF2-40B4-BE49-F238E27FC236}">
                  <a16:creationId xmlns:a16="http://schemas.microsoft.com/office/drawing/2014/main" id="{12455E61-CCBD-E70D-3FFD-5D571B4C59E5}"/>
                </a:ext>
              </a:extLst>
            </p:cNvPr>
            <p:cNvCxnSpPr>
              <a:cxnSpLocks noChangeShapeType="1"/>
              <a:stCxn id="20490" idx="6"/>
              <a:endCxn id="20492" idx="2"/>
            </p:cNvCxnSpPr>
            <p:nvPr/>
          </p:nvCxnSpPr>
          <p:spPr bwMode="auto">
            <a:xfrm flipV="1">
              <a:off x="6276975" y="5783263"/>
              <a:ext cx="1431925" cy="1111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11" name="AutoShape 54">
              <a:extLst>
                <a:ext uri="{FF2B5EF4-FFF2-40B4-BE49-F238E27FC236}">
                  <a16:creationId xmlns:a16="http://schemas.microsoft.com/office/drawing/2014/main" id="{7463F0BC-800A-A955-E507-96EB62B86362}"/>
                </a:ext>
              </a:extLst>
            </p:cNvPr>
            <p:cNvCxnSpPr>
              <a:cxnSpLocks noChangeShapeType="1"/>
              <a:stCxn id="20490" idx="7"/>
              <a:endCxn id="20487" idx="3"/>
            </p:cNvCxnSpPr>
            <p:nvPr/>
          </p:nvCxnSpPr>
          <p:spPr bwMode="auto">
            <a:xfrm flipV="1">
              <a:off x="6215063" y="5240338"/>
              <a:ext cx="661987" cy="41433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12" name="AutoShape 55">
              <a:extLst>
                <a:ext uri="{FF2B5EF4-FFF2-40B4-BE49-F238E27FC236}">
                  <a16:creationId xmlns:a16="http://schemas.microsoft.com/office/drawing/2014/main" id="{DCEF7222-FFE5-C82C-4728-D844FAB0A04D}"/>
                </a:ext>
              </a:extLst>
            </p:cNvPr>
            <p:cNvCxnSpPr>
              <a:cxnSpLocks noChangeShapeType="1"/>
              <a:stCxn id="20488" idx="6"/>
              <a:endCxn id="20487" idx="2"/>
            </p:cNvCxnSpPr>
            <p:nvPr/>
          </p:nvCxnSpPr>
          <p:spPr bwMode="auto">
            <a:xfrm>
              <a:off x="5359400" y="4875213"/>
              <a:ext cx="1454150" cy="22542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0485" name="Text Box 56">
            <a:extLst>
              <a:ext uri="{FF2B5EF4-FFF2-40B4-BE49-F238E27FC236}">
                <a16:creationId xmlns:a16="http://schemas.microsoft.com/office/drawing/2014/main" id="{4F85CCC7-65C7-1982-1E3A-B4A342C704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8666" y="3352800"/>
            <a:ext cx="408316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Flow of value 8 = 2 + 3 + 3 = 1 + 3 + 4</a:t>
            </a:r>
          </a:p>
        </p:txBody>
      </p:sp>
      <p:sp>
        <p:nvSpPr>
          <p:cNvPr id="20486" name="Text Box 57">
            <a:extLst>
              <a:ext uri="{FF2B5EF4-FFF2-40B4-BE49-F238E27FC236}">
                <a16:creationId xmlns:a16="http://schemas.microsoft.com/office/drawing/2014/main" id="{344B2E57-3C39-D692-5706-1BBEB0C235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5046" y="6110288"/>
            <a:ext cx="519885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Maximum flow of value 10 = 4 + 3 + 3 = 3 + 3 + 4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AC318DC6-3EC8-E58B-A843-2AD9874F40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Cut</a:t>
            </a:r>
          </a:p>
        </p:txBody>
      </p:sp>
      <p:sp>
        <p:nvSpPr>
          <p:cNvPr id="21506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D25CCE4-0FE4-1FE8-54B4-87DB663DC8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1143000"/>
            <a:ext cx="4648200" cy="51816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en-US" sz="2000"/>
              <a:t>A </a:t>
            </a:r>
            <a:r>
              <a:rPr lang="en-US" altLang="en-US" sz="2000" b="1"/>
              <a:t>cut</a:t>
            </a:r>
            <a:r>
              <a:rPr lang="en-US" altLang="en-US" sz="2000"/>
              <a:t> of a network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/>
              <a:t> with source </a:t>
            </a:r>
            <a:r>
              <a:rPr lang="en-US" altLang="en-US" sz="2000" b="1" i="1">
                <a:latin typeface="Times New Roman" panose="02020603050405020304" pitchFamily="18" charset="0"/>
              </a:rPr>
              <a:t>s</a:t>
            </a:r>
            <a:r>
              <a:rPr lang="en-US" altLang="en-US" sz="2000"/>
              <a:t> and sink </a:t>
            </a:r>
            <a:r>
              <a:rPr lang="en-US" altLang="en-US" sz="2000" b="1" i="1">
                <a:latin typeface="Times New Roman" panose="02020603050405020304" pitchFamily="18" charset="0"/>
              </a:rPr>
              <a:t>t</a:t>
            </a:r>
            <a:r>
              <a:rPr lang="en-US" altLang="en-US" sz="2000"/>
              <a:t> is a partition </a:t>
            </a:r>
            <a:r>
              <a:rPr lang="en-US" altLang="en-US" sz="2000" b="1" i="1">
                <a:latin typeface="Symbol" panose="05050102010706020507" pitchFamily="18" charset="2"/>
              </a:rPr>
              <a:t>c</a:t>
            </a:r>
            <a:r>
              <a:rPr lang="en-US" altLang="en-US" sz="2000" b="1" i="1"/>
              <a:t> </a:t>
            </a:r>
            <a:r>
              <a:rPr lang="en-US" altLang="en-US" sz="2000">
                <a:latin typeface="Symbol" panose="05050102010706020507" pitchFamily="18" charset="2"/>
              </a:rPr>
              <a:t>=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 b="1" i="1" baseline="-25000">
                <a:latin typeface="Times New Roman" panose="02020603050405020304" pitchFamily="18" charset="0"/>
              </a:rPr>
              <a:t>s</a:t>
            </a:r>
            <a:r>
              <a:rPr lang="en-US" altLang="en-US" sz="2000" b="1" i="1">
                <a:latin typeface="Times New Roman" panose="02020603050405020304" pitchFamily="18" charset="0"/>
              </a:rPr>
              <a:t>,V</a:t>
            </a:r>
            <a:r>
              <a:rPr lang="en-US" altLang="en-US" sz="2000" b="1" i="1" baseline="-25000">
                <a:latin typeface="Times New Roman" panose="02020603050405020304" pitchFamily="18" charset="0"/>
              </a:rPr>
              <a:t>t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r>
              <a:rPr lang="en-US" altLang="en-US" sz="2000"/>
              <a:t> of the vertices of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/>
              <a:t> such that </a:t>
            </a:r>
            <a:r>
              <a:rPr lang="en-US" altLang="en-US" sz="2000" b="1" i="1">
                <a:latin typeface="Times New Roman" panose="02020603050405020304" pitchFamily="18" charset="0"/>
              </a:rPr>
              <a:t>s</a:t>
            </a:r>
            <a:r>
              <a:rPr lang="en-US" altLang="en-US" sz="2000"/>
              <a:t> </a:t>
            </a:r>
            <a:r>
              <a:rPr lang="en-US" altLang="en-US" sz="200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 b="1" i="1" baseline="-25000">
                <a:latin typeface="Times New Roman" panose="02020603050405020304" pitchFamily="18" charset="0"/>
              </a:rPr>
              <a:t>s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/>
              <a:t>and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b="1" i="1">
                <a:latin typeface="Times New Roman" panose="02020603050405020304" pitchFamily="18" charset="0"/>
              </a:rPr>
              <a:t>t</a:t>
            </a:r>
            <a:r>
              <a:rPr lang="en-US" altLang="en-US" sz="2000"/>
              <a:t> </a:t>
            </a:r>
            <a:r>
              <a:rPr lang="en-US" altLang="en-US" sz="200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 b="1" i="1" baseline="-25000">
                <a:latin typeface="Times New Roman" panose="02020603050405020304" pitchFamily="18" charset="0"/>
              </a:rPr>
              <a:t>t</a:t>
            </a:r>
            <a:endParaRPr lang="en-US" altLang="en-US" sz="2000">
              <a:latin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altLang="en-US" sz="1800" i="1"/>
              <a:t>Forward</a:t>
            </a:r>
            <a:r>
              <a:rPr lang="en-US" altLang="en-US" sz="1800"/>
              <a:t> edge of cut </a:t>
            </a:r>
            <a:r>
              <a:rPr lang="en-US" altLang="en-US" sz="1800" b="1" i="1">
                <a:latin typeface="Symbol" panose="05050102010706020507" pitchFamily="18" charset="2"/>
              </a:rPr>
              <a:t>c</a:t>
            </a:r>
            <a:r>
              <a:rPr lang="en-US" altLang="en-US" sz="1800"/>
              <a:t>: origin in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 b="1" i="1" baseline="-25000">
                <a:latin typeface="Times New Roman" panose="02020603050405020304" pitchFamily="18" charset="0"/>
              </a:rPr>
              <a:t>s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/>
              <a:t>and destination in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 b="1" i="1" baseline="-25000">
                <a:latin typeface="Times New Roman" panose="02020603050405020304" pitchFamily="18" charset="0"/>
              </a:rPr>
              <a:t>t</a:t>
            </a:r>
            <a:endParaRPr lang="en-US" altLang="en-US" sz="1800"/>
          </a:p>
          <a:p>
            <a:pPr lvl="1">
              <a:lnSpc>
                <a:spcPct val="90000"/>
              </a:lnSpc>
            </a:pPr>
            <a:r>
              <a:rPr lang="en-US" altLang="en-US" sz="1800" i="1"/>
              <a:t>Backward</a:t>
            </a:r>
            <a:r>
              <a:rPr lang="en-US" altLang="en-US" sz="1800"/>
              <a:t> edge of cut </a:t>
            </a:r>
            <a:r>
              <a:rPr lang="en-US" altLang="en-US" sz="1800" b="1" i="1">
                <a:latin typeface="Symbol" panose="05050102010706020507" pitchFamily="18" charset="2"/>
              </a:rPr>
              <a:t>c</a:t>
            </a:r>
            <a:r>
              <a:rPr lang="en-US" altLang="en-US" sz="1800"/>
              <a:t>: origin in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 b="1" i="1" baseline="-25000">
                <a:latin typeface="Times New Roman" panose="02020603050405020304" pitchFamily="18" charset="0"/>
              </a:rPr>
              <a:t>t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/>
              <a:t>and destination in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 b="1" i="1" baseline="-25000">
                <a:latin typeface="Times New Roman" panose="02020603050405020304" pitchFamily="18" charset="0"/>
              </a:rPr>
              <a:t>s</a:t>
            </a:r>
          </a:p>
          <a:p>
            <a:pPr>
              <a:lnSpc>
                <a:spcPct val="90000"/>
              </a:lnSpc>
            </a:pPr>
            <a:endParaRPr lang="en-US" altLang="en-US" sz="800"/>
          </a:p>
          <a:p>
            <a:pPr>
              <a:lnSpc>
                <a:spcPct val="90000"/>
              </a:lnSpc>
            </a:pPr>
            <a:r>
              <a:rPr lang="en-US" altLang="en-US" sz="2000" i="1"/>
              <a:t>Flow </a:t>
            </a:r>
            <a:r>
              <a:rPr lang="en-US" altLang="en-US" sz="2000" b="1" i="1">
                <a:latin typeface="Times New Roman" panose="02020603050405020304" pitchFamily="18" charset="0"/>
              </a:rPr>
              <a:t>f</a:t>
            </a:r>
            <a:r>
              <a:rPr lang="en-US" altLang="en-US" sz="2000" i="1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Symbol" panose="05050102010706020507" pitchFamily="18" charset="2"/>
              </a:rPr>
              <a:t>c</a:t>
            </a:r>
            <a:r>
              <a:rPr lang="en-US" altLang="en-US" sz="2000" i="1">
                <a:latin typeface="Times New Roman" panose="02020603050405020304" pitchFamily="18" charset="0"/>
              </a:rPr>
              <a:t>) </a:t>
            </a:r>
            <a:r>
              <a:rPr lang="en-US" altLang="en-US" sz="2000" i="1"/>
              <a:t>across a cut </a:t>
            </a:r>
            <a:r>
              <a:rPr lang="en-US" altLang="en-US" sz="2000" b="1" i="1">
                <a:latin typeface="Symbol" panose="05050102010706020507" pitchFamily="18" charset="2"/>
              </a:rPr>
              <a:t>c </a:t>
            </a:r>
            <a:r>
              <a:rPr lang="en-US" altLang="en-US" sz="2000"/>
              <a:t>: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/>
              <a:t>	total flow of forward edges minus total flow of backward edges</a:t>
            </a:r>
          </a:p>
          <a:p>
            <a:pPr>
              <a:lnSpc>
                <a:spcPct val="90000"/>
              </a:lnSpc>
            </a:pPr>
            <a:endParaRPr lang="en-US" altLang="en-US" sz="800"/>
          </a:p>
          <a:p>
            <a:pPr>
              <a:lnSpc>
                <a:spcPct val="90000"/>
              </a:lnSpc>
            </a:pPr>
            <a:r>
              <a:rPr lang="en-US" altLang="en-US" sz="2000" i="1"/>
              <a:t>Capacity </a:t>
            </a:r>
            <a:r>
              <a:rPr lang="en-US" altLang="en-US" sz="2000" b="1" i="1">
                <a:latin typeface="Times New Roman" panose="02020603050405020304" pitchFamily="18" charset="0"/>
              </a:rPr>
              <a:t>c</a:t>
            </a:r>
            <a:r>
              <a:rPr lang="en-US" altLang="en-US" sz="2000" i="1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Symbol" panose="05050102010706020507" pitchFamily="18" charset="2"/>
              </a:rPr>
              <a:t>c</a:t>
            </a:r>
            <a:r>
              <a:rPr lang="en-US" altLang="en-US" sz="2000" i="1">
                <a:latin typeface="Times New Roman" panose="02020603050405020304" pitchFamily="18" charset="0"/>
              </a:rPr>
              <a:t>) </a:t>
            </a:r>
            <a:r>
              <a:rPr lang="en-US" altLang="en-US" sz="2000" i="1"/>
              <a:t>of a cut </a:t>
            </a:r>
            <a:r>
              <a:rPr lang="en-US" altLang="en-US" sz="2000" b="1" i="1">
                <a:latin typeface="Symbol" panose="05050102010706020507" pitchFamily="18" charset="2"/>
              </a:rPr>
              <a:t>c </a:t>
            </a:r>
            <a:r>
              <a:rPr lang="en-US" altLang="en-US" sz="2000"/>
              <a:t>: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/>
              <a:t>	total capacity of forward edges</a:t>
            </a:r>
          </a:p>
          <a:p>
            <a:pPr>
              <a:lnSpc>
                <a:spcPct val="90000"/>
              </a:lnSpc>
            </a:pPr>
            <a:endParaRPr lang="en-US" altLang="en-US" sz="800"/>
          </a:p>
          <a:p>
            <a:pPr>
              <a:lnSpc>
                <a:spcPct val="90000"/>
              </a:lnSpc>
            </a:pPr>
            <a:r>
              <a:rPr lang="en-US" altLang="en-US" sz="2000"/>
              <a:t>Example:</a:t>
            </a:r>
          </a:p>
          <a:p>
            <a:pPr lvl="1">
              <a:lnSpc>
                <a:spcPct val="90000"/>
              </a:lnSpc>
            </a:pPr>
            <a:r>
              <a:rPr lang="en-US" altLang="en-US" sz="1800" b="1" i="1">
                <a:latin typeface="Times New Roman" panose="02020603050405020304" pitchFamily="18" charset="0"/>
              </a:rPr>
              <a:t>c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Symbol" panose="05050102010706020507" pitchFamily="18" charset="2"/>
              </a:rPr>
              <a:t>c</a:t>
            </a:r>
            <a:r>
              <a:rPr lang="en-US" altLang="en-US" sz="1800">
                <a:latin typeface="Times New Roman" panose="02020603050405020304" pitchFamily="18" charset="0"/>
              </a:rPr>
              <a:t>) </a:t>
            </a:r>
            <a:r>
              <a:rPr lang="en-US" altLang="en-US" sz="1800">
                <a:latin typeface="Symbol" panose="05050102010706020507" pitchFamily="18" charset="2"/>
              </a:rPr>
              <a:t>=</a:t>
            </a:r>
            <a:r>
              <a:rPr lang="en-US" altLang="en-US" sz="1800">
                <a:latin typeface="Times New Roman" panose="02020603050405020304" pitchFamily="18" charset="0"/>
              </a:rPr>
              <a:t> 24</a:t>
            </a:r>
            <a:endParaRPr lang="en-US" altLang="en-US" sz="1800"/>
          </a:p>
          <a:p>
            <a:pPr lvl="1">
              <a:lnSpc>
                <a:spcPct val="90000"/>
              </a:lnSpc>
            </a:pP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f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tx2"/>
                </a:solidFill>
                <a:latin typeface="Symbol" panose="05050102010706020507" pitchFamily="18" charset="2"/>
              </a:rPr>
              <a:t>c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) </a:t>
            </a:r>
            <a:r>
              <a:rPr lang="en-US" altLang="en-US" sz="1800">
                <a:solidFill>
                  <a:schemeClr val="tx2"/>
                </a:solidFill>
                <a:latin typeface="Symbol" panose="05050102010706020507" pitchFamily="18" charset="2"/>
              </a:rPr>
              <a:t>=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8</a:t>
            </a:r>
          </a:p>
        </p:txBody>
      </p:sp>
      <p:sp>
        <p:nvSpPr>
          <p:cNvPr id="21507" name="Oval 4">
            <a:extLst>
              <a:ext uri="{FF2B5EF4-FFF2-40B4-BE49-F238E27FC236}">
                <a16:creationId xmlns:a16="http://schemas.microsoft.com/office/drawing/2014/main" id="{24E0903B-B4A5-4F12-7170-BBA1B5DF96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577263" y="2549526"/>
            <a:ext cx="366712" cy="366713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21508" name="Oval 5">
            <a:extLst>
              <a:ext uri="{FF2B5EF4-FFF2-40B4-BE49-F238E27FC236}">
                <a16:creationId xmlns:a16="http://schemas.microsoft.com/office/drawing/2014/main" id="{07BFE869-DE68-571F-1701-63A05704E2B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27826" y="2324101"/>
            <a:ext cx="366713" cy="366713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1509" name="Oval 6">
            <a:extLst>
              <a:ext uri="{FF2B5EF4-FFF2-40B4-BE49-F238E27FC236}">
                <a16:creationId xmlns:a16="http://schemas.microsoft.com/office/drawing/2014/main" id="{B2330BC2-7B53-0C7F-408F-1FF405E82E0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31138" y="1590676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21510" name="Oval 7">
            <a:extLst>
              <a:ext uri="{FF2B5EF4-FFF2-40B4-BE49-F238E27FC236}">
                <a16:creationId xmlns:a16="http://schemas.microsoft.com/office/drawing/2014/main" id="{7BB2E6C9-A550-8032-45DC-16F04E0157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54926" y="3243263"/>
            <a:ext cx="366713" cy="366712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21511" name="Oval 8">
            <a:extLst>
              <a:ext uri="{FF2B5EF4-FFF2-40B4-BE49-F238E27FC236}">
                <a16:creationId xmlns:a16="http://schemas.microsoft.com/office/drawing/2014/main" id="{338F950A-C003-2D0E-D508-E8143C3D53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920288" y="2120901"/>
            <a:ext cx="366712" cy="366713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1512" name="Oval 9">
            <a:extLst>
              <a:ext uri="{FF2B5EF4-FFF2-40B4-BE49-F238E27FC236}">
                <a16:creationId xmlns:a16="http://schemas.microsoft.com/office/drawing/2014/main" id="{3546D13D-3B4E-5D45-833B-FDCCFEA9E2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472613" y="3232151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z</a:t>
            </a:r>
          </a:p>
        </p:txBody>
      </p:sp>
      <p:sp>
        <p:nvSpPr>
          <p:cNvPr id="21513" name="Text Box 10">
            <a:extLst>
              <a:ext uri="{FF2B5EF4-FFF2-40B4-BE49-F238E27FC236}">
                <a16:creationId xmlns:a16="http://schemas.microsoft.com/office/drawing/2014/main" id="{8688330F-E21B-86F8-AD1B-9F7F9A899C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5075" y="227965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21514" name="Text Box 11">
            <a:extLst>
              <a:ext uri="{FF2B5EF4-FFF2-40B4-BE49-F238E27FC236}">
                <a16:creationId xmlns:a16="http://schemas.microsoft.com/office/drawing/2014/main" id="{1290AE93-1C64-7679-9757-8E7369D9A5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93200" y="273526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anose="05050102010706020507" pitchFamily="18" charset="2"/>
              </a:rPr>
              <a:t>9</a:t>
            </a:r>
          </a:p>
        </p:txBody>
      </p:sp>
      <p:sp>
        <p:nvSpPr>
          <p:cNvPr id="21515" name="Text Box 12">
            <a:extLst>
              <a:ext uri="{FF2B5EF4-FFF2-40B4-BE49-F238E27FC236}">
                <a16:creationId xmlns:a16="http://schemas.microsoft.com/office/drawing/2014/main" id="{A751816B-EBC4-B821-5FF0-5FD389337D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31200" y="1971676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1516" name="Text Box 13">
            <a:extLst>
              <a:ext uri="{FF2B5EF4-FFF2-40B4-BE49-F238E27FC236}">
                <a16:creationId xmlns:a16="http://schemas.microsoft.com/office/drawing/2014/main" id="{5076BF8D-4546-9269-DCC4-6CF74F0ECD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3975" y="160655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1517" name="Text Box 14">
            <a:extLst>
              <a:ext uri="{FF2B5EF4-FFF2-40B4-BE49-F238E27FC236}">
                <a16:creationId xmlns:a16="http://schemas.microsoft.com/office/drawing/2014/main" id="{6FF88104-3D18-2289-5EF1-00655F0A20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93200" y="2155826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21518" name="Text Box 15">
            <a:extLst>
              <a:ext uri="{FF2B5EF4-FFF2-40B4-BE49-F238E27FC236}">
                <a16:creationId xmlns:a16="http://schemas.microsoft.com/office/drawing/2014/main" id="{D66761E6-F236-970E-E42E-243D35600B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1375" y="1819276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21519" name="Text Box 16">
            <a:extLst>
              <a:ext uri="{FF2B5EF4-FFF2-40B4-BE49-F238E27FC236}">
                <a16:creationId xmlns:a16="http://schemas.microsoft.com/office/drawing/2014/main" id="{79BBD7DD-1F53-B193-376A-47FB89830F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59950" y="273526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1520" name="Text Box 17">
            <a:extLst>
              <a:ext uri="{FF2B5EF4-FFF2-40B4-BE49-F238E27FC236}">
                <a16:creationId xmlns:a16="http://schemas.microsoft.com/office/drawing/2014/main" id="{9F39ED3F-3CB0-9F00-A75D-E69C66FB90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7025" y="2809876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1521" name="Text Box 18">
            <a:extLst>
              <a:ext uri="{FF2B5EF4-FFF2-40B4-BE49-F238E27FC236}">
                <a16:creationId xmlns:a16="http://schemas.microsoft.com/office/drawing/2014/main" id="{36170C3F-7D78-2FFD-E94D-06A5A75206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4538" y="29194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1522" name="Text Box 19">
            <a:extLst>
              <a:ext uri="{FF2B5EF4-FFF2-40B4-BE49-F238E27FC236}">
                <a16:creationId xmlns:a16="http://schemas.microsoft.com/office/drawing/2014/main" id="{395F4514-7DC0-F48B-D089-999164557D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18525" y="336708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cxnSp>
        <p:nvCxnSpPr>
          <p:cNvPr id="21523" name="AutoShape 20">
            <a:extLst>
              <a:ext uri="{FF2B5EF4-FFF2-40B4-BE49-F238E27FC236}">
                <a16:creationId xmlns:a16="http://schemas.microsoft.com/office/drawing/2014/main" id="{155D8F0A-ED9A-38E3-AA84-328B521E15FB}"/>
              </a:ext>
            </a:extLst>
          </p:cNvPr>
          <p:cNvCxnSpPr>
            <a:cxnSpLocks noChangeShapeType="1"/>
            <a:stCxn id="21508" idx="7"/>
            <a:endCxn id="21509" idx="3"/>
          </p:cNvCxnSpPr>
          <p:nvPr/>
        </p:nvCxnSpPr>
        <p:spPr bwMode="auto">
          <a:xfrm flipV="1">
            <a:off x="7040563" y="1912938"/>
            <a:ext cx="842962" cy="444500"/>
          </a:xfrm>
          <a:prstGeom prst="straightConnector1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4" name="AutoShape 21">
            <a:extLst>
              <a:ext uri="{FF2B5EF4-FFF2-40B4-BE49-F238E27FC236}">
                <a16:creationId xmlns:a16="http://schemas.microsoft.com/office/drawing/2014/main" id="{A96D5B5A-844D-18B9-18EA-8CF539D5E4FA}"/>
              </a:ext>
            </a:extLst>
          </p:cNvPr>
          <p:cNvCxnSpPr>
            <a:cxnSpLocks noChangeShapeType="1"/>
            <a:stCxn id="21508" idx="5"/>
            <a:endCxn id="21510" idx="1"/>
          </p:cNvCxnSpPr>
          <p:nvPr/>
        </p:nvCxnSpPr>
        <p:spPr bwMode="auto">
          <a:xfrm>
            <a:off x="7040563" y="2655889"/>
            <a:ext cx="666750" cy="630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5" name="AutoShape 22">
            <a:extLst>
              <a:ext uri="{FF2B5EF4-FFF2-40B4-BE49-F238E27FC236}">
                <a16:creationId xmlns:a16="http://schemas.microsoft.com/office/drawing/2014/main" id="{A699634C-9AD3-E097-7756-2269BB2DC734}"/>
              </a:ext>
            </a:extLst>
          </p:cNvPr>
          <p:cNvCxnSpPr>
            <a:cxnSpLocks noChangeShapeType="1"/>
            <a:stCxn id="21509" idx="5"/>
            <a:endCxn id="21507" idx="1"/>
          </p:cNvCxnSpPr>
          <p:nvPr/>
        </p:nvCxnSpPr>
        <p:spPr bwMode="auto">
          <a:xfrm>
            <a:off x="8143876" y="1912938"/>
            <a:ext cx="485775" cy="679450"/>
          </a:xfrm>
          <a:prstGeom prst="straightConnector1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6" name="AutoShape 23">
            <a:extLst>
              <a:ext uri="{FF2B5EF4-FFF2-40B4-BE49-F238E27FC236}">
                <a16:creationId xmlns:a16="http://schemas.microsoft.com/office/drawing/2014/main" id="{04BE7D2B-38E3-6ACD-D1B1-559F6B0F7E49}"/>
              </a:ext>
            </a:extLst>
          </p:cNvPr>
          <p:cNvCxnSpPr>
            <a:cxnSpLocks noChangeShapeType="1"/>
            <a:stCxn id="21509" idx="6"/>
            <a:endCxn id="21511" idx="1"/>
          </p:cNvCxnSpPr>
          <p:nvPr/>
        </p:nvCxnSpPr>
        <p:spPr bwMode="auto">
          <a:xfrm>
            <a:off x="8205789" y="1773238"/>
            <a:ext cx="1766887" cy="381000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7" name="AutoShape 24">
            <a:extLst>
              <a:ext uri="{FF2B5EF4-FFF2-40B4-BE49-F238E27FC236}">
                <a16:creationId xmlns:a16="http://schemas.microsoft.com/office/drawing/2014/main" id="{CB66CD5F-8E49-3662-F5DF-4888AB4EA905}"/>
              </a:ext>
            </a:extLst>
          </p:cNvPr>
          <p:cNvCxnSpPr>
            <a:cxnSpLocks noChangeShapeType="1"/>
            <a:stCxn id="21507" idx="7"/>
            <a:endCxn id="21511" idx="2"/>
          </p:cNvCxnSpPr>
          <p:nvPr/>
        </p:nvCxnSpPr>
        <p:spPr bwMode="auto">
          <a:xfrm flipV="1">
            <a:off x="8890000" y="2303464"/>
            <a:ext cx="1009650" cy="288925"/>
          </a:xfrm>
          <a:prstGeom prst="straightConnector1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8" name="AutoShape 25">
            <a:extLst>
              <a:ext uri="{FF2B5EF4-FFF2-40B4-BE49-F238E27FC236}">
                <a16:creationId xmlns:a16="http://schemas.microsoft.com/office/drawing/2014/main" id="{8BB82DE8-959B-D5F5-8CCE-64EAAB639962}"/>
              </a:ext>
            </a:extLst>
          </p:cNvPr>
          <p:cNvCxnSpPr>
            <a:cxnSpLocks noChangeShapeType="1"/>
            <a:stCxn id="21507" idx="5"/>
            <a:endCxn id="21512" idx="1"/>
          </p:cNvCxnSpPr>
          <p:nvPr/>
        </p:nvCxnSpPr>
        <p:spPr bwMode="auto">
          <a:xfrm>
            <a:off x="8890000" y="2871789"/>
            <a:ext cx="635000" cy="403225"/>
          </a:xfrm>
          <a:prstGeom prst="straightConnector1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9" name="AutoShape 26">
            <a:extLst>
              <a:ext uri="{FF2B5EF4-FFF2-40B4-BE49-F238E27FC236}">
                <a16:creationId xmlns:a16="http://schemas.microsoft.com/office/drawing/2014/main" id="{D0161CCE-7101-9AC9-1017-21F8A1D4A98E}"/>
              </a:ext>
            </a:extLst>
          </p:cNvPr>
          <p:cNvCxnSpPr>
            <a:cxnSpLocks noChangeShapeType="1"/>
            <a:stCxn id="21512" idx="0"/>
            <a:endCxn id="21511" idx="3"/>
          </p:cNvCxnSpPr>
          <p:nvPr/>
        </p:nvCxnSpPr>
        <p:spPr bwMode="auto">
          <a:xfrm flipV="1">
            <a:off x="9655175" y="2452688"/>
            <a:ext cx="317500" cy="768350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30" name="AutoShape 27">
            <a:extLst>
              <a:ext uri="{FF2B5EF4-FFF2-40B4-BE49-F238E27FC236}">
                <a16:creationId xmlns:a16="http://schemas.microsoft.com/office/drawing/2014/main" id="{127C622D-3183-2157-165D-466A13DA4F49}"/>
              </a:ext>
            </a:extLst>
          </p:cNvPr>
          <p:cNvCxnSpPr>
            <a:cxnSpLocks noChangeShapeType="1"/>
            <a:stCxn id="21510" idx="6"/>
            <a:endCxn id="21512" idx="2"/>
          </p:cNvCxnSpPr>
          <p:nvPr/>
        </p:nvCxnSpPr>
        <p:spPr bwMode="auto">
          <a:xfrm flipV="1">
            <a:off x="8029576" y="3414713"/>
            <a:ext cx="1431925" cy="11112"/>
          </a:xfrm>
          <a:prstGeom prst="straightConnector1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31" name="AutoShape 28">
            <a:extLst>
              <a:ext uri="{FF2B5EF4-FFF2-40B4-BE49-F238E27FC236}">
                <a16:creationId xmlns:a16="http://schemas.microsoft.com/office/drawing/2014/main" id="{35E48A45-CC7D-8890-68A6-EDF511F0D1C5}"/>
              </a:ext>
            </a:extLst>
          </p:cNvPr>
          <p:cNvCxnSpPr>
            <a:cxnSpLocks noChangeShapeType="1"/>
            <a:stCxn id="21510" idx="7"/>
            <a:endCxn id="21507" idx="3"/>
          </p:cNvCxnSpPr>
          <p:nvPr/>
        </p:nvCxnSpPr>
        <p:spPr bwMode="auto">
          <a:xfrm flipV="1">
            <a:off x="7967664" y="2871789"/>
            <a:ext cx="661987" cy="4143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32" name="AutoShape 29">
            <a:extLst>
              <a:ext uri="{FF2B5EF4-FFF2-40B4-BE49-F238E27FC236}">
                <a16:creationId xmlns:a16="http://schemas.microsoft.com/office/drawing/2014/main" id="{D0505E5B-EA75-D3A6-5D87-684E9F448724}"/>
              </a:ext>
            </a:extLst>
          </p:cNvPr>
          <p:cNvCxnSpPr>
            <a:cxnSpLocks noChangeShapeType="1"/>
            <a:stCxn id="21508" idx="6"/>
            <a:endCxn id="21507" idx="2"/>
          </p:cNvCxnSpPr>
          <p:nvPr/>
        </p:nvCxnSpPr>
        <p:spPr bwMode="auto">
          <a:xfrm>
            <a:off x="7112000" y="2506664"/>
            <a:ext cx="1454150" cy="2254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33" name="Freeform 30">
            <a:extLst>
              <a:ext uri="{FF2B5EF4-FFF2-40B4-BE49-F238E27FC236}">
                <a16:creationId xmlns:a16="http://schemas.microsoft.com/office/drawing/2014/main" id="{D3A44283-9E8A-F077-AF6B-03F0646704F0}"/>
              </a:ext>
            </a:extLst>
          </p:cNvPr>
          <p:cNvSpPr>
            <a:spLocks/>
          </p:cNvSpPr>
          <p:nvPr/>
        </p:nvSpPr>
        <p:spPr bwMode="auto">
          <a:xfrm>
            <a:off x="7264400" y="1473200"/>
            <a:ext cx="1874838" cy="2286000"/>
          </a:xfrm>
          <a:custGeom>
            <a:avLst/>
            <a:gdLst>
              <a:gd name="T0" fmla="*/ 0 w 1181"/>
              <a:gd name="T1" fmla="*/ 0 h 1440"/>
              <a:gd name="T2" fmla="*/ 2147483646 w 1181"/>
              <a:gd name="T3" fmla="*/ 2147483646 h 1440"/>
              <a:gd name="T4" fmla="*/ 2147483646 w 1181"/>
              <a:gd name="T5" fmla="*/ 2147483646 h 1440"/>
              <a:gd name="T6" fmla="*/ 2147483646 w 1181"/>
              <a:gd name="T7" fmla="*/ 2147483646 h 1440"/>
              <a:gd name="T8" fmla="*/ 2147483646 w 1181"/>
              <a:gd name="T9" fmla="*/ 2147483646 h 1440"/>
              <a:gd name="T10" fmla="*/ 2147483646 w 1181"/>
              <a:gd name="T11" fmla="*/ 2147483646 h 144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81"/>
              <a:gd name="T19" fmla="*/ 0 h 1440"/>
              <a:gd name="T20" fmla="*/ 1181 w 1181"/>
              <a:gd name="T21" fmla="*/ 1440 h 144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81" h="1440">
                <a:moveTo>
                  <a:pt x="0" y="0"/>
                </a:moveTo>
                <a:cubicBezTo>
                  <a:pt x="57" y="88"/>
                  <a:pt x="185" y="435"/>
                  <a:pt x="344" y="520"/>
                </a:cubicBezTo>
                <a:cubicBezTo>
                  <a:pt x="503" y="605"/>
                  <a:pt x="813" y="460"/>
                  <a:pt x="952" y="512"/>
                </a:cubicBezTo>
                <a:cubicBezTo>
                  <a:pt x="1091" y="564"/>
                  <a:pt x="1171" y="731"/>
                  <a:pt x="1176" y="832"/>
                </a:cubicBezTo>
                <a:cubicBezTo>
                  <a:pt x="1181" y="933"/>
                  <a:pt x="1003" y="1019"/>
                  <a:pt x="984" y="1120"/>
                </a:cubicBezTo>
                <a:cubicBezTo>
                  <a:pt x="965" y="1221"/>
                  <a:pt x="1047" y="1373"/>
                  <a:pt x="1064" y="1440"/>
                </a:cubicBezTo>
              </a:path>
            </a:pathLst>
          </a:custGeom>
          <a:noFill/>
          <a:ln w="38100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34" name="Text Box 31">
            <a:extLst>
              <a:ext uri="{FF2B5EF4-FFF2-40B4-BE49-F238E27FC236}">
                <a16:creationId xmlns:a16="http://schemas.microsoft.com/office/drawing/2014/main" id="{12831329-D807-CD55-CAAE-2A825D3160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1295401"/>
            <a:ext cx="323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solidFill>
                  <a:schemeClr val="accent2"/>
                </a:solidFill>
                <a:latin typeface="Symbol" panose="05050102010706020507" pitchFamily="18" charset="2"/>
              </a:rPr>
              <a:t>c</a:t>
            </a:r>
          </a:p>
        </p:txBody>
      </p:sp>
      <p:sp>
        <p:nvSpPr>
          <p:cNvPr id="21535" name="Oval 34">
            <a:extLst>
              <a:ext uri="{FF2B5EF4-FFF2-40B4-BE49-F238E27FC236}">
                <a16:creationId xmlns:a16="http://schemas.microsoft.com/office/drawing/2014/main" id="{49CE232C-4040-AED5-B0AA-9899851B3A2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564563" y="5210176"/>
            <a:ext cx="366712" cy="366713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21536" name="Oval 35">
            <a:extLst>
              <a:ext uri="{FF2B5EF4-FFF2-40B4-BE49-F238E27FC236}">
                <a16:creationId xmlns:a16="http://schemas.microsoft.com/office/drawing/2014/main" id="{4596B514-C9E3-7403-FE5E-9F8F6CAC8D0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15126" y="4984751"/>
            <a:ext cx="366713" cy="366713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1537" name="Oval 36">
            <a:extLst>
              <a:ext uri="{FF2B5EF4-FFF2-40B4-BE49-F238E27FC236}">
                <a16:creationId xmlns:a16="http://schemas.microsoft.com/office/drawing/2014/main" id="{BA8F3E31-2772-64CC-57E4-E78DCE670D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18438" y="4251326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21538" name="Oval 37">
            <a:extLst>
              <a:ext uri="{FF2B5EF4-FFF2-40B4-BE49-F238E27FC236}">
                <a16:creationId xmlns:a16="http://schemas.microsoft.com/office/drawing/2014/main" id="{D1BAB9FA-A55B-A6A5-6FC3-741AE993BA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42226" y="5903913"/>
            <a:ext cx="366713" cy="366712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21539" name="Oval 38">
            <a:extLst>
              <a:ext uri="{FF2B5EF4-FFF2-40B4-BE49-F238E27FC236}">
                <a16:creationId xmlns:a16="http://schemas.microsoft.com/office/drawing/2014/main" id="{C293E59D-8F90-56DD-841D-CABB354009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907588" y="4781551"/>
            <a:ext cx="366712" cy="366713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1540" name="Oval 39">
            <a:extLst>
              <a:ext uri="{FF2B5EF4-FFF2-40B4-BE49-F238E27FC236}">
                <a16:creationId xmlns:a16="http://schemas.microsoft.com/office/drawing/2014/main" id="{4DC96AFF-7ED8-28D4-79D8-3496DB1297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459913" y="5892801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z</a:t>
            </a:r>
          </a:p>
        </p:txBody>
      </p:sp>
      <p:sp>
        <p:nvSpPr>
          <p:cNvPr id="21541" name="Text Box 40">
            <a:extLst>
              <a:ext uri="{FF2B5EF4-FFF2-40B4-BE49-F238E27FC236}">
                <a16:creationId xmlns:a16="http://schemas.microsoft.com/office/drawing/2014/main" id="{511C6556-524A-C81B-AC4A-A1E92F4F42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1750" y="4962526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21542" name="Text Box 41">
            <a:extLst>
              <a:ext uri="{FF2B5EF4-FFF2-40B4-BE49-F238E27FC236}">
                <a16:creationId xmlns:a16="http://schemas.microsoft.com/office/drawing/2014/main" id="{BBAA6185-2E54-D4C4-B9C2-9E74048E94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99550" y="5395913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  <a:sym typeface="Symbol" panose="05050102010706020507" pitchFamily="18" charset="2"/>
              </a:rPr>
              <a:t>9</a:t>
            </a:r>
          </a:p>
        </p:txBody>
      </p:sp>
      <p:sp>
        <p:nvSpPr>
          <p:cNvPr id="21543" name="Text Box 42">
            <a:extLst>
              <a:ext uri="{FF2B5EF4-FFF2-40B4-BE49-F238E27FC236}">
                <a16:creationId xmlns:a16="http://schemas.microsoft.com/office/drawing/2014/main" id="{6EC2C608-95EA-F79D-5E31-08D6C81267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6125" y="4686301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1544" name="Text Box 43">
            <a:extLst>
              <a:ext uri="{FF2B5EF4-FFF2-40B4-BE49-F238E27FC236}">
                <a16:creationId xmlns:a16="http://schemas.microsoft.com/office/drawing/2014/main" id="{08FEB0B9-DFBC-A2F6-26D4-D27BB7ACEC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2375" y="4267201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1545" name="Text Box 44">
            <a:extLst>
              <a:ext uri="{FF2B5EF4-FFF2-40B4-BE49-F238E27FC236}">
                <a16:creationId xmlns:a16="http://schemas.microsoft.com/office/drawing/2014/main" id="{2598ED6E-960E-222B-B0E8-BDDD52DA2F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1600" y="4816476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21546" name="Text Box 45">
            <a:extLst>
              <a:ext uri="{FF2B5EF4-FFF2-40B4-BE49-F238E27FC236}">
                <a16:creationId xmlns:a16="http://schemas.microsoft.com/office/drawing/2014/main" id="{C683AC0E-BC2B-064B-8C30-BDF8F76D89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9775" y="4479926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21547" name="Text Box 46">
            <a:extLst>
              <a:ext uri="{FF2B5EF4-FFF2-40B4-BE49-F238E27FC236}">
                <a16:creationId xmlns:a16="http://schemas.microsoft.com/office/drawing/2014/main" id="{0913DD5D-E245-EA21-10A9-3B924FC4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85350" y="5395913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4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1548" name="Text Box 47">
            <a:extLst>
              <a:ext uri="{FF2B5EF4-FFF2-40B4-BE49-F238E27FC236}">
                <a16:creationId xmlns:a16="http://schemas.microsoft.com/office/drawing/2014/main" id="{B7B3840D-1627-6706-2372-5A0E058D74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5425" y="5470526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1549" name="Text Box 48">
            <a:extLst>
              <a:ext uri="{FF2B5EF4-FFF2-40B4-BE49-F238E27FC236}">
                <a16:creationId xmlns:a16="http://schemas.microsoft.com/office/drawing/2014/main" id="{FF9B0121-1CDF-7B94-EA74-4EB428C4E4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7375" y="5580063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1550" name="Text Box 49">
            <a:extLst>
              <a:ext uri="{FF2B5EF4-FFF2-40B4-BE49-F238E27FC236}">
                <a16:creationId xmlns:a16="http://schemas.microsoft.com/office/drawing/2014/main" id="{BAB117BD-3806-6513-8EBD-F57A9403FD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6925" y="6027738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cxnSp>
        <p:nvCxnSpPr>
          <p:cNvPr id="21551" name="AutoShape 50">
            <a:extLst>
              <a:ext uri="{FF2B5EF4-FFF2-40B4-BE49-F238E27FC236}">
                <a16:creationId xmlns:a16="http://schemas.microsoft.com/office/drawing/2014/main" id="{36848FA7-26AC-47A6-E8D0-43F4686005A5}"/>
              </a:ext>
            </a:extLst>
          </p:cNvPr>
          <p:cNvCxnSpPr>
            <a:cxnSpLocks noChangeShapeType="1"/>
            <a:stCxn id="21536" idx="7"/>
            <a:endCxn id="21537" idx="3"/>
          </p:cNvCxnSpPr>
          <p:nvPr/>
        </p:nvCxnSpPr>
        <p:spPr bwMode="auto">
          <a:xfrm flipV="1">
            <a:off x="7027863" y="4573588"/>
            <a:ext cx="842962" cy="444500"/>
          </a:xfrm>
          <a:prstGeom prst="straightConnector1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52" name="AutoShape 51">
            <a:extLst>
              <a:ext uri="{FF2B5EF4-FFF2-40B4-BE49-F238E27FC236}">
                <a16:creationId xmlns:a16="http://schemas.microsoft.com/office/drawing/2014/main" id="{71B284C0-97A3-CFCA-CB86-14AAE213AE1A}"/>
              </a:ext>
            </a:extLst>
          </p:cNvPr>
          <p:cNvCxnSpPr>
            <a:cxnSpLocks noChangeShapeType="1"/>
            <a:stCxn id="21536" idx="5"/>
            <a:endCxn id="21538" idx="1"/>
          </p:cNvCxnSpPr>
          <p:nvPr/>
        </p:nvCxnSpPr>
        <p:spPr bwMode="auto">
          <a:xfrm>
            <a:off x="7027863" y="5316539"/>
            <a:ext cx="666750" cy="630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53" name="AutoShape 52">
            <a:extLst>
              <a:ext uri="{FF2B5EF4-FFF2-40B4-BE49-F238E27FC236}">
                <a16:creationId xmlns:a16="http://schemas.microsoft.com/office/drawing/2014/main" id="{83BA2FBF-D04B-0361-B8F4-9DE7EE7452D2}"/>
              </a:ext>
            </a:extLst>
          </p:cNvPr>
          <p:cNvCxnSpPr>
            <a:cxnSpLocks noChangeShapeType="1"/>
            <a:stCxn id="21537" idx="5"/>
            <a:endCxn id="21535" idx="1"/>
          </p:cNvCxnSpPr>
          <p:nvPr/>
        </p:nvCxnSpPr>
        <p:spPr bwMode="auto">
          <a:xfrm>
            <a:off x="8131176" y="4573588"/>
            <a:ext cx="485775" cy="679450"/>
          </a:xfrm>
          <a:prstGeom prst="straightConnector1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54" name="AutoShape 53">
            <a:extLst>
              <a:ext uri="{FF2B5EF4-FFF2-40B4-BE49-F238E27FC236}">
                <a16:creationId xmlns:a16="http://schemas.microsoft.com/office/drawing/2014/main" id="{0DF2FEC9-E1D2-E326-9B42-98D70F2CCBBE}"/>
              </a:ext>
            </a:extLst>
          </p:cNvPr>
          <p:cNvCxnSpPr>
            <a:cxnSpLocks noChangeShapeType="1"/>
            <a:stCxn id="21537" idx="6"/>
            <a:endCxn id="21539" idx="1"/>
          </p:cNvCxnSpPr>
          <p:nvPr/>
        </p:nvCxnSpPr>
        <p:spPr bwMode="auto">
          <a:xfrm>
            <a:off x="8193089" y="4433888"/>
            <a:ext cx="1766887" cy="381000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55" name="AutoShape 54">
            <a:extLst>
              <a:ext uri="{FF2B5EF4-FFF2-40B4-BE49-F238E27FC236}">
                <a16:creationId xmlns:a16="http://schemas.microsoft.com/office/drawing/2014/main" id="{A7E5A58A-733F-A345-7FD0-BE2710495AAA}"/>
              </a:ext>
            </a:extLst>
          </p:cNvPr>
          <p:cNvCxnSpPr>
            <a:cxnSpLocks noChangeShapeType="1"/>
            <a:stCxn id="21535" idx="7"/>
            <a:endCxn id="21539" idx="2"/>
          </p:cNvCxnSpPr>
          <p:nvPr/>
        </p:nvCxnSpPr>
        <p:spPr bwMode="auto">
          <a:xfrm flipV="1">
            <a:off x="8877300" y="4964114"/>
            <a:ext cx="1009650" cy="288925"/>
          </a:xfrm>
          <a:prstGeom prst="straightConnector1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56" name="AutoShape 55">
            <a:extLst>
              <a:ext uri="{FF2B5EF4-FFF2-40B4-BE49-F238E27FC236}">
                <a16:creationId xmlns:a16="http://schemas.microsoft.com/office/drawing/2014/main" id="{6FFE81A6-A53A-0593-5B27-92FABF9E4DAD}"/>
              </a:ext>
            </a:extLst>
          </p:cNvPr>
          <p:cNvCxnSpPr>
            <a:cxnSpLocks noChangeShapeType="1"/>
            <a:stCxn id="21535" idx="5"/>
            <a:endCxn id="21540" idx="1"/>
          </p:cNvCxnSpPr>
          <p:nvPr/>
        </p:nvCxnSpPr>
        <p:spPr bwMode="auto">
          <a:xfrm>
            <a:off x="8877300" y="5532439"/>
            <a:ext cx="635000" cy="403225"/>
          </a:xfrm>
          <a:prstGeom prst="straightConnector1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57" name="AutoShape 56">
            <a:extLst>
              <a:ext uri="{FF2B5EF4-FFF2-40B4-BE49-F238E27FC236}">
                <a16:creationId xmlns:a16="http://schemas.microsoft.com/office/drawing/2014/main" id="{EF553867-C170-64C8-32B0-5F72D4508D44}"/>
              </a:ext>
            </a:extLst>
          </p:cNvPr>
          <p:cNvCxnSpPr>
            <a:cxnSpLocks noChangeShapeType="1"/>
            <a:stCxn id="21540" idx="0"/>
            <a:endCxn id="21539" idx="3"/>
          </p:cNvCxnSpPr>
          <p:nvPr/>
        </p:nvCxnSpPr>
        <p:spPr bwMode="auto">
          <a:xfrm flipV="1">
            <a:off x="9642475" y="5113338"/>
            <a:ext cx="317500" cy="768350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58" name="AutoShape 57">
            <a:extLst>
              <a:ext uri="{FF2B5EF4-FFF2-40B4-BE49-F238E27FC236}">
                <a16:creationId xmlns:a16="http://schemas.microsoft.com/office/drawing/2014/main" id="{1007748F-20C2-A46C-4336-6A81C732ACCC}"/>
              </a:ext>
            </a:extLst>
          </p:cNvPr>
          <p:cNvCxnSpPr>
            <a:cxnSpLocks noChangeShapeType="1"/>
            <a:stCxn id="21538" idx="6"/>
            <a:endCxn id="21540" idx="2"/>
          </p:cNvCxnSpPr>
          <p:nvPr/>
        </p:nvCxnSpPr>
        <p:spPr bwMode="auto">
          <a:xfrm flipV="1">
            <a:off x="8016876" y="6075363"/>
            <a:ext cx="1431925" cy="11112"/>
          </a:xfrm>
          <a:prstGeom prst="straightConnector1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59" name="AutoShape 58">
            <a:extLst>
              <a:ext uri="{FF2B5EF4-FFF2-40B4-BE49-F238E27FC236}">
                <a16:creationId xmlns:a16="http://schemas.microsoft.com/office/drawing/2014/main" id="{204E41C5-3E62-7EEF-8776-790803D4FDEB}"/>
              </a:ext>
            </a:extLst>
          </p:cNvPr>
          <p:cNvCxnSpPr>
            <a:cxnSpLocks noChangeShapeType="1"/>
            <a:stCxn id="21538" idx="7"/>
            <a:endCxn id="21535" idx="3"/>
          </p:cNvCxnSpPr>
          <p:nvPr/>
        </p:nvCxnSpPr>
        <p:spPr bwMode="auto">
          <a:xfrm flipV="1">
            <a:off x="7954964" y="5532439"/>
            <a:ext cx="661987" cy="4143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60" name="AutoShape 59">
            <a:extLst>
              <a:ext uri="{FF2B5EF4-FFF2-40B4-BE49-F238E27FC236}">
                <a16:creationId xmlns:a16="http://schemas.microsoft.com/office/drawing/2014/main" id="{6D464D7F-E3F7-54ED-F5FA-45EE55CE5BDC}"/>
              </a:ext>
            </a:extLst>
          </p:cNvPr>
          <p:cNvCxnSpPr>
            <a:cxnSpLocks noChangeShapeType="1"/>
            <a:stCxn id="21536" idx="6"/>
            <a:endCxn id="21535" idx="2"/>
          </p:cNvCxnSpPr>
          <p:nvPr/>
        </p:nvCxnSpPr>
        <p:spPr bwMode="auto">
          <a:xfrm>
            <a:off x="7099300" y="5167314"/>
            <a:ext cx="1454150" cy="2254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61" name="Freeform 61">
            <a:extLst>
              <a:ext uri="{FF2B5EF4-FFF2-40B4-BE49-F238E27FC236}">
                <a16:creationId xmlns:a16="http://schemas.microsoft.com/office/drawing/2014/main" id="{84BDFD49-6BC1-D508-00E8-E551D83B3212}"/>
              </a:ext>
            </a:extLst>
          </p:cNvPr>
          <p:cNvSpPr>
            <a:spLocks/>
          </p:cNvSpPr>
          <p:nvPr/>
        </p:nvSpPr>
        <p:spPr bwMode="auto">
          <a:xfrm>
            <a:off x="7281864" y="4191000"/>
            <a:ext cx="1870075" cy="2286000"/>
          </a:xfrm>
          <a:custGeom>
            <a:avLst/>
            <a:gdLst>
              <a:gd name="T0" fmla="*/ 0 w 1178"/>
              <a:gd name="T1" fmla="*/ 0 h 1440"/>
              <a:gd name="T2" fmla="*/ 2147483646 w 1178"/>
              <a:gd name="T3" fmla="*/ 2147483646 h 1440"/>
              <a:gd name="T4" fmla="*/ 2147483646 w 1178"/>
              <a:gd name="T5" fmla="*/ 2147483646 h 1440"/>
              <a:gd name="T6" fmla="*/ 2147483646 w 1178"/>
              <a:gd name="T7" fmla="*/ 2147483646 h 1440"/>
              <a:gd name="T8" fmla="*/ 2147483646 w 1178"/>
              <a:gd name="T9" fmla="*/ 2147483646 h 1440"/>
              <a:gd name="T10" fmla="*/ 2147483646 w 1178"/>
              <a:gd name="T11" fmla="*/ 2147483646 h 144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78"/>
              <a:gd name="T19" fmla="*/ 0 h 1440"/>
              <a:gd name="T20" fmla="*/ 1178 w 1178"/>
              <a:gd name="T21" fmla="*/ 1440 h 144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78" h="1440">
                <a:moveTo>
                  <a:pt x="0" y="0"/>
                </a:moveTo>
                <a:cubicBezTo>
                  <a:pt x="62" y="79"/>
                  <a:pt x="211" y="380"/>
                  <a:pt x="373" y="472"/>
                </a:cubicBezTo>
                <a:cubicBezTo>
                  <a:pt x="535" y="564"/>
                  <a:pt x="839" y="492"/>
                  <a:pt x="973" y="552"/>
                </a:cubicBezTo>
                <a:cubicBezTo>
                  <a:pt x="1107" y="612"/>
                  <a:pt x="1174" y="737"/>
                  <a:pt x="1176" y="832"/>
                </a:cubicBezTo>
                <a:cubicBezTo>
                  <a:pt x="1178" y="927"/>
                  <a:pt x="1003" y="1019"/>
                  <a:pt x="984" y="1120"/>
                </a:cubicBezTo>
                <a:cubicBezTo>
                  <a:pt x="965" y="1221"/>
                  <a:pt x="1047" y="1373"/>
                  <a:pt x="1064" y="1440"/>
                </a:cubicBezTo>
              </a:path>
            </a:pathLst>
          </a:custGeom>
          <a:noFill/>
          <a:ln w="38100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62" name="Text Box 62">
            <a:extLst>
              <a:ext uri="{FF2B5EF4-FFF2-40B4-BE49-F238E27FC236}">
                <a16:creationId xmlns:a16="http://schemas.microsoft.com/office/drawing/2014/main" id="{AF1F65FB-0D8D-5DC2-1E4F-F927FF89FD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3886201"/>
            <a:ext cx="323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solidFill>
                  <a:schemeClr val="accent2"/>
                </a:solidFill>
                <a:latin typeface="Symbol" panose="05050102010706020507" pitchFamily="18" charset="2"/>
              </a:rPr>
              <a:t>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4B4803F9-9A10-A944-3AF0-82472C0557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Some Properties on Flow and Cut</a:t>
            </a:r>
          </a:p>
        </p:txBody>
      </p:sp>
      <p:sp>
        <p:nvSpPr>
          <p:cNvPr id="22530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977BAAF9-71D2-8A77-4CB0-08805401DA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33600" y="1295400"/>
            <a:ext cx="3810000" cy="4953000"/>
          </a:xfrm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b="1">
                <a:solidFill>
                  <a:schemeClr val="tx2"/>
                </a:solidFill>
              </a:rPr>
              <a:t>Lemma</a:t>
            </a:r>
            <a:r>
              <a:rPr lang="en-US" altLang="en-US" sz="2000">
                <a:solidFill>
                  <a:schemeClr val="tx2"/>
                </a:solidFill>
              </a:rPr>
              <a:t>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	</a:t>
            </a:r>
            <a:r>
              <a:rPr lang="en-US" altLang="en-US" sz="2000"/>
              <a:t>The flow </a:t>
            </a:r>
            <a:r>
              <a:rPr lang="en-US" altLang="en-US" sz="2000" b="1" i="1">
                <a:latin typeface="Times New Roman" panose="02020603050405020304" pitchFamily="18" charset="0"/>
              </a:rPr>
              <a:t>f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Symbol" panose="05050102010706020507" pitchFamily="18" charset="2"/>
              </a:rPr>
              <a:t>c</a:t>
            </a:r>
            <a:r>
              <a:rPr lang="en-US" altLang="en-US" sz="2000">
                <a:latin typeface="Times New Roman" panose="02020603050405020304" pitchFamily="18" charset="0"/>
              </a:rPr>
              <a:t>) </a:t>
            </a:r>
            <a:r>
              <a:rPr lang="en-US" altLang="en-US" sz="2000"/>
              <a:t>across any cut </a:t>
            </a:r>
            <a:r>
              <a:rPr lang="en-US" altLang="en-US" sz="2000" b="1" i="1">
                <a:latin typeface="Symbol" panose="05050102010706020507" pitchFamily="18" charset="2"/>
              </a:rPr>
              <a:t>c</a:t>
            </a:r>
            <a:r>
              <a:rPr lang="en-US" altLang="en-US" sz="2000"/>
              <a:t> is equal to the flow value </a:t>
            </a:r>
            <a:r>
              <a:rPr lang="en-US" altLang="en-US" sz="2000">
                <a:latin typeface="Times New Roman" panose="02020603050405020304" pitchFamily="18" charset="0"/>
              </a:rPr>
              <a:t>|</a:t>
            </a:r>
            <a:r>
              <a:rPr lang="en-US" altLang="en-US" sz="2000" b="1" i="1">
                <a:latin typeface="Times New Roman" panose="02020603050405020304" pitchFamily="18" charset="0"/>
              </a:rPr>
              <a:t>f</a:t>
            </a:r>
            <a:r>
              <a:rPr lang="en-US" altLang="en-US" sz="2000">
                <a:latin typeface="Times New Roman" panose="02020603050405020304" pitchFamily="18" charset="0"/>
              </a:rPr>
              <a:t>|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00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b="1">
                <a:solidFill>
                  <a:schemeClr val="tx2"/>
                </a:solidFill>
              </a:rPr>
              <a:t>Lemma</a:t>
            </a:r>
            <a:r>
              <a:rPr lang="en-US" altLang="en-US" sz="2000">
                <a:solidFill>
                  <a:schemeClr val="tx2"/>
                </a:solidFill>
              </a:rPr>
              <a:t>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	</a:t>
            </a:r>
            <a:r>
              <a:rPr lang="en-US" altLang="en-US" sz="2000"/>
              <a:t>The flow </a:t>
            </a:r>
            <a:r>
              <a:rPr lang="en-US" altLang="en-US" sz="2000" b="1" i="1">
                <a:latin typeface="Times New Roman" panose="02020603050405020304" pitchFamily="18" charset="0"/>
              </a:rPr>
              <a:t>f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Symbol" panose="05050102010706020507" pitchFamily="18" charset="2"/>
              </a:rPr>
              <a:t>c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r>
              <a:rPr lang="en-US" altLang="en-US" sz="2000"/>
              <a:t> across a cut </a:t>
            </a:r>
            <a:r>
              <a:rPr lang="en-US" altLang="en-US" sz="2000" b="1" i="1">
                <a:latin typeface="Symbol" panose="05050102010706020507" pitchFamily="18" charset="2"/>
              </a:rPr>
              <a:t>c</a:t>
            </a:r>
            <a:r>
              <a:rPr lang="en-US" altLang="en-US" sz="2000"/>
              <a:t> is less than or equal to the capacity </a:t>
            </a:r>
            <a:r>
              <a:rPr lang="en-US" altLang="en-US" sz="2000" b="1" i="1">
                <a:latin typeface="Times New Roman" panose="02020603050405020304" pitchFamily="18" charset="0"/>
              </a:rPr>
              <a:t>c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Symbol" panose="05050102010706020507" pitchFamily="18" charset="2"/>
              </a:rPr>
              <a:t>c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r>
              <a:rPr lang="en-US" altLang="en-US" sz="2000"/>
              <a:t> of the cut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00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b="1">
                <a:solidFill>
                  <a:schemeClr val="tx2"/>
                </a:solidFill>
              </a:rPr>
              <a:t>Theorem</a:t>
            </a:r>
            <a:r>
              <a:rPr lang="en-US" altLang="en-US" sz="2000">
                <a:solidFill>
                  <a:schemeClr val="tx2"/>
                </a:solidFill>
              </a:rPr>
              <a:t>:</a:t>
            </a:r>
            <a:endParaRPr lang="en-US" altLang="en-US" sz="200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	The value of any flow is less than or equal to the capacity of any cut, i.e., for any flow </a:t>
            </a:r>
            <a:r>
              <a:rPr lang="en-US" altLang="en-US" sz="2000" b="1" i="1">
                <a:latin typeface="Times New Roman" panose="02020603050405020304" pitchFamily="18" charset="0"/>
              </a:rPr>
              <a:t>f</a:t>
            </a:r>
            <a:r>
              <a:rPr lang="en-US" altLang="en-US" sz="2000"/>
              <a:t> and any cut </a:t>
            </a:r>
            <a:r>
              <a:rPr lang="en-US" altLang="en-US" sz="2000" b="1" i="1">
                <a:latin typeface="Symbol" panose="05050102010706020507" pitchFamily="18" charset="2"/>
              </a:rPr>
              <a:t>c</a:t>
            </a:r>
            <a:r>
              <a:rPr lang="en-US" altLang="en-US" sz="2000"/>
              <a:t>, we have</a:t>
            </a:r>
            <a:br>
              <a:rPr lang="en-US" altLang="en-US" sz="2000"/>
            </a:br>
            <a:r>
              <a:rPr lang="en-US" altLang="en-US" sz="2000"/>
              <a:t>	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|</a:t>
            </a:r>
            <a:r>
              <a:rPr lang="en-US" altLang="en-US" sz="2000" b="1" i="1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|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i="1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solidFill>
                  <a:srgbClr val="FF0000"/>
                </a:solidFill>
                <a:latin typeface="Symbol" panose="05050102010706020507" pitchFamily="18" charset="2"/>
              </a:rPr>
              <a:t>c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2531" name="Oval 4">
            <a:extLst>
              <a:ext uri="{FF2B5EF4-FFF2-40B4-BE49-F238E27FC236}">
                <a16:creationId xmlns:a16="http://schemas.microsoft.com/office/drawing/2014/main" id="{714578A1-6ED2-2237-F093-4DC17CE82EA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26438" y="3381376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22532" name="Oval 5">
            <a:extLst>
              <a:ext uri="{FF2B5EF4-FFF2-40B4-BE49-F238E27FC236}">
                <a16:creationId xmlns:a16="http://schemas.microsoft.com/office/drawing/2014/main" id="{0B4B1262-1CFB-BC33-BD4B-00A482D7FA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77001" y="3155951"/>
            <a:ext cx="366713" cy="366713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2533" name="Oval 6">
            <a:extLst>
              <a:ext uri="{FF2B5EF4-FFF2-40B4-BE49-F238E27FC236}">
                <a16:creationId xmlns:a16="http://schemas.microsoft.com/office/drawing/2014/main" id="{34DB4C63-B1DE-B52D-194E-05C382C0AF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80313" y="2422526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22534" name="Oval 7">
            <a:extLst>
              <a:ext uri="{FF2B5EF4-FFF2-40B4-BE49-F238E27FC236}">
                <a16:creationId xmlns:a16="http://schemas.microsoft.com/office/drawing/2014/main" id="{03BBCE82-7FDB-9119-65E9-1EB02C757B1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04101" y="4075113"/>
            <a:ext cx="366713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22535" name="Oval 8">
            <a:extLst>
              <a:ext uri="{FF2B5EF4-FFF2-40B4-BE49-F238E27FC236}">
                <a16:creationId xmlns:a16="http://schemas.microsoft.com/office/drawing/2014/main" id="{41CAF4B1-E9E0-E643-F485-FBC51BC0A9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669463" y="2952751"/>
            <a:ext cx="366712" cy="366713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2536" name="Oval 9">
            <a:extLst>
              <a:ext uri="{FF2B5EF4-FFF2-40B4-BE49-F238E27FC236}">
                <a16:creationId xmlns:a16="http://schemas.microsoft.com/office/drawing/2014/main" id="{C229DCBA-A383-30D9-DF5E-EEE98FF92A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221788" y="4064001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z</a:t>
            </a:r>
          </a:p>
        </p:txBody>
      </p:sp>
      <p:sp>
        <p:nvSpPr>
          <p:cNvPr id="22537" name="Text Box 10">
            <a:extLst>
              <a:ext uri="{FF2B5EF4-FFF2-40B4-BE49-F238E27FC236}">
                <a16:creationId xmlns:a16="http://schemas.microsoft.com/office/drawing/2014/main" id="{DE0EE52E-3F57-7BD9-55E7-A228F6FC8B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3625" y="3133726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22538" name="Text Box 11">
            <a:extLst>
              <a:ext uri="{FF2B5EF4-FFF2-40B4-BE49-F238E27FC236}">
                <a16:creationId xmlns:a16="http://schemas.microsoft.com/office/drawing/2014/main" id="{3428E274-5A13-007A-7918-D279C63391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1425" y="3567113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  <a:sym typeface="Symbol" panose="05050102010706020507" pitchFamily="18" charset="2"/>
              </a:rPr>
              <a:t>9</a:t>
            </a:r>
          </a:p>
        </p:txBody>
      </p:sp>
      <p:sp>
        <p:nvSpPr>
          <p:cNvPr id="22539" name="Text Box 12">
            <a:extLst>
              <a:ext uri="{FF2B5EF4-FFF2-40B4-BE49-F238E27FC236}">
                <a16:creationId xmlns:a16="http://schemas.microsoft.com/office/drawing/2014/main" id="{6BC02A2C-19BD-5453-F7F3-961B0EA28F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8000" y="2857501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2540" name="Text Box 13">
            <a:extLst>
              <a:ext uri="{FF2B5EF4-FFF2-40B4-BE49-F238E27FC236}">
                <a16:creationId xmlns:a16="http://schemas.microsoft.com/office/drawing/2014/main" id="{B6AEE85D-24F1-76A3-0C17-2517A3DCD6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50" y="2438401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2541" name="Text Box 14">
            <a:extLst>
              <a:ext uri="{FF2B5EF4-FFF2-40B4-BE49-F238E27FC236}">
                <a16:creationId xmlns:a16="http://schemas.microsoft.com/office/drawing/2014/main" id="{3BC634C0-4D5C-6FD7-A465-14AB9BA39E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53475" y="2987676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22542" name="Text Box 15">
            <a:extLst>
              <a:ext uri="{FF2B5EF4-FFF2-40B4-BE49-F238E27FC236}">
                <a16:creationId xmlns:a16="http://schemas.microsoft.com/office/drawing/2014/main" id="{017E1295-F288-BB97-B0F3-40F4E6804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1650" y="2651126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22543" name="Text Box 16">
            <a:extLst>
              <a:ext uri="{FF2B5EF4-FFF2-40B4-BE49-F238E27FC236}">
                <a16:creationId xmlns:a16="http://schemas.microsoft.com/office/drawing/2014/main" id="{3C498A58-2CB3-C339-AD1E-2FA4E99785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47225" y="3567113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4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2544" name="Text Box 17">
            <a:extLst>
              <a:ext uri="{FF2B5EF4-FFF2-40B4-BE49-F238E27FC236}">
                <a16:creationId xmlns:a16="http://schemas.microsoft.com/office/drawing/2014/main" id="{F6D21A5C-C7CF-2AC6-4248-A14DC845E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3671888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2545" name="Text Box 18">
            <a:extLst>
              <a:ext uri="{FF2B5EF4-FFF2-40B4-BE49-F238E27FC236}">
                <a16:creationId xmlns:a16="http://schemas.microsoft.com/office/drawing/2014/main" id="{34247394-79EB-FD80-EFDC-F1F8053677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250" y="3751263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2546" name="Text Box 19">
            <a:extLst>
              <a:ext uri="{FF2B5EF4-FFF2-40B4-BE49-F238E27FC236}">
                <a16:creationId xmlns:a16="http://schemas.microsoft.com/office/drawing/2014/main" id="{23C57617-5F41-487C-5C26-0113ECEE83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8800" y="4198938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cxnSp>
        <p:nvCxnSpPr>
          <p:cNvPr id="22547" name="AutoShape 20">
            <a:extLst>
              <a:ext uri="{FF2B5EF4-FFF2-40B4-BE49-F238E27FC236}">
                <a16:creationId xmlns:a16="http://schemas.microsoft.com/office/drawing/2014/main" id="{B11AC937-CE06-BD79-D646-65366EB6E43A}"/>
              </a:ext>
            </a:extLst>
          </p:cNvPr>
          <p:cNvCxnSpPr>
            <a:cxnSpLocks noChangeShapeType="1"/>
            <a:stCxn id="22532" idx="7"/>
            <a:endCxn id="22533" idx="3"/>
          </p:cNvCxnSpPr>
          <p:nvPr/>
        </p:nvCxnSpPr>
        <p:spPr bwMode="auto">
          <a:xfrm flipV="1">
            <a:off x="6789738" y="2744788"/>
            <a:ext cx="842962" cy="444500"/>
          </a:xfrm>
          <a:prstGeom prst="straightConnector1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8" name="AutoShape 21">
            <a:extLst>
              <a:ext uri="{FF2B5EF4-FFF2-40B4-BE49-F238E27FC236}">
                <a16:creationId xmlns:a16="http://schemas.microsoft.com/office/drawing/2014/main" id="{AC1238ED-7BBD-37CC-896A-47B564704655}"/>
              </a:ext>
            </a:extLst>
          </p:cNvPr>
          <p:cNvCxnSpPr>
            <a:cxnSpLocks noChangeShapeType="1"/>
            <a:stCxn id="22532" idx="5"/>
            <a:endCxn id="22534" idx="1"/>
          </p:cNvCxnSpPr>
          <p:nvPr/>
        </p:nvCxnSpPr>
        <p:spPr bwMode="auto">
          <a:xfrm>
            <a:off x="6789738" y="3487739"/>
            <a:ext cx="666750" cy="630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9" name="AutoShape 22">
            <a:extLst>
              <a:ext uri="{FF2B5EF4-FFF2-40B4-BE49-F238E27FC236}">
                <a16:creationId xmlns:a16="http://schemas.microsoft.com/office/drawing/2014/main" id="{D7CA384A-03B0-7B72-BD92-736FBA00D36E}"/>
              </a:ext>
            </a:extLst>
          </p:cNvPr>
          <p:cNvCxnSpPr>
            <a:cxnSpLocks noChangeShapeType="1"/>
            <a:stCxn id="22533" idx="5"/>
            <a:endCxn id="22531" idx="1"/>
          </p:cNvCxnSpPr>
          <p:nvPr/>
        </p:nvCxnSpPr>
        <p:spPr bwMode="auto">
          <a:xfrm>
            <a:off x="7893051" y="2744788"/>
            <a:ext cx="485775" cy="679450"/>
          </a:xfrm>
          <a:prstGeom prst="straightConnector1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0" name="AutoShape 23">
            <a:extLst>
              <a:ext uri="{FF2B5EF4-FFF2-40B4-BE49-F238E27FC236}">
                <a16:creationId xmlns:a16="http://schemas.microsoft.com/office/drawing/2014/main" id="{D62DD701-E063-D895-CE4D-C94ABBB7E9E0}"/>
              </a:ext>
            </a:extLst>
          </p:cNvPr>
          <p:cNvCxnSpPr>
            <a:cxnSpLocks noChangeShapeType="1"/>
            <a:stCxn id="22533" idx="6"/>
            <a:endCxn id="22535" idx="1"/>
          </p:cNvCxnSpPr>
          <p:nvPr/>
        </p:nvCxnSpPr>
        <p:spPr bwMode="auto">
          <a:xfrm>
            <a:off x="7954964" y="2605088"/>
            <a:ext cx="1766887" cy="3810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1" name="AutoShape 24">
            <a:extLst>
              <a:ext uri="{FF2B5EF4-FFF2-40B4-BE49-F238E27FC236}">
                <a16:creationId xmlns:a16="http://schemas.microsoft.com/office/drawing/2014/main" id="{11C2E16A-043C-7CB9-9890-F570826AB1F4}"/>
              </a:ext>
            </a:extLst>
          </p:cNvPr>
          <p:cNvCxnSpPr>
            <a:cxnSpLocks noChangeShapeType="1"/>
            <a:stCxn id="22531" idx="7"/>
            <a:endCxn id="22535" idx="2"/>
          </p:cNvCxnSpPr>
          <p:nvPr/>
        </p:nvCxnSpPr>
        <p:spPr bwMode="auto">
          <a:xfrm flipV="1">
            <a:off x="8639175" y="3135314"/>
            <a:ext cx="1009650" cy="288925"/>
          </a:xfrm>
          <a:prstGeom prst="straightConnector1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2" name="AutoShape 25">
            <a:extLst>
              <a:ext uri="{FF2B5EF4-FFF2-40B4-BE49-F238E27FC236}">
                <a16:creationId xmlns:a16="http://schemas.microsoft.com/office/drawing/2014/main" id="{CAE07810-F8DF-8379-F0BC-302990E6E201}"/>
              </a:ext>
            </a:extLst>
          </p:cNvPr>
          <p:cNvCxnSpPr>
            <a:cxnSpLocks noChangeShapeType="1"/>
            <a:stCxn id="22531" idx="5"/>
            <a:endCxn id="22536" idx="1"/>
          </p:cNvCxnSpPr>
          <p:nvPr/>
        </p:nvCxnSpPr>
        <p:spPr bwMode="auto">
          <a:xfrm>
            <a:off x="8639175" y="3703639"/>
            <a:ext cx="635000" cy="403225"/>
          </a:xfrm>
          <a:prstGeom prst="straightConnector1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3" name="AutoShape 26">
            <a:extLst>
              <a:ext uri="{FF2B5EF4-FFF2-40B4-BE49-F238E27FC236}">
                <a16:creationId xmlns:a16="http://schemas.microsoft.com/office/drawing/2014/main" id="{A1F9398A-72E0-912D-4D23-C9AB950B4FC7}"/>
              </a:ext>
            </a:extLst>
          </p:cNvPr>
          <p:cNvCxnSpPr>
            <a:cxnSpLocks noChangeShapeType="1"/>
            <a:stCxn id="22536" idx="0"/>
            <a:endCxn id="22535" idx="3"/>
          </p:cNvCxnSpPr>
          <p:nvPr/>
        </p:nvCxnSpPr>
        <p:spPr bwMode="auto">
          <a:xfrm flipV="1">
            <a:off x="9404350" y="3284538"/>
            <a:ext cx="317500" cy="7683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4" name="AutoShape 27">
            <a:extLst>
              <a:ext uri="{FF2B5EF4-FFF2-40B4-BE49-F238E27FC236}">
                <a16:creationId xmlns:a16="http://schemas.microsoft.com/office/drawing/2014/main" id="{C4CF2FA1-D748-3D9E-1761-965A5EDAE6FA}"/>
              </a:ext>
            </a:extLst>
          </p:cNvPr>
          <p:cNvCxnSpPr>
            <a:cxnSpLocks noChangeShapeType="1"/>
            <a:stCxn id="22534" idx="6"/>
            <a:endCxn id="22536" idx="2"/>
          </p:cNvCxnSpPr>
          <p:nvPr/>
        </p:nvCxnSpPr>
        <p:spPr bwMode="auto">
          <a:xfrm flipV="1">
            <a:off x="7778751" y="4246563"/>
            <a:ext cx="1431925" cy="11112"/>
          </a:xfrm>
          <a:prstGeom prst="straightConnector1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5" name="AutoShape 28">
            <a:extLst>
              <a:ext uri="{FF2B5EF4-FFF2-40B4-BE49-F238E27FC236}">
                <a16:creationId xmlns:a16="http://schemas.microsoft.com/office/drawing/2014/main" id="{BC0FC22F-2C3F-F663-4131-192DCC9E4DAD}"/>
              </a:ext>
            </a:extLst>
          </p:cNvPr>
          <p:cNvCxnSpPr>
            <a:cxnSpLocks noChangeShapeType="1"/>
            <a:stCxn id="22534" idx="7"/>
            <a:endCxn id="22531" idx="3"/>
          </p:cNvCxnSpPr>
          <p:nvPr/>
        </p:nvCxnSpPr>
        <p:spPr bwMode="auto">
          <a:xfrm flipV="1">
            <a:off x="7716839" y="3703639"/>
            <a:ext cx="661987" cy="4143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6" name="AutoShape 29">
            <a:extLst>
              <a:ext uri="{FF2B5EF4-FFF2-40B4-BE49-F238E27FC236}">
                <a16:creationId xmlns:a16="http://schemas.microsoft.com/office/drawing/2014/main" id="{4822A528-A4F7-3B2B-227E-810BFF571FCA}"/>
              </a:ext>
            </a:extLst>
          </p:cNvPr>
          <p:cNvCxnSpPr>
            <a:cxnSpLocks noChangeShapeType="1"/>
            <a:stCxn id="22532" idx="6"/>
            <a:endCxn id="22531" idx="2"/>
          </p:cNvCxnSpPr>
          <p:nvPr/>
        </p:nvCxnSpPr>
        <p:spPr bwMode="auto">
          <a:xfrm>
            <a:off x="6861175" y="3338514"/>
            <a:ext cx="1454150" cy="2254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57" name="Freeform 30">
            <a:extLst>
              <a:ext uri="{FF2B5EF4-FFF2-40B4-BE49-F238E27FC236}">
                <a16:creationId xmlns:a16="http://schemas.microsoft.com/office/drawing/2014/main" id="{A6FF3BD6-DD3D-150C-8E0C-7708C4801E07}"/>
              </a:ext>
            </a:extLst>
          </p:cNvPr>
          <p:cNvSpPr>
            <a:spLocks/>
          </p:cNvSpPr>
          <p:nvPr/>
        </p:nvSpPr>
        <p:spPr bwMode="auto">
          <a:xfrm>
            <a:off x="7043738" y="2362200"/>
            <a:ext cx="1204912" cy="2324100"/>
          </a:xfrm>
          <a:custGeom>
            <a:avLst/>
            <a:gdLst>
              <a:gd name="T0" fmla="*/ 0 w 759"/>
              <a:gd name="T1" fmla="*/ 0 h 1464"/>
              <a:gd name="T2" fmla="*/ 2147483646 w 759"/>
              <a:gd name="T3" fmla="*/ 2147483646 h 1464"/>
              <a:gd name="T4" fmla="*/ 2147483646 w 759"/>
              <a:gd name="T5" fmla="*/ 2147483646 h 1464"/>
              <a:gd name="T6" fmla="*/ 2147483646 w 759"/>
              <a:gd name="T7" fmla="*/ 2147483646 h 1464"/>
              <a:gd name="T8" fmla="*/ 2147483646 w 759"/>
              <a:gd name="T9" fmla="*/ 2147483646 h 1464"/>
              <a:gd name="T10" fmla="*/ 2147483646 w 759"/>
              <a:gd name="T11" fmla="*/ 2147483646 h 146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59"/>
              <a:gd name="T19" fmla="*/ 0 h 1464"/>
              <a:gd name="T20" fmla="*/ 759 w 759"/>
              <a:gd name="T21" fmla="*/ 1464 h 146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59" h="1464">
                <a:moveTo>
                  <a:pt x="0" y="0"/>
                </a:moveTo>
                <a:cubicBezTo>
                  <a:pt x="36" y="56"/>
                  <a:pt x="180" y="215"/>
                  <a:pt x="219" y="336"/>
                </a:cubicBezTo>
                <a:cubicBezTo>
                  <a:pt x="258" y="457"/>
                  <a:pt x="158" y="635"/>
                  <a:pt x="235" y="728"/>
                </a:cubicBezTo>
                <a:cubicBezTo>
                  <a:pt x="312" y="821"/>
                  <a:pt x="607" y="821"/>
                  <a:pt x="683" y="896"/>
                </a:cubicBezTo>
                <a:cubicBezTo>
                  <a:pt x="759" y="971"/>
                  <a:pt x="704" y="1081"/>
                  <a:pt x="691" y="1176"/>
                </a:cubicBezTo>
                <a:cubicBezTo>
                  <a:pt x="678" y="1271"/>
                  <a:pt x="621" y="1404"/>
                  <a:pt x="603" y="1464"/>
                </a:cubicBezTo>
              </a:path>
            </a:pathLst>
          </a:custGeom>
          <a:noFill/>
          <a:ln w="38100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58" name="Text Box 31">
            <a:extLst>
              <a:ext uri="{FF2B5EF4-FFF2-40B4-BE49-F238E27FC236}">
                <a16:creationId xmlns:a16="http://schemas.microsoft.com/office/drawing/2014/main" id="{26590DD0-5941-1189-2D03-C4D8F591FB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5800" y="2057401"/>
            <a:ext cx="431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solidFill>
                  <a:schemeClr val="accent2"/>
                </a:solidFill>
                <a:latin typeface="Symbol" panose="05050102010706020507" pitchFamily="18" charset="2"/>
              </a:rPr>
              <a:t>c</a:t>
            </a:r>
            <a:r>
              <a:rPr lang="en-US" altLang="en-US" sz="2000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2559" name="Text Box 32">
            <a:extLst>
              <a:ext uri="{FF2B5EF4-FFF2-40B4-BE49-F238E27FC236}">
                <a16:creationId xmlns:a16="http://schemas.microsoft.com/office/drawing/2014/main" id="{53A8F9DE-E459-8C63-8E30-1D879FD1AA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00" y="2057401"/>
            <a:ext cx="431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solidFill>
                  <a:schemeClr val="accent2"/>
                </a:solidFill>
                <a:latin typeface="Symbol" panose="05050102010706020507" pitchFamily="18" charset="2"/>
              </a:rPr>
              <a:t>c</a:t>
            </a:r>
            <a:r>
              <a:rPr lang="en-US" altLang="en-US" sz="2000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2560" name="Freeform 33">
            <a:extLst>
              <a:ext uri="{FF2B5EF4-FFF2-40B4-BE49-F238E27FC236}">
                <a16:creationId xmlns:a16="http://schemas.microsoft.com/office/drawing/2014/main" id="{470467F1-BD51-6A51-2579-9F4AE133EAA9}"/>
              </a:ext>
            </a:extLst>
          </p:cNvPr>
          <p:cNvSpPr>
            <a:spLocks/>
          </p:cNvSpPr>
          <p:nvPr/>
        </p:nvSpPr>
        <p:spPr bwMode="auto">
          <a:xfrm>
            <a:off x="8512176" y="2324100"/>
            <a:ext cx="403225" cy="2400300"/>
          </a:xfrm>
          <a:custGeom>
            <a:avLst/>
            <a:gdLst>
              <a:gd name="T0" fmla="*/ 2147483646 w 254"/>
              <a:gd name="T1" fmla="*/ 0 h 1512"/>
              <a:gd name="T2" fmla="*/ 2147483646 w 254"/>
              <a:gd name="T3" fmla="*/ 2147483646 h 1512"/>
              <a:gd name="T4" fmla="*/ 2147483646 w 254"/>
              <a:gd name="T5" fmla="*/ 2147483646 h 1512"/>
              <a:gd name="T6" fmla="*/ 2147483646 w 254"/>
              <a:gd name="T7" fmla="*/ 2147483646 h 1512"/>
              <a:gd name="T8" fmla="*/ 2147483646 w 254"/>
              <a:gd name="T9" fmla="*/ 2147483646 h 15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4"/>
              <a:gd name="T16" fmla="*/ 0 h 1512"/>
              <a:gd name="T17" fmla="*/ 254 w 254"/>
              <a:gd name="T18" fmla="*/ 1512 h 151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4" h="1512">
                <a:moveTo>
                  <a:pt x="94" y="0"/>
                </a:moveTo>
                <a:cubicBezTo>
                  <a:pt x="81" y="56"/>
                  <a:pt x="0" y="211"/>
                  <a:pt x="24" y="343"/>
                </a:cubicBezTo>
                <a:cubicBezTo>
                  <a:pt x="48" y="475"/>
                  <a:pt x="225" y="670"/>
                  <a:pt x="239" y="792"/>
                </a:cubicBezTo>
                <a:cubicBezTo>
                  <a:pt x="254" y="915"/>
                  <a:pt x="117" y="959"/>
                  <a:pt x="114" y="1079"/>
                </a:cubicBezTo>
                <a:cubicBezTo>
                  <a:pt x="110" y="1198"/>
                  <a:pt x="199" y="1422"/>
                  <a:pt x="221" y="1512"/>
                </a:cubicBezTo>
              </a:path>
            </a:pathLst>
          </a:custGeom>
          <a:noFill/>
          <a:ln w="38100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61" name="Text Box 35">
            <a:extLst>
              <a:ext uri="{FF2B5EF4-FFF2-40B4-BE49-F238E27FC236}">
                <a16:creationId xmlns:a16="http://schemas.microsoft.com/office/drawing/2014/main" id="{FC093C43-1093-9CA2-45A0-93881A132E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9060" y="4953000"/>
            <a:ext cx="254749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c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Symbol" panose="05050102010706020507" pitchFamily="18" charset="2"/>
              </a:rPr>
              <a:t>c</a:t>
            </a:r>
            <a:r>
              <a:rPr lang="en-US" altLang="en-US" sz="1800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 </a:t>
            </a:r>
            <a:r>
              <a:rPr lang="en-US" altLang="en-US" sz="1800">
                <a:solidFill>
                  <a:schemeClr val="accent2"/>
                </a:solidFill>
                <a:latin typeface="Symbol" panose="05050102010706020507" pitchFamily="18" charset="2"/>
              </a:rPr>
              <a:t>=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12 </a:t>
            </a:r>
            <a:r>
              <a:rPr lang="en-US" altLang="en-US" sz="1800">
                <a:solidFill>
                  <a:schemeClr val="accent2"/>
                </a:solidFill>
                <a:latin typeface="Symbol" panose="05050102010706020507" pitchFamily="18" charset="2"/>
              </a:rPr>
              <a:t>=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6 </a:t>
            </a:r>
            <a:r>
              <a:rPr lang="en-US" altLang="en-US" sz="1800">
                <a:solidFill>
                  <a:schemeClr val="accent2"/>
                </a:solidFill>
                <a:latin typeface="Symbol" panose="05050102010706020507" pitchFamily="18" charset="2"/>
              </a:rPr>
              <a:t>+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3 </a:t>
            </a:r>
            <a:r>
              <a:rPr lang="en-US" altLang="en-US" sz="1800">
                <a:solidFill>
                  <a:schemeClr val="accent2"/>
                </a:solidFill>
                <a:latin typeface="Symbol" panose="05050102010706020507" pitchFamily="18" charset="2"/>
              </a:rPr>
              <a:t>+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1 </a:t>
            </a:r>
            <a:r>
              <a:rPr lang="en-US" altLang="en-US" sz="1800">
                <a:solidFill>
                  <a:schemeClr val="accent2"/>
                </a:solidFill>
                <a:latin typeface="Symbol" panose="05050102010706020507" pitchFamily="18" charset="2"/>
              </a:rPr>
              <a:t>+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2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c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Symbol" panose="05050102010706020507" pitchFamily="18" charset="2"/>
              </a:rPr>
              <a:t>c</a:t>
            </a:r>
            <a:r>
              <a:rPr lang="en-US" altLang="en-US" sz="1800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 </a:t>
            </a:r>
            <a:r>
              <a:rPr lang="en-US" altLang="en-US" sz="1800">
                <a:solidFill>
                  <a:schemeClr val="accent2"/>
                </a:solidFill>
                <a:latin typeface="Symbol" panose="05050102010706020507" pitchFamily="18" charset="2"/>
              </a:rPr>
              <a:t>=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21 </a:t>
            </a:r>
            <a:r>
              <a:rPr lang="en-US" altLang="en-US" sz="1800">
                <a:solidFill>
                  <a:schemeClr val="accent2"/>
                </a:solidFill>
                <a:latin typeface="Symbol" panose="05050102010706020507" pitchFamily="18" charset="2"/>
              </a:rPr>
              <a:t>=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3 </a:t>
            </a:r>
            <a:r>
              <a:rPr lang="en-US" altLang="en-US" sz="1800">
                <a:solidFill>
                  <a:schemeClr val="accent2"/>
                </a:solidFill>
                <a:latin typeface="Symbol" panose="05050102010706020507" pitchFamily="18" charset="2"/>
              </a:rPr>
              <a:t>+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7 </a:t>
            </a:r>
            <a:r>
              <a:rPr lang="en-US" altLang="en-US" sz="1800">
                <a:solidFill>
                  <a:schemeClr val="accent2"/>
                </a:solidFill>
                <a:latin typeface="Symbol" panose="05050102010706020507" pitchFamily="18" charset="2"/>
              </a:rPr>
              <a:t>+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9 </a:t>
            </a:r>
            <a:r>
              <a:rPr lang="en-US" altLang="en-US" sz="1800">
                <a:solidFill>
                  <a:schemeClr val="accent2"/>
                </a:solidFill>
                <a:latin typeface="Symbol" panose="05050102010706020507" pitchFamily="18" charset="2"/>
              </a:rPr>
              <a:t>+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2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|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f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| </a:t>
            </a:r>
            <a:r>
              <a:rPr lang="en-US" altLang="en-US" sz="1800">
                <a:solidFill>
                  <a:schemeClr val="tx2"/>
                </a:solidFill>
                <a:latin typeface="Symbol" panose="05050102010706020507" pitchFamily="18" charset="2"/>
              </a:rPr>
              <a:t>=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72629903-80C6-0624-1F16-C9F8E3B03E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Augmenting Path</a:t>
            </a:r>
          </a:p>
        </p:txBody>
      </p:sp>
      <p:sp>
        <p:nvSpPr>
          <p:cNvPr id="23554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A541CAE7-BEC8-F479-5FC3-AEB71B9304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05000" y="1295400"/>
            <a:ext cx="4267200" cy="51054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2000"/>
              <a:t>Consider a flow </a:t>
            </a:r>
            <a:r>
              <a:rPr lang="en-US" altLang="en-US" sz="2000" b="1" i="1">
                <a:latin typeface="Times New Roman" panose="02020603050405020304" pitchFamily="18" charset="0"/>
              </a:rPr>
              <a:t>f</a:t>
            </a:r>
            <a:r>
              <a:rPr lang="en-US" altLang="en-US" sz="2000"/>
              <a:t> for a network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</a:p>
          <a:p>
            <a:pPr>
              <a:lnSpc>
                <a:spcPct val="90000"/>
              </a:lnSpc>
            </a:pPr>
            <a:endParaRPr lang="en-US" altLang="en-US" sz="2000"/>
          </a:p>
          <a:p>
            <a:pPr>
              <a:lnSpc>
                <a:spcPct val="90000"/>
              </a:lnSpc>
            </a:pPr>
            <a:r>
              <a:rPr lang="en-US" altLang="en-US" sz="2000"/>
              <a:t>Let </a:t>
            </a:r>
            <a:r>
              <a:rPr lang="en-US" altLang="en-US" sz="2000" b="1" i="1">
                <a:latin typeface="Times New Roman" panose="02020603050405020304" pitchFamily="18" charset="0"/>
              </a:rPr>
              <a:t>e</a:t>
            </a:r>
            <a:r>
              <a:rPr lang="en-US" altLang="en-US" sz="2000"/>
              <a:t> be an edge from </a:t>
            </a:r>
            <a:r>
              <a:rPr lang="en-US" altLang="en-US" sz="2000" b="1" i="1">
                <a:latin typeface="Times New Roman" panose="02020603050405020304" pitchFamily="18" charset="0"/>
              </a:rPr>
              <a:t>u</a:t>
            </a:r>
            <a:r>
              <a:rPr lang="en-US" altLang="en-US" sz="2000"/>
              <a:t> to 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/>
              <a:t>:</a:t>
            </a:r>
          </a:p>
          <a:p>
            <a:pPr lvl="1">
              <a:lnSpc>
                <a:spcPct val="90000"/>
              </a:lnSpc>
            </a:pPr>
            <a:r>
              <a:rPr lang="en-US" altLang="en-US" sz="1800">
                <a:solidFill>
                  <a:srgbClr val="FF0000"/>
                </a:solidFill>
              </a:rPr>
              <a:t>Residual capacity </a:t>
            </a:r>
            <a:r>
              <a:rPr lang="en-US" altLang="en-US" sz="1800"/>
              <a:t>of </a:t>
            </a:r>
            <a:r>
              <a:rPr lang="en-US" altLang="en-US" sz="1800" b="1" i="1">
                <a:latin typeface="Times New Roman" panose="02020603050405020304" pitchFamily="18" charset="0"/>
              </a:rPr>
              <a:t>e</a:t>
            </a:r>
            <a:r>
              <a:rPr lang="en-US" altLang="en-US" sz="1800"/>
              <a:t> from </a:t>
            </a:r>
            <a:r>
              <a:rPr lang="en-US" altLang="en-US" sz="1800" b="1" i="1">
                <a:latin typeface="Times New Roman" panose="02020603050405020304" pitchFamily="18" charset="0"/>
              </a:rPr>
              <a:t>u</a:t>
            </a:r>
            <a:r>
              <a:rPr lang="en-US" altLang="en-US" sz="1800"/>
              <a:t> to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/>
              <a:t>: </a:t>
            </a:r>
            <a:r>
              <a:rPr lang="en-US" altLang="en-US" sz="1800" b="1" i="1">
                <a:latin typeface="Symbol" panose="05050102010706020507" pitchFamily="18" charset="2"/>
              </a:rPr>
              <a:t>D</a:t>
            </a:r>
            <a:r>
              <a:rPr lang="en-US" altLang="en-US" sz="1800" b="1" i="1" baseline="-25000">
                <a:latin typeface="Times New Roman" panose="02020603050405020304" pitchFamily="18" charset="0"/>
              </a:rPr>
              <a:t>f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u, v</a:t>
            </a:r>
            <a:r>
              <a:rPr lang="en-US" altLang="en-US" sz="1800">
                <a:latin typeface="Times New Roman" panose="02020603050405020304" pitchFamily="18" charset="0"/>
              </a:rPr>
              <a:t>) = </a:t>
            </a:r>
            <a:r>
              <a:rPr lang="en-US" altLang="en-US" sz="1800" b="1" i="1">
                <a:latin typeface="Times New Roman" panose="02020603050405020304" pitchFamily="18" charset="0"/>
              </a:rPr>
              <a:t>c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e</a:t>
            </a:r>
            <a:r>
              <a:rPr lang="en-US" altLang="en-US" sz="1800">
                <a:latin typeface="Times New Roman" panose="02020603050405020304" pitchFamily="18" charset="0"/>
              </a:rPr>
              <a:t>) </a:t>
            </a:r>
            <a:r>
              <a:rPr lang="en-US" altLang="en-US" sz="1800">
                <a:latin typeface="Symbol" panose="05050102010706020507" pitchFamily="18" charset="2"/>
              </a:rPr>
              <a:t>-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latin typeface="Times New Roman" panose="02020603050405020304" pitchFamily="18" charset="0"/>
              </a:rPr>
              <a:t>f</a:t>
            </a:r>
            <a:r>
              <a:rPr lang="en-US" altLang="en-US" sz="1800">
                <a:latin typeface="Times New Roman" panose="02020603050405020304" pitchFamily="18" charset="0"/>
              </a:rPr>
              <a:t> (</a:t>
            </a:r>
            <a:r>
              <a:rPr lang="en-US" altLang="en-US" sz="1800" b="1" i="1">
                <a:latin typeface="Times New Roman" panose="02020603050405020304" pitchFamily="18" charset="0"/>
              </a:rPr>
              <a:t>e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</a:p>
          <a:p>
            <a:pPr lvl="1">
              <a:lnSpc>
                <a:spcPct val="90000"/>
              </a:lnSpc>
            </a:pPr>
            <a:r>
              <a:rPr lang="en-US" altLang="en-US" sz="1800">
                <a:solidFill>
                  <a:srgbClr val="FF0000"/>
                </a:solidFill>
              </a:rPr>
              <a:t>Residual capacity </a:t>
            </a:r>
            <a:r>
              <a:rPr lang="en-US" altLang="en-US" sz="1800"/>
              <a:t>of </a:t>
            </a:r>
            <a:r>
              <a:rPr lang="en-US" altLang="en-US" sz="1800" b="1" i="1">
                <a:latin typeface="Times New Roman" panose="02020603050405020304" pitchFamily="18" charset="0"/>
              </a:rPr>
              <a:t>e</a:t>
            </a:r>
            <a:r>
              <a:rPr lang="en-US" altLang="en-US" sz="1800"/>
              <a:t> from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/>
              <a:t> to </a:t>
            </a:r>
            <a:r>
              <a:rPr lang="en-US" altLang="en-US" sz="1800" b="1" i="1">
                <a:latin typeface="Times New Roman" panose="02020603050405020304" pitchFamily="18" charset="0"/>
              </a:rPr>
              <a:t>u</a:t>
            </a:r>
            <a:r>
              <a:rPr lang="en-US" altLang="en-US" sz="1800"/>
              <a:t>: </a:t>
            </a:r>
            <a:r>
              <a:rPr lang="en-US" altLang="en-US" sz="1800" b="1" i="1">
                <a:latin typeface="Symbol" panose="05050102010706020507" pitchFamily="18" charset="2"/>
              </a:rPr>
              <a:t>D</a:t>
            </a:r>
            <a:r>
              <a:rPr lang="en-US" altLang="en-US" sz="1800" b="1" i="1" baseline="-25000">
                <a:latin typeface="Times New Roman" panose="02020603050405020304" pitchFamily="18" charset="0"/>
              </a:rPr>
              <a:t>f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v, u</a:t>
            </a:r>
            <a:r>
              <a:rPr lang="en-US" altLang="en-US" sz="1800">
                <a:latin typeface="Times New Roman" panose="02020603050405020304" pitchFamily="18" charset="0"/>
              </a:rPr>
              <a:t>) = </a:t>
            </a:r>
            <a:r>
              <a:rPr lang="en-US" altLang="en-US" sz="1800" b="1" i="1">
                <a:latin typeface="Times New Roman" panose="02020603050405020304" pitchFamily="18" charset="0"/>
              </a:rPr>
              <a:t>f</a:t>
            </a:r>
            <a:r>
              <a:rPr lang="en-US" altLang="en-US" sz="1800">
                <a:latin typeface="Times New Roman" panose="02020603050405020304" pitchFamily="18" charset="0"/>
              </a:rPr>
              <a:t> (</a:t>
            </a:r>
            <a:r>
              <a:rPr lang="en-US" altLang="en-US" sz="1800" b="1" i="1">
                <a:latin typeface="Times New Roman" panose="02020603050405020304" pitchFamily="18" charset="0"/>
              </a:rPr>
              <a:t>e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</a:p>
          <a:p>
            <a:pPr lvl="1">
              <a:lnSpc>
                <a:spcPct val="90000"/>
              </a:lnSpc>
            </a:pPr>
            <a:endParaRPr lang="en-US" altLang="en-US" sz="180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000"/>
              <a:t>Let </a:t>
            </a:r>
            <a:r>
              <a:rPr lang="en-US" altLang="en-US" sz="2000" b="1" i="1">
                <a:latin typeface="Symbol" panose="05050102010706020507" pitchFamily="18" charset="2"/>
              </a:rPr>
              <a:t>p</a:t>
            </a:r>
            <a:r>
              <a:rPr lang="en-US" altLang="en-US" sz="2000"/>
              <a:t> be a path from </a:t>
            </a:r>
            <a:r>
              <a:rPr lang="en-US" altLang="en-US" sz="2000" b="1" i="1">
                <a:latin typeface="Times New Roman" panose="02020603050405020304" pitchFamily="18" charset="0"/>
              </a:rPr>
              <a:t>s</a:t>
            </a:r>
            <a:r>
              <a:rPr lang="en-US" altLang="en-US" sz="2000"/>
              <a:t> to </a:t>
            </a:r>
            <a:r>
              <a:rPr lang="en-US" altLang="en-US" sz="2000" b="1" i="1">
                <a:latin typeface="Times New Roman" panose="02020603050405020304" pitchFamily="18" charset="0"/>
              </a:rPr>
              <a:t>t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The </a:t>
            </a:r>
            <a:r>
              <a:rPr lang="en-US" altLang="en-US" sz="1800">
                <a:solidFill>
                  <a:srgbClr val="FF0000"/>
                </a:solidFill>
              </a:rPr>
              <a:t>residual capacity </a:t>
            </a:r>
            <a:r>
              <a:rPr lang="en-US" altLang="en-US" sz="1800" b="1" i="1">
                <a:latin typeface="Symbol" panose="05050102010706020507" pitchFamily="18" charset="2"/>
              </a:rPr>
              <a:t>D</a:t>
            </a:r>
            <a:r>
              <a:rPr lang="en-US" altLang="en-US" sz="1800" b="1" i="1" baseline="-25000">
                <a:latin typeface="Times New Roman" panose="02020603050405020304" pitchFamily="18" charset="0"/>
              </a:rPr>
              <a:t>f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Symbol" panose="05050102010706020507" pitchFamily="18" charset="2"/>
              </a:rPr>
              <a:t>p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r>
              <a:rPr lang="en-US" altLang="en-US" sz="1800"/>
              <a:t> of</a:t>
            </a:r>
            <a:r>
              <a:rPr lang="en-US" altLang="en-US" sz="1800" b="1" i="1"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latin typeface="Symbol" panose="05050102010706020507" pitchFamily="18" charset="2"/>
              </a:rPr>
              <a:t>p</a:t>
            </a:r>
            <a:r>
              <a:rPr lang="en-US" altLang="en-US" sz="1800">
                <a:latin typeface="Symbol" panose="05050102010706020507" pitchFamily="18" charset="2"/>
              </a:rPr>
              <a:t> </a:t>
            </a:r>
            <a:r>
              <a:rPr lang="en-US" altLang="en-US" sz="1800"/>
              <a:t>is the smallest of the residual capacities of the edges of </a:t>
            </a:r>
            <a:r>
              <a:rPr lang="en-US" altLang="en-US" sz="1800" b="1" i="1">
                <a:latin typeface="Symbol" panose="05050102010706020507" pitchFamily="18" charset="2"/>
              </a:rPr>
              <a:t>p</a:t>
            </a:r>
            <a:r>
              <a:rPr lang="en-US" altLang="en-US" sz="1800"/>
              <a:t> in the direction from </a:t>
            </a:r>
            <a:r>
              <a:rPr lang="en-US" altLang="en-US" sz="1800" b="1" i="1">
                <a:latin typeface="Times New Roman" panose="02020603050405020304" pitchFamily="18" charset="0"/>
              </a:rPr>
              <a:t>s</a:t>
            </a:r>
            <a:r>
              <a:rPr lang="en-US" altLang="en-US" sz="1800"/>
              <a:t> to </a:t>
            </a:r>
            <a:r>
              <a:rPr lang="en-US" altLang="en-US" sz="1800" b="1" i="1">
                <a:latin typeface="Times New Roman" panose="02020603050405020304" pitchFamily="18" charset="0"/>
              </a:rPr>
              <a:t>t</a:t>
            </a:r>
          </a:p>
          <a:p>
            <a:pPr lvl="1">
              <a:lnSpc>
                <a:spcPct val="90000"/>
              </a:lnSpc>
            </a:pPr>
            <a:endParaRPr lang="en-US" altLang="en-US" sz="1800" b="1" i="1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000"/>
              <a:t>A path </a:t>
            </a:r>
            <a:r>
              <a:rPr lang="en-US" altLang="en-US" sz="2000" b="1" i="1">
                <a:latin typeface="Symbol" panose="05050102010706020507" pitchFamily="18" charset="2"/>
              </a:rPr>
              <a:t>p</a:t>
            </a:r>
            <a:r>
              <a:rPr lang="en-US" altLang="en-US" sz="2000"/>
              <a:t> from </a:t>
            </a:r>
            <a:r>
              <a:rPr lang="en-US" altLang="en-US" sz="2000" b="1" i="1">
                <a:latin typeface="Times New Roman" panose="02020603050405020304" pitchFamily="18" charset="0"/>
              </a:rPr>
              <a:t>s</a:t>
            </a:r>
            <a:r>
              <a:rPr lang="en-US" altLang="en-US" sz="2000"/>
              <a:t> to </a:t>
            </a:r>
            <a:r>
              <a:rPr lang="en-US" altLang="en-US" sz="2000" b="1" i="1">
                <a:latin typeface="Times New Roman" panose="02020603050405020304" pitchFamily="18" charset="0"/>
              </a:rPr>
              <a:t>t </a:t>
            </a:r>
            <a:r>
              <a:rPr lang="en-US" altLang="en-US" sz="2000"/>
              <a:t>is an </a:t>
            </a:r>
            <a:r>
              <a:rPr lang="en-US" altLang="en-US" sz="2000">
                <a:solidFill>
                  <a:srgbClr val="FF0000"/>
                </a:solidFill>
              </a:rPr>
              <a:t>augmenting path </a:t>
            </a:r>
            <a:r>
              <a:rPr lang="en-US" altLang="en-US" sz="2000"/>
              <a:t>if </a:t>
            </a:r>
            <a:r>
              <a:rPr lang="en-US" altLang="en-US" sz="2000" b="1" i="1">
                <a:latin typeface="Symbol" panose="05050102010706020507" pitchFamily="18" charset="2"/>
              </a:rPr>
              <a:t>D</a:t>
            </a:r>
            <a:r>
              <a:rPr lang="en-US" altLang="en-US" sz="2000" b="1" i="1" baseline="-25000">
                <a:latin typeface="Times New Roman" panose="02020603050405020304" pitchFamily="18" charset="0"/>
              </a:rPr>
              <a:t>f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Symbol" panose="05050102010706020507" pitchFamily="18" charset="2"/>
              </a:rPr>
              <a:t>p</a:t>
            </a:r>
            <a:r>
              <a:rPr lang="en-US" altLang="en-US" sz="2000">
                <a:latin typeface="Times New Roman" panose="02020603050405020304" pitchFamily="18" charset="0"/>
              </a:rPr>
              <a:t>) </a:t>
            </a:r>
            <a:r>
              <a:rPr lang="en-US" altLang="en-US" sz="2000">
                <a:latin typeface="Symbol" panose="05050102010706020507" pitchFamily="18" charset="2"/>
              </a:rPr>
              <a:t>&gt;</a:t>
            </a:r>
            <a:r>
              <a:rPr lang="en-US" altLang="en-US" sz="2000">
                <a:latin typeface="Times New Roman" panose="02020603050405020304" pitchFamily="18" charset="0"/>
              </a:rPr>
              <a:t> 0</a:t>
            </a:r>
          </a:p>
        </p:txBody>
      </p:sp>
      <p:sp>
        <p:nvSpPr>
          <p:cNvPr id="23555" name="Oval 4">
            <a:extLst>
              <a:ext uri="{FF2B5EF4-FFF2-40B4-BE49-F238E27FC236}">
                <a16:creationId xmlns:a16="http://schemas.microsoft.com/office/drawing/2014/main" id="{A6B1469C-29E4-FBCE-ADDA-BB445E5C341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26438" y="2847976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23556" name="Oval 5">
            <a:extLst>
              <a:ext uri="{FF2B5EF4-FFF2-40B4-BE49-F238E27FC236}">
                <a16:creationId xmlns:a16="http://schemas.microsoft.com/office/drawing/2014/main" id="{7B2BBD0E-D7DE-4BEB-4DD2-DCD1268BCAC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77001" y="2622551"/>
            <a:ext cx="366713" cy="366713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3557" name="Oval 6">
            <a:extLst>
              <a:ext uri="{FF2B5EF4-FFF2-40B4-BE49-F238E27FC236}">
                <a16:creationId xmlns:a16="http://schemas.microsoft.com/office/drawing/2014/main" id="{55896ECC-A279-CF1F-10BD-2232C155EB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80313" y="1889126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23558" name="Oval 7">
            <a:extLst>
              <a:ext uri="{FF2B5EF4-FFF2-40B4-BE49-F238E27FC236}">
                <a16:creationId xmlns:a16="http://schemas.microsoft.com/office/drawing/2014/main" id="{5AF9B72D-19E5-DBCD-3539-67B4BA8AA52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04101" y="3541713"/>
            <a:ext cx="366713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23559" name="Oval 8">
            <a:extLst>
              <a:ext uri="{FF2B5EF4-FFF2-40B4-BE49-F238E27FC236}">
                <a16:creationId xmlns:a16="http://schemas.microsoft.com/office/drawing/2014/main" id="{78191C69-850A-E302-D476-E07D1A4CC2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669463" y="2419351"/>
            <a:ext cx="366712" cy="366713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3560" name="Oval 9">
            <a:extLst>
              <a:ext uri="{FF2B5EF4-FFF2-40B4-BE49-F238E27FC236}">
                <a16:creationId xmlns:a16="http://schemas.microsoft.com/office/drawing/2014/main" id="{1EA5D4DE-49C1-BFBF-2A12-F89BB8AC365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221788" y="3530601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z</a:t>
            </a:r>
          </a:p>
        </p:txBody>
      </p:sp>
      <p:sp>
        <p:nvSpPr>
          <p:cNvPr id="23561" name="Text Box 10">
            <a:extLst>
              <a:ext uri="{FF2B5EF4-FFF2-40B4-BE49-F238E27FC236}">
                <a16:creationId xmlns:a16="http://schemas.microsoft.com/office/drawing/2014/main" id="{611A1BD0-667A-581A-5A17-F76D6C77B4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3625" y="2600326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23562" name="Text Box 11">
            <a:extLst>
              <a:ext uri="{FF2B5EF4-FFF2-40B4-BE49-F238E27FC236}">
                <a16:creationId xmlns:a16="http://schemas.microsoft.com/office/drawing/2014/main" id="{4CC06D47-5CFD-51D3-7260-E956A3972B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1425" y="3033713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  <a:sym typeface="Symbol" panose="05050102010706020507" pitchFamily="18" charset="2"/>
              </a:rPr>
              <a:t>9</a:t>
            </a:r>
          </a:p>
        </p:txBody>
      </p:sp>
      <p:sp>
        <p:nvSpPr>
          <p:cNvPr id="23563" name="Text Box 12">
            <a:extLst>
              <a:ext uri="{FF2B5EF4-FFF2-40B4-BE49-F238E27FC236}">
                <a16:creationId xmlns:a16="http://schemas.microsoft.com/office/drawing/2014/main" id="{D15CB164-5089-A433-0D42-2C1B60956D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8000" y="2324101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3564" name="Text Box 13">
            <a:extLst>
              <a:ext uri="{FF2B5EF4-FFF2-40B4-BE49-F238E27FC236}">
                <a16:creationId xmlns:a16="http://schemas.microsoft.com/office/drawing/2014/main" id="{0AFAA211-A91A-1717-5965-CB695022C4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50" y="1905001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3565" name="Text Box 14">
            <a:extLst>
              <a:ext uri="{FF2B5EF4-FFF2-40B4-BE49-F238E27FC236}">
                <a16:creationId xmlns:a16="http://schemas.microsoft.com/office/drawing/2014/main" id="{088A4AF1-E1EE-B40A-C51D-13FF90E156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53475" y="2454276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23566" name="Text Box 15">
            <a:extLst>
              <a:ext uri="{FF2B5EF4-FFF2-40B4-BE49-F238E27FC236}">
                <a16:creationId xmlns:a16="http://schemas.microsoft.com/office/drawing/2014/main" id="{E5012BFC-1082-B182-87B1-E7FA75A88E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1650" y="2117726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23567" name="Text Box 16">
            <a:extLst>
              <a:ext uri="{FF2B5EF4-FFF2-40B4-BE49-F238E27FC236}">
                <a16:creationId xmlns:a16="http://schemas.microsoft.com/office/drawing/2014/main" id="{16FA9166-0280-EDE4-56DF-7CE9B6F668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47225" y="3033713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4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3568" name="Text Box 17">
            <a:extLst>
              <a:ext uri="{FF2B5EF4-FFF2-40B4-BE49-F238E27FC236}">
                <a16:creationId xmlns:a16="http://schemas.microsoft.com/office/drawing/2014/main" id="{9E7C0954-0ABF-5862-1B61-75C65C373E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3138488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3569" name="Text Box 18">
            <a:extLst>
              <a:ext uri="{FF2B5EF4-FFF2-40B4-BE49-F238E27FC236}">
                <a16:creationId xmlns:a16="http://schemas.microsoft.com/office/drawing/2014/main" id="{3D97F17E-9F2A-A831-BD51-E616ACB3F5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250" y="3217863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3570" name="Text Box 19">
            <a:extLst>
              <a:ext uri="{FF2B5EF4-FFF2-40B4-BE49-F238E27FC236}">
                <a16:creationId xmlns:a16="http://schemas.microsoft.com/office/drawing/2014/main" id="{8C2B5A10-33F2-7C00-0505-E26F497D6E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8800" y="3665538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cxnSp>
        <p:nvCxnSpPr>
          <p:cNvPr id="23571" name="AutoShape 20">
            <a:extLst>
              <a:ext uri="{FF2B5EF4-FFF2-40B4-BE49-F238E27FC236}">
                <a16:creationId xmlns:a16="http://schemas.microsoft.com/office/drawing/2014/main" id="{6388228C-AB0D-AE2E-A9DD-F1076189278E}"/>
              </a:ext>
            </a:extLst>
          </p:cNvPr>
          <p:cNvCxnSpPr>
            <a:cxnSpLocks noChangeShapeType="1"/>
            <a:stCxn id="23556" idx="7"/>
            <a:endCxn id="23557" idx="3"/>
          </p:cNvCxnSpPr>
          <p:nvPr/>
        </p:nvCxnSpPr>
        <p:spPr bwMode="auto">
          <a:xfrm flipV="1">
            <a:off x="6789738" y="2211388"/>
            <a:ext cx="842962" cy="4445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72" name="AutoShape 21">
            <a:extLst>
              <a:ext uri="{FF2B5EF4-FFF2-40B4-BE49-F238E27FC236}">
                <a16:creationId xmlns:a16="http://schemas.microsoft.com/office/drawing/2014/main" id="{82B65F51-9063-8F88-DEE8-E6ED826FE15D}"/>
              </a:ext>
            </a:extLst>
          </p:cNvPr>
          <p:cNvCxnSpPr>
            <a:cxnSpLocks noChangeShapeType="1"/>
            <a:stCxn id="23556" idx="5"/>
            <a:endCxn id="23558" idx="1"/>
          </p:cNvCxnSpPr>
          <p:nvPr/>
        </p:nvCxnSpPr>
        <p:spPr bwMode="auto">
          <a:xfrm>
            <a:off x="6789738" y="2954339"/>
            <a:ext cx="666750" cy="630237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73" name="AutoShape 22">
            <a:extLst>
              <a:ext uri="{FF2B5EF4-FFF2-40B4-BE49-F238E27FC236}">
                <a16:creationId xmlns:a16="http://schemas.microsoft.com/office/drawing/2014/main" id="{819E44D1-3400-9A86-415A-90932D6E20AA}"/>
              </a:ext>
            </a:extLst>
          </p:cNvPr>
          <p:cNvCxnSpPr>
            <a:cxnSpLocks noChangeShapeType="1"/>
            <a:stCxn id="23557" idx="5"/>
            <a:endCxn id="23555" idx="1"/>
          </p:cNvCxnSpPr>
          <p:nvPr/>
        </p:nvCxnSpPr>
        <p:spPr bwMode="auto">
          <a:xfrm>
            <a:off x="7893051" y="2211388"/>
            <a:ext cx="485775" cy="67945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74" name="AutoShape 23">
            <a:extLst>
              <a:ext uri="{FF2B5EF4-FFF2-40B4-BE49-F238E27FC236}">
                <a16:creationId xmlns:a16="http://schemas.microsoft.com/office/drawing/2014/main" id="{58F51DE8-AE2E-5A46-56C8-17F20A670DB0}"/>
              </a:ext>
            </a:extLst>
          </p:cNvPr>
          <p:cNvCxnSpPr>
            <a:cxnSpLocks noChangeShapeType="1"/>
            <a:stCxn id="23557" idx="6"/>
            <a:endCxn id="23559" idx="1"/>
          </p:cNvCxnSpPr>
          <p:nvPr/>
        </p:nvCxnSpPr>
        <p:spPr bwMode="auto">
          <a:xfrm>
            <a:off x="7954964" y="2071688"/>
            <a:ext cx="1766887" cy="38100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75" name="AutoShape 24">
            <a:extLst>
              <a:ext uri="{FF2B5EF4-FFF2-40B4-BE49-F238E27FC236}">
                <a16:creationId xmlns:a16="http://schemas.microsoft.com/office/drawing/2014/main" id="{B2D242A1-2428-0B29-A736-28A2F709CE2C}"/>
              </a:ext>
            </a:extLst>
          </p:cNvPr>
          <p:cNvCxnSpPr>
            <a:cxnSpLocks noChangeShapeType="1"/>
            <a:stCxn id="23555" idx="7"/>
            <a:endCxn id="23559" idx="2"/>
          </p:cNvCxnSpPr>
          <p:nvPr/>
        </p:nvCxnSpPr>
        <p:spPr bwMode="auto">
          <a:xfrm flipV="1">
            <a:off x="8639175" y="2601914"/>
            <a:ext cx="1009650" cy="2889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76" name="AutoShape 25">
            <a:extLst>
              <a:ext uri="{FF2B5EF4-FFF2-40B4-BE49-F238E27FC236}">
                <a16:creationId xmlns:a16="http://schemas.microsoft.com/office/drawing/2014/main" id="{0F9112FF-007F-199B-0378-FD098E5A702A}"/>
              </a:ext>
            </a:extLst>
          </p:cNvPr>
          <p:cNvCxnSpPr>
            <a:cxnSpLocks noChangeShapeType="1"/>
            <a:stCxn id="23555" idx="5"/>
            <a:endCxn id="23560" idx="1"/>
          </p:cNvCxnSpPr>
          <p:nvPr/>
        </p:nvCxnSpPr>
        <p:spPr bwMode="auto">
          <a:xfrm>
            <a:off x="8639175" y="3170239"/>
            <a:ext cx="635000" cy="4032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77" name="AutoShape 26">
            <a:extLst>
              <a:ext uri="{FF2B5EF4-FFF2-40B4-BE49-F238E27FC236}">
                <a16:creationId xmlns:a16="http://schemas.microsoft.com/office/drawing/2014/main" id="{6314C41B-68A3-6190-BD8F-ED0C239BAAB9}"/>
              </a:ext>
            </a:extLst>
          </p:cNvPr>
          <p:cNvCxnSpPr>
            <a:cxnSpLocks noChangeShapeType="1"/>
            <a:stCxn id="23560" idx="0"/>
            <a:endCxn id="23559" idx="3"/>
          </p:cNvCxnSpPr>
          <p:nvPr/>
        </p:nvCxnSpPr>
        <p:spPr bwMode="auto">
          <a:xfrm flipV="1">
            <a:off x="9404350" y="2751138"/>
            <a:ext cx="317500" cy="7683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78" name="AutoShape 27">
            <a:extLst>
              <a:ext uri="{FF2B5EF4-FFF2-40B4-BE49-F238E27FC236}">
                <a16:creationId xmlns:a16="http://schemas.microsoft.com/office/drawing/2014/main" id="{EE98F37A-6C24-122C-426B-A9644FDCADF1}"/>
              </a:ext>
            </a:extLst>
          </p:cNvPr>
          <p:cNvCxnSpPr>
            <a:cxnSpLocks noChangeShapeType="1"/>
            <a:stCxn id="23558" idx="6"/>
            <a:endCxn id="23560" idx="2"/>
          </p:cNvCxnSpPr>
          <p:nvPr/>
        </p:nvCxnSpPr>
        <p:spPr bwMode="auto">
          <a:xfrm flipV="1">
            <a:off x="7778751" y="3713163"/>
            <a:ext cx="1431925" cy="11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79" name="AutoShape 28">
            <a:extLst>
              <a:ext uri="{FF2B5EF4-FFF2-40B4-BE49-F238E27FC236}">
                <a16:creationId xmlns:a16="http://schemas.microsoft.com/office/drawing/2014/main" id="{8B7B36C1-0C8A-E6F7-A2F8-B1552D716902}"/>
              </a:ext>
            </a:extLst>
          </p:cNvPr>
          <p:cNvCxnSpPr>
            <a:cxnSpLocks noChangeShapeType="1"/>
            <a:stCxn id="23558" idx="7"/>
            <a:endCxn id="23555" idx="3"/>
          </p:cNvCxnSpPr>
          <p:nvPr/>
        </p:nvCxnSpPr>
        <p:spPr bwMode="auto">
          <a:xfrm flipV="1">
            <a:off x="7716839" y="3170239"/>
            <a:ext cx="661987" cy="414337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80" name="AutoShape 29">
            <a:extLst>
              <a:ext uri="{FF2B5EF4-FFF2-40B4-BE49-F238E27FC236}">
                <a16:creationId xmlns:a16="http://schemas.microsoft.com/office/drawing/2014/main" id="{0E38BD86-6011-B1CD-AC4A-AD25B883DF2D}"/>
              </a:ext>
            </a:extLst>
          </p:cNvPr>
          <p:cNvCxnSpPr>
            <a:cxnSpLocks noChangeShapeType="1"/>
            <a:stCxn id="23556" idx="6"/>
            <a:endCxn id="23555" idx="2"/>
          </p:cNvCxnSpPr>
          <p:nvPr/>
        </p:nvCxnSpPr>
        <p:spPr bwMode="auto">
          <a:xfrm>
            <a:off x="6861175" y="2805114"/>
            <a:ext cx="1454150" cy="2254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81" name="Text Box 31">
            <a:extLst>
              <a:ext uri="{FF2B5EF4-FFF2-40B4-BE49-F238E27FC236}">
                <a16:creationId xmlns:a16="http://schemas.microsoft.com/office/drawing/2014/main" id="{2F20EEF8-FE75-8C8C-43EB-30E7D46D2D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1676400"/>
            <a:ext cx="5334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Symbol" panose="05050102010706020507" pitchFamily="18" charset="2"/>
              </a:rPr>
              <a:t>p</a:t>
            </a:r>
            <a:endParaRPr lang="en-US" altLang="en-US" sz="1800" baseline="-250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82" name="Text Box 34">
            <a:extLst>
              <a:ext uri="{FF2B5EF4-FFF2-40B4-BE49-F238E27FC236}">
                <a16:creationId xmlns:a16="http://schemas.microsoft.com/office/drawing/2014/main" id="{A6831751-BEFC-3CA4-EA35-585867C639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4339" y="4114800"/>
            <a:ext cx="1228725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tx2"/>
                </a:solidFill>
                <a:latin typeface="Symbol" panose="05050102010706020507" pitchFamily="18" charset="2"/>
              </a:rPr>
              <a:t>D</a:t>
            </a:r>
            <a:r>
              <a:rPr lang="en-US" altLang="en-US" sz="1800" b="1" i="1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f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s,u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) </a:t>
            </a:r>
            <a:r>
              <a:rPr lang="en-US" altLang="en-US" sz="1800">
                <a:solidFill>
                  <a:schemeClr val="tx2"/>
                </a:solidFill>
                <a:latin typeface="Symbol" panose="05050102010706020507" pitchFamily="18" charset="2"/>
              </a:rPr>
              <a:t>=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3</a:t>
            </a:r>
            <a:endParaRPr lang="en-US" altLang="en-US" sz="1800" b="1" i="1">
              <a:solidFill>
                <a:schemeClr val="tx2"/>
              </a:solidFill>
              <a:latin typeface="Symbol" panose="05050102010706020507" pitchFamily="18" charset="2"/>
            </a:endParaRPr>
          </a:p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tx2"/>
                </a:solidFill>
                <a:latin typeface="Symbol" panose="05050102010706020507" pitchFamily="18" charset="2"/>
              </a:rPr>
              <a:t>D</a:t>
            </a:r>
            <a:r>
              <a:rPr lang="en-US" altLang="en-US" sz="1800" b="1" i="1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f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u,w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) </a:t>
            </a:r>
            <a:r>
              <a:rPr lang="en-US" altLang="en-US" sz="1800">
                <a:solidFill>
                  <a:schemeClr val="tx2"/>
                </a:solidFill>
                <a:latin typeface="Symbol" panose="05050102010706020507" pitchFamily="18" charset="2"/>
              </a:rPr>
              <a:t>=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1</a:t>
            </a:r>
            <a:endParaRPr lang="en-US" altLang="en-US" sz="1800" b="1" i="1">
              <a:solidFill>
                <a:schemeClr val="tx2"/>
              </a:solidFill>
              <a:latin typeface="Symbol" panose="05050102010706020507" pitchFamily="18" charset="2"/>
            </a:endParaRPr>
          </a:p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tx2"/>
                </a:solidFill>
                <a:latin typeface="Symbol" panose="05050102010706020507" pitchFamily="18" charset="2"/>
              </a:rPr>
              <a:t>D</a:t>
            </a:r>
            <a:r>
              <a:rPr lang="en-US" altLang="en-US" sz="1800" b="1" i="1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f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w,v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) </a:t>
            </a:r>
            <a:r>
              <a:rPr lang="en-US" altLang="en-US" sz="1800">
                <a:solidFill>
                  <a:schemeClr val="tx2"/>
                </a:solidFill>
                <a:latin typeface="Symbol" panose="05050102010706020507" pitchFamily="18" charset="2"/>
              </a:rPr>
              <a:t>=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1</a:t>
            </a:r>
            <a:endParaRPr lang="en-US" altLang="en-US" sz="1800" b="1" i="1">
              <a:solidFill>
                <a:schemeClr val="tx2"/>
              </a:solidFill>
              <a:latin typeface="Symbol" panose="05050102010706020507" pitchFamily="18" charset="2"/>
            </a:endParaRPr>
          </a:p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tx2"/>
                </a:solidFill>
                <a:latin typeface="Symbol" panose="05050102010706020507" pitchFamily="18" charset="2"/>
              </a:rPr>
              <a:t>D</a:t>
            </a:r>
            <a:r>
              <a:rPr lang="en-US" altLang="en-US" sz="1800" b="1" i="1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f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v,t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) </a:t>
            </a:r>
            <a:r>
              <a:rPr lang="en-US" altLang="en-US" sz="1800">
                <a:solidFill>
                  <a:schemeClr val="tx2"/>
                </a:solidFill>
                <a:latin typeface="Symbol" panose="05050102010706020507" pitchFamily="18" charset="2"/>
              </a:rPr>
              <a:t>=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2</a:t>
            </a:r>
            <a:endParaRPr lang="en-US" altLang="en-US" sz="1800" b="1" i="1">
              <a:solidFill>
                <a:schemeClr val="tx2"/>
              </a:solidFill>
              <a:latin typeface="Symbol" panose="05050102010706020507" pitchFamily="18" charset="2"/>
            </a:endParaRPr>
          </a:p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  <a:latin typeface="Symbol" panose="05050102010706020507" pitchFamily="18" charset="2"/>
              </a:rPr>
              <a:t>D</a:t>
            </a:r>
            <a:r>
              <a:rPr lang="en-US" altLang="en-US" sz="1800" b="1" i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en-US" sz="180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rgbClr val="FF0000"/>
                </a:solidFill>
                <a:latin typeface="Symbol" panose="05050102010706020507" pitchFamily="18" charset="2"/>
              </a:rPr>
              <a:t>p</a:t>
            </a:r>
            <a:r>
              <a:rPr lang="en-US" altLang="en-US" sz="1800">
                <a:solidFill>
                  <a:srgbClr val="FF0000"/>
                </a:solidFill>
                <a:latin typeface="Times New Roman" panose="02020603050405020304" pitchFamily="18" charset="0"/>
              </a:rPr>
              <a:t>) </a:t>
            </a:r>
            <a:r>
              <a:rPr lang="en-US" altLang="en-US" sz="1800">
                <a:solidFill>
                  <a:srgbClr val="FF0000"/>
                </a:solidFill>
                <a:latin typeface="Symbol" panose="05050102010706020507" pitchFamily="18" charset="2"/>
              </a:rPr>
              <a:t>=</a:t>
            </a:r>
            <a:r>
              <a:rPr lang="en-US" altLang="en-US" sz="1800">
                <a:solidFill>
                  <a:srgbClr val="FF0000"/>
                </a:solidFill>
                <a:latin typeface="Times New Roman" panose="02020603050405020304" pitchFamily="18" charset="0"/>
              </a:rPr>
              <a:t> 1</a:t>
            </a:r>
          </a:p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|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f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| </a:t>
            </a:r>
            <a:r>
              <a:rPr lang="en-US" altLang="en-US" sz="1800">
                <a:solidFill>
                  <a:schemeClr val="tx2"/>
                </a:solidFill>
                <a:latin typeface="Symbol" panose="05050102010706020507" pitchFamily="18" charset="2"/>
              </a:rPr>
              <a:t>=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B33BCDE1-54C8-7785-C1B2-6AADFF1D21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Flow Augmentation</a:t>
            </a:r>
          </a:p>
        </p:txBody>
      </p:sp>
      <p:sp>
        <p:nvSpPr>
          <p:cNvPr id="24578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ED876E6-6EC8-0195-4BA8-EB80EF51DD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05000" y="1219200"/>
            <a:ext cx="3962400" cy="472440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Lemma: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/>
              <a:t>	Let </a:t>
            </a:r>
            <a:r>
              <a:rPr lang="en-US" altLang="en-US" sz="2000" b="1" i="1">
                <a:latin typeface="Symbol" panose="05050102010706020507" pitchFamily="18" charset="2"/>
              </a:rPr>
              <a:t>p</a:t>
            </a:r>
            <a:r>
              <a:rPr lang="en-US" altLang="en-US" sz="2000"/>
              <a:t> be an augmenting path for flow </a:t>
            </a:r>
            <a:r>
              <a:rPr lang="en-US" altLang="en-US" sz="2000" b="1" i="1">
                <a:latin typeface="Times New Roman" panose="02020603050405020304" pitchFamily="18" charset="0"/>
              </a:rPr>
              <a:t>f</a:t>
            </a:r>
            <a:r>
              <a:rPr lang="en-US" altLang="en-US" sz="2000"/>
              <a:t> in network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/>
              <a:t>. There exists a flow </a:t>
            </a:r>
            <a:r>
              <a:rPr lang="en-US" altLang="en-US" sz="2000" b="1" i="1">
                <a:latin typeface="Times New Roman" panose="02020603050405020304" pitchFamily="18" charset="0"/>
              </a:rPr>
              <a:t>f</a:t>
            </a:r>
            <a:r>
              <a:rPr lang="en-US" altLang="en-US" sz="2000" b="1" i="1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en-US" sz="2000"/>
              <a:t> for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/>
              <a:t> of value</a:t>
            </a:r>
            <a:br>
              <a:rPr lang="en-US" altLang="en-US" sz="2000"/>
            </a:br>
            <a:r>
              <a:rPr lang="en-US" altLang="en-US" sz="2000"/>
              <a:t>	</a:t>
            </a:r>
            <a:r>
              <a:rPr lang="en-US" altLang="en-US" sz="2000">
                <a:latin typeface="Times New Roman" panose="02020603050405020304" pitchFamily="18" charset="0"/>
              </a:rPr>
              <a:t>| </a:t>
            </a:r>
            <a:r>
              <a:rPr lang="en-US" altLang="en-US" sz="2000" b="1" i="1">
                <a:latin typeface="Times New Roman" panose="02020603050405020304" pitchFamily="18" charset="0"/>
              </a:rPr>
              <a:t>f</a:t>
            </a:r>
            <a:r>
              <a:rPr lang="en-US" altLang="en-US" sz="2000" b="1" i="1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en-US" sz="2000"/>
              <a:t> </a:t>
            </a:r>
            <a:r>
              <a:rPr lang="en-US" altLang="en-US" sz="2000">
                <a:latin typeface="Times New Roman" panose="02020603050405020304" pitchFamily="18" charset="0"/>
              </a:rPr>
              <a:t>| </a:t>
            </a:r>
            <a:r>
              <a:rPr lang="en-US" altLang="en-US" sz="2000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en-US" sz="2000">
                <a:latin typeface="Times New Roman" panose="02020603050405020304" pitchFamily="18" charset="0"/>
              </a:rPr>
              <a:t> |</a:t>
            </a:r>
            <a:r>
              <a:rPr lang="en-US" altLang="en-US" sz="2000" b="1" i="1">
                <a:latin typeface="Times New Roman" panose="02020603050405020304" pitchFamily="18" charset="0"/>
              </a:rPr>
              <a:t>f </a:t>
            </a:r>
            <a:r>
              <a:rPr lang="en-US" altLang="en-US" sz="2000">
                <a:latin typeface="Times New Roman" panose="02020603050405020304" pitchFamily="18" charset="0"/>
              </a:rPr>
              <a:t>| </a:t>
            </a:r>
            <a:r>
              <a:rPr lang="en-US" altLang="en-US" sz="2000">
                <a:latin typeface="Symbol" panose="05050102010706020507" pitchFamily="18" charset="2"/>
                <a:sym typeface="Symbol" panose="05050102010706020507" pitchFamily="18" charset="2"/>
              </a:rPr>
              <a:t>+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b="1" i="1">
                <a:latin typeface="Symbol" panose="05050102010706020507" pitchFamily="18" charset="2"/>
              </a:rPr>
              <a:t>D</a:t>
            </a:r>
            <a:r>
              <a:rPr lang="en-US" altLang="en-US" sz="2000" b="1" i="1" baseline="-25000">
                <a:latin typeface="Times New Roman" panose="02020603050405020304" pitchFamily="18" charset="0"/>
              </a:rPr>
              <a:t>f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Symbol" panose="05050102010706020507" pitchFamily="18" charset="2"/>
              </a:rPr>
              <a:t>p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000"/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rgbClr val="000000"/>
                </a:solidFill>
              </a:rPr>
              <a:t>	Proof:</a:t>
            </a:r>
            <a:r>
              <a:rPr lang="en-US" altLang="en-US" sz="2000"/>
              <a:t>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/>
              <a:t>	We compute flow </a:t>
            </a:r>
            <a:r>
              <a:rPr lang="en-US" altLang="en-US" sz="2000" b="1" i="1">
                <a:latin typeface="Times New Roman" panose="02020603050405020304" pitchFamily="18" charset="0"/>
              </a:rPr>
              <a:t>f</a:t>
            </a:r>
            <a:r>
              <a:rPr lang="en-US" altLang="en-US" sz="2000" b="1" i="1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en-US" sz="2000"/>
              <a:t> by modifying the flow on the edges of </a:t>
            </a:r>
            <a:r>
              <a:rPr lang="en-US" altLang="en-US" sz="2000" b="1" i="1">
                <a:latin typeface="Symbol" panose="05050102010706020507" pitchFamily="18" charset="2"/>
              </a:rPr>
              <a:t>p</a:t>
            </a:r>
          </a:p>
          <a:p>
            <a:pPr lvl="1"/>
            <a:r>
              <a:rPr lang="en-US" altLang="en-US" sz="1800"/>
              <a:t>Forward edge:</a:t>
            </a:r>
            <a:br>
              <a:rPr lang="en-US" altLang="en-US" sz="1800"/>
            </a:br>
            <a:r>
              <a:rPr lang="en-US" altLang="en-US" sz="1800"/>
              <a:t>		</a:t>
            </a:r>
            <a:r>
              <a:rPr lang="en-US" altLang="en-US" sz="1800" b="1" i="1">
                <a:latin typeface="Times New Roman" panose="02020603050405020304" pitchFamily="18" charset="0"/>
              </a:rPr>
              <a:t>f</a:t>
            </a:r>
            <a:r>
              <a:rPr lang="en-US" altLang="en-US" sz="1800" b="1" i="1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en-US" sz="1800"/>
              <a:t> 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e</a:t>
            </a:r>
            <a:r>
              <a:rPr lang="en-US" altLang="en-US" sz="1800">
                <a:latin typeface="Times New Roman" panose="02020603050405020304" pitchFamily="18" charset="0"/>
              </a:rPr>
              <a:t>) = </a:t>
            </a:r>
            <a:r>
              <a:rPr lang="en-US" altLang="en-US" sz="1800" b="1" i="1">
                <a:latin typeface="Times New Roman" panose="02020603050405020304" pitchFamily="18" charset="0"/>
              </a:rPr>
              <a:t>f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e</a:t>
            </a:r>
            <a:r>
              <a:rPr lang="en-US" altLang="en-US" sz="1800">
                <a:latin typeface="Times New Roman" panose="02020603050405020304" pitchFamily="18" charset="0"/>
              </a:rPr>
              <a:t>) </a:t>
            </a:r>
            <a:r>
              <a:rPr lang="en-US" altLang="en-US" sz="1800">
                <a:latin typeface="Symbol" panose="05050102010706020507" pitchFamily="18" charset="2"/>
              </a:rPr>
              <a:t>+ </a:t>
            </a:r>
            <a:r>
              <a:rPr lang="en-US" altLang="en-US" sz="1800" b="1" i="1">
                <a:latin typeface="Symbol" panose="05050102010706020507" pitchFamily="18" charset="2"/>
              </a:rPr>
              <a:t>D</a:t>
            </a:r>
            <a:r>
              <a:rPr lang="en-US" altLang="en-US" sz="1800" b="1" i="1" baseline="-25000">
                <a:latin typeface="Times New Roman" panose="02020603050405020304" pitchFamily="18" charset="0"/>
              </a:rPr>
              <a:t>f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Symbol" panose="05050102010706020507" pitchFamily="18" charset="2"/>
              </a:rPr>
              <a:t>p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r>
              <a:rPr lang="en-US" altLang="en-US" sz="1800">
                <a:latin typeface="Symbol" panose="05050102010706020507" pitchFamily="18" charset="2"/>
              </a:rPr>
              <a:t> </a:t>
            </a:r>
          </a:p>
          <a:p>
            <a:pPr lvl="1"/>
            <a:r>
              <a:rPr lang="en-US" altLang="en-US" sz="1800"/>
              <a:t>Backward edge:</a:t>
            </a:r>
            <a:br>
              <a:rPr lang="en-US" altLang="en-US" sz="1800"/>
            </a:br>
            <a:r>
              <a:rPr lang="en-US" altLang="en-US" sz="1800"/>
              <a:t>		</a:t>
            </a:r>
            <a:r>
              <a:rPr lang="en-US" altLang="en-US" sz="1800" b="1" i="1">
                <a:latin typeface="Times New Roman" panose="02020603050405020304" pitchFamily="18" charset="0"/>
              </a:rPr>
              <a:t>f</a:t>
            </a:r>
            <a:r>
              <a:rPr lang="en-US" altLang="en-US" sz="1800" b="1" i="1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en-US" sz="1800"/>
              <a:t> 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e</a:t>
            </a:r>
            <a:r>
              <a:rPr lang="en-US" altLang="en-US" sz="1800">
                <a:latin typeface="Times New Roman" panose="02020603050405020304" pitchFamily="18" charset="0"/>
              </a:rPr>
              <a:t>) = </a:t>
            </a:r>
            <a:r>
              <a:rPr lang="en-US" altLang="en-US" sz="1800" b="1" i="1">
                <a:latin typeface="Times New Roman" panose="02020603050405020304" pitchFamily="18" charset="0"/>
              </a:rPr>
              <a:t>f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e</a:t>
            </a:r>
            <a:r>
              <a:rPr lang="en-US" altLang="en-US" sz="1800">
                <a:latin typeface="Times New Roman" panose="02020603050405020304" pitchFamily="18" charset="0"/>
              </a:rPr>
              <a:t>) </a:t>
            </a:r>
            <a:r>
              <a:rPr lang="en-US" altLang="en-US" sz="1800">
                <a:latin typeface="Symbol" panose="05050102010706020507" pitchFamily="18" charset="2"/>
              </a:rPr>
              <a:t>- </a:t>
            </a:r>
            <a:r>
              <a:rPr lang="en-US" altLang="en-US" sz="1800" b="1" i="1">
                <a:latin typeface="Symbol" panose="05050102010706020507" pitchFamily="18" charset="2"/>
              </a:rPr>
              <a:t>D</a:t>
            </a:r>
            <a:r>
              <a:rPr lang="en-US" altLang="en-US" sz="1800" b="1" i="1" baseline="-25000">
                <a:latin typeface="Times New Roman" panose="02020603050405020304" pitchFamily="18" charset="0"/>
              </a:rPr>
              <a:t>f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Symbol" panose="05050102010706020507" pitchFamily="18" charset="2"/>
              </a:rPr>
              <a:t>p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r>
              <a:rPr lang="en-US" altLang="en-US" sz="1800">
                <a:latin typeface="Symbol" panose="05050102010706020507" pitchFamily="18" charset="2"/>
              </a:rPr>
              <a:t> </a:t>
            </a:r>
            <a:endParaRPr lang="en-US" altLang="en-US" sz="1800"/>
          </a:p>
          <a:p>
            <a:pPr lvl="1">
              <a:buFont typeface="Wingdings" panose="05000000000000000000" pitchFamily="2" charset="2"/>
              <a:buNone/>
            </a:pPr>
            <a:endParaRPr lang="en-US" altLang="en-US" sz="1800"/>
          </a:p>
        </p:txBody>
      </p:sp>
      <p:grpSp>
        <p:nvGrpSpPr>
          <p:cNvPr id="24579" name="Group 59">
            <a:extLst>
              <a:ext uri="{FF2B5EF4-FFF2-40B4-BE49-F238E27FC236}">
                <a16:creationId xmlns:a16="http://schemas.microsoft.com/office/drawing/2014/main" id="{FDB0DAD2-AFC0-7B68-4ED1-0623AD74176E}"/>
              </a:ext>
            </a:extLst>
          </p:cNvPr>
          <p:cNvGrpSpPr>
            <a:grpSpLocks/>
          </p:cNvGrpSpPr>
          <p:nvPr/>
        </p:nvGrpSpPr>
        <p:grpSpPr bwMode="auto">
          <a:xfrm>
            <a:off x="6172201" y="1371601"/>
            <a:ext cx="3559175" cy="2359025"/>
            <a:chOff x="3278" y="864"/>
            <a:chExt cx="2242" cy="1484"/>
          </a:xfrm>
        </p:grpSpPr>
        <p:sp>
          <p:nvSpPr>
            <p:cNvPr id="24611" name="Oval 4">
              <a:extLst>
                <a:ext uri="{FF2B5EF4-FFF2-40B4-BE49-F238E27FC236}">
                  <a16:creationId xmlns:a16="http://schemas.microsoft.com/office/drawing/2014/main" id="{AF5F312E-09E0-60CA-4930-9670EF4AAE5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443" y="1602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latin typeface="Times New Roman" panose="02020603050405020304" pitchFamily="18" charset="0"/>
                </a:rPr>
                <a:t>w</a:t>
              </a:r>
            </a:p>
          </p:txBody>
        </p:sp>
        <p:sp>
          <p:nvSpPr>
            <p:cNvPr id="24612" name="Oval 5">
              <a:extLst>
                <a:ext uri="{FF2B5EF4-FFF2-40B4-BE49-F238E27FC236}">
                  <a16:creationId xmlns:a16="http://schemas.microsoft.com/office/drawing/2014/main" id="{40F28417-0E5F-DC3C-62A5-FC8A4CC7C32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78" y="1460"/>
              <a:ext cx="231" cy="231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24613" name="Oval 6">
              <a:extLst>
                <a:ext uri="{FF2B5EF4-FFF2-40B4-BE49-F238E27FC236}">
                  <a16:creationId xmlns:a16="http://schemas.microsoft.com/office/drawing/2014/main" id="{EDCFBB5B-4F4D-4A9A-3307-D2315B646B9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73" y="998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latin typeface="Times New Roman" panose="02020603050405020304" pitchFamily="18" charset="0"/>
                </a:rPr>
                <a:t>v</a:t>
              </a:r>
            </a:p>
          </p:txBody>
        </p:sp>
        <p:sp>
          <p:nvSpPr>
            <p:cNvPr id="24614" name="Oval 7">
              <a:extLst>
                <a:ext uri="{FF2B5EF4-FFF2-40B4-BE49-F238E27FC236}">
                  <a16:creationId xmlns:a16="http://schemas.microsoft.com/office/drawing/2014/main" id="{09745D40-B5BD-1E42-0BAF-B8F7B6AA868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62" y="2039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latin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24615" name="Oval 8">
              <a:extLst>
                <a:ext uri="{FF2B5EF4-FFF2-40B4-BE49-F238E27FC236}">
                  <a16:creationId xmlns:a16="http://schemas.microsoft.com/office/drawing/2014/main" id="{159BC5CD-6D25-495C-E73B-C0CA404D76E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289" y="1332"/>
              <a:ext cx="231" cy="231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24616" name="Oval 9">
              <a:extLst>
                <a:ext uri="{FF2B5EF4-FFF2-40B4-BE49-F238E27FC236}">
                  <a16:creationId xmlns:a16="http://schemas.microsoft.com/office/drawing/2014/main" id="{A559AB15-3799-5731-9649-A8E8F7C2347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007" y="2032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latin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24617" name="Text Box 10">
              <a:extLst>
                <a:ext uri="{FF2B5EF4-FFF2-40B4-BE49-F238E27FC236}">
                  <a16:creationId xmlns:a16="http://schemas.microsoft.com/office/drawing/2014/main" id="{AE083D0A-B48C-D64D-62C6-CA0D6FA9E5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8" y="1446"/>
              <a:ext cx="3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3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  <a:sym typeface="Symbol" panose="05050102010706020507" pitchFamily="18" charset="2"/>
                </a:rPr>
                <a:t>3</a:t>
              </a:r>
            </a:p>
          </p:txBody>
        </p:sp>
        <p:sp>
          <p:nvSpPr>
            <p:cNvPr id="24618" name="Text Box 11">
              <a:extLst>
                <a:ext uri="{FF2B5EF4-FFF2-40B4-BE49-F238E27FC236}">
                  <a16:creationId xmlns:a16="http://schemas.microsoft.com/office/drawing/2014/main" id="{49CB4697-F5F2-725B-3086-0F44A0937B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0" y="1719"/>
              <a:ext cx="3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  <a:sym typeface="Symbol" panose="05050102010706020507" pitchFamily="18" charset="2"/>
                </a:rPr>
                <a:t>9</a:t>
              </a:r>
            </a:p>
          </p:txBody>
        </p:sp>
        <p:sp>
          <p:nvSpPr>
            <p:cNvPr id="24619" name="Text Box 12">
              <a:extLst>
                <a:ext uri="{FF2B5EF4-FFF2-40B4-BE49-F238E27FC236}">
                  <a16:creationId xmlns:a16="http://schemas.microsoft.com/office/drawing/2014/main" id="{30D28FBB-2658-34C6-6126-0DD0F85D8C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8" y="1272"/>
              <a:ext cx="3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4620" name="Text Box 13">
              <a:extLst>
                <a:ext uri="{FF2B5EF4-FFF2-40B4-BE49-F238E27FC236}">
                  <a16:creationId xmlns:a16="http://schemas.microsoft.com/office/drawing/2014/main" id="{ECFFA8FF-4412-716E-CCAB-613589F2DC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18" y="1008"/>
              <a:ext cx="3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4621" name="Text Box 14">
              <a:extLst>
                <a:ext uri="{FF2B5EF4-FFF2-40B4-BE49-F238E27FC236}">
                  <a16:creationId xmlns:a16="http://schemas.microsoft.com/office/drawing/2014/main" id="{EAF0734D-158B-8070-C7FD-E19CCC9070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2" y="1354"/>
              <a:ext cx="3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24622" name="Text Box 15">
              <a:extLst>
                <a:ext uri="{FF2B5EF4-FFF2-40B4-BE49-F238E27FC236}">
                  <a16:creationId xmlns:a16="http://schemas.microsoft.com/office/drawing/2014/main" id="{74D82E55-709B-E628-9B4D-F862474233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4" y="1142"/>
              <a:ext cx="3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24623" name="Text Box 16">
              <a:extLst>
                <a:ext uri="{FF2B5EF4-FFF2-40B4-BE49-F238E27FC236}">
                  <a16:creationId xmlns:a16="http://schemas.microsoft.com/office/drawing/2014/main" id="{2E42FC3D-ED54-D4DF-C87F-1AD5AD7722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2" y="1719"/>
              <a:ext cx="3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4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24624" name="Text Box 17">
              <a:extLst>
                <a:ext uri="{FF2B5EF4-FFF2-40B4-BE49-F238E27FC236}">
                  <a16:creationId xmlns:a16="http://schemas.microsoft.com/office/drawing/2014/main" id="{A8DD76B6-20F2-6E9D-D11B-01E738160C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0" y="1785"/>
              <a:ext cx="3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4625" name="Text Box 18">
              <a:extLst>
                <a:ext uri="{FF2B5EF4-FFF2-40B4-BE49-F238E27FC236}">
                  <a16:creationId xmlns:a16="http://schemas.microsoft.com/office/drawing/2014/main" id="{A40AE54F-1226-E9E4-0EAE-44D7436E9E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8" y="1835"/>
              <a:ext cx="3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24626" name="Text Box 19">
              <a:extLst>
                <a:ext uri="{FF2B5EF4-FFF2-40B4-BE49-F238E27FC236}">
                  <a16:creationId xmlns:a16="http://schemas.microsoft.com/office/drawing/2014/main" id="{D4507BD0-8A5A-D329-1CF7-164801DE17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0" y="2117"/>
              <a:ext cx="3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</a:rPr>
                <a:t>2</a:t>
              </a:r>
            </a:p>
          </p:txBody>
        </p:sp>
        <p:cxnSp>
          <p:nvCxnSpPr>
            <p:cNvPr id="24627" name="AutoShape 20">
              <a:extLst>
                <a:ext uri="{FF2B5EF4-FFF2-40B4-BE49-F238E27FC236}">
                  <a16:creationId xmlns:a16="http://schemas.microsoft.com/office/drawing/2014/main" id="{77D2FEB8-AD18-C699-0FE3-14C2D158240F}"/>
                </a:ext>
              </a:extLst>
            </p:cNvPr>
            <p:cNvCxnSpPr>
              <a:cxnSpLocks noChangeShapeType="1"/>
              <a:stCxn id="24612" idx="7"/>
              <a:endCxn id="24613" idx="3"/>
            </p:cNvCxnSpPr>
            <p:nvPr/>
          </p:nvCxnSpPr>
          <p:spPr bwMode="auto">
            <a:xfrm flipV="1">
              <a:off x="3475" y="1201"/>
              <a:ext cx="531" cy="28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28" name="AutoShape 21">
              <a:extLst>
                <a:ext uri="{FF2B5EF4-FFF2-40B4-BE49-F238E27FC236}">
                  <a16:creationId xmlns:a16="http://schemas.microsoft.com/office/drawing/2014/main" id="{B42C1E4D-491C-2900-5C6E-45F5B5195C7D}"/>
                </a:ext>
              </a:extLst>
            </p:cNvPr>
            <p:cNvCxnSpPr>
              <a:cxnSpLocks noChangeShapeType="1"/>
              <a:stCxn id="24612" idx="5"/>
              <a:endCxn id="24614" idx="1"/>
            </p:cNvCxnSpPr>
            <p:nvPr/>
          </p:nvCxnSpPr>
          <p:spPr bwMode="auto">
            <a:xfrm>
              <a:off x="3475" y="1669"/>
              <a:ext cx="420" cy="397"/>
            </a:xfrm>
            <a:prstGeom prst="straightConnector1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29" name="AutoShape 22">
              <a:extLst>
                <a:ext uri="{FF2B5EF4-FFF2-40B4-BE49-F238E27FC236}">
                  <a16:creationId xmlns:a16="http://schemas.microsoft.com/office/drawing/2014/main" id="{D26A9C26-A45E-BECD-6AD0-4756B8A1683A}"/>
                </a:ext>
              </a:extLst>
            </p:cNvPr>
            <p:cNvCxnSpPr>
              <a:cxnSpLocks noChangeShapeType="1"/>
              <a:stCxn id="24613" idx="5"/>
              <a:endCxn id="24611" idx="1"/>
            </p:cNvCxnSpPr>
            <p:nvPr/>
          </p:nvCxnSpPr>
          <p:spPr bwMode="auto">
            <a:xfrm>
              <a:off x="4170" y="1201"/>
              <a:ext cx="306" cy="428"/>
            </a:xfrm>
            <a:prstGeom prst="straightConnector1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30" name="AutoShape 23">
              <a:extLst>
                <a:ext uri="{FF2B5EF4-FFF2-40B4-BE49-F238E27FC236}">
                  <a16:creationId xmlns:a16="http://schemas.microsoft.com/office/drawing/2014/main" id="{DE0121E2-B2C9-0296-5393-3536B61876AA}"/>
                </a:ext>
              </a:extLst>
            </p:cNvPr>
            <p:cNvCxnSpPr>
              <a:cxnSpLocks noChangeShapeType="1"/>
              <a:stCxn id="24613" idx="6"/>
              <a:endCxn id="24615" idx="1"/>
            </p:cNvCxnSpPr>
            <p:nvPr/>
          </p:nvCxnSpPr>
          <p:spPr bwMode="auto">
            <a:xfrm>
              <a:off x="4209" y="1113"/>
              <a:ext cx="1113" cy="240"/>
            </a:xfrm>
            <a:prstGeom prst="straightConnector1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31" name="AutoShape 24">
              <a:extLst>
                <a:ext uri="{FF2B5EF4-FFF2-40B4-BE49-F238E27FC236}">
                  <a16:creationId xmlns:a16="http://schemas.microsoft.com/office/drawing/2014/main" id="{A305D837-51F9-12BE-DF97-6E4E2D99EEB3}"/>
                </a:ext>
              </a:extLst>
            </p:cNvPr>
            <p:cNvCxnSpPr>
              <a:cxnSpLocks noChangeShapeType="1"/>
              <a:stCxn id="24611" idx="7"/>
              <a:endCxn id="24615" idx="2"/>
            </p:cNvCxnSpPr>
            <p:nvPr/>
          </p:nvCxnSpPr>
          <p:spPr bwMode="auto">
            <a:xfrm flipV="1">
              <a:off x="4640" y="1447"/>
              <a:ext cx="636" cy="18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32" name="AutoShape 25">
              <a:extLst>
                <a:ext uri="{FF2B5EF4-FFF2-40B4-BE49-F238E27FC236}">
                  <a16:creationId xmlns:a16="http://schemas.microsoft.com/office/drawing/2014/main" id="{1742703C-1E14-B030-F3A9-4A79BEA609EE}"/>
                </a:ext>
              </a:extLst>
            </p:cNvPr>
            <p:cNvCxnSpPr>
              <a:cxnSpLocks noChangeShapeType="1"/>
              <a:stCxn id="24611" idx="5"/>
              <a:endCxn id="24616" idx="1"/>
            </p:cNvCxnSpPr>
            <p:nvPr/>
          </p:nvCxnSpPr>
          <p:spPr bwMode="auto">
            <a:xfrm>
              <a:off x="4640" y="1805"/>
              <a:ext cx="400" cy="25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33" name="AutoShape 26">
              <a:extLst>
                <a:ext uri="{FF2B5EF4-FFF2-40B4-BE49-F238E27FC236}">
                  <a16:creationId xmlns:a16="http://schemas.microsoft.com/office/drawing/2014/main" id="{3DE1376D-94F9-8494-A4B8-20A8AA1A84ED}"/>
                </a:ext>
              </a:extLst>
            </p:cNvPr>
            <p:cNvCxnSpPr>
              <a:cxnSpLocks noChangeShapeType="1"/>
              <a:stCxn id="24616" idx="0"/>
              <a:endCxn id="24615" idx="3"/>
            </p:cNvCxnSpPr>
            <p:nvPr/>
          </p:nvCxnSpPr>
          <p:spPr bwMode="auto">
            <a:xfrm flipV="1">
              <a:off x="5122" y="1541"/>
              <a:ext cx="200" cy="48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34" name="AutoShape 27">
              <a:extLst>
                <a:ext uri="{FF2B5EF4-FFF2-40B4-BE49-F238E27FC236}">
                  <a16:creationId xmlns:a16="http://schemas.microsoft.com/office/drawing/2014/main" id="{69614DE5-37AB-5167-4EA6-9EE1E031BAF3}"/>
                </a:ext>
              </a:extLst>
            </p:cNvPr>
            <p:cNvCxnSpPr>
              <a:cxnSpLocks noChangeShapeType="1"/>
              <a:stCxn id="24614" idx="6"/>
              <a:endCxn id="24616" idx="2"/>
            </p:cNvCxnSpPr>
            <p:nvPr/>
          </p:nvCxnSpPr>
          <p:spPr bwMode="auto">
            <a:xfrm flipV="1">
              <a:off x="4098" y="2147"/>
              <a:ext cx="902" cy="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35" name="AutoShape 28">
              <a:extLst>
                <a:ext uri="{FF2B5EF4-FFF2-40B4-BE49-F238E27FC236}">
                  <a16:creationId xmlns:a16="http://schemas.microsoft.com/office/drawing/2014/main" id="{0C9537E4-C154-0C52-5306-ECCCCD47FCFC}"/>
                </a:ext>
              </a:extLst>
            </p:cNvPr>
            <p:cNvCxnSpPr>
              <a:cxnSpLocks noChangeShapeType="1"/>
              <a:stCxn id="24614" idx="7"/>
              <a:endCxn id="24611" idx="3"/>
            </p:cNvCxnSpPr>
            <p:nvPr/>
          </p:nvCxnSpPr>
          <p:spPr bwMode="auto">
            <a:xfrm flipV="1">
              <a:off x="4059" y="1805"/>
              <a:ext cx="417" cy="261"/>
            </a:xfrm>
            <a:prstGeom prst="straightConnector1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36" name="AutoShape 29">
              <a:extLst>
                <a:ext uri="{FF2B5EF4-FFF2-40B4-BE49-F238E27FC236}">
                  <a16:creationId xmlns:a16="http://schemas.microsoft.com/office/drawing/2014/main" id="{B9BF422B-EC9E-CFB6-A4AD-17742B5BB123}"/>
                </a:ext>
              </a:extLst>
            </p:cNvPr>
            <p:cNvCxnSpPr>
              <a:cxnSpLocks noChangeShapeType="1"/>
              <a:stCxn id="24612" idx="6"/>
              <a:endCxn id="24611" idx="2"/>
            </p:cNvCxnSpPr>
            <p:nvPr/>
          </p:nvCxnSpPr>
          <p:spPr bwMode="auto">
            <a:xfrm>
              <a:off x="3520" y="1575"/>
              <a:ext cx="916" cy="14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637" name="Text Box 30">
              <a:extLst>
                <a:ext uri="{FF2B5EF4-FFF2-40B4-BE49-F238E27FC236}">
                  <a16:creationId xmlns:a16="http://schemas.microsoft.com/office/drawing/2014/main" id="{4BDBAAF0-9FEE-9E8E-E0F3-14C8170AB2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864"/>
              <a:ext cx="33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Symbol" panose="05050102010706020507" pitchFamily="18" charset="2"/>
                </a:rPr>
                <a:t>p</a:t>
              </a:r>
              <a:endParaRPr lang="en-US" altLang="en-US" sz="1800" baseline="-2500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4580" name="AutoShape 31">
            <a:extLst>
              <a:ext uri="{FF2B5EF4-FFF2-40B4-BE49-F238E27FC236}">
                <a16:creationId xmlns:a16="http://schemas.microsoft.com/office/drawing/2014/main" id="{2484C111-FE17-CFA8-D690-DB274BC43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0501" y="3886200"/>
            <a:ext cx="284163" cy="304800"/>
          </a:xfrm>
          <a:prstGeom prst="downArrow">
            <a:avLst>
              <a:gd name="adj1" fmla="val 50000"/>
              <a:gd name="adj2" fmla="val 26816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463040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solidFill>
                  <a:schemeClr val="tx2"/>
                </a:solidFill>
                <a:latin typeface="Symbol" panose="05050102010706020507" pitchFamily="18" charset="2"/>
              </a:rPr>
              <a:t>D</a:t>
            </a:r>
            <a:r>
              <a:rPr lang="en-US" altLang="en-US" sz="2000" b="1" i="1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f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solidFill>
                  <a:schemeClr val="tx2"/>
                </a:solidFill>
                <a:latin typeface="Symbol" panose="05050102010706020507" pitchFamily="18" charset="2"/>
              </a:rPr>
              <a:t>p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) = 1</a:t>
            </a:r>
          </a:p>
        </p:txBody>
      </p:sp>
      <p:grpSp>
        <p:nvGrpSpPr>
          <p:cNvPr id="24581" name="Group 60">
            <a:extLst>
              <a:ext uri="{FF2B5EF4-FFF2-40B4-BE49-F238E27FC236}">
                <a16:creationId xmlns:a16="http://schemas.microsoft.com/office/drawing/2014/main" id="{800A0487-DEAC-9CAE-6DAA-A882D64EAD96}"/>
              </a:ext>
            </a:extLst>
          </p:cNvPr>
          <p:cNvGrpSpPr>
            <a:grpSpLocks/>
          </p:cNvGrpSpPr>
          <p:nvPr/>
        </p:nvGrpSpPr>
        <p:grpSpPr bwMode="auto">
          <a:xfrm>
            <a:off x="6172201" y="4191000"/>
            <a:ext cx="3559175" cy="2355850"/>
            <a:chOff x="3278" y="2640"/>
            <a:chExt cx="2242" cy="1484"/>
          </a:xfrm>
        </p:grpSpPr>
        <p:sp>
          <p:nvSpPr>
            <p:cNvPr id="24584" name="Oval 32">
              <a:extLst>
                <a:ext uri="{FF2B5EF4-FFF2-40B4-BE49-F238E27FC236}">
                  <a16:creationId xmlns:a16="http://schemas.microsoft.com/office/drawing/2014/main" id="{A2F636EC-BB3C-04BC-6305-37E5C0E95E2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443" y="3378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latin typeface="Times New Roman" panose="02020603050405020304" pitchFamily="18" charset="0"/>
                </a:rPr>
                <a:t>w</a:t>
              </a:r>
            </a:p>
          </p:txBody>
        </p:sp>
        <p:sp>
          <p:nvSpPr>
            <p:cNvPr id="24585" name="Oval 33">
              <a:extLst>
                <a:ext uri="{FF2B5EF4-FFF2-40B4-BE49-F238E27FC236}">
                  <a16:creationId xmlns:a16="http://schemas.microsoft.com/office/drawing/2014/main" id="{8DFCD0D1-1655-1C0F-9AC2-035DED4B995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78" y="3236"/>
              <a:ext cx="231" cy="231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24586" name="Oval 34">
              <a:extLst>
                <a:ext uri="{FF2B5EF4-FFF2-40B4-BE49-F238E27FC236}">
                  <a16:creationId xmlns:a16="http://schemas.microsoft.com/office/drawing/2014/main" id="{7A541E10-11E2-0572-427D-311C83756B9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73" y="2774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latin typeface="Times New Roman" panose="02020603050405020304" pitchFamily="18" charset="0"/>
                </a:rPr>
                <a:t>v</a:t>
              </a:r>
            </a:p>
          </p:txBody>
        </p:sp>
        <p:sp>
          <p:nvSpPr>
            <p:cNvPr id="24587" name="Oval 35">
              <a:extLst>
                <a:ext uri="{FF2B5EF4-FFF2-40B4-BE49-F238E27FC236}">
                  <a16:creationId xmlns:a16="http://schemas.microsoft.com/office/drawing/2014/main" id="{50E2F67E-B03C-4144-61EA-92D64CF9C71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62" y="3815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latin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24588" name="Oval 36">
              <a:extLst>
                <a:ext uri="{FF2B5EF4-FFF2-40B4-BE49-F238E27FC236}">
                  <a16:creationId xmlns:a16="http://schemas.microsoft.com/office/drawing/2014/main" id="{C60D0A28-AC2F-D398-A93B-5C755631780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289" y="3108"/>
              <a:ext cx="231" cy="231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24589" name="Oval 37">
              <a:extLst>
                <a:ext uri="{FF2B5EF4-FFF2-40B4-BE49-F238E27FC236}">
                  <a16:creationId xmlns:a16="http://schemas.microsoft.com/office/drawing/2014/main" id="{A6039D37-FE5D-9885-DC10-148A580D0F7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007" y="3808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latin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24590" name="Text Box 38">
              <a:extLst>
                <a:ext uri="{FF2B5EF4-FFF2-40B4-BE49-F238E27FC236}">
                  <a16:creationId xmlns:a16="http://schemas.microsoft.com/office/drawing/2014/main" id="{C92D994D-1ECF-4399-9382-22E890CDAE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8" y="3222"/>
              <a:ext cx="3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3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  <a:sym typeface="Symbol" panose="05050102010706020507" pitchFamily="18" charset="2"/>
                </a:rPr>
                <a:t>3</a:t>
              </a:r>
            </a:p>
          </p:txBody>
        </p:sp>
        <p:sp>
          <p:nvSpPr>
            <p:cNvPr id="24591" name="Text Box 39">
              <a:extLst>
                <a:ext uri="{FF2B5EF4-FFF2-40B4-BE49-F238E27FC236}">
                  <a16:creationId xmlns:a16="http://schemas.microsoft.com/office/drawing/2014/main" id="{F50F0030-9673-DB40-4E99-BBCA71254A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0" y="3495"/>
              <a:ext cx="3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  <a:sym typeface="Symbol" panose="05050102010706020507" pitchFamily="18" charset="2"/>
                </a:rPr>
                <a:t>9</a:t>
              </a:r>
            </a:p>
          </p:txBody>
        </p:sp>
        <p:sp>
          <p:nvSpPr>
            <p:cNvPr id="24592" name="Text Box 40">
              <a:extLst>
                <a:ext uri="{FF2B5EF4-FFF2-40B4-BE49-F238E27FC236}">
                  <a16:creationId xmlns:a16="http://schemas.microsoft.com/office/drawing/2014/main" id="{D6DCDD86-155B-14FB-4B63-49E40F78DA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8" y="3048"/>
              <a:ext cx="3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4593" name="Text Box 41">
              <a:extLst>
                <a:ext uri="{FF2B5EF4-FFF2-40B4-BE49-F238E27FC236}">
                  <a16:creationId xmlns:a16="http://schemas.microsoft.com/office/drawing/2014/main" id="{54612400-8BFA-8AEB-FFB9-5D6A08460B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18" y="2784"/>
              <a:ext cx="3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4594" name="Text Box 42">
              <a:extLst>
                <a:ext uri="{FF2B5EF4-FFF2-40B4-BE49-F238E27FC236}">
                  <a16:creationId xmlns:a16="http://schemas.microsoft.com/office/drawing/2014/main" id="{892959F7-7A9D-BB35-63EF-D32AE865D3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2" y="3130"/>
              <a:ext cx="3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24595" name="Text Box 43">
              <a:extLst>
                <a:ext uri="{FF2B5EF4-FFF2-40B4-BE49-F238E27FC236}">
                  <a16:creationId xmlns:a16="http://schemas.microsoft.com/office/drawing/2014/main" id="{6F375821-EFA2-20E7-2B7E-C46B6BC1A2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4" y="2918"/>
              <a:ext cx="3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24596" name="Text Box 44">
              <a:extLst>
                <a:ext uri="{FF2B5EF4-FFF2-40B4-BE49-F238E27FC236}">
                  <a16:creationId xmlns:a16="http://schemas.microsoft.com/office/drawing/2014/main" id="{382C4F4A-78EB-5306-0041-814C005226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2" y="3495"/>
              <a:ext cx="3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4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24597" name="Text Box 45">
              <a:extLst>
                <a:ext uri="{FF2B5EF4-FFF2-40B4-BE49-F238E27FC236}">
                  <a16:creationId xmlns:a16="http://schemas.microsoft.com/office/drawing/2014/main" id="{F2682FA1-0B19-0A9D-1A64-1BB24EF026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0" y="3561"/>
              <a:ext cx="3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4598" name="Text Box 46">
              <a:extLst>
                <a:ext uri="{FF2B5EF4-FFF2-40B4-BE49-F238E27FC236}">
                  <a16:creationId xmlns:a16="http://schemas.microsoft.com/office/drawing/2014/main" id="{59AB8643-643D-1955-CD90-98FDB27A72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8" y="3611"/>
              <a:ext cx="3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3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24599" name="Text Box 47">
              <a:extLst>
                <a:ext uri="{FF2B5EF4-FFF2-40B4-BE49-F238E27FC236}">
                  <a16:creationId xmlns:a16="http://schemas.microsoft.com/office/drawing/2014/main" id="{7A54E2EF-3FF7-A57E-EFC8-E05EE602D5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0" y="3893"/>
              <a:ext cx="3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</a:rPr>
                <a:t>2</a:t>
              </a:r>
            </a:p>
          </p:txBody>
        </p:sp>
        <p:cxnSp>
          <p:nvCxnSpPr>
            <p:cNvPr id="24600" name="AutoShape 48">
              <a:extLst>
                <a:ext uri="{FF2B5EF4-FFF2-40B4-BE49-F238E27FC236}">
                  <a16:creationId xmlns:a16="http://schemas.microsoft.com/office/drawing/2014/main" id="{18032390-DFF7-A94A-0A01-161C4C7A0A4F}"/>
                </a:ext>
              </a:extLst>
            </p:cNvPr>
            <p:cNvCxnSpPr>
              <a:cxnSpLocks noChangeShapeType="1"/>
              <a:stCxn id="24585" idx="7"/>
              <a:endCxn id="24586" idx="3"/>
            </p:cNvCxnSpPr>
            <p:nvPr/>
          </p:nvCxnSpPr>
          <p:spPr bwMode="auto">
            <a:xfrm flipV="1">
              <a:off x="3475" y="2977"/>
              <a:ext cx="531" cy="28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01" name="AutoShape 49">
              <a:extLst>
                <a:ext uri="{FF2B5EF4-FFF2-40B4-BE49-F238E27FC236}">
                  <a16:creationId xmlns:a16="http://schemas.microsoft.com/office/drawing/2014/main" id="{ADD3A97B-FDD6-4BCB-45F4-464926F79371}"/>
                </a:ext>
              </a:extLst>
            </p:cNvPr>
            <p:cNvCxnSpPr>
              <a:cxnSpLocks noChangeShapeType="1"/>
              <a:stCxn id="24585" idx="5"/>
              <a:endCxn id="24587" idx="1"/>
            </p:cNvCxnSpPr>
            <p:nvPr/>
          </p:nvCxnSpPr>
          <p:spPr bwMode="auto">
            <a:xfrm>
              <a:off x="3475" y="3445"/>
              <a:ext cx="420" cy="397"/>
            </a:xfrm>
            <a:prstGeom prst="straightConnector1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02" name="AutoShape 50">
              <a:extLst>
                <a:ext uri="{FF2B5EF4-FFF2-40B4-BE49-F238E27FC236}">
                  <a16:creationId xmlns:a16="http://schemas.microsoft.com/office/drawing/2014/main" id="{286D238C-0708-F1B9-DAAE-2D8CE7E90FF3}"/>
                </a:ext>
              </a:extLst>
            </p:cNvPr>
            <p:cNvCxnSpPr>
              <a:cxnSpLocks noChangeShapeType="1"/>
              <a:stCxn id="24586" idx="5"/>
              <a:endCxn id="24584" idx="1"/>
            </p:cNvCxnSpPr>
            <p:nvPr/>
          </p:nvCxnSpPr>
          <p:spPr bwMode="auto">
            <a:xfrm>
              <a:off x="4170" y="2977"/>
              <a:ext cx="306" cy="428"/>
            </a:xfrm>
            <a:prstGeom prst="straightConnector1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03" name="AutoShape 51">
              <a:extLst>
                <a:ext uri="{FF2B5EF4-FFF2-40B4-BE49-F238E27FC236}">
                  <a16:creationId xmlns:a16="http://schemas.microsoft.com/office/drawing/2014/main" id="{A9379ADD-A95E-4268-BE3A-F516BBE5F316}"/>
                </a:ext>
              </a:extLst>
            </p:cNvPr>
            <p:cNvCxnSpPr>
              <a:cxnSpLocks noChangeShapeType="1"/>
              <a:stCxn id="24586" idx="6"/>
              <a:endCxn id="24588" idx="1"/>
            </p:cNvCxnSpPr>
            <p:nvPr/>
          </p:nvCxnSpPr>
          <p:spPr bwMode="auto">
            <a:xfrm>
              <a:off x="4209" y="2889"/>
              <a:ext cx="1113" cy="240"/>
            </a:xfrm>
            <a:prstGeom prst="straightConnector1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04" name="AutoShape 52">
              <a:extLst>
                <a:ext uri="{FF2B5EF4-FFF2-40B4-BE49-F238E27FC236}">
                  <a16:creationId xmlns:a16="http://schemas.microsoft.com/office/drawing/2014/main" id="{9B955041-CB60-097C-3F3F-A26E9E188D62}"/>
                </a:ext>
              </a:extLst>
            </p:cNvPr>
            <p:cNvCxnSpPr>
              <a:cxnSpLocks noChangeShapeType="1"/>
              <a:stCxn id="24584" idx="7"/>
              <a:endCxn id="24588" idx="2"/>
            </p:cNvCxnSpPr>
            <p:nvPr/>
          </p:nvCxnSpPr>
          <p:spPr bwMode="auto">
            <a:xfrm flipV="1">
              <a:off x="4640" y="3223"/>
              <a:ext cx="636" cy="18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05" name="AutoShape 53">
              <a:extLst>
                <a:ext uri="{FF2B5EF4-FFF2-40B4-BE49-F238E27FC236}">
                  <a16:creationId xmlns:a16="http://schemas.microsoft.com/office/drawing/2014/main" id="{F6B4D358-739B-C841-5A3A-72EF7D712EAC}"/>
                </a:ext>
              </a:extLst>
            </p:cNvPr>
            <p:cNvCxnSpPr>
              <a:cxnSpLocks noChangeShapeType="1"/>
              <a:stCxn id="24584" idx="5"/>
              <a:endCxn id="24589" idx="1"/>
            </p:cNvCxnSpPr>
            <p:nvPr/>
          </p:nvCxnSpPr>
          <p:spPr bwMode="auto">
            <a:xfrm>
              <a:off x="4640" y="3581"/>
              <a:ext cx="400" cy="25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06" name="AutoShape 54">
              <a:extLst>
                <a:ext uri="{FF2B5EF4-FFF2-40B4-BE49-F238E27FC236}">
                  <a16:creationId xmlns:a16="http://schemas.microsoft.com/office/drawing/2014/main" id="{AD0DA685-C309-0782-FF59-F00736401174}"/>
                </a:ext>
              </a:extLst>
            </p:cNvPr>
            <p:cNvCxnSpPr>
              <a:cxnSpLocks noChangeShapeType="1"/>
              <a:stCxn id="24589" idx="0"/>
              <a:endCxn id="24588" idx="3"/>
            </p:cNvCxnSpPr>
            <p:nvPr/>
          </p:nvCxnSpPr>
          <p:spPr bwMode="auto">
            <a:xfrm flipV="1">
              <a:off x="5122" y="3317"/>
              <a:ext cx="200" cy="48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07" name="AutoShape 55">
              <a:extLst>
                <a:ext uri="{FF2B5EF4-FFF2-40B4-BE49-F238E27FC236}">
                  <a16:creationId xmlns:a16="http://schemas.microsoft.com/office/drawing/2014/main" id="{153C56E4-9B52-4190-A060-22189D542305}"/>
                </a:ext>
              </a:extLst>
            </p:cNvPr>
            <p:cNvCxnSpPr>
              <a:cxnSpLocks noChangeShapeType="1"/>
              <a:stCxn id="24587" idx="6"/>
              <a:endCxn id="24589" idx="2"/>
            </p:cNvCxnSpPr>
            <p:nvPr/>
          </p:nvCxnSpPr>
          <p:spPr bwMode="auto">
            <a:xfrm flipV="1">
              <a:off x="4098" y="3923"/>
              <a:ext cx="902" cy="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08" name="AutoShape 56">
              <a:extLst>
                <a:ext uri="{FF2B5EF4-FFF2-40B4-BE49-F238E27FC236}">
                  <a16:creationId xmlns:a16="http://schemas.microsoft.com/office/drawing/2014/main" id="{6F3CF7AE-AB7A-29D9-D42E-E829AB8BF2B1}"/>
                </a:ext>
              </a:extLst>
            </p:cNvPr>
            <p:cNvCxnSpPr>
              <a:cxnSpLocks noChangeShapeType="1"/>
              <a:stCxn id="24587" idx="7"/>
              <a:endCxn id="24584" idx="3"/>
            </p:cNvCxnSpPr>
            <p:nvPr/>
          </p:nvCxnSpPr>
          <p:spPr bwMode="auto">
            <a:xfrm flipV="1">
              <a:off x="4059" y="3581"/>
              <a:ext cx="417" cy="261"/>
            </a:xfrm>
            <a:prstGeom prst="straightConnector1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09" name="AutoShape 57">
              <a:extLst>
                <a:ext uri="{FF2B5EF4-FFF2-40B4-BE49-F238E27FC236}">
                  <a16:creationId xmlns:a16="http://schemas.microsoft.com/office/drawing/2014/main" id="{E160E3D4-4F03-9D74-AA7E-DE261D35131B}"/>
                </a:ext>
              </a:extLst>
            </p:cNvPr>
            <p:cNvCxnSpPr>
              <a:cxnSpLocks noChangeShapeType="1"/>
              <a:stCxn id="24585" idx="6"/>
              <a:endCxn id="24584" idx="2"/>
            </p:cNvCxnSpPr>
            <p:nvPr/>
          </p:nvCxnSpPr>
          <p:spPr bwMode="auto">
            <a:xfrm>
              <a:off x="3520" y="3351"/>
              <a:ext cx="916" cy="14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610" name="Text Box 58">
              <a:extLst>
                <a:ext uri="{FF2B5EF4-FFF2-40B4-BE49-F238E27FC236}">
                  <a16:creationId xmlns:a16="http://schemas.microsoft.com/office/drawing/2014/main" id="{0A676FAA-FB06-2846-1E22-2011B8180D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2640"/>
              <a:ext cx="33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Symbol" panose="05050102010706020507" pitchFamily="18" charset="2"/>
                </a:rPr>
                <a:t>p</a:t>
              </a:r>
              <a:endParaRPr lang="en-US" altLang="en-US" sz="1800" baseline="-2500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4582" name="Text Box 61">
            <a:extLst>
              <a:ext uri="{FF2B5EF4-FFF2-40B4-BE49-F238E27FC236}">
                <a16:creationId xmlns:a16="http://schemas.microsoft.com/office/drawing/2014/main" id="{6F6B7D7B-C804-F19B-F5E1-AFBC437DC1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8013" y="3162301"/>
            <a:ext cx="8937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| </a:t>
            </a: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f</a:t>
            </a: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| 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 7</a:t>
            </a:r>
          </a:p>
        </p:txBody>
      </p:sp>
      <p:sp>
        <p:nvSpPr>
          <p:cNvPr id="24583" name="Text Box 62">
            <a:extLst>
              <a:ext uri="{FF2B5EF4-FFF2-40B4-BE49-F238E27FC236}">
                <a16:creationId xmlns:a16="http://schemas.microsoft.com/office/drawing/2014/main" id="{311D6F29-5974-EF35-1034-A874398769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18639" y="5981701"/>
            <a:ext cx="973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| </a:t>
            </a: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f</a:t>
            </a: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en-US" sz="2000">
                <a:solidFill>
                  <a:schemeClr val="tx2"/>
                </a:solidFill>
              </a:rPr>
              <a:t> 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| 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D0C95255-4721-651D-35E6-5A366A2C8A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Ford-Fulkerson’s Algorithm</a:t>
            </a:r>
          </a:p>
        </p:txBody>
      </p:sp>
      <p:sp>
        <p:nvSpPr>
          <p:cNvPr id="25602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09CF2A6B-C7CD-DCAA-8DDD-1AD734F337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57400" y="1447800"/>
            <a:ext cx="3505200" cy="4687888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sz="2000"/>
              <a:t>Initially, </a:t>
            </a:r>
            <a:r>
              <a:rPr lang="en-US" altLang="en-US" sz="2000" b="1" i="1">
                <a:latin typeface="Times New Roman" panose="02020603050405020304" pitchFamily="18" charset="0"/>
              </a:rPr>
              <a:t>f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e</a:t>
            </a:r>
            <a:r>
              <a:rPr lang="en-US" altLang="en-US" sz="2000">
                <a:latin typeface="Times New Roman" panose="02020603050405020304" pitchFamily="18" charset="0"/>
              </a:rPr>
              <a:t>) </a:t>
            </a:r>
            <a:r>
              <a:rPr lang="en-US" altLang="en-US" sz="2000">
                <a:latin typeface="Symbol" panose="05050102010706020507" pitchFamily="18" charset="2"/>
              </a:rPr>
              <a:t>=</a:t>
            </a:r>
            <a:r>
              <a:rPr lang="en-US" altLang="en-US" sz="2000">
                <a:latin typeface="Times New Roman" panose="02020603050405020304" pitchFamily="18" charset="0"/>
              </a:rPr>
              <a:t> 0</a:t>
            </a:r>
            <a:r>
              <a:rPr lang="en-US" altLang="en-US" sz="2000"/>
              <a:t> for each edge </a:t>
            </a:r>
            <a:r>
              <a:rPr lang="en-US" altLang="en-US" sz="2000" b="1" i="1">
                <a:latin typeface="Times New Roman" panose="02020603050405020304" pitchFamily="18" charset="0"/>
              </a:rPr>
              <a:t>e</a:t>
            </a:r>
          </a:p>
          <a:p>
            <a:endParaRPr lang="en-US" altLang="en-US" sz="800"/>
          </a:p>
          <a:p>
            <a:r>
              <a:rPr lang="en-US" altLang="en-US" sz="2000"/>
              <a:t>Repeatedly</a:t>
            </a:r>
          </a:p>
          <a:p>
            <a:pPr lvl="1"/>
            <a:r>
              <a:rPr lang="en-US" altLang="en-US" sz="1800"/>
              <a:t>Search for an augmenting path </a:t>
            </a:r>
            <a:r>
              <a:rPr lang="en-US" altLang="en-US" sz="1800" b="1" i="1">
                <a:latin typeface="Symbol" panose="05050102010706020507" pitchFamily="18" charset="2"/>
              </a:rPr>
              <a:t>p</a:t>
            </a:r>
          </a:p>
          <a:p>
            <a:pPr lvl="1"/>
            <a:r>
              <a:rPr lang="en-US" altLang="en-US" sz="1800"/>
              <a:t>Augment by </a:t>
            </a:r>
            <a:r>
              <a:rPr lang="en-US" altLang="en-US" sz="1800" b="1" i="1">
                <a:latin typeface="Symbol" panose="05050102010706020507" pitchFamily="18" charset="2"/>
              </a:rPr>
              <a:t>D</a:t>
            </a:r>
            <a:r>
              <a:rPr lang="en-US" altLang="en-US" sz="1800" b="1" i="1" baseline="-25000">
                <a:latin typeface="Times New Roman" panose="02020603050405020304" pitchFamily="18" charset="0"/>
              </a:rPr>
              <a:t>f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Symbol" panose="05050102010706020507" pitchFamily="18" charset="2"/>
              </a:rPr>
              <a:t>p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r>
              <a:rPr lang="en-US" altLang="en-US" sz="1800"/>
              <a:t> the flow along the edges of </a:t>
            </a:r>
            <a:r>
              <a:rPr lang="en-US" altLang="en-US" sz="1800" b="1" i="1">
                <a:latin typeface="Symbol" panose="05050102010706020507" pitchFamily="18" charset="2"/>
              </a:rPr>
              <a:t>p</a:t>
            </a:r>
          </a:p>
          <a:p>
            <a:pPr lvl="1"/>
            <a:endParaRPr lang="en-US" altLang="en-US" sz="800"/>
          </a:p>
          <a:p>
            <a:r>
              <a:rPr lang="en-US" altLang="en-US" sz="2000"/>
              <a:t>A specialization of DFS (or BFS) searches for an augmenting path</a:t>
            </a:r>
          </a:p>
          <a:p>
            <a:pPr lvl="1"/>
            <a:r>
              <a:rPr lang="en-US" altLang="en-US" sz="1800"/>
              <a:t>An edge </a:t>
            </a:r>
            <a:r>
              <a:rPr lang="en-US" altLang="en-US" sz="1800" b="1" i="1">
                <a:latin typeface="Times New Roman" panose="02020603050405020304" pitchFamily="18" charset="0"/>
              </a:rPr>
              <a:t>e</a:t>
            </a:r>
            <a:r>
              <a:rPr lang="en-US" altLang="en-US" sz="1800"/>
              <a:t> is traversed from </a:t>
            </a:r>
            <a:r>
              <a:rPr lang="en-US" altLang="en-US" sz="1800" b="1" i="1">
                <a:latin typeface="Times New Roman" panose="02020603050405020304" pitchFamily="18" charset="0"/>
              </a:rPr>
              <a:t>u</a:t>
            </a:r>
            <a:r>
              <a:rPr lang="en-US" altLang="en-US" sz="1800"/>
              <a:t> to</a:t>
            </a:r>
            <a:r>
              <a:rPr lang="en-US" altLang="en-US" sz="1800" b="1" i="1">
                <a:latin typeface="Times New Roman" panose="02020603050405020304" pitchFamily="18" charset="0"/>
              </a:rPr>
              <a:t> v</a:t>
            </a:r>
            <a:r>
              <a:rPr lang="en-US" altLang="en-US" sz="1800"/>
              <a:t> provided </a:t>
            </a:r>
            <a:r>
              <a:rPr lang="en-US" altLang="en-US" sz="1800" b="1" i="1">
                <a:latin typeface="Symbol" panose="05050102010706020507" pitchFamily="18" charset="2"/>
              </a:rPr>
              <a:t>D</a:t>
            </a:r>
            <a:r>
              <a:rPr lang="en-US" altLang="en-US" sz="1800" b="1" i="1" baseline="-25000">
                <a:latin typeface="Times New Roman" panose="02020603050405020304" pitchFamily="18" charset="0"/>
              </a:rPr>
              <a:t>f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u, v</a:t>
            </a:r>
            <a:r>
              <a:rPr lang="en-US" altLang="en-US" sz="1800">
                <a:latin typeface="Times New Roman" panose="02020603050405020304" pitchFamily="18" charset="0"/>
              </a:rPr>
              <a:t>) </a:t>
            </a:r>
            <a:r>
              <a:rPr lang="en-US" altLang="en-US" sz="1800">
                <a:latin typeface="Symbol" panose="05050102010706020507" pitchFamily="18" charset="2"/>
              </a:rPr>
              <a:t>&gt;</a:t>
            </a:r>
            <a:r>
              <a:rPr lang="en-US" altLang="en-US" sz="1800">
                <a:latin typeface="Times New Roman" panose="02020603050405020304" pitchFamily="18" charset="0"/>
              </a:rPr>
              <a:t> 0</a:t>
            </a:r>
          </a:p>
        </p:txBody>
      </p:sp>
      <p:sp>
        <p:nvSpPr>
          <p:cNvPr id="25603" name="Text Box 4">
            <a:extLst>
              <a:ext uri="{FF2B5EF4-FFF2-40B4-BE49-F238E27FC236}">
                <a16:creationId xmlns:a16="http://schemas.microsoft.com/office/drawing/2014/main" id="{B33F23DC-B9B7-186C-0255-E662F09B0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1484313"/>
            <a:ext cx="4438650" cy="47688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defTabSz="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FordFulkersonMaxFlow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for all 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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G.edges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setFlow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e,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endParaRPr lang="en-US" altLang="en-US" sz="1800" b="1" i="1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while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has an augmenting path </a:t>
            </a:r>
            <a:r>
              <a:rPr lang="en-US" altLang="en-US" sz="1800" b="1" i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p</a:t>
            </a:r>
          </a:p>
          <a:p>
            <a:pPr lvl="1" eaLnBrk="1" hangingPunct="1">
              <a:lnSpc>
                <a:spcPct val="8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	</a:t>
            </a:r>
            <a:r>
              <a:rPr lang="en-US" altLang="en-US" sz="1800">
                <a:latin typeface="Times New Roman" panose="02020603050405020304" pitchFamily="18" charset="0"/>
              </a:rPr>
              <a:t>{ compute residual capacity </a:t>
            </a:r>
            <a:r>
              <a:rPr lang="en-US" altLang="en-US" sz="1800" b="1" i="1">
                <a:latin typeface="Symbol" panose="05050102010706020507" pitchFamily="18" charset="2"/>
                <a:sym typeface="Symbol" panose="05050102010706020507" pitchFamily="18" charset="2"/>
              </a:rPr>
              <a:t>D</a:t>
            </a:r>
            <a:r>
              <a:rPr lang="en-US" altLang="en-US" sz="1800">
                <a:latin typeface="Times New Roman" panose="02020603050405020304" pitchFamily="18" charset="0"/>
              </a:rPr>
              <a:t> of </a:t>
            </a:r>
            <a:r>
              <a:rPr lang="en-US" altLang="en-US" sz="1800" b="1" i="1">
                <a:latin typeface="Symbol" panose="05050102010706020507" pitchFamily="18" charset="2"/>
                <a:sym typeface="Symbol" panose="05050102010706020507" pitchFamily="18" charset="2"/>
              </a:rPr>
              <a:t>p </a:t>
            </a:r>
            <a:r>
              <a:rPr lang="en-US" altLang="en-US" sz="1800">
                <a:latin typeface="Times New Roman" panose="02020603050405020304" pitchFamily="18" charset="0"/>
              </a:rPr>
              <a:t>}</a:t>
            </a:r>
            <a:endParaRPr lang="en-US" altLang="en-US" sz="1800">
              <a:solidFill>
                <a:schemeClr val="accent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8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	D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</a:t>
            </a:r>
          </a:p>
          <a:p>
            <a:pPr lvl="1" eaLnBrk="1" hangingPunct="1">
              <a:lnSpc>
                <a:spcPct val="8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for all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edges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 </a:t>
            </a:r>
            <a:r>
              <a:rPr lang="en-US" altLang="en-US" sz="1800" b="1" i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p</a:t>
            </a:r>
          </a:p>
          <a:p>
            <a:pPr lvl="1" eaLnBrk="1" hangingPunct="1">
              <a:lnSpc>
                <a:spcPct val="8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		</a:t>
            </a:r>
            <a:r>
              <a:rPr lang="en-US" altLang="en-US" sz="1800">
                <a:latin typeface="Times New Roman" panose="02020603050405020304" pitchFamily="18" charset="0"/>
              </a:rPr>
              <a:t>{ compute residual capacity </a:t>
            </a:r>
            <a:r>
              <a:rPr lang="en-US" altLang="en-US" sz="1800" b="1" i="1">
                <a:latin typeface="Symbol" panose="05050102010706020507" pitchFamily="18" charset="2"/>
                <a:sym typeface="Symbol" panose="05050102010706020507" pitchFamily="18" charset="2"/>
              </a:rPr>
              <a:t>d</a:t>
            </a:r>
            <a:r>
              <a:rPr lang="en-US" altLang="en-US" sz="1800">
                <a:latin typeface="Times New Roman" panose="02020603050405020304" pitchFamily="18" charset="0"/>
              </a:rPr>
              <a:t> of </a:t>
            </a:r>
            <a:r>
              <a:rPr lang="en-US" altLang="en-US" sz="1800" b="1" i="1">
                <a:latin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en-US" sz="1800">
                <a:latin typeface="Times New Roman" panose="02020603050405020304" pitchFamily="18" charset="0"/>
              </a:rPr>
              <a:t>}</a:t>
            </a:r>
            <a:endParaRPr lang="en-US" altLang="en-US" sz="18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		if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is a forward edge of </a:t>
            </a:r>
            <a:r>
              <a:rPr lang="en-US" altLang="en-US" sz="1800" b="1" i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p</a:t>
            </a:r>
            <a:endParaRPr lang="en-US" altLang="en-US" sz="1800">
              <a:solidFill>
                <a:schemeClr val="accent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8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		</a:t>
            </a:r>
            <a:r>
              <a:rPr lang="en-US" altLang="en-US" sz="1800" b="1" i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d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getCapacity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getFlow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8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	else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latin typeface="Times New Roman" panose="02020603050405020304" pitchFamily="18" charset="0"/>
              </a:rPr>
              <a:t>{ </a:t>
            </a:r>
            <a:r>
              <a:rPr lang="en-US" altLang="en-US" sz="1800" b="1" i="1">
                <a:latin typeface="Times New Roman" panose="02020603050405020304" pitchFamily="18" charset="0"/>
              </a:rPr>
              <a:t>e</a:t>
            </a:r>
            <a:r>
              <a:rPr lang="en-US" altLang="en-US" sz="1800">
                <a:latin typeface="Times New Roman" panose="02020603050405020304" pitchFamily="18" charset="0"/>
              </a:rPr>
              <a:t> is a backward edge }</a:t>
            </a:r>
            <a:endParaRPr lang="en-US" altLang="en-US" sz="180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		</a:t>
            </a:r>
            <a:r>
              <a:rPr lang="en-US" altLang="en-US" sz="1800" b="1" i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d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getFlow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8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	if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d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D</a:t>
            </a:r>
            <a:endParaRPr lang="en-US" altLang="en-US" sz="1800" b="1" i="1">
              <a:solidFill>
                <a:schemeClr val="accent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8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		</a:t>
            </a:r>
            <a:r>
              <a:rPr lang="en-US" altLang="en-US" sz="1800" b="1" i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D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d</a:t>
            </a:r>
            <a:endParaRPr lang="en-US" altLang="en-US" sz="18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	</a:t>
            </a:r>
            <a:r>
              <a:rPr lang="en-US" altLang="en-US" sz="1800">
                <a:latin typeface="Times New Roman" panose="02020603050405020304" pitchFamily="18" charset="0"/>
              </a:rPr>
              <a:t>{ augment flow along </a:t>
            </a:r>
            <a:r>
              <a:rPr lang="en-US" altLang="en-US" sz="1800" b="1" i="1">
                <a:latin typeface="Symbol" panose="05050102010706020507" pitchFamily="18" charset="2"/>
                <a:sym typeface="Symbol" panose="05050102010706020507" pitchFamily="18" charset="2"/>
              </a:rPr>
              <a:t>p </a:t>
            </a:r>
            <a:r>
              <a:rPr lang="en-US" altLang="en-US" sz="1800">
                <a:latin typeface="Times New Roman" panose="02020603050405020304" pitchFamily="18" charset="0"/>
              </a:rPr>
              <a:t>}</a:t>
            </a:r>
            <a:endParaRPr lang="en-US" altLang="en-US" sz="1800">
              <a:solidFill>
                <a:schemeClr val="accent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8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for all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edges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 </a:t>
            </a:r>
            <a:r>
              <a:rPr lang="en-US" altLang="en-US" sz="1800" b="1" i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p</a:t>
            </a:r>
            <a:endParaRPr lang="en-US" altLang="en-US" sz="18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	if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is a forward edge of </a:t>
            </a:r>
            <a:r>
              <a:rPr lang="en-US" altLang="en-US" sz="1800" b="1" i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p</a:t>
            </a:r>
            <a:endParaRPr lang="en-US" altLang="en-US" sz="1800">
              <a:solidFill>
                <a:schemeClr val="accent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8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			setFlow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e, getFlow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+ </a:t>
            </a:r>
            <a:r>
              <a:rPr lang="en-US" altLang="en-US" sz="1800" b="1" i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D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 lvl="1" eaLnBrk="1" hangingPunct="1">
              <a:lnSpc>
                <a:spcPct val="8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	else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latin typeface="Times New Roman" panose="02020603050405020304" pitchFamily="18" charset="0"/>
              </a:rPr>
              <a:t>{ </a:t>
            </a:r>
            <a:r>
              <a:rPr lang="en-US" altLang="en-US" sz="1800" b="1" i="1">
                <a:latin typeface="Times New Roman" panose="02020603050405020304" pitchFamily="18" charset="0"/>
              </a:rPr>
              <a:t>e</a:t>
            </a:r>
            <a:r>
              <a:rPr lang="en-US" altLang="en-US" sz="1800">
                <a:latin typeface="Times New Roman" panose="02020603050405020304" pitchFamily="18" charset="0"/>
              </a:rPr>
              <a:t> is a backward edge }</a:t>
            </a:r>
            <a:endParaRPr lang="en-US" altLang="en-US" sz="180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	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setFlow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e, getFlow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 </a:t>
            </a:r>
            <a:r>
              <a:rPr lang="en-US" altLang="en-US" sz="1800" b="1" i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D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ED2F2FA7-E761-1C34-923F-3E5B96EACF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Max-Flow and Min-Cut</a:t>
            </a:r>
          </a:p>
        </p:txBody>
      </p:sp>
      <p:sp>
        <p:nvSpPr>
          <p:cNvPr id="26626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B5F7A3CB-771A-930A-51B1-759FAC5547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1295400"/>
            <a:ext cx="4419600" cy="51054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2000"/>
              <a:t>At the termination of Ford-Fulkerson’s algorithm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There is no augmenting path from </a:t>
            </a:r>
            <a:r>
              <a:rPr lang="en-US" altLang="en-US" sz="1800" b="1" i="1">
                <a:latin typeface="Times New Roman" panose="02020603050405020304" pitchFamily="18" charset="0"/>
              </a:rPr>
              <a:t>s</a:t>
            </a:r>
            <a:r>
              <a:rPr lang="en-US" altLang="en-US" sz="1800"/>
              <a:t> to </a:t>
            </a:r>
            <a:r>
              <a:rPr lang="en-US" altLang="en-US" sz="1800" b="1" i="1">
                <a:latin typeface="Times New Roman" panose="02020603050405020304" pitchFamily="18" charset="0"/>
              </a:rPr>
              <a:t>t</a:t>
            </a:r>
            <a:r>
              <a:rPr lang="en-US" altLang="en-US" sz="1800"/>
              <a:t> with respect to the current flow </a:t>
            </a:r>
            <a:r>
              <a:rPr lang="en-US" altLang="en-US" sz="1800" b="1" i="1">
                <a:latin typeface="Times New Roman" panose="02020603050405020304" pitchFamily="18" charset="0"/>
              </a:rPr>
              <a:t>f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Define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 b="1" i="1" baseline="-25000">
                <a:latin typeface="Times New Roman" panose="02020603050405020304" pitchFamily="18" charset="0"/>
              </a:rPr>
              <a:t>s</a:t>
            </a:r>
            <a:r>
              <a:rPr lang="en-US" altLang="en-US" sz="1800"/>
              <a:t>	set of vertices reachable from </a:t>
            </a:r>
            <a:r>
              <a:rPr lang="en-US" altLang="en-US" sz="1800" b="1" i="1">
                <a:latin typeface="Times New Roman" panose="02020603050405020304" pitchFamily="18" charset="0"/>
              </a:rPr>
              <a:t>s</a:t>
            </a:r>
            <a:r>
              <a:rPr lang="en-US" altLang="en-US" sz="1800"/>
              <a:t> by augmenting paths. At termination of F-F algorithm,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 b="1" i="1" baseline="-25000">
                <a:latin typeface="Times New Roman" panose="02020603050405020304" pitchFamily="18" charset="0"/>
              </a:rPr>
              <a:t>s</a:t>
            </a:r>
            <a:r>
              <a:rPr lang="en-US" altLang="en-US" sz="1800"/>
              <a:t> does not include t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 b="1" i="1" baseline="-25000">
                <a:latin typeface="Times New Roman" panose="02020603050405020304" pitchFamily="18" charset="0"/>
              </a:rPr>
              <a:t>t </a:t>
            </a:r>
            <a:r>
              <a:rPr lang="en-US" altLang="en-US" sz="1800"/>
              <a:t>	set of remaining vertices 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Cut</a:t>
            </a:r>
            <a:r>
              <a:rPr lang="en-US" altLang="en-US" sz="2000" b="1" i="1">
                <a:latin typeface="Symbol" panose="05050102010706020507" pitchFamily="18" charset="2"/>
              </a:rPr>
              <a:t> c</a:t>
            </a:r>
            <a:r>
              <a:rPr lang="en-US" altLang="en-US" sz="2000" b="1" i="1"/>
              <a:t> </a:t>
            </a:r>
            <a:r>
              <a:rPr lang="en-US" altLang="en-US" sz="2000">
                <a:latin typeface="Symbol" panose="05050102010706020507" pitchFamily="18" charset="2"/>
              </a:rPr>
              <a:t>=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 b="1" i="1" baseline="-25000">
                <a:latin typeface="Times New Roman" panose="02020603050405020304" pitchFamily="18" charset="0"/>
              </a:rPr>
              <a:t>s</a:t>
            </a:r>
            <a:r>
              <a:rPr lang="en-US" altLang="en-US" sz="2000" b="1" i="1">
                <a:latin typeface="Times New Roman" panose="02020603050405020304" pitchFamily="18" charset="0"/>
              </a:rPr>
              <a:t>,V</a:t>
            </a:r>
            <a:r>
              <a:rPr lang="en-US" altLang="en-US" sz="2000" b="1" i="1" baseline="-25000">
                <a:latin typeface="Times New Roman" panose="02020603050405020304" pitchFamily="18" charset="0"/>
              </a:rPr>
              <a:t>t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r>
              <a:rPr lang="en-US" altLang="en-US" sz="2000"/>
              <a:t> has capacity</a:t>
            </a:r>
            <a:br>
              <a:rPr lang="en-US" altLang="en-US" sz="2000"/>
            </a:br>
            <a:r>
              <a:rPr lang="en-US" altLang="en-US" sz="2000"/>
              <a:t>	</a:t>
            </a:r>
            <a:r>
              <a:rPr lang="en-US" altLang="en-US" sz="2000" b="1" i="1">
                <a:latin typeface="Times New Roman" panose="02020603050405020304" pitchFamily="18" charset="0"/>
              </a:rPr>
              <a:t>c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Symbol" panose="05050102010706020507" pitchFamily="18" charset="2"/>
              </a:rPr>
              <a:t>c</a:t>
            </a:r>
            <a:r>
              <a:rPr lang="en-US" altLang="en-US" sz="2000">
                <a:latin typeface="Times New Roman" panose="02020603050405020304" pitchFamily="18" charset="0"/>
              </a:rPr>
              <a:t>) =</a:t>
            </a:r>
            <a:r>
              <a:rPr lang="en-US" altLang="en-US" sz="2000"/>
              <a:t> </a:t>
            </a:r>
            <a:r>
              <a:rPr lang="en-US" altLang="en-US" sz="2000">
                <a:latin typeface="Times New Roman" panose="02020603050405020304" pitchFamily="18" charset="0"/>
              </a:rPr>
              <a:t>|</a:t>
            </a:r>
            <a:r>
              <a:rPr lang="en-US" altLang="en-US" sz="2000" b="1" i="1">
                <a:latin typeface="Times New Roman" panose="02020603050405020304" pitchFamily="18" charset="0"/>
              </a:rPr>
              <a:t>f</a:t>
            </a:r>
            <a:r>
              <a:rPr lang="en-US" altLang="en-US" sz="2000">
                <a:latin typeface="Times New Roman" panose="02020603050405020304" pitchFamily="18" charset="0"/>
              </a:rPr>
              <a:t>|</a:t>
            </a:r>
            <a:endParaRPr lang="en-US" altLang="en-US" sz="2000"/>
          </a:p>
          <a:p>
            <a:pPr lvl="1">
              <a:lnSpc>
                <a:spcPct val="90000"/>
              </a:lnSpc>
            </a:pPr>
            <a:r>
              <a:rPr lang="en-US" altLang="en-US" sz="1800"/>
              <a:t>Forward edge: </a:t>
            </a:r>
            <a:r>
              <a:rPr lang="en-US" altLang="en-US" sz="1800" b="1" i="1">
                <a:latin typeface="Times New Roman" panose="02020603050405020304" pitchFamily="18" charset="0"/>
              </a:rPr>
              <a:t>f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e</a:t>
            </a:r>
            <a:r>
              <a:rPr lang="en-US" altLang="en-US" sz="1800">
                <a:latin typeface="Times New Roman" panose="02020603050405020304" pitchFamily="18" charset="0"/>
              </a:rPr>
              <a:t>) = </a:t>
            </a:r>
            <a:r>
              <a:rPr lang="en-US" altLang="en-US" sz="1800" b="1" i="1">
                <a:latin typeface="Times New Roman" panose="02020603050405020304" pitchFamily="18" charset="0"/>
              </a:rPr>
              <a:t>c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e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endParaRPr lang="en-US" altLang="en-US" sz="1800"/>
          </a:p>
          <a:p>
            <a:pPr lvl="1">
              <a:lnSpc>
                <a:spcPct val="90000"/>
              </a:lnSpc>
            </a:pPr>
            <a:r>
              <a:rPr lang="en-US" altLang="en-US" sz="1800"/>
              <a:t>Backward edge: </a:t>
            </a:r>
            <a:r>
              <a:rPr lang="en-US" altLang="en-US" sz="1800" b="1" i="1">
                <a:latin typeface="Times New Roman" panose="02020603050405020304" pitchFamily="18" charset="0"/>
              </a:rPr>
              <a:t>f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e</a:t>
            </a:r>
            <a:r>
              <a:rPr lang="en-US" altLang="en-US" sz="1800">
                <a:latin typeface="Times New Roman" panose="02020603050405020304" pitchFamily="18" charset="0"/>
              </a:rPr>
              <a:t>) = 0</a:t>
            </a:r>
            <a:endParaRPr lang="en-US" altLang="en-US" sz="1800"/>
          </a:p>
          <a:p>
            <a:pPr>
              <a:lnSpc>
                <a:spcPct val="90000"/>
              </a:lnSpc>
            </a:pPr>
            <a:r>
              <a:rPr lang="en-US" altLang="en-US" sz="2000"/>
              <a:t>Thus, flow </a:t>
            </a:r>
            <a:r>
              <a:rPr lang="en-US" altLang="en-US" sz="2000" b="1" i="1">
                <a:latin typeface="Times New Roman" panose="02020603050405020304" pitchFamily="18" charset="0"/>
              </a:rPr>
              <a:t>f</a:t>
            </a:r>
            <a:r>
              <a:rPr lang="en-US" altLang="en-US" sz="2000"/>
              <a:t> has maximum value and cut </a:t>
            </a:r>
            <a:r>
              <a:rPr lang="en-US" altLang="en-US" sz="2000" b="1" i="1">
                <a:latin typeface="Symbol" panose="05050102010706020507" pitchFamily="18" charset="2"/>
              </a:rPr>
              <a:t>c</a:t>
            </a:r>
            <a:r>
              <a:rPr lang="en-US" altLang="en-US" sz="2000"/>
              <a:t> has minimum capacity</a:t>
            </a:r>
          </a:p>
        </p:txBody>
      </p:sp>
      <p:sp>
        <p:nvSpPr>
          <p:cNvPr id="26627" name="Oval 4">
            <a:extLst>
              <a:ext uri="{FF2B5EF4-FFF2-40B4-BE49-F238E27FC236}">
                <a16:creationId xmlns:a16="http://schemas.microsoft.com/office/drawing/2014/main" id="{E839D0E6-36E8-2458-E4B6-52C4566C80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501063" y="4060826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26628" name="Oval 5">
            <a:extLst>
              <a:ext uri="{FF2B5EF4-FFF2-40B4-BE49-F238E27FC236}">
                <a16:creationId xmlns:a16="http://schemas.microsoft.com/office/drawing/2014/main" id="{EE226737-59DD-4E81-C8A9-8C62C43A10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51626" y="3835401"/>
            <a:ext cx="366713" cy="366713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6629" name="Oval 6">
            <a:extLst>
              <a:ext uri="{FF2B5EF4-FFF2-40B4-BE49-F238E27FC236}">
                <a16:creationId xmlns:a16="http://schemas.microsoft.com/office/drawing/2014/main" id="{4F301AB2-111F-1A2E-96D1-3F71FDA2980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754938" y="3101976"/>
            <a:ext cx="366712" cy="366713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26630" name="Oval 7">
            <a:extLst>
              <a:ext uri="{FF2B5EF4-FFF2-40B4-BE49-F238E27FC236}">
                <a16:creationId xmlns:a16="http://schemas.microsoft.com/office/drawing/2014/main" id="{930505FB-536B-F8BD-4832-CD8ABAAA259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78726" y="4754563"/>
            <a:ext cx="366713" cy="366712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26631" name="Oval 8">
            <a:extLst>
              <a:ext uri="{FF2B5EF4-FFF2-40B4-BE49-F238E27FC236}">
                <a16:creationId xmlns:a16="http://schemas.microsoft.com/office/drawing/2014/main" id="{ADE4032D-BD5A-24DD-5A5C-2031A386ED3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844088" y="3632201"/>
            <a:ext cx="366712" cy="366713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6632" name="Oval 9">
            <a:extLst>
              <a:ext uri="{FF2B5EF4-FFF2-40B4-BE49-F238E27FC236}">
                <a16:creationId xmlns:a16="http://schemas.microsoft.com/office/drawing/2014/main" id="{7E3BD005-9C51-57C0-D4E8-D310342FFC7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396413" y="4743451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z</a:t>
            </a:r>
          </a:p>
        </p:txBody>
      </p:sp>
      <p:sp>
        <p:nvSpPr>
          <p:cNvPr id="26633" name="Text Box 10">
            <a:extLst>
              <a:ext uri="{FF2B5EF4-FFF2-40B4-BE49-F238E27FC236}">
                <a16:creationId xmlns:a16="http://schemas.microsoft.com/office/drawing/2014/main" id="{B3711DEB-6D0E-B8E9-0E5C-1F53064559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8250" y="3813176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26634" name="Text Box 11">
            <a:extLst>
              <a:ext uri="{FF2B5EF4-FFF2-40B4-BE49-F238E27FC236}">
                <a16:creationId xmlns:a16="http://schemas.microsoft.com/office/drawing/2014/main" id="{6E9892DD-C88E-4EC7-45B6-B1EFB8912D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6050" y="4246563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  <a:sym typeface="Symbol" panose="05050102010706020507" pitchFamily="18" charset="2"/>
              </a:rPr>
              <a:t>9</a:t>
            </a:r>
          </a:p>
        </p:txBody>
      </p:sp>
      <p:sp>
        <p:nvSpPr>
          <p:cNvPr id="26635" name="Text Box 12">
            <a:extLst>
              <a:ext uri="{FF2B5EF4-FFF2-40B4-BE49-F238E27FC236}">
                <a16:creationId xmlns:a16="http://schemas.microsoft.com/office/drawing/2014/main" id="{9B2F36C6-3C47-027C-51F6-16ADA20EBB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2625" y="3536951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6636" name="Text Box 13">
            <a:extLst>
              <a:ext uri="{FF2B5EF4-FFF2-40B4-BE49-F238E27FC236}">
                <a16:creationId xmlns:a16="http://schemas.microsoft.com/office/drawing/2014/main" id="{02D75631-0167-5E01-52CB-CCD2E39A00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8875" y="3117851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6637" name="Text Box 14">
            <a:extLst>
              <a:ext uri="{FF2B5EF4-FFF2-40B4-BE49-F238E27FC236}">
                <a16:creationId xmlns:a16="http://schemas.microsoft.com/office/drawing/2014/main" id="{354F94E2-77B5-C544-31B3-3F139F8921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8100" y="3667126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4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26638" name="Text Box 15">
            <a:extLst>
              <a:ext uri="{FF2B5EF4-FFF2-40B4-BE49-F238E27FC236}">
                <a16:creationId xmlns:a16="http://schemas.microsoft.com/office/drawing/2014/main" id="{4CD4C010-57F4-9680-CD0D-93583C950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6275" y="3330576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4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26639" name="Text Box 16">
            <a:extLst>
              <a:ext uri="{FF2B5EF4-FFF2-40B4-BE49-F238E27FC236}">
                <a16:creationId xmlns:a16="http://schemas.microsoft.com/office/drawing/2014/main" id="{C217AB99-8FD1-76E6-044E-AEBE57FBCF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1850" y="4246563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6640" name="Text Box 17">
            <a:extLst>
              <a:ext uri="{FF2B5EF4-FFF2-40B4-BE49-F238E27FC236}">
                <a16:creationId xmlns:a16="http://schemas.microsoft.com/office/drawing/2014/main" id="{260C6652-F9E4-445B-5C22-601048CABD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8425" y="4351338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6641" name="Text Box 18">
            <a:extLst>
              <a:ext uri="{FF2B5EF4-FFF2-40B4-BE49-F238E27FC236}">
                <a16:creationId xmlns:a16="http://schemas.microsoft.com/office/drawing/2014/main" id="{1AEFAFA6-467D-EE98-963F-0B36B60E48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3875" y="4430713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6642" name="Text Box 19">
            <a:extLst>
              <a:ext uri="{FF2B5EF4-FFF2-40B4-BE49-F238E27FC236}">
                <a16:creationId xmlns:a16="http://schemas.microsoft.com/office/drawing/2014/main" id="{BF9EBCAB-BE74-9603-660B-8E58FAB318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3425" y="4887913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cxnSp>
        <p:nvCxnSpPr>
          <p:cNvPr id="26643" name="AutoShape 20">
            <a:extLst>
              <a:ext uri="{FF2B5EF4-FFF2-40B4-BE49-F238E27FC236}">
                <a16:creationId xmlns:a16="http://schemas.microsoft.com/office/drawing/2014/main" id="{AFEAD855-F78D-5C26-5357-E20AFE6C89A8}"/>
              </a:ext>
            </a:extLst>
          </p:cNvPr>
          <p:cNvCxnSpPr>
            <a:cxnSpLocks noChangeShapeType="1"/>
            <a:stCxn id="26628" idx="7"/>
            <a:endCxn id="26629" idx="3"/>
          </p:cNvCxnSpPr>
          <p:nvPr/>
        </p:nvCxnSpPr>
        <p:spPr bwMode="auto">
          <a:xfrm flipV="1">
            <a:off x="6964363" y="3424238"/>
            <a:ext cx="842962" cy="4445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4" name="AutoShape 21">
            <a:extLst>
              <a:ext uri="{FF2B5EF4-FFF2-40B4-BE49-F238E27FC236}">
                <a16:creationId xmlns:a16="http://schemas.microsoft.com/office/drawing/2014/main" id="{FDAE1A80-978F-2C72-7EB5-330049546D58}"/>
              </a:ext>
            </a:extLst>
          </p:cNvPr>
          <p:cNvCxnSpPr>
            <a:cxnSpLocks noChangeShapeType="1"/>
            <a:stCxn id="26628" idx="5"/>
            <a:endCxn id="26630" idx="1"/>
          </p:cNvCxnSpPr>
          <p:nvPr/>
        </p:nvCxnSpPr>
        <p:spPr bwMode="auto">
          <a:xfrm>
            <a:off x="6964363" y="4167189"/>
            <a:ext cx="666750" cy="630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5" name="AutoShape 22">
            <a:extLst>
              <a:ext uri="{FF2B5EF4-FFF2-40B4-BE49-F238E27FC236}">
                <a16:creationId xmlns:a16="http://schemas.microsoft.com/office/drawing/2014/main" id="{07AB8BF2-877C-E68D-905F-A0ED1BDAB451}"/>
              </a:ext>
            </a:extLst>
          </p:cNvPr>
          <p:cNvCxnSpPr>
            <a:cxnSpLocks noChangeShapeType="1"/>
            <a:stCxn id="26629" idx="5"/>
            <a:endCxn id="26627" idx="1"/>
          </p:cNvCxnSpPr>
          <p:nvPr/>
        </p:nvCxnSpPr>
        <p:spPr bwMode="auto">
          <a:xfrm>
            <a:off x="8067676" y="3424238"/>
            <a:ext cx="485775" cy="679450"/>
          </a:xfrm>
          <a:prstGeom prst="straightConnector1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6" name="AutoShape 23">
            <a:extLst>
              <a:ext uri="{FF2B5EF4-FFF2-40B4-BE49-F238E27FC236}">
                <a16:creationId xmlns:a16="http://schemas.microsoft.com/office/drawing/2014/main" id="{A90C7272-4DEC-6252-6314-178C40E95999}"/>
              </a:ext>
            </a:extLst>
          </p:cNvPr>
          <p:cNvCxnSpPr>
            <a:cxnSpLocks noChangeShapeType="1"/>
            <a:stCxn id="26629" idx="6"/>
            <a:endCxn id="26631" idx="1"/>
          </p:cNvCxnSpPr>
          <p:nvPr/>
        </p:nvCxnSpPr>
        <p:spPr bwMode="auto">
          <a:xfrm>
            <a:off x="8129589" y="3284538"/>
            <a:ext cx="1766887" cy="381000"/>
          </a:xfrm>
          <a:prstGeom prst="straightConnector1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7" name="AutoShape 24">
            <a:extLst>
              <a:ext uri="{FF2B5EF4-FFF2-40B4-BE49-F238E27FC236}">
                <a16:creationId xmlns:a16="http://schemas.microsoft.com/office/drawing/2014/main" id="{A019A7F8-9FDE-6E50-4093-7E4762CF1B09}"/>
              </a:ext>
            </a:extLst>
          </p:cNvPr>
          <p:cNvCxnSpPr>
            <a:cxnSpLocks noChangeShapeType="1"/>
            <a:stCxn id="26627" idx="7"/>
            <a:endCxn id="26631" idx="2"/>
          </p:cNvCxnSpPr>
          <p:nvPr/>
        </p:nvCxnSpPr>
        <p:spPr bwMode="auto">
          <a:xfrm flipV="1">
            <a:off x="8813800" y="3814764"/>
            <a:ext cx="1009650" cy="288925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8" name="AutoShape 25">
            <a:extLst>
              <a:ext uri="{FF2B5EF4-FFF2-40B4-BE49-F238E27FC236}">
                <a16:creationId xmlns:a16="http://schemas.microsoft.com/office/drawing/2014/main" id="{018C83FD-490D-2567-F99A-E52A5527E040}"/>
              </a:ext>
            </a:extLst>
          </p:cNvPr>
          <p:cNvCxnSpPr>
            <a:cxnSpLocks noChangeShapeType="1"/>
            <a:stCxn id="26627" idx="5"/>
            <a:endCxn id="26632" idx="1"/>
          </p:cNvCxnSpPr>
          <p:nvPr/>
        </p:nvCxnSpPr>
        <p:spPr bwMode="auto">
          <a:xfrm>
            <a:off x="8813800" y="4383089"/>
            <a:ext cx="635000" cy="403225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9" name="AutoShape 26">
            <a:extLst>
              <a:ext uri="{FF2B5EF4-FFF2-40B4-BE49-F238E27FC236}">
                <a16:creationId xmlns:a16="http://schemas.microsoft.com/office/drawing/2014/main" id="{33AD3620-7D1B-07A6-B143-68E54528B9D4}"/>
              </a:ext>
            </a:extLst>
          </p:cNvPr>
          <p:cNvCxnSpPr>
            <a:cxnSpLocks noChangeShapeType="1"/>
            <a:stCxn id="26632" idx="0"/>
            <a:endCxn id="26631" idx="3"/>
          </p:cNvCxnSpPr>
          <p:nvPr/>
        </p:nvCxnSpPr>
        <p:spPr bwMode="auto">
          <a:xfrm flipV="1">
            <a:off x="9578975" y="3963988"/>
            <a:ext cx="317500" cy="768350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50" name="AutoShape 27">
            <a:extLst>
              <a:ext uri="{FF2B5EF4-FFF2-40B4-BE49-F238E27FC236}">
                <a16:creationId xmlns:a16="http://schemas.microsoft.com/office/drawing/2014/main" id="{BF51E57D-E812-2ECC-C2D0-1BA3A0EC3405}"/>
              </a:ext>
            </a:extLst>
          </p:cNvPr>
          <p:cNvCxnSpPr>
            <a:cxnSpLocks noChangeShapeType="1"/>
            <a:stCxn id="26630" idx="6"/>
            <a:endCxn id="26632" idx="2"/>
          </p:cNvCxnSpPr>
          <p:nvPr/>
        </p:nvCxnSpPr>
        <p:spPr bwMode="auto">
          <a:xfrm flipV="1">
            <a:off x="7953376" y="4926013"/>
            <a:ext cx="1431925" cy="11112"/>
          </a:xfrm>
          <a:prstGeom prst="straightConnector1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51" name="AutoShape 28">
            <a:extLst>
              <a:ext uri="{FF2B5EF4-FFF2-40B4-BE49-F238E27FC236}">
                <a16:creationId xmlns:a16="http://schemas.microsoft.com/office/drawing/2014/main" id="{22C3AF72-4614-5A14-3F1E-DA7120966F9E}"/>
              </a:ext>
            </a:extLst>
          </p:cNvPr>
          <p:cNvCxnSpPr>
            <a:cxnSpLocks noChangeShapeType="1"/>
            <a:stCxn id="26630" idx="7"/>
            <a:endCxn id="26627" idx="3"/>
          </p:cNvCxnSpPr>
          <p:nvPr/>
        </p:nvCxnSpPr>
        <p:spPr bwMode="auto">
          <a:xfrm flipV="1">
            <a:off x="7891464" y="4383089"/>
            <a:ext cx="661987" cy="414337"/>
          </a:xfrm>
          <a:prstGeom prst="straightConnector1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52" name="AutoShape 29">
            <a:extLst>
              <a:ext uri="{FF2B5EF4-FFF2-40B4-BE49-F238E27FC236}">
                <a16:creationId xmlns:a16="http://schemas.microsoft.com/office/drawing/2014/main" id="{77327154-4741-CBBF-9F8A-A71023278938}"/>
              </a:ext>
            </a:extLst>
          </p:cNvPr>
          <p:cNvCxnSpPr>
            <a:cxnSpLocks noChangeShapeType="1"/>
            <a:stCxn id="26628" idx="6"/>
            <a:endCxn id="26627" idx="2"/>
          </p:cNvCxnSpPr>
          <p:nvPr/>
        </p:nvCxnSpPr>
        <p:spPr bwMode="auto">
          <a:xfrm>
            <a:off x="7035800" y="4017964"/>
            <a:ext cx="1454150" cy="225425"/>
          </a:xfrm>
          <a:prstGeom prst="straightConnector1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53" name="Freeform 30">
            <a:extLst>
              <a:ext uri="{FF2B5EF4-FFF2-40B4-BE49-F238E27FC236}">
                <a16:creationId xmlns:a16="http://schemas.microsoft.com/office/drawing/2014/main" id="{E66169E1-EAE6-8025-CF85-CD5EF6CC4611}"/>
              </a:ext>
            </a:extLst>
          </p:cNvPr>
          <p:cNvSpPr>
            <a:spLocks/>
          </p:cNvSpPr>
          <p:nvPr/>
        </p:nvSpPr>
        <p:spPr bwMode="auto">
          <a:xfrm>
            <a:off x="8034339" y="2847976"/>
            <a:ext cx="477837" cy="2695575"/>
          </a:xfrm>
          <a:custGeom>
            <a:avLst/>
            <a:gdLst>
              <a:gd name="T0" fmla="*/ 2147483646 w 301"/>
              <a:gd name="T1" fmla="*/ 0 h 1698"/>
              <a:gd name="T2" fmla="*/ 2147483646 w 301"/>
              <a:gd name="T3" fmla="*/ 2147483646 h 1698"/>
              <a:gd name="T4" fmla="*/ 2147483646 w 301"/>
              <a:gd name="T5" fmla="*/ 2147483646 h 1698"/>
              <a:gd name="T6" fmla="*/ 2147483646 w 301"/>
              <a:gd name="T7" fmla="*/ 2147483646 h 1698"/>
              <a:gd name="T8" fmla="*/ 2147483646 w 301"/>
              <a:gd name="T9" fmla="*/ 2147483646 h 1698"/>
              <a:gd name="T10" fmla="*/ 2147483646 w 301"/>
              <a:gd name="T11" fmla="*/ 2147483646 h 1698"/>
              <a:gd name="T12" fmla="*/ 2147483646 w 301"/>
              <a:gd name="T13" fmla="*/ 2147483646 h 16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01"/>
              <a:gd name="T22" fmla="*/ 0 h 1698"/>
              <a:gd name="T23" fmla="*/ 301 w 301"/>
              <a:gd name="T24" fmla="*/ 1698 h 169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01" h="1698">
                <a:moveTo>
                  <a:pt x="233" y="0"/>
                </a:moveTo>
                <a:cubicBezTo>
                  <a:pt x="239" y="55"/>
                  <a:pt x="301" y="209"/>
                  <a:pt x="269" y="330"/>
                </a:cubicBezTo>
                <a:cubicBezTo>
                  <a:pt x="237" y="451"/>
                  <a:pt x="82" y="623"/>
                  <a:pt x="41" y="726"/>
                </a:cubicBezTo>
                <a:cubicBezTo>
                  <a:pt x="0" y="829"/>
                  <a:pt x="0" y="882"/>
                  <a:pt x="23" y="948"/>
                </a:cubicBezTo>
                <a:cubicBezTo>
                  <a:pt x="46" y="1014"/>
                  <a:pt x="147" y="1043"/>
                  <a:pt x="179" y="1122"/>
                </a:cubicBezTo>
                <a:cubicBezTo>
                  <a:pt x="211" y="1201"/>
                  <a:pt x="225" y="1326"/>
                  <a:pt x="215" y="1422"/>
                </a:cubicBezTo>
                <a:cubicBezTo>
                  <a:pt x="205" y="1518"/>
                  <a:pt x="139" y="1641"/>
                  <a:pt x="119" y="1698"/>
                </a:cubicBezTo>
              </a:path>
            </a:pathLst>
          </a:custGeom>
          <a:noFill/>
          <a:ln w="38100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54" name="Text Box 31">
            <a:extLst>
              <a:ext uri="{FF2B5EF4-FFF2-40B4-BE49-F238E27FC236}">
                <a16:creationId xmlns:a16="http://schemas.microsoft.com/office/drawing/2014/main" id="{44131CD7-418F-013E-05A4-59E491335D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4975" y="2590801"/>
            <a:ext cx="323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solidFill>
                  <a:schemeClr val="accent2"/>
                </a:solidFill>
                <a:latin typeface="Symbol" panose="05050102010706020507" pitchFamily="18" charset="2"/>
              </a:rPr>
              <a:t>c</a:t>
            </a:r>
          </a:p>
        </p:txBody>
      </p:sp>
      <p:sp>
        <p:nvSpPr>
          <p:cNvPr id="26655" name="Text Box 32">
            <a:extLst>
              <a:ext uri="{FF2B5EF4-FFF2-40B4-BE49-F238E27FC236}">
                <a16:creationId xmlns:a16="http://schemas.microsoft.com/office/drawing/2014/main" id="{267D37BC-1A6B-6099-A077-E8F2AFAD37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4626" y="1295401"/>
            <a:ext cx="3762375" cy="1538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Theorem: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/>
              <a:t>The value of a maximum flow is equal to the capacity of a minimum cut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56" name="Text Box 33">
            <a:extLst>
              <a:ext uri="{FF2B5EF4-FFF2-40B4-BE49-F238E27FC236}">
                <a16:creationId xmlns:a16="http://schemas.microsoft.com/office/drawing/2014/main" id="{F95FC9E4-564C-7694-6B56-F38293BFD8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1784" y="5562600"/>
            <a:ext cx="156805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c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Symbol" panose="05050102010706020507" pitchFamily="18" charset="2"/>
              </a:rPr>
              <a:t>c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</a:rPr>
              <a:t>=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| 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f 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|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</a:rPr>
              <a:t>=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32E5B996-68FA-B5C0-1FC3-B45E8E5CCB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24400" y="152400"/>
            <a:ext cx="5486400" cy="914400"/>
          </a:xfrm>
        </p:spPr>
        <p:txBody>
          <a:bodyPr/>
          <a:lstStyle/>
          <a:p>
            <a:r>
              <a:rPr lang="en-US" altLang="en-US"/>
              <a:t>Example</a:t>
            </a:r>
          </a:p>
        </p:txBody>
      </p:sp>
      <p:sp>
        <p:nvSpPr>
          <p:cNvPr id="27650" name="Oval 3">
            <a:extLst>
              <a:ext uri="{FF2B5EF4-FFF2-40B4-BE49-F238E27FC236}">
                <a16:creationId xmlns:a16="http://schemas.microsoft.com/office/drawing/2014/main" id="{A70EBAC8-1BAD-CC38-82E4-A9F90D630F1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35438" y="2711451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27651" name="Oval 4">
            <a:extLst>
              <a:ext uri="{FF2B5EF4-FFF2-40B4-BE49-F238E27FC236}">
                <a16:creationId xmlns:a16="http://schemas.microsoft.com/office/drawing/2014/main" id="{182FDB5F-B295-AD1D-9FC7-8863E1B8E5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86001" y="2486026"/>
            <a:ext cx="366713" cy="366713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7652" name="Oval 5">
            <a:extLst>
              <a:ext uri="{FF2B5EF4-FFF2-40B4-BE49-F238E27FC236}">
                <a16:creationId xmlns:a16="http://schemas.microsoft.com/office/drawing/2014/main" id="{1F89F05B-C762-8994-F653-C6BC0732EC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89313" y="1752601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27653" name="Oval 6">
            <a:extLst>
              <a:ext uri="{FF2B5EF4-FFF2-40B4-BE49-F238E27FC236}">
                <a16:creationId xmlns:a16="http://schemas.microsoft.com/office/drawing/2014/main" id="{591FC5E7-4ABB-463E-20E9-DB274A15A0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13101" y="3405188"/>
            <a:ext cx="366713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27654" name="Oval 7">
            <a:extLst>
              <a:ext uri="{FF2B5EF4-FFF2-40B4-BE49-F238E27FC236}">
                <a16:creationId xmlns:a16="http://schemas.microsoft.com/office/drawing/2014/main" id="{306E6FEE-B0E2-7FDB-2F03-4750B7A058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78463" y="2282826"/>
            <a:ext cx="366712" cy="366713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7655" name="Oval 8">
            <a:extLst>
              <a:ext uri="{FF2B5EF4-FFF2-40B4-BE49-F238E27FC236}">
                <a16:creationId xmlns:a16="http://schemas.microsoft.com/office/drawing/2014/main" id="{01C229B5-C53E-D3E7-5F16-3D9A16A8D56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30788" y="3394076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z</a:t>
            </a:r>
          </a:p>
        </p:txBody>
      </p:sp>
      <p:sp>
        <p:nvSpPr>
          <p:cNvPr id="27656" name="Text Box 9">
            <a:extLst>
              <a:ext uri="{FF2B5EF4-FFF2-40B4-BE49-F238E27FC236}">
                <a16:creationId xmlns:a16="http://schemas.microsoft.com/office/drawing/2014/main" id="{B808537F-1254-5CF9-E494-D534BDDB4A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2625" y="2463801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27657" name="Text Box 10">
            <a:extLst>
              <a:ext uri="{FF2B5EF4-FFF2-40B4-BE49-F238E27FC236}">
                <a16:creationId xmlns:a16="http://schemas.microsoft.com/office/drawing/2014/main" id="{158B572A-D306-5309-B7CB-05A71D28AD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0425" y="2897188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  <a:sym typeface="Symbol" panose="05050102010706020507" pitchFamily="18" charset="2"/>
              </a:rPr>
              <a:t>9</a:t>
            </a:r>
          </a:p>
        </p:txBody>
      </p:sp>
      <p:sp>
        <p:nvSpPr>
          <p:cNvPr id="27658" name="Text Box 11">
            <a:extLst>
              <a:ext uri="{FF2B5EF4-FFF2-40B4-BE49-F238E27FC236}">
                <a16:creationId xmlns:a16="http://schemas.microsoft.com/office/drawing/2014/main" id="{1BE02D5A-AC96-4A89-CD9D-B99165D336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7000" y="2187576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7659" name="Text Box 12">
            <a:extLst>
              <a:ext uri="{FF2B5EF4-FFF2-40B4-BE49-F238E27FC236}">
                <a16:creationId xmlns:a16="http://schemas.microsoft.com/office/drawing/2014/main" id="{DE257401-E669-3A82-2EBD-3540FCF5A1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0" y="1768476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7660" name="Text Box 13">
            <a:extLst>
              <a:ext uri="{FF2B5EF4-FFF2-40B4-BE49-F238E27FC236}">
                <a16:creationId xmlns:a16="http://schemas.microsoft.com/office/drawing/2014/main" id="{70233712-0CD0-11FC-1281-DFE564B2BB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2475" y="2317751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27661" name="Text Box 14">
            <a:extLst>
              <a:ext uri="{FF2B5EF4-FFF2-40B4-BE49-F238E27FC236}">
                <a16:creationId xmlns:a16="http://schemas.microsoft.com/office/drawing/2014/main" id="{79514764-56A4-CF06-9DEE-478AA3E0EE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0650" y="1981201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27662" name="Text Box 15">
            <a:extLst>
              <a:ext uri="{FF2B5EF4-FFF2-40B4-BE49-F238E27FC236}">
                <a16:creationId xmlns:a16="http://schemas.microsoft.com/office/drawing/2014/main" id="{EB494AE6-7CA1-CB07-C8A6-778F6673CC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6225" y="2897188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7663" name="Text Box 16">
            <a:extLst>
              <a:ext uri="{FF2B5EF4-FFF2-40B4-BE49-F238E27FC236}">
                <a16:creationId xmlns:a16="http://schemas.microsoft.com/office/drawing/2014/main" id="{3CC723BB-9ADF-723A-26C2-24DDEE5B60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3001963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7664" name="Text Box 17">
            <a:extLst>
              <a:ext uri="{FF2B5EF4-FFF2-40B4-BE49-F238E27FC236}">
                <a16:creationId xmlns:a16="http://schemas.microsoft.com/office/drawing/2014/main" id="{514A541E-7480-E118-F1BD-1F103DB1F5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0" y="3081338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7665" name="Text Box 18">
            <a:extLst>
              <a:ext uri="{FF2B5EF4-FFF2-40B4-BE49-F238E27FC236}">
                <a16:creationId xmlns:a16="http://schemas.microsoft.com/office/drawing/2014/main" id="{636F3AE9-96E4-CA7B-C43B-46040C5F71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4150" y="3529013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cxnSp>
        <p:nvCxnSpPr>
          <p:cNvPr id="27666" name="AutoShape 19">
            <a:extLst>
              <a:ext uri="{FF2B5EF4-FFF2-40B4-BE49-F238E27FC236}">
                <a16:creationId xmlns:a16="http://schemas.microsoft.com/office/drawing/2014/main" id="{39C8AB43-8959-A509-3702-8EF18F536AC9}"/>
              </a:ext>
            </a:extLst>
          </p:cNvPr>
          <p:cNvCxnSpPr>
            <a:cxnSpLocks noChangeShapeType="1"/>
            <a:stCxn id="27651" idx="7"/>
            <a:endCxn id="27652" idx="3"/>
          </p:cNvCxnSpPr>
          <p:nvPr/>
        </p:nvCxnSpPr>
        <p:spPr bwMode="auto">
          <a:xfrm flipV="1">
            <a:off x="2598738" y="2074863"/>
            <a:ext cx="842962" cy="4445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7" name="AutoShape 20">
            <a:extLst>
              <a:ext uri="{FF2B5EF4-FFF2-40B4-BE49-F238E27FC236}">
                <a16:creationId xmlns:a16="http://schemas.microsoft.com/office/drawing/2014/main" id="{B9BC4676-2262-72E8-FC04-773DF0FCAB4C}"/>
              </a:ext>
            </a:extLst>
          </p:cNvPr>
          <p:cNvCxnSpPr>
            <a:cxnSpLocks noChangeShapeType="1"/>
            <a:stCxn id="27651" idx="5"/>
            <a:endCxn id="27653" idx="1"/>
          </p:cNvCxnSpPr>
          <p:nvPr/>
        </p:nvCxnSpPr>
        <p:spPr bwMode="auto">
          <a:xfrm>
            <a:off x="2598738" y="2817814"/>
            <a:ext cx="666750" cy="630237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8" name="AutoShape 21">
            <a:extLst>
              <a:ext uri="{FF2B5EF4-FFF2-40B4-BE49-F238E27FC236}">
                <a16:creationId xmlns:a16="http://schemas.microsoft.com/office/drawing/2014/main" id="{54C977F3-805A-0CB4-AFD6-4AB064C95F94}"/>
              </a:ext>
            </a:extLst>
          </p:cNvPr>
          <p:cNvCxnSpPr>
            <a:cxnSpLocks noChangeShapeType="1"/>
            <a:stCxn id="27652" idx="5"/>
            <a:endCxn id="27650" idx="1"/>
          </p:cNvCxnSpPr>
          <p:nvPr/>
        </p:nvCxnSpPr>
        <p:spPr bwMode="auto">
          <a:xfrm>
            <a:off x="3702051" y="2074863"/>
            <a:ext cx="485775" cy="6794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9" name="AutoShape 22">
            <a:extLst>
              <a:ext uri="{FF2B5EF4-FFF2-40B4-BE49-F238E27FC236}">
                <a16:creationId xmlns:a16="http://schemas.microsoft.com/office/drawing/2014/main" id="{F0A272A5-4F90-0DC9-3E31-CF325C71C0D5}"/>
              </a:ext>
            </a:extLst>
          </p:cNvPr>
          <p:cNvCxnSpPr>
            <a:cxnSpLocks noChangeShapeType="1"/>
            <a:stCxn id="27652" idx="6"/>
            <a:endCxn id="27654" idx="1"/>
          </p:cNvCxnSpPr>
          <p:nvPr/>
        </p:nvCxnSpPr>
        <p:spPr bwMode="auto">
          <a:xfrm>
            <a:off x="3763964" y="1935163"/>
            <a:ext cx="1766887" cy="3810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70" name="AutoShape 23">
            <a:extLst>
              <a:ext uri="{FF2B5EF4-FFF2-40B4-BE49-F238E27FC236}">
                <a16:creationId xmlns:a16="http://schemas.microsoft.com/office/drawing/2014/main" id="{CEA3801C-5930-96D4-E401-5EA3E5EBE564}"/>
              </a:ext>
            </a:extLst>
          </p:cNvPr>
          <p:cNvCxnSpPr>
            <a:cxnSpLocks noChangeShapeType="1"/>
            <a:stCxn id="27650" idx="7"/>
            <a:endCxn id="27654" idx="2"/>
          </p:cNvCxnSpPr>
          <p:nvPr/>
        </p:nvCxnSpPr>
        <p:spPr bwMode="auto">
          <a:xfrm flipV="1">
            <a:off x="4448175" y="2465389"/>
            <a:ext cx="1009650" cy="288925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71" name="AutoShape 24">
            <a:extLst>
              <a:ext uri="{FF2B5EF4-FFF2-40B4-BE49-F238E27FC236}">
                <a16:creationId xmlns:a16="http://schemas.microsoft.com/office/drawing/2014/main" id="{90B95EBD-7999-BF3B-D49F-850410E1A624}"/>
              </a:ext>
            </a:extLst>
          </p:cNvPr>
          <p:cNvCxnSpPr>
            <a:cxnSpLocks noChangeShapeType="1"/>
            <a:stCxn id="27650" idx="5"/>
            <a:endCxn id="27655" idx="1"/>
          </p:cNvCxnSpPr>
          <p:nvPr/>
        </p:nvCxnSpPr>
        <p:spPr bwMode="auto">
          <a:xfrm>
            <a:off x="4448175" y="3033714"/>
            <a:ext cx="635000" cy="4032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72" name="AutoShape 25">
            <a:extLst>
              <a:ext uri="{FF2B5EF4-FFF2-40B4-BE49-F238E27FC236}">
                <a16:creationId xmlns:a16="http://schemas.microsoft.com/office/drawing/2014/main" id="{F212F9CD-1FE0-06E0-B1F9-37FFC9A7A9EE}"/>
              </a:ext>
            </a:extLst>
          </p:cNvPr>
          <p:cNvCxnSpPr>
            <a:cxnSpLocks noChangeShapeType="1"/>
            <a:stCxn id="27655" idx="0"/>
            <a:endCxn id="27654" idx="3"/>
          </p:cNvCxnSpPr>
          <p:nvPr/>
        </p:nvCxnSpPr>
        <p:spPr bwMode="auto">
          <a:xfrm flipV="1">
            <a:off x="5213350" y="2614613"/>
            <a:ext cx="317500" cy="76835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73" name="AutoShape 26">
            <a:extLst>
              <a:ext uri="{FF2B5EF4-FFF2-40B4-BE49-F238E27FC236}">
                <a16:creationId xmlns:a16="http://schemas.microsoft.com/office/drawing/2014/main" id="{443DC262-2A50-F15F-77D8-B8CA78A8BCB1}"/>
              </a:ext>
            </a:extLst>
          </p:cNvPr>
          <p:cNvCxnSpPr>
            <a:cxnSpLocks noChangeShapeType="1"/>
            <a:stCxn id="27653" idx="6"/>
            <a:endCxn id="27655" idx="2"/>
          </p:cNvCxnSpPr>
          <p:nvPr/>
        </p:nvCxnSpPr>
        <p:spPr bwMode="auto">
          <a:xfrm flipV="1">
            <a:off x="3587751" y="3576638"/>
            <a:ext cx="1431925" cy="11112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74" name="AutoShape 27">
            <a:extLst>
              <a:ext uri="{FF2B5EF4-FFF2-40B4-BE49-F238E27FC236}">
                <a16:creationId xmlns:a16="http://schemas.microsoft.com/office/drawing/2014/main" id="{B226E47E-CC92-07EF-0B78-8A97B818D5D9}"/>
              </a:ext>
            </a:extLst>
          </p:cNvPr>
          <p:cNvCxnSpPr>
            <a:cxnSpLocks noChangeShapeType="1"/>
            <a:stCxn id="27653" idx="7"/>
            <a:endCxn id="27650" idx="3"/>
          </p:cNvCxnSpPr>
          <p:nvPr/>
        </p:nvCxnSpPr>
        <p:spPr bwMode="auto">
          <a:xfrm flipV="1">
            <a:off x="3525839" y="3033714"/>
            <a:ext cx="661987" cy="414337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75" name="AutoShape 28">
            <a:extLst>
              <a:ext uri="{FF2B5EF4-FFF2-40B4-BE49-F238E27FC236}">
                <a16:creationId xmlns:a16="http://schemas.microsoft.com/office/drawing/2014/main" id="{DB3BC412-1375-A0DD-8520-F25B438DF768}"/>
              </a:ext>
            </a:extLst>
          </p:cNvPr>
          <p:cNvCxnSpPr>
            <a:cxnSpLocks noChangeShapeType="1"/>
            <a:stCxn id="27651" idx="6"/>
            <a:endCxn id="27650" idx="2"/>
          </p:cNvCxnSpPr>
          <p:nvPr/>
        </p:nvCxnSpPr>
        <p:spPr bwMode="auto">
          <a:xfrm>
            <a:off x="2670175" y="2668589"/>
            <a:ext cx="1454150" cy="225425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676" name="Oval 30">
            <a:extLst>
              <a:ext uri="{FF2B5EF4-FFF2-40B4-BE49-F238E27FC236}">
                <a16:creationId xmlns:a16="http://schemas.microsoft.com/office/drawing/2014/main" id="{142BEAFB-E2FA-ACAE-7EED-E9A99FB1E06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81463" y="5292726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27677" name="Oval 31">
            <a:extLst>
              <a:ext uri="{FF2B5EF4-FFF2-40B4-BE49-F238E27FC236}">
                <a16:creationId xmlns:a16="http://schemas.microsoft.com/office/drawing/2014/main" id="{455F1DE7-9986-546E-FCE5-23656579661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32026" y="5067301"/>
            <a:ext cx="366713" cy="366713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7678" name="Oval 32">
            <a:extLst>
              <a:ext uri="{FF2B5EF4-FFF2-40B4-BE49-F238E27FC236}">
                <a16:creationId xmlns:a16="http://schemas.microsoft.com/office/drawing/2014/main" id="{25B2910F-059D-0B46-5D1A-419347222A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35338" y="4333876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27679" name="Oval 33">
            <a:extLst>
              <a:ext uri="{FF2B5EF4-FFF2-40B4-BE49-F238E27FC236}">
                <a16:creationId xmlns:a16="http://schemas.microsoft.com/office/drawing/2014/main" id="{A930C606-3943-D0EC-B975-A3EBE4A5C8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59126" y="5986463"/>
            <a:ext cx="366713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27680" name="Oval 34">
            <a:extLst>
              <a:ext uri="{FF2B5EF4-FFF2-40B4-BE49-F238E27FC236}">
                <a16:creationId xmlns:a16="http://schemas.microsoft.com/office/drawing/2014/main" id="{29954DB9-54AF-E57B-B4E3-1988498DDD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24488" y="4864101"/>
            <a:ext cx="366712" cy="366713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7681" name="Oval 35">
            <a:extLst>
              <a:ext uri="{FF2B5EF4-FFF2-40B4-BE49-F238E27FC236}">
                <a16:creationId xmlns:a16="http://schemas.microsoft.com/office/drawing/2014/main" id="{8798064C-A3DC-B97A-4E17-054F052C53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76813" y="5975351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z</a:t>
            </a:r>
          </a:p>
        </p:txBody>
      </p:sp>
      <p:sp>
        <p:nvSpPr>
          <p:cNvPr id="27682" name="Text Box 36">
            <a:extLst>
              <a:ext uri="{FF2B5EF4-FFF2-40B4-BE49-F238E27FC236}">
                <a16:creationId xmlns:a16="http://schemas.microsoft.com/office/drawing/2014/main" id="{7D7CB1A6-A0F8-0A8C-59B5-0868225686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8650" y="5045076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27683" name="Text Box 37">
            <a:extLst>
              <a:ext uri="{FF2B5EF4-FFF2-40B4-BE49-F238E27FC236}">
                <a16:creationId xmlns:a16="http://schemas.microsoft.com/office/drawing/2014/main" id="{A7751175-6B40-F47B-0E47-90E69CA19F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6450" y="5478463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  <a:sym typeface="Symbol" panose="05050102010706020507" pitchFamily="18" charset="2"/>
              </a:rPr>
              <a:t>9</a:t>
            </a:r>
          </a:p>
        </p:txBody>
      </p:sp>
      <p:sp>
        <p:nvSpPr>
          <p:cNvPr id="27684" name="Text Box 38">
            <a:extLst>
              <a:ext uri="{FF2B5EF4-FFF2-40B4-BE49-F238E27FC236}">
                <a16:creationId xmlns:a16="http://schemas.microsoft.com/office/drawing/2014/main" id="{AC1DE02E-D2A5-0DB2-7837-9F32B83797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3025" y="4768851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7685" name="Text Box 39">
            <a:extLst>
              <a:ext uri="{FF2B5EF4-FFF2-40B4-BE49-F238E27FC236}">
                <a16:creationId xmlns:a16="http://schemas.microsoft.com/office/drawing/2014/main" id="{6D640630-EB94-0B5E-C644-81E1744D6F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9275" y="4349751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7686" name="Text Box 40">
            <a:extLst>
              <a:ext uri="{FF2B5EF4-FFF2-40B4-BE49-F238E27FC236}">
                <a16:creationId xmlns:a16="http://schemas.microsoft.com/office/drawing/2014/main" id="{27E4BA8C-B753-0AB7-4A11-BAD5E84647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8500" y="4899026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27687" name="Text Box 41">
            <a:extLst>
              <a:ext uri="{FF2B5EF4-FFF2-40B4-BE49-F238E27FC236}">
                <a16:creationId xmlns:a16="http://schemas.microsoft.com/office/drawing/2014/main" id="{A6DA6E56-2967-67EB-7863-C6FF9DEE82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6675" y="4562476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27688" name="Text Box 42">
            <a:extLst>
              <a:ext uri="{FF2B5EF4-FFF2-40B4-BE49-F238E27FC236}">
                <a16:creationId xmlns:a16="http://schemas.microsoft.com/office/drawing/2014/main" id="{61B712C2-8DFE-E449-2D25-706DB318B7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2250" y="5478463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7689" name="Text Box 43">
            <a:extLst>
              <a:ext uri="{FF2B5EF4-FFF2-40B4-BE49-F238E27FC236}">
                <a16:creationId xmlns:a16="http://schemas.microsoft.com/office/drawing/2014/main" id="{73CFD3D7-5F0B-88B5-6585-62474CF016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8825" y="5583238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7690" name="Text Box 44">
            <a:extLst>
              <a:ext uri="{FF2B5EF4-FFF2-40B4-BE49-F238E27FC236}">
                <a16:creationId xmlns:a16="http://schemas.microsoft.com/office/drawing/2014/main" id="{CEDC8B20-EDC6-5FE3-67D1-D7BC7188CE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4275" y="5662613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7691" name="Text Box 45">
            <a:extLst>
              <a:ext uri="{FF2B5EF4-FFF2-40B4-BE49-F238E27FC236}">
                <a16:creationId xmlns:a16="http://schemas.microsoft.com/office/drawing/2014/main" id="{0D8B02DD-FDF5-EC2E-D835-737FC6064E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3825" y="6119813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cxnSp>
        <p:nvCxnSpPr>
          <p:cNvPr id="27692" name="AutoShape 46">
            <a:extLst>
              <a:ext uri="{FF2B5EF4-FFF2-40B4-BE49-F238E27FC236}">
                <a16:creationId xmlns:a16="http://schemas.microsoft.com/office/drawing/2014/main" id="{363AF4B3-542C-5C48-1714-C839B1AC5E8A}"/>
              </a:ext>
            </a:extLst>
          </p:cNvPr>
          <p:cNvCxnSpPr>
            <a:cxnSpLocks noChangeShapeType="1"/>
            <a:stCxn id="27677" idx="7"/>
            <a:endCxn id="27678" idx="3"/>
          </p:cNvCxnSpPr>
          <p:nvPr/>
        </p:nvCxnSpPr>
        <p:spPr bwMode="auto">
          <a:xfrm flipV="1">
            <a:off x="2544763" y="4656138"/>
            <a:ext cx="842962" cy="44450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93" name="AutoShape 47">
            <a:extLst>
              <a:ext uri="{FF2B5EF4-FFF2-40B4-BE49-F238E27FC236}">
                <a16:creationId xmlns:a16="http://schemas.microsoft.com/office/drawing/2014/main" id="{6A999D1A-5335-DF28-4BD9-B24D1564ADFB}"/>
              </a:ext>
            </a:extLst>
          </p:cNvPr>
          <p:cNvCxnSpPr>
            <a:cxnSpLocks noChangeShapeType="1"/>
            <a:stCxn id="27677" idx="5"/>
            <a:endCxn id="27679" idx="1"/>
          </p:cNvCxnSpPr>
          <p:nvPr/>
        </p:nvCxnSpPr>
        <p:spPr bwMode="auto">
          <a:xfrm>
            <a:off x="2544763" y="5399089"/>
            <a:ext cx="666750" cy="630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94" name="AutoShape 48">
            <a:extLst>
              <a:ext uri="{FF2B5EF4-FFF2-40B4-BE49-F238E27FC236}">
                <a16:creationId xmlns:a16="http://schemas.microsoft.com/office/drawing/2014/main" id="{1AF5BE41-B2D3-DF0A-262E-3988FCE70D12}"/>
              </a:ext>
            </a:extLst>
          </p:cNvPr>
          <p:cNvCxnSpPr>
            <a:cxnSpLocks noChangeShapeType="1"/>
            <a:stCxn id="27678" idx="5"/>
            <a:endCxn id="27676" idx="1"/>
          </p:cNvCxnSpPr>
          <p:nvPr/>
        </p:nvCxnSpPr>
        <p:spPr bwMode="auto">
          <a:xfrm>
            <a:off x="3648076" y="4656138"/>
            <a:ext cx="485775" cy="67945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95" name="AutoShape 49">
            <a:extLst>
              <a:ext uri="{FF2B5EF4-FFF2-40B4-BE49-F238E27FC236}">
                <a16:creationId xmlns:a16="http://schemas.microsoft.com/office/drawing/2014/main" id="{B09009DE-2474-0DA8-C5AE-F7A1B2BFDBB2}"/>
              </a:ext>
            </a:extLst>
          </p:cNvPr>
          <p:cNvCxnSpPr>
            <a:cxnSpLocks noChangeShapeType="1"/>
            <a:stCxn id="27678" idx="6"/>
            <a:endCxn id="27680" idx="1"/>
          </p:cNvCxnSpPr>
          <p:nvPr/>
        </p:nvCxnSpPr>
        <p:spPr bwMode="auto">
          <a:xfrm>
            <a:off x="3709989" y="4516438"/>
            <a:ext cx="1766887" cy="3810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96" name="AutoShape 50">
            <a:extLst>
              <a:ext uri="{FF2B5EF4-FFF2-40B4-BE49-F238E27FC236}">
                <a16:creationId xmlns:a16="http://schemas.microsoft.com/office/drawing/2014/main" id="{F8BF811F-217C-A3E5-093D-296D9A6594D1}"/>
              </a:ext>
            </a:extLst>
          </p:cNvPr>
          <p:cNvCxnSpPr>
            <a:cxnSpLocks noChangeShapeType="1"/>
            <a:stCxn id="27676" idx="7"/>
            <a:endCxn id="27680" idx="2"/>
          </p:cNvCxnSpPr>
          <p:nvPr/>
        </p:nvCxnSpPr>
        <p:spPr bwMode="auto">
          <a:xfrm flipV="1">
            <a:off x="4394200" y="5046664"/>
            <a:ext cx="1009650" cy="288925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97" name="AutoShape 51">
            <a:extLst>
              <a:ext uri="{FF2B5EF4-FFF2-40B4-BE49-F238E27FC236}">
                <a16:creationId xmlns:a16="http://schemas.microsoft.com/office/drawing/2014/main" id="{36DEFF4F-8B18-AF82-CA02-711EB284582D}"/>
              </a:ext>
            </a:extLst>
          </p:cNvPr>
          <p:cNvCxnSpPr>
            <a:cxnSpLocks noChangeShapeType="1"/>
            <a:stCxn id="27676" idx="5"/>
            <a:endCxn id="27681" idx="1"/>
          </p:cNvCxnSpPr>
          <p:nvPr/>
        </p:nvCxnSpPr>
        <p:spPr bwMode="auto">
          <a:xfrm>
            <a:off x="4394200" y="5614989"/>
            <a:ext cx="635000" cy="4032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98" name="AutoShape 52">
            <a:extLst>
              <a:ext uri="{FF2B5EF4-FFF2-40B4-BE49-F238E27FC236}">
                <a16:creationId xmlns:a16="http://schemas.microsoft.com/office/drawing/2014/main" id="{D07FC5E1-92FF-B378-734A-F6954350D6C2}"/>
              </a:ext>
            </a:extLst>
          </p:cNvPr>
          <p:cNvCxnSpPr>
            <a:cxnSpLocks noChangeShapeType="1"/>
            <a:stCxn id="27681" idx="0"/>
            <a:endCxn id="27680" idx="3"/>
          </p:cNvCxnSpPr>
          <p:nvPr/>
        </p:nvCxnSpPr>
        <p:spPr bwMode="auto">
          <a:xfrm flipV="1">
            <a:off x="5159375" y="5195888"/>
            <a:ext cx="317500" cy="768350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99" name="AutoShape 53">
            <a:extLst>
              <a:ext uri="{FF2B5EF4-FFF2-40B4-BE49-F238E27FC236}">
                <a16:creationId xmlns:a16="http://schemas.microsoft.com/office/drawing/2014/main" id="{EEBD7BEA-EF96-2378-B59A-BED5E3DF3127}"/>
              </a:ext>
            </a:extLst>
          </p:cNvPr>
          <p:cNvCxnSpPr>
            <a:cxnSpLocks noChangeShapeType="1"/>
            <a:stCxn id="27679" idx="6"/>
            <a:endCxn id="27681" idx="2"/>
          </p:cNvCxnSpPr>
          <p:nvPr/>
        </p:nvCxnSpPr>
        <p:spPr bwMode="auto">
          <a:xfrm flipV="1">
            <a:off x="3533776" y="6157913"/>
            <a:ext cx="1431925" cy="11112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00" name="AutoShape 54">
            <a:extLst>
              <a:ext uri="{FF2B5EF4-FFF2-40B4-BE49-F238E27FC236}">
                <a16:creationId xmlns:a16="http://schemas.microsoft.com/office/drawing/2014/main" id="{23EA0EF2-276A-A3F9-48AF-3610E97921F8}"/>
              </a:ext>
            </a:extLst>
          </p:cNvPr>
          <p:cNvCxnSpPr>
            <a:cxnSpLocks noChangeShapeType="1"/>
            <a:stCxn id="27679" idx="7"/>
            <a:endCxn id="27676" idx="3"/>
          </p:cNvCxnSpPr>
          <p:nvPr/>
        </p:nvCxnSpPr>
        <p:spPr bwMode="auto">
          <a:xfrm flipV="1">
            <a:off x="3471864" y="5614989"/>
            <a:ext cx="661987" cy="414337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01" name="AutoShape 55">
            <a:extLst>
              <a:ext uri="{FF2B5EF4-FFF2-40B4-BE49-F238E27FC236}">
                <a16:creationId xmlns:a16="http://schemas.microsoft.com/office/drawing/2014/main" id="{9653E680-45B5-D423-B825-06E2B78018DD}"/>
              </a:ext>
            </a:extLst>
          </p:cNvPr>
          <p:cNvCxnSpPr>
            <a:cxnSpLocks noChangeShapeType="1"/>
            <a:stCxn id="27677" idx="6"/>
            <a:endCxn id="27676" idx="2"/>
          </p:cNvCxnSpPr>
          <p:nvPr/>
        </p:nvCxnSpPr>
        <p:spPr bwMode="auto">
          <a:xfrm>
            <a:off x="2616200" y="5249864"/>
            <a:ext cx="1454150" cy="225425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702" name="Oval 56">
            <a:extLst>
              <a:ext uri="{FF2B5EF4-FFF2-40B4-BE49-F238E27FC236}">
                <a16:creationId xmlns:a16="http://schemas.microsoft.com/office/drawing/2014/main" id="{7B53B360-0395-5694-AAE6-7A9F1665C97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577263" y="2711451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27703" name="Oval 57">
            <a:extLst>
              <a:ext uri="{FF2B5EF4-FFF2-40B4-BE49-F238E27FC236}">
                <a16:creationId xmlns:a16="http://schemas.microsoft.com/office/drawing/2014/main" id="{CB150C83-5B54-57D3-5348-BCC18C20BD2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27826" y="2486026"/>
            <a:ext cx="366713" cy="366713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7704" name="Oval 58">
            <a:extLst>
              <a:ext uri="{FF2B5EF4-FFF2-40B4-BE49-F238E27FC236}">
                <a16:creationId xmlns:a16="http://schemas.microsoft.com/office/drawing/2014/main" id="{CDF93752-6076-34D2-E7BE-AF6A26CD310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31138" y="1752601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27705" name="Oval 59">
            <a:extLst>
              <a:ext uri="{FF2B5EF4-FFF2-40B4-BE49-F238E27FC236}">
                <a16:creationId xmlns:a16="http://schemas.microsoft.com/office/drawing/2014/main" id="{13513666-F0B9-F65E-5380-F97834EA93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54926" y="3405188"/>
            <a:ext cx="366713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27706" name="Oval 60">
            <a:extLst>
              <a:ext uri="{FF2B5EF4-FFF2-40B4-BE49-F238E27FC236}">
                <a16:creationId xmlns:a16="http://schemas.microsoft.com/office/drawing/2014/main" id="{9CBAF414-3D6A-6199-941B-6D4F3F3BDA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920288" y="2282826"/>
            <a:ext cx="366712" cy="366713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7707" name="Oval 61">
            <a:extLst>
              <a:ext uri="{FF2B5EF4-FFF2-40B4-BE49-F238E27FC236}">
                <a16:creationId xmlns:a16="http://schemas.microsoft.com/office/drawing/2014/main" id="{0298C9EA-9649-9307-5D43-2B85C1EB94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472613" y="3394076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z</a:t>
            </a:r>
          </a:p>
        </p:txBody>
      </p:sp>
      <p:sp>
        <p:nvSpPr>
          <p:cNvPr id="27708" name="Text Box 62">
            <a:extLst>
              <a:ext uri="{FF2B5EF4-FFF2-40B4-BE49-F238E27FC236}">
                <a16:creationId xmlns:a16="http://schemas.microsoft.com/office/drawing/2014/main" id="{02448522-DADA-6206-9EE2-FA66679D26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4450" y="2463801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27709" name="Text Box 63">
            <a:extLst>
              <a:ext uri="{FF2B5EF4-FFF2-40B4-BE49-F238E27FC236}">
                <a16:creationId xmlns:a16="http://schemas.microsoft.com/office/drawing/2014/main" id="{436883F1-C7FF-9CB4-18FB-49D10FFF55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12250" y="2897188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  <a:sym typeface="Symbol" panose="05050102010706020507" pitchFamily="18" charset="2"/>
              </a:rPr>
              <a:t>9</a:t>
            </a:r>
          </a:p>
        </p:txBody>
      </p:sp>
      <p:sp>
        <p:nvSpPr>
          <p:cNvPr id="27710" name="Text Box 64">
            <a:extLst>
              <a:ext uri="{FF2B5EF4-FFF2-40B4-BE49-F238E27FC236}">
                <a16:creationId xmlns:a16="http://schemas.microsoft.com/office/drawing/2014/main" id="{FD1E5D8B-8ACF-DD8D-FBC7-4F45FEC0F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8825" y="2187576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7711" name="Text Box 65">
            <a:extLst>
              <a:ext uri="{FF2B5EF4-FFF2-40B4-BE49-F238E27FC236}">
                <a16:creationId xmlns:a16="http://schemas.microsoft.com/office/drawing/2014/main" id="{47C57401-E3BC-4F88-3D79-951B8D8C27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5075" y="1768476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7712" name="Text Box 66">
            <a:extLst>
              <a:ext uri="{FF2B5EF4-FFF2-40B4-BE49-F238E27FC236}">
                <a16:creationId xmlns:a16="http://schemas.microsoft.com/office/drawing/2014/main" id="{AA76F63B-4617-9FC5-8457-43A661FF79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4300" y="2317751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27713" name="Text Box 67">
            <a:extLst>
              <a:ext uri="{FF2B5EF4-FFF2-40B4-BE49-F238E27FC236}">
                <a16:creationId xmlns:a16="http://schemas.microsoft.com/office/drawing/2014/main" id="{11635CC1-AD34-9AE1-EE9D-BF9D2DA3EA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2475" y="1981201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27714" name="Text Box 68">
            <a:extLst>
              <a:ext uri="{FF2B5EF4-FFF2-40B4-BE49-F238E27FC236}">
                <a16:creationId xmlns:a16="http://schemas.microsoft.com/office/drawing/2014/main" id="{B5A4CD6C-D30F-1853-CF71-6F17802586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98050" y="2897188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7715" name="Text Box 69">
            <a:extLst>
              <a:ext uri="{FF2B5EF4-FFF2-40B4-BE49-F238E27FC236}">
                <a16:creationId xmlns:a16="http://schemas.microsoft.com/office/drawing/2014/main" id="{A79A5BAE-8AC4-1FD9-9E68-9E0DCA23CD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625" y="3001963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7716" name="Text Box 70">
            <a:extLst>
              <a:ext uri="{FF2B5EF4-FFF2-40B4-BE49-F238E27FC236}">
                <a16:creationId xmlns:a16="http://schemas.microsoft.com/office/drawing/2014/main" id="{53D6FAF9-3C38-2EAB-B1A8-46BE2C13AE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0075" y="3081338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7717" name="Text Box 71">
            <a:extLst>
              <a:ext uri="{FF2B5EF4-FFF2-40B4-BE49-F238E27FC236}">
                <a16:creationId xmlns:a16="http://schemas.microsoft.com/office/drawing/2014/main" id="{08D5FB5E-4B65-C330-54F4-989221769C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9625" y="3538538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cxnSp>
        <p:nvCxnSpPr>
          <p:cNvPr id="27718" name="AutoShape 72">
            <a:extLst>
              <a:ext uri="{FF2B5EF4-FFF2-40B4-BE49-F238E27FC236}">
                <a16:creationId xmlns:a16="http://schemas.microsoft.com/office/drawing/2014/main" id="{94E4D07E-5894-A5D0-5FF9-E4429BA4ECD2}"/>
              </a:ext>
            </a:extLst>
          </p:cNvPr>
          <p:cNvCxnSpPr>
            <a:cxnSpLocks noChangeShapeType="1"/>
            <a:stCxn id="27703" idx="7"/>
            <a:endCxn id="27704" idx="3"/>
          </p:cNvCxnSpPr>
          <p:nvPr/>
        </p:nvCxnSpPr>
        <p:spPr bwMode="auto">
          <a:xfrm flipV="1">
            <a:off x="7040563" y="2074863"/>
            <a:ext cx="842962" cy="444500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19" name="AutoShape 73">
            <a:extLst>
              <a:ext uri="{FF2B5EF4-FFF2-40B4-BE49-F238E27FC236}">
                <a16:creationId xmlns:a16="http://schemas.microsoft.com/office/drawing/2014/main" id="{8D56D8BA-D4C4-3109-217E-317519C1272D}"/>
              </a:ext>
            </a:extLst>
          </p:cNvPr>
          <p:cNvCxnSpPr>
            <a:cxnSpLocks noChangeShapeType="1"/>
            <a:stCxn id="27703" idx="5"/>
            <a:endCxn id="27705" idx="1"/>
          </p:cNvCxnSpPr>
          <p:nvPr/>
        </p:nvCxnSpPr>
        <p:spPr bwMode="auto">
          <a:xfrm>
            <a:off x="7040563" y="2817814"/>
            <a:ext cx="666750" cy="630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20" name="AutoShape 74">
            <a:extLst>
              <a:ext uri="{FF2B5EF4-FFF2-40B4-BE49-F238E27FC236}">
                <a16:creationId xmlns:a16="http://schemas.microsoft.com/office/drawing/2014/main" id="{D9EA131C-1563-9786-0133-646F6A171CE9}"/>
              </a:ext>
            </a:extLst>
          </p:cNvPr>
          <p:cNvCxnSpPr>
            <a:cxnSpLocks noChangeShapeType="1"/>
            <a:stCxn id="27704" idx="5"/>
            <a:endCxn id="27702" idx="1"/>
          </p:cNvCxnSpPr>
          <p:nvPr/>
        </p:nvCxnSpPr>
        <p:spPr bwMode="auto">
          <a:xfrm>
            <a:off x="8143876" y="2074863"/>
            <a:ext cx="485775" cy="67945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21" name="AutoShape 75">
            <a:extLst>
              <a:ext uri="{FF2B5EF4-FFF2-40B4-BE49-F238E27FC236}">
                <a16:creationId xmlns:a16="http://schemas.microsoft.com/office/drawing/2014/main" id="{A1459634-C302-7147-E10B-F2DBA82CB8CD}"/>
              </a:ext>
            </a:extLst>
          </p:cNvPr>
          <p:cNvCxnSpPr>
            <a:cxnSpLocks noChangeShapeType="1"/>
            <a:stCxn id="27704" idx="6"/>
            <a:endCxn id="27706" idx="1"/>
          </p:cNvCxnSpPr>
          <p:nvPr/>
        </p:nvCxnSpPr>
        <p:spPr bwMode="auto">
          <a:xfrm>
            <a:off x="8205789" y="1935163"/>
            <a:ext cx="1766887" cy="38100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22" name="AutoShape 76">
            <a:extLst>
              <a:ext uri="{FF2B5EF4-FFF2-40B4-BE49-F238E27FC236}">
                <a16:creationId xmlns:a16="http://schemas.microsoft.com/office/drawing/2014/main" id="{2C9C9BF9-6778-6AE2-268C-1595B02C6396}"/>
              </a:ext>
            </a:extLst>
          </p:cNvPr>
          <p:cNvCxnSpPr>
            <a:cxnSpLocks noChangeShapeType="1"/>
            <a:stCxn id="27702" idx="7"/>
            <a:endCxn id="27706" idx="2"/>
          </p:cNvCxnSpPr>
          <p:nvPr/>
        </p:nvCxnSpPr>
        <p:spPr bwMode="auto">
          <a:xfrm flipV="1">
            <a:off x="8890000" y="2465389"/>
            <a:ext cx="1009650" cy="288925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23" name="AutoShape 77">
            <a:extLst>
              <a:ext uri="{FF2B5EF4-FFF2-40B4-BE49-F238E27FC236}">
                <a16:creationId xmlns:a16="http://schemas.microsoft.com/office/drawing/2014/main" id="{E8D16B02-39D8-912E-D8F6-ED24EBB4C0C9}"/>
              </a:ext>
            </a:extLst>
          </p:cNvPr>
          <p:cNvCxnSpPr>
            <a:cxnSpLocks noChangeShapeType="1"/>
            <a:stCxn id="27702" idx="5"/>
            <a:endCxn id="27707" idx="1"/>
          </p:cNvCxnSpPr>
          <p:nvPr/>
        </p:nvCxnSpPr>
        <p:spPr bwMode="auto">
          <a:xfrm>
            <a:off x="8890000" y="3033714"/>
            <a:ext cx="635000" cy="4032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24" name="AutoShape 78">
            <a:extLst>
              <a:ext uri="{FF2B5EF4-FFF2-40B4-BE49-F238E27FC236}">
                <a16:creationId xmlns:a16="http://schemas.microsoft.com/office/drawing/2014/main" id="{6998B268-4B78-E2E2-7681-4D0794D2DAC4}"/>
              </a:ext>
            </a:extLst>
          </p:cNvPr>
          <p:cNvCxnSpPr>
            <a:cxnSpLocks noChangeShapeType="1"/>
            <a:stCxn id="27707" idx="0"/>
            <a:endCxn id="27706" idx="3"/>
          </p:cNvCxnSpPr>
          <p:nvPr/>
        </p:nvCxnSpPr>
        <p:spPr bwMode="auto">
          <a:xfrm flipV="1">
            <a:off x="9655175" y="2614613"/>
            <a:ext cx="317500" cy="7683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25" name="AutoShape 79">
            <a:extLst>
              <a:ext uri="{FF2B5EF4-FFF2-40B4-BE49-F238E27FC236}">
                <a16:creationId xmlns:a16="http://schemas.microsoft.com/office/drawing/2014/main" id="{1E4ED429-A8C1-08A9-B5E0-579D8F4EF579}"/>
              </a:ext>
            </a:extLst>
          </p:cNvPr>
          <p:cNvCxnSpPr>
            <a:cxnSpLocks noChangeShapeType="1"/>
            <a:stCxn id="27705" idx="6"/>
            <a:endCxn id="27707" idx="2"/>
          </p:cNvCxnSpPr>
          <p:nvPr/>
        </p:nvCxnSpPr>
        <p:spPr bwMode="auto">
          <a:xfrm flipV="1">
            <a:off x="8029576" y="3576638"/>
            <a:ext cx="1431925" cy="11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26" name="AutoShape 80">
            <a:extLst>
              <a:ext uri="{FF2B5EF4-FFF2-40B4-BE49-F238E27FC236}">
                <a16:creationId xmlns:a16="http://schemas.microsoft.com/office/drawing/2014/main" id="{3D77C22D-E319-3C3B-4B3C-38852B66A1AA}"/>
              </a:ext>
            </a:extLst>
          </p:cNvPr>
          <p:cNvCxnSpPr>
            <a:cxnSpLocks noChangeShapeType="1"/>
            <a:stCxn id="27705" idx="7"/>
            <a:endCxn id="27702" idx="3"/>
          </p:cNvCxnSpPr>
          <p:nvPr/>
        </p:nvCxnSpPr>
        <p:spPr bwMode="auto">
          <a:xfrm flipV="1">
            <a:off x="7967664" y="3033714"/>
            <a:ext cx="661987" cy="4143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27" name="AutoShape 81">
            <a:extLst>
              <a:ext uri="{FF2B5EF4-FFF2-40B4-BE49-F238E27FC236}">
                <a16:creationId xmlns:a16="http://schemas.microsoft.com/office/drawing/2014/main" id="{48E0C52A-347C-BD8B-9B7F-4B95C5A12396}"/>
              </a:ext>
            </a:extLst>
          </p:cNvPr>
          <p:cNvCxnSpPr>
            <a:cxnSpLocks noChangeShapeType="1"/>
            <a:stCxn id="27703" idx="6"/>
            <a:endCxn id="27702" idx="2"/>
          </p:cNvCxnSpPr>
          <p:nvPr/>
        </p:nvCxnSpPr>
        <p:spPr bwMode="auto">
          <a:xfrm>
            <a:off x="7112000" y="2668589"/>
            <a:ext cx="1454150" cy="225425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728" name="Oval 82">
            <a:extLst>
              <a:ext uri="{FF2B5EF4-FFF2-40B4-BE49-F238E27FC236}">
                <a16:creationId xmlns:a16="http://schemas.microsoft.com/office/drawing/2014/main" id="{FC5339E7-B8DD-8156-AF40-10C39F419C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577263" y="5302251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27729" name="Oval 83">
            <a:extLst>
              <a:ext uri="{FF2B5EF4-FFF2-40B4-BE49-F238E27FC236}">
                <a16:creationId xmlns:a16="http://schemas.microsoft.com/office/drawing/2014/main" id="{B1AC1F7E-03DB-745D-BAFE-055776D0CF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27826" y="5076826"/>
            <a:ext cx="366713" cy="366713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7730" name="Oval 84">
            <a:extLst>
              <a:ext uri="{FF2B5EF4-FFF2-40B4-BE49-F238E27FC236}">
                <a16:creationId xmlns:a16="http://schemas.microsoft.com/office/drawing/2014/main" id="{36F30A28-06C1-B67A-C89B-4A143C47823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31138" y="4343401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27731" name="Oval 85">
            <a:extLst>
              <a:ext uri="{FF2B5EF4-FFF2-40B4-BE49-F238E27FC236}">
                <a16:creationId xmlns:a16="http://schemas.microsoft.com/office/drawing/2014/main" id="{80BE4A2A-B7C4-F71D-0B61-123DBB55C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54926" y="5995988"/>
            <a:ext cx="366713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27732" name="Oval 86">
            <a:extLst>
              <a:ext uri="{FF2B5EF4-FFF2-40B4-BE49-F238E27FC236}">
                <a16:creationId xmlns:a16="http://schemas.microsoft.com/office/drawing/2014/main" id="{99264D81-90CE-6669-F556-05A2D9B0A07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920288" y="4873626"/>
            <a:ext cx="366712" cy="366713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7733" name="Oval 87">
            <a:extLst>
              <a:ext uri="{FF2B5EF4-FFF2-40B4-BE49-F238E27FC236}">
                <a16:creationId xmlns:a16="http://schemas.microsoft.com/office/drawing/2014/main" id="{146D9DFB-2C2F-7F60-D6AC-1DB9F9C55F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472613" y="5984876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z</a:t>
            </a:r>
          </a:p>
        </p:txBody>
      </p:sp>
      <p:sp>
        <p:nvSpPr>
          <p:cNvPr id="27734" name="Text Box 88">
            <a:extLst>
              <a:ext uri="{FF2B5EF4-FFF2-40B4-BE49-F238E27FC236}">
                <a16:creationId xmlns:a16="http://schemas.microsoft.com/office/drawing/2014/main" id="{91001F7A-9E02-6FC2-53A8-4ECA2DF5BF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4450" y="5054601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27735" name="Text Box 89">
            <a:extLst>
              <a:ext uri="{FF2B5EF4-FFF2-40B4-BE49-F238E27FC236}">
                <a16:creationId xmlns:a16="http://schemas.microsoft.com/office/drawing/2014/main" id="{F192A4DF-6994-77CE-845B-8DEB740B99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12250" y="5487988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  <a:sym typeface="Symbol" panose="05050102010706020507" pitchFamily="18" charset="2"/>
              </a:rPr>
              <a:t>9</a:t>
            </a:r>
          </a:p>
        </p:txBody>
      </p:sp>
      <p:sp>
        <p:nvSpPr>
          <p:cNvPr id="27736" name="Text Box 90">
            <a:extLst>
              <a:ext uri="{FF2B5EF4-FFF2-40B4-BE49-F238E27FC236}">
                <a16:creationId xmlns:a16="http://schemas.microsoft.com/office/drawing/2014/main" id="{75AB9DD8-A5D5-A179-E349-AEF062EFFC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8825" y="4778376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7737" name="Text Box 91">
            <a:extLst>
              <a:ext uri="{FF2B5EF4-FFF2-40B4-BE49-F238E27FC236}">
                <a16:creationId xmlns:a16="http://schemas.microsoft.com/office/drawing/2014/main" id="{0B05969B-E374-31CA-CCD3-C4F13F281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5075" y="4359276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7738" name="Text Box 92">
            <a:extLst>
              <a:ext uri="{FF2B5EF4-FFF2-40B4-BE49-F238E27FC236}">
                <a16:creationId xmlns:a16="http://schemas.microsoft.com/office/drawing/2014/main" id="{6D8D04E4-2D26-37D9-6781-4738693546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4300" y="4908551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27739" name="Text Box 93">
            <a:extLst>
              <a:ext uri="{FF2B5EF4-FFF2-40B4-BE49-F238E27FC236}">
                <a16:creationId xmlns:a16="http://schemas.microsoft.com/office/drawing/2014/main" id="{288CA485-606F-F28D-13C6-B156851919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2475" y="4572001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27740" name="Text Box 94">
            <a:extLst>
              <a:ext uri="{FF2B5EF4-FFF2-40B4-BE49-F238E27FC236}">
                <a16:creationId xmlns:a16="http://schemas.microsoft.com/office/drawing/2014/main" id="{0DBA9D80-3CA7-658A-CB81-516C7352A0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98050" y="5487988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7741" name="Text Box 95">
            <a:extLst>
              <a:ext uri="{FF2B5EF4-FFF2-40B4-BE49-F238E27FC236}">
                <a16:creationId xmlns:a16="http://schemas.microsoft.com/office/drawing/2014/main" id="{38EFF198-FE41-CE77-6332-A53D75751C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625" y="5592763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7742" name="Text Box 96">
            <a:extLst>
              <a:ext uri="{FF2B5EF4-FFF2-40B4-BE49-F238E27FC236}">
                <a16:creationId xmlns:a16="http://schemas.microsoft.com/office/drawing/2014/main" id="{A646C180-75B2-6508-7206-550D724C42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0075" y="5672138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7743" name="Text Box 97">
            <a:extLst>
              <a:ext uri="{FF2B5EF4-FFF2-40B4-BE49-F238E27FC236}">
                <a16:creationId xmlns:a16="http://schemas.microsoft.com/office/drawing/2014/main" id="{AF366EBE-D655-C24C-3419-46A675274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9625" y="6129338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cxnSp>
        <p:nvCxnSpPr>
          <p:cNvPr id="27744" name="AutoShape 98">
            <a:extLst>
              <a:ext uri="{FF2B5EF4-FFF2-40B4-BE49-F238E27FC236}">
                <a16:creationId xmlns:a16="http://schemas.microsoft.com/office/drawing/2014/main" id="{8F2D9B78-B151-C592-F410-3FB62F62E018}"/>
              </a:ext>
            </a:extLst>
          </p:cNvPr>
          <p:cNvCxnSpPr>
            <a:cxnSpLocks noChangeShapeType="1"/>
            <a:stCxn id="27729" idx="7"/>
            <a:endCxn id="27730" idx="3"/>
          </p:cNvCxnSpPr>
          <p:nvPr/>
        </p:nvCxnSpPr>
        <p:spPr bwMode="auto">
          <a:xfrm flipV="1">
            <a:off x="7040563" y="4665663"/>
            <a:ext cx="842962" cy="44450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45" name="AutoShape 99">
            <a:extLst>
              <a:ext uri="{FF2B5EF4-FFF2-40B4-BE49-F238E27FC236}">
                <a16:creationId xmlns:a16="http://schemas.microsoft.com/office/drawing/2014/main" id="{C67FD46A-1CC0-3D88-2417-8ABA081B7799}"/>
              </a:ext>
            </a:extLst>
          </p:cNvPr>
          <p:cNvCxnSpPr>
            <a:cxnSpLocks noChangeShapeType="1"/>
            <a:stCxn id="27729" idx="5"/>
            <a:endCxn id="27731" idx="1"/>
          </p:cNvCxnSpPr>
          <p:nvPr/>
        </p:nvCxnSpPr>
        <p:spPr bwMode="auto">
          <a:xfrm>
            <a:off x="7040563" y="5408614"/>
            <a:ext cx="666750" cy="630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46" name="AutoShape 100">
            <a:extLst>
              <a:ext uri="{FF2B5EF4-FFF2-40B4-BE49-F238E27FC236}">
                <a16:creationId xmlns:a16="http://schemas.microsoft.com/office/drawing/2014/main" id="{4FB58130-F665-E87C-DC33-4FF48E563DE5}"/>
              </a:ext>
            </a:extLst>
          </p:cNvPr>
          <p:cNvCxnSpPr>
            <a:cxnSpLocks noChangeShapeType="1"/>
            <a:stCxn id="27730" idx="5"/>
            <a:endCxn id="27728" idx="1"/>
          </p:cNvCxnSpPr>
          <p:nvPr/>
        </p:nvCxnSpPr>
        <p:spPr bwMode="auto">
          <a:xfrm>
            <a:off x="8143876" y="4665663"/>
            <a:ext cx="485775" cy="679450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47" name="AutoShape 101">
            <a:extLst>
              <a:ext uri="{FF2B5EF4-FFF2-40B4-BE49-F238E27FC236}">
                <a16:creationId xmlns:a16="http://schemas.microsoft.com/office/drawing/2014/main" id="{F8FAD1FB-9152-4E19-AD7E-BF19DD06EEF4}"/>
              </a:ext>
            </a:extLst>
          </p:cNvPr>
          <p:cNvCxnSpPr>
            <a:cxnSpLocks noChangeShapeType="1"/>
            <a:stCxn id="27730" idx="6"/>
            <a:endCxn id="27732" idx="1"/>
          </p:cNvCxnSpPr>
          <p:nvPr/>
        </p:nvCxnSpPr>
        <p:spPr bwMode="auto">
          <a:xfrm>
            <a:off x="8205789" y="4525963"/>
            <a:ext cx="1766887" cy="38100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48" name="AutoShape 102">
            <a:extLst>
              <a:ext uri="{FF2B5EF4-FFF2-40B4-BE49-F238E27FC236}">
                <a16:creationId xmlns:a16="http://schemas.microsoft.com/office/drawing/2014/main" id="{EE51C00E-F08B-81D0-DFFF-1D90A2CAA09E}"/>
              </a:ext>
            </a:extLst>
          </p:cNvPr>
          <p:cNvCxnSpPr>
            <a:cxnSpLocks noChangeShapeType="1"/>
            <a:stCxn id="27728" idx="7"/>
            <a:endCxn id="27732" idx="2"/>
          </p:cNvCxnSpPr>
          <p:nvPr/>
        </p:nvCxnSpPr>
        <p:spPr bwMode="auto">
          <a:xfrm flipV="1">
            <a:off x="8890000" y="5056189"/>
            <a:ext cx="1009650" cy="2889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49" name="AutoShape 103">
            <a:extLst>
              <a:ext uri="{FF2B5EF4-FFF2-40B4-BE49-F238E27FC236}">
                <a16:creationId xmlns:a16="http://schemas.microsoft.com/office/drawing/2014/main" id="{82885AD1-99A6-2047-5A5C-FA899294D025}"/>
              </a:ext>
            </a:extLst>
          </p:cNvPr>
          <p:cNvCxnSpPr>
            <a:cxnSpLocks noChangeShapeType="1"/>
            <a:stCxn id="27728" idx="5"/>
            <a:endCxn id="27733" idx="1"/>
          </p:cNvCxnSpPr>
          <p:nvPr/>
        </p:nvCxnSpPr>
        <p:spPr bwMode="auto">
          <a:xfrm>
            <a:off x="8890000" y="5624514"/>
            <a:ext cx="635000" cy="4032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50" name="AutoShape 104">
            <a:extLst>
              <a:ext uri="{FF2B5EF4-FFF2-40B4-BE49-F238E27FC236}">
                <a16:creationId xmlns:a16="http://schemas.microsoft.com/office/drawing/2014/main" id="{6F662E2E-6931-18AD-87E8-C6E7B7BE35A5}"/>
              </a:ext>
            </a:extLst>
          </p:cNvPr>
          <p:cNvCxnSpPr>
            <a:cxnSpLocks noChangeShapeType="1"/>
            <a:stCxn id="27733" idx="0"/>
            <a:endCxn id="27732" idx="3"/>
          </p:cNvCxnSpPr>
          <p:nvPr/>
        </p:nvCxnSpPr>
        <p:spPr bwMode="auto">
          <a:xfrm flipV="1">
            <a:off x="9655175" y="5205413"/>
            <a:ext cx="317500" cy="7683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51" name="AutoShape 105">
            <a:extLst>
              <a:ext uri="{FF2B5EF4-FFF2-40B4-BE49-F238E27FC236}">
                <a16:creationId xmlns:a16="http://schemas.microsoft.com/office/drawing/2014/main" id="{6A90C8C9-501D-668C-C6C1-775F119949DB}"/>
              </a:ext>
            </a:extLst>
          </p:cNvPr>
          <p:cNvCxnSpPr>
            <a:cxnSpLocks noChangeShapeType="1"/>
            <a:stCxn id="27731" idx="6"/>
            <a:endCxn id="27733" idx="2"/>
          </p:cNvCxnSpPr>
          <p:nvPr/>
        </p:nvCxnSpPr>
        <p:spPr bwMode="auto">
          <a:xfrm flipV="1">
            <a:off x="8029576" y="6167438"/>
            <a:ext cx="1431925" cy="11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52" name="AutoShape 106">
            <a:extLst>
              <a:ext uri="{FF2B5EF4-FFF2-40B4-BE49-F238E27FC236}">
                <a16:creationId xmlns:a16="http://schemas.microsoft.com/office/drawing/2014/main" id="{F4EED05C-FC0A-C905-7287-FF9AB4829224}"/>
              </a:ext>
            </a:extLst>
          </p:cNvPr>
          <p:cNvCxnSpPr>
            <a:cxnSpLocks noChangeShapeType="1"/>
            <a:stCxn id="27731" idx="7"/>
            <a:endCxn id="27728" idx="3"/>
          </p:cNvCxnSpPr>
          <p:nvPr/>
        </p:nvCxnSpPr>
        <p:spPr bwMode="auto">
          <a:xfrm flipV="1">
            <a:off x="7967664" y="5624514"/>
            <a:ext cx="661987" cy="4143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53" name="AutoShape 107">
            <a:extLst>
              <a:ext uri="{FF2B5EF4-FFF2-40B4-BE49-F238E27FC236}">
                <a16:creationId xmlns:a16="http://schemas.microsoft.com/office/drawing/2014/main" id="{B472CAB3-AD85-0875-1D3C-2CC24AF8F243}"/>
              </a:ext>
            </a:extLst>
          </p:cNvPr>
          <p:cNvCxnSpPr>
            <a:cxnSpLocks noChangeShapeType="1"/>
            <a:stCxn id="27729" idx="6"/>
            <a:endCxn id="27728" idx="2"/>
          </p:cNvCxnSpPr>
          <p:nvPr/>
        </p:nvCxnSpPr>
        <p:spPr bwMode="auto">
          <a:xfrm>
            <a:off x="7112000" y="5259389"/>
            <a:ext cx="1454150" cy="225425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754" name="AutoShape 108">
            <a:extLst>
              <a:ext uri="{FF2B5EF4-FFF2-40B4-BE49-F238E27FC236}">
                <a16:creationId xmlns:a16="http://schemas.microsoft.com/office/drawing/2014/main" id="{5D10E7BC-73E6-C4C4-D683-C560B184D0E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234363" y="4024313"/>
            <a:ext cx="457200" cy="333375"/>
          </a:xfrm>
          <a:prstGeom prst="rightArrow">
            <a:avLst>
              <a:gd name="adj1" fmla="val 50000"/>
              <a:gd name="adj2" fmla="val 34286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7755" name="AutoShape 109">
            <a:extLst>
              <a:ext uri="{FF2B5EF4-FFF2-40B4-BE49-F238E27FC236}">
                <a16:creationId xmlns:a16="http://schemas.microsoft.com/office/drawing/2014/main" id="{92434B44-E474-6E57-43D5-2E90829286A2}"/>
              </a:ext>
            </a:extLst>
          </p:cNvPr>
          <p:cNvSpPr>
            <a:spLocks noChangeArrowheads="1"/>
          </p:cNvSpPr>
          <p:nvPr/>
        </p:nvSpPr>
        <p:spPr bwMode="auto">
          <a:xfrm rot="8100000" flipH="1" flipV="1">
            <a:off x="5691188" y="4000501"/>
            <a:ext cx="1243012" cy="333375"/>
          </a:xfrm>
          <a:prstGeom prst="rightArrow">
            <a:avLst>
              <a:gd name="adj1" fmla="val 50000"/>
              <a:gd name="adj2" fmla="val 93214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7756" name="AutoShape 110">
            <a:extLst>
              <a:ext uri="{FF2B5EF4-FFF2-40B4-BE49-F238E27FC236}">
                <a16:creationId xmlns:a16="http://schemas.microsoft.com/office/drawing/2014/main" id="{FA1F2C34-9CF9-5F07-FA2B-E459EB976EC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814763" y="4024313"/>
            <a:ext cx="457200" cy="333375"/>
          </a:xfrm>
          <a:prstGeom prst="rightArrow">
            <a:avLst>
              <a:gd name="adj1" fmla="val 50000"/>
              <a:gd name="adj2" fmla="val 34286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pSp>
        <p:nvGrpSpPr>
          <p:cNvPr id="27757" name="Group 135">
            <a:extLst>
              <a:ext uri="{FF2B5EF4-FFF2-40B4-BE49-F238E27FC236}">
                <a16:creationId xmlns:a16="http://schemas.microsoft.com/office/drawing/2014/main" id="{4BCCEB4B-7D8E-2267-D438-9C7E31319D8E}"/>
              </a:ext>
            </a:extLst>
          </p:cNvPr>
          <p:cNvGrpSpPr>
            <a:grpSpLocks/>
          </p:cNvGrpSpPr>
          <p:nvPr/>
        </p:nvGrpSpPr>
        <p:grpSpPr bwMode="auto">
          <a:xfrm>
            <a:off x="1676401" y="152400"/>
            <a:ext cx="2648029" cy="1524000"/>
            <a:chOff x="381000" y="76200"/>
            <a:chExt cx="3637795" cy="2019300"/>
          </a:xfrm>
        </p:grpSpPr>
        <p:sp>
          <p:nvSpPr>
            <p:cNvPr id="27759" name="Oval 3">
              <a:extLst>
                <a:ext uri="{FF2B5EF4-FFF2-40B4-BE49-F238E27FC236}">
                  <a16:creationId xmlns:a16="http://schemas.microsoft.com/office/drawing/2014/main" id="{6DDD506C-792A-FA8A-1A95-C7432C13DAE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30438" y="1035050"/>
              <a:ext cx="366712" cy="366713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latin typeface="Times New Roman" panose="02020603050405020304" pitchFamily="18" charset="0"/>
                </a:rPr>
                <a:t>w</a:t>
              </a:r>
            </a:p>
          </p:txBody>
        </p:sp>
        <p:sp>
          <p:nvSpPr>
            <p:cNvPr id="27760" name="Oval 4">
              <a:extLst>
                <a:ext uri="{FF2B5EF4-FFF2-40B4-BE49-F238E27FC236}">
                  <a16:creationId xmlns:a16="http://schemas.microsoft.com/office/drawing/2014/main" id="{39188475-5D6F-E035-F537-8FDBA4BEC0B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1000" y="809625"/>
              <a:ext cx="366713" cy="366713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27761" name="Oval 5">
              <a:extLst>
                <a:ext uri="{FF2B5EF4-FFF2-40B4-BE49-F238E27FC236}">
                  <a16:creationId xmlns:a16="http://schemas.microsoft.com/office/drawing/2014/main" id="{39341243-2D78-7CC6-A5AE-11E304377B4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84313" y="76200"/>
              <a:ext cx="366712" cy="366713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latin typeface="Times New Roman" panose="02020603050405020304" pitchFamily="18" charset="0"/>
                </a:rPr>
                <a:t>v</a:t>
              </a:r>
            </a:p>
          </p:txBody>
        </p:sp>
        <p:sp>
          <p:nvSpPr>
            <p:cNvPr id="27762" name="Oval 6">
              <a:extLst>
                <a:ext uri="{FF2B5EF4-FFF2-40B4-BE49-F238E27FC236}">
                  <a16:creationId xmlns:a16="http://schemas.microsoft.com/office/drawing/2014/main" id="{560C0B10-BE9F-15AE-32A7-F9AF390166F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08100" y="1728788"/>
              <a:ext cx="366713" cy="36671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latin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27763" name="Oval 7">
              <a:extLst>
                <a:ext uri="{FF2B5EF4-FFF2-40B4-BE49-F238E27FC236}">
                  <a16:creationId xmlns:a16="http://schemas.microsoft.com/office/drawing/2014/main" id="{7518A66F-B9F9-13A8-8F62-E807E790F40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73463" y="606425"/>
              <a:ext cx="366712" cy="366713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27764" name="Oval 8">
              <a:extLst>
                <a:ext uri="{FF2B5EF4-FFF2-40B4-BE49-F238E27FC236}">
                  <a16:creationId xmlns:a16="http://schemas.microsoft.com/office/drawing/2014/main" id="{13ED200B-C9C2-882C-32D5-5EE3942C0FC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125788" y="1717675"/>
              <a:ext cx="366712" cy="366713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latin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27765" name="Text Box 9">
              <a:extLst>
                <a:ext uri="{FF2B5EF4-FFF2-40B4-BE49-F238E27FC236}">
                  <a16:creationId xmlns:a16="http://schemas.microsoft.com/office/drawing/2014/main" id="{617BA639-B492-3D7C-12D7-81D1D9D768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6307" y="787400"/>
              <a:ext cx="658887" cy="489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  <a:sym typeface="Symbol" panose="05050102010706020507" pitchFamily="18" charset="2"/>
                </a:rPr>
                <a:t>3</a:t>
              </a:r>
            </a:p>
          </p:txBody>
        </p:sp>
        <p:sp>
          <p:nvSpPr>
            <p:cNvPr id="27766" name="Text Box 10">
              <a:extLst>
                <a:ext uri="{FF2B5EF4-FFF2-40B4-BE49-F238E27FC236}">
                  <a16:creationId xmlns:a16="http://schemas.microsoft.com/office/drawing/2014/main" id="{567DEC30-94CB-676A-3020-3C236F891B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4107" y="1220788"/>
              <a:ext cx="658887" cy="489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  <a:sym typeface="Symbol" panose="05050102010706020507" pitchFamily="18" charset="2"/>
                </a:rPr>
                <a:t>9</a:t>
              </a:r>
            </a:p>
          </p:txBody>
        </p:sp>
        <p:sp>
          <p:nvSpPr>
            <p:cNvPr id="27767" name="Text Box 11">
              <a:extLst>
                <a:ext uri="{FF2B5EF4-FFF2-40B4-BE49-F238E27FC236}">
                  <a16:creationId xmlns:a16="http://schemas.microsoft.com/office/drawing/2014/main" id="{B6B15324-FC59-3AB8-7F00-850FDDBFFB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0682" y="511175"/>
              <a:ext cx="658887" cy="489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7768" name="Text Box 12">
              <a:extLst>
                <a:ext uri="{FF2B5EF4-FFF2-40B4-BE49-F238E27FC236}">
                  <a16:creationId xmlns:a16="http://schemas.microsoft.com/office/drawing/2014/main" id="{1229D3CF-6592-61E9-19FB-30E2CAF1B1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6932" y="92075"/>
              <a:ext cx="658887" cy="489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7769" name="Text Box 13">
              <a:extLst>
                <a:ext uri="{FF2B5EF4-FFF2-40B4-BE49-F238E27FC236}">
                  <a16:creationId xmlns:a16="http://schemas.microsoft.com/office/drawing/2014/main" id="{C9458FD7-19AE-98FD-40FD-4711B5BC94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7474" y="641350"/>
              <a:ext cx="658889" cy="489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27770" name="Text Box 14">
              <a:extLst>
                <a:ext uri="{FF2B5EF4-FFF2-40B4-BE49-F238E27FC236}">
                  <a16:creationId xmlns:a16="http://schemas.microsoft.com/office/drawing/2014/main" id="{6D0712BA-82DE-36CB-0B37-FC785679D8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4333" y="304800"/>
              <a:ext cx="658887" cy="489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27771" name="Text Box 15">
              <a:extLst>
                <a:ext uri="{FF2B5EF4-FFF2-40B4-BE49-F238E27FC236}">
                  <a16:creationId xmlns:a16="http://schemas.microsoft.com/office/drawing/2014/main" id="{2E6B8C2D-597D-6606-97C2-F4CC698FB0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9908" y="1220788"/>
              <a:ext cx="658887" cy="489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27772" name="Text Box 16">
              <a:extLst>
                <a:ext uri="{FF2B5EF4-FFF2-40B4-BE49-F238E27FC236}">
                  <a16:creationId xmlns:a16="http://schemas.microsoft.com/office/drawing/2014/main" id="{4D4DEFC6-A9F2-2C12-CCB6-B2A50C63B1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7017" y="1186815"/>
              <a:ext cx="658889" cy="489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7773" name="Text Box 17">
              <a:extLst>
                <a:ext uri="{FF2B5EF4-FFF2-40B4-BE49-F238E27FC236}">
                  <a16:creationId xmlns:a16="http://schemas.microsoft.com/office/drawing/2014/main" id="{28249FE7-F24B-B97F-5F84-BD39E721D6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3249" y="1404938"/>
              <a:ext cx="658889" cy="489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en-US" sz="1800">
                  <a:latin typeface="Times New Roman" panose="02020603050405020304" pitchFamily="18" charset="0"/>
                </a:rPr>
                <a:t>5</a:t>
              </a:r>
            </a:p>
          </p:txBody>
        </p:sp>
        <p:cxnSp>
          <p:nvCxnSpPr>
            <p:cNvPr id="27774" name="AutoShape 19">
              <a:extLst>
                <a:ext uri="{FF2B5EF4-FFF2-40B4-BE49-F238E27FC236}">
                  <a16:creationId xmlns:a16="http://schemas.microsoft.com/office/drawing/2014/main" id="{2A6C16C9-03BA-73F4-B65C-DECDFD6F368D}"/>
                </a:ext>
              </a:extLst>
            </p:cNvPr>
            <p:cNvCxnSpPr>
              <a:cxnSpLocks noChangeShapeType="1"/>
              <a:stCxn id="27760" idx="7"/>
              <a:endCxn id="27761" idx="3"/>
            </p:cNvCxnSpPr>
            <p:nvPr/>
          </p:nvCxnSpPr>
          <p:spPr bwMode="auto">
            <a:xfrm flipV="1">
              <a:off x="693738" y="398463"/>
              <a:ext cx="842962" cy="4445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775" name="AutoShape 20">
              <a:extLst>
                <a:ext uri="{FF2B5EF4-FFF2-40B4-BE49-F238E27FC236}">
                  <a16:creationId xmlns:a16="http://schemas.microsoft.com/office/drawing/2014/main" id="{A310ACD0-D8BC-BBAB-2015-8DDCB623CEC2}"/>
                </a:ext>
              </a:extLst>
            </p:cNvPr>
            <p:cNvCxnSpPr>
              <a:cxnSpLocks noChangeShapeType="1"/>
              <a:stCxn id="27760" idx="5"/>
              <a:endCxn id="27762" idx="1"/>
            </p:cNvCxnSpPr>
            <p:nvPr/>
          </p:nvCxnSpPr>
          <p:spPr bwMode="auto">
            <a:xfrm>
              <a:off x="693738" y="1141413"/>
              <a:ext cx="666750" cy="630237"/>
            </a:xfrm>
            <a:prstGeom prst="straightConnector1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776" name="AutoShape 21">
              <a:extLst>
                <a:ext uri="{FF2B5EF4-FFF2-40B4-BE49-F238E27FC236}">
                  <a16:creationId xmlns:a16="http://schemas.microsoft.com/office/drawing/2014/main" id="{5148611A-D337-82C6-354A-6634D0110E47}"/>
                </a:ext>
              </a:extLst>
            </p:cNvPr>
            <p:cNvCxnSpPr>
              <a:cxnSpLocks noChangeShapeType="1"/>
              <a:stCxn id="27761" idx="5"/>
              <a:endCxn id="27759" idx="1"/>
            </p:cNvCxnSpPr>
            <p:nvPr/>
          </p:nvCxnSpPr>
          <p:spPr bwMode="auto">
            <a:xfrm>
              <a:off x="1797050" y="398463"/>
              <a:ext cx="485775" cy="67945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777" name="AutoShape 22">
              <a:extLst>
                <a:ext uri="{FF2B5EF4-FFF2-40B4-BE49-F238E27FC236}">
                  <a16:creationId xmlns:a16="http://schemas.microsoft.com/office/drawing/2014/main" id="{EFAAE1E2-8479-E6E4-B01B-C67ED9D036E1}"/>
                </a:ext>
              </a:extLst>
            </p:cNvPr>
            <p:cNvCxnSpPr>
              <a:cxnSpLocks noChangeShapeType="1"/>
              <a:stCxn id="27761" idx="6"/>
              <a:endCxn id="27763" idx="1"/>
            </p:cNvCxnSpPr>
            <p:nvPr/>
          </p:nvCxnSpPr>
          <p:spPr bwMode="auto">
            <a:xfrm>
              <a:off x="1858963" y="258763"/>
              <a:ext cx="1766887" cy="3810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778" name="AutoShape 23">
              <a:extLst>
                <a:ext uri="{FF2B5EF4-FFF2-40B4-BE49-F238E27FC236}">
                  <a16:creationId xmlns:a16="http://schemas.microsoft.com/office/drawing/2014/main" id="{E286B5F0-3405-F154-9F08-64D45CFD3F61}"/>
                </a:ext>
              </a:extLst>
            </p:cNvPr>
            <p:cNvCxnSpPr>
              <a:cxnSpLocks noChangeShapeType="1"/>
              <a:stCxn id="27759" idx="7"/>
              <a:endCxn id="27763" idx="2"/>
            </p:cNvCxnSpPr>
            <p:nvPr/>
          </p:nvCxnSpPr>
          <p:spPr bwMode="auto">
            <a:xfrm flipV="1">
              <a:off x="2543175" y="788988"/>
              <a:ext cx="1009650" cy="288925"/>
            </a:xfrm>
            <a:prstGeom prst="straightConnector1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779" name="AutoShape 24">
              <a:extLst>
                <a:ext uri="{FF2B5EF4-FFF2-40B4-BE49-F238E27FC236}">
                  <a16:creationId xmlns:a16="http://schemas.microsoft.com/office/drawing/2014/main" id="{57218F16-B189-769C-9370-38BDF6199AD9}"/>
                </a:ext>
              </a:extLst>
            </p:cNvPr>
            <p:cNvCxnSpPr>
              <a:cxnSpLocks noChangeShapeType="1"/>
              <a:stCxn id="27759" idx="5"/>
              <a:endCxn id="27764" idx="1"/>
            </p:cNvCxnSpPr>
            <p:nvPr/>
          </p:nvCxnSpPr>
          <p:spPr bwMode="auto">
            <a:xfrm>
              <a:off x="2543175" y="1357313"/>
              <a:ext cx="635000" cy="40322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780" name="AutoShape 25">
              <a:extLst>
                <a:ext uri="{FF2B5EF4-FFF2-40B4-BE49-F238E27FC236}">
                  <a16:creationId xmlns:a16="http://schemas.microsoft.com/office/drawing/2014/main" id="{72E4F739-536F-2BC8-840A-D8011AE0DCEF}"/>
                </a:ext>
              </a:extLst>
            </p:cNvPr>
            <p:cNvCxnSpPr>
              <a:cxnSpLocks noChangeShapeType="1"/>
              <a:stCxn id="27764" idx="0"/>
              <a:endCxn id="27763" idx="3"/>
            </p:cNvCxnSpPr>
            <p:nvPr/>
          </p:nvCxnSpPr>
          <p:spPr bwMode="auto">
            <a:xfrm flipV="1">
              <a:off x="3308350" y="938213"/>
              <a:ext cx="317500" cy="76835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781" name="AutoShape 26">
              <a:extLst>
                <a:ext uri="{FF2B5EF4-FFF2-40B4-BE49-F238E27FC236}">
                  <a16:creationId xmlns:a16="http://schemas.microsoft.com/office/drawing/2014/main" id="{20EA9EBC-F512-B39C-D60C-9115B192502C}"/>
                </a:ext>
              </a:extLst>
            </p:cNvPr>
            <p:cNvCxnSpPr>
              <a:cxnSpLocks noChangeShapeType="1"/>
              <a:stCxn id="27762" idx="6"/>
              <a:endCxn id="27764" idx="2"/>
            </p:cNvCxnSpPr>
            <p:nvPr/>
          </p:nvCxnSpPr>
          <p:spPr bwMode="auto">
            <a:xfrm flipV="1">
              <a:off x="1682750" y="1900238"/>
              <a:ext cx="1431925" cy="1111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782" name="AutoShape 27">
              <a:extLst>
                <a:ext uri="{FF2B5EF4-FFF2-40B4-BE49-F238E27FC236}">
                  <a16:creationId xmlns:a16="http://schemas.microsoft.com/office/drawing/2014/main" id="{54868F2C-267E-00DB-33AF-1CA5E63BC708}"/>
                </a:ext>
              </a:extLst>
            </p:cNvPr>
            <p:cNvCxnSpPr>
              <a:cxnSpLocks noChangeShapeType="1"/>
              <a:stCxn id="27762" idx="7"/>
              <a:endCxn id="27759" idx="3"/>
            </p:cNvCxnSpPr>
            <p:nvPr/>
          </p:nvCxnSpPr>
          <p:spPr bwMode="auto">
            <a:xfrm flipV="1">
              <a:off x="1620838" y="1357313"/>
              <a:ext cx="661987" cy="414337"/>
            </a:xfrm>
            <a:prstGeom prst="straightConnector1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783" name="AutoShape 28">
              <a:extLst>
                <a:ext uri="{FF2B5EF4-FFF2-40B4-BE49-F238E27FC236}">
                  <a16:creationId xmlns:a16="http://schemas.microsoft.com/office/drawing/2014/main" id="{41D316C5-CEFD-34EB-D1DE-F57863AC70F5}"/>
                </a:ext>
              </a:extLst>
            </p:cNvPr>
            <p:cNvCxnSpPr>
              <a:cxnSpLocks noChangeShapeType="1"/>
              <a:stCxn id="27760" idx="6"/>
              <a:endCxn id="27759" idx="2"/>
            </p:cNvCxnSpPr>
            <p:nvPr/>
          </p:nvCxnSpPr>
          <p:spPr bwMode="auto">
            <a:xfrm>
              <a:off x="765175" y="992188"/>
              <a:ext cx="1454150" cy="22542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7758" name="AutoShape 110">
            <a:extLst>
              <a:ext uri="{FF2B5EF4-FFF2-40B4-BE49-F238E27FC236}">
                <a16:creationId xmlns:a16="http://schemas.microsoft.com/office/drawing/2014/main" id="{D3911115-1B3C-5D73-F956-7AD2CA63732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147888" y="1890713"/>
            <a:ext cx="457200" cy="333375"/>
          </a:xfrm>
          <a:prstGeom prst="rightArrow">
            <a:avLst>
              <a:gd name="adj1" fmla="val 50000"/>
              <a:gd name="adj2" fmla="val 34286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DA639A3D-25AE-3F16-248C-9CBA2EEB80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(Cont’d)</a:t>
            </a:r>
          </a:p>
        </p:txBody>
      </p:sp>
      <p:sp>
        <p:nvSpPr>
          <p:cNvPr id="28674" name="Oval 3">
            <a:extLst>
              <a:ext uri="{FF2B5EF4-FFF2-40B4-BE49-F238E27FC236}">
                <a16:creationId xmlns:a16="http://schemas.microsoft.com/office/drawing/2014/main" id="{199199BF-8CFD-8658-1B54-4CF99BD9AF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05276" y="2605088"/>
            <a:ext cx="366713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28675" name="Oval 4">
            <a:extLst>
              <a:ext uri="{FF2B5EF4-FFF2-40B4-BE49-F238E27FC236}">
                <a16:creationId xmlns:a16="http://schemas.microsoft.com/office/drawing/2014/main" id="{2ED6851B-B04E-4BA1-C6EF-6DB426933E9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55838" y="2379663"/>
            <a:ext cx="366712" cy="366712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8676" name="Oval 5">
            <a:extLst>
              <a:ext uri="{FF2B5EF4-FFF2-40B4-BE49-F238E27FC236}">
                <a16:creationId xmlns:a16="http://schemas.microsoft.com/office/drawing/2014/main" id="{A3793430-0D18-7270-C629-B6894ABEB4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59151" y="1646238"/>
            <a:ext cx="366713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28677" name="Oval 6">
            <a:extLst>
              <a:ext uri="{FF2B5EF4-FFF2-40B4-BE49-F238E27FC236}">
                <a16:creationId xmlns:a16="http://schemas.microsoft.com/office/drawing/2014/main" id="{E4069D2F-0C05-0225-58E5-3D9F599BDD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82938" y="3298826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28678" name="Oval 7">
            <a:extLst>
              <a:ext uri="{FF2B5EF4-FFF2-40B4-BE49-F238E27FC236}">
                <a16:creationId xmlns:a16="http://schemas.microsoft.com/office/drawing/2014/main" id="{77D8805D-6C90-7136-CDF4-6B5C6E93FC7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48301" y="2176463"/>
            <a:ext cx="366713" cy="366712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8679" name="Oval 8">
            <a:extLst>
              <a:ext uri="{FF2B5EF4-FFF2-40B4-BE49-F238E27FC236}">
                <a16:creationId xmlns:a16="http://schemas.microsoft.com/office/drawing/2014/main" id="{1C11E6C9-7DD0-C374-E732-FE779F5F7FE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00626" y="3287713"/>
            <a:ext cx="366713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z</a:t>
            </a:r>
          </a:p>
        </p:txBody>
      </p:sp>
      <p:sp>
        <p:nvSpPr>
          <p:cNvPr id="28680" name="Text Box 9">
            <a:extLst>
              <a:ext uri="{FF2B5EF4-FFF2-40B4-BE49-F238E27FC236}">
                <a16:creationId xmlns:a16="http://schemas.microsoft.com/office/drawing/2014/main" id="{920DD704-3E61-F317-C9DF-59DE98DBF8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2463" y="2357438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28681" name="Text Box 10">
            <a:extLst>
              <a:ext uri="{FF2B5EF4-FFF2-40B4-BE49-F238E27FC236}">
                <a16:creationId xmlns:a16="http://schemas.microsoft.com/office/drawing/2014/main" id="{4AC44B47-978A-925F-9531-503CD9C951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0263" y="2790826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  <a:sym typeface="Symbol" panose="05050102010706020507" pitchFamily="18" charset="2"/>
              </a:rPr>
              <a:t>9</a:t>
            </a:r>
          </a:p>
        </p:txBody>
      </p:sp>
      <p:sp>
        <p:nvSpPr>
          <p:cNvPr id="28682" name="Text Box 11">
            <a:extLst>
              <a:ext uri="{FF2B5EF4-FFF2-40B4-BE49-F238E27FC236}">
                <a16:creationId xmlns:a16="http://schemas.microsoft.com/office/drawing/2014/main" id="{A43F3753-DA87-85BE-664E-3FCA63375E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6838" y="2081213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8683" name="Text Box 12">
            <a:extLst>
              <a:ext uri="{FF2B5EF4-FFF2-40B4-BE49-F238E27FC236}">
                <a16:creationId xmlns:a16="http://schemas.microsoft.com/office/drawing/2014/main" id="{415075D2-5660-3C18-AEA4-04A7C11142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3088" y="1662113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8684" name="Text Box 13">
            <a:extLst>
              <a:ext uri="{FF2B5EF4-FFF2-40B4-BE49-F238E27FC236}">
                <a16:creationId xmlns:a16="http://schemas.microsoft.com/office/drawing/2014/main" id="{220E2632-613B-7297-C3CC-F38EFE8DAC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2313" y="2211388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28685" name="Text Box 14">
            <a:extLst>
              <a:ext uri="{FF2B5EF4-FFF2-40B4-BE49-F238E27FC236}">
                <a16:creationId xmlns:a16="http://schemas.microsoft.com/office/drawing/2014/main" id="{B0766A73-885F-5504-0F52-8E9FEBE37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0488" y="1874838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28686" name="Text Box 15">
            <a:extLst>
              <a:ext uri="{FF2B5EF4-FFF2-40B4-BE49-F238E27FC236}">
                <a16:creationId xmlns:a16="http://schemas.microsoft.com/office/drawing/2014/main" id="{07ED1DD9-D638-975B-C8FF-92AF4024E7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6063" y="2790826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8687" name="Text Box 16">
            <a:extLst>
              <a:ext uri="{FF2B5EF4-FFF2-40B4-BE49-F238E27FC236}">
                <a16:creationId xmlns:a16="http://schemas.microsoft.com/office/drawing/2014/main" id="{F560386F-A3DB-BF95-BBEB-B42D8E13EF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2638" y="2895601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8688" name="Text Box 17">
            <a:extLst>
              <a:ext uri="{FF2B5EF4-FFF2-40B4-BE49-F238E27FC236}">
                <a16:creationId xmlns:a16="http://schemas.microsoft.com/office/drawing/2014/main" id="{9453CFB5-9BBD-59A4-F526-2228C326C2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8088" y="2974976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8689" name="Text Box 18">
            <a:extLst>
              <a:ext uri="{FF2B5EF4-FFF2-40B4-BE49-F238E27FC236}">
                <a16:creationId xmlns:a16="http://schemas.microsoft.com/office/drawing/2014/main" id="{1A572EFF-E58F-9304-B891-4B3205FF00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7638" y="3432176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cxnSp>
        <p:nvCxnSpPr>
          <p:cNvPr id="28690" name="AutoShape 19">
            <a:extLst>
              <a:ext uri="{FF2B5EF4-FFF2-40B4-BE49-F238E27FC236}">
                <a16:creationId xmlns:a16="http://schemas.microsoft.com/office/drawing/2014/main" id="{AEEF8699-973D-CD85-D3E3-5027CB75539C}"/>
              </a:ext>
            </a:extLst>
          </p:cNvPr>
          <p:cNvCxnSpPr>
            <a:cxnSpLocks noChangeShapeType="1"/>
            <a:stCxn id="28675" idx="7"/>
            <a:endCxn id="28676" idx="3"/>
          </p:cNvCxnSpPr>
          <p:nvPr/>
        </p:nvCxnSpPr>
        <p:spPr bwMode="auto">
          <a:xfrm flipV="1">
            <a:off x="2568576" y="1968500"/>
            <a:ext cx="842963" cy="444500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1" name="AutoShape 20">
            <a:extLst>
              <a:ext uri="{FF2B5EF4-FFF2-40B4-BE49-F238E27FC236}">
                <a16:creationId xmlns:a16="http://schemas.microsoft.com/office/drawing/2014/main" id="{8A93E76D-78C0-0519-CBCA-0B83E95BDCD8}"/>
              </a:ext>
            </a:extLst>
          </p:cNvPr>
          <p:cNvCxnSpPr>
            <a:cxnSpLocks noChangeShapeType="1"/>
            <a:stCxn id="28675" idx="5"/>
            <a:endCxn id="28677" idx="1"/>
          </p:cNvCxnSpPr>
          <p:nvPr/>
        </p:nvCxnSpPr>
        <p:spPr bwMode="auto">
          <a:xfrm>
            <a:off x="2568575" y="2711450"/>
            <a:ext cx="666750" cy="630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2" name="AutoShape 21">
            <a:extLst>
              <a:ext uri="{FF2B5EF4-FFF2-40B4-BE49-F238E27FC236}">
                <a16:creationId xmlns:a16="http://schemas.microsoft.com/office/drawing/2014/main" id="{4EDC0091-BFE9-32C7-3E15-E32BBA2A2DFC}"/>
              </a:ext>
            </a:extLst>
          </p:cNvPr>
          <p:cNvCxnSpPr>
            <a:cxnSpLocks noChangeShapeType="1"/>
            <a:stCxn id="28676" idx="5"/>
            <a:endCxn id="28674" idx="1"/>
          </p:cNvCxnSpPr>
          <p:nvPr/>
        </p:nvCxnSpPr>
        <p:spPr bwMode="auto">
          <a:xfrm>
            <a:off x="3671889" y="1968500"/>
            <a:ext cx="485775" cy="6794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3" name="AutoShape 22">
            <a:extLst>
              <a:ext uri="{FF2B5EF4-FFF2-40B4-BE49-F238E27FC236}">
                <a16:creationId xmlns:a16="http://schemas.microsoft.com/office/drawing/2014/main" id="{1617F252-8E01-BD57-DD2D-6F670833B3E3}"/>
              </a:ext>
            </a:extLst>
          </p:cNvPr>
          <p:cNvCxnSpPr>
            <a:cxnSpLocks noChangeShapeType="1"/>
            <a:stCxn id="28676" idx="6"/>
            <a:endCxn id="28678" idx="1"/>
          </p:cNvCxnSpPr>
          <p:nvPr/>
        </p:nvCxnSpPr>
        <p:spPr bwMode="auto">
          <a:xfrm>
            <a:off x="3733800" y="1828800"/>
            <a:ext cx="1766888" cy="381000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4" name="AutoShape 23">
            <a:extLst>
              <a:ext uri="{FF2B5EF4-FFF2-40B4-BE49-F238E27FC236}">
                <a16:creationId xmlns:a16="http://schemas.microsoft.com/office/drawing/2014/main" id="{091EE805-01E0-E8D3-A88E-80B98705CDA8}"/>
              </a:ext>
            </a:extLst>
          </p:cNvPr>
          <p:cNvCxnSpPr>
            <a:cxnSpLocks noChangeShapeType="1"/>
            <a:stCxn id="28674" idx="7"/>
            <a:endCxn id="28678" idx="2"/>
          </p:cNvCxnSpPr>
          <p:nvPr/>
        </p:nvCxnSpPr>
        <p:spPr bwMode="auto">
          <a:xfrm flipV="1">
            <a:off x="4418013" y="2359026"/>
            <a:ext cx="1009650" cy="2889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5" name="AutoShape 24">
            <a:extLst>
              <a:ext uri="{FF2B5EF4-FFF2-40B4-BE49-F238E27FC236}">
                <a16:creationId xmlns:a16="http://schemas.microsoft.com/office/drawing/2014/main" id="{6DA95A00-15AC-44A9-CFE2-219D4E7C4408}"/>
              </a:ext>
            </a:extLst>
          </p:cNvPr>
          <p:cNvCxnSpPr>
            <a:cxnSpLocks noChangeShapeType="1"/>
            <a:stCxn id="28674" idx="5"/>
            <a:endCxn id="28679" idx="1"/>
          </p:cNvCxnSpPr>
          <p:nvPr/>
        </p:nvCxnSpPr>
        <p:spPr bwMode="auto">
          <a:xfrm>
            <a:off x="4418013" y="2927351"/>
            <a:ext cx="635000" cy="403225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6" name="AutoShape 25">
            <a:extLst>
              <a:ext uri="{FF2B5EF4-FFF2-40B4-BE49-F238E27FC236}">
                <a16:creationId xmlns:a16="http://schemas.microsoft.com/office/drawing/2014/main" id="{CE841DC5-2CAF-5243-A891-CB62B1ED86A5}"/>
              </a:ext>
            </a:extLst>
          </p:cNvPr>
          <p:cNvCxnSpPr>
            <a:cxnSpLocks noChangeShapeType="1"/>
            <a:stCxn id="28679" idx="0"/>
            <a:endCxn id="28678" idx="3"/>
          </p:cNvCxnSpPr>
          <p:nvPr/>
        </p:nvCxnSpPr>
        <p:spPr bwMode="auto">
          <a:xfrm flipV="1">
            <a:off x="5183188" y="2508250"/>
            <a:ext cx="317500" cy="76835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7" name="AutoShape 26">
            <a:extLst>
              <a:ext uri="{FF2B5EF4-FFF2-40B4-BE49-F238E27FC236}">
                <a16:creationId xmlns:a16="http://schemas.microsoft.com/office/drawing/2014/main" id="{09359929-82DF-893E-1558-16C671541448}"/>
              </a:ext>
            </a:extLst>
          </p:cNvPr>
          <p:cNvCxnSpPr>
            <a:cxnSpLocks noChangeShapeType="1"/>
            <a:stCxn id="28677" idx="6"/>
            <a:endCxn id="28679" idx="2"/>
          </p:cNvCxnSpPr>
          <p:nvPr/>
        </p:nvCxnSpPr>
        <p:spPr bwMode="auto">
          <a:xfrm flipV="1">
            <a:off x="3557589" y="3470276"/>
            <a:ext cx="1431925" cy="111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8" name="AutoShape 27">
            <a:extLst>
              <a:ext uri="{FF2B5EF4-FFF2-40B4-BE49-F238E27FC236}">
                <a16:creationId xmlns:a16="http://schemas.microsoft.com/office/drawing/2014/main" id="{925E6B1E-1D71-F2FA-EFDB-B108972D8F57}"/>
              </a:ext>
            </a:extLst>
          </p:cNvPr>
          <p:cNvCxnSpPr>
            <a:cxnSpLocks noChangeShapeType="1"/>
            <a:stCxn id="28677" idx="7"/>
            <a:endCxn id="28674" idx="3"/>
          </p:cNvCxnSpPr>
          <p:nvPr/>
        </p:nvCxnSpPr>
        <p:spPr bwMode="auto">
          <a:xfrm flipV="1">
            <a:off x="3495675" y="2927350"/>
            <a:ext cx="661988" cy="4143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9" name="AutoShape 28">
            <a:extLst>
              <a:ext uri="{FF2B5EF4-FFF2-40B4-BE49-F238E27FC236}">
                <a16:creationId xmlns:a16="http://schemas.microsoft.com/office/drawing/2014/main" id="{E673AD34-5604-D649-3691-56627D9C44B6}"/>
              </a:ext>
            </a:extLst>
          </p:cNvPr>
          <p:cNvCxnSpPr>
            <a:cxnSpLocks noChangeShapeType="1"/>
            <a:stCxn id="28675" idx="6"/>
            <a:endCxn id="28674" idx="2"/>
          </p:cNvCxnSpPr>
          <p:nvPr/>
        </p:nvCxnSpPr>
        <p:spPr bwMode="auto">
          <a:xfrm>
            <a:off x="2640013" y="2562226"/>
            <a:ext cx="1454150" cy="225425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700" name="Oval 29">
            <a:extLst>
              <a:ext uri="{FF2B5EF4-FFF2-40B4-BE49-F238E27FC236}">
                <a16:creationId xmlns:a16="http://schemas.microsoft.com/office/drawing/2014/main" id="{DDE487EA-61C8-C51F-6921-A9BCEF5D1F9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06863" y="5302251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28701" name="Oval 30">
            <a:extLst>
              <a:ext uri="{FF2B5EF4-FFF2-40B4-BE49-F238E27FC236}">
                <a16:creationId xmlns:a16="http://schemas.microsoft.com/office/drawing/2014/main" id="{45969092-EEF3-D034-9346-4C057A02AD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57426" y="5076826"/>
            <a:ext cx="366713" cy="366713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8702" name="Oval 31">
            <a:extLst>
              <a:ext uri="{FF2B5EF4-FFF2-40B4-BE49-F238E27FC236}">
                <a16:creationId xmlns:a16="http://schemas.microsoft.com/office/drawing/2014/main" id="{6D6183BF-146C-47BC-8659-252EBBC8041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60738" y="4343401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28703" name="Oval 32">
            <a:extLst>
              <a:ext uri="{FF2B5EF4-FFF2-40B4-BE49-F238E27FC236}">
                <a16:creationId xmlns:a16="http://schemas.microsoft.com/office/drawing/2014/main" id="{3CFCA9E1-06B2-03EB-F2A0-7219FD78FE7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84526" y="5995988"/>
            <a:ext cx="366713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28704" name="Oval 33">
            <a:extLst>
              <a:ext uri="{FF2B5EF4-FFF2-40B4-BE49-F238E27FC236}">
                <a16:creationId xmlns:a16="http://schemas.microsoft.com/office/drawing/2014/main" id="{DA43AB5F-2507-C578-785F-4523FBD6A60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49888" y="4873626"/>
            <a:ext cx="366712" cy="366713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8705" name="Oval 34">
            <a:extLst>
              <a:ext uri="{FF2B5EF4-FFF2-40B4-BE49-F238E27FC236}">
                <a16:creationId xmlns:a16="http://schemas.microsoft.com/office/drawing/2014/main" id="{E337B36A-71B4-04D2-17A5-802F5A0941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02213" y="5984876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z</a:t>
            </a:r>
          </a:p>
        </p:txBody>
      </p:sp>
      <p:sp>
        <p:nvSpPr>
          <p:cNvPr id="28706" name="Text Box 35">
            <a:extLst>
              <a:ext uri="{FF2B5EF4-FFF2-40B4-BE49-F238E27FC236}">
                <a16:creationId xmlns:a16="http://schemas.microsoft.com/office/drawing/2014/main" id="{F8CC2A47-6ED3-635B-F21E-F6B52EEFBB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4050" y="5054601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28707" name="Text Box 36">
            <a:extLst>
              <a:ext uri="{FF2B5EF4-FFF2-40B4-BE49-F238E27FC236}">
                <a16:creationId xmlns:a16="http://schemas.microsoft.com/office/drawing/2014/main" id="{48CBC317-7FD4-7A61-3567-944E8B930F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1850" y="5487988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  <a:sym typeface="Symbol" panose="05050102010706020507" pitchFamily="18" charset="2"/>
              </a:rPr>
              <a:t>9</a:t>
            </a:r>
          </a:p>
        </p:txBody>
      </p:sp>
      <p:sp>
        <p:nvSpPr>
          <p:cNvPr id="28708" name="Text Box 37">
            <a:extLst>
              <a:ext uri="{FF2B5EF4-FFF2-40B4-BE49-F238E27FC236}">
                <a16:creationId xmlns:a16="http://schemas.microsoft.com/office/drawing/2014/main" id="{EC2DA53C-37A8-3265-73F5-BBB858B816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8425" y="4778376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8709" name="Text Box 38">
            <a:extLst>
              <a:ext uri="{FF2B5EF4-FFF2-40B4-BE49-F238E27FC236}">
                <a16:creationId xmlns:a16="http://schemas.microsoft.com/office/drawing/2014/main" id="{3D368AA7-724C-B440-2C5A-289BE4F775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4675" y="4359276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8710" name="Text Box 39">
            <a:extLst>
              <a:ext uri="{FF2B5EF4-FFF2-40B4-BE49-F238E27FC236}">
                <a16:creationId xmlns:a16="http://schemas.microsoft.com/office/drawing/2014/main" id="{21B95ED9-7E46-682E-C0A9-CA3B56CF13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3900" y="4908551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28711" name="Text Box 40">
            <a:extLst>
              <a:ext uri="{FF2B5EF4-FFF2-40B4-BE49-F238E27FC236}">
                <a16:creationId xmlns:a16="http://schemas.microsoft.com/office/drawing/2014/main" id="{6C4A2B32-CBB8-2576-D8E7-DD7CE282A1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2075" y="4572001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28712" name="Text Box 41">
            <a:extLst>
              <a:ext uri="{FF2B5EF4-FFF2-40B4-BE49-F238E27FC236}">
                <a16:creationId xmlns:a16="http://schemas.microsoft.com/office/drawing/2014/main" id="{3AD70471-9CFD-ECE4-FA70-F226FBD3EA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7650" y="5487988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8713" name="Text Box 42">
            <a:extLst>
              <a:ext uri="{FF2B5EF4-FFF2-40B4-BE49-F238E27FC236}">
                <a16:creationId xmlns:a16="http://schemas.microsoft.com/office/drawing/2014/main" id="{13CB1422-170B-A136-7A80-3FBB8954A8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4225" y="5592763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8714" name="Text Box 43">
            <a:extLst>
              <a:ext uri="{FF2B5EF4-FFF2-40B4-BE49-F238E27FC236}">
                <a16:creationId xmlns:a16="http://schemas.microsoft.com/office/drawing/2014/main" id="{F324CB83-F27A-9735-4159-B84E7068B7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9675" y="5672138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8715" name="Text Box 44">
            <a:extLst>
              <a:ext uri="{FF2B5EF4-FFF2-40B4-BE49-F238E27FC236}">
                <a16:creationId xmlns:a16="http://schemas.microsoft.com/office/drawing/2014/main" id="{4C313F16-1431-B737-439B-913EFE5BBE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9225" y="6129338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cxnSp>
        <p:nvCxnSpPr>
          <p:cNvPr id="28716" name="AutoShape 45">
            <a:extLst>
              <a:ext uri="{FF2B5EF4-FFF2-40B4-BE49-F238E27FC236}">
                <a16:creationId xmlns:a16="http://schemas.microsoft.com/office/drawing/2014/main" id="{31CA72DB-5AC7-4253-7337-BD7C0F558562}"/>
              </a:ext>
            </a:extLst>
          </p:cNvPr>
          <p:cNvCxnSpPr>
            <a:cxnSpLocks noChangeShapeType="1"/>
            <a:stCxn id="28701" idx="7"/>
            <a:endCxn id="28702" idx="3"/>
          </p:cNvCxnSpPr>
          <p:nvPr/>
        </p:nvCxnSpPr>
        <p:spPr bwMode="auto">
          <a:xfrm flipV="1">
            <a:off x="2570163" y="4665663"/>
            <a:ext cx="842962" cy="44450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17" name="AutoShape 46">
            <a:extLst>
              <a:ext uri="{FF2B5EF4-FFF2-40B4-BE49-F238E27FC236}">
                <a16:creationId xmlns:a16="http://schemas.microsoft.com/office/drawing/2014/main" id="{34EF36E8-E3FA-9C48-5A8F-55CD45FBECFC}"/>
              </a:ext>
            </a:extLst>
          </p:cNvPr>
          <p:cNvCxnSpPr>
            <a:cxnSpLocks noChangeShapeType="1"/>
            <a:stCxn id="28701" idx="5"/>
            <a:endCxn id="28703" idx="1"/>
          </p:cNvCxnSpPr>
          <p:nvPr/>
        </p:nvCxnSpPr>
        <p:spPr bwMode="auto">
          <a:xfrm>
            <a:off x="2570163" y="5408614"/>
            <a:ext cx="666750" cy="630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18" name="AutoShape 47">
            <a:extLst>
              <a:ext uri="{FF2B5EF4-FFF2-40B4-BE49-F238E27FC236}">
                <a16:creationId xmlns:a16="http://schemas.microsoft.com/office/drawing/2014/main" id="{BA02A16D-5801-7592-F110-F47BC4C98576}"/>
              </a:ext>
            </a:extLst>
          </p:cNvPr>
          <p:cNvCxnSpPr>
            <a:cxnSpLocks noChangeShapeType="1"/>
            <a:stCxn id="28702" idx="5"/>
            <a:endCxn id="28700" idx="1"/>
          </p:cNvCxnSpPr>
          <p:nvPr/>
        </p:nvCxnSpPr>
        <p:spPr bwMode="auto">
          <a:xfrm>
            <a:off x="3673476" y="4665663"/>
            <a:ext cx="485775" cy="67945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19" name="AutoShape 48">
            <a:extLst>
              <a:ext uri="{FF2B5EF4-FFF2-40B4-BE49-F238E27FC236}">
                <a16:creationId xmlns:a16="http://schemas.microsoft.com/office/drawing/2014/main" id="{33E1DFAE-6C8A-F6DC-A48E-5B9CC8428A54}"/>
              </a:ext>
            </a:extLst>
          </p:cNvPr>
          <p:cNvCxnSpPr>
            <a:cxnSpLocks noChangeShapeType="1"/>
            <a:stCxn id="28702" idx="6"/>
            <a:endCxn id="28704" idx="1"/>
          </p:cNvCxnSpPr>
          <p:nvPr/>
        </p:nvCxnSpPr>
        <p:spPr bwMode="auto">
          <a:xfrm>
            <a:off x="3735389" y="4525963"/>
            <a:ext cx="1766887" cy="3810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20" name="AutoShape 49">
            <a:extLst>
              <a:ext uri="{FF2B5EF4-FFF2-40B4-BE49-F238E27FC236}">
                <a16:creationId xmlns:a16="http://schemas.microsoft.com/office/drawing/2014/main" id="{4B9C6EFF-AD40-1EE3-AE53-54243C5863FF}"/>
              </a:ext>
            </a:extLst>
          </p:cNvPr>
          <p:cNvCxnSpPr>
            <a:cxnSpLocks noChangeShapeType="1"/>
            <a:stCxn id="28700" idx="7"/>
            <a:endCxn id="28704" idx="2"/>
          </p:cNvCxnSpPr>
          <p:nvPr/>
        </p:nvCxnSpPr>
        <p:spPr bwMode="auto">
          <a:xfrm flipV="1">
            <a:off x="4419600" y="5056189"/>
            <a:ext cx="1009650" cy="288925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21" name="AutoShape 50">
            <a:extLst>
              <a:ext uri="{FF2B5EF4-FFF2-40B4-BE49-F238E27FC236}">
                <a16:creationId xmlns:a16="http://schemas.microsoft.com/office/drawing/2014/main" id="{489B4A59-4121-544E-4D68-AFCD74391487}"/>
              </a:ext>
            </a:extLst>
          </p:cNvPr>
          <p:cNvCxnSpPr>
            <a:cxnSpLocks noChangeShapeType="1"/>
            <a:stCxn id="28700" idx="5"/>
            <a:endCxn id="28705" idx="1"/>
          </p:cNvCxnSpPr>
          <p:nvPr/>
        </p:nvCxnSpPr>
        <p:spPr bwMode="auto">
          <a:xfrm>
            <a:off x="4419600" y="5624514"/>
            <a:ext cx="635000" cy="403225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22" name="AutoShape 51">
            <a:extLst>
              <a:ext uri="{FF2B5EF4-FFF2-40B4-BE49-F238E27FC236}">
                <a16:creationId xmlns:a16="http://schemas.microsoft.com/office/drawing/2014/main" id="{950FE3DB-764B-84A0-8198-0258649C57E6}"/>
              </a:ext>
            </a:extLst>
          </p:cNvPr>
          <p:cNvCxnSpPr>
            <a:cxnSpLocks noChangeShapeType="1"/>
            <a:stCxn id="28705" idx="0"/>
            <a:endCxn id="28704" idx="3"/>
          </p:cNvCxnSpPr>
          <p:nvPr/>
        </p:nvCxnSpPr>
        <p:spPr bwMode="auto">
          <a:xfrm flipV="1">
            <a:off x="5184775" y="5205413"/>
            <a:ext cx="317500" cy="768350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23" name="AutoShape 52">
            <a:extLst>
              <a:ext uri="{FF2B5EF4-FFF2-40B4-BE49-F238E27FC236}">
                <a16:creationId xmlns:a16="http://schemas.microsoft.com/office/drawing/2014/main" id="{3288D20D-AA22-2624-2A66-E979E5EC7810}"/>
              </a:ext>
            </a:extLst>
          </p:cNvPr>
          <p:cNvCxnSpPr>
            <a:cxnSpLocks noChangeShapeType="1"/>
            <a:stCxn id="28703" idx="6"/>
            <a:endCxn id="28705" idx="2"/>
          </p:cNvCxnSpPr>
          <p:nvPr/>
        </p:nvCxnSpPr>
        <p:spPr bwMode="auto">
          <a:xfrm flipV="1">
            <a:off x="3559176" y="6167438"/>
            <a:ext cx="1431925" cy="11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24" name="AutoShape 53">
            <a:extLst>
              <a:ext uri="{FF2B5EF4-FFF2-40B4-BE49-F238E27FC236}">
                <a16:creationId xmlns:a16="http://schemas.microsoft.com/office/drawing/2014/main" id="{9510B09A-FBA9-3588-DFF3-F55628E8EE47}"/>
              </a:ext>
            </a:extLst>
          </p:cNvPr>
          <p:cNvCxnSpPr>
            <a:cxnSpLocks noChangeShapeType="1"/>
            <a:stCxn id="28703" idx="7"/>
            <a:endCxn id="28700" idx="3"/>
          </p:cNvCxnSpPr>
          <p:nvPr/>
        </p:nvCxnSpPr>
        <p:spPr bwMode="auto">
          <a:xfrm flipV="1">
            <a:off x="3497264" y="5624514"/>
            <a:ext cx="661987" cy="4143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25" name="AutoShape 54">
            <a:extLst>
              <a:ext uri="{FF2B5EF4-FFF2-40B4-BE49-F238E27FC236}">
                <a16:creationId xmlns:a16="http://schemas.microsoft.com/office/drawing/2014/main" id="{0B5850DE-4CBE-0AB2-E6FA-B8292D1E0F32}"/>
              </a:ext>
            </a:extLst>
          </p:cNvPr>
          <p:cNvCxnSpPr>
            <a:cxnSpLocks noChangeShapeType="1"/>
            <a:stCxn id="28701" idx="6"/>
            <a:endCxn id="28700" idx="2"/>
          </p:cNvCxnSpPr>
          <p:nvPr/>
        </p:nvCxnSpPr>
        <p:spPr bwMode="auto">
          <a:xfrm>
            <a:off x="2641600" y="5259389"/>
            <a:ext cx="1454150" cy="225425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726" name="Oval 55">
            <a:extLst>
              <a:ext uri="{FF2B5EF4-FFF2-40B4-BE49-F238E27FC236}">
                <a16:creationId xmlns:a16="http://schemas.microsoft.com/office/drawing/2014/main" id="{4009C473-6DAF-150E-7085-030D8ABCD9A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555038" y="2635251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28727" name="Oval 56">
            <a:extLst>
              <a:ext uri="{FF2B5EF4-FFF2-40B4-BE49-F238E27FC236}">
                <a16:creationId xmlns:a16="http://schemas.microsoft.com/office/drawing/2014/main" id="{BE0D9FF7-7E9D-0588-2242-2945A66E5C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05601" y="2409826"/>
            <a:ext cx="366713" cy="366713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8728" name="Oval 57">
            <a:extLst>
              <a:ext uri="{FF2B5EF4-FFF2-40B4-BE49-F238E27FC236}">
                <a16:creationId xmlns:a16="http://schemas.microsoft.com/office/drawing/2014/main" id="{E1E5DD1C-04E1-FBD1-9808-D9E5587D1A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08913" y="1676401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28729" name="Oval 58">
            <a:extLst>
              <a:ext uri="{FF2B5EF4-FFF2-40B4-BE49-F238E27FC236}">
                <a16:creationId xmlns:a16="http://schemas.microsoft.com/office/drawing/2014/main" id="{3668EBEB-2596-5DCC-9145-02BFFE14668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32701" y="3328988"/>
            <a:ext cx="366713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28730" name="Oval 59">
            <a:extLst>
              <a:ext uri="{FF2B5EF4-FFF2-40B4-BE49-F238E27FC236}">
                <a16:creationId xmlns:a16="http://schemas.microsoft.com/office/drawing/2014/main" id="{90E3C88C-8E73-737B-52AC-9F77622348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898063" y="2206626"/>
            <a:ext cx="366712" cy="366713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8731" name="Oval 60">
            <a:extLst>
              <a:ext uri="{FF2B5EF4-FFF2-40B4-BE49-F238E27FC236}">
                <a16:creationId xmlns:a16="http://schemas.microsoft.com/office/drawing/2014/main" id="{5DBBF2B8-7AC0-B44D-DD25-9F37634ED7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450388" y="3317876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z</a:t>
            </a:r>
          </a:p>
        </p:txBody>
      </p:sp>
      <p:sp>
        <p:nvSpPr>
          <p:cNvPr id="28732" name="Text Box 61">
            <a:extLst>
              <a:ext uri="{FF2B5EF4-FFF2-40B4-BE49-F238E27FC236}">
                <a16:creationId xmlns:a16="http://schemas.microsoft.com/office/drawing/2014/main" id="{A8FECCFC-4963-19E1-A71C-9A05DDB6E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2225" y="2387601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28733" name="Text Box 62">
            <a:extLst>
              <a:ext uri="{FF2B5EF4-FFF2-40B4-BE49-F238E27FC236}">
                <a16:creationId xmlns:a16="http://schemas.microsoft.com/office/drawing/2014/main" id="{1A536C12-DD66-F34C-F642-D3B75005E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90025" y="2820988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  <a:sym typeface="Symbol" panose="05050102010706020507" pitchFamily="18" charset="2"/>
              </a:rPr>
              <a:t>9</a:t>
            </a:r>
          </a:p>
        </p:txBody>
      </p:sp>
      <p:sp>
        <p:nvSpPr>
          <p:cNvPr id="28734" name="Text Box 63">
            <a:extLst>
              <a:ext uri="{FF2B5EF4-FFF2-40B4-BE49-F238E27FC236}">
                <a16:creationId xmlns:a16="http://schemas.microsoft.com/office/drawing/2014/main" id="{C9598F30-4B29-63C0-0086-92AA5EF049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6600" y="2111376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8735" name="Text Box 64">
            <a:extLst>
              <a:ext uri="{FF2B5EF4-FFF2-40B4-BE49-F238E27FC236}">
                <a16:creationId xmlns:a16="http://schemas.microsoft.com/office/drawing/2014/main" id="{2860DEA0-043F-B848-3246-128007BFD8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2850" y="1692276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8736" name="Text Box 65">
            <a:extLst>
              <a:ext uri="{FF2B5EF4-FFF2-40B4-BE49-F238E27FC236}">
                <a16:creationId xmlns:a16="http://schemas.microsoft.com/office/drawing/2014/main" id="{2C3B88FA-25B3-8245-5AED-2D6AD5633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2075" y="2241551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28737" name="Text Box 66">
            <a:extLst>
              <a:ext uri="{FF2B5EF4-FFF2-40B4-BE49-F238E27FC236}">
                <a16:creationId xmlns:a16="http://schemas.microsoft.com/office/drawing/2014/main" id="{DA719DFE-0CEA-EB53-3F3B-6863021C80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0250" y="1905001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4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28738" name="Text Box 67">
            <a:extLst>
              <a:ext uri="{FF2B5EF4-FFF2-40B4-BE49-F238E27FC236}">
                <a16:creationId xmlns:a16="http://schemas.microsoft.com/office/drawing/2014/main" id="{27BB7868-442B-80AF-95BF-0551FA3855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75825" y="2820988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8739" name="Text Box 68">
            <a:extLst>
              <a:ext uri="{FF2B5EF4-FFF2-40B4-BE49-F238E27FC236}">
                <a16:creationId xmlns:a16="http://schemas.microsoft.com/office/drawing/2014/main" id="{8F40FAB4-2759-DEF2-B98F-AD1CE2A532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2925763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8740" name="Text Box 69">
            <a:extLst>
              <a:ext uri="{FF2B5EF4-FFF2-40B4-BE49-F238E27FC236}">
                <a16:creationId xmlns:a16="http://schemas.microsoft.com/office/drawing/2014/main" id="{BB954CE2-7008-DC86-90C1-C810BA5772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7850" y="3005138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8741" name="Text Box 70">
            <a:extLst>
              <a:ext uri="{FF2B5EF4-FFF2-40B4-BE49-F238E27FC236}">
                <a16:creationId xmlns:a16="http://schemas.microsoft.com/office/drawing/2014/main" id="{1D419416-F661-05CE-39B4-8B0544830C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07400" y="3462338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cxnSp>
        <p:nvCxnSpPr>
          <p:cNvPr id="28742" name="AutoShape 71">
            <a:extLst>
              <a:ext uri="{FF2B5EF4-FFF2-40B4-BE49-F238E27FC236}">
                <a16:creationId xmlns:a16="http://schemas.microsoft.com/office/drawing/2014/main" id="{D6782A74-770F-B8DA-20CE-8CE4A35B88D1}"/>
              </a:ext>
            </a:extLst>
          </p:cNvPr>
          <p:cNvCxnSpPr>
            <a:cxnSpLocks noChangeShapeType="1"/>
            <a:stCxn id="28727" idx="7"/>
            <a:endCxn id="28728" idx="3"/>
          </p:cNvCxnSpPr>
          <p:nvPr/>
        </p:nvCxnSpPr>
        <p:spPr bwMode="auto">
          <a:xfrm flipV="1">
            <a:off x="7018338" y="1998663"/>
            <a:ext cx="842962" cy="444500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43" name="AutoShape 72">
            <a:extLst>
              <a:ext uri="{FF2B5EF4-FFF2-40B4-BE49-F238E27FC236}">
                <a16:creationId xmlns:a16="http://schemas.microsoft.com/office/drawing/2014/main" id="{DD31024F-44FC-B0A9-9ED2-59624B276F33}"/>
              </a:ext>
            </a:extLst>
          </p:cNvPr>
          <p:cNvCxnSpPr>
            <a:cxnSpLocks noChangeShapeType="1"/>
            <a:stCxn id="28727" idx="5"/>
            <a:endCxn id="28729" idx="1"/>
          </p:cNvCxnSpPr>
          <p:nvPr/>
        </p:nvCxnSpPr>
        <p:spPr bwMode="auto">
          <a:xfrm>
            <a:off x="7018338" y="2741614"/>
            <a:ext cx="666750" cy="630237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44" name="AutoShape 73">
            <a:extLst>
              <a:ext uri="{FF2B5EF4-FFF2-40B4-BE49-F238E27FC236}">
                <a16:creationId xmlns:a16="http://schemas.microsoft.com/office/drawing/2014/main" id="{ED77129B-1EC7-1ED8-98A0-D360A92B0939}"/>
              </a:ext>
            </a:extLst>
          </p:cNvPr>
          <p:cNvCxnSpPr>
            <a:cxnSpLocks noChangeShapeType="1"/>
            <a:stCxn id="28728" idx="5"/>
            <a:endCxn id="28726" idx="1"/>
          </p:cNvCxnSpPr>
          <p:nvPr/>
        </p:nvCxnSpPr>
        <p:spPr bwMode="auto">
          <a:xfrm>
            <a:off x="8121651" y="1998663"/>
            <a:ext cx="485775" cy="679450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45" name="AutoShape 74">
            <a:extLst>
              <a:ext uri="{FF2B5EF4-FFF2-40B4-BE49-F238E27FC236}">
                <a16:creationId xmlns:a16="http://schemas.microsoft.com/office/drawing/2014/main" id="{2EBF0DB4-B9EB-E08C-B2A8-B649A72BC59D}"/>
              </a:ext>
            </a:extLst>
          </p:cNvPr>
          <p:cNvCxnSpPr>
            <a:cxnSpLocks noChangeShapeType="1"/>
            <a:stCxn id="28728" idx="6"/>
            <a:endCxn id="28730" idx="1"/>
          </p:cNvCxnSpPr>
          <p:nvPr/>
        </p:nvCxnSpPr>
        <p:spPr bwMode="auto">
          <a:xfrm>
            <a:off x="8183564" y="1858963"/>
            <a:ext cx="1766887" cy="3810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46" name="AutoShape 75">
            <a:extLst>
              <a:ext uri="{FF2B5EF4-FFF2-40B4-BE49-F238E27FC236}">
                <a16:creationId xmlns:a16="http://schemas.microsoft.com/office/drawing/2014/main" id="{9CD33D9F-07D0-E156-3250-B8CD84F13853}"/>
              </a:ext>
            </a:extLst>
          </p:cNvPr>
          <p:cNvCxnSpPr>
            <a:cxnSpLocks noChangeShapeType="1"/>
            <a:stCxn id="28726" idx="7"/>
            <a:endCxn id="28730" idx="2"/>
          </p:cNvCxnSpPr>
          <p:nvPr/>
        </p:nvCxnSpPr>
        <p:spPr bwMode="auto">
          <a:xfrm flipV="1">
            <a:off x="8867775" y="2389189"/>
            <a:ext cx="1009650" cy="288925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47" name="AutoShape 76">
            <a:extLst>
              <a:ext uri="{FF2B5EF4-FFF2-40B4-BE49-F238E27FC236}">
                <a16:creationId xmlns:a16="http://schemas.microsoft.com/office/drawing/2014/main" id="{552A0EC0-5556-294F-AF10-07AB66660960}"/>
              </a:ext>
            </a:extLst>
          </p:cNvPr>
          <p:cNvCxnSpPr>
            <a:cxnSpLocks noChangeShapeType="1"/>
            <a:stCxn id="28726" idx="5"/>
            <a:endCxn id="28731" idx="1"/>
          </p:cNvCxnSpPr>
          <p:nvPr/>
        </p:nvCxnSpPr>
        <p:spPr bwMode="auto">
          <a:xfrm>
            <a:off x="8867775" y="2957514"/>
            <a:ext cx="635000" cy="4032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48" name="AutoShape 77">
            <a:extLst>
              <a:ext uri="{FF2B5EF4-FFF2-40B4-BE49-F238E27FC236}">
                <a16:creationId xmlns:a16="http://schemas.microsoft.com/office/drawing/2014/main" id="{FF8F1A11-229F-4DE8-96D9-EC375D449EDE}"/>
              </a:ext>
            </a:extLst>
          </p:cNvPr>
          <p:cNvCxnSpPr>
            <a:cxnSpLocks noChangeShapeType="1"/>
            <a:stCxn id="28731" idx="0"/>
            <a:endCxn id="28730" idx="3"/>
          </p:cNvCxnSpPr>
          <p:nvPr/>
        </p:nvCxnSpPr>
        <p:spPr bwMode="auto">
          <a:xfrm flipV="1">
            <a:off x="9632950" y="2538413"/>
            <a:ext cx="317500" cy="76835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49" name="AutoShape 78">
            <a:extLst>
              <a:ext uri="{FF2B5EF4-FFF2-40B4-BE49-F238E27FC236}">
                <a16:creationId xmlns:a16="http://schemas.microsoft.com/office/drawing/2014/main" id="{8703BE1D-844F-B128-F241-F95E69DB5A39}"/>
              </a:ext>
            </a:extLst>
          </p:cNvPr>
          <p:cNvCxnSpPr>
            <a:cxnSpLocks noChangeShapeType="1"/>
            <a:stCxn id="28729" idx="6"/>
            <a:endCxn id="28731" idx="2"/>
          </p:cNvCxnSpPr>
          <p:nvPr/>
        </p:nvCxnSpPr>
        <p:spPr bwMode="auto">
          <a:xfrm flipV="1">
            <a:off x="8007351" y="3500438"/>
            <a:ext cx="1431925" cy="11112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50" name="AutoShape 79">
            <a:extLst>
              <a:ext uri="{FF2B5EF4-FFF2-40B4-BE49-F238E27FC236}">
                <a16:creationId xmlns:a16="http://schemas.microsoft.com/office/drawing/2014/main" id="{78EF3A09-CCBA-995B-4E67-79F9531DCA3D}"/>
              </a:ext>
            </a:extLst>
          </p:cNvPr>
          <p:cNvCxnSpPr>
            <a:cxnSpLocks noChangeShapeType="1"/>
            <a:stCxn id="28729" idx="7"/>
            <a:endCxn id="28726" idx="3"/>
          </p:cNvCxnSpPr>
          <p:nvPr/>
        </p:nvCxnSpPr>
        <p:spPr bwMode="auto">
          <a:xfrm flipV="1">
            <a:off x="7945439" y="2957514"/>
            <a:ext cx="661987" cy="414337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51" name="AutoShape 80">
            <a:extLst>
              <a:ext uri="{FF2B5EF4-FFF2-40B4-BE49-F238E27FC236}">
                <a16:creationId xmlns:a16="http://schemas.microsoft.com/office/drawing/2014/main" id="{93B2645D-D7D7-1248-A879-D5D632E86582}"/>
              </a:ext>
            </a:extLst>
          </p:cNvPr>
          <p:cNvCxnSpPr>
            <a:cxnSpLocks noChangeShapeType="1"/>
            <a:stCxn id="28727" idx="6"/>
            <a:endCxn id="28726" idx="2"/>
          </p:cNvCxnSpPr>
          <p:nvPr/>
        </p:nvCxnSpPr>
        <p:spPr bwMode="auto">
          <a:xfrm>
            <a:off x="7089775" y="2592389"/>
            <a:ext cx="1454150" cy="2254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752" name="Oval 81">
            <a:extLst>
              <a:ext uri="{FF2B5EF4-FFF2-40B4-BE49-F238E27FC236}">
                <a16:creationId xmlns:a16="http://schemas.microsoft.com/office/drawing/2014/main" id="{DD3C7EF0-AA9B-38C7-5C2C-375C24618D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577263" y="5302251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28753" name="Oval 82">
            <a:extLst>
              <a:ext uri="{FF2B5EF4-FFF2-40B4-BE49-F238E27FC236}">
                <a16:creationId xmlns:a16="http://schemas.microsoft.com/office/drawing/2014/main" id="{88A7AFE8-EE05-61DF-EDBE-138F0E20523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27826" y="5076826"/>
            <a:ext cx="366713" cy="366713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8754" name="Oval 83">
            <a:extLst>
              <a:ext uri="{FF2B5EF4-FFF2-40B4-BE49-F238E27FC236}">
                <a16:creationId xmlns:a16="http://schemas.microsoft.com/office/drawing/2014/main" id="{C52B1C3E-0208-F579-DB15-31CC791E05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31138" y="4343401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28755" name="Oval 84">
            <a:extLst>
              <a:ext uri="{FF2B5EF4-FFF2-40B4-BE49-F238E27FC236}">
                <a16:creationId xmlns:a16="http://schemas.microsoft.com/office/drawing/2014/main" id="{B22E9291-5865-24D8-47C3-00F1B02B1D0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54926" y="5995988"/>
            <a:ext cx="366713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28756" name="Oval 85">
            <a:extLst>
              <a:ext uri="{FF2B5EF4-FFF2-40B4-BE49-F238E27FC236}">
                <a16:creationId xmlns:a16="http://schemas.microsoft.com/office/drawing/2014/main" id="{A814E87C-6F9F-3FF2-F551-9B927F03FA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920288" y="4873626"/>
            <a:ext cx="366712" cy="366713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8757" name="Oval 86">
            <a:extLst>
              <a:ext uri="{FF2B5EF4-FFF2-40B4-BE49-F238E27FC236}">
                <a16:creationId xmlns:a16="http://schemas.microsoft.com/office/drawing/2014/main" id="{0567B67B-1585-E549-539D-1051E48FA3F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472613" y="5984876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z</a:t>
            </a:r>
          </a:p>
        </p:txBody>
      </p:sp>
      <p:sp>
        <p:nvSpPr>
          <p:cNvPr id="28758" name="Text Box 87">
            <a:extLst>
              <a:ext uri="{FF2B5EF4-FFF2-40B4-BE49-F238E27FC236}">
                <a16:creationId xmlns:a16="http://schemas.microsoft.com/office/drawing/2014/main" id="{A718C030-A1BD-E099-29FA-FB41B72668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4450" y="5054601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28759" name="Text Box 88">
            <a:extLst>
              <a:ext uri="{FF2B5EF4-FFF2-40B4-BE49-F238E27FC236}">
                <a16:creationId xmlns:a16="http://schemas.microsoft.com/office/drawing/2014/main" id="{82813254-5EF9-7E75-9F4E-201AC64C09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12250" y="5487988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  <a:sym typeface="Symbol" panose="05050102010706020507" pitchFamily="18" charset="2"/>
              </a:rPr>
              <a:t>9</a:t>
            </a:r>
          </a:p>
        </p:txBody>
      </p:sp>
      <p:sp>
        <p:nvSpPr>
          <p:cNvPr id="28760" name="Text Box 89">
            <a:extLst>
              <a:ext uri="{FF2B5EF4-FFF2-40B4-BE49-F238E27FC236}">
                <a16:creationId xmlns:a16="http://schemas.microsoft.com/office/drawing/2014/main" id="{8A98C292-27E1-B0F3-C27D-D82099FF63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8825" y="4778376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8761" name="Text Box 90">
            <a:extLst>
              <a:ext uri="{FF2B5EF4-FFF2-40B4-BE49-F238E27FC236}">
                <a16:creationId xmlns:a16="http://schemas.microsoft.com/office/drawing/2014/main" id="{6757986D-59E8-F3AE-F95F-23A3534BF1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5075" y="4359276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8762" name="Text Box 91">
            <a:extLst>
              <a:ext uri="{FF2B5EF4-FFF2-40B4-BE49-F238E27FC236}">
                <a16:creationId xmlns:a16="http://schemas.microsoft.com/office/drawing/2014/main" id="{C7301917-5769-8AFA-EF3F-F980F96416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4300" y="4908551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4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28763" name="Text Box 92">
            <a:extLst>
              <a:ext uri="{FF2B5EF4-FFF2-40B4-BE49-F238E27FC236}">
                <a16:creationId xmlns:a16="http://schemas.microsoft.com/office/drawing/2014/main" id="{8CF10562-30F1-A92D-6D8A-D94641AB3F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2475" y="4572001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4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28764" name="Text Box 93">
            <a:extLst>
              <a:ext uri="{FF2B5EF4-FFF2-40B4-BE49-F238E27FC236}">
                <a16:creationId xmlns:a16="http://schemas.microsoft.com/office/drawing/2014/main" id="{162780DA-25E8-5F76-372C-D9B2D6B89F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98050" y="5487988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8765" name="Text Box 94">
            <a:extLst>
              <a:ext uri="{FF2B5EF4-FFF2-40B4-BE49-F238E27FC236}">
                <a16:creationId xmlns:a16="http://schemas.microsoft.com/office/drawing/2014/main" id="{A94B8434-C2F4-8802-7F45-485FCD249A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625" y="5592763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8766" name="Text Box 95">
            <a:extLst>
              <a:ext uri="{FF2B5EF4-FFF2-40B4-BE49-F238E27FC236}">
                <a16:creationId xmlns:a16="http://schemas.microsoft.com/office/drawing/2014/main" id="{2B6E2071-3F52-6F49-0BCC-AF70245947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0075" y="5672138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8767" name="Text Box 96">
            <a:extLst>
              <a:ext uri="{FF2B5EF4-FFF2-40B4-BE49-F238E27FC236}">
                <a16:creationId xmlns:a16="http://schemas.microsoft.com/office/drawing/2014/main" id="{031C9E22-05AE-4CE3-4E12-F9CD4922D0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9625" y="6129338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cxnSp>
        <p:nvCxnSpPr>
          <p:cNvPr id="28768" name="AutoShape 97">
            <a:extLst>
              <a:ext uri="{FF2B5EF4-FFF2-40B4-BE49-F238E27FC236}">
                <a16:creationId xmlns:a16="http://schemas.microsoft.com/office/drawing/2014/main" id="{C7D0978F-0470-2D88-C121-207D7AE7CF04}"/>
              </a:ext>
            </a:extLst>
          </p:cNvPr>
          <p:cNvCxnSpPr>
            <a:cxnSpLocks noChangeShapeType="1"/>
            <a:stCxn id="28753" idx="7"/>
            <a:endCxn id="28754" idx="3"/>
          </p:cNvCxnSpPr>
          <p:nvPr/>
        </p:nvCxnSpPr>
        <p:spPr bwMode="auto">
          <a:xfrm flipV="1">
            <a:off x="7040563" y="4665663"/>
            <a:ext cx="842962" cy="4445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69" name="AutoShape 98">
            <a:extLst>
              <a:ext uri="{FF2B5EF4-FFF2-40B4-BE49-F238E27FC236}">
                <a16:creationId xmlns:a16="http://schemas.microsoft.com/office/drawing/2014/main" id="{620E88E2-330E-D4B3-0FB6-DE98295BC61F}"/>
              </a:ext>
            </a:extLst>
          </p:cNvPr>
          <p:cNvCxnSpPr>
            <a:cxnSpLocks noChangeShapeType="1"/>
            <a:stCxn id="28753" idx="5"/>
            <a:endCxn id="28755" idx="1"/>
          </p:cNvCxnSpPr>
          <p:nvPr/>
        </p:nvCxnSpPr>
        <p:spPr bwMode="auto">
          <a:xfrm>
            <a:off x="7040563" y="5408614"/>
            <a:ext cx="666750" cy="630237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70" name="AutoShape 99">
            <a:extLst>
              <a:ext uri="{FF2B5EF4-FFF2-40B4-BE49-F238E27FC236}">
                <a16:creationId xmlns:a16="http://schemas.microsoft.com/office/drawing/2014/main" id="{CFD0D220-702B-4036-45DE-0F6C57A581D7}"/>
              </a:ext>
            </a:extLst>
          </p:cNvPr>
          <p:cNvCxnSpPr>
            <a:cxnSpLocks noChangeShapeType="1"/>
            <a:stCxn id="28754" idx="5"/>
            <a:endCxn id="28752" idx="1"/>
          </p:cNvCxnSpPr>
          <p:nvPr/>
        </p:nvCxnSpPr>
        <p:spPr bwMode="auto">
          <a:xfrm>
            <a:off x="8143876" y="4665663"/>
            <a:ext cx="485775" cy="6794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71" name="AutoShape 100">
            <a:extLst>
              <a:ext uri="{FF2B5EF4-FFF2-40B4-BE49-F238E27FC236}">
                <a16:creationId xmlns:a16="http://schemas.microsoft.com/office/drawing/2014/main" id="{A3F81A86-FBC7-AF46-5F69-A2F7E23328FF}"/>
              </a:ext>
            </a:extLst>
          </p:cNvPr>
          <p:cNvCxnSpPr>
            <a:cxnSpLocks noChangeShapeType="1"/>
            <a:stCxn id="28754" idx="6"/>
            <a:endCxn id="28756" idx="1"/>
          </p:cNvCxnSpPr>
          <p:nvPr/>
        </p:nvCxnSpPr>
        <p:spPr bwMode="auto">
          <a:xfrm>
            <a:off x="8205789" y="4525963"/>
            <a:ext cx="1766887" cy="3810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72" name="AutoShape 101">
            <a:extLst>
              <a:ext uri="{FF2B5EF4-FFF2-40B4-BE49-F238E27FC236}">
                <a16:creationId xmlns:a16="http://schemas.microsoft.com/office/drawing/2014/main" id="{929BC2A1-0D20-8EC2-FABA-C7C31B41D808}"/>
              </a:ext>
            </a:extLst>
          </p:cNvPr>
          <p:cNvCxnSpPr>
            <a:cxnSpLocks noChangeShapeType="1"/>
            <a:stCxn id="28752" idx="7"/>
            <a:endCxn id="28756" idx="2"/>
          </p:cNvCxnSpPr>
          <p:nvPr/>
        </p:nvCxnSpPr>
        <p:spPr bwMode="auto">
          <a:xfrm flipV="1">
            <a:off x="8890000" y="5056189"/>
            <a:ext cx="1009650" cy="288925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73" name="AutoShape 102">
            <a:extLst>
              <a:ext uri="{FF2B5EF4-FFF2-40B4-BE49-F238E27FC236}">
                <a16:creationId xmlns:a16="http://schemas.microsoft.com/office/drawing/2014/main" id="{B3B0B1CC-BD4E-2BB9-173B-BF964694367B}"/>
              </a:ext>
            </a:extLst>
          </p:cNvPr>
          <p:cNvCxnSpPr>
            <a:cxnSpLocks noChangeShapeType="1"/>
            <a:stCxn id="28752" idx="5"/>
            <a:endCxn id="28757" idx="1"/>
          </p:cNvCxnSpPr>
          <p:nvPr/>
        </p:nvCxnSpPr>
        <p:spPr bwMode="auto">
          <a:xfrm>
            <a:off x="8890000" y="5624514"/>
            <a:ext cx="635000" cy="4032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74" name="AutoShape 103">
            <a:extLst>
              <a:ext uri="{FF2B5EF4-FFF2-40B4-BE49-F238E27FC236}">
                <a16:creationId xmlns:a16="http://schemas.microsoft.com/office/drawing/2014/main" id="{ABCB975F-B624-3199-E41A-CD7B05A67F9A}"/>
              </a:ext>
            </a:extLst>
          </p:cNvPr>
          <p:cNvCxnSpPr>
            <a:cxnSpLocks noChangeShapeType="1"/>
            <a:stCxn id="28757" idx="0"/>
            <a:endCxn id="28756" idx="3"/>
          </p:cNvCxnSpPr>
          <p:nvPr/>
        </p:nvCxnSpPr>
        <p:spPr bwMode="auto">
          <a:xfrm flipV="1">
            <a:off x="9655175" y="5205413"/>
            <a:ext cx="317500" cy="768350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75" name="AutoShape 104">
            <a:extLst>
              <a:ext uri="{FF2B5EF4-FFF2-40B4-BE49-F238E27FC236}">
                <a16:creationId xmlns:a16="http://schemas.microsoft.com/office/drawing/2014/main" id="{934FD5E1-E363-C424-DDAF-A2AFC43EAA8A}"/>
              </a:ext>
            </a:extLst>
          </p:cNvPr>
          <p:cNvCxnSpPr>
            <a:cxnSpLocks noChangeShapeType="1"/>
            <a:stCxn id="28755" idx="6"/>
            <a:endCxn id="28757" idx="2"/>
          </p:cNvCxnSpPr>
          <p:nvPr/>
        </p:nvCxnSpPr>
        <p:spPr bwMode="auto">
          <a:xfrm flipV="1">
            <a:off x="8029576" y="6167438"/>
            <a:ext cx="1431925" cy="11112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76" name="AutoShape 105">
            <a:extLst>
              <a:ext uri="{FF2B5EF4-FFF2-40B4-BE49-F238E27FC236}">
                <a16:creationId xmlns:a16="http://schemas.microsoft.com/office/drawing/2014/main" id="{28571F55-5865-71F5-BA00-9F6C611D70E4}"/>
              </a:ext>
            </a:extLst>
          </p:cNvPr>
          <p:cNvCxnSpPr>
            <a:cxnSpLocks noChangeShapeType="1"/>
            <a:stCxn id="28755" idx="7"/>
            <a:endCxn id="28752" idx="3"/>
          </p:cNvCxnSpPr>
          <p:nvPr/>
        </p:nvCxnSpPr>
        <p:spPr bwMode="auto">
          <a:xfrm flipV="1">
            <a:off x="7967664" y="5624514"/>
            <a:ext cx="661987" cy="414337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77" name="AutoShape 106">
            <a:extLst>
              <a:ext uri="{FF2B5EF4-FFF2-40B4-BE49-F238E27FC236}">
                <a16:creationId xmlns:a16="http://schemas.microsoft.com/office/drawing/2014/main" id="{1B7FBFCD-56C1-1A85-D239-8FEC756ED024}"/>
              </a:ext>
            </a:extLst>
          </p:cNvPr>
          <p:cNvCxnSpPr>
            <a:cxnSpLocks noChangeShapeType="1"/>
            <a:stCxn id="28753" idx="6"/>
            <a:endCxn id="28752" idx="2"/>
          </p:cNvCxnSpPr>
          <p:nvPr/>
        </p:nvCxnSpPr>
        <p:spPr bwMode="auto">
          <a:xfrm>
            <a:off x="7112000" y="5259389"/>
            <a:ext cx="1454150" cy="2254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778" name="AutoShape 107">
            <a:extLst>
              <a:ext uri="{FF2B5EF4-FFF2-40B4-BE49-F238E27FC236}">
                <a16:creationId xmlns:a16="http://schemas.microsoft.com/office/drawing/2014/main" id="{B6AEDB92-63AF-1692-7525-8FDD427DFFC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234363" y="3871913"/>
            <a:ext cx="457200" cy="333375"/>
          </a:xfrm>
          <a:prstGeom prst="rightArrow">
            <a:avLst>
              <a:gd name="adj1" fmla="val 50000"/>
              <a:gd name="adj2" fmla="val 34286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lIns="0" rIns="0" bIns="1691640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two steps</a:t>
            </a:r>
          </a:p>
        </p:txBody>
      </p:sp>
      <p:sp>
        <p:nvSpPr>
          <p:cNvPr id="28779" name="AutoShape 108">
            <a:extLst>
              <a:ext uri="{FF2B5EF4-FFF2-40B4-BE49-F238E27FC236}">
                <a16:creationId xmlns:a16="http://schemas.microsoft.com/office/drawing/2014/main" id="{4361A835-CE39-01AE-7B1B-4D13C6F0EE13}"/>
              </a:ext>
            </a:extLst>
          </p:cNvPr>
          <p:cNvSpPr>
            <a:spLocks noChangeArrowheads="1"/>
          </p:cNvSpPr>
          <p:nvPr/>
        </p:nvSpPr>
        <p:spPr bwMode="auto">
          <a:xfrm rot="8100000" flipH="1" flipV="1">
            <a:off x="5691188" y="3848101"/>
            <a:ext cx="1243012" cy="333375"/>
          </a:xfrm>
          <a:prstGeom prst="rightArrow">
            <a:avLst>
              <a:gd name="adj1" fmla="val 50000"/>
              <a:gd name="adj2" fmla="val 93214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8780" name="AutoShape 109">
            <a:extLst>
              <a:ext uri="{FF2B5EF4-FFF2-40B4-BE49-F238E27FC236}">
                <a16:creationId xmlns:a16="http://schemas.microsoft.com/office/drawing/2014/main" id="{867819DD-1034-5AFE-351F-C9CB68B2680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814763" y="3871913"/>
            <a:ext cx="457200" cy="333375"/>
          </a:xfrm>
          <a:prstGeom prst="rightArrow">
            <a:avLst>
              <a:gd name="adj1" fmla="val 50000"/>
              <a:gd name="adj2" fmla="val 34286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48847400-158E-DA81-C1E6-3281391171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Analysis</a:t>
            </a:r>
          </a:p>
        </p:txBody>
      </p:sp>
      <p:sp>
        <p:nvSpPr>
          <p:cNvPr id="29698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04E3C318-45FE-93D2-858D-56FE017F0E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33600" y="1066800"/>
            <a:ext cx="4267200" cy="54102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2000"/>
              <a:t>In the worst case, Ford-Fulkerson’s algorithm performs </a:t>
            </a:r>
            <a:r>
              <a:rPr lang="en-US" altLang="en-US" sz="2000">
                <a:latin typeface="Times New Roman" panose="02020603050405020304" pitchFamily="18" charset="0"/>
              </a:rPr>
              <a:t>|</a:t>
            </a:r>
            <a:r>
              <a:rPr lang="en-US" altLang="en-US" sz="2000" b="1" i="1">
                <a:latin typeface="Times New Roman" panose="02020603050405020304" pitchFamily="18" charset="0"/>
              </a:rPr>
              <a:t>f*</a:t>
            </a:r>
            <a:r>
              <a:rPr lang="en-US" altLang="en-US" sz="2000">
                <a:latin typeface="Times New Roman" panose="02020603050405020304" pitchFamily="18" charset="0"/>
              </a:rPr>
              <a:t>| </a:t>
            </a:r>
            <a:r>
              <a:rPr lang="en-US" altLang="en-US" sz="2000"/>
              <a:t>flow augmentations, where </a:t>
            </a:r>
            <a:r>
              <a:rPr lang="en-US" altLang="en-US" sz="2000" b="1" i="1">
                <a:latin typeface="Times New Roman" panose="02020603050405020304" pitchFamily="18" charset="0"/>
              </a:rPr>
              <a:t>f*</a:t>
            </a:r>
            <a:r>
              <a:rPr lang="en-US" altLang="en-US" sz="2000"/>
              <a:t> is a maximum flow</a:t>
            </a:r>
          </a:p>
          <a:p>
            <a:pPr>
              <a:lnSpc>
                <a:spcPct val="90000"/>
              </a:lnSpc>
            </a:pPr>
            <a:endParaRPr lang="en-US" altLang="en-US" sz="800"/>
          </a:p>
          <a:p>
            <a:pPr>
              <a:lnSpc>
                <a:spcPct val="90000"/>
              </a:lnSpc>
            </a:pPr>
            <a:r>
              <a:rPr lang="en-US" altLang="en-US" sz="2000"/>
              <a:t>Example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The augmenting paths found alternate between </a:t>
            </a:r>
            <a:r>
              <a:rPr lang="en-US" altLang="en-US" sz="1800" b="1" i="1">
                <a:latin typeface="Symbol" panose="05050102010706020507" pitchFamily="18" charset="2"/>
              </a:rPr>
              <a:t>p</a:t>
            </a:r>
            <a:r>
              <a:rPr lang="en-US" altLang="en-US" sz="1800" baseline="-25000">
                <a:latin typeface="Times New Roman" panose="02020603050405020304" pitchFamily="18" charset="0"/>
              </a:rPr>
              <a:t>1</a:t>
            </a:r>
            <a:r>
              <a:rPr lang="en-US" altLang="en-US" sz="1800"/>
              <a:t> and </a:t>
            </a:r>
            <a:r>
              <a:rPr lang="en-US" altLang="en-US" sz="1800" b="1" i="1">
                <a:latin typeface="Symbol" panose="05050102010706020507" pitchFamily="18" charset="2"/>
              </a:rPr>
              <a:t>p</a:t>
            </a:r>
            <a:r>
              <a:rPr lang="en-US" altLang="en-US" sz="1800" baseline="-25000">
                <a:latin typeface="Times New Roman" panose="02020603050405020304" pitchFamily="18" charset="0"/>
              </a:rPr>
              <a:t>2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The algorithm performs 100 augmentations</a:t>
            </a:r>
          </a:p>
          <a:p>
            <a:pPr lvl="1">
              <a:lnSpc>
                <a:spcPct val="90000"/>
              </a:lnSpc>
            </a:pPr>
            <a:endParaRPr lang="en-US" altLang="en-US" sz="800"/>
          </a:p>
          <a:p>
            <a:pPr>
              <a:lnSpc>
                <a:spcPct val="90000"/>
              </a:lnSpc>
            </a:pPr>
            <a:r>
              <a:rPr lang="en-US" altLang="en-US" sz="2000"/>
              <a:t>Finding an augmenting path and augmenting the flow takes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n </a:t>
            </a:r>
            <a:r>
              <a:rPr lang="en-US" altLang="en-US" sz="2000">
                <a:latin typeface="Symbol" panose="05050102010706020507" pitchFamily="18" charset="2"/>
              </a:rPr>
              <a:t>+</a:t>
            </a:r>
            <a:r>
              <a:rPr lang="en-US" altLang="en-US" sz="2000" b="1" i="1">
                <a:latin typeface="Times New Roman" panose="02020603050405020304" pitchFamily="18" charset="0"/>
              </a:rPr>
              <a:t> m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r>
              <a:rPr lang="en-US" altLang="en-US" sz="2000"/>
              <a:t> time</a:t>
            </a:r>
          </a:p>
          <a:p>
            <a:pPr>
              <a:lnSpc>
                <a:spcPct val="90000"/>
              </a:lnSpc>
            </a:pPr>
            <a:endParaRPr lang="en-US" altLang="en-US" sz="800"/>
          </a:p>
          <a:p>
            <a:pPr>
              <a:lnSpc>
                <a:spcPct val="90000"/>
              </a:lnSpc>
            </a:pPr>
            <a:r>
              <a:rPr lang="en-US" altLang="en-US" sz="2000"/>
              <a:t>The running time of Ford-Fulkerson’s algorithm is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(|</a:t>
            </a:r>
            <a:r>
              <a:rPr lang="en-US" altLang="en-US" sz="2000" b="1" i="1">
                <a:latin typeface="Times New Roman" panose="02020603050405020304" pitchFamily="18" charset="0"/>
              </a:rPr>
              <a:t>f*</a:t>
            </a:r>
            <a:r>
              <a:rPr lang="en-US" altLang="en-US" sz="2000">
                <a:latin typeface="Times New Roman" panose="02020603050405020304" pitchFamily="18" charset="0"/>
              </a:rPr>
              <a:t>|(</a:t>
            </a:r>
            <a:r>
              <a:rPr lang="en-US" altLang="en-US" sz="2000" b="1" i="1">
                <a:latin typeface="Times New Roman" panose="02020603050405020304" pitchFamily="18" charset="0"/>
              </a:rPr>
              <a:t>n </a:t>
            </a:r>
            <a:r>
              <a:rPr lang="en-US" altLang="en-US" sz="2000">
                <a:latin typeface="Symbol" panose="05050102010706020507" pitchFamily="18" charset="2"/>
              </a:rPr>
              <a:t>+</a:t>
            </a:r>
            <a:r>
              <a:rPr lang="en-US" altLang="en-US" sz="2000" b="1" i="1">
                <a:latin typeface="Times New Roman" panose="02020603050405020304" pitchFamily="18" charset="0"/>
              </a:rPr>
              <a:t> m</a:t>
            </a:r>
            <a:r>
              <a:rPr lang="en-US" altLang="en-US" sz="2000">
                <a:latin typeface="Times New Roman" panose="02020603050405020304" pitchFamily="18" charset="0"/>
              </a:rPr>
              <a:t>)). </a:t>
            </a:r>
            <a:r>
              <a:rPr lang="en-US" altLang="en-US" sz="2000"/>
              <a:t>Could be improved to O(nm</a:t>
            </a:r>
            <a:r>
              <a:rPr lang="en-US" altLang="en-US" sz="2000" baseline="30000"/>
              <a:t>2</a:t>
            </a:r>
            <a:r>
              <a:rPr lang="en-US" altLang="en-US" sz="2000"/>
              <a:t>) by Edmonds-Karp’s algorithm (not covered here).</a:t>
            </a:r>
          </a:p>
        </p:txBody>
      </p:sp>
      <p:sp>
        <p:nvSpPr>
          <p:cNvPr id="29699" name="Oval 4">
            <a:extLst>
              <a:ext uri="{FF2B5EF4-FFF2-40B4-BE49-F238E27FC236}">
                <a16:creationId xmlns:a16="http://schemas.microsoft.com/office/drawing/2014/main" id="{FCC625BC-D991-0409-AC38-23E9B20F6E4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767888" y="2195513"/>
            <a:ext cx="366712" cy="366712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9700" name="Oval 5">
            <a:extLst>
              <a:ext uri="{FF2B5EF4-FFF2-40B4-BE49-F238E27FC236}">
                <a16:creationId xmlns:a16="http://schemas.microsoft.com/office/drawing/2014/main" id="{9292AC40-C813-E4F4-9DC8-53528F8364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81801" y="2090738"/>
            <a:ext cx="366713" cy="366712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9701" name="Oval 6">
            <a:extLst>
              <a:ext uri="{FF2B5EF4-FFF2-40B4-BE49-F238E27FC236}">
                <a16:creationId xmlns:a16="http://schemas.microsoft.com/office/drawing/2014/main" id="{6654BD91-2165-EBA4-9170-E0AACE8E65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421688" y="1371601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29702" name="Oval 7">
            <a:extLst>
              <a:ext uri="{FF2B5EF4-FFF2-40B4-BE49-F238E27FC236}">
                <a16:creationId xmlns:a16="http://schemas.microsoft.com/office/drawing/2014/main" id="{86882A17-00D8-30BC-17BF-4878F29A58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267701" y="3009901"/>
            <a:ext cx="366713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29703" name="Text Box 8">
            <a:extLst>
              <a:ext uri="{FF2B5EF4-FFF2-40B4-BE49-F238E27FC236}">
                <a16:creationId xmlns:a16="http://schemas.microsoft.com/office/drawing/2014/main" id="{8565E9D8-69D6-64B0-72A2-2C4F8DB524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9100" y="2159001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29704" name="Text Box 9">
            <a:extLst>
              <a:ext uri="{FF2B5EF4-FFF2-40B4-BE49-F238E27FC236}">
                <a16:creationId xmlns:a16="http://schemas.microsoft.com/office/drawing/2014/main" id="{E13FE7CD-86A7-A4A5-B89F-25C4C74CAB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72575" y="1547813"/>
            <a:ext cx="590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50</a:t>
            </a:r>
          </a:p>
        </p:txBody>
      </p:sp>
      <p:sp>
        <p:nvSpPr>
          <p:cNvPr id="29705" name="Text Box 10">
            <a:extLst>
              <a:ext uri="{FF2B5EF4-FFF2-40B4-BE49-F238E27FC236}">
                <a16:creationId xmlns:a16="http://schemas.microsoft.com/office/drawing/2014/main" id="{0AB23122-0CCC-8F56-E476-A05FD63D9D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1538288"/>
            <a:ext cx="590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50</a:t>
            </a:r>
          </a:p>
        </p:txBody>
      </p:sp>
      <p:sp>
        <p:nvSpPr>
          <p:cNvPr id="29706" name="Text Box 12">
            <a:extLst>
              <a:ext uri="{FF2B5EF4-FFF2-40B4-BE49-F238E27FC236}">
                <a16:creationId xmlns:a16="http://schemas.microsoft.com/office/drawing/2014/main" id="{D03B613D-481C-12C7-478B-65D85B161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2833688"/>
            <a:ext cx="590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50</a:t>
            </a:r>
          </a:p>
        </p:txBody>
      </p:sp>
      <p:sp>
        <p:nvSpPr>
          <p:cNvPr id="29707" name="Text Box 13">
            <a:extLst>
              <a:ext uri="{FF2B5EF4-FFF2-40B4-BE49-F238E27FC236}">
                <a16:creationId xmlns:a16="http://schemas.microsoft.com/office/drawing/2014/main" id="{6BE84275-A57A-496B-7FC8-C1424DDA2A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67800" y="2909888"/>
            <a:ext cx="590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50</a:t>
            </a:r>
          </a:p>
        </p:txBody>
      </p:sp>
      <p:cxnSp>
        <p:nvCxnSpPr>
          <p:cNvPr id="29708" name="AutoShape 14">
            <a:extLst>
              <a:ext uri="{FF2B5EF4-FFF2-40B4-BE49-F238E27FC236}">
                <a16:creationId xmlns:a16="http://schemas.microsoft.com/office/drawing/2014/main" id="{6D292A91-6C61-ECC9-EA50-A30DB5B0D314}"/>
              </a:ext>
            </a:extLst>
          </p:cNvPr>
          <p:cNvCxnSpPr>
            <a:cxnSpLocks noChangeShapeType="1"/>
            <a:stCxn id="29700" idx="7"/>
            <a:endCxn id="29701" idx="2"/>
          </p:cNvCxnSpPr>
          <p:nvPr/>
        </p:nvCxnSpPr>
        <p:spPr bwMode="auto">
          <a:xfrm flipV="1">
            <a:off x="7094539" y="1554163"/>
            <a:ext cx="1316037" cy="5699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09" name="AutoShape 15">
            <a:extLst>
              <a:ext uri="{FF2B5EF4-FFF2-40B4-BE49-F238E27FC236}">
                <a16:creationId xmlns:a16="http://schemas.microsoft.com/office/drawing/2014/main" id="{B70EEA29-EB2C-FBF2-09E6-A84694E81346}"/>
              </a:ext>
            </a:extLst>
          </p:cNvPr>
          <p:cNvCxnSpPr>
            <a:cxnSpLocks noChangeShapeType="1"/>
            <a:stCxn id="29700" idx="5"/>
            <a:endCxn id="29702" idx="2"/>
          </p:cNvCxnSpPr>
          <p:nvPr/>
        </p:nvCxnSpPr>
        <p:spPr bwMode="auto">
          <a:xfrm>
            <a:off x="7094538" y="2422525"/>
            <a:ext cx="1162050" cy="769938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10" name="AutoShape 16">
            <a:extLst>
              <a:ext uri="{FF2B5EF4-FFF2-40B4-BE49-F238E27FC236}">
                <a16:creationId xmlns:a16="http://schemas.microsoft.com/office/drawing/2014/main" id="{38351069-8ECF-3CD5-8093-664832983D16}"/>
              </a:ext>
            </a:extLst>
          </p:cNvPr>
          <p:cNvCxnSpPr>
            <a:cxnSpLocks noChangeShapeType="1"/>
            <a:stCxn id="29701" idx="6"/>
            <a:endCxn id="29699" idx="1"/>
          </p:cNvCxnSpPr>
          <p:nvPr/>
        </p:nvCxnSpPr>
        <p:spPr bwMode="auto">
          <a:xfrm>
            <a:off x="8796339" y="1554164"/>
            <a:ext cx="1023937" cy="674687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11" name="AutoShape 17">
            <a:extLst>
              <a:ext uri="{FF2B5EF4-FFF2-40B4-BE49-F238E27FC236}">
                <a16:creationId xmlns:a16="http://schemas.microsoft.com/office/drawing/2014/main" id="{6B2D228C-10E0-6CFF-0D48-FF0D48FC2A93}"/>
              </a:ext>
            </a:extLst>
          </p:cNvPr>
          <p:cNvCxnSpPr>
            <a:cxnSpLocks noChangeShapeType="1"/>
            <a:stCxn id="29702" idx="6"/>
            <a:endCxn id="29699" idx="3"/>
          </p:cNvCxnSpPr>
          <p:nvPr/>
        </p:nvCxnSpPr>
        <p:spPr bwMode="auto">
          <a:xfrm flipV="1">
            <a:off x="8642351" y="2527301"/>
            <a:ext cx="1177925" cy="665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12" name="AutoShape 18">
            <a:extLst>
              <a:ext uri="{FF2B5EF4-FFF2-40B4-BE49-F238E27FC236}">
                <a16:creationId xmlns:a16="http://schemas.microsoft.com/office/drawing/2014/main" id="{444B15E2-4D9B-260A-26AC-DD5690FAC513}"/>
              </a:ext>
            </a:extLst>
          </p:cNvPr>
          <p:cNvCxnSpPr>
            <a:cxnSpLocks noChangeShapeType="1"/>
            <a:stCxn id="29702" idx="0"/>
            <a:endCxn id="29701" idx="4"/>
          </p:cNvCxnSpPr>
          <p:nvPr/>
        </p:nvCxnSpPr>
        <p:spPr bwMode="auto">
          <a:xfrm flipV="1">
            <a:off x="8450264" y="1746250"/>
            <a:ext cx="153987" cy="1252538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13" name="Oval 19">
            <a:extLst>
              <a:ext uri="{FF2B5EF4-FFF2-40B4-BE49-F238E27FC236}">
                <a16:creationId xmlns:a16="http://schemas.microsoft.com/office/drawing/2014/main" id="{0EBE8203-6652-2461-01C7-E0503622E8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767888" y="5143501"/>
            <a:ext cx="366712" cy="366713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9714" name="Oval 20">
            <a:extLst>
              <a:ext uri="{FF2B5EF4-FFF2-40B4-BE49-F238E27FC236}">
                <a16:creationId xmlns:a16="http://schemas.microsoft.com/office/drawing/2014/main" id="{7EFC0552-D988-2991-EB12-79366A7DC7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81801" y="5038726"/>
            <a:ext cx="366713" cy="366713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9715" name="Oval 21">
            <a:extLst>
              <a:ext uri="{FF2B5EF4-FFF2-40B4-BE49-F238E27FC236}">
                <a16:creationId xmlns:a16="http://schemas.microsoft.com/office/drawing/2014/main" id="{915F977F-B6BB-A1A0-3C8D-0CFC35161F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421688" y="4319588"/>
            <a:ext cx="366712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29716" name="Oval 22">
            <a:extLst>
              <a:ext uri="{FF2B5EF4-FFF2-40B4-BE49-F238E27FC236}">
                <a16:creationId xmlns:a16="http://schemas.microsoft.com/office/drawing/2014/main" id="{DE0ECB7B-305D-A489-4B6D-414F9ACCFB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267701" y="5957888"/>
            <a:ext cx="366713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29717" name="Text Box 23">
            <a:extLst>
              <a:ext uri="{FF2B5EF4-FFF2-40B4-BE49-F238E27FC236}">
                <a16:creationId xmlns:a16="http://schemas.microsoft.com/office/drawing/2014/main" id="{ED1F6BC7-EED6-1F4C-CE55-A7429D0E5D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9100" y="5106988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29718" name="Text Box 24">
            <a:extLst>
              <a:ext uri="{FF2B5EF4-FFF2-40B4-BE49-F238E27FC236}">
                <a16:creationId xmlns:a16="http://schemas.microsoft.com/office/drawing/2014/main" id="{2417399E-1913-5436-8200-6EF2F96E73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72575" y="4495801"/>
            <a:ext cx="590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50</a:t>
            </a:r>
          </a:p>
        </p:txBody>
      </p:sp>
      <p:sp>
        <p:nvSpPr>
          <p:cNvPr id="29719" name="Text Box 25">
            <a:extLst>
              <a:ext uri="{FF2B5EF4-FFF2-40B4-BE49-F238E27FC236}">
                <a16:creationId xmlns:a16="http://schemas.microsoft.com/office/drawing/2014/main" id="{296D140E-BEA9-59D1-8E8D-E7C3D8BD78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4486276"/>
            <a:ext cx="590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50</a:t>
            </a:r>
          </a:p>
        </p:txBody>
      </p:sp>
      <p:sp>
        <p:nvSpPr>
          <p:cNvPr id="29720" name="Text Box 26">
            <a:extLst>
              <a:ext uri="{FF2B5EF4-FFF2-40B4-BE49-F238E27FC236}">
                <a16:creationId xmlns:a16="http://schemas.microsoft.com/office/drawing/2014/main" id="{FA7B8C40-869B-55DE-477D-A0AFAC50FD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5781676"/>
            <a:ext cx="590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50</a:t>
            </a:r>
          </a:p>
        </p:txBody>
      </p:sp>
      <p:sp>
        <p:nvSpPr>
          <p:cNvPr id="29721" name="Text Box 27">
            <a:extLst>
              <a:ext uri="{FF2B5EF4-FFF2-40B4-BE49-F238E27FC236}">
                <a16:creationId xmlns:a16="http://schemas.microsoft.com/office/drawing/2014/main" id="{8E476C98-8067-538F-A3B7-AB71ADFEEE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67800" y="5857876"/>
            <a:ext cx="590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50</a:t>
            </a:r>
          </a:p>
        </p:txBody>
      </p:sp>
      <p:cxnSp>
        <p:nvCxnSpPr>
          <p:cNvPr id="29722" name="AutoShape 28">
            <a:extLst>
              <a:ext uri="{FF2B5EF4-FFF2-40B4-BE49-F238E27FC236}">
                <a16:creationId xmlns:a16="http://schemas.microsoft.com/office/drawing/2014/main" id="{7810C19B-D5D6-7F48-380B-61E3C44E002E}"/>
              </a:ext>
            </a:extLst>
          </p:cNvPr>
          <p:cNvCxnSpPr>
            <a:cxnSpLocks noChangeShapeType="1"/>
            <a:stCxn id="29714" idx="7"/>
            <a:endCxn id="29715" idx="2"/>
          </p:cNvCxnSpPr>
          <p:nvPr/>
        </p:nvCxnSpPr>
        <p:spPr bwMode="auto">
          <a:xfrm flipV="1">
            <a:off x="7094539" y="4502151"/>
            <a:ext cx="1316037" cy="569913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23" name="AutoShape 29">
            <a:extLst>
              <a:ext uri="{FF2B5EF4-FFF2-40B4-BE49-F238E27FC236}">
                <a16:creationId xmlns:a16="http://schemas.microsoft.com/office/drawing/2014/main" id="{57FE2BF7-A817-9ECD-AE96-7E0FC1851D69}"/>
              </a:ext>
            </a:extLst>
          </p:cNvPr>
          <p:cNvCxnSpPr>
            <a:cxnSpLocks noChangeShapeType="1"/>
            <a:stCxn id="29714" idx="5"/>
            <a:endCxn id="29716" idx="2"/>
          </p:cNvCxnSpPr>
          <p:nvPr/>
        </p:nvCxnSpPr>
        <p:spPr bwMode="auto">
          <a:xfrm>
            <a:off x="7094538" y="5370514"/>
            <a:ext cx="1162050" cy="7699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24" name="AutoShape 30">
            <a:extLst>
              <a:ext uri="{FF2B5EF4-FFF2-40B4-BE49-F238E27FC236}">
                <a16:creationId xmlns:a16="http://schemas.microsoft.com/office/drawing/2014/main" id="{991CCA41-05E1-8494-CFF8-C69C983C56A9}"/>
              </a:ext>
            </a:extLst>
          </p:cNvPr>
          <p:cNvCxnSpPr>
            <a:cxnSpLocks noChangeShapeType="1"/>
            <a:stCxn id="29715" idx="6"/>
            <a:endCxn id="29713" idx="1"/>
          </p:cNvCxnSpPr>
          <p:nvPr/>
        </p:nvCxnSpPr>
        <p:spPr bwMode="auto">
          <a:xfrm>
            <a:off x="8796339" y="4502150"/>
            <a:ext cx="1023937" cy="6746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25" name="AutoShape 31">
            <a:extLst>
              <a:ext uri="{FF2B5EF4-FFF2-40B4-BE49-F238E27FC236}">
                <a16:creationId xmlns:a16="http://schemas.microsoft.com/office/drawing/2014/main" id="{213A8E95-59DA-F0E4-BC21-E76D9E58C284}"/>
              </a:ext>
            </a:extLst>
          </p:cNvPr>
          <p:cNvCxnSpPr>
            <a:cxnSpLocks noChangeShapeType="1"/>
            <a:stCxn id="29716" idx="6"/>
            <a:endCxn id="29713" idx="3"/>
          </p:cNvCxnSpPr>
          <p:nvPr/>
        </p:nvCxnSpPr>
        <p:spPr bwMode="auto">
          <a:xfrm flipV="1">
            <a:off x="8642351" y="5475288"/>
            <a:ext cx="1177925" cy="665162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26" name="AutoShape 32">
            <a:extLst>
              <a:ext uri="{FF2B5EF4-FFF2-40B4-BE49-F238E27FC236}">
                <a16:creationId xmlns:a16="http://schemas.microsoft.com/office/drawing/2014/main" id="{E66F1279-2CAB-9F0F-5414-DAD166686515}"/>
              </a:ext>
            </a:extLst>
          </p:cNvPr>
          <p:cNvCxnSpPr>
            <a:cxnSpLocks noChangeShapeType="1"/>
            <a:stCxn id="29716" idx="0"/>
            <a:endCxn id="29715" idx="4"/>
          </p:cNvCxnSpPr>
          <p:nvPr/>
        </p:nvCxnSpPr>
        <p:spPr bwMode="auto">
          <a:xfrm flipV="1">
            <a:off x="8450264" y="4694239"/>
            <a:ext cx="153987" cy="1252537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27" name="Text Box 33">
            <a:extLst>
              <a:ext uri="{FF2B5EF4-FFF2-40B4-BE49-F238E27FC236}">
                <a16:creationId xmlns:a16="http://schemas.microsoft.com/office/drawing/2014/main" id="{E9F316EC-9617-C345-F8B7-A86C333709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0438" y="2259014"/>
            <a:ext cx="431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solidFill>
                  <a:schemeClr val="tx2"/>
                </a:solidFill>
                <a:latin typeface="Symbol" panose="05050102010706020507" pitchFamily="18" charset="2"/>
              </a:rPr>
              <a:t>p</a:t>
            </a:r>
            <a:r>
              <a:rPr lang="en-US" altLang="en-US" sz="2000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9728" name="Text Box 34">
            <a:extLst>
              <a:ext uri="{FF2B5EF4-FFF2-40B4-BE49-F238E27FC236}">
                <a16:creationId xmlns:a16="http://schemas.microsoft.com/office/drawing/2014/main" id="{7F92C917-F86B-E265-3D62-B22DAE4181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8375" y="5257801"/>
            <a:ext cx="431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solidFill>
                  <a:schemeClr val="tx2"/>
                </a:solidFill>
                <a:latin typeface="Symbol" panose="05050102010706020507" pitchFamily="18" charset="2"/>
              </a:rPr>
              <a:t>p</a:t>
            </a:r>
            <a:r>
              <a:rPr lang="en-US" altLang="en-US" sz="2000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9729" name="AutoShape 35">
            <a:extLst>
              <a:ext uri="{FF2B5EF4-FFF2-40B4-BE49-F238E27FC236}">
                <a16:creationId xmlns:a16="http://schemas.microsoft.com/office/drawing/2014/main" id="{E182E8AC-BBFD-76D1-F94B-0075D19D3D3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320088" y="3719513"/>
            <a:ext cx="457200" cy="333375"/>
          </a:xfrm>
          <a:prstGeom prst="rightArrow">
            <a:avLst>
              <a:gd name="adj1" fmla="val 50000"/>
              <a:gd name="adj2" fmla="val 34286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4DC4C7FB91B140B0A9EC1FA2FA4CC7" ma:contentTypeVersion="17" ma:contentTypeDescription="Create a new document." ma:contentTypeScope="" ma:versionID="a359d01a76d678a52599419a478fb88a">
  <xsd:schema xmlns:xsd="http://www.w3.org/2001/XMLSchema" xmlns:xs="http://www.w3.org/2001/XMLSchema" xmlns:p="http://schemas.microsoft.com/office/2006/metadata/properties" xmlns:ns3="267f01e4-7839-49fb-8a97-b068259145b5" xmlns:ns4="17d19868-ef34-488c-8b16-a06283663f10" targetNamespace="http://schemas.microsoft.com/office/2006/metadata/properties" ma:root="true" ma:fieldsID="a8afe97c77a35aee103cc5c858b906c6" ns3:_="" ns4:_="">
    <xsd:import namespace="267f01e4-7839-49fb-8a97-b068259145b5"/>
    <xsd:import namespace="17d19868-ef34-488c-8b16-a06283663f1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7f01e4-7839-49fb-8a97-b068259145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d19868-ef34-488c-8b16-a06283663f1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67f01e4-7839-49fb-8a97-b068259145b5" xsi:nil="true"/>
  </documentManagement>
</p:properties>
</file>

<file path=customXml/itemProps1.xml><?xml version="1.0" encoding="utf-8"?>
<ds:datastoreItem xmlns:ds="http://schemas.openxmlformats.org/officeDocument/2006/customXml" ds:itemID="{ED20FFA7-8161-45F5-94E9-8B0F93BB268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67f01e4-7839-49fb-8a97-b068259145b5"/>
    <ds:schemaRef ds:uri="17d19868-ef34-488c-8b16-a06283663f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FA36228-81BB-4CC5-B22F-ECB538A726A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5B2206C-98D4-4FFC-8873-2C4ADE9A4747}">
  <ds:schemaRefs>
    <ds:schemaRef ds:uri="http://purl.org/dc/elements/1.1/"/>
    <ds:schemaRef ds:uri="http://schemas.microsoft.com/office/2006/metadata/properties"/>
    <ds:schemaRef ds:uri="267f01e4-7839-49fb-8a97-b068259145b5"/>
    <ds:schemaRef ds:uri="http://schemas.microsoft.com/office/infopath/2007/PartnerControls"/>
    <ds:schemaRef ds:uri="http://www.w3.org/XML/1998/namespace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17d19868-ef34-488c-8b16-a06283663f10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</TotalTime>
  <Words>1664</Words>
  <Application>Microsoft Office PowerPoint</Application>
  <PresentationFormat>Widescreen</PresentationFormat>
  <Paragraphs>491</Paragraphs>
  <Slides>13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宋体</vt:lpstr>
      <vt:lpstr>Aptos</vt:lpstr>
      <vt:lpstr>Arial</vt:lpstr>
      <vt:lpstr>Symbol</vt:lpstr>
      <vt:lpstr>Times New Roman</vt:lpstr>
      <vt:lpstr>Trebuchet MS</vt:lpstr>
      <vt:lpstr>Wingdings</vt:lpstr>
      <vt:lpstr>Wingdings 3</vt:lpstr>
      <vt:lpstr>Facet</vt:lpstr>
      <vt:lpstr>Microsoft Equation 3.0</vt:lpstr>
      <vt:lpstr>CS535: Algorithm Design and Analysis   Flow Network</vt:lpstr>
      <vt:lpstr>Flow Network</vt:lpstr>
      <vt:lpstr>Flow</vt:lpstr>
      <vt:lpstr>Maximum Flow</vt:lpstr>
      <vt:lpstr>Cut</vt:lpstr>
      <vt:lpstr>Some Properties on Flow and Cut</vt:lpstr>
      <vt:lpstr>Augmenting Path</vt:lpstr>
      <vt:lpstr>Flow Augmentation</vt:lpstr>
      <vt:lpstr>Ford-Fulkerson’s Algorithm</vt:lpstr>
      <vt:lpstr>Max-Flow and Min-Cut</vt:lpstr>
      <vt:lpstr>Example</vt:lpstr>
      <vt:lpstr>Example (Cont’d)</vt:lpstr>
      <vt:lpstr>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Rohit (singh2ro)</dc:creator>
  <cp:lastModifiedBy>Singh, Rohit (singh2ro)</cp:lastModifiedBy>
  <cp:revision>1</cp:revision>
  <dcterms:created xsi:type="dcterms:W3CDTF">2024-11-25T06:11:28Z</dcterms:created>
  <dcterms:modified xsi:type="dcterms:W3CDTF">2024-11-25T06:13:41Z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0x010100E54DC4C7FB91B140B0A9EC1FA2FA4CC7</vt:lpwstr>
  </property>
</Properties>
</file>