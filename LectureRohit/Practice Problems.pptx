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2756-A06C-1F66-27A4-0E7EC7126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DE2EB-F6E2-0F66-358B-4B4691AA3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395B1-40EE-5351-D932-2DC160371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DB797-E2CB-ABBC-A32E-DD79870C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76801-774D-7440-34C4-B59205B82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0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DCCB5-1FCB-3EF1-C043-7D867597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1FCC7-F7ED-12A1-185E-B968557C2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B54C-E31F-A959-EF46-562EF9E4F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E1DAE-E4BB-B8AE-D217-C4D3BC36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D2954-9A7A-9260-A30B-5CD76297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8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05BF-B6F1-E950-A39B-1A8BE1D5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A9E1F-9DD4-E773-C809-022D22C85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8D123-06E9-57B4-5F5D-231B7497C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3DD0C-023A-CAB0-583D-799F3EC7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0B8F8-92DB-9818-1DCB-2CD4D9A9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6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9B39-DAC1-E61B-164C-DDE632AD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45A35-1D69-0670-DBDC-12D8451BA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6242B-2595-3735-1BAB-30C023ADD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77B20-7BDF-0DBA-A6A7-795B63B9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F2FA1-2449-8C08-F9ED-F74A2057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0C9CD-67EE-3AAB-FFCC-DC176210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6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FDB9-0122-144A-DE81-254F67175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F0ACE-1294-161C-82F1-E805DA525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84683-D08E-BC72-50A0-3A4A0BBBC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C72F0-8B27-5135-526C-8454BFF4F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98D5F4-FE85-6A81-93DE-33D716CFD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475EB8-1AAB-1DD8-B385-037C6215D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CCCABB-69F6-1F87-A796-6FF7F46A0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71959A-FE48-FAB7-D093-9571D5434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9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8FD6-9707-C305-B6C9-6F34CF39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1855F-A1D6-5F55-5EB3-61ADEB27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AB4F6-56C6-2C3A-316A-32C031A0D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F00AF-B394-BF0E-1E13-47B3B6C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6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A1A97D-1DAF-A41B-8EE0-3BABC92D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074B0-6F62-19CB-800B-8279D9BB2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E2FDC-B899-33F2-9723-0EF569FF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4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6024-C7FC-2287-8B81-DBE4E924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8B7B5-8706-55DD-4C71-9C1E45379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826F0-7D8E-1FB3-1E53-5D77F5001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11E1E-202F-F823-0DE9-28939238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0F95C-B102-8365-28EF-43FB5B5DE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4F460-5FCC-8062-D872-EC55E2EE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3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0034-E390-BECB-F931-E74FB2C22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FE24BC-B917-31E9-5A4F-42552BE18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6EAA4-62CB-036C-D7A6-236EE092C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28353-CC71-33F5-E3E8-7F02A2321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E0457-B26F-55DA-B5AC-745FD7E0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78B72-9DBD-5ABE-0F85-1C3D04F3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3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FD93-97A0-E219-D691-8B787317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B4CEC-D061-3B20-F4C5-33CF4558D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06ED7-973B-B66E-8792-F97EDB2E9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4CA4E-9BA9-CF61-F3B3-2ED4BA234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4BEC1-A8A9-D9CB-8C8C-0DF60FCE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2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E3C6D-3350-0C17-1C87-C6156A472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67EAE-32AF-0FD5-F2BD-EB22A0DB7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850A1-1EA8-FC27-EA0F-9D2FFA415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660DF-DE34-A137-7504-5BA12A85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29200-B038-08CF-4161-A3F92F04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38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C0913-2F1C-3203-9342-79AC2969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A2225-3DFC-CD5A-5E3E-EC6462C7D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0F136-5A78-9B20-94F0-1FC8B742E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F3B4C-0DE4-494E-91D4-98304C651A8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4D333-4BCD-4922-4625-8746F0BA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2D585-93CC-E7CA-C004-F9181EC8B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6032A-C2A6-4E2C-939F-EE255838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39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6F4F-2EA6-AA37-88EE-71B131047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3" y="662565"/>
            <a:ext cx="9144000" cy="1195964"/>
          </a:xfrm>
        </p:spPr>
        <p:txBody>
          <a:bodyPr/>
          <a:lstStyle/>
          <a:p>
            <a:r>
              <a:rPr lang="en-US" dirty="0"/>
              <a:t>In-Class-Practice Problems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09ED4-024A-3DC5-6637-3E88B5E90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13930"/>
          </a:xfrm>
        </p:spPr>
        <p:txBody>
          <a:bodyPr/>
          <a:lstStyle/>
          <a:p>
            <a:r>
              <a:rPr lang="en-US" dirty="0"/>
              <a:t>Operations other than direct Insertion, Deletion and Traversal</a:t>
            </a:r>
          </a:p>
        </p:txBody>
      </p:sp>
    </p:spTree>
    <p:extLst>
      <p:ext uri="{BB962C8B-B14F-4D97-AF65-F5344CB8AC3E}">
        <p14:creationId xmlns:p14="http://schemas.microsoft.com/office/powerpoint/2010/main" val="293936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DBE80-C37D-3F55-B79A-5C04C12A7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661" y="87388"/>
            <a:ext cx="11737428" cy="983812"/>
          </a:xfrm>
        </p:spPr>
        <p:txBody>
          <a:bodyPr/>
          <a:lstStyle/>
          <a:p>
            <a:r>
              <a:rPr lang="en-US" dirty="0"/>
              <a:t>Write a program to evaluate a given expression tree.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E584916-A1D6-4848-D4BB-E4AD5B060B36}"/>
              </a:ext>
            </a:extLst>
          </p:cNvPr>
          <p:cNvSpPr txBox="1"/>
          <p:nvPr/>
        </p:nvSpPr>
        <p:spPr>
          <a:xfrm>
            <a:off x="460093" y="1666000"/>
            <a:ext cx="8560069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808080"/>
                </a:highlight>
              </a:rPr>
              <a:t>Recursive Solution : </a:t>
            </a:r>
          </a:p>
          <a:p>
            <a:endParaRPr lang="en-US" b="1" dirty="0"/>
          </a:p>
          <a:p>
            <a:r>
              <a:rPr lang="en-US" b="1" dirty="0"/>
              <a:t>Evaluate expression(tree root):</a:t>
            </a:r>
          </a:p>
          <a:p>
            <a:pPr lvl="1"/>
            <a:r>
              <a:rPr lang="en-US" b="1" dirty="0"/>
              <a:t>If(root is null)L</a:t>
            </a:r>
          </a:p>
          <a:p>
            <a:pPr lvl="2"/>
            <a:r>
              <a:rPr lang="en-US" b="1" dirty="0"/>
              <a:t>return 0</a:t>
            </a:r>
          </a:p>
          <a:p>
            <a:pPr lvl="1"/>
            <a:r>
              <a:rPr lang="en-US" b="1" dirty="0"/>
              <a:t>If(</a:t>
            </a:r>
            <a:r>
              <a:rPr lang="en-US" b="1" dirty="0" err="1"/>
              <a:t>root.value</a:t>
            </a:r>
            <a:r>
              <a:rPr lang="en-US" b="1" dirty="0"/>
              <a:t> is a numeric)</a:t>
            </a:r>
          </a:p>
          <a:p>
            <a:pPr lvl="2"/>
            <a:r>
              <a:rPr lang="en-US" b="1" dirty="0"/>
              <a:t>return </a:t>
            </a:r>
            <a:r>
              <a:rPr lang="en-US" b="1" dirty="0" err="1"/>
              <a:t>root.value</a:t>
            </a:r>
            <a:endParaRPr lang="en-US" b="1" dirty="0"/>
          </a:p>
          <a:p>
            <a:pPr lvl="1"/>
            <a:r>
              <a:rPr lang="en-US" b="1" dirty="0"/>
              <a:t>If(</a:t>
            </a:r>
            <a:r>
              <a:rPr lang="en-US" b="1" dirty="0" err="1"/>
              <a:t>root.value</a:t>
            </a:r>
            <a:r>
              <a:rPr lang="en-US" b="1" dirty="0"/>
              <a:t> is a symbol)</a:t>
            </a:r>
          </a:p>
          <a:p>
            <a:pPr lvl="2"/>
            <a:r>
              <a:rPr lang="en-US" b="1" dirty="0"/>
              <a:t>return expression(</a:t>
            </a:r>
            <a:r>
              <a:rPr lang="en-US" b="1" dirty="0" err="1"/>
              <a:t>root.left</a:t>
            </a:r>
            <a:r>
              <a:rPr lang="en-US" b="1" dirty="0"/>
              <a:t>) </a:t>
            </a:r>
            <a:r>
              <a:rPr lang="en-US" b="1" dirty="0" err="1"/>
              <a:t>root.value</a:t>
            </a:r>
            <a:r>
              <a:rPr lang="en-US" b="1" dirty="0"/>
              <a:t> expression(</a:t>
            </a:r>
            <a:r>
              <a:rPr lang="en-US" b="1" dirty="0" err="1"/>
              <a:t>root.right</a:t>
            </a:r>
            <a:r>
              <a:rPr lang="en-US" b="1" dirty="0"/>
              <a:t>)</a:t>
            </a:r>
          </a:p>
          <a:p>
            <a:pPr lvl="2"/>
            <a:endParaRPr lang="en-US" b="1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DC9EC63-8F6C-ED75-FCBA-1626A6AB96DD}"/>
              </a:ext>
            </a:extLst>
          </p:cNvPr>
          <p:cNvGrpSpPr/>
          <p:nvPr/>
        </p:nvGrpSpPr>
        <p:grpSpPr>
          <a:xfrm>
            <a:off x="6692459" y="1229703"/>
            <a:ext cx="4326376" cy="3951379"/>
            <a:chOff x="3098771" y="1895117"/>
            <a:chExt cx="5577475" cy="4929169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AFF4907-175A-B3D0-9ADF-06E3C1D7FEC1}"/>
                </a:ext>
              </a:extLst>
            </p:cNvPr>
            <p:cNvSpPr/>
            <p:nvPr/>
          </p:nvSpPr>
          <p:spPr>
            <a:xfrm>
              <a:off x="5260663" y="1895117"/>
              <a:ext cx="665018" cy="62807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-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496BD8B-D3D8-6BFA-7275-0806626B5108}"/>
                </a:ext>
              </a:extLst>
            </p:cNvPr>
            <p:cNvSpPr/>
            <p:nvPr/>
          </p:nvSpPr>
          <p:spPr>
            <a:xfrm>
              <a:off x="3776287" y="3035069"/>
              <a:ext cx="665018" cy="62807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17A8CD4-9D5F-A515-7E8D-5D092B7FADC5}"/>
                </a:ext>
              </a:extLst>
            </p:cNvPr>
            <p:cNvSpPr/>
            <p:nvPr/>
          </p:nvSpPr>
          <p:spPr>
            <a:xfrm>
              <a:off x="6596333" y="3018997"/>
              <a:ext cx="665018" cy="62807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7E07C8E-F658-1351-D178-353BF6D0DEC9}"/>
                </a:ext>
              </a:extLst>
            </p:cNvPr>
            <p:cNvSpPr/>
            <p:nvPr/>
          </p:nvSpPr>
          <p:spPr>
            <a:xfrm>
              <a:off x="5568143" y="4152297"/>
              <a:ext cx="665018" cy="62807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8F6EE19-7D66-25BC-E17B-24651877DE3B}"/>
                </a:ext>
              </a:extLst>
            </p:cNvPr>
            <p:cNvSpPr/>
            <p:nvPr/>
          </p:nvSpPr>
          <p:spPr>
            <a:xfrm>
              <a:off x="7532673" y="4152298"/>
              <a:ext cx="665018" cy="62807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/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D8A1E9B-38D5-A2EA-F9D9-93B1C94FB875}"/>
                </a:ext>
              </a:extLst>
            </p:cNvPr>
            <p:cNvSpPr/>
            <p:nvPr/>
          </p:nvSpPr>
          <p:spPr>
            <a:xfrm>
              <a:off x="4807389" y="5150221"/>
              <a:ext cx="665018" cy="62807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*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9D0EA108-340F-5383-A771-2609C4B53DD8}"/>
                </a:ext>
              </a:extLst>
            </p:cNvPr>
            <p:cNvSpPr/>
            <p:nvPr/>
          </p:nvSpPr>
          <p:spPr>
            <a:xfrm>
              <a:off x="6200094" y="5168629"/>
              <a:ext cx="665018" cy="62807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/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0F87E26-608E-F26B-151A-0C8950EC95EE}"/>
                </a:ext>
              </a:extLst>
            </p:cNvPr>
            <p:cNvSpPr/>
            <p:nvPr/>
          </p:nvSpPr>
          <p:spPr>
            <a:xfrm>
              <a:off x="3098771" y="4152296"/>
              <a:ext cx="665018" cy="6280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B70CFC3-C38C-7914-7922-24FC187D6F7B}"/>
                </a:ext>
              </a:extLst>
            </p:cNvPr>
            <p:cNvSpPr/>
            <p:nvPr/>
          </p:nvSpPr>
          <p:spPr>
            <a:xfrm>
              <a:off x="5900652" y="6178838"/>
              <a:ext cx="665018" cy="6280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36A6B15-1916-9FE8-BBC0-C3E3596FAABF}"/>
                </a:ext>
              </a:extLst>
            </p:cNvPr>
            <p:cNvSpPr/>
            <p:nvPr/>
          </p:nvSpPr>
          <p:spPr>
            <a:xfrm>
              <a:off x="6718992" y="6154825"/>
              <a:ext cx="665018" cy="6280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0C422B7-202A-0029-F819-C6339907EA85}"/>
                </a:ext>
              </a:extLst>
            </p:cNvPr>
            <p:cNvSpPr/>
            <p:nvPr/>
          </p:nvSpPr>
          <p:spPr>
            <a:xfrm>
              <a:off x="5217921" y="6196212"/>
              <a:ext cx="665018" cy="6280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78F73317-E019-827E-D766-CE8B8037C474}"/>
                </a:ext>
              </a:extLst>
            </p:cNvPr>
            <p:cNvSpPr/>
            <p:nvPr/>
          </p:nvSpPr>
          <p:spPr>
            <a:xfrm>
              <a:off x="8011228" y="5138493"/>
              <a:ext cx="665018" cy="6280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278AE36-E289-5A18-7DE4-F07D0F266003}"/>
                </a:ext>
              </a:extLst>
            </p:cNvPr>
            <p:cNvSpPr/>
            <p:nvPr/>
          </p:nvSpPr>
          <p:spPr>
            <a:xfrm>
              <a:off x="4268631" y="4152299"/>
              <a:ext cx="665018" cy="6280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63775B6-BD59-1B5F-C09B-814FC7789C9C}"/>
                </a:ext>
              </a:extLst>
            </p:cNvPr>
            <p:cNvSpPr/>
            <p:nvPr/>
          </p:nvSpPr>
          <p:spPr>
            <a:xfrm>
              <a:off x="7051501" y="5138493"/>
              <a:ext cx="665018" cy="6280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9214879-0189-6661-C5AF-CE3669E3F7DF}"/>
                </a:ext>
              </a:extLst>
            </p:cNvPr>
            <p:cNvSpPr/>
            <p:nvPr/>
          </p:nvSpPr>
          <p:spPr>
            <a:xfrm>
              <a:off x="4411681" y="6196213"/>
              <a:ext cx="665018" cy="6280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F59B8D9C-8A26-B01C-F800-8027368747C9}"/>
                </a:ext>
              </a:extLst>
            </p:cNvPr>
            <p:cNvCxnSpPr>
              <a:stCxn id="73" idx="5"/>
              <a:endCxn id="75" idx="1"/>
            </p:cNvCxnSpPr>
            <p:nvPr/>
          </p:nvCxnSpPr>
          <p:spPr>
            <a:xfrm>
              <a:off x="5828291" y="2431211"/>
              <a:ext cx="865432" cy="6797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4565DEB9-1924-5D0D-2DE3-DDE2B36DBE5C}"/>
                </a:ext>
              </a:extLst>
            </p:cNvPr>
            <p:cNvCxnSpPr>
              <a:cxnSpLocks/>
              <a:endCxn id="74" idx="7"/>
            </p:cNvCxnSpPr>
            <p:nvPr/>
          </p:nvCxnSpPr>
          <p:spPr>
            <a:xfrm flipH="1">
              <a:off x="4343915" y="2379519"/>
              <a:ext cx="976246" cy="7475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B414FAE3-EFF7-5085-233F-2CA59DE796A8}"/>
                </a:ext>
              </a:extLst>
            </p:cNvPr>
            <p:cNvCxnSpPr>
              <a:cxnSpLocks/>
              <a:endCxn id="77" idx="1"/>
            </p:cNvCxnSpPr>
            <p:nvPr/>
          </p:nvCxnSpPr>
          <p:spPr>
            <a:xfrm>
              <a:off x="7145796" y="3556568"/>
              <a:ext cx="484267" cy="6877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0C723E8-40D1-5713-7285-948AFC9D3AB3}"/>
                </a:ext>
              </a:extLst>
            </p:cNvPr>
            <p:cNvCxnSpPr>
              <a:cxnSpLocks/>
              <a:stCxn id="75" idx="3"/>
              <a:endCxn id="76" idx="7"/>
            </p:cNvCxnSpPr>
            <p:nvPr/>
          </p:nvCxnSpPr>
          <p:spPr>
            <a:xfrm flipH="1">
              <a:off x="6135771" y="3555091"/>
              <a:ext cx="557952" cy="6891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039F8E76-A7C0-DF48-0BAF-70326DB01529}"/>
                </a:ext>
              </a:extLst>
            </p:cNvPr>
            <p:cNvCxnSpPr>
              <a:cxnSpLocks/>
              <a:stCxn id="74" idx="5"/>
              <a:endCxn id="85" idx="0"/>
            </p:cNvCxnSpPr>
            <p:nvPr/>
          </p:nvCxnSpPr>
          <p:spPr>
            <a:xfrm>
              <a:off x="4343915" y="3571163"/>
              <a:ext cx="257225" cy="5811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BBB5EB6B-09BC-E2A1-84C0-5758AE9BF92F}"/>
                </a:ext>
              </a:extLst>
            </p:cNvPr>
            <p:cNvCxnSpPr>
              <a:cxnSpLocks/>
              <a:stCxn id="74" idx="3"/>
              <a:endCxn id="80" idx="0"/>
            </p:cNvCxnSpPr>
            <p:nvPr/>
          </p:nvCxnSpPr>
          <p:spPr>
            <a:xfrm flipH="1">
              <a:off x="3431280" y="3571163"/>
              <a:ext cx="442397" cy="5811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5E526F27-0EA1-FD84-C598-434E06FF4AF7}"/>
                </a:ext>
              </a:extLst>
            </p:cNvPr>
            <p:cNvCxnSpPr>
              <a:cxnSpLocks/>
              <a:stCxn id="77" idx="5"/>
              <a:endCxn id="84" idx="0"/>
            </p:cNvCxnSpPr>
            <p:nvPr/>
          </p:nvCxnSpPr>
          <p:spPr>
            <a:xfrm>
              <a:off x="8100301" y="4688392"/>
              <a:ext cx="243436" cy="4501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EE1EE703-3ADE-5EFF-3BE7-F85D4FBF747E}"/>
                </a:ext>
              </a:extLst>
            </p:cNvPr>
            <p:cNvCxnSpPr>
              <a:cxnSpLocks/>
              <a:stCxn id="77" idx="3"/>
              <a:endCxn id="86" idx="0"/>
            </p:cNvCxnSpPr>
            <p:nvPr/>
          </p:nvCxnSpPr>
          <p:spPr>
            <a:xfrm flipH="1">
              <a:off x="7384010" y="4688392"/>
              <a:ext cx="246053" cy="4501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5DFF7F51-E156-C062-D429-6A2FB06BC8C4}"/>
                </a:ext>
              </a:extLst>
            </p:cNvPr>
            <p:cNvCxnSpPr>
              <a:cxnSpLocks/>
              <a:stCxn id="76" idx="5"/>
              <a:endCxn id="79" idx="0"/>
            </p:cNvCxnSpPr>
            <p:nvPr/>
          </p:nvCxnSpPr>
          <p:spPr>
            <a:xfrm>
              <a:off x="6135771" y="4688391"/>
              <a:ext cx="396832" cy="4802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6D26D659-32C7-C323-9A71-1CDB382E437E}"/>
                </a:ext>
              </a:extLst>
            </p:cNvPr>
            <p:cNvCxnSpPr>
              <a:cxnSpLocks/>
              <a:stCxn id="76" idx="3"/>
              <a:endCxn id="78" idx="0"/>
            </p:cNvCxnSpPr>
            <p:nvPr/>
          </p:nvCxnSpPr>
          <p:spPr>
            <a:xfrm flipH="1">
              <a:off x="5139898" y="4688391"/>
              <a:ext cx="525635" cy="4618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C1E88041-CD21-6518-1AF8-54E50CD0E619}"/>
                </a:ext>
              </a:extLst>
            </p:cNvPr>
            <p:cNvCxnSpPr>
              <a:cxnSpLocks/>
              <a:stCxn id="79" idx="5"/>
              <a:endCxn id="82" idx="1"/>
            </p:cNvCxnSpPr>
            <p:nvPr/>
          </p:nvCxnSpPr>
          <p:spPr>
            <a:xfrm>
              <a:off x="6767722" y="5704723"/>
              <a:ext cx="48660" cy="5420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F08AAC1C-B9C8-266B-4018-D19ABC05D539}"/>
                </a:ext>
              </a:extLst>
            </p:cNvPr>
            <p:cNvCxnSpPr>
              <a:cxnSpLocks/>
              <a:stCxn id="79" idx="3"/>
              <a:endCxn id="81" idx="0"/>
            </p:cNvCxnSpPr>
            <p:nvPr/>
          </p:nvCxnSpPr>
          <p:spPr>
            <a:xfrm flipH="1">
              <a:off x="6233161" y="5704723"/>
              <a:ext cx="64323" cy="4741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40A31A2-74F1-B673-CE9F-998CC7B42F19}"/>
                </a:ext>
              </a:extLst>
            </p:cNvPr>
            <p:cNvCxnSpPr>
              <a:cxnSpLocks/>
              <a:stCxn id="78" idx="5"/>
              <a:endCxn id="83" idx="0"/>
            </p:cNvCxnSpPr>
            <p:nvPr/>
          </p:nvCxnSpPr>
          <p:spPr>
            <a:xfrm>
              <a:off x="5375017" y="5686315"/>
              <a:ext cx="175413" cy="5098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A77D8C58-C0B2-2357-4B15-B30778488CC6}"/>
                </a:ext>
              </a:extLst>
            </p:cNvPr>
            <p:cNvCxnSpPr>
              <a:cxnSpLocks/>
              <a:stCxn id="78" idx="3"/>
              <a:endCxn id="87" idx="0"/>
            </p:cNvCxnSpPr>
            <p:nvPr/>
          </p:nvCxnSpPr>
          <p:spPr>
            <a:xfrm flipH="1">
              <a:off x="4744190" y="5686315"/>
              <a:ext cx="160589" cy="5098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3AB8AD6-99A5-5A9B-1B94-44590267A862}"/>
                </a:ext>
              </a:extLst>
            </p:cNvPr>
            <p:cNvSpPr txBox="1"/>
            <p:nvPr/>
          </p:nvSpPr>
          <p:spPr>
            <a:xfrm>
              <a:off x="3277231" y="428491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22BA35C-CDD5-F2A4-BCDF-6A2716CC3662}"/>
                </a:ext>
              </a:extLst>
            </p:cNvPr>
            <p:cNvSpPr txBox="1"/>
            <p:nvPr/>
          </p:nvSpPr>
          <p:spPr>
            <a:xfrm>
              <a:off x="4441305" y="428491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295DA96-9B93-F59E-6C8C-6381985AEFF6}"/>
                </a:ext>
              </a:extLst>
            </p:cNvPr>
            <p:cNvSpPr txBox="1"/>
            <p:nvPr/>
          </p:nvSpPr>
          <p:spPr>
            <a:xfrm>
              <a:off x="4528426" y="630808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3E3078D-06A0-8537-0FD2-A510822514D8}"/>
                </a:ext>
              </a:extLst>
            </p:cNvPr>
            <p:cNvSpPr txBox="1"/>
            <p:nvPr/>
          </p:nvSpPr>
          <p:spPr>
            <a:xfrm>
              <a:off x="5402715" y="634171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CC135C0-DE5C-F9EB-F670-D25C764F367C}"/>
                </a:ext>
              </a:extLst>
            </p:cNvPr>
            <p:cNvSpPr txBox="1"/>
            <p:nvPr/>
          </p:nvSpPr>
          <p:spPr>
            <a:xfrm>
              <a:off x="6036261" y="6409477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78D90F3-CF7E-EB6E-FF2C-DD0B1287067A}"/>
                </a:ext>
              </a:extLst>
            </p:cNvPr>
            <p:cNvSpPr txBox="1"/>
            <p:nvPr/>
          </p:nvSpPr>
          <p:spPr>
            <a:xfrm>
              <a:off x="6915892" y="640947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75E5EC5-12AF-FE21-767C-51968580A409}"/>
                </a:ext>
              </a:extLst>
            </p:cNvPr>
            <p:cNvSpPr txBox="1"/>
            <p:nvPr/>
          </p:nvSpPr>
          <p:spPr>
            <a:xfrm>
              <a:off x="7145796" y="538581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52A1682-C8CA-7534-D912-5AA9426DFF00}"/>
                </a:ext>
              </a:extLst>
            </p:cNvPr>
            <p:cNvSpPr txBox="1"/>
            <p:nvPr/>
          </p:nvSpPr>
          <p:spPr>
            <a:xfrm>
              <a:off x="8197691" y="5393145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542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0BEB-4D77-388B-870D-AB9A3054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51" y="365125"/>
            <a:ext cx="11398469" cy="1325563"/>
          </a:xfrm>
        </p:spPr>
        <p:txBody>
          <a:bodyPr/>
          <a:lstStyle/>
          <a:p>
            <a:r>
              <a:rPr lang="en-US" dirty="0"/>
              <a:t>Evaluate an expression without tree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E8D5C-1313-B8EA-ACEC-2440B1567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8818"/>
            <a:ext cx="10515600" cy="2423182"/>
          </a:xfrm>
        </p:spPr>
        <p:txBody>
          <a:bodyPr/>
          <a:lstStyle/>
          <a:p>
            <a:r>
              <a:rPr lang="en-US" dirty="0"/>
              <a:t>((4+9)-(2+4)/3+6*8)</a:t>
            </a:r>
          </a:p>
          <a:p>
            <a:r>
              <a:rPr lang="en-US" dirty="0"/>
              <a:t>Define the precedence</a:t>
            </a:r>
          </a:p>
          <a:p>
            <a:r>
              <a:rPr lang="en-US" dirty="0"/>
              <a:t>BODMAS(Brackets&gt;Of&gt;Divide&gt;Multiplication&gt;Add&gt;Subtract)</a:t>
            </a:r>
          </a:p>
          <a:p>
            <a:r>
              <a:rPr lang="en-US" dirty="0"/>
              <a:t>Maintain two stacks one for operands(S1) and one for operators(S2).</a:t>
            </a:r>
          </a:p>
        </p:txBody>
      </p:sp>
    </p:spTree>
    <p:extLst>
      <p:ext uri="{BB962C8B-B14F-4D97-AF65-F5344CB8AC3E}">
        <p14:creationId xmlns:p14="http://schemas.microsoft.com/office/powerpoint/2010/main" val="2070766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5E2C-7A0B-3C3E-9888-46B55A8B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8592"/>
          </a:xfrm>
        </p:spPr>
        <p:txBody>
          <a:bodyPr/>
          <a:lstStyle/>
          <a:p>
            <a:r>
              <a:rPr lang="en-US" dirty="0"/>
              <a:t>Algorithm/Pseudocode/Steps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A0CB4-8955-C539-7688-3AFC98D6B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428" y="1158766"/>
            <a:ext cx="5336627" cy="4997668"/>
          </a:xfrm>
        </p:spPr>
        <p:txBody>
          <a:bodyPr>
            <a:normAutofit fontScale="77500" lnSpcReduction="20000"/>
          </a:bodyPr>
          <a:lstStyle/>
          <a:p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For </a:t>
            </a:r>
            <a:r>
              <a:rPr lang="en-US" dirty="0">
                <a:solidFill>
                  <a:srgbClr val="3A3A3A"/>
                </a:solidFill>
                <a:latin typeface="-apple-system"/>
              </a:rPr>
              <a:t>a </a:t>
            </a: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character a in expression:</a:t>
            </a:r>
          </a:p>
          <a:p>
            <a:pPr lvl="1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If a is operand</a:t>
            </a:r>
          </a:p>
          <a:p>
            <a:pPr lvl="2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S1.push(c)</a:t>
            </a:r>
          </a:p>
          <a:p>
            <a:pPr lvl="1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If a is operator,</a:t>
            </a:r>
          </a:p>
          <a:p>
            <a:pPr lvl="2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If s2 is empty </a:t>
            </a:r>
          </a:p>
          <a:p>
            <a:pPr lvl="3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S2.push(a).</a:t>
            </a:r>
          </a:p>
          <a:p>
            <a:pPr lvl="2"/>
            <a:r>
              <a:rPr lang="en-US" dirty="0">
                <a:solidFill>
                  <a:srgbClr val="3A3A3A"/>
                </a:solidFill>
                <a:latin typeface="-apple-system"/>
              </a:rPr>
              <a:t>e</a:t>
            </a: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lse</a:t>
            </a:r>
          </a:p>
          <a:p>
            <a:pPr lvl="3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If  </a:t>
            </a:r>
            <a:r>
              <a:rPr lang="en-US" b="0" i="0" dirty="0" err="1">
                <a:solidFill>
                  <a:srgbClr val="3A3A3A"/>
                </a:solidFill>
                <a:effectLst/>
                <a:latin typeface="-apple-system"/>
              </a:rPr>
              <a:t>prec</a:t>
            </a: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(a) &gt;= </a:t>
            </a:r>
            <a:r>
              <a:rPr lang="en-US" b="0" i="0" dirty="0" err="1">
                <a:solidFill>
                  <a:srgbClr val="3A3A3A"/>
                </a:solidFill>
                <a:effectLst/>
                <a:latin typeface="-apple-system"/>
              </a:rPr>
              <a:t>prec</a:t>
            </a: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(s2.peek)() </a:t>
            </a:r>
          </a:p>
          <a:p>
            <a:pPr lvl="4"/>
            <a:r>
              <a:rPr lang="en-US" dirty="0">
                <a:solidFill>
                  <a:srgbClr val="3A3A3A"/>
                </a:solidFill>
                <a:latin typeface="-apple-system"/>
              </a:rPr>
              <a:t>S2.push(a)</a:t>
            </a: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.</a:t>
            </a:r>
          </a:p>
          <a:p>
            <a:pPr lvl="3"/>
            <a:r>
              <a:rPr lang="en-US" dirty="0">
                <a:solidFill>
                  <a:srgbClr val="3A3A3A"/>
                </a:solidFill>
                <a:latin typeface="-apple-system"/>
              </a:rPr>
              <a:t>el</a:t>
            </a: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se</a:t>
            </a:r>
          </a:p>
          <a:p>
            <a:pPr lvl="4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do </a:t>
            </a:r>
          </a:p>
          <a:p>
            <a:pPr lvl="5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Process</a:t>
            </a:r>
          </a:p>
          <a:p>
            <a:pPr lvl="4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until </a:t>
            </a:r>
            <a:r>
              <a:rPr lang="en-US" b="0" i="0" dirty="0" err="1">
                <a:solidFill>
                  <a:srgbClr val="3A3A3A"/>
                </a:solidFill>
                <a:effectLst/>
                <a:latin typeface="-apple-system"/>
              </a:rPr>
              <a:t>prec</a:t>
            </a: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(a) &lt; s2.peek() or s2 is empty.</a:t>
            </a:r>
          </a:p>
          <a:p>
            <a:pPr lvl="4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S2.push(a)</a:t>
            </a:r>
          </a:p>
          <a:p>
            <a:pPr lvl="1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If a is "(“</a:t>
            </a:r>
          </a:p>
          <a:p>
            <a:pPr lvl="2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S2.push(a)</a:t>
            </a:r>
          </a:p>
          <a:p>
            <a:pPr lvl="1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If a is ")", </a:t>
            </a:r>
          </a:p>
          <a:p>
            <a:pPr lvl="2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do </a:t>
            </a:r>
          </a:p>
          <a:p>
            <a:pPr lvl="3"/>
            <a:r>
              <a:rPr lang="en-US" b="1" i="1" dirty="0">
                <a:solidFill>
                  <a:srgbClr val="3A3A3A"/>
                </a:solidFill>
                <a:effectLst/>
                <a:latin typeface="-apple-system"/>
              </a:rPr>
              <a:t>Process</a:t>
            </a: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  </a:t>
            </a:r>
          </a:p>
          <a:p>
            <a:pPr lvl="2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until s2.peek()!=“(“ </a:t>
            </a:r>
          </a:p>
          <a:p>
            <a:pPr lvl="2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S2.pop().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CECD8-F722-6FFC-3494-D5405BD49091}"/>
              </a:ext>
            </a:extLst>
          </p:cNvPr>
          <p:cNvSpPr txBox="1"/>
          <p:nvPr/>
        </p:nvSpPr>
        <p:spPr>
          <a:xfrm>
            <a:off x="5720912" y="2129828"/>
            <a:ext cx="60973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A = s1.Pop()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B = s1.pop()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3A3A"/>
                </a:solidFill>
                <a:latin typeface="-apple-system"/>
              </a:rPr>
              <a:t>Op = s2.pop()</a:t>
            </a:r>
            <a:endParaRPr lang="en-US" b="0" i="0" dirty="0">
              <a:solidFill>
                <a:srgbClr val="3A3A3A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S1.push(A op B)</a:t>
            </a:r>
          </a:p>
        </p:txBody>
      </p:sp>
    </p:spTree>
    <p:extLst>
      <p:ext uri="{BB962C8B-B14F-4D97-AF65-F5344CB8AC3E}">
        <p14:creationId xmlns:p14="http://schemas.microsoft.com/office/powerpoint/2010/main" val="425826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DBE80-C37D-3F55-B79A-5C04C12A7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5" y="365126"/>
            <a:ext cx="11761076" cy="966478"/>
          </a:xfrm>
        </p:spPr>
        <p:txBody>
          <a:bodyPr/>
          <a:lstStyle/>
          <a:p>
            <a:r>
              <a:rPr lang="en-US" dirty="0"/>
              <a:t>Write a program to compute height of a binary tree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FB89AE-C776-06F8-D2B9-B7DEB5BEF5B2}"/>
              </a:ext>
            </a:extLst>
          </p:cNvPr>
          <p:cNvSpPr txBox="1"/>
          <p:nvPr/>
        </p:nvSpPr>
        <p:spPr>
          <a:xfrm>
            <a:off x="232312" y="1240321"/>
            <a:ext cx="8435198" cy="56323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808080"/>
                </a:highlight>
              </a:rPr>
              <a:t>Recursive Solution : </a:t>
            </a:r>
          </a:p>
          <a:p>
            <a:r>
              <a:rPr lang="en-US" b="1" dirty="0"/>
              <a:t>Height(tree root):</a:t>
            </a:r>
          </a:p>
          <a:p>
            <a:pPr lvl="1"/>
            <a:r>
              <a:rPr lang="en-US" b="1" dirty="0"/>
              <a:t>If(root is leaf):</a:t>
            </a:r>
          </a:p>
          <a:p>
            <a:pPr lvl="2"/>
            <a:r>
              <a:rPr lang="en-US" b="1" dirty="0"/>
              <a:t>return 0</a:t>
            </a:r>
          </a:p>
          <a:p>
            <a:pPr lvl="1"/>
            <a:r>
              <a:rPr lang="en-US" b="1" dirty="0"/>
              <a:t>Else:</a:t>
            </a:r>
          </a:p>
          <a:p>
            <a:pPr lvl="2"/>
            <a:r>
              <a:rPr lang="en-US" b="1" dirty="0"/>
              <a:t>return 1+max(height(</a:t>
            </a:r>
            <a:r>
              <a:rPr lang="en-US" b="1" dirty="0" err="1"/>
              <a:t>root.left</a:t>
            </a:r>
            <a:r>
              <a:rPr lang="en-US" b="1" dirty="0"/>
              <a:t>),height(</a:t>
            </a:r>
            <a:r>
              <a:rPr lang="en-US" b="1" dirty="0" err="1"/>
              <a:t>root.right</a:t>
            </a:r>
            <a:r>
              <a:rPr lang="en-US" b="1" dirty="0"/>
              <a:t>)</a:t>
            </a:r>
          </a:p>
          <a:p>
            <a:pPr lvl="2"/>
            <a:endParaRPr lang="en-US" b="1" dirty="0"/>
          </a:p>
          <a:p>
            <a:r>
              <a:rPr lang="en-US" b="1" dirty="0">
                <a:highlight>
                  <a:srgbClr val="808080"/>
                </a:highlight>
              </a:rPr>
              <a:t>Iterative Solution : </a:t>
            </a:r>
          </a:p>
          <a:p>
            <a:r>
              <a:rPr lang="en-US" b="1" dirty="0"/>
              <a:t>Height(tree root):</a:t>
            </a:r>
          </a:p>
          <a:p>
            <a:pPr lvl="1"/>
            <a:r>
              <a:rPr lang="en-US" b="1" dirty="0"/>
              <a:t>H = 0</a:t>
            </a:r>
          </a:p>
          <a:p>
            <a:pPr lvl="1"/>
            <a:r>
              <a:rPr lang="en-US" b="1" dirty="0"/>
              <a:t>Queue&lt;node&gt; q;</a:t>
            </a:r>
          </a:p>
          <a:p>
            <a:pPr lvl="1"/>
            <a:r>
              <a:rPr lang="en-US" b="1" dirty="0" err="1"/>
              <a:t>q.push</a:t>
            </a:r>
            <a:r>
              <a:rPr lang="en-US" b="1" dirty="0"/>
              <a:t>(root)</a:t>
            </a:r>
          </a:p>
          <a:p>
            <a:pPr lvl="1"/>
            <a:r>
              <a:rPr lang="en-US" b="1" dirty="0"/>
              <a:t>While(q is not empty):</a:t>
            </a:r>
          </a:p>
          <a:p>
            <a:pPr lvl="2"/>
            <a:r>
              <a:rPr lang="en-US" b="1" dirty="0"/>
              <a:t>H++</a:t>
            </a:r>
          </a:p>
          <a:p>
            <a:pPr lvl="2"/>
            <a:r>
              <a:rPr lang="en-US" b="1" dirty="0"/>
              <a:t>S= </a:t>
            </a:r>
            <a:r>
              <a:rPr lang="en-US" b="1" dirty="0" err="1"/>
              <a:t>q.size</a:t>
            </a:r>
            <a:endParaRPr lang="en-US" b="1" dirty="0"/>
          </a:p>
          <a:p>
            <a:pPr lvl="2"/>
            <a:r>
              <a:rPr lang="en-US" b="1" dirty="0"/>
              <a:t>for(int </a:t>
            </a:r>
            <a:r>
              <a:rPr lang="en-US" b="1" dirty="0" err="1"/>
              <a:t>i</a:t>
            </a:r>
            <a:r>
              <a:rPr lang="en-US" b="1" dirty="0"/>
              <a:t>=0; </a:t>
            </a:r>
            <a:r>
              <a:rPr lang="en-US" b="1" dirty="0" err="1"/>
              <a:t>i</a:t>
            </a:r>
            <a:r>
              <a:rPr lang="en-US" b="1" dirty="0"/>
              <a:t>&lt;S; </a:t>
            </a:r>
            <a:r>
              <a:rPr lang="en-US" b="1" dirty="0" err="1"/>
              <a:t>i</a:t>
            </a:r>
            <a:r>
              <a:rPr lang="en-US" b="1" dirty="0"/>
              <a:t>++)</a:t>
            </a:r>
          </a:p>
          <a:p>
            <a:pPr lvl="3"/>
            <a:r>
              <a:rPr lang="en-US" b="1" dirty="0"/>
              <a:t>p = </a:t>
            </a:r>
            <a:r>
              <a:rPr lang="en-US" b="1" dirty="0" err="1"/>
              <a:t>q.pop</a:t>
            </a:r>
            <a:endParaRPr lang="en-US" b="1" dirty="0"/>
          </a:p>
          <a:p>
            <a:pPr lvl="3"/>
            <a:r>
              <a:rPr lang="en-US" b="1" dirty="0" err="1"/>
              <a:t>p.right</a:t>
            </a:r>
            <a:r>
              <a:rPr lang="en-US" b="1" dirty="0"/>
              <a:t> != null? </a:t>
            </a:r>
            <a:r>
              <a:rPr lang="en-US" b="1" dirty="0" err="1"/>
              <a:t>q.push</a:t>
            </a:r>
            <a:r>
              <a:rPr lang="en-US" b="1" dirty="0"/>
              <a:t>(</a:t>
            </a:r>
            <a:r>
              <a:rPr lang="en-US" b="1" dirty="0" err="1"/>
              <a:t>p.right</a:t>
            </a:r>
            <a:r>
              <a:rPr lang="en-US" b="1" dirty="0"/>
              <a:t>): skip</a:t>
            </a:r>
          </a:p>
          <a:p>
            <a:pPr lvl="3"/>
            <a:r>
              <a:rPr lang="en-US" b="1" dirty="0" err="1"/>
              <a:t>p.left</a:t>
            </a:r>
            <a:r>
              <a:rPr lang="en-US" b="1" dirty="0"/>
              <a:t> != null? </a:t>
            </a:r>
            <a:r>
              <a:rPr lang="en-US" b="1" dirty="0" err="1"/>
              <a:t>q.push</a:t>
            </a:r>
            <a:r>
              <a:rPr lang="en-US" b="1" dirty="0"/>
              <a:t>(</a:t>
            </a:r>
            <a:r>
              <a:rPr lang="en-US" b="1" dirty="0" err="1"/>
              <a:t>p.left</a:t>
            </a:r>
            <a:r>
              <a:rPr lang="en-US" b="1" dirty="0"/>
              <a:t>):skip</a:t>
            </a:r>
          </a:p>
          <a:p>
            <a:pPr lvl="1"/>
            <a:r>
              <a:rPr lang="en-US" b="1" dirty="0"/>
              <a:t>return H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C9EC63-8F6C-ED75-FCBA-1626A6AB96DD}"/>
              </a:ext>
            </a:extLst>
          </p:cNvPr>
          <p:cNvGrpSpPr/>
          <p:nvPr/>
        </p:nvGrpSpPr>
        <p:grpSpPr>
          <a:xfrm>
            <a:off x="6764355" y="1432225"/>
            <a:ext cx="5239511" cy="4379894"/>
            <a:chOff x="3098771" y="1895117"/>
            <a:chExt cx="5577475" cy="492916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AFF4907-175A-B3D0-9ADF-06E3C1D7FEC1}"/>
                </a:ext>
              </a:extLst>
            </p:cNvPr>
            <p:cNvSpPr/>
            <p:nvPr/>
          </p:nvSpPr>
          <p:spPr>
            <a:xfrm>
              <a:off x="5260663" y="1895117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34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496BD8B-D3D8-6BFA-7275-0806626B5108}"/>
                </a:ext>
              </a:extLst>
            </p:cNvPr>
            <p:cNvSpPr/>
            <p:nvPr/>
          </p:nvSpPr>
          <p:spPr>
            <a:xfrm>
              <a:off x="3776287" y="3035069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17A8CD4-9D5F-A515-7E8D-5D092B7FADC5}"/>
                </a:ext>
              </a:extLst>
            </p:cNvPr>
            <p:cNvSpPr/>
            <p:nvPr/>
          </p:nvSpPr>
          <p:spPr>
            <a:xfrm>
              <a:off x="6596333" y="3018997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67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7E07C8E-F658-1351-D178-353BF6D0DEC9}"/>
                </a:ext>
              </a:extLst>
            </p:cNvPr>
            <p:cNvSpPr/>
            <p:nvPr/>
          </p:nvSpPr>
          <p:spPr>
            <a:xfrm>
              <a:off x="5477311" y="4152295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45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8F6EE19-7D66-25BC-E17B-24651877DE3B}"/>
                </a:ext>
              </a:extLst>
            </p:cNvPr>
            <p:cNvSpPr/>
            <p:nvPr/>
          </p:nvSpPr>
          <p:spPr>
            <a:xfrm>
              <a:off x="7532673" y="4152298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88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D8A1E9B-38D5-A2EA-F9D9-93B1C94FB875}"/>
                </a:ext>
              </a:extLst>
            </p:cNvPr>
            <p:cNvSpPr/>
            <p:nvPr/>
          </p:nvSpPr>
          <p:spPr>
            <a:xfrm>
              <a:off x="4807389" y="5150221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39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D0EA108-340F-5383-A771-2609C4B53DD8}"/>
                </a:ext>
              </a:extLst>
            </p:cNvPr>
            <p:cNvSpPr/>
            <p:nvPr/>
          </p:nvSpPr>
          <p:spPr>
            <a:xfrm>
              <a:off x="6200094" y="5168629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60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0F87E26-608E-F26B-151A-0C8950EC95EE}"/>
                </a:ext>
              </a:extLst>
            </p:cNvPr>
            <p:cNvSpPr/>
            <p:nvPr/>
          </p:nvSpPr>
          <p:spPr>
            <a:xfrm>
              <a:off x="3098771" y="4152296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B70CFC3-C38C-7914-7922-24FC187D6F7B}"/>
                </a:ext>
              </a:extLst>
            </p:cNvPr>
            <p:cNvSpPr/>
            <p:nvPr/>
          </p:nvSpPr>
          <p:spPr>
            <a:xfrm>
              <a:off x="5900652" y="6178838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36A6B15-1916-9FE8-BBC0-C3E3596FAABF}"/>
                </a:ext>
              </a:extLst>
            </p:cNvPr>
            <p:cNvSpPr/>
            <p:nvPr/>
          </p:nvSpPr>
          <p:spPr>
            <a:xfrm>
              <a:off x="6718992" y="6154825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0C422B7-202A-0029-F819-C6339907EA85}"/>
                </a:ext>
              </a:extLst>
            </p:cNvPr>
            <p:cNvSpPr/>
            <p:nvPr/>
          </p:nvSpPr>
          <p:spPr>
            <a:xfrm>
              <a:off x="5217921" y="6196212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8F73317-E019-827E-D766-CE8B8037C474}"/>
                </a:ext>
              </a:extLst>
            </p:cNvPr>
            <p:cNvSpPr/>
            <p:nvPr/>
          </p:nvSpPr>
          <p:spPr>
            <a:xfrm>
              <a:off x="8011228" y="5138493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278AE36-E289-5A18-7DE4-F07D0F266003}"/>
                </a:ext>
              </a:extLst>
            </p:cNvPr>
            <p:cNvSpPr/>
            <p:nvPr/>
          </p:nvSpPr>
          <p:spPr>
            <a:xfrm>
              <a:off x="4268631" y="4152299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63775B6-BD59-1B5F-C09B-814FC7789C9C}"/>
                </a:ext>
              </a:extLst>
            </p:cNvPr>
            <p:cNvSpPr/>
            <p:nvPr/>
          </p:nvSpPr>
          <p:spPr>
            <a:xfrm>
              <a:off x="7051501" y="5138493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9214879-0189-6661-C5AF-CE3669E3F7DF}"/>
                </a:ext>
              </a:extLst>
            </p:cNvPr>
            <p:cNvSpPr/>
            <p:nvPr/>
          </p:nvSpPr>
          <p:spPr>
            <a:xfrm>
              <a:off x="4411681" y="6196213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F59B8D9C-8A26-B01C-F800-8027368747C9}"/>
                </a:ext>
              </a:extLst>
            </p:cNvPr>
            <p:cNvCxnSpPr>
              <a:stCxn id="27" idx="5"/>
              <a:endCxn id="30" idx="1"/>
            </p:cNvCxnSpPr>
            <p:nvPr/>
          </p:nvCxnSpPr>
          <p:spPr>
            <a:xfrm>
              <a:off x="5828291" y="2431211"/>
              <a:ext cx="865432" cy="6797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565DEB9-1924-5D0D-2DE3-DDE2B36DBE5C}"/>
                </a:ext>
              </a:extLst>
            </p:cNvPr>
            <p:cNvCxnSpPr>
              <a:cxnSpLocks/>
              <a:endCxn id="29" idx="7"/>
            </p:cNvCxnSpPr>
            <p:nvPr/>
          </p:nvCxnSpPr>
          <p:spPr>
            <a:xfrm flipH="1">
              <a:off x="4343915" y="2379519"/>
              <a:ext cx="976246" cy="7475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414FAE3-EFF7-5085-233F-2CA59DE796A8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7145796" y="3556568"/>
              <a:ext cx="484267" cy="6877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0C723E8-40D1-5713-7285-948AFC9D3AB3}"/>
                </a:ext>
              </a:extLst>
            </p:cNvPr>
            <p:cNvCxnSpPr>
              <a:cxnSpLocks/>
              <a:stCxn id="30" idx="3"/>
              <a:endCxn id="32" idx="7"/>
            </p:cNvCxnSpPr>
            <p:nvPr/>
          </p:nvCxnSpPr>
          <p:spPr>
            <a:xfrm flipH="1">
              <a:off x="6044939" y="3555091"/>
              <a:ext cx="648784" cy="6891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39F8E76-A7C0-DF48-0BAF-70326DB01529}"/>
                </a:ext>
              </a:extLst>
            </p:cNvPr>
            <p:cNvCxnSpPr>
              <a:cxnSpLocks/>
              <a:stCxn id="29" idx="5"/>
              <a:endCxn id="45" idx="0"/>
            </p:cNvCxnSpPr>
            <p:nvPr/>
          </p:nvCxnSpPr>
          <p:spPr>
            <a:xfrm>
              <a:off x="4343915" y="3571163"/>
              <a:ext cx="257225" cy="5811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BB5EB6B-09BC-E2A1-84C0-5758AE9BF92F}"/>
                </a:ext>
              </a:extLst>
            </p:cNvPr>
            <p:cNvCxnSpPr>
              <a:cxnSpLocks/>
              <a:stCxn id="29" idx="3"/>
              <a:endCxn id="38" idx="0"/>
            </p:cNvCxnSpPr>
            <p:nvPr/>
          </p:nvCxnSpPr>
          <p:spPr>
            <a:xfrm flipH="1">
              <a:off x="3431280" y="3571163"/>
              <a:ext cx="442397" cy="5811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E526F27-0EA1-FD84-C598-434E06FF4AF7}"/>
                </a:ext>
              </a:extLst>
            </p:cNvPr>
            <p:cNvCxnSpPr>
              <a:cxnSpLocks/>
              <a:stCxn id="33" idx="5"/>
              <a:endCxn id="44" idx="0"/>
            </p:cNvCxnSpPr>
            <p:nvPr/>
          </p:nvCxnSpPr>
          <p:spPr>
            <a:xfrm>
              <a:off x="8100301" y="4688392"/>
              <a:ext cx="243436" cy="4501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EE1EE703-3ADE-5EFF-3BE7-F85D4FBF747E}"/>
                </a:ext>
              </a:extLst>
            </p:cNvPr>
            <p:cNvCxnSpPr>
              <a:cxnSpLocks/>
              <a:stCxn id="33" idx="3"/>
              <a:endCxn id="46" idx="0"/>
            </p:cNvCxnSpPr>
            <p:nvPr/>
          </p:nvCxnSpPr>
          <p:spPr>
            <a:xfrm flipH="1">
              <a:off x="7384010" y="4688392"/>
              <a:ext cx="246053" cy="4501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5DFF7F51-E156-C062-D429-6A2FB06BC8C4}"/>
                </a:ext>
              </a:extLst>
            </p:cNvPr>
            <p:cNvCxnSpPr>
              <a:cxnSpLocks/>
              <a:stCxn id="32" idx="5"/>
              <a:endCxn id="36" idx="0"/>
            </p:cNvCxnSpPr>
            <p:nvPr/>
          </p:nvCxnSpPr>
          <p:spPr>
            <a:xfrm>
              <a:off x="6044939" y="4688389"/>
              <a:ext cx="487664" cy="4802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6D26D659-32C7-C323-9A71-1CDB382E437E}"/>
                </a:ext>
              </a:extLst>
            </p:cNvPr>
            <p:cNvCxnSpPr>
              <a:cxnSpLocks/>
              <a:stCxn id="32" idx="3"/>
              <a:endCxn id="35" idx="0"/>
            </p:cNvCxnSpPr>
            <p:nvPr/>
          </p:nvCxnSpPr>
          <p:spPr>
            <a:xfrm flipH="1">
              <a:off x="5139898" y="4688389"/>
              <a:ext cx="434803" cy="4618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1E88041-CD21-6518-1AF8-54E50CD0E619}"/>
                </a:ext>
              </a:extLst>
            </p:cNvPr>
            <p:cNvCxnSpPr>
              <a:cxnSpLocks/>
              <a:stCxn id="36" idx="5"/>
              <a:endCxn id="41" idx="1"/>
            </p:cNvCxnSpPr>
            <p:nvPr/>
          </p:nvCxnSpPr>
          <p:spPr>
            <a:xfrm>
              <a:off x="6767722" y="5704723"/>
              <a:ext cx="48660" cy="5420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F08AAC1C-B9C8-266B-4018-D19ABC05D539}"/>
                </a:ext>
              </a:extLst>
            </p:cNvPr>
            <p:cNvCxnSpPr>
              <a:cxnSpLocks/>
              <a:stCxn id="36" idx="3"/>
              <a:endCxn id="39" idx="0"/>
            </p:cNvCxnSpPr>
            <p:nvPr/>
          </p:nvCxnSpPr>
          <p:spPr>
            <a:xfrm flipH="1">
              <a:off x="6233161" y="5704723"/>
              <a:ext cx="64323" cy="4741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40A31A2-74F1-B673-CE9F-998CC7B42F19}"/>
                </a:ext>
              </a:extLst>
            </p:cNvPr>
            <p:cNvCxnSpPr>
              <a:cxnSpLocks/>
              <a:stCxn id="35" idx="5"/>
              <a:endCxn id="42" idx="0"/>
            </p:cNvCxnSpPr>
            <p:nvPr/>
          </p:nvCxnSpPr>
          <p:spPr>
            <a:xfrm>
              <a:off x="5375017" y="5686315"/>
              <a:ext cx="175413" cy="5098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A77D8C58-C0B2-2357-4B15-B30778488CC6}"/>
                </a:ext>
              </a:extLst>
            </p:cNvPr>
            <p:cNvCxnSpPr>
              <a:cxnSpLocks/>
              <a:stCxn id="35" idx="3"/>
              <a:endCxn id="48" idx="0"/>
            </p:cNvCxnSpPr>
            <p:nvPr/>
          </p:nvCxnSpPr>
          <p:spPr>
            <a:xfrm flipH="1">
              <a:off x="4744190" y="5686315"/>
              <a:ext cx="160589" cy="5098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3AB8AD6-99A5-5A9B-1B94-44590267A862}"/>
                </a:ext>
              </a:extLst>
            </p:cNvPr>
            <p:cNvSpPr txBox="1"/>
            <p:nvPr/>
          </p:nvSpPr>
          <p:spPr>
            <a:xfrm>
              <a:off x="3277231" y="428491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22BA35C-CDD5-F2A4-BCDF-6A2716CC3662}"/>
                </a:ext>
              </a:extLst>
            </p:cNvPr>
            <p:cNvSpPr txBox="1"/>
            <p:nvPr/>
          </p:nvSpPr>
          <p:spPr>
            <a:xfrm>
              <a:off x="4441305" y="4284912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27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295DA96-9B93-F59E-6C8C-6381985AEFF6}"/>
                </a:ext>
              </a:extLst>
            </p:cNvPr>
            <p:cNvSpPr txBox="1"/>
            <p:nvPr/>
          </p:nvSpPr>
          <p:spPr>
            <a:xfrm>
              <a:off x="4528426" y="630808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37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3E3078D-06A0-8537-0FD2-A510822514D8}"/>
                </a:ext>
              </a:extLst>
            </p:cNvPr>
            <p:cNvSpPr txBox="1"/>
            <p:nvPr/>
          </p:nvSpPr>
          <p:spPr>
            <a:xfrm>
              <a:off x="5402715" y="6341713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CC135C0-DE5C-F9EB-F670-D25C764F367C}"/>
                </a:ext>
              </a:extLst>
            </p:cNvPr>
            <p:cNvSpPr txBox="1"/>
            <p:nvPr/>
          </p:nvSpPr>
          <p:spPr>
            <a:xfrm>
              <a:off x="6036261" y="6409477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55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78D90F3-CF7E-EB6E-FF2C-DD0B1287067A}"/>
                </a:ext>
              </a:extLst>
            </p:cNvPr>
            <p:cNvSpPr txBox="1"/>
            <p:nvPr/>
          </p:nvSpPr>
          <p:spPr>
            <a:xfrm>
              <a:off x="6915892" y="6409477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75E5EC5-12AF-FE21-767C-51968580A409}"/>
                </a:ext>
              </a:extLst>
            </p:cNvPr>
            <p:cNvSpPr txBox="1"/>
            <p:nvPr/>
          </p:nvSpPr>
          <p:spPr>
            <a:xfrm>
              <a:off x="7145796" y="5385816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78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52A1682-C8CA-7534-D912-5AA9426DFF00}"/>
                </a:ext>
              </a:extLst>
            </p:cNvPr>
            <p:cNvSpPr txBox="1"/>
            <p:nvPr/>
          </p:nvSpPr>
          <p:spPr>
            <a:xfrm>
              <a:off x="8197691" y="5393145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035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1DF9-550A-3783-11E2-EA28D2477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193" y="365125"/>
            <a:ext cx="11753193" cy="1325563"/>
          </a:xfrm>
        </p:spPr>
        <p:txBody>
          <a:bodyPr/>
          <a:lstStyle/>
          <a:p>
            <a:r>
              <a:rPr lang="en-US" dirty="0"/>
              <a:t>Compute the node’s balancing factor for a AVL tree.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6422A-4EEB-D0EE-6D50-18FAB2C0DD63}"/>
              </a:ext>
            </a:extLst>
          </p:cNvPr>
          <p:cNvSpPr txBox="1"/>
          <p:nvPr/>
        </p:nvSpPr>
        <p:spPr>
          <a:xfrm>
            <a:off x="1087820" y="2246614"/>
            <a:ext cx="61170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Balancing Factor(tree root):</a:t>
            </a:r>
          </a:p>
          <a:p>
            <a:pPr lvl="1"/>
            <a:r>
              <a:rPr lang="en-US" b="1" dirty="0"/>
              <a:t>If(root is null)</a:t>
            </a:r>
          </a:p>
          <a:p>
            <a:pPr lvl="1"/>
            <a:r>
              <a:rPr lang="en-US" b="1" dirty="0"/>
              <a:t>	return 0</a:t>
            </a:r>
          </a:p>
          <a:p>
            <a:pPr lvl="1"/>
            <a:r>
              <a:rPr lang="en-US" b="1" dirty="0"/>
              <a:t>else</a:t>
            </a:r>
          </a:p>
          <a:p>
            <a:pPr lvl="1"/>
            <a:r>
              <a:rPr lang="en-US" b="1" dirty="0"/>
              <a:t>	return Height(root-&gt;left) – Height(root-&gt;right)	</a:t>
            </a:r>
          </a:p>
        </p:txBody>
      </p:sp>
    </p:spTree>
    <p:extLst>
      <p:ext uri="{BB962C8B-B14F-4D97-AF65-F5344CB8AC3E}">
        <p14:creationId xmlns:p14="http://schemas.microsoft.com/office/powerpoint/2010/main" val="2878852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1A257-3D7E-CF13-F571-B15583B93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a Dictionary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F5443-007B-8EFA-88DD-5E150DB19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whether a word exists in a dictionary or not.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6229F0-23F6-2B4D-944F-0F9C5D8707F7}"/>
              </a:ext>
            </a:extLst>
          </p:cNvPr>
          <p:cNvGrpSpPr/>
          <p:nvPr/>
        </p:nvGrpSpPr>
        <p:grpSpPr>
          <a:xfrm>
            <a:off x="615803" y="2475185"/>
            <a:ext cx="5130728" cy="3759590"/>
            <a:chOff x="3098771" y="1895117"/>
            <a:chExt cx="5577475" cy="500615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95C5D8-2740-1A72-61F7-ACDF0FCCE963}"/>
                </a:ext>
              </a:extLst>
            </p:cNvPr>
            <p:cNvSpPr/>
            <p:nvPr/>
          </p:nvSpPr>
          <p:spPr>
            <a:xfrm>
              <a:off x="5260663" y="1895117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99358D7-D421-662B-9A9A-196CDB8D4FAE}"/>
                </a:ext>
              </a:extLst>
            </p:cNvPr>
            <p:cNvSpPr/>
            <p:nvPr/>
          </p:nvSpPr>
          <p:spPr>
            <a:xfrm>
              <a:off x="3776287" y="3035069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E913932-A9E8-AF20-0DB3-6C5F7251F58E}"/>
                </a:ext>
              </a:extLst>
            </p:cNvPr>
            <p:cNvSpPr/>
            <p:nvPr/>
          </p:nvSpPr>
          <p:spPr>
            <a:xfrm>
              <a:off x="6596333" y="3018997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B00913-7BF2-9DBF-9229-8A51A9C52258}"/>
                </a:ext>
              </a:extLst>
            </p:cNvPr>
            <p:cNvSpPr/>
            <p:nvPr/>
          </p:nvSpPr>
          <p:spPr>
            <a:xfrm>
              <a:off x="5477311" y="4152295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2A11608-8D27-9A07-9FC8-5566FEDD50D6}"/>
                </a:ext>
              </a:extLst>
            </p:cNvPr>
            <p:cNvSpPr/>
            <p:nvPr/>
          </p:nvSpPr>
          <p:spPr>
            <a:xfrm>
              <a:off x="7532673" y="4152298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11AB708-0FB8-57AA-C79E-6280F2750353}"/>
                </a:ext>
              </a:extLst>
            </p:cNvPr>
            <p:cNvSpPr/>
            <p:nvPr/>
          </p:nvSpPr>
          <p:spPr>
            <a:xfrm>
              <a:off x="4807389" y="5150221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3DAD7CD-0091-D422-5A65-D31E34BA494E}"/>
                </a:ext>
              </a:extLst>
            </p:cNvPr>
            <p:cNvSpPr/>
            <p:nvPr/>
          </p:nvSpPr>
          <p:spPr>
            <a:xfrm>
              <a:off x="6200094" y="5168629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C2E14F2-32E2-ADC3-468D-5B2B6E2DD3A9}"/>
                </a:ext>
              </a:extLst>
            </p:cNvPr>
            <p:cNvSpPr/>
            <p:nvPr/>
          </p:nvSpPr>
          <p:spPr>
            <a:xfrm>
              <a:off x="3098771" y="4152296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4E82ECB-3CE7-7FCE-BF12-B5B294C8AE56}"/>
                </a:ext>
              </a:extLst>
            </p:cNvPr>
            <p:cNvSpPr/>
            <p:nvPr/>
          </p:nvSpPr>
          <p:spPr>
            <a:xfrm>
              <a:off x="5900652" y="6178838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498F723-E14B-4625-7A2F-5BD5443E3F04}"/>
                </a:ext>
              </a:extLst>
            </p:cNvPr>
            <p:cNvSpPr/>
            <p:nvPr/>
          </p:nvSpPr>
          <p:spPr>
            <a:xfrm>
              <a:off x="6718992" y="6154825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48B3847-F234-FF4A-5CA4-36A2041671FE}"/>
                </a:ext>
              </a:extLst>
            </p:cNvPr>
            <p:cNvSpPr/>
            <p:nvPr/>
          </p:nvSpPr>
          <p:spPr>
            <a:xfrm>
              <a:off x="5217921" y="6196212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B6D37ED-F8B1-BDAF-2CDB-E1A55B99D38F}"/>
                </a:ext>
              </a:extLst>
            </p:cNvPr>
            <p:cNvSpPr/>
            <p:nvPr/>
          </p:nvSpPr>
          <p:spPr>
            <a:xfrm>
              <a:off x="8011228" y="5138493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E72A296-9344-FD68-1D80-3411C5AF6A83}"/>
                </a:ext>
              </a:extLst>
            </p:cNvPr>
            <p:cNvSpPr/>
            <p:nvPr/>
          </p:nvSpPr>
          <p:spPr>
            <a:xfrm>
              <a:off x="4268631" y="4152299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A024CB5-7818-DEC2-16CF-F69126CC5436}"/>
                </a:ext>
              </a:extLst>
            </p:cNvPr>
            <p:cNvSpPr/>
            <p:nvPr/>
          </p:nvSpPr>
          <p:spPr>
            <a:xfrm>
              <a:off x="7051501" y="5138493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F28D13-463C-BEA8-FE09-BDE3B125E83D}"/>
                </a:ext>
              </a:extLst>
            </p:cNvPr>
            <p:cNvSpPr/>
            <p:nvPr/>
          </p:nvSpPr>
          <p:spPr>
            <a:xfrm>
              <a:off x="4411681" y="6196213"/>
              <a:ext cx="665018" cy="6280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315F286-182D-1746-D21B-1757E68E3AF0}"/>
                </a:ext>
              </a:extLst>
            </p:cNvPr>
            <p:cNvCxnSpPr>
              <a:stCxn id="6" idx="5"/>
              <a:endCxn id="8" idx="1"/>
            </p:cNvCxnSpPr>
            <p:nvPr/>
          </p:nvCxnSpPr>
          <p:spPr>
            <a:xfrm>
              <a:off x="5828291" y="2431211"/>
              <a:ext cx="865432" cy="6797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285EE3A-2F63-82FC-6F37-A942BCE702B7}"/>
                </a:ext>
              </a:extLst>
            </p:cNvPr>
            <p:cNvCxnSpPr>
              <a:cxnSpLocks/>
              <a:endCxn id="7" idx="7"/>
            </p:cNvCxnSpPr>
            <p:nvPr/>
          </p:nvCxnSpPr>
          <p:spPr>
            <a:xfrm flipH="1">
              <a:off x="4343915" y="2379519"/>
              <a:ext cx="976246" cy="7475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3009A0E-CFDF-9E8C-C0ED-88AB83D0BAC3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7145796" y="3556568"/>
              <a:ext cx="484267" cy="6877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46F6723-3A25-4D40-4C50-1BAB1D345AD7}"/>
                </a:ext>
              </a:extLst>
            </p:cNvPr>
            <p:cNvCxnSpPr>
              <a:cxnSpLocks/>
              <a:stCxn id="8" idx="3"/>
              <a:endCxn id="9" idx="7"/>
            </p:cNvCxnSpPr>
            <p:nvPr/>
          </p:nvCxnSpPr>
          <p:spPr>
            <a:xfrm flipH="1">
              <a:off x="6044939" y="3555091"/>
              <a:ext cx="648784" cy="6891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E38B839-421F-0D7F-EC87-F0D22734AC9B}"/>
                </a:ext>
              </a:extLst>
            </p:cNvPr>
            <p:cNvCxnSpPr>
              <a:cxnSpLocks/>
              <a:stCxn id="7" idx="5"/>
              <a:endCxn id="18" idx="0"/>
            </p:cNvCxnSpPr>
            <p:nvPr/>
          </p:nvCxnSpPr>
          <p:spPr>
            <a:xfrm>
              <a:off x="4343915" y="3571163"/>
              <a:ext cx="257225" cy="5811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8338BAD-88AC-E0C0-F451-BD0093FEBD98}"/>
                </a:ext>
              </a:extLst>
            </p:cNvPr>
            <p:cNvCxnSpPr>
              <a:cxnSpLocks/>
              <a:stCxn id="7" idx="3"/>
              <a:endCxn id="13" idx="0"/>
            </p:cNvCxnSpPr>
            <p:nvPr/>
          </p:nvCxnSpPr>
          <p:spPr>
            <a:xfrm flipH="1">
              <a:off x="3431280" y="3571163"/>
              <a:ext cx="442397" cy="5811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9BE836A-5DCA-66C6-BBFF-B6EA982C9A09}"/>
                </a:ext>
              </a:extLst>
            </p:cNvPr>
            <p:cNvCxnSpPr>
              <a:cxnSpLocks/>
              <a:stCxn id="10" idx="5"/>
              <a:endCxn id="17" idx="0"/>
            </p:cNvCxnSpPr>
            <p:nvPr/>
          </p:nvCxnSpPr>
          <p:spPr>
            <a:xfrm>
              <a:off x="8100301" y="4688392"/>
              <a:ext cx="243436" cy="4501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FCB3760-8C8D-0C79-E165-738AF3CF1DFD}"/>
                </a:ext>
              </a:extLst>
            </p:cNvPr>
            <p:cNvCxnSpPr>
              <a:cxnSpLocks/>
              <a:stCxn id="10" idx="3"/>
              <a:endCxn id="19" idx="0"/>
            </p:cNvCxnSpPr>
            <p:nvPr/>
          </p:nvCxnSpPr>
          <p:spPr>
            <a:xfrm flipH="1">
              <a:off x="7384010" y="4688392"/>
              <a:ext cx="246053" cy="4501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6C33B64-4FCB-B27D-39A8-A079EC36BF5C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6044939" y="4688389"/>
              <a:ext cx="487664" cy="4802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BDED08A-4D32-4CAD-250A-148DF2CDD235}"/>
                </a:ext>
              </a:extLst>
            </p:cNvPr>
            <p:cNvCxnSpPr>
              <a:cxnSpLocks/>
              <a:stCxn id="9" idx="3"/>
              <a:endCxn id="11" idx="0"/>
            </p:cNvCxnSpPr>
            <p:nvPr/>
          </p:nvCxnSpPr>
          <p:spPr>
            <a:xfrm flipH="1">
              <a:off x="5139898" y="4688389"/>
              <a:ext cx="434803" cy="4618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9026894-E94C-2B08-BBAD-A093186B2553}"/>
                </a:ext>
              </a:extLst>
            </p:cNvPr>
            <p:cNvCxnSpPr>
              <a:cxnSpLocks/>
              <a:stCxn id="12" idx="5"/>
              <a:endCxn id="15" idx="1"/>
            </p:cNvCxnSpPr>
            <p:nvPr/>
          </p:nvCxnSpPr>
          <p:spPr>
            <a:xfrm>
              <a:off x="6767722" y="5704723"/>
              <a:ext cx="48660" cy="5420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E6F1395-D41E-1292-98CC-4BEA1413B7B2}"/>
                </a:ext>
              </a:extLst>
            </p:cNvPr>
            <p:cNvCxnSpPr>
              <a:cxnSpLocks/>
              <a:stCxn id="12" idx="3"/>
              <a:endCxn id="14" idx="0"/>
            </p:cNvCxnSpPr>
            <p:nvPr/>
          </p:nvCxnSpPr>
          <p:spPr>
            <a:xfrm flipH="1">
              <a:off x="6233161" y="5704723"/>
              <a:ext cx="64323" cy="4741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DF6D78D-96D3-0799-54A1-0E30EE25799E}"/>
                </a:ext>
              </a:extLst>
            </p:cNvPr>
            <p:cNvCxnSpPr>
              <a:cxnSpLocks/>
              <a:stCxn id="11" idx="5"/>
              <a:endCxn id="16" idx="0"/>
            </p:cNvCxnSpPr>
            <p:nvPr/>
          </p:nvCxnSpPr>
          <p:spPr>
            <a:xfrm>
              <a:off x="5375017" y="5686315"/>
              <a:ext cx="175413" cy="5098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2D81661-DC10-1BB3-586C-BF557B4822DD}"/>
                </a:ext>
              </a:extLst>
            </p:cNvPr>
            <p:cNvCxnSpPr>
              <a:cxnSpLocks/>
              <a:stCxn id="11" idx="3"/>
              <a:endCxn id="20" idx="0"/>
            </p:cNvCxnSpPr>
            <p:nvPr/>
          </p:nvCxnSpPr>
          <p:spPr>
            <a:xfrm flipH="1">
              <a:off x="4744190" y="5686315"/>
              <a:ext cx="160589" cy="5098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D959A52-D673-E567-874B-5941ADEF1FBC}"/>
                </a:ext>
              </a:extLst>
            </p:cNvPr>
            <p:cNvSpPr txBox="1"/>
            <p:nvPr/>
          </p:nvSpPr>
          <p:spPr>
            <a:xfrm>
              <a:off x="3277231" y="4284912"/>
              <a:ext cx="334925" cy="49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4B6DCB4-5564-741A-916B-2D11D893300F}"/>
                </a:ext>
              </a:extLst>
            </p:cNvPr>
            <p:cNvSpPr txBox="1"/>
            <p:nvPr/>
          </p:nvSpPr>
          <p:spPr>
            <a:xfrm>
              <a:off x="4441305" y="4284912"/>
              <a:ext cx="334925" cy="49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B5BDB1C-0F35-D0AA-A50D-A74C95B1D0E7}"/>
                </a:ext>
              </a:extLst>
            </p:cNvPr>
            <p:cNvSpPr txBox="1"/>
            <p:nvPr/>
          </p:nvSpPr>
          <p:spPr>
            <a:xfrm>
              <a:off x="4528426" y="6308085"/>
              <a:ext cx="334925" cy="49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4FE6662-E05D-4956-886D-DA1DD45146D4}"/>
                </a:ext>
              </a:extLst>
            </p:cNvPr>
            <p:cNvSpPr txBox="1"/>
            <p:nvPr/>
          </p:nvSpPr>
          <p:spPr>
            <a:xfrm>
              <a:off x="5402715" y="6341712"/>
              <a:ext cx="334925" cy="49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D56FAE1-CBED-119B-B442-337C91E9A635}"/>
                </a:ext>
              </a:extLst>
            </p:cNvPr>
            <p:cNvSpPr txBox="1"/>
            <p:nvPr/>
          </p:nvSpPr>
          <p:spPr>
            <a:xfrm>
              <a:off x="6036261" y="6409477"/>
              <a:ext cx="334925" cy="49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68F57F-20C1-389B-8EE7-EDE7DBED7619}"/>
                </a:ext>
              </a:extLst>
            </p:cNvPr>
            <p:cNvSpPr txBox="1"/>
            <p:nvPr/>
          </p:nvSpPr>
          <p:spPr>
            <a:xfrm>
              <a:off x="6915892" y="6409477"/>
              <a:ext cx="334925" cy="49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757C9DA-2872-28B4-5ED9-52FD1EC7CBCD}"/>
                </a:ext>
              </a:extLst>
            </p:cNvPr>
            <p:cNvSpPr txBox="1"/>
            <p:nvPr/>
          </p:nvSpPr>
          <p:spPr>
            <a:xfrm>
              <a:off x="7145796" y="5385815"/>
              <a:ext cx="334925" cy="49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C71BF8C-FF36-A31D-EA97-6AD5A4B7E7A8}"/>
                </a:ext>
              </a:extLst>
            </p:cNvPr>
            <p:cNvSpPr txBox="1"/>
            <p:nvPr/>
          </p:nvSpPr>
          <p:spPr>
            <a:xfrm>
              <a:off x="8197692" y="5393146"/>
              <a:ext cx="334925" cy="491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E2D7BCAD-C26B-5301-E0D4-89A597FA9FD6}"/>
              </a:ext>
            </a:extLst>
          </p:cNvPr>
          <p:cNvSpPr/>
          <p:nvPr/>
        </p:nvSpPr>
        <p:spPr>
          <a:xfrm>
            <a:off x="5092281" y="4298037"/>
            <a:ext cx="158127" cy="1854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09CD623-CAF3-D8E3-3166-F9FBF578E66C}"/>
              </a:ext>
            </a:extLst>
          </p:cNvPr>
          <p:cNvSpPr/>
          <p:nvPr/>
        </p:nvSpPr>
        <p:spPr>
          <a:xfrm>
            <a:off x="3194647" y="4327536"/>
            <a:ext cx="158127" cy="1854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1F395A9-2615-E0C1-B69F-AFA73DCE79E4}"/>
              </a:ext>
            </a:extLst>
          </p:cNvPr>
          <p:cNvSpPr/>
          <p:nvPr/>
        </p:nvSpPr>
        <p:spPr>
          <a:xfrm>
            <a:off x="2073770" y="4317701"/>
            <a:ext cx="158127" cy="1854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4B37D0E-C631-644B-A62D-5C4960E2234A}"/>
              </a:ext>
            </a:extLst>
          </p:cNvPr>
          <p:cNvSpPr/>
          <p:nvPr/>
        </p:nvSpPr>
        <p:spPr>
          <a:xfrm>
            <a:off x="4630163" y="5055127"/>
            <a:ext cx="158127" cy="18548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1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489</Words>
  <Application>Microsoft Office PowerPoint</Application>
  <PresentationFormat>Widescreen</PresentationFormat>
  <Paragraphs>118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</vt:lpstr>
      <vt:lpstr>Aptos</vt:lpstr>
      <vt:lpstr>Aptos Display</vt:lpstr>
      <vt:lpstr>Arial</vt:lpstr>
      <vt:lpstr>Office Theme</vt:lpstr>
      <vt:lpstr>In-Class-Practice Problems</vt:lpstr>
      <vt:lpstr>Write a program to evaluate a given expression tree.</vt:lpstr>
      <vt:lpstr>Evaluate an expression without tree representation</vt:lpstr>
      <vt:lpstr>Algorithm/Pseudocode/Steps</vt:lpstr>
      <vt:lpstr>Write a program to compute height of a binary tree</vt:lpstr>
      <vt:lpstr>Compute the node’s balancing factor for a AVL tree.</vt:lpstr>
      <vt:lpstr>Consider a Dictionary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7</cp:revision>
  <dcterms:created xsi:type="dcterms:W3CDTF">2024-10-16T10:00:58Z</dcterms:created>
  <dcterms:modified xsi:type="dcterms:W3CDTF">2024-10-16T17:51:20Z</dcterms:modified>
</cp:coreProperties>
</file>