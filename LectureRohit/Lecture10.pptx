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4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5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4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11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6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6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1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6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0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73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2779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38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0878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66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74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7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84225-96CC-4493-82AF-5BEDE8D20B2C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07DCF02-3A39-49D7-9EB2-6CC8A20C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CD91B149-62F3-7CCF-9571-E4428BC5D2F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Bounded-Depth Search Trees</a:t>
            </a:r>
            <a:endParaRPr lang="en-US" altLang="en-US" sz="2400" dirty="0"/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24C19882-C203-1C86-EE4F-ADB33E00AF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P.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October 7, 2024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79FDA56E-DEFB-0EAB-97D9-D1239547F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3.3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4F7C42D-A53C-687E-3B74-5D32A6A78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Multi-Way Search Tree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8EBD2482-8B40-5365-7031-EEDAE326CB4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295400"/>
            <a:ext cx="8077200" cy="2743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multi-way search tree is an ordered tree such that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Each internal node has </a:t>
            </a:r>
            <a:r>
              <a:rPr lang="en-US" altLang="en-US" sz="1800">
                <a:solidFill>
                  <a:srgbClr val="FF0000"/>
                </a:solidFill>
              </a:rPr>
              <a:t>at least two children </a:t>
            </a:r>
            <a:r>
              <a:rPr lang="en-US" altLang="en-US" sz="1800"/>
              <a:t>and stores 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 b="1" i="1">
                <a:latin typeface="Symbol" pitchFamily="2" charset="2"/>
              </a:rPr>
              <a:t> 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1 </a:t>
            </a:r>
            <a:r>
              <a:rPr lang="en-US" altLang="en-US" sz="1800"/>
              <a:t>key-element items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, where </a:t>
            </a:r>
            <a:r>
              <a:rPr lang="en-US" altLang="en-US" sz="1800" b="1" i="1">
                <a:latin typeface="Times New Roman" panose="02020603050405020304" pitchFamily="18" charset="0"/>
              </a:rPr>
              <a:t>d </a:t>
            </a:r>
            <a:r>
              <a:rPr lang="en-US" altLang="en-US" sz="1800"/>
              <a:t>is the number of children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For a node with children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800" baseline="-25000">
                <a:latin typeface="Times New Roman" panose="02020603050405020304" pitchFamily="18" charset="0"/>
              </a:rPr>
              <a:t>  </a:t>
            </a:r>
            <a:r>
              <a:rPr lang="en-US" altLang="en-US" sz="1800"/>
              <a:t>storing  keys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1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800" baseline="-25000">
                <a:latin typeface="Symbol" pitchFamily="2" charset="2"/>
              </a:rPr>
              <a:t>-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endParaRPr lang="en-US" altLang="en-US" sz="1800"/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keys in the subtree of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1 </a:t>
            </a:r>
            <a:r>
              <a:rPr lang="en-US" altLang="en-US" sz="1600"/>
              <a:t>are less than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keys in the subtree of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600"/>
              <a:t> are between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600" baseline="-25000">
                <a:latin typeface="Symbol" pitchFamily="2" charset="2"/>
              </a:rPr>
              <a:t>-</a:t>
            </a:r>
            <a:r>
              <a:rPr lang="en-US" altLang="en-US" sz="1600" baseline="-25000">
                <a:latin typeface="Times New Roman" panose="02020603050405020304" pitchFamily="18" charset="0"/>
              </a:rPr>
              <a:t>1 </a:t>
            </a:r>
            <a:r>
              <a:rPr lang="en-US" altLang="en-US" sz="1600"/>
              <a:t>and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600" b="1" i="1"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i</a:t>
            </a:r>
            <a:r>
              <a:rPr lang="en-US" altLang="en-US" sz="1600">
                <a:latin typeface="Times New Roman" panose="02020603050405020304" pitchFamily="18" charset="0"/>
              </a:rPr>
              <a:t> = 2, …, </a:t>
            </a:r>
            <a:r>
              <a:rPr lang="en-US" altLang="en-US" sz="1600" b="1" i="1">
                <a:latin typeface="Times New Roman" panose="02020603050405020304" pitchFamily="18" charset="0"/>
              </a:rPr>
              <a:t>d</a:t>
            </a:r>
            <a:r>
              <a:rPr lang="en-US" altLang="en-US" sz="1600">
                <a:latin typeface="Symbol" pitchFamily="2" charset="2"/>
              </a:rPr>
              <a:t> - </a:t>
            </a:r>
            <a:r>
              <a:rPr lang="en-US" altLang="en-US" sz="1600">
                <a:latin typeface="Times New Roman" panose="02020603050405020304" pitchFamily="18" charset="0"/>
              </a:rPr>
              <a:t>1)</a:t>
            </a:r>
            <a:endParaRPr lang="en-US" altLang="en-US" sz="1600" baseline="-2500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keys in the subtree of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600" b="1" i="1">
                <a:latin typeface="Times New Roman" panose="02020603050405020304" pitchFamily="18" charset="0"/>
              </a:rPr>
              <a:t> </a:t>
            </a:r>
            <a:r>
              <a:rPr lang="en-US" altLang="en-US" sz="1600"/>
              <a:t>are greater than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600" baseline="-25000">
                <a:latin typeface="Symbol" pitchFamily="2" charset="2"/>
              </a:rPr>
              <a:t>-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leaves store no items and serve as placeholders</a:t>
            </a:r>
          </a:p>
        </p:txBody>
      </p:sp>
      <p:sp>
        <p:nvSpPr>
          <p:cNvPr id="16387" name="Oval 4">
            <a:extLst>
              <a:ext uri="{FF2B5EF4-FFF2-40B4-BE49-F238E27FC236}">
                <a16:creationId xmlns:a16="http://schemas.microsoft.com/office/drawing/2014/main" id="{7EBF9BB3-18B0-5686-18C6-1A5F21C23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1524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11    24</a:t>
            </a:r>
          </a:p>
        </p:txBody>
      </p:sp>
      <p:sp>
        <p:nvSpPr>
          <p:cNvPr id="16388" name="Oval 5">
            <a:extLst>
              <a:ext uri="{FF2B5EF4-FFF2-40B4-BE49-F238E27FC236}">
                <a16:creationId xmlns:a16="http://schemas.microsoft.com/office/drawing/2014/main" id="{01B9AD81-62FB-D557-4A16-D04A62CE5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876800"/>
            <a:ext cx="19812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2   6   8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6389" name="Oval 6">
            <a:extLst>
              <a:ext uri="{FF2B5EF4-FFF2-40B4-BE49-F238E27FC236}">
                <a16:creationId xmlns:a16="http://schemas.microsoft.com/office/drawing/2014/main" id="{C51EE34E-2DF0-868F-5AF3-2A213309C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768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15</a:t>
            </a:r>
          </a:p>
        </p:txBody>
      </p:sp>
      <p:sp>
        <p:nvSpPr>
          <p:cNvPr id="16390" name="Oval 7">
            <a:extLst>
              <a:ext uri="{FF2B5EF4-FFF2-40B4-BE49-F238E27FC236}">
                <a16:creationId xmlns:a16="http://schemas.microsoft.com/office/drawing/2014/main" id="{259CD005-142B-94A9-F88B-77C3947CC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5486400"/>
            <a:ext cx="9906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30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6391" name="Oval 8">
            <a:extLst>
              <a:ext uri="{FF2B5EF4-FFF2-40B4-BE49-F238E27FC236}">
                <a16:creationId xmlns:a16="http://schemas.microsoft.com/office/drawing/2014/main" id="{87CEC0B4-95F5-AA70-F599-461A269F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876800"/>
            <a:ext cx="1676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27    32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6392" name="Rectangle 9">
            <a:extLst>
              <a:ext uri="{FF2B5EF4-FFF2-40B4-BE49-F238E27FC236}">
                <a16:creationId xmlns:a16="http://schemas.microsoft.com/office/drawing/2014/main" id="{91BA09C5-DAA6-31B3-14A8-EC5ACAB16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3" name="Rectangle 10">
            <a:extLst>
              <a:ext uri="{FF2B5EF4-FFF2-40B4-BE49-F238E27FC236}">
                <a16:creationId xmlns:a16="http://schemas.microsoft.com/office/drawing/2014/main" id="{5D455532-EA5C-E647-CE70-BA7245E9B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4" name="Rectangle 11">
            <a:extLst>
              <a:ext uri="{FF2B5EF4-FFF2-40B4-BE49-F238E27FC236}">
                <a16:creationId xmlns:a16="http://schemas.microsoft.com/office/drawing/2014/main" id="{787A0495-011C-D64E-2368-E9FFCBBBC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5" name="Rectangle 12">
            <a:extLst>
              <a:ext uri="{FF2B5EF4-FFF2-40B4-BE49-F238E27FC236}">
                <a16:creationId xmlns:a16="http://schemas.microsoft.com/office/drawing/2014/main" id="{79F06663-B7F5-DD97-FC09-A102DAF40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6" name="Rectangle 13">
            <a:extLst>
              <a:ext uri="{FF2B5EF4-FFF2-40B4-BE49-F238E27FC236}">
                <a16:creationId xmlns:a16="http://schemas.microsoft.com/office/drawing/2014/main" id="{F6D11F54-E075-55CE-C028-15B8050FE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7" name="Rectangle 14">
            <a:extLst>
              <a:ext uri="{FF2B5EF4-FFF2-40B4-BE49-F238E27FC236}">
                <a16:creationId xmlns:a16="http://schemas.microsoft.com/office/drawing/2014/main" id="{2A12E036-73E2-6D8F-FABB-00BA7CA9A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8" name="Rectangle 15">
            <a:extLst>
              <a:ext uri="{FF2B5EF4-FFF2-40B4-BE49-F238E27FC236}">
                <a16:creationId xmlns:a16="http://schemas.microsoft.com/office/drawing/2014/main" id="{F97247D0-3612-1295-FACC-95A5F932D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9" name="Rectangle 16">
            <a:extLst>
              <a:ext uri="{FF2B5EF4-FFF2-40B4-BE49-F238E27FC236}">
                <a16:creationId xmlns:a16="http://schemas.microsoft.com/office/drawing/2014/main" id="{2AB3062C-2F18-BA45-D3E0-0B50AC9A9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6400" name="AutoShape 17">
            <a:extLst>
              <a:ext uri="{FF2B5EF4-FFF2-40B4-BE49-F238E27FC236}">
                <a16:creationId xmlns:a16="http://schemas.microsoft.com/office/drawing/2014/main" id="{2399AE37-DFC2-A35D-6E7C-874A6432E005}"/>
              </a:ext>
            </a:extLst>
          </p:cNvPr>
          <p:cNvCxnSpPr>
            <a:cxnSpLocks noChangeShapeType="1"/>
            <a:stCxn id="16387" idx="3"/>
            <a:endCxn id="16388" idx="0"/>
          </p:cNvCxnSpPr>
          <p:nvPr/>
        </p:nvCxnSpPr>
        <p:spPr bwMode="auto">
          <a:xfrm flipH="1">
            <a:off x="3657600" y="4602163"/>
            <a:ext cx="1671638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1" name="AutoShape 18">
            <a:extLst>
              <a:ext uri="{FF2B5EF4-FFF2-40B4-BE49-F238E27FC236}">
                <a16:creationId xmlns:a16="http://schemas.microsoft.com/office/drawing/2014/main" id="{CDB655F3-5B1F-9BE6-9BED-1419D8C882E3}"/>
              </a:ext>
            </a:extLst>
          </p:cNvPr>
          <p:cNvCxnSpPr>
            <a:cxnSpLocks noChangeShapeType="1"/>
            <a:stCxn id="16387" idx="4"/>
            <a:endCxn id="16389" idx="0"/>
          </p:cNvCxnSpPr>
          <p:nvPr/>
        </p:nvCxnSpPr>
        <p:spPr bwMode="auto">
          <a:xfrm>
            <a:off x="5867400" y="4657725"/>
            <a:ext cx="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2" name="AutoShape 19">
            <a:extLst>
              <a:ext uri="{FF2B5EF4-FFF2-40B4-BE49-F238E27FC236}">
                <a16:creationId xmlns:a16="http://schemas.microsoft.com/office/drawing/2014/main" id="{C21945CA-F57C-29E2-EB2F-7539C2196572}"/>
              </a:ext>
            </a:extLst>
          </p:cNvPr>
          <p:cNvCxnSpPr>
            <a:cxnSpLocks noChangeShapeType="1"/>
            <a:stCxn id="16387" idx="5"/>
            <a:endCxn id="16391" idx="0"/>
          </p:cNvCxnSpPr>
          <p:nvPr/>
        </p:nvCxnSpPr>
        <p:spPr bwMode="auto">
          <a:xfrm>
            <a:off x="6405564" y="4602163"/>
            <a:ext cx="2052637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3" name="AutoShape 20">
            <a:extLst>
              <a:ext uri="{FF2B5EF4-FFF2-40B4-BE49-F238E27FC236}">
                <a16:creationId xmlns:a16="http://schemas.microsoft.com/office/drawing/2014/main" id="{419A43B0-0213-7C3E-6E2E-F2494120622D}"/>
              </a:ext>
            </a:extLst>
          </p:cNvPr>
          <p:cNvCxnSpPr>
            <a:cxnSpLocks noChangeShapeType="1"/>
            <a:stCxn id="16388" idx="3"/>
            <a:endCxn id="16396" idx="0"/>
          </p:cNvCxnSpPr>
          <p:nvPr/>
        </p:nvCxnSpPr>
        <p:spPr bwMode="auto">
          <a:xfrm flipH="1">
            <a:off x="2743201" y="5211763"/>
            <a:ext cx="2143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4" name="AutoShape 21">
            <a:extLst>
              <a:ext uri="{FF2B5EF4-FFF2-40B4-BE49-F238E27FC236}">
                <a16:creationId xmlns:a16="http://schemas.microsoft.com/office/drawing/2014/main" id="{41672089-9033-EC98-3135-286EBD0EF0C0}"/>
              </a:ext>
            </a:extLst>
          </p:cNvPr>
          <p:cNvCxnSpPr>
            <a:cxnSpLocks noChangeShapeType="1"/>
            <a:stCxn id="16388" idx="5"/>
            <a:endCxn id="16399" idx="0"/>
          </p:cNvCxnSpPr>
          <p:nvPr/>
        </p:nvCxnSpPr>
        <p:spPr bwMode="auto">
          <a:xfrm>
            <a:off x="4357688" y="5211763"/>
            <a:ext cx="2143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5" name="Line 22">
            <a:extLst>
              <a:ext uri="{FF2B5EF4-FFF2-40B4-BE49-F238E27FC236}">
                <a16:creationId xmlns:a16="http://schemas.microsoft.com/office/drawing/2014/main" id="{A67C7154-E8C2-3868-BBE9-5539235D4A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5257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Line 23">
            <a:extLst>
              <a:ext uri="{FF2B5EF4-FFF2-40B4-BE49-F238E27FC236}">
                <a16:creationId xmlns:a16="http://schemas.microsoft.com/office/drawing/2014/main" id="{D9BD3D3A-4145-780A-5EAF-F2B52952B7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5257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Rectangle 24">
            <a:extLst>
              <a:ext uri="{FF2B5EF4-FFF2-40B4-BE49-F238E27FC236}">
                <a16:creationId xmlns:a16="http://schemas.microsoft.com/office/drawing/2014/main" id="{F1E0E612-4545-0EF4-8369-24F084656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60960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8" name="Rectangle 25">
            <a:extLst>
              <a:ext uri="{FF2B5EF4-FFF2-40B4-BE49-F238E27FC236}">
                <a16:creationId xmlns:a16="http://schemas.microsoft.com/office/drawing/2014/main" id="{A1872EB2-5CA0-7923-4278-1C48FC397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700" y="60960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6409" name="AutoShape 26">
            <a:extLst>
              <a:ext uri="{FF2B5EF4-FFF2-40B4-BE49-F238E27FC236}">
                <a16:creationId xmlns:a16="http://schemas.microsoft.com/office/drawing/2014/main" id="{24F0BA28-192B-F8D7-7C8E-DE6EC27AA062}"/>
              </a:ext>
            </a:extLst>
          </p:cNvPr>
          <p:cNvCxnSpPr>
            <a:cxnSpLocks noChangeShapeType="1"/>
            <a:stCxn id="16390" idx="0"/>
            <a:endCxn id="16391" idx="4"/>
          </p:cNvCxnSpPr>
          <p:nvPr/>
        </p:nvCxnSpPr>
        <p:spPr bwMode="auto">
          <a:xfrm flipV="1">
            <a:off x="8458200" y="5267325"/>
            <a:ext cx="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0" name="AutoShape 27">
            <a:extLst>
              <a:ext uri="{FF2B5EF4-FFF2-40B4-BE49-F238E27FC236}">
                <a16:creationId xmlns:a16="http://schemas.microsoft.com/office/drawing/2014/main" id="{998A208B-A4A8-DA54-77BB-FF0574D62B2B}"/>
              </a:ext>
            </a:extLst>
          </p:cNvPr>
          <p:cNvCxnSpPr>
            <a:cxnSpLocks noChangeShapeType="1"/>
            <a:stCxn id="16392" idx="0"/>
            <a:endCxn id="16391" idx="3"/>
          </p:cNvCxnSpPr>
          <p:nvPr/>
        </p:nvCxnSpPr>
        <p:spPr bwMode="auto">
          <a:xfrm flipV="1">
            <a:off x="7543801" y="5211763"/>
            <a:ext cx="32226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1" name="AutoShape 28">
            <a:extLst>
              <a:ext uri="{FF2B5EF4-FFF2-40B4-BE49-F238E27FC236}">
                <a16:creationId xmlns:a16="http://schemas.microsoft.com/office/drawing/2014/main" id="{377EE80F-AB0C-7C81-8E01-50D6A8488EB5}"/>
              </a:ext>
            </a:extLst>
          </p:cNvPr>
          <p:cNvCxnSpPr>
            <a:cxnSpLocks noChangeShapeType="1"/>
            <a:stCxn id="16393" idx="0"/>
            <a:endCxn id="16391" idx="5"/>
          </p:cNvCxnSpPr>
          <p:nvPr/>
        </p:nvCxnSpPr>
        <p:spPr bwMode="auto">
          <a:xfrm flipH="1" flipV="1">
            <a:off x="9050338" y="5211763"/>
            <a:ext cx="32226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2" name="Line 29">
            <a:extLst>
              <a:ext uri="{FF2B5EF4-FFF2-40B4-BE49-F238E27FC236}">
                <a16:creationId xmlns:a16="http://schemas.microsoft.com/office/drawing/2014/main" id="{2EFEA050-5E3A-E16E-A640-7003763F60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96000" y="52578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3" name="Line 30">
            <a:extLst>
              <a:ext uri="{FF2B5EF4-FFF2-40B4-BE49-F238E27FC236}">
                <a16:creationId xmlns:a16="http://schemas.microsoft.com/office/drawing/2014/main" id="{29A0DAE1-4304-7359-EEBB-2D502C5F10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52578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Line 31">
            <a:extLst>
              <a:ext uri="{FF2B5EF4-FFF2-40B4-BE49-F238E27FC236}">
                <a16:creationId xmlns:a16="http://schemas.microsoft.com/office/drawing/2014/main" id="{0B536D3A-9D33-6EB5-F76B-588D45930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5300" y="5867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5" name="Line 32">
            <a:extLst>
              <a:ext uri="{FF2B5EF4-FFF2-40B4-BE49-F238E27FC236}">
                <a16:creationId xmlns:a16="http://schemas.microsoft.com/office/drawing/2014/main" id="{D92F1F58-C075-749A-258E-C3821B1BFC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48700" y="5867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D54A7FC7-7099-8615-6CB6-D12556F07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Multi-Way Inorder Traversal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A84566BD-AAC1-A84A-FC08-DEC50E7571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219200"/>
            <a:ext cx="7772400" cy="2362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can extend the notion of inorder traversal from binary trees to multi-way search trees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Namely, we visit item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of 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between the recursive traversals of the subtrees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rooted at children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 b="1" i="1">
                <a:latin typeface="Symbol" pitchFamily="2" charset="2"/>
              </a:rPr>
              <a:t> </a:t>
            </a:r>
            <a:r>
              <a:rPr lang="en-US" altLang="en-US" sz="2000" baseline="-25000">
                <a:latin typeface="Symbol" pitchFamily="2" charset="2"/>
              </a:rPr>
              <a:t>+</a:t>
            </a:r>
            <a:r>
              <a:rPr lang="en-US" altLang="en-US" sz="2000" b="1" i="1">
                <a:latin typeface="Symbol" pitchFamily="2" charset="2"/>
              </a:rPr>
              <a:t> 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baseline="-25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 inorder traversal of a multi-way search tree visits the keys in increasing order</a:t>
            </a:r>
          </a:p>
        </p:txBody>
      </p:sp>
      <p:sp>
        <p:nvSpPr>
          <p:cNvPr id="17411" name="Oval 4">
            <a:extLst>
              <a:ext uri="{FF2B5EF4-FFF2-40B4-BE49-F238E27FC236}">
                <a16:creationId xmlns:a16="http://schemas.microsoft.com/office/drawing/2014/main" id="{3308E994-424C-AE19-5B9E-2214CEBFD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962400"/>
            <a:ext cx="1524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11    24</a:t>
            </a:r>
          </a:p>
        </p:txBody>
      </p:sp>
      <p:sp>
        <p:nvSpPr>
          <p:cNvPr id="17412" name="Oval 5">
            <a:extLst>
              <a:ext uri="{FF2B5EF4-FFF2-40B4-BE49-F238E27FC236}">
                <a16:creationId xmlns:a16="http://schemas.microsoft.com/office/drawing/2014/main" id="{7C555AE8-5CDE-9911-C7C9-2B9331131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572000"/>
            <a:ext cx="19812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2   6   8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7413" name="Oval 6">
            <a:extLst>
              <a:ext uri="{FF2B5EF4-FFF2-40B4-BE49-F238E27FC236}">
                <a16:creationId xmlns:a16="http://schemas.microsoft.com/office/drawing/2014/main" id="{C10987B1-20CA-4A09-FF8B-B8625D092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720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15</a:t>
            </a:r>
          </a:p>
        </p:txBody>
      </p:sp>
      <p:sp>
        <p:nvSpPr>
          <p:cNvPr id="17414" name="Oval 7">
            <a:extLst>
              <a:ext uri="{FF2B5EF4-FFF2-40B4-BE49-F238E27FC236}">
                <a16:creationId xmlns:a16="http://schemas.microsoft.com/office/drawing/2014/main" id="{5E206016-A602-3780-3840-029BBA36A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700" y="5181600"/>
            <a:ext cx="9906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30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7415" name="Oval 8">
            <a:extLst>
              <a:ext uri="{FF2B5EF4-FFF2-40B4-BE49-F238E27FC236}">
                <a16:creationId xmlns:a16="http://schemas.microsoft.com/office/drawing/2014/main" id="{1882FA82-7AE4-D4D5-975D-AD00CC446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72000"/>
            <a:ext cx="1676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27    32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7416" name="Rectangle 9">
            <a:extLst>
              <a:ext uri="{FF2B5EF4-FFF2-40B4-BE49-F238E27FC236}">
                <a16:creationId xmlns:a16="http://schemas.microsoft.com/office/drawing/2014/main" id="{A5E04806-7E22-826C-E6B5-D7CC1C9D6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7" name="Rectangle 10">
            <a:extLst>
              <a:ext uri="{FF2B5EF4-FFF2-40B4-BE49-F238E27FC236}">
                <a16:creationId xmlns:a16="http://schemas.microsoft.com/office/drawing/2014/main" id="{0D9D6443-7C76-6299-5D15-7C50D78CE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8" name="Rectangle 11">
            <a:extLst>
              <a:ext uri="{FF2B5EF4-FFF2-40B4-BE49-F238E27FC236}">
                <a16:creationId xmlns:a16="http://schemas.microsoft.com/office/drawing/2014/main" id="{02F7918E-3A56-8B4A-5F5B-9AD876FFB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9" name="Rectangle 12">
            <a:extLst>
              <a:ext uri="{FF2B5EF4-FFF2-40B4-BE49-F238E27FC236}">
                <a16:creationId xmlns:a16="http://schemas.microsoft.com/office/drawing/2014/main" id="{3CA492A8-10E3-2064-57EB-8602721E9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0" name="Rectangle 13">
            <a:extLst>
              <a:ext uri="{FF2B5EF4-FFF2-40B4-BE49-F238E27FC236}">
                <a16:creationId xmlns:a16="http://schemas.microsoft.com/office/drawing/2014/main" id="{12E4E521-9C2C-DF79-A606-F127AD7DE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1" name="Rectangle 14">
            <a:extLst>
              <a:ext uri="{FF2B5EF4-FFF2-40B4-BE49-F238E27FC236}">
                <a16:creationId xmlns:a16="http://schemas.microsoft.com/office/drawing/2014/main" id="{68F34B16-D068-DB66-FEE5-30BC554FB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2" name="Rectangle 15">
            <a:extLst>
              <a:ext uri="{FF2B5EF4-FFF2-40B4-BE49-F238E27FC236}">
                <a16:creationId xmlns:a16="http://schemas.microsoft.com/office/drawing/2014/main" id="{C830D306-BB37-FE3F-64AC-A0B4E0193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3" name="Rectangle 16">
            <a:extLst>
              <a:ext uri="{FF2B5EF4-FFF2-40B4-BE49-F238E27FC236}">
                <a16:creationId xmlns:a16="http://schemas.microsoft.com/office/drawing/2014/main" id="{04A6D46B-2541-49C3-A4F7-35901284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1816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7424" name="AutoShape 17">
            <a:extLst>
              <a:ext uri="{FF2B5EF4-FFF2-40B4-BE49-F238E27FC236}">
                <a16:creationId xmlns:a16="http://schemas.microsoft.com/office/drawing/2014/main" id="{69AFCF6B-7FFC-374D-C6C3-2D354B20AF22}"/>
              </a:ext>
            </a:extLst>
          </p:cNvPr>
          <p:cNvCxnSpPr>
            <a:cxnSpLocks noChangeShapeType="1"/>
            <a:stCxn id="17411" idx="3"/>
            <a:endCxn id="17412" idx="0"/>
          </p:cNvCxnSpPr>
          <p:nvPr/>
        </p:nvCxnSpPr>
        <p:spPr bwMode="auto">
          <a:xfrm flipH="1">
            <a:off x="3581400" y="4297363"/>
            <a:ext cx="1671638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5" name="AutoShape 18">
            <a:extLst>
              <a:ext uri="{FF2B5EF4-FFF2-40B4-BE49-F238E27FC236}">
                <a16:creationId xmlns:a16="http://schemas.microsoft.com/office/drawing/2014/main" id="{A9DA4F49-B6CD-8089-FD4F-D2565504C7A7}"/>
              </a:ext>
            </a:extLst>
          </p:cNvPr>
          <p:cNvCxnSpPr>
            <a:cxnSpLocks noChangeShapeType="1"/>
            <a:stCxn id="17411" idx="4"/>
            <a:endCxn id="17413" idx="0"/>
          </p:cNvCxnSpPr>
          <p:nvPr/>
        </p:nvCxnSpPr>
        <p:spPr bwMode="auto">
          <a:xfrm>
            <a:off x="5791200" y="4352925"/>
            <a:ext cx="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6" name="AutoShape 19">
            <a:extLst>
              <a:ext uri="{FF2B5EF4-FFF2-40B4-BE49-F238E27FC236}">
                <a16:creationId xmlns:a16="http://schemas.microsoft.com/office/drawing/2014/main" id="{AEDCFE35-B8C6-24EC-D9D4-634FD6BA5504}"/>
              </a:ext>
            </a:extLst>
          </p:cNvPr>
          <p:cNvCxnSpPr>
            <a:cxnSpLocks noChangeShapeType="1"/>
            <a:stCxn id="17411" idx="5"/>
            <a:endCxn id="17415" idx="0"/>
          </p:cNvCxnSpPr>
          <p:nvPr/>
        </p:nvCxnSpPr>
        <p:spPr bwMode="auto">
          <a:xfrm>
            <a:off x="6329364" y="4297363"/>
            <a:ext cx="2052637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7" name="AutoShape 20">
            <a:extLst>
              <a:ext uri="{FF2B5EF4-FFF2-40B4-BE49-F238E27FC236}">
                <a16:creationId xmlns:a16="http://schemas.microsoft.com/office/drawing/2014/main" id="{2B0E1223-6463-C079-DC8A-A1793F63B252}"/>
              </a:ext>
            </a:extLst>
          </p:cNvPr>
          <p:cNvCxnSpPr>
            <a:cxnSpLocks noChangeShapeType="1"/>
            <a:stCxn id="17412" idx="3"/>
            <a:endCxn id="17420" idx="0"/>
          </p:cNvCxnSpPr>
          <p:nvPr/>
        </p:nvCxnSpPr>
        <p:spPr bwMode="auto">
          <a:xfrm flipH="1">
            <a:off x="2667001" y="4906963"/>
            <a:ext cx="2143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8" name="AutoShape 21">
            <a:extLst>
              <a:ext uri="{FF2B5EF4-FFF2-40B4-BE49-F238E27FC236}">
                <a16:creationId xmlns:a16="http://schemas.microsoft.com/office/drawing/2014/main" id="{4DF84306-723A-717E-D3C2-64508721C8A0}"/>
              </a:ext>
            </a:extLst>
          </p:cNvPr>
          <p:cNvCxnSpPr>
            <a:cxnSpLocks noChangeShapeType="1"/>
            <a:stCxn id="17412" idx="5"/>
            <a:endCxn id="17423" idx="0"/>
          </p:cNvCxnSpPr>
          <p:nvPr/>
        </p:nvCxnSpPr>
        <p:spPr bwMode="auto">
          <a:xfrm>
            <a:off x="4281488" y="4906963"/>
            <a:ext cx="2143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9" name="Line 22">
            <a:extLst>
              <a:ext uri="{FF2B5EF4-FFF2-40B4-BE49-F238E27FC236}">
                <a16:creationId xmlns:a16="http://schemas.microsoft.com/office/drawing/2014/main" id="{0E7F593C-1B6E-C0B5-D347-07B05AF468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953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Line 23">
            <a:extLst>
              <a:ext uri="{FF2B5EF4-FFF2-40B4-BE49-F238E27FC236}">
                <a16:creationId xmlns:a16="http://schemas.microsoft.com/office/drawing/2014/main" id="{D408F546-9E23-C3C3-3854-29CAF1E17A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0" y="4953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Rectangle 24">
            <a:extLst>
              <a:ext uri="{FF2B5EF4-FFF2-40B4-BE49-F238E27FC236}">
                <a16:creationId xmlns:a16="http://schemas.microsoft.com/office/drawing/2014/main" id="{D5DDAAFB-FE7A-A789-9172-DDAF2A6CA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700" y="57912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17432" name="Rectangle 25">
            <a:extLst>
              <a:ext uri="{FF2B5EF4-FFF2-40B4-BE49-F238E27FC236}">
                <a16:creationId xmlns:a16="http://schemas.microsoft.com/office/drawing/2014/main" id="{F1EDA399-AAF6-6DB9-7F65-3D178F95B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0" y="57912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cxnSp>
        <p:nvCxnSpPr>
          <p:cNvPr id="17433" name="AutoShape 26">
            <a:extLst>
              <a:ext uri="{FF2B5EF4-FFF2-40B4-BE49-F238E27FC236}">
                <a16:creationId xmlns:a16="http://schemas.microsoft.com/office/drawing/2014/main" id="{CA81D0B5-A545-189B-2A8D-C17D23EA48B0}"/>
              </a:ext>
            </a:extLst>
          </p:cNvPr>
          <p:cNvCxnSpPr>
            <a:cxnSpLocks noChangeShapeType="1"/>
            <a:stCxn id="17414" idx="0"/>
            <a:endCxn id="17415" idx="4"/>
          </p:cNvCxnSpPr>
          <p:nvPr/>
        </p:nvCxnSpPr>
        <p:spPr bwMode="auto">
          <a:xfrm flipV="1">
            <a:off x="8382000" y="4962525"/>
            <a:ext cx="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4" name="AutoShape 27">
            <a:extLst>
              <a:ext uri="{FF2B5EF4-FFF2-40B4-BE49-F238E27FC236}">
                <a16:creationId xmlns:a16="http://schemas.microsoft.com/office/drawing/2014/main" id="{0C7D673A-96B5-5C11-F80F-CCF2BC9AC03F}"/>
              </a:ext>
            </a:extLst>
          </p:cNvPr>
          <p:cNvCxnSpPr>
            <a:cxnSpLocks noChangeShapeType="1"/>
            <a:stCxn id="17416" idx="0"/>
            <a:endCxn id="17415" idx="3"/>
          </p:cNvCxnSpPr>
          <p:nvPr/>
        </p:nvCxnSpPr>
        <p:spPr bwMode="auto">
          <a:xfrm flipV="1">
            <a:off x="7467601" y="4906963"/>
            <a:ext cx="32226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5" name="AutoShape 28">
            <a:extLst>
              <a:ext uri="{FF2B5EF4-FFF2-40B4-BE49-F238E27FC236}">
                <a16:creationId xmlns:a16="http://schemas.microsoft.com/office/drawing/2014/main" id="{4EC8A8AB-7CCE-E17C-B917-4D8E07A4B09D}"/>
              </a:ext>
            </a:extLst>
          </p:cNvPr>
          <p:cNvCxnSpPr>
            <a:cxnSpLocks noChangeShapeType="1"/>
            <a:stCxn id="17417" idx="0"/>
            <a:endCxn id="17415" idx="5"/>
          </p:cNvCxnSpPr>
          <p:nvPr/>
        </p:nvCxnSpPr>
        <p:spPr bwMode="auto">
          <a:xfrm flipH="1" flipV="1">
            <a:off x="8974138" y="4906963"/>
            <a:ext cx="32226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6" name="Line 29">
            <a:extLst>
              <a:ext uri="{FF2B5EF4-FFF2-40B4-BE49-F238E27FC236}">
                <a16:creationId xmlns:a16="http://schemas.microsoft.com/office/drawing/2014/main" id="{EFF1CBDC-7732-7019-FB16-925D60DE3E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19800" y="4953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7" name="Line 30">
            <a:extLst>
              <a:ext uri="{FF2B5EF4-FFF2-40B4-BE49-F238E27FC236}">
                <a16:creationId xmlns:a16="http://schemas.microsoft.com/office/drawing/2014/main" id="{78051EB4-D9CC-0EB6-38E6-5628FAB8CA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4953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8" name="Line 31">
            <a:extLst>
              <a:ext uri="{FF2B5EF4-FFF2-40B4-BE49-F238E27FC236}">
                <a16:creationId xmlns:a16="http://schemas.microsoft.com/office/drawing/2014/main" id="{5AA3AFE9-3437-35D2-1C94-22EAC71E56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39100" y="55626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Line 32">
            <a:extLst>
              <a:ext uri="{FF2B5EF4-FFF2-40B4-BE49-F238E27FC236}">
                <a16:creationId xmlns:a16="http://schemas.microsoft.com/office/drawing/2014/main" id="{54B68C70-115E-8760-B33F-EF511DA9C7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72500" y="55626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0" name="Text Box 33">
            <a:extLst>
              <a:ext uri="{FF2B5EF4-FFF2-40B4-BE49-F238E27FC236}">
                <a16:creationId xmlns:a16="http://schemas.microsoft.com/office/drawing/2014/main" id="{119CD933-C942-5BC8-116E-F954C6F95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5486401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41" name="Text Box 34">
            <a:extLst>
              <a:ext uri="{FF2B5EF4-FFF2-40B4-BE49-F238E27FC236}">
                <a16:creationId xmlns:a16="http://schemas.microsoft.com/office/drawing/2014/main" id="{15DC5E02-8689-A43B-833E-E19B724FB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5486401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442" name="Text Box 35">
            <a:extLst>
              <a:ext uri="{FF2B5EF4-FFF2-40B4-BE49-F238E27FC236}">
                <a16:creationId xmlns:a16="http://schemas.microsoft.com/office/drawing/2014/main" id="{67DE360F-7C37-FC4F-6CA0-84E62C1F6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1" y="5486401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43" name="Text Box 36">
            <a:extLst>
              <a:ext uri="{FF2B5EF4-FFF2-40B4-BE49-F238E27FC236}">
                <a16:creationId xmlns:a16="http://schemas.microsoft.com/office/drawing/2014/main" id="{DBF92C02-5088-E35D-F05E-675D6B7D8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1" y="5486401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44" name="Text Box 37">
            <a:extLst>
              <a:ext uri="{FF2B5EF4-FFF2-40B4-BE49-F238E27FC236}">
                <a16:creationId xmlns:a16="http://schemas.microsoft.com/office/drawing/2014/main" id="{43166FEE-8A4B-15B9-0FE6-98BFC141D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5486401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45" name="Text Box 38">
            <a:extLst>
              <a:ext uri="{FF2B5EF4-FFF2-40B4-BE49-F238E27FC236}">
                <a16:creationId xmlns:a16="http://schemas.microsoft.com/office/drawing/2014/main" id="{314A1A37-EF1E-9F15-0C7E-16E6F116C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889" y="5486401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46" name="Text Box 39">
            <a:extLst>
              <a:ext uri="{FF2B5EF4-FFF2-40B4-BE49-F238E27FC236}">
                <a16:creationId xmlns:a16="http://schemas.microsoft.com/office/drawing/2014/main" id="{655176AD-9780-766E-8FC9-6A0F16D3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3289" y="5486401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13</a:t>
            </a:r>
          </a:p>
        </p:txBody>
      </p:sp>
      <p:sp>
        <p:nvSpPr>
          <p:cNvPr id="17447" name="Text Box 40">
            <a:extLst>
              <a:ext uri="{FF2B5EF4-FFF2-40B4-BE49-F238E27FC236}">
                <a16:creationId xmlns:a16="http://schemas.microsoft.com/office/drawing/2014/main" id="{4A85B5CE-B1CB-8A89-2A51-447E68748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089" y="5486401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17448" name="Text Box 41">
            <a:extLst>
              <a:ext uri="{FF2B5EF4-FFF2-40B4-BE49-F238E27FC236}">
                <a16:creationId xmlns:a16="http://schemas.microsoft.com/office/drawing/2014/main" id="{BFEF0025-15F0-1DAD-C3EF-A3686A65A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4" y="6134101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15</a:t>
            </a:r>
          </a:p>
        </p:txBody>
      </p:sp>
      <p:sp>
        <p:nvSpPr>
          <p:cNvPr id="17449" name="Text Box 42">
            <a:extLst>
              <a:ext uri="{FF2B5EF4-FFF2-40B4-BE49-F238E27FC236}">
                <a16:creationId xmlns:a16="http://schemas.microsoft.com/office/drawing/2014/main" id="{37F38D86-2902-B211-52FA-B0C8D7DBA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114" y="6134101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7450" name="Text Box 43">
            <a:extLst>
              <a:ext uri="{FF2B5EF4-FFF2-40B4-BE49-F238E27FC236}">
                <a16:creationId xmlns:a16="http://schemas.microsoft.com/office/drawing/2014/main" id="{373845CF-718D-96F3-FE65-3C4942386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48720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7451" name="Text Box 44">
            <a:extLst>
              <a:ext uri="{FF2B5EF4-FFF2-40B4-BE49-F238E27FC236}">
                <a16:creationId xmlns:a16="http://schemas.microsoft.com/office/drawing/2014/main" id="{7CB2AF45-DE24-68DF-5004-0ABCF790F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48720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7452" name="Text Box 45">
            <a:extLst>
              <a:ext uri="{FF2B5EF4-FFF2-40B4-BE49-F238E27FC236}">
                <a16:creationId xmlns:a16="http://schemas.microsoft.com/office/drawing/2014/main" id="{140839EB-394F-C25D-C51E-4D47F9092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1" y="48720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17453" name="Text Box 46">
            <a:extLst>
              <a:ext uri="{FF2B5EF4-FFF2-40B4-BE49-F238E27FC236}">
                <a16:creationId xmlns:a16="http://schemas.microsoft.com/office/drawing/2014/main" id="{275C8B67-E542-EC5E-EDC6-E5BA50A1B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1" y="487203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14</a:t>
            </a:r>
          </a:p>
        </p:txBody>
      </p:sp>
      <p:sp>
        <p:nvSpPr>
          <p:cNvPr id="17454" name="Text Box 47">
            <a:extLst>
              <a:ext uri="{FF2B5EF4-FFF2-40B4-BE49-F238E27FC236}">
                <a16:creationId xmlns:a16="http://schemas.microsoft.com/office/drawing/2014/main" id="{3BB3DB76-6C04-B39B-64F6-5BD505895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1" y="487203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7455" name="Text Box 48">
            <a:extLst>
              <a:ext uri="{FF2B5EF4-FFF2-40B4-BE49-F238E27FC236}">
                <a16:creationId xmlns:a16="http://schemas.microsoft.com/office/drawing/2014/main" id="{9CBCEFB1-8DB0-99B3-8924-495E4E8DE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838" y="4262438"/>
            <a:ext cx="309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56" name="Text Box 49">
            <a:extLst>
              <a:ext uri="{FF2B5EF4-FFF2-40B4-BE49-F238E27FC236}">
                <a16:creationId xmlns:a16="http://schemas.microsoft.com/office/drawing/2014/main" id="{5458991C-3EB3-D61A-0BE4-A36041F02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1" y="426243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17457" name="Text Box 50">
            <a:extLst>
              <a:ext uri="{FF2B5EF4-FFF2-40B4-BE49-F238E27FC236}">
                <a16:creationId xmlns:a16="http://schemas.microsoft.com/office/drawing/2014/main" id="{6CE181E4-67A1-B840-59BC-C8A2555AC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919663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17458" name="Text Box 51">
            <a:extLst>
              <a:ext uri="{FF2B5EF4-FFF2-40B4-BE49-F238E27FC236}">
                <a16:creationId xmlns:a16="http://schemas.microsoft.com/office/drawing/2014/main" id="{03BEBAD9-F2D1-5AFB-E4C7-17BDE7085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1" y="550068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</a:rPr>
              <a:t>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A929F90-3360-31B9-AB56-B0A33D89F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Multi-Way Searching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CB32463D-3848-8EE5-A233-D474EBF768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143000"/>
            <a:ext cx="8077200" cy="2971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Similar to search in a binary search tree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At each internal node with children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 …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/>
              <a:t> and keys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 …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 baseline="-25000">
                <a:latin typeface="Symbol" pitchFamily="2" charset="2"/>
              </a:rPr>
              <a:t>-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</a:rPr>
              <a:t>=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= 1, …,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Symbol" pitchFamily="2" charset="2"/>
              </a:rPr>
              <a:t> -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  <a:r>
              <a:rPr lang="en-US" altLang="en-US" sz="1800"/>
              <a:t>: the search terminates successfully</a:t>
            </a:r>
            <a:endParaRPr lang="en-US" altLang="en-US" sz="1800" b="1" i="1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</a:rPr>
              <a:t>&lt;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/>
              <a:t>: we continue the search in child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 baseline="-25000">
                <a:latin typeface="Symbol" pitchFamily="2" charset="2"/>
              </a:rPr>
              <a:t>-</a:t>
            </a:r>
            <a:r>
              <a:rPr lang="en-US" altLang="en-US" sz="1800" baseline="-25000">
                <a:latin typeface="Times New Roman" panose="02020603050405020304" pitchFamily="18" charset="0"/>
              </a:rPr>
              <a:t>1 </a:t>
            </a:r>
            <a:r>
              <a:rPr lang="en-US" altLang="en-US" sz="1800">
                <a:latin typeface="Symbol" pitchFamily="2" charset="2"/>
              </a:rPr>
              <a:t>&lt;</a:t>
            </a:r>
            <a:r>
              <a:rPr lang="en-US" altLang="en-US" sz="1800" baseline="-25000"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</a:rPr>
              <a:t>&lt;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= 2, …,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Symbol" pitchFamily="2" charset="2"/>
              </a:rPr>
              <a:t> -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  <a:r>
              <a:rPr lang="en-US" altLang="en-US" sz="1800"/>
              <a:t>: we continue the search in child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</a:rPr>
              <a:t>&gt;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1800" baseline="-25000">
                <a:latin typeface="Symbol" pitchFamily="2" charset="2"/>
              </a:rPr>
              <a:t>-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/>
              <a:t>: we continue the search in child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d</a:t>
            </a: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Reaching an external node terminates the search unsuccessfully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 search for 30</a:t>
            </a:r>
          </a:p>
        </p:txBody>
      </p:sp>
      <p:sp>
        <p:nvSpPr>
          <p:cNvPr id="18435" name="Oval 4">
            <a:extLst>
              <a:ext uri="{FF2B5EF4-FFF2-40B4-BE49-F238E27FC236}">
                <a16:creationId xmlns:a16="http://schemas.microsoft.com/office/drawing/2014/main" id="{BB5C6D9B-C60F-B521-6AF7-0B922297C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15240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11    24</a:t>
            </a:r>
          </a:p>
        </p:txBody>
      </p:sp>
      <p:sp>
        <p:nvSpPr>
          <p:cNvPr id="18436" name="Oval 5">
            <a:extLst>
              <a:ext uri="{FF2B5EF4-FFF2-40B4-BE49-F238E27FC236}">
                <a16:creationId xmlns:a16="http://schemas.microsoft.com/office/drawing/2014/main" id="{BC3D37EA-A556-B0F3-0B74-C2575398B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876800"/>
            <a:ext cx="19812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2   6   8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8437" name="Oval 6">
            <a:extLst>
              <a:ext uri="{FF2B5EF4-FFF2-40B4-BE49-F238E27FC236}">
                <a16:creationId xmlns:a16="http://schemas.microsoft.com/office/drawing/2014/main" id="{CF720B93-0D1C-48AF-3CB0-BA57EE4A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768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15</a:t>
            </a:r>
          </a:p>
        </p:txBody>
      </p:sp>
      <p:sp>
        <p:nvSpPr>
          <p:cNvPr id="18438" name="Oval 7">
            <a:extLst>
              <a:ext uri="{FF2B5EF4-FFF2-40B4-BE49-F238E27FC236}">
                <a16:creationId xmlns:a16="http://schemas.microsoft.com/office/drawing/2014/main" id="{384E8BF4-D7E2-C24A-52D0-374664EE1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5486400"/>
            <a:ext cx="9906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30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8439" name="Oval 8">
            <a:extLst>
              <a:ext uri="{FF2B5EF4-FFF2-40B4-BE49-F238E27FC236}">
                <a16:creationId xmlns:a16="http://schemas.microsoft.com/office/drawing/2014/main" id="{F26AF83D-F88F-7545-8D26-D318D1DB6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876800"/>
            <a:ext cx="16764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27    32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8440" name="Rectangle 9">
            <a:extLst>
              <a:ext uri="{FF2B5EF4-FFF2-40B4-BE49-F238E27FC236}">
                <a16:creationId xmlns:a16="http://schemas.microsoft.com/office/drawing/2014/main" id="{760DE0C7-0371-1280-34E0-DF72C750B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1" name="Rectangle 10">
            <a:extLst>
              <a:ext uri="{FF2B5EF4-FFF2-40B4-BE49-F238E27FC236}">
                <a16:creationId xmlns:a16="http://schemas.microsoft.com/office/drawing/2014/main" id="{91D79797-492A-0842-65D8-847E4D39B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2" name="Rectangle 11">
            <a:extLst>
              <a:ext uri="{FF2B5EF4-FFF2-40B4-BE49-F238E27FC236}">
                <a16:creationId xmlns:a16="http://schemas.microsoft.com/office/drawing/2014/main" id="{5F0D63FA-C961-E3C9-256E-1042C60FD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3" name="Rectangle 12">
            <a:extLst>
              <a:ext uri="{FF2B5EF4-FFF2-40B4-BE49-F238E27FC236}">
                <a16:creationId xmlns:a16="http://schemas.microsoft.com/office/drawing/2014/main" id="{872A6D6D-3B32-EEE8-A2D5-762048C03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4" name="Rectangle 13">
            <a:extLst>
              <a:ext uri="{FF2B5EF4-FFF2-40B4-BE49-F238E27FC236}">
                <a16:creationId xmlns:a16="http://schemas.microsoft.com/office/drawing/2014/main" id="{0A5EA421-FBB5-A3F4-138B-0F8A1718F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5" name="Rectangle 14">
            <a:extLst>
              <a:ext uri="{FF2B5EF4-FFF2-40B4-BE49-F238E27FC236}">
                <a16:creationId xmlns:a16="http://schemas.microsoft.com/office/drawing/2014/main" id="{1E7FE0AB-4BD8-6B75-E4E9-319E84AD0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6" name="Rectangle 15">
            <a:extLst>
              <a:ext uri="{FF2B5EF4-FFF2-40B4-BE49-F238E27FC236}">
                <a16:creationId xmlns:a16="http://schemas.microsoft.com/office/drawing/2014/main" id="{C79FA1F0-8A98-D732-EA34-119288121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7" name="Rectangle 16">
            <a:extLst>
              <a:ext uri="{FF2B5EF4-FFF2-40B4-BE49-F238E27FC236}">
                <a16:creationId xmlns:a16="http://schemas.microsoft.com/office/drawing/2014/main" id="{7F1F4C76-97D4-22B7-B701-411800888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4864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8448" name="AutoShape 17">
            <a:extLst>
              <a:ext uri="{FF2B5EF4-FFF2-40B4-BE49-F238E27FC236}">
                <a16:creationId xmlns:a16="http://schemas.microsoft.com/office/drawing/2014/main" id="{BF1247AD-1A16-60A9-F30B-B1BA3C3C586A}"/>
              </a:ext>
            </a:extLst>
          </p:cNvPr>
          <p:cNvCxnSpPr>
            <a:cxnSpLocks noChangeShapeType="1"/>
            <a:stCxn id="18435" idx="3"/>
            <a:endCxn id="18436" idx="0"/>
          </p:cNvCxnSpPr>
          <p:nvPr/>
        </p:nvCxnSpPr>
        <p:spPr bwMode="auto">
          <a:xfrm flipH="1">
            <a:off x="3657600" y="4611689"/>
            <a:ext cx="16716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9" name="AutoShape 18">
            <a:extLst>
              <a:ext uri="{FF2B5EF4-FFF2-40B4-BE49-F238E27FC236}">
                <a16:creationId xmlns:a16="http://schemas.microsoft.com/office/drawing/2014/main" id="{5FCFEFAE-7A7F-5106-03F7-ABCAB7FEF34E}"/>
              </a:ext>
            </a:extLst>
          </p:cNvPr>
          <p:cNvCxnSpPr>
            <a:cxnSpLocks noChangeShapeType="1"/>
            <a:stCxn id="18435" idx="4"/>
            <a:endCxn id="18437" idx="0"/>
          </p:cNvCxnSpPr>
          <p:nvPr/>
        </p:nvCxnSpPr>
        <p:spPr bwMode="auto">
          <a:xfrm>
            <a:off x="5867400" y="4667251"/>
            <a:ext cx="0" cy="200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0" name="AutoShape 19">
            <a:extLst>
              <a:ext uri="{FF2B5EF4-FFF2-40B4-BE49-F238E27FC236}">
                <a16:creationId xmlns:a16="http://schemas.microsoft.com/office/drawing/2014/main" id="{144E7475-867E-59F8-BA3D-078DF8066EF8}"/>
              </a:ext>
            </a:extLst>
          </p:cNvPr>
          <p:cNvCxnSpPr>
            <a:cxnSpLocks noChangeShapeType="1"/>
            <a:stCxn id="18435" idx="5"/>
            <a:endCxn id="18439" idx="0"/>
          </p:cNvCxnSpPr>
          <p:nvPr/>
        </p:nvCxnSpPr>
        <p:spPr bwMode="auto">
          <a:xfrm>
            <a:off x="6405564" y="4611688"/>
            <a:ext cx="2052637" cy="246062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1" name="AutoShape 20">
            <a:extLst>
              <a:ext uri="{FF2B5EF4-FFF2-40B4-BE49-F238E27FC236}">
                <a16:creationId xmlns:a16="http://schemas.microsoft.com/office/drawing/2014/main" id="{FCD8AA4F-E77E-68C7-D817-B5C42C475A7E}"/>
              </a:ext>
            </a:extLst>
          </p:cNvPr>
          <p:cNvCxnSpPr>
            <a:cxnSpLocks noChangeShapeType="1"/>
            <a:stCxn id="18436" idx="3"/>
            <a:endCxn id="18444" idx="0"/>
          </p:cNvCxnSpPr>
          <p:nvPr/>
        </p:nvCxnSpPr>
        <p:spPr bwMode="auto">
          <a:xfrm flipH="1">
            <a:off x="2743201" y="5211763"/>
            <a:ext cx="2143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2" name="AutoShape 21">
            <a:extLst>
              <a:ext uri="{FF2B5EF4-FFF2-40B4-BE49-F238E27FC236}">
                <a16:creationId xmlns:a16="http://schemas.microsoft.com/office/drawing/2014/main" id="{787C539D-1178-66E3-6F44-EBB6F0D395F4}"/>
              </a:ext>
            </a:extLst>
          </p:cNvPr>
          <p:cNvCxnSpPr>
            <a:cxnSpLocks noChangeShapeType="1"/>
            <a:stCxn id="18436" idx="5"/>
            <a:endCxn id="18447" idx="0"/>
          </p:cNvCxnSpPr>
          <p:nvPr/>
        </p:nvCxnSpPr>
        <p:spPr bwMode="auto">
          <a:xfrm>
            <a:off x="4357688" y="5211763"/>
            <a:ext cx="2143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3" name="Line 22">
            <a:extLst>
              <a:ext uri="{FF2B5EF4-FFF2-40B4-BE49-F238E27FC236}">
                <a16:creationId xmlns:a16="http://schemas.microsoft.com/office/drawing/2014/main" id="{6790FB97-629B-44B2-0EC1-BC783266D8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5257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4" name="Line 23">
            <a:extLst>
              <a:ext uri="{FF2B5EF4-FFF2-40B4-BE49-F238E27FC236}">
                <a16:creationId xmlns:a16="http://schemas.microsoft.com/office/drawing/2014/main" id="{2040AFCB-EE8F-7C96-043F-A33584ED57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5257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Rectangle 24">
            <a:extLst>
              <a:ext uri="{FF2B5EF4-FFF2-40B4-BE49-F238E27FC236}">
                <a16:creationId xmlns:a16="http://schemas.microsoft.com/office/drawing/2014/main" id="{6B685BEF-2395-8764-F905-E18103F6F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60960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6" name="Rectangle 25">
            <a:extLst>
              <a:ext uri="{FF2B5EF4-FFF2-40B4-BE49-F238E27FC236}">
                <a16:creationId xmlns:a16="http://schemas.microsoft.com/office/drawing/2014/main" id="{928A11A0-F321-B885-66B9-5A6E288D5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700" y="6096000"/>
            <a:ext cx="304800" cy="3048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8457" name="AutoShape 26">
            <a:extLst>
              <a:ext uri="{FF2B5EF4-FFF2-40B4-BE49-F238E27FC236}">
                <a16:creationId xmlns:a16="http://schemas.microsoft.com/office/drawing/2014/main" id="{6C346E20-E711-A7BF-B0AB-ADC7EA414127}"/>
              </a:ext>
            </a:extLst>
          </p:cNvPr>
          <p:cNvCxnSpPr>
            <a:cxnSpLocks noChangeShapeType="1"/>
            <a:stCxn id="18438" idx="0"/>
            <a:endCxn id="18439" idx="4"/>
          </p:cNvCxnSpPr>
          <p:nvPr/>
        </p:nvCxnSpPr>
        <p:spPr bwMode="auto">
          <a:xfrm flipV="1">
            <a:off x="8458200" y="5276850"/>
            <a:ext cx="0" cy="1905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8" name="AutoShape 27">
            <a:extLst>
              <a:ext uri="{FF2B5EF4-FFF2-40B4-BE49-F238E27FC236}">
                <a16:creationId xmlns:a16="http://schemas.microsoft.com/office/drawing/2014/main" id="{52F4EAA7-57A0-776F-AD5E-7FDE381AA56E}"/>
              </a:ext>
            </a:extLst>
          </p:cNvPr>
          <p:cNvCxnSpPr>
            <a:cxnSpLocks noChangeShapeType="1"/>
            <a:stCxn id="18440" idx="0"/>
            <a:endCxn id="18439" idx="3"/>
          </p:cNvCxnSpPr>
          <p:nvPr/>
        </p:nvCxnSpPr>
        <p:spPr bwMode="auto">
          <a:xfrm flipV="1">
            <a:off x="7543801" y="5221289"/>
            <a:ext cx="322263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9" name="AutoShape 28">
            <a:extLst>
              <a:ext uri="{FF2B5EF4-FFF2-40B4-BE49-F238E27FC236}">
                <a16:creationId xmlns:a16="http://schemas.microsoft.com/office/drawing/2014/main" id="{6AA21E35-DAE7-ED24-AA95-466930FDAEB5}"/>
              </a:ext>
            </a:extLst>
          </p:cNvPr>
          <p:cNvCxnSpPr>
            <a:cxnSpLocks noChangeShapeType="1"/>
            <a:stCxn id="18441" idx="0"/>
            <a:endCxn id="18439" idx="5"/>
          </p:cNvCxnSpPr>
          <p:nvPr/>
        </p:nvCxnSpPr>
        <p:spPr bwMode="auto">
          <a:xfrm flipH="1" flipV="1">
            <a:off x="9050338" y="5221289"/>
            <a:ext cx="322262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0" name="Line 29">
            <a:extLst>
              <a:ext uri="{FF2B5EF4-FFF2-40B4-BE49-F238E27FC236}">
                <a16:creationId xmlns:a16="http://schemas.microsoft.com/office/drawing/2014/main" id="{0F3FC5C7-AAE6-A374-6119-8A177C1626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96000" y="52578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1" name="Line 30">
            <a:extLst>
              <a:ext uri="{FF2B5EF4-FFF2-40B4-BE49-F238E27FC236}">
                <a16:creationId xmlns:a16="http://schemas.microsoft.com/office/drawing/2014/main" id="{0A79A8EB-2E93-CB44-7BD7-E0645CB623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52578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2" name="Line 31">
            <a:extLst>
              <a:ext uri="{FF2B5EF4-FFF2-40B4-BE49-F238E27FC236}">
                <a16:creationId xmlns:a16="http://schemas.microsoft.com/office/drawing/2014/main" id="{B42E1A17-2BCC-8FF0-02A2-F97E45488B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5300" y="5867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3" name="Line 32">
            <a:extLst>
              <a:ext uri="{FF2B5EF4-FFF2-40B4-BE49-F238E27FC236}">
                <a16:creationId xmlns:a16="http://schemas.microsoft.com/office/drawing/2014/main" id="{749D45EE-6F33-5E82-C0C3-CC660161C2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48700" y="5867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8A816E52-4E2B-7988-D35B-F581D1578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(2,4) Tree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506D2A2D-D71F-7509-1996-CA672467D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447800"/>
            <a:ext cx="7772400" cy="2286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(2,4) tree (also called 2-4 tree or 2-3-4 tree) is a multi-way search tree with the following properties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Node-Size Property</a:t>
            </a:r>
            <a:r>
              <a:rPr lang="en-US" altLang="en-US" sz="1800"/>
              <a:t>: every internal node has at most four children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Depth Property</a:t>
            </a:r>
            <a:r>
              <a:rPr lang="en-US" altLang="en-US" sz="1800"/>
              <a:t>: all the external nodes have the same depth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Depending on the number of children, an internal node of a (2,4) tree is called a 2-node, 3-node or 4-node</a:t>
            </a:r>
          </a:p>
        </p:txBody>
      </p:sp>
      <p:sp>
        <p:nvSpPr>
          <p:cNvPr id="19459" name="Oval 4">
            <a:extLst>
              <a:ext uri="{FF2B5EF4-FFF2-40B4-BE49-F238E27FC236}">
                <a16:creationId xmlns:a16="http://schemas.microsoft.com/office/drawing/2014/main" id="{CB4B6EC2-1A48-DD90-637F-7A53EBD7C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3962400"/>
            <a:ext cx="2438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10   15   24</a:t>
            </a:r>
          </a:p>
        </p:txBody>
      </p:sp>
      <p:sp>
        <p:nvSpPr>
          <p:cNvPr id="19460" name="Oval 5">
            <a:extLst>
              <a:ext uri="{FF2B5EF4-FFF2-40B4-BE49-F238E27FC236}">
                <a16:creationId xmlns:a16="http://schemas.microsoft.com/office/drawing/2014/main" id="{4AE6F67E-A015-A10E-7903-CE7359AA6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813" y="4876800"/>
            <a:ext cx="16002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2   8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9461" name="Oval 6">
            <a:extLst>
              <a:ext uri="{FF2B5EF4-FFF2-40B4-BE49-F238E27FC236}">
                <a16:creationId xmlns:a16="http://schemas.microsoft.com/office/drawing/2014/main" id="{F7FD24DF-E10E-9F07-0599-3EC8407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6013" y="48768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19462" name="Oval 7">
            <a:extLst>
              <a:ext uri="{FF2B5EF4-FFF2-40B4-BE49-F238E27FC236}">
                <a16:creationId xmlns:a16="http://schemas.microsoft.com/office/drawing/2014/main" id="{ADB459DD-0C55-4BAE-05BC-14A5F662E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413" y="4876800"/>
            <a:ext cx="1676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27    32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9463" name="Rectangle 8">
            <a:extLst>
              <a:ext uri="{FF2B5EF4-FFF2-40B4-BE49-F238E27FC236}">
                <a16:creationId xmlns:a16="http://schemas.microsoft.com/office/drawing/2014/main" id="{84E65A55-D76F-1EEB-6536-BC326E4A9F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1" y="5562601"/>
            <a:ext cx="201613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4" name="Rectangle 9">
            <a:extLst>
              <a:ext uri="{FF2B5EF4-FFF2-40B4-BE49-F238E27FC236}">
                <a16:creationId xmlns:a16="http://schemas.microsoft.com/office/drawing/2014/main" id="{6B094F97-FA70-9F23-01D2-01D292F5C1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50413" y="5562601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5" name="Rectangle 10">
            <a:extLst>
              <a:ext uri="{FF2B5EF4-FFF2-40B4-BE49-F238E27FC236}">
                <a16:creationId xmlns:a16="http://schemas.microsoft.com/office/drawing/2014/main" id="{2B296CA6-4576-073E-CE17-AE1DE5B1E0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26013" y="5562601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6" name="Rectangle 11">
            <a:extLst>
              <a:ext uri="{FF2B5EF4-FFF2-40B4-BE49-F238E27FC236}">
                <a16:creationId xmlns:a16="http://schemas.microsoft.com/office/drawing/2014/main" id="{008A1B4B-DEEF-B62E-6BB4-C6430A1996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8013" y="5562601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7" name="Rectangle 12">
            <a:extLst>
              <a:ext uri="{FF2B5EF4-FFF2-40B4-BE49-F238E27FC236}">
                <a16:creationId xmlns:a16="http://schemas.microsoft.com/office/drawing/2014/main" id="{ECCDD6C5-9417-F302-B845-3C5D1F59B8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1" y="5562601"/>
            <a:ext cx="201613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8" name="Rectangle 13">
            <a:extLst>
              <a:ext uri="{FF2B5EF4-FFF2-40B4-BE49-F238E27FC236}">
                <a16:creationId xmlns:a16="http://schemas.microsoft.com/office/drawing/2014/main" id="{022C3794-6EC6-EE22-52E5-B3A0E0CC82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9138" y="5562601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9" name="Rectangle 14">
            <a:extLst>
              <a:ext uri="{FF2B5EF4-FFF2-40B4-BE49-F238E27FC236}">
                <a16:creationId xmlns:a16="http://schemas.microsoft.com/office/drawing/2014/main" id="{B9D44255-06E7-6DD1-43D3-26F30822B6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87813" y="5562601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9470" name="AutoShape 15">
            <a:extLst>
              <a:ext uri="{FF2B5EF4-FFF2-40B4-BE49-F238E27FC236}">
                <a16:creationId xmlns:a16="http://schemas.microsoft.com/office/drawing/2014/main" id="{FE416B4F-6008-8E4C-0298-58111A120B75}"/>
              </a:ext>
            </a:extLst>
          </p:cNvPr>
          <p:cNvCxnSpPr>
            <a:cxnSpLocks noChangeShapeType="1"/>
            <a:stCxn id="19459" idx="3"/>
            <a:endCxn id="19460" idx="0"/>
          </p:cNvCxnSpPr>
          <p:nvPr/>
        </p:nvCxnSpPr>
        <p:spPr bwMode="auto">
          <a:xfrm flipH="1">
            <a:off x="3363913" y="4297363"/>
            <a:ext cx="1947862" cy="569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16">
            <a:extLst>
              <a:ext uri="{FF2B5EF4-FFF2-40B4-BE49-F238E27FC236}">
                <a16:creationId xmlns:a16="http://schemas.microsoft.com/office/drawing/2014/main" id="{FAABB5DF-43B6-6794-C603-E30DEAFB6DFF}"/>
              </a:ext>
            </a:extLst>
          </p:cNvPr>
          <p:cNvCxnSpPr>
            <a:cxnSpLocks noChangeShapeType="1"/>
            <a:endCxn id="19461" idx="0"/>
          </p:cNvCxnSpPr>
          <p:nvPr/>
        </p:nvCxnSpPr>
        <p:spPr bwMode="auto">
          <a:xfrm flipH="1">
            <a:off x="5459414" y="4324351"/>
            <a:ext cx="447675" cy="542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17">
            <a:extLst>
              <a:ext uri="{FF2B5EF4-FFF2-40B4-BE49-F238E27FC236}">
                <a16:creationId xmlns:a16="http://schemas.microsoft.com/office/drawing/2014/main" id="{BB959591-71C3-C0D9-F36D-4669F03E0258}"/>
              </a:ext>
            </a:extLst>
          </p:cNvPr>
          <p:cNvCxnSpPr>
            <a:cxnSpLocks noChangeShapeType="1"/>
            <a:stCxn id="19459" idx="5"/>
            <a:endCxn id="19462" idx="0"/>
          </p:cNvCxnSpPr>
          <p:nvPr/>
        </p:nvCxnSpPr>
        <p:spPr bwMode="auto">
          <a:xfrm>
            <a:off x="7035801" y="4297363"/>
            <a:ext cx="1928813" cy="569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3" name="AutoShape 18">
            <a:extLst>
              <a:ext uri="{FF2B5EF4-FFF2-40B4-BE49-F238E27FC236}">
                <a16:creationId xmlns:a16="http://schemas.microsoft.com/office/drawing/2014/main" id="{CD9CB719-52F7-C882-EE4F-49C4B8BBD22A}"/>
              </a:ext>
            </a:extLst>
          </p:cNvPr>
          <p:cNvCxnSpPr>
            <a:cxnSpLocks noChangeShapeType="1"/>
            <a:stCxn id="19460" idx="3"/>
            <a:endCxn id="19467" idx="0"/>
          </p:cNvCxnSpPr>
          <p:nvPr/>
        </p:nvCxnSpPr>
        <p:spPr bwMode="auto">
          <a:xfrm flipH="1">
            <a:off x="2540001" y="5211763"/>
            <a:ext cx="258763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19">
            <a:extLst>
              <a:ext uri="{FF2B5EF4-FFF2-40B4-BE49-F238E27FC236}">
                <a16:creationId xmlns:a16="http://schemas.microsoft.com/office/drawing/2014/main" id="{4217687E-3A37-9321-0825-8337F18623CB}"/>
              </a:ext>
            </a:extLst>
          </p:cNvPr>
          <p:cNvCxnSpPr>
            <a:cxnSpLocks noChangeShapeType="1"/>
            <a:stCxn id="19460" idx="5"/>
            <a:endCxn id="19469" idx="0"/>
          </p:cNvCxnSpPr>
          <p:nvPr/>
        </p:nvCxnSpPr>
        <p:spPr bwMode="auto">
          <a:xfrm>
            <a:off x="3929063" y="5211763"/>
            <a:ext cx="260350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5" name="Rectangle 20">
            <a:extLst>
              <a:ext uri="{FF2B5EF4-FFF2-40B4-BE49-F238E27FC236}">
                <a16:creationId xmlns:a16="http://schemas.microsoft.com/office/drawing/2014/main" id="{3AD39627-1CA1-B028-E8D7-7C73DB6F6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77301" y="5562601"/>
            <a:ext cx="201613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9476" name="AutoShape 21">
            <a:extLst>
              <a:ext uri="{FF2B5EF4-FFF2-40B4-BE49-F238E27FC236}">
                <a16:creationId xmlns:a16="http://schemas.microsoft.com/office/drawing/2014/main" id="{BC58ADDD-9767-025B-581C-89E6127D9704}"/>
              </a:ext>
            </a:extLst>
          </p:cNvPr>
          <p:cNvCxnSpPr>
            <a:cxnSpLocks noChangeShapeType="1"/>
            <a:stCxn id="19475" idx="0"/>
            <a:endCxn id="19462" idx="4"/>
          </p:cNvCxnSpPr>
          <p:nvPr/>
        </p:nvCxnSpPr>
        <p:spPr bwMode="auto">
          <a:xfrm flipH="1" flipV="1">
            <a:off x="8964614" y="5267325"/>
            <a:ext cx="14287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2">
            <a:extLst>
              <a:ext uri="{FF2B5EF4-FFF2-40B4-BE49-F238E27FC236}">
                <a16:creationId xmlns:a16="http://schemas.microsoft.com/office/drawing/2014/main" id="{8A5B5F46-21A1-504C-3041-04B72DB017C8}"/>
              </a:ext>
            </a:extLst>
          </p:cNvPr>
          <p:cNvCxnSpPr>
            <a:cxnSpLocks noChangeShapeType="1"/>
            <a:stCxn id="19463" idx="0"/>
            <a:endCxn id="19462" idx="3"/>
          </p:cNvCxnSpPr>
          <p:nvPr/>
        </p:nvCxnSpPr>
        <p:spPr bwMode="auto">
          <a:xfrm flipV="1">
            <a:off x="8178801" y="5211763"/>
            <a:ext cx="193675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8" name="AutoShape 23">
            <a:extLst>
              <a:ext uri="{FF2B5EF4-FFF2-40B4-BE49-F238E27FC236}">
                <a16:creationId xmlns:a16="http://schemas.microsoft.com/office/drawing/2014/main" id="{6048AA3E-65C0-1112-85B2-3EAA41675BBD}"/>
              </a:ext>
            </a:extLst>
          </p:cNvPr>
          <p:cNvCxnSpPr>
            <a:cxnSpLocks noChangeShapeType="1"/>
            <a:stCxn id="19464" idx="0"/>
            <a:endCxn id="19462" idx="5"/>
          </p:cNvCxnSpPr>
          <p:nvPr/>
        </p:nvCxnSpPr>
        <p:spPr bwMode="auto">
          <a:xfrm flipH="1" flipV="1">
            <a:off x="9556751" y="5211763"/>
            <a:ext cx="195263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9" name="AutoShape 24">
            <a:extLst>
              <a:ext uri="{FF2B5EF4-FFF2-40B4-BE49-F238E27FC236}">
                <a16:creationId xmlns:a16="http://schemas.microsoft.com/office/drawing/2014/main" id="{95BA7B01-0DDB-F91E-5D18-7D0D793CDE27}"/>
              </a:ext>
            </a:extLst>
          </p:cNvPr>
          <p:cNvCxnSpPr>
            <a:cxnSpLocks noChangeShapeType="1"/>
            <a:stCxn id="19468" idx="0"/>
            <a:endCxn id="19460" idx="4"/>
          </p:cNvCxnSpPr>
          <p:nvPr/>
        </p:nvCxnSpPr>
        <p:spPr bwMode="auto">
          <a:xfrm flipV="1">
            <a:off x="3360739" y="5267325"/>
            <a:ext cx="3175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0" name="Oval 25">
            <a:extLst>
              <a:ext uri="{FF2B5EF4-FFF2-40B4-BE49-F238E27FC236}">
                <a16:creationId xmlns:a16="http://schemas.microsoft.com/office/drawing/2014/main" id="{782C11F4-2A35-C818-C1C6-5A70866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4876800"/>
            <a:ext cx="1066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9481" name="Rectangle 26">
            <a:extLst>
              <a:ext uri="{FF2B5EF4-FFF2-40B4-BE49-F238E27FC236}">
                <a16:creationId xmlns:a16="http://schemas.microsoft.com/office/drawing/2014/main" id="{2D827D4B-8F8F-65F5-FD8A-21EBC67103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73813" y="5562601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2" name="Rectangle 27">
            <a:extLst>
              <a:ext uri="{FF2B5EF4-FFF2-40B4-BE49-F238E27FC236}">
                <a16:creationId xmlns:a16="http://schemas.microsoft.com/office/drawing/2014/main" id="{B36241F4-5052-2A75-1E6E-08EC65AD40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2013" y="5562601"/>
            <a:ext cx="201612" cy="20161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9483" name="AutoShape 28">
            <a:extLst>
              <a:ext uri="{FF2B5EF4-FFF2-40B4-BE49-F238E27FC236}">
                <a16:creationId xmlns:a16="http://schemas.microsoft.com/office/drawing/2014/main" id="{EC7335DB-5F74-B289-2A57-624679DC2D37}"/>
              </a:ext>
            </a:extLst>
          </p:cNvPr>
          <p:cNvCxnSpPr>
            <a:cxnSpLocks noChangeShapeType="1"/>
            <a:endCxn id="19480" idx="0"/>
          </p:cNvCxnSpPr>
          <p:nvPr/>
        </p:nvCxnSpPr>
        <p:spPr bwMode="auto">
          <a:xfrm>
            <a:off x="6459539" y="4343401"/>
            <a:ext cx="447675" cy="523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4" name="AutoShape 29">
            <a:extLst>
              <a:ext uri="{FF2B5EF4-FFF2-40B4-BE49-F238E27FC236}">
                <a16:creationId xmlns:a16="http://schemas.microsoft.com/office/drawing/2014/main" id="{878A6C6C-B621-FD58-7B88-00D5BD80A6E8}"/>
              </a:ext>
            </a:extLst>
          </p:cNvPr>
          <p:cNvCxnSpPr>
            <a:cxnSpLocks noChangeShapeType="1"/>
            <a:stCxn id="19465" idx="0"/>
          </p:cNvCxnSpPr>
          <p:nvPr/>
        </p:nvCxnSpPr>
        <p:spPr bwMode="auto">
          <a:xfrm flipV="1">
            <a:off x="5027614" y="5249863"/>
            <a:ext cx="255587" cy="3032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5" name="AutoShape 30">
            <a:extLst>
              <a:ext uri="{FF2B5EF4-FFF2-40B4-BE49-F238E27FC236}">
                <a16:creationId xmlns:a16="http://schemas.microsoft.com/office/drawing/2014/main" id="{04377925-CC10-2C8B-829F-CE9C651B0EF7}"/>
              </a:ext>
            </a:extLst>
          </p:cNvPr>
          <p:cNvCxnSpPr>
            <a:cxnSpLocks noChangeShapeType="1"/>
            <a:stCxn id="19481" idx="0"/>
          </p:cNvCxnSpPr>
          <p:nvPr/>
        </p:nvCxnSpPr>
        <p:spPr bwMode="auto">
          <a:xfrm flipV="1">
            <a:off x="6475414" y="5257801"/>
            <a:ext cx="268287" cy="295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6" name="AutoShape 31">
            <a:extLst>
              <a:ext uri="{FF2B5EF4-FFF2-40B4-BE49-F238E27FC236}">
                <a16:creationId xmlns:a16="http://schemas.microsoft.com/office/drawing/2014/main" id="{C454E2AA-C039-C07B-C99D-1F22087412BC}"/>
              </a:ext>
            </a:extLst>
          </p:cNvPr>
          <p:cNvCxnSpPr>
            <a:cxnSpLocks noChangeShapeType="1"/>
            <a:stCxn id="19482" idx="0"/>
          </p:cNvCxnSpPr>
          <p:nvPr/>
        </p:nvCxnSpPr>
        <p:spPr bwMode="auto">
          <a:xfrm flipH="1" flipV="1">
            <a:off x="7112001" y="5238751"/>
            <a:ext cx="201613" cy="314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7" name="AutoShape 32">
            <a:extLst>
              <a:ext uri="{FF2B5EF4-FFF2-40B4-BE49-F238E27FC236}">
                <a16:creationId xmlns:a16="http://schemas.microsoft.com/office/drawing/2014/main" id="{6C1D0F4F-676E-EFAF-1F90-89F8109423E5}"/>
              </a:ext>
            </a:extLst>
          </p:cNvPr>
          <p:cNvCxnSpPr>
            <a:cxnSpLocks noChangeShapeType="1"/>
            <a:stCxn id="19466" idx="0"/>
          </p:cNvCxnSpPr>
          <p:nvPr/>
        </p:nvCxnSpPr>
        <p:spPr bwMode="auto">
          <a:xfrm flipH="1" flipV="1">
            <a:off x="5608639" y="5257801"/>
            <a:ext cx="180975" cy="295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E5C3C04-D079-DF17-DE79-BE01FF511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Height of a (2,4) Tree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1392049F-025A-3E6D-5472-24B6B90C547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362200" y="1143000"/>
            <a:ext cx="7543800" cy="2895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Theorem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A (2,4) tree storing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items has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600"/>
              <a:t>	Proof: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 be the height of a (2,4) tree with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/>
              <a:t>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Since there are at least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items at depth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0, … , </a:t>
            </a:r>
            <a:r>
              <a:rPr lang="en-US" altLang="en-US" sz="1800" b="1" i="1">
                <a:latin typeface="Times New Roman" panose="02020603050405020304" pitchFamily="18" charset="0"/>
              </a:rPr>
              <a:t>h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800">
                <a:latin typeface="Times New Roman" panose="02020603050405020304" pitchFamily="18" charset="0"/>
              </a:rPr>
              <a:t>1 </a:t>
            </a:r>
            <a:r>
              <a:rPr lang="en-US" altLang="en-US" sz="1800"/>
              <a:t>and no items at depth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, we have</a:t>
            </a:r>
            <a:br>
              <a:rPr lang="en-US" altLang="en-US" sz="1800"/>
            </a:br>
            <a:r>
              <a:rPr lang="en-US" altLang="en-US" sz="1800"/>
              <a:t>		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</a:rPr>
              <a:t>2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</a:rPr>
              <a:t> 4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</a:rPr>
              <a:t> 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800" baseline="30000">
                <a:latin typeface="Symbol" pitchFamily="2" charset="2"/>
              </a:rPr>
              <a:t>-</a:t>
            </a:r>
            <a:r>
              <a:rPr lang="en-US" altLang="en-US" sz="1800" baseline="30000">
                <a:latin typeface="Times New Roman" panose="02020603050405020304" pitchFamily="18" charset="0"/>
              </a:rPr>
              <a:t>1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h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  <a:endParaRPr lang="en-US" altLang="en-US" sz="1800" b="1" i="1" baseline="300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Thus,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log (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Searching in a (2,4) tree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0483" name="Line 4">
            <a:extLst>
              <a:ext uri="{FF2B5EF4-FFF2-40B4-BE49-F238E27FC236}">
                <a16:creationId xmlns:a16="http://schemas.microsoft.com/office/drawing/2014/main" id="{C1D9CA2E-BC60-C528-A6F5-63C1D1478C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7950" y="5978525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Line 5">
            <a:extLst>
              <a:ext uri="{FF2B5EF4-FFF2-40B4-BE49-F238E27FC236}">
                <a16:creationId xmlns:a16="http://schemas.microsoft.com/office/drawing/2014/main" id="{01BE689E-9FBD-3891-65C2-667FAC2E14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7950" y="5522913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Line 6">
            <a:extLst>
              <a:ext uri="{FF2B5EF4-FFF2-40B4-BE49-F238E27FC236}">
                <a16:creationId xmlns:a16="http://schemas.microsoft.com/office/drawing/2014/main" id="{DCE4160A-FCCD-6D31-7DD9-B872A02572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7950" y="5065713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7">
            <a:extLst>
              <a:ext uri="{FF2B5EF4-FFF2-40B4-BE49-F238E27FC236}">
                <a16:creationId xmlns:a16="http://schemas.microsoft.com/office/drawing/2014/main" id="{F4D31A2B-5151-42B5-0899-895060D1F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7950" y="4610100"/>
            <a:ext cx="58737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Oval 8">
            <a:extLst>
              <a:ext uri="{FF2B5EF4-FFF2-40B4-BE49-F238E27FC236}">
                <a16:creationId xmlns:a16="http://schemas.microsoft.com/office/drawing/2014/main" id="{A2E675A2-9965-C155-A09D-10D6863EF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4" y="4406900"/>
            <a:ext cx="338137" cy="3381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grpSp>
        <p:nvGrpSpPr>
          <p:cNvPr id="20488" name="Group 9">
            <a:extLst>
              <a:ext uri="{FF2B5EF4-FFF2-40B4-BE49-F238E27FC236}">
                <a16:creationId xmlns:a16="http://schemas.microsoft.com/office/drawing/2014/main" id="{47AA0229-77EC-D1E6-C6F8-F86C5E0B0B47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4879975"/>
            <a:ext cx="2743200" cy="338138"/>
            <a:chOff x="2139" y="2808"/>
            <a:chExt cx="1950" cy="240"/>
          </a:xfrm>
        </p:grpSpPr>
        <p:sp>
          <p:nvSpPr>
            <p:cNvPr id="20526" name="Oval 10">
              <a:extLst>
                <a:ext uri="{FF2B5EF4-FFF2-40B4-BE49-F238E27FC236}">
                  <a16:creationId xmlns:a16="http://schemas.microsoft.com/office/drawing/2014/main" id="{B5A6D20E-A4A7-C773-FF13-15C71C99B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0527" name="Oval 11">
              <a:extLst>
                <a:ext uri="{FF2B5EF4-FFF2-40B4-BE49-F238E27FC236}">
                  <a16:creationId xmlns:a16="http://schemas.microsoft.com/office/drawing/2014/main" id="{CDC11EF4-903F-2B59-BAB3-7A6F8EFC8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cxnSp>
        <p:nvCxnSpPr>
          <p:cNvPr id="20489" name="AutoShape 12">
            <a:extLst>
              <a:ext uri="{FF2B5EF4-FFF2-40B4-BE49-F238E27FC236}">
                <a16:creationId xmlns:a16="http://schemas.microsoft.com/office/drawing/2014/main" id="{670CFE47-0E90-3888-F5F0-2149B7FF5D73}"/>
              </a:ext>
            </a:extLst>
          </p:cNvPr>
          <p:cNvCxnSpPr>
            <a:cxnSpLocks noChangeShapeType="1"/>
            <a:stCxn id="20487" idx="3"/>
            <a:endCxn id="20527" idx="7"/>
          </p:cNvCxnSpPr>
          <p:nvPr/>
        </p:nvCxnSpPr>
        <p:spPr bwMode="auto">
          <a:xfrm flipH="1">
            <a:off x="6280151" y="4705351"/>
            <a:ext cx="936625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AutoShape 13">
            <a:extLst>
              <a:ext uri="{FF2B5EF4-FFF2-40B4-BE49-F238E27FC236}">
                <a16:creationId xmlns:a16="http://schemas.microsoft.com/office/drawing/2014/main" id="{1B011743-E953-8815-DACA-6891EBB877B0}"/>
              </a:ext>
            </a:extLst>
          </p:cNvPr>
          <p:cNvCxnSpPr>
            <a:cxnSpLocks noChangeShapeType="1"/>
            <a:stCxn id="20526" idx="1"/>
            <a:endCxn id="20487" idx="5"/>
          </p:cNvCxnSpPr>
          <p:nvPr/>
        </p:nvCxnSpPr>
        <p:spPr bwMode="auto">
          <a:xfrm flipH="1" flipV="1">
            <a:off x="7456488" y="4705351"/>
            <a:ext cx="98901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1" name="AutoShape 14">
            <a:extLst>
              <a:ext uri="{FF2B5EF4-FFF2-40B4-BE49-F238E27FC236}">
                <a16:creationId xmlns:a16="http://schemas.microsoft.com/office/drawing/2014/main" id="{7E2D09AB-994D-A5AA-1E44-F0138B6274FE}"/>
              </a:ext>
            </a:extLst>
          </p:cNvPr>
          <p:cNvCxnSpPr>
            <a:cxnSpLocks noChangeShapeType="1"/>
            <a:stCxn id="20525" idx="1"/>
            <a:endCxn id="20526" idx="5"/>
          </p:cNvCxnSpPr>
          <p:nvPr/>
        </p:nvCxnSpPr>
        <p:spPr bwMode="auto">
          <a:xfrm flipH="1" flipV="1">
            <a:off x="8685213" y="5178426"/>
            <a:ext cx="36036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AutoShape 15">
            <a:extLst>
              <a:ext uri="{FF2B5EF4-FFF2-40B4-BE49-F238E27FC236}">
                <a16:creationId xmlns:a16="http://schemas.microsoft.com/office/drawing/2014/main" id="{5F1CF805-D00C-0859-2ABF-FE99C31DA637}"/>
              </a:ext>
            </a:extLst>
          </p:cNvPr>
          <p:cNvCxnSpPr>
            <a:cxnSpLocks noChangeShapeType="1"/>
            <a:stCxn id="20524" idx="7"/>
            <a:endCxn id="20526" idx="3"/>
          </p:cNvCxnSpPr>
          <p:nvPr/>
        </p:nvCxnSpPr>
        <p:spPr bwMode="auto">
          <a:xfrm flipV="1">
            <a:off x="8083550" y="5178426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6">
            <a:extLst>
              <a:ext uri="{FF2B5EF4-FFF2-40B4-BE49-F238E27FC236}">
                <a16:creationId xmlns:a16="http://schemas.microsoft.com/office/drawing/2014/main" id="{9FABB1BF-370D-562D-8C3B-FBAEE97E875A}"/>
              </a:ext>
            </a:extLst>
          </p:cNvPr>
          <p:cNvCxnSpPr>
            <a:cxnSpLocks noChangeShapeType="1"/>
            <a:stCxn id="20505" idx="0"/>
            <a:endCxn id="20522" idx="5"/>
          </p:cNvCxnSpPr>
          <p:nvPr/>
        </p:nvCxnSpPr>
        <p:spPr bwMode="auto">
          <a:xfrm flipH="1" flipV="1">
            <a:off x="6880226" y="5651501"/>
            <a:ext cx="182563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7">
            <a:extLst>
              <a:ext uri="{FF2B5EF4-FFF2-40B4-BE49-F238E27FC236}">
                <a16:creationId xmlns:a16="http://schemas.microsoft.com/office/drawing/2014/main" id="{A95D1154-321E-5120-4471-6E3056469DD3}"/>
              </a:ext>
            </a:extLst>
          </p:cNvPr>
          <p:cNvCxnSpPr>
            <a:cxnSpLocks noChangeShapeType="1"/>
            <a:stCxn id="20504" idx="0"/>
            <a:endCxn id="20522" idx="3"/>
          </p:cNvCxnSpPr>
          <p:nvPr/>
        </p:nvCxnSpPr>
        <p:spPr bwMode="auto">
          <a:xfrm flipV="1">
            <a:off x="6459539" y="56515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8">
            <a:extLst>
              <a:ext uri="{FF2B5EF4-FFF2-40B4-BE49-F238E27FC236}">
                <a16:creationId xmlns:a16="http://schemas.microsoft.com/office/drawing/2014/main" id="{C1CFC256-7084-3EAC-16EC-93DEF79CAFEC}"/>
              </a:ext>
            </a:extLst>
          </p:cNvPr>
          <p:cNvCxnSpPr>
            <a:cxnSpLocks noChangeShapeType="1"/>
            <a:stCxn id="20523" idx="7"/>
            <a:endCxn id="20527" idx="3"/>
          </p:cNvCxnSpPr>
          <p:nvPr/>
        </p:nvCxnSpPr>
        <p:spPr bwMode="auto">
          <a:xfrm flipV="1">
            <a:off x="5678488" y="5178426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9">
            <a:extLst>
              <a:ext uri="{FF2B5EF4-FFF2-40B4-BE49-F238E27FC236}">
                <a16:creationId xmlns:a16="http://schemas.microsoft.com/office/drawing/2014/main" id="{6F1DFF82-EC3B-B3FB-1B3C-27CE809584B1}"/>
              </a:ext>
            </a:extLst>
          </p:cNvPr>
          <p:cNvCxnSpPr>
            <a:cxnSpLocks noChangeShapeType="1"/>
            <a:stCxn id="20522" idx="1"/>
            <a:endCxn id="20527" idx="5"/>
          </p:cNvCxnSpPr>
          <p:nvPr/>
        </p:nvCxnSpPr>
        <p:spPr bwMode="auto">
          <a:xfrm flipH="1" flipV="1">
            <a:off x="6280151" y="5178426"/>
            <a:ext cx="360363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20">
            <a:extLst>
              <a:ext uri="{FF2B5EF4-FFF2-40B4-BE49-F238E27FC236}">
                <a16:creationId xmlns:a16="http://schemas.microsoft.com/office/drawing/2014/main" id="{CD54882D-0708-CA4F-1980-D7A3892BAA28}"/>
              </a:ext>
            </a:extLst>
          </p:cNvPr>
          <p:cNvCxnSpPr>
            <a:cxnSpLocks noChangeShapeType="1"/>
            <a:stCxn id="20506" idx="0"/>
            <a:endCxn id="20523" idx="5"/>
          </p:cNvCxnSpPr>
          <p:nvPr/>
        </p:nvCxnSpPr>
        <p:spPr bwMode="auto">
          <a:xfrm flipH="1" flipV="1">
            <a:off x="5678489" y="56515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21">
            <a:extLst>
              <a:ext uri="{FF2B5EF4-FFF2-40B4-BE49-F238E27FC236}">
                <a16:creationId xmlns:a16="http://schemas.microsoft.com/office/drawing/2014/main" id="{97464557-74DF-5461-185E-CD7C364760FA}"/>
              </a:ext>
            </a:extLst>
          </p:cNvPr>
          <p:cNvCxnSpPr>
            <a:cxnSpLocks noChangeShapeType="1"/>
            <a:stCxn id="20521" idx="0"/>
            <a:endCxn id="20523" idx="3"/>
          </p:cNvCxnSpPr>
          <p:nvPr/>
        </p:nvCxnSpPr>
        <p:spPr bwMode="auto">
          <a:xfrm flipV="1">
            <a:off x="5227639" y="5651500"/>
            <a:ext cx="211137" cy="211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9" name="AutoShape 22">
            <a:extLst>
              <a:ext uri="{FF2B5EF4-FFF2-40B4-BE49-F238E27FC236}">
                <a16:creationId xmlns:a16="http://schemas.microsoft.com/office/drawing/2014/main" id="{A6D72EDE-210D-1512-E8AE-37EC97996E92}"/>
              </a:ext>
            </a:extLst>
          </p:cNvPr>
          <p:cNvCxnSpPr>
            <a:cxnSpLocks noChangeShapeType="1"/>
            <a:stCxn id="20508" idx="0"/>
            <a:endCxn id="20524" idx="5"/>
          </p:cNvCxnSpPr>
          <p:nvPr/>
        </p:nvCxnSpPr>
        <p:spPr bwMode="auto">
          <a:xfrm flipH="1" flipV="1">
            <a:off x="8083551" y="56515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0" name="AutoShape 23">
            <a:extLst>
              <a:ext uri="{FF2B5EF4-FFF2-40B4-BE49-F238E27FC236}">
                <a16:creationId xmlns:a16="http://schemas.microsoft.com/office/drawing/2014/main" id="{33BC0EA3-65DD-AD39-C9A2-06B466B05D17}"/>
              </a:ext>
            </a:extLst>
          </p:cNvPr>
          <p:cNvCxnSpPr>
            <a:cxnSpLocks noChangeShapeType="1"/>
            <a:stCxn id="20507" idx="0"/>
            <a:endCxn id="20524" idx="3"/>
          </p:cNvCxnSpPr>
          <p:nvPr/>
        </p:nvCxnSpPr>
        <p:spPr bwMode="auto">
          <a:xfrm flipV="1">
            <a:off x="7662864" y="56515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0501" name="Group 24">
            <a:extLst>
              <a:ext uri="{FF2B5EF4-FFF2-40B4-BE49-F238E27FC236}">
                <a16:creationId xmlns:a16="http://schemas.microsoft.com/office/drawing/2014/main" id="{6B7450B0-9728-3105-3D7F-7B7698BC45CA}"/>
              </a:ext>
            </a:extLst>
          </p:cNvPr>
          <p:cNvGrpSpPr>
            <a:grpSpLocks/>
          </p:cNvGrpSpPr>
          <p:nvPr/>
        </p:nvGrpSpPr>
        <p:grpSpPr bwMode="auto">
          <a:xfrm>
            <a:off x="5389564" y="5353050"/>
            <a:ext cx="3944937" cy="338138"/>
            <a:chOff x="1711" y="3144"/>
            <a:chExt cx="2805" cy="240"/>
          </a:xfrm>
        </p:grpSpPr>
        <p:sp>
          <p:nvSpPr>
            <p:cNvPr id="20522" name="Oval 25">
              <a:extLst>
                <a:ext uri="{FF2B5EF4-FFF2-40B4-BE49-F238E27FC236}">
                  <a16:creationId xmlns:a16="http://schemas.microsoft.com/office/drawing/2014/main" id="{B23BC7F9-2187-C944-32CA-CA617CA59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0523" name="Oval 26">
              <a:extLst>
                <a:ext uri="{FF2B5EF4-FFF2-40B4-BE49-F238E27FC236}">
                  <a16:creationId xmlns:a16="http://schemas.microsoft.com/office/drawing/2014/main" id="{B034E6E2-5265-C90C-F51E-585CBB51C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0524" name="Oval 27">
              <a:extLst>
                <a:ext uri="{FF2B5EF4-FFF2-40B4-BE49-F238E27FC236}">
                  <a16:creationId xmlns:a16="http://schemas.microsoft.com/office/drawing/2014/main" id="{9568DF08-8A84-BA90-C6F3-D55A30D1C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0525" name="Oval 28">
              <a:extLst>
                <a:ext uri="{FF2B5EF4-FFF2-40B4-BE49-F238E27FC236}">
                  <a16:creationId xmlns:a16="http://schemas.microsoft.com/office/drawing/2014/main" id="{A6B078D4-AA83-002F-2437-981845606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cxnSp>
        <p:nvCxnSpPr>
          <p:cNvPr id="20502" name="AutoShape 29">
            <a:extLst>
              <a:ext uri="{FF2B5EF4-FFF2-40B4-BE49-F238E27FC236}">
                <a16:creationId xmlns:a16="http://schemas.microsoft.com/office/drawing/2014/main" id="{4E34EDAC-AA7D-8588-BFE9-32314B2C2B03}"/>
              </a:ext>
            </a:extLst>
          </p:cNvPr>
          <p:cNvCxnSpPr>
            <a:cxnSpLocks noChangeShapeType="1"/>
            <a:stCxn id="20510" idx="0"/>
            <a:endCxn id="20525" idx="5"/>
          </p:cNvCxnSpPr>
          <p:nvPr/>
        </p:nvCxnSpPr>
        <p:spPr bwMode="auto">
          <a:xfrm flipH="1" flipV="1">
            <a:off x="9285288" y="5651501"/>
            <a:ext cx="182562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3" name="AutoShape 30">
            <a:extLst>
              <a:ext uri="{FF2B5EF4-FFF2-40B4-BE49-F238E27FC236}">
                <a16:creationId xmlns:a16="http://schemas.microsoft.com/office/drawing/2014/main" id="{B534E585-422B-0D21-2BDD-AEEC6950BCD8}"/>
              </a:ext>
            </a:extLst>
          </p:cNvPr>
          <p:cNvCxnSpPr>
            <a:cxnSpLocks noChangeShapeType="1"/>
            <a:stCxn id="20509" idx="0"/>
            <a:endCxn id="20525" idx="3"/>
          </p:cNvCxnSpPr>
          <p:nvPr/>
        </p:nvCxnSpPr>
        <p:spPr bwMode="auto">
          <a:xfrm flipV="1">
            <a:off x="8864601" y="56515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4" name="Rectangle 31">
            <a:extLst>
              <a:ext uri="{FF2B5EF4-FFF2-40B4-BE49-F238E27FC236}">
                <a16:creationId xmlns:a16="http://schemas.microsoft.com/office/drawing/2014/main" id="{C9AC7934-B67F-C010-4D53-EFA1E6306A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37301" y="5873750"/>
            <a:ext cx="244475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5" name="Rectangle 32">
            <a:extLst>
              <a:ext uri="{FF2B5EF4-FFF2-40B4-BE49-F238E27FC236}">
                <a16:creationId xmlns:a16="http://schemas.microsoft.com/office/drawing/2014/main" id="{C3D5E549-560F-F050-E188-00F3BA3765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0550" y="5873750"/>
            <a:ext cx="242888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6" name="Rectangle 33">
            <a:extLst>
              <a:ext uri="{FF2B5EF4-FFF2-40B4-BE49-F238E27FC236}">
                <a16:creationId xmlns:a16="http://schemas.microsoft.com/office/drawing/2014/main" id="{2D564BFE-68FD-D52F-CBFA-B41F96C9D2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37225" y="5873750"/>
            <a:ext cx="242888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7" name="Rectangle 34">
            <a:extLst>
              <a:ext uri="{FF2B5EF4-FFF2-40B4-BE49-F238E27FC236}">
                <a16:creationId xmlns:a16="http://schemas.microsoft.com/office/drawing/2014/main" id="{C59EF2DC-3966-6F34-5CEB-C1011B1333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0625" y="5873750"/>
            <a:ext cx="242888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8" name="Rectangle 35">
            <a:extLst>
              <a:ext uri="{FF2B5EF4-FFF2-40B4-BE49-F238E27FC236}">
                <a16:creationId xmlns:a16="http://schemas.microsoft.com/office/drawing/2014/main" id="{D41AA8E9-7C07-AF89-93DD-DE52D56C7A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42289" y="5873750"/>
            <a:ext cx="242887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09" name="Rectangle 36">
            <a:extLst>
              <a:ext uri="{FF2B5EF4-FFF2-40B4-BE49-F238E27FC236}">
                <a16:creationId xmlns:a16="http://schemas.microsoft.com/office/drawing/2014/main" id="{2C65B954-90AF-6ACE-C004-87A4AD10C3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42364" y="5873750"/>
            <a:ext cx="244475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10" name="Rectangle 37">
            <a:extLst>
              <a:ext uri="{FF2B5EF4-FFF2-40B4-BE49-F238E27FC236}">
                <a16:creationId xmlns:a16="http://schemas.microsoft.com/office/drawing/2014/main" id="{E12B4032-2389-1C7B-90C9-09796D9C71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45614" y="5873750"/>
            <a:ext cx="242887" cy="2428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511" name="Text Box 38">
            <a:extLst>
              <a:ext uri="{FF2B5EF4-FFF2-40B4-BE49-F238E27FC236}">
                <a16:creationId xmlns:a16="http://schemas.microsoft.com/office/drawing/2014/main" id="{3AD108C3-1EF6-1605-0FEC-3EA18F727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1238" y="44243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12" name="Text Box 39">
            <a:extLst>
              <a:ext uri="{FF2B5EF4-FFF2-40B4-BE49-F238E27FC236}">
                <a16:creationId xmlns:a16="http://schemas.microsoft.com/office/drawing/2014/main" id="{C8D4D183-4C84-FAA8-8A24-CAC305C7A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1238" y="48847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13" name="Text Box 40">
            <a:extLst>
              <a:ext uri="{FF2B5EF4-FFF2-40B4-BE49-F238E27FC236}">
                <a16:creationId xmlns:a16="http://schemas.microsoft.com/office/drawing/2014/main" id="{3B9ED2C9-8CC9-396B-FAA6-D87A508FB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5345113"/>
            <a:ext cx="54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800" baseline="30000">
                <a:latin typeface="Symbol" pitchFamily="2" charset="2"/>
              </a:rPr>
              <a:t>-</a:t>
            </a:r>
            <a:r>
              <a:rPr lang="en-US" altLang="en-US" sz="1800" baseline="30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14" name="Text Box 41">
            <a:extLst>
              <a:ext uri="{FF2B5EF4-FFF2-40B4-BE49-F238E27FC236}">
                <a16:creationId xmlns:a16="http://schemas.microsoft.com/office/drawing/2014/main" id="{90B22441-4AD8-F70D-4C52-873F39AE9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1238" y="58054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15" name="Text Box 42">
            <a:extLst>
              <a:ext uri="{FF2B5EF4-FFF2-40B4-BE49-F238E27FC236}">
                <a16:creationId xmlns:a16="http://schemas.microsoft.com/office/drawing/2014/main" id="{E7E99FCA-B282-0FF9-3FA1-803604B77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8514" y="4076701"/>
            <a:ext cx="727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items</a:t>
            </a:r>
          </a:p>
        </p:txBody>
      </p:sp>
      <p:sp>
        <p:nvSpPr>
          <p:cNvPr id="20516" name="Text Box 43">
            <a:extLst>
              <a:ext uri="{FF2B5EF4-FFF2-40B4-BE49-F238E27FC236}">
                <a16:creationId xmlns:a16="http://schemas.microsoft.com/office/drawing/2014/main" id="{81E0994B-3D0F-2EE7-7979-E2ACDAB8E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44243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17" name="Text Box 44">
            <a:extLst>
              <a:ext uri="{FF2B5EF4-FFF2-40B4-BE49-F238E27FC236}">
                <a16:creationId xmlns:a16="http://schemas.microsoft.com/office/drawing/2014/main" id="{2663A2A2-1C7E-BE0D-A7D7-088C44CBC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48847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18" name="Text Box 45">
            <a:extLst>
              <a:ext uri="{FF2B5EF4-FFF2-40B4-BE49-F238E27FC236}">
                <a16:creationId xmlns:a16="http://schemas.microsoft.com/office/drawing/2014/main" id="{B80BFC63-E45C-B473-44CB-C383B0732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63" y="5340351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19" name="Text Box 46">
            <a:extLst>
              <a:ext uri="{FF2B5EF4-FFF2-40B4-BE49-F238E27FC236}">
                <a16:creationId xmlns:a16="http://schemas.microsoft.com/office/drawing/2014/main" id="{728B982A-096B-6708-49C8-05AE345BD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5" y="5805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0520" name="Text Box 47">
            <a:extLst>
              <a:ext uri="{FF2B5EF4-FFF2-40B4-BE49-F238E27FC236}">
                <a16:creationId xmlns:a16="http://schemas.microsoft.com/office/drawing/2014/main" id="{CF8ED6EB-8E21-4DCE-3468-A3F6EA015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0767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depth</a:t>
            </a:r>
          </a:p>
        </p:txBody>
      </p:sp>
      <p:sp>
        <p:nvSpPr>
          <p:cNvPr id="20521" name="Rectangle 48">
            <a:extLst>
              <a:ext uri="{FF2B5EF4-FFF2-40B4-BE49-F238E27FC236}">
                <a16:creationId xmlns:a16="http://schemas.microsoft.com/office/drawing/2014/main" id="{8EC40CED-A8FF-CC9C-71D0-5F38D35466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5872164"/>
            <a:ext cx="242888" cy="2428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76AE48AB-8D30-5EE0-109E-F24CEC085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/>
              <a:t>Insertion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F3554B5-3729-2B80-94AC-4A8DB1A2F34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838200"/>
            <a:ext cx="8001000" cy="2362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We insert a new item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at the parent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of the leaf reached by searching for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</a:p>
          <a:p>
            <a:pPr lvl="1" eaLnBrk="1" hangingPunct="1"/>
            <a:r>
              <a:rPr lang="en-US" altLang="en-US" sz="1800"/>
              <a:t>We preserve the depth property but </a:t>
            </a:r>
          </a:p>
          <a:p>
            <a:pPr lvl="1" eaLnBrk="1" hangingPunct="1"/>
            <a:r>
              <a:rPr lang="en-US" altLang="en-US" sz="1800"/>
              <a:t>We may cause an </a:t>
            </a:r>
            <a:r>
              <a:rPr lang="en-US" altLang="en-US" sz="1800">
                <a:solidFill>
                  <a:schemeClr val="tx2"/>
                </a:solidFill>
              </a:rPr>
              <a:t>overflow</a:t>
            </a:r>
            <a:r>
              <a:rPr lang="en-US" altLang="en-US" sz="1800"/>
              <a:t> (i.e., node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may become a 5-node)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Example: inserting key 30 causes an overflow</a:t>
            </a:r>
          </a:p>
        </p:txBody>
      </p:sp>
      <p:sp>
        <p:nvSpPr>
          <p:cNvPr id="21507" name="Oval 4">
            <a:extLst>
              <a:ext uri="{FF2B5EF4-FFF2-40B4-BE49-F238E27FC236}">
                <a16:creationId xmlns:a16="http://schemas.microsoft.com/office/drawing/2014/main" id="{D3DCDCBA-AFEF-E0EF-D6B9-879FBCA729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8364" y="3844925"/>
            <a:ext cx="1697037" cy="2857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27   32   35</a:t>
            </a:r>
          </a:p>
        </p:txBody>
      </p:sp>
      <p:cxnSp>
        <p:nvCxnSpPr>
          <p:cNvPr id="21508" name="AutoShape 5">
            <a:extLst>
              <a:ext uri="{FF2B5EF4-FFF2-40B4-BE49-F238E27FC236}">
                <a16:creationId xmlns:a16="http://schemas.microsoft.com/office/drawing/2014/main" id="{96B8029A-2582-0D47-2CBE-35F97046EB3C}"/>
              </a:ext>
            </a:extLst>
          </p:cNvPr>
          <p:cNvCxnSpPr>
            <a:cxnSpLocks noChangeAspect="1" noChangeShapeType="1"/>
            <a:stCxn id="21537" idx="0"/>
            <a:endCxn id="21507" idx="5"/>
          </p:cNvCxnSpPr>
          <p:nvPr/>
        </p:nvCxnSpPr>
        <p:spPr bwMode="auto">
          <a:xfrm flipH="1" flipV="1">
            <a:off x="8666164" y="4108451"/>
            <a:ext cx="96837" cy="2397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09" name="Oval 6">
            <a:extLst>
              <a:ext uri="{FF2B5EF4-FFF2-40B4-BE49-F238E27FC236}">
                <a16:creationId xmlns:a16="http://schemas.microsoft.com/office/drawing/2014/main" id="{1B09F788-ED97-6FBF-5D3E-0510B98E0C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49813" y="3335338"/>
            <a:ext cx="1820862" cy="28416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10   15   24</a:t>
            </a:r>
          </a:p>
        </p:txBody>
      </p:sp>
      <p:sp>
        <p:nvSpPr>
          <p:cNvPr id="21510" name="Oval 7">
            <a:extLst>
              <a:ext uri="{FF2B5EF4-FFF2-40B4-BE49-F238E27FC236}">
                <a16:creationId xmlns:a16="http://schemas.microsoft.com/office/drawing/2014/main" id="{A9CD7A7E-673B-B266-AD73-1AC20FAD11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65464" y="3844925"/>
            <a:ext cx="1195387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2   8</a:t>
            </a:r>
          </a:p>
        </p:txBody>
      </p:sp>
      <p:sp>
        <p:nvSpPr>
          <p:cNvPr id="21511" name="Oval 8">
            <a:extLst>
              <a:ext uri="{FF2B5EF4-FFF2-40B4-BE49-F238E27FC236}">
                <a16:creationId xmlns:a16="http://schemas.microsoft.com/office/drawing/2014/main" id="{80499C57-1141-A31A-9B0D-9576560E48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9176" y="38449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1512" name="Rectangle 9">
            <a:extLst>
              <a:ext uri="{FF2B5EF4-FFF2-40B4-BE49-F238E27FC236}">
                <a16:creationId xmlns:a16="http://schemas.microsoft.com/office/drawing/2014/main" id="{833EF605-E9A1-6ECF-20E6-DF491C1BAD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1851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3" name="Rectangle 10">
            <a:extLst>
              <a:ext uri="{FF2B5EF4-FFF2-40B4-BE49-F238E27FC236}">
                <a16:creationId xmlns:a16="http://schemas.microsoft.com/office/drawing/2014/main" id="{8CFE62D3-F24F-12BB-8635-2DF192B698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9176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4" name="Rectangle 11">
            <a:extLst>
              <a:ext uri="{FF2B5EF4-FFF2-40B4-BE49-F238E27FC236}">
                <a16:creationId xmlns:a16="http://schemas.microsoft.com/office/drawing/2014/main" id="{C00251BE-24F1-B6E9-E26E-39B094A72F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97501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5" name="Rectangle 12">
            <a:extLst>
              <a:ext uri="{FF2B5EF4-FFF2-40B4-BE49-F238E27FC236}">
                <a16:creationId xmlns:a16="http://schemas.microsoft.com/office/drawing/2014/main" id="{B5D5A3C0-6D28-1DCF-2C04-F302A65295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1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6" name="Rectangle 13">
            <a:extLst>
              <a:ext uri="{FF2B5EF4-FFF2-40B4-BE49-F238E27FC236}">
                <a16:creationId xmlns:a16="http://schemas.microsoft.com/office/drawing/2014/main" id="{515165F0-932C-516F-3B81-77DB4BFBA4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4576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7" name="Rectangle 14">
            <a:extLst>
              <a:ext uri="{FF2B5EF4-FFF2-40B4-BE49-F238E27FC236}">
                <a16:creationId xmlns:a16="http://schemas.microsoft.com/office/drawing/2014/main" id="{0AB8D140-8F81-1806-B7F3-DBD128B0CF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03701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18" name="AutoShape 15">
            <a:extLst>
              <a:ext uri="{FF2B5EF4-FFF2-40B4-BE49-F238E27FC236}">
                <a16:creationId xmlns:a16="http://schemas.microsoft.com/office/drawing/2014/main" id="{88501E8E-27D2-9A65-5EB4-87FCEA337C37}"/>
              </a:ext>
            </a:extLst>
          </p:cNvPr>
          <p:cNvCxnSpPr>
            <a:cxnSpLocks noChangeAspect="1" noChangeShapeType="1"/>
            <a:stCxn id="21509" idx="3"/>
            <a:endCxn id="21510" idx="0"/>
          </p:cNvCxnSpPr>
          <p:nvPr/>
        </p:nvCxnSpPr>
        <p:spPr bwMode="auto">
          <a:xfrm flipH="1">
            <a:off x="3663951" y="3597276"/>
            <a:ext cx="1452563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6">
            <a:extLst>
              <a:ext uri="{FF2B5EF4-FFF2-40B4-BE49-F238E27FC236}">
                <a16:creationId xmlns:a16="http://schemas.microsoft.com/office/drawing/2014/main" id="{AE5FDF9A-1371-7DBB-9D7D-43998C472B42}"/>
              </a:ext>
            </a:extLst>
          </p:cNvPr>
          <p:cNvCxnSpPr>
            <a:cxnSpLocks noChangeAspect="1" noChangeShapeType="1"/>
            <a:stCxn id="21509" idx="5"/>
            <a:endCxn id="21507" idx="0"/>
          </p:cNvCxnSpPr>
          <p:nvPr/>
        </p:nvCxnSpPr>
        <p:spPr bwMode="auto">
          <a:xfrm>
            <a:off x="6403975" y="3597275"/>
            <a:ext cx="1663700" cy="228600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7">
            <a:extLst>
              <a:ext uri="{FF2B5EF4-FFF2-40B4-BE49-F238E27FC236}">
                <a16:creationId xmlns:a16="http://schemas.microsoft.com/office/drawing/2014/main" id="{5B886735-554A-B00B-9DC5-1FC41FCDEFF3}"/>
              </a:ext>
            </a:extLst>
          </p:cNvPr>
          <p:cNvCxnSpPr>
            <a:cxnSpLocks noChangeAspect="1" noChangeShapeType="1"/>
            <a:stCxn id="21510" idx="3"/>
            <a:endCxn id="21515" idx="0"/>
          </p:cNvCxnSpPr>
          <p:nvPr/>
        </p:nvCxnSpPr>
        <p:spPr bwMode="auto">
          <a:xfrm flipH="1">
            <a:off x="3048000" y="4095750"/>
            <a:ext cx="19208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8">
            <a:extLst>
              <a:ext uri="{FF2B5EF4-FFF2-40B4-BE49-F238E27FC236}">
                <a16:creationId xmlns:a16="http://schemas.microsoft.com/office/drawing/2014/main" id="{76C6BFC9-F72B-9262-4F02-3DED2ECF5A13}"/>
              </a:ext>
            </a:extLst>
          </p:cNvPr>
          <p:cNvCxnSpPr>
            <a:cxnSpLocks noChangeAspect="1" noChangeShapeType="1"/>
            <a:stCxn id="21510" idx="5"/>
            <a:endCxn id="21517" idx="0"/>
          </p:cNvCxnSpPr>
          <p:nvPr/>
        </p:nvCxnSpPr>
        <p:spPr bwMode="auto">
          <a:xfrm>
            <a:off x="4084638" y="4095750"/>
            <a:ext cx="195262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2" name="Rectangle 19">
            <a:extLst>
              <a:ext uri="{FF2B5EF4-FFF2-40B4-BE49-F238E27FC236}">
                <a16:creationId xmlns:a16="http://schemas.microsoft.com/office/drawing/2014/main" id="{7BF475CE-B3BF-870D-3BA2-8904C30A2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0339" y="4357688"/>
            <a:ext cx="149225" cy="150812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23" name="AutoShape 20">
            <a:extLst>
              <a:ext uri="{FF2B5EF4-FFF2-40B4-BE49-F238E27FC236}">
                <a16:creationId xmlns:a16="http://schemas.microsoft.com/office/drawing/2014/main" id="{CC497F3D-FBE3-42BC-5278-2F96149C7779}"/>
              </a:ext>
            </a:extLst>
          </p:cNvPr>
          <p:cNvCxnSpPr>
            <a:cxnSpLocks noChangeAspect="1" noChangeShapeType="1"/>
            <a:stCxn id="21512" idx="0"/>
            <a:endCxn id="21507" idx="3"/>
          </p:cNvCxnSpPr>
          <p:nvPr/>
        </p:nvCxnSpPr>
        <p:spPr bwMode="auto">
          <a:xfrm flipV="1">
            <a:off x="7258050" y="4108451"/>
            <a:ext cx="209550" cy="2397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4" name="AutoShape 21">
            <a:extLst>
              <a:ext uri="{FF2B5EF4-FFF2-40B4-BE49-F238E27FC236}">
                <a16:creationId xmlns:a16="http://schemas.microsoft.com/office/drawing/2014/main" id="{ED271128-2906-56B5-40CB-05255A47FE94}"/>
              </a:ext>
            </a:extLst>
          </p:cNvPr>
          <p:cNvCxnSpPr>
            <a:cxnSpLocks noChangeAspect="1" noChangeShapeType="1"/>
            <a:stCxn id="21516" idx="0"/>
            <a:endCxn id="21510" idx="4"/>
          </p:cNvCxnSpPr>
          <p:nvPr/>
        </p:nvCxnSpPr>
        <p:spPr bwMode="auto">
          <a:xfrm flipV="1">
            <a:off x="3660775" y="4137026"/>
            <a:ext cx="1588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5" name="Oval 22">
            <a:extLst>
              <a:ext uri="{FF2B5EF4-FFF2-40B4-BE49-F238E27FC236}">
                <a16:creationId xmlns:a16="http://schemas.microsoft.com/office/drawing/2014/main" id="{D00371B5-3820-33AE-BC29-F673FF95FD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0264" y="38449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1526" name="Rectangle 23">
            <a:extLst>
              <a:ext uri="{FF2B5EF4-FFF2-40B4-BE49-F238E27FC236}">
                <a16:creationId xmlns:a16="http://schemas.microsoft.com/office/drawing/2014/main" id="{8408363F-737E-657B-AB1D-7799664A5D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0263" y="43576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27" name="Rectangle 24">
            <a:extLst>
              <a:ext uri="{FF2B5EF4-FFF2-40B4-BE49-F238E27FC236}">
                <a16:creationId xmlns:a16="http://schemas.microsoft.com/office/drawing/2014/main" id="{CB578334-830E-609E-50BF-C932ABD82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5738" y="43576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28" name="AutoShape 25">
            <a:extLst>
              <a:ext uri="{FF2B5EF4-FFF2-40B4-BE49-F238E27FC236}">
                <a16:creationId xmlns:a16="http://schemas.microsoft.com/office/drawing/2014/main" id="{18310568-DB1C-C32F-4D86-4FA192E16123}"/>
              </a:ext>
            </a:extLst>
          </p:cNvPr>
          <p:cNvCxnSpPr>
            <a:cxnSpLocks noChangeAspect="1" noChangeShapeType="1"/>
            <a:stCxn id="21513" idx="0"/>
          </p:cNvCxnSpPr>
          <p:nvPr/>
        </p:nvCxnSpPr>
        <p:spPr bwMode="auto">
          <a:xfrm flipV="1">
            <a:off x="4905375" y="4121151"/>
            <a:ext cx="190500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9" name="AutoShape 26">
            <a:extLst>
              <a:ext uri="{FF2B5EF4-FFF2-40B4-BE49-F238E27FC236}">
                <a16:creationId xmlns:a16="http://schemas.microsoft.com/office/drawing/2014/main" id="{047A3EAF-937D-D8DC-9F32-C0ED0966C607}"/>
              </a:ext>
            </a:extLst>
          </p:cNvPr>
          <p:cNvCxnSpPr>
            <a:cxnSpLocks noChangeAspect="1" noChangeShapeType="1"/>
            <a:stCxn id="21526" idx="0"/>
          </p:cNvCxnSpPr>
          <p:nvPr/>
        </p:nvCxnSpPr>
        <p:spPr bwMode="auto">
          <a:xfrm flipV="1">
            <a:off x="5986464" y="4127501"/>
            <a:ext cx="200025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AutoShape 27">
            <a:extLst>
              <a:ext uri="{FF2B5EF4-FFF2-40B4-BE49-F238E27FC236}">
                <a16:creationId xmlns:a16="http://schemas.microsoft.com/office/drawing/2014/main" id="{31232037-034D-389D-4B41-60C7AFE5D145}"/>
              </a:ext>
            </a:extLst>
          </p:cNvPr>
          <p:cNvCxnSpPr>
            <a:cxnSpLocks noChangeAspect="1" noChangeShapeType="1"/>
            <a:stCxn id="21527" idx="0"/>
          </p:cNvCxnSpPr>
          <p:nvPr/>
        </p:nvCxnSpPr>
        <p:spPr bwMode="auto">
          <a:xfrm flipH="1" flipV="1">
            <a:off x="6461126" y="4113213"/>
            <a:ext cx="150813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8">
            <a:extLst>
              <a:ext uri="{FF2B5EF4-FFF2-40B4-BE49-F238E27FC236}">
                <a16:creationId xmlns:a16="http://schemas.microsoft.com/office/drawing/2014/main" id="{F33BE287-F18C-1F08-CD24-3D561BB3767A}"/>
              </a:ext>
            </a:extLst>
          </p:cNvPr>
          <p:cNvCxnSpPr>
            <a:cxnSpLocks noChangeAspect="1" noChangeShapeType="1"/>
            <a:stCxn id="21514" idx="0"/>
          </p:cNvCxnSpPr>
          <p:nvPr/>
        </p:nvCxnSpPr>
        <p:spPr bwMode="auto">
          <a:xfrm flipH="1" flipV="1">
            <a:off x="5338764" y="4127501"/>
            <a:ext cx="134937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2" name="Rectangle 29">
            <a:extLst>
              <a:ext uri="{FF2B5EF4-FFF2-40B4-BE49-F238E27FC236}">
                <a16:creationId xmlns:a16="http://schemas.microsoft.com/office/drawing/2014/main" id="{4BB6E5D2-CDFF-F569-AC46-59591135D6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05801" y="4357688"/>
            <a:ext cx="149225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33" name="AutoShape 30">
            <a:extLst>
              <a:ext uri="{FF2B5EF4-FFF2-40B4-BE49-F238E27FC236}">
                <a16:creationId xmlns:a16="http://schemas.microsoft.com/office/drawing/2014/main" id="{E9D89608-7597-B80E-F0F4-D4F88D4AF0AA}"/>
              </a:ext>
            </a:extLst>
          </p:cNvPr>
          <p:cNvCxnSpPr>
            <a:cxnSpLocks noChangeShapeType="1"/>
            <a:stCxn id="21522" idx="0"/>
          </p:cNvCxnSpPr>
          <p:nvPr/>
        </p:nvCxnSpPr>
        <p:spPr bwMode="auto">
          <a:xfrm flipV="1">
            <a:off x="7854951" y="4124326"/>
            <a:ext cx="53975" cy="214313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4" name="AutoShape 31">
            <a:extLst>
              <a:ext uri="{FF2B5EF4-FFF2-40B4-BE49-F238E27FC236}">
                <a16:creationId xmlns:a16="http://schemas.microsoft.com/office/drawing/2014/main" id="{C5B543F7-8089-53F8-9795-63E4951B4680}"/>
              </a:ext>
            </a:extLst>
          </p:cNvPr>
          <p:cNvCxnSpPr>
            <a:cxnSpLocks noChangeShapeType="1"/>
            <a:stCxn id="21532" idx="0"/>
          </p:cNvCxnSpPr>
          <p:nvPr/>
        </p:nvCxnSpPr>
        <p:spPr bwMode="auto">
          <a:xfrm flipH="1" flipV="1">
            <a:off x="8245475" y="4127501"/>
            <a:ext cx="134938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5" name="AutoShape 32">
            <a:extLst>
              <a:ext uri="{FF2B5EF4-FFF2-40B4-BE49-F238E27FC236}">
                <a16:creationId xmlns:a16="http://schemas.microsoft.com/office/drawing/2014/main" id="{E457A4D0-DCBA-5F38-917E-E390A6FF69B7}"/>
              </a:ext>
            </a:extLst>
          </p:cNvPr>
          <p:cNvCxnSpPr>
            <a:cxnSpLocks noChangeShapeType="1"/>
            <a:stCxn id="21525" idx="0"/>
          </p:cNvCxnSpPr>
          <p:nvPr/>
        </p:nvCxnSpPr>
        <p:spPr bwMode="auto">
          <a:xfrm flipH="1" flipV="1">
            <a:off x="5959475" y="3619500"/>
            <a:ext cx="349250" cy="215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6" name="AutoShape 33">
            <a:extLst>
              <a:ext uri="{FF2B5EF4-FFF2-40B4-BE49-F238E27FC236}">
                <a16:creationId xmlns:a16="http://schemas.microsoft.com/office/drawing/2014/main" id="{CC2CB0BF-0E4A-05B2-EE66-F0E51D8FB983}"/>
              </a:ext>
            </a:extLst>
          </p:cNvPr>
          <p:cNvCxnSpPr>
            <a:cxnSpLocks noChangeShapeType="1"/>
            <a:stCxn id="21511" idx="0"/>
          </p:cNvCxnSpPr>
          <p:nvPr/>
        </p:nvCxnSpPr>
        <p:spPr bwMode="auto">
          <a:xfrm flipV="1">
            <a:off x="5227639" y="3613150"/>
            <a:ext cx="3127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7" name="Rectangle 34">
            <a:extLst>
              <a:ext uri="{FF2B5EF4-FFF2-40B4-BE49-F238E27FC236}">
                <a16:creationId xmlns:a16="http://schemas.microsoft.com/office/drawing/2014/main" id="{F291AEF0-94F7-2D07-876D-F898D677A1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86801" y="43576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38" name="Oval 35">
            <a:extLst>
              <a:ext uri="{FF2B5EF4-FFF2-40B4-BE49-F238E27FC236}">
                <a16:creationId xmlns:a16="http://schemas.microsoft.com/office/drawing/2014/main" id="{E8211CE1-122C-1E7E-639E-F6804AC657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49813" y="5164138"/>
            <a:ext cx="1820862" cy="28416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10   15   24</a:t>
            </a:r>
          </a:p>
        </p:txBody>
      </p:sp>
      <p:sp>
        <p:nvSpPr>
          <p:cNvPr id="21539" name="Oval 36">
            <a:extLst>
              <a:ext uri="{FF2B5EF4-FFF2-40B4-BE49-F238E27FC236}">
                <a16:creationId xmlns:a16="http://schemas.microsoft.com/office/drawing/2014/main" id="{08567F4D-9887-8122-950E-063979B642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65464" y="5673725"/>
            <a:ext cx="1195387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2   8</a:t>
            </a:r>
          </a:p>
        </p:txBody>
      </p:sp>
      <p:sp>
        <p:nvSpPr>
          <p:cNvPr id="21540" name="Oval 37">
            <a:extLst>
              <a:ext uri="{FF2B5EF4-FFF2-40B4-BE49-F238E27FC236}">
                <a16:creationId xmlns:a16="http://schemas.microsoft.com/office/drawing/2014/main" id="{4A1CA36F-8604-E0B1-8F41-A98C2FA458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9176" y="56737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1541" name="Oval 38">
            <a:extLst>
              <a:ext uri="{FF2B5EF4-FFF2-40B4-BE49-F238E27FC236}">
                <a16:creationId xmlns:a16="http://schemas.microsoft.com/office/drawing/2014/main" id="{A3EEF8BC-94B3-8193-13FC-E82EDC5F82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8364" y="5673725"/>
            <a:ext cx="2078037" cy="2857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27   </a:t>
            </a:r>
            <a:r>
              <a:rPr lang="en-US" altLang="en-US" sz="1600">
                <a:solidFill>
                  <a:schemeClr val="tx2"/>
                </a:solidFill>
                <a:latin typeface="Tahoma" panose="020B0604030504040204" pitchFamily="34" charset="0"/>
              </a:rPr>
              <a:t>30</a:t>
            </a:r>
            <a:r>
              <a:rPr lang="en-US" altLang="en-US" sz="1600">
                <a:latin typeface="Tahoma" panose="020B0604030504040204" pitchFamily="34" charset="0"/>
              </a:rPr>
              <a:t>   32   35</a:t>
            </a:r>
          </a:p>
        </p:txBody>
      </p:sp>
      <p:sp>
        <p:nvSpPr>
          <p:cNvPr id="21542" name="Rectangle 39">
            <a:extLst>
              <a:ext uri="{FF2B5EF4-FFF2-40B4-BE49-F238E27FC236}">
                <a16:creationId xmlns:a16="http://schemas.microsoft.com/office/drawing/2014/main" id="{7677CB9A-4F85-9607-C9C0-987863140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1851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3" name="Rectangle 40">
            <a:extLst>
              <a:ext uri="{FF2B5EF4-FFF2-40B4-BE49-F238E27FC236}">
                <a16:creationId xmlns:a16="http://schemas.microsoft.com/office/drawing/2014/main" id="{52369FBD-D778-3655-C981-D0F2A9F495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1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4" name="Rectangle 41">
            <a:extLst>
              <a:ext uri="{FF2B5EF4-FFF2-40B4-BE49-F238E27FC236}">
                <a16:creationId xmlns:a16="http://schemas.microsoft.com/office/drawing/2014/main" id="{36986F5E-50D8-0CED-7C6B-22D430FEDA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9176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5" name="Rectangle 42">
            <a:extLst>
              <a:ext uri="{FF2B5EF4-FFF2-40B4-BE49-F238E27FC236}">
                <a16:creationId xmlns:a16="http://schemas.microsoft.com/office/drawing/2014/main" id="{353A5AF6-5AB9-BDF3-CBE8-9F53F24B2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97501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6" name="Rectangle 43">
            <a:extLst>
              <a:ext uri="{FF2B5EF4-FFF2-40B4-BE49-F238E27FC236}">
                <a16:creationId xmlns:a16="http://schemas.microsoft.com/office/drawing/2014/main" id="{73C6A8EC-F476-20EB-91B0-4B71AA9BF7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1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7" name="Rectangle 44">
            <a:extLst>
              <a:ext uri="{FF2B5EF4-FFF2-40B4-BE49-F238E27FC236}">
                <a16:creationId xmlns:a16="http://schemas.microsoft.com/office/drawing/2014/main" id="{D547EEC6-7120-2C64-7773-48EA2A6E05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4576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48" name="Rectangle 45">
            <a:extLst>
              <a:ext uri="{FF2B5EF4-FFF2-40B4-BE49-F238E27FC236}">
                <a16:creationId xmlns:a16="http://schemas.microsoft.com/office/drawing/2014/main" id="{04A40BF4-5E49-ED7F-74B5-9900C0A1AD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03701" y="61737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49" name="AutoShape 46">
            <a:extLst>
              <a:ext uri="{FF2B5EF4-FFF2-40B4-BE49-F238E27FC236}">
                <a16:creationId xmlns:a16="http://schemas.microsoft.com/office/drawing/2014/main" id="{1851A409-93ED-807C-EA8A-9226CEE42415}"/>
              </a:ext>
            </a:extLst>
          </p:cNvPr>
          <p:cNvCxnSpPr>
            <a:cxnSpLocks noChangeAspect="1" noChangeShapeType="1"/>
            <a:stCxn id="21538" idx="3"/>
            <a:endCxn id="21539" idx="0"/>
          </p:cNvCxnSpPr>
          <p:nvPr/>
        </p:nvCxnSpPr>
        <p:spPr bwMode="auto">
          <a:xfrm flipH="1">
            <a:off x="3663951" y="5426076"/>
            <a:ext cx="1452563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0" name="AutoShape 47">
            <a:extLst>
              <a:ext uri="{FF2B5EF4-FFF2-40B4-BE49-F238E27FC236}">
                <a16:creationId xmlns:a16="http://schemas.microsoft.com/office/drawing/2014/main" id="{E35FD599-77A6-A844-F71C-5EE4EB30760F}"/>
              </a:ext>
            </a:extLst>
          </p:cNvPr>
          <p:cNvCxnSpPr>
            <a:cxnSpLocks noChangeAspect="1" noChangeShapeType="1"/>
            <a:stCxn id="21538" idx="5"/>
            <a:endCxn id="21541" idx="0"/>
          </p:cNvCxnSpPr>
          <p:nvPr/>
        </p:nvCxnSpPr>
        <p:spPr bwMode="auto">
          <a:xfrm>
            <a:off x="6403975" y="5426075"/>
            <a:ext cx="1854200" cy="228600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1" name="AutoShape 48">
            <a:extLst>
              <a:ext uri="{FF2B5EF4-FFF2-40B4-BE49-F238E27FC236}">
                <a16:creationId xmlns:a16="http://schemas.microsoft.com/office/drawing/2014/main" id="{63EC5A03-F792-E60F-C91E-07EE94EE7810}"/>
              </a:ext>
            </a:extLst>
          </p:cNvPr>
          <p:cNvCxnSpPr>
            <a:cxnSpLocks noChangeAspect="1" noChangeShapeType="1"/>
            <a:stCxn id="21539" idx="3"/>
            <a:endCxn id="21546" idx="0"/>
          </p:cNvCxnSpPr>
          <p:nvPr/>
        </p:nvCxnSpPr>
        <p:spPr bwMode="auto">
          <a:xfrm flipH="1">
            <a:off x="3048000" y="5927725"/>
            <a:ext cx="192088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2" name="AutoShape 49">
            <a:extLst>
              <a:ext uri="{FF2B5EF4-FFF2-40B4-BE49-F238E27FC236}">
                <a16:creationId xmlns:a16="http://schemas.microsoft.com/office/drawing/2014/main" id="{C65F57AE-6C72-D4DD-FE78-301C8C5A8AAF}"/>
              </a:ext>
            </a:extLst>
          </p:cNvPr>
          <p:cNvCxnSpPr>
            <a:cxnSpLocks noChangeAspect="1" noChangeShapeType="1"/>
            <a:stCxn id="21539" idx="5"/>
            <a:endCxn id="21548" idx="0"/>
          </p:cNvCxnSpPr>
          <p:nvPr/>
        </p:nvCxnSpPr>
        <p:spPr bwMode="auto">
          <a:xfrm>
            <a:off x="4086226" y="5927725"/>
            <a:ext cx="193675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53" name="Rectangle 50">
            <a:extLst>
              <a:ext uri="{FF2B5EF4-FFF2-40B4-BE49-F238E27FC236}">
                <a16:creationId xmlns:a16="http://schemas.microsoft.com/office/drawing/2014/main" id="{DB192EC3-2354-D80D-2195-3D5E8F59F3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0339" y="6173788"/>
            <a:ext cx="149225" cy="150812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54" name="AutoShape 51">
            <a:extLst>
              <a:ext uri="{FF2B5EF4-FFF2-40B4-BE49-F238E27FC236}">
                <a16:creationId xmlns:a16="http://schemas.microsoft.com/office/drawing/2014/main" id="{949C37E3-66DA-F1DC-739A-162DF4CE23A0}"/>
              </a:ext>
            </a:extLst>
          </p:cNvPr>
          <p:cNvCxnSpPr>
            <a:cxnSpLocks noChangeAspect="1" noChangeShapeType="1"/>
            <a:stCxn id="21542" idx="0"/>
            <a:endCxn id="21541" idx="3"/>
          </p:cNvCxnSpPr>
          <p:nvPr/>
        </p:nvCxnSpPr>
        <p:spPr bwMode="auto">
          <a:xfrm flipV="1">
            <a:off x="7258051" y="5937251"/>
            <a:ext cx="265113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5" name="AutoShape 52">
            <a:extLst>
              <a:ext uri="{FF2B5EF4-FFF2-40B4-BE49-F238E27FC236}">
                <a16:creationId xmlns:a16="http://schemas.microsoft.com/office/drawing/2014/main" id="{4FE151AE-0DB8-7BED-2E11-4DC6C95F0BEB}"/>
              </a:ext>
            </a:extLst>
          </p:cNvPr>
          <p:cNvCxnSpPr>
            <a:cxnSpLocks noChangeAspect="1" noChangeShapeType="1"/>
            <a:stCxn id="21543" idx="0"/>
            <a:endCxn id="21541" idx="5"/>
          </p:cNvCxnSpPr>
          <p:nvPr/>
        </p:nvCxnSpPr>
        <p:spPr bwMode="auto">
          <a:xfrm flipH="1" flipV="1">
            <a:off x="8991600" y="5937251"/>
            <a:ext cx="228600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6" name="AutoShape 53">
            <a:extLst>
              <a:ext uri="{FF2B5EF4-FFF2-40B4-BE49-F238E27FC236}">
                <a16:creationId xmlns:a16="http://schemas.microsoft.com/office/drawing/2014/main" id="{830829CD-AF4F-6689-F228-FA1C520DF221}"/>
              </a:ext>
            </a:extLst>
          </p:cNvPr>
          <p:cNvCxnSpPr>
            <a:cxnSpLocks noChangeAspect="1" noChangeShapeType="1"/>
            <a:stCxn id="21547" idx="0"/>
            <a:endCxn id="21539" idx="4"/>
          </p:cNvCxnSpPr>
          <p:nvPr/>
        </p:nvCxnSpPr>
        <p:spPr bwMode="auto">
          <a:xfrm flipV="1">
            <a:off x="3660776" y="5969001"/>
            <a:ext cx="3175" cy="195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57" name="Oval 54">
            <a:extLst>
              <a:ext uri="{FF2B5EF4-FFF2-40B4-BE49-F238E27FC236}">
                <a16:creationId xmlns:a16="http://schemas.microsoft.com/office/drawing/2014/main" id="{63C78C24-8937-4728-3297-018164DE8C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0264" y="56737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1558" name="Rectangle 55">
            <a:extLst>
              <a:ext uri="{FF2B5EF4-FFF2-40B4-BE49-F238E27FC236}">
                <a16:creationId xmlns:a16="http://schemas.microsoft.com/office/drawing/2014/main" id="{A077084B-D397-B691-435A-5A12F6BD08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0263" y="61737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59" name="Rectangle 56">
            <a:extLst>
              <a:ext uri="{FF2B5EF4-FFF2-40B4-BE49-F238E27FC236}">
                <a16:creationId xmlns:a16="http://schemas.microsoft.com/office/drawing/2014/main" id="{5C333A34-D0C0-2FC6-B19E-EE75A8E8AF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5738" y="61737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60" name="AutoShape 57">
            <a:extLst>
              <a:ext uri="{FF2B5EF4-FFF2-40B4-BE49-F238E27FC236}">
                <a16:creationId xmlns:a16="http://schemas.microsoft.com/office/drawing/2014/main" id="{2A9ADF1D-E7A6-596F-33FE-E1B6804EEC7F}"/>
              </a:ext>
            </a:extLst>
          </p:cNvPr>
          <p:cNvCxnSpPr>
            <a:cxnSpLocks noChangeAspect="1" noChangeShapeType="1"/>
            <a:stCxn id="21544" idx="0"/>
          </p:cNvCxnSpPr>
          <p:nvPr/>
        </p:nvCxnSpPr>
        <p:spPr bwMode="auto">
          <a:xfrm flipV="1">
            <a:off x="4905375" y="5937251"/>
            <a:ext cx="190500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1" name="AutoShape 58">
            <a:extLst>
              <a:ext uri="{FF2B5EF4-FFF2-40B4-BE49-F238E27FC236}">
                <a16:creationId xmlns:a16="http://schemas.microsoft.com/office/drawing/2014/main" id="{BD12FDE9-F85B-7EDC-799E-F47012D6699F}"/>
              </a:ext>
            </a:extLst>
          </p:cNvPr>
          <p:cNvCxnSpPr>
            <a:cxnSpLocks noChangeAspect="1" noChangeShapeType="1"/>
            <a:stCxn id="21558" idx="0"/>
          </p:cNvCxnSpPr>
          <p:nvPr/>
        </p:nvCxnSpPr>
        <p:spPr bwMode="auto">
          <a:xfrm flipV="1">
            <a:off x="5986464" y="5943601"/>
            <a:ext cx="200025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2" name="AutoShape 59">
            <a:extLst>
              <a:ext uri="{FF2B5EF4-FFF2-40B4-BE49-F238E27FC236}">
                <a16:creationId xmlns:a16="http://schemas.microsoft.com/office/drawing/2014/main" id="{C05F6357-84BF-064A-DC9B-2739CA121853}"/>
              </a:ext>
            </a:extLst>
          </p:cNvPr>
          <p:cNvCxnSpPr>
            <a:cxnSpLocks noChangeAspect="1" noChangeShapeType="1"/>
            <a:stCxn id="21559" idx="0"/>
          </p:cNvCxnSpPr>
          <p:nvPr/>
        </p:nvCxnSpPr>
        <p:spPr bwMode="auto">
          <a:xfrm flipH="1" flipV="1">
            <a:off x="6472238" y="5946775"/>
            <a:ext cx="139700" cy="2174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3" name="AutoShape 60">
            <a:extLst>
              <a:ext uri="{FF2B5EF4-FFF2-40B4-BE49-F238E27FC236}">
                <a16:creationId xmlns:a16="http://schemas.microsoft.com/office/drawing/2014/main" id="{859B391F-BD20-AED9-98A7-A6BB38A9D0D1}"/>
              </a:ext>
            </a:extLst>
          </p:cNvPr>
          <p:cNvCxnSpPr>
            <a:cxnSpLocks noChangeAspect="1" noChangeShapeType="1"/>
            <a:stCxn id="21545" idx="0"/>
          </p:cNvCxnSpPr>
          <p:nvPr/>
        </p:nvCxnSpPr>
        <p:spPr bwMode="auto">
          <a:xfrm flipH="1" flipV="1">
            <a:off x="5338764" y="5943601"/>
            <a:ext cx="134937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64" name="Rectangle 61">
            <a:extLst>
              <a:ext uri="{FF2B5EF4-FFF2-40B4-BE49-F238E27FC236}">
                <a16:creationId xmlns:a16="http://schemas.microsoft.com/office/drawing/2014/main" id="{18541B6E-D7BF-0CAE-7D13-567B4CA399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94676" y="6173788"/>
            <a:ext cx="149225" cy="150812"/>
          </a:xfrm>
          <a:prstGeom prst="rect">
            <a:avLst/>
          </a:prstGeom>
          <a:solidFill>
            <a:schemeClr val="folHlink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65" name="AutoShape 62">
            <a:extLst>
              <a:ext uri="{FF2B5EF4-FFF2-40B4-BE49-F238E27FC236}">
                <a16:creationId xmlns:a16="http://schemas.microsoft.com/office/drawing/2014/main" id="{25A11353-D8B7-D13F-40A7-7011C61C538E}"/>
              </a:ext>
            </a:extLst>
          </p:cNvPr>
          <p:cNvCxnSpPr>
            <a:cxnSpLocks noChangeShapeType="1"/>
            <a:stCxn id="21553" idx="0"/>
          </p:cNvCxnSpPr>
          <p:nvPr/>
        </p:nvCxnSpPr>
        <p:spPr bwMode="auto">
          <a:xfrm flipV="1">
            <a:off x="7854950" y="5959476"/>
            <a:ext cx="82550" cy="195263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6" name="AutoShape 63">
            <a:extLst>
              <a:ext uri="{FF2B5EF4-FFF2-40B4-BE49-F238E27FC236}">
                <a16:creationId xmlns:a16="http://schemas.microsoft.com/office/drawing/2014/main" id="{35807230-516D-D356-C1A5-8D16BD781D5C}"/>
              </a:ext>
            </a:extLst>
          </p:cNvPr>
          <p:cNvCxnSpPr>
            <a:cxnSpLocks noChangeShapeType="1"/>
            <a:stCxn id="21564" idx="0"/>
            <a:endCxn id="21541" idx="4"/>
          </p:cNvCxnSpPr>
          <p:nvPr/>
        </p:nvCxnSpPr>
        <p:spPr bwMode="auto">
          <a:xfrm flipH="1" flipV="1">
            <a:off x="8258176" y="5978526"/>
            <a:ext cx="11113" cy="176213"/>
          </a:xfrm>
          <a:prstGeom prst="straightConnector1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7" name="AutoShape 64">
            <a:extLst>
              <a:ext uri="{FF2B5EF4-FFF2-40B4-BE49-F238E27FC236}">
                <a16:creationId xmlns:a16="http://schemas.microsoft.com/office/drawing/2014/main" id="{E08A0AAC-4B7A-B023-9798-75036B2B2651}"/>
              </a:ext>
            </a:extLst>
          </p:cNvPr>
          <p:cNvCxnSpPr>
            <a:cxnSpLocks noChangeShapeType="1"/>
            <a:stCxn id="21557" idx="0"/>
          </p:cNvCxnSpPr>
          <p:nvPr/>
        </p:nvCxnSpPr>
        <p:spPr bwMode="auto">
          <a:xfrm flipH="1" flipV="1">
            <a:off x="5959475" y="5448300"/>
            <a:ext cx="349250" cy="215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8" name="AutoShape 65">
            <a:extLst>
              <a:ext uri="{FF2B5EF4-FFF2-40B4-BE49-F238E27FC236}">
                <a16:creationId xmlns:a16="http://schemas.microsoft.com/office/drawing/2014/main" id="{71D93803-BA54-E3BB-934E-1E0D35C26590}"/>
              </a:ext>
            </a:extLst>
          </p:cNvPr>
          <p:cNvCxnSpPr>
            <a:cxnSpLocks noChangeShapeType="1"/>
            <a:stCxn id="21540" idx="0"/>
          </p:cNvCxnSpPr>
          <p:nvPr/>
        </p:nvCxnSpPr>
        <p:spPr bwMode="auto">
          <a:xfrm flipV="1">
            <a:off x="5227639" y="5441950"/>
            <a:ext cx="3127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69" name="AutoShape 66">
            <a:extLst>
              <a:ext uri="{FF2B5EF4-FFF2-40B4-BE49-F238E27FC236}">
                <a16:creationId xmlns:a16="http://schemas.microsoft.com/office/drawing/2014/main" id="{BBD3F1F8-D3C8-9AE7-536F-20762F81D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630738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70" name="Rectangle 67">
            <a:extLst>
              <a:ext uri="{FF2B5EF4-FFF2-40B4-BE49-F238E27FC236}">
                <a16:creationId xmlns:a16="http://schemas.microsoft.com/office/drawing/2014/main" id="{BD68FCE0-3DA0-45AD-639C-BDAA55DD6E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0601" y="6173788"/>
            <a:ext cx="149225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1571" name="AutoShape 68">
            <a:extLst>
              <a:ext uri="{FF2B5EF4-FFF2-40B4-BE49-F238E27FC236}">
                <a16:creationId xmlns:a16="http://schemas.microsoft.com/office/drawing/2014/main" id="{DF77AF46-96AE-AD4D-FF77-14BB0E5E412A}"/>
              </a:ext>
            </a:extLst>
          </p:cNvPr>
          <p:cNvCxnSpPr>
            <a:cxnSpLocks noChangeShapeType="1"/>
            <a:stCxn id="21570" idx="0"/>
          </p:cNvCxnSpPr>
          <p:nvPr/>
        </p:nvCxnSpPr>
        <p:spPr bwMode="auto">
          <a:xfrm flipH="1" flipV="1">
            <a:off x="8601075" y="5978525"/>
            <a:ext cx="84138" cy="1857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72" name="Text Box 69">
            <a:extLst>
              <a:ext uri="{FF2B5EF4-FFF2-40B4-BE49-F238E27FC236}">
                <a16:creationId xmlns:a16="http://schemas.microsoft.com/office/drawing/2014/main" id="{E9F189F5-EBE4-7CE1-94C2-C33E13C99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1" y="3470276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1573" name="Text Box 70">
            <a:extLst>
              <a:ext uri="{FF2B5EF4-FFF2-40B4-BE49-F238E27FC236}">
                <a16:creationId xmlns:a16="http://schemas.microsoft.com/office/drawing/2014/main" id="{1FDEEE5C-8D05-68BC-3356-93FC14B15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538" y="5316539"/>
            <a:ext cx="296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D797A3B-1FD8-B867-D2D5-486758573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Overflow and Split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70C71E40-CF19-C78C-D980-BEE1BCA685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219201"/>
            <a:ext cx="8001000" cy="271462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We handle an </a:t>
            </a:r>
            <a:r>
              <a:rPr lang="en-US" altLang="en-US" sz="2000">
                <a:solidFill>
                  <a:schemeClr val="tx2"/>
                </a:solidFill>
              </a:rPr>
              <a:t>overflow</a:t>
            </a:r>
            <a:r>
              <a:rPr lang="en-US" altLang="en-US" sz="2000"/>
              <a:t> at a 5-node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with a </a:t>
            </a:r>
            <a:r>
              <a:rPr lang="en-US" altLang="en-US" sz="2000">
                <a:solidFill>
                  <a:srgbClr val="C00000"/>
                </a:solidFill>
              </a:rPr>
              <a:t>split operation</a:t>
            </a:r>
            <a:r>
              <a:rPr lang="en-US" altLang="en-US" sz="2000"/>
              <a:t>:</a:t>
            </a:r>
          </a:p>
          <a:p>
            <a:pPr lvl="1" eaLnBrk="1" hangingPunct="1"/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5</a:t>
            </a:r>
            <a:r>
              <a:rPr lang="en-US" altLang="en-US" sz="1800"/>
              <a:t> be the children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and 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…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4</a:t>
            </a:r>
            <a:r>
              <a:rPr lang="en-US" altLang="en-US" sz="1800"/>
              <a:t> be the keys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node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is replaced with nodes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i="1">
                <a:latin typeface="Times New Roman" panose="02020603050405020304" pitchFamily="18" charset="0"/>
              </a:rPr>
              <a:t>'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i="1">
                <a:latin typeface="Times New Roman" panose="02020603050405020304" pitchFamily="18" charset="0"/>
              </a:rPr>
              <a:t>"</a:t>
            </a:r>
            <a:endParaRPr lang="en-US" altLang="en-US" sz="1800" b="1" i="1">
              <a:latin typeface="Times New Roman" panose="02020603050405020304" pitchFamily="18" charset="0"/>
              <a:sym typeface="Symbol" pitchFamily="2" charset="2"/>
            </a:endParaRPr>
          </a:p>
          <a:p>
            <a:pPr lvl="2" eaLnBrk="1" hangingPunct="1"/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i="1">
                <a:latin typeface="Times New Roman" panose="02020603050405020304" pitchFamily="18" charset="0"/>
              </a:rPr>
              <a:t>'</a:t>
            </a:r>
            <a:r>
              <a:rPr lang="en-US" altLang="en-US" sz="1600"/>
              <a:t> is a 3-node with keys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aseline="-25000">
                <a:latin typeface="Times New Roman" panose="02020603050405020304" pitchFamily="18" charset="0"/>
              </a:rPr>
              <a:t>2</a:t>
            </a:r>
            <a:r>
              <a:rPr lang="en-US" altLang="en-US" sz="1600"/>
              <a:t> and children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1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2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3</a:t>
            </a:r>
            <a:endParaRPr lang="en-US" altLang="en-US" sz="1600" b="1" i="1">
              <a:latin typeface="Times New Roman" panose="02020603050405020304" pitchFamily="18" charset="0"/>
              <a:sym typeface="Symbol" pitchFamily="2" charset="2"/>
            </a:endParaRPr>
          </a:p>
          <a:p>
            <a:pPr lvl="2" eaLnBrk="1" hangingPunct="1"/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i="1">
                <a:latin typeface="Times New Roman" panose="02020603050405020304" pitchFamily="18" charset="0"/>
              </a:rPr>
              <a:t>"</a:t>
            </a:r>
            <a:r>
              <a:rPr lang="en-US" altLang="en-US" sz="1600"/>
              <a:t> is a 2-node with key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 baseline="-25000">
                <a:latin typeface="Times New Roman" panose="02020603050405020304" pitchFamily="18" charset="0"/>
              </a:rPr>
              <a:t>4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/>
              <a:t>and children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4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 baseline="-25000">
                <a:latin typeface="Times New Roman" panose="02020603050405020304" pitchFamily="18" charset="0"/>
              </a:rPr>
              <a:t>5</a:t>
            </a:r>
          </a:p>
          <a:p>
            <a:pPr lvl="1" eaLnBrk="1" hangingPunct="1"/>
            <a:r>
              <a:rPr lang="en-US" altLang="en-US" sz="1800"/>
              <a:t>key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>
                <a:latin typeface="Times New Roman" panose="02020603050405020304" pitchFamily="18" charset="0"/>
              </a:rPr>
              <a:t>3 </a:t>
            </a:r>
            <a:r>
              <a:rPr lang="en-US" altLang="en-US" sz="1800"/>
              <a:t> is inserted into the parent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v </a:t>
            </a:r>
            <a:r>
              <a:rPr lang="en-US" altLang="en-US" sz="1800"/>
              <a:t>(a new root may be created)</a:t>
            </a:r>
          </a:p>
          <a:p>
            <a:pPr eaLnBrk="1" hangingPunct="1"/>
            <a:r>
              <a:rPr lang="en-US" altLang="en-US" sz="2000"/>
              <a:t>The overflow may propagate to the parent node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endParaRPr lang="en-US" altLang="en-US" sz="2000"/>
          </a:p>
        </p:txBody>
      </p:sp>
      <p:sp>
        <p:nvSpPr>
          <p:cNvPr id="22531" name="Oval 4">
            <a:extLst>
              <a:ext uri="{FF2B5EF4-FFF2-40B4-BE49-F238E27FC236}">
                <a16:creationId xmlns:a16="http://schemas.microsoft.com/office/drawing/2014/main" id="{99B59114-4656-C024-FAAF-36C4703370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6438" y="4283075"/>
            <a:ext cx="1179512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15   24</a:t>
            </a:r>
          </a:p>
        </p:txBody>
      </p:sp>
      <p:sp>
        <p:nvSpPr>
          <p:cNvPr id="22532" name="Oval 5">
            <a:extLst>
              <a:ext uri="{FF2B5EF4-FFF2-40B4-BE49-F238E27FC236}">
                <a16:creationId xmlns:a16="http://schemas.microsoft.com/office/drawing/2014/main" id="{E68CD5CB-012B-0413-69A8-8A5B6F51D8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1" y="5076825"/>
            <a:ext cx="684213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2533" name="Oval 6">
            <a:extLst>
              <a:ext uri="{FF2B5EF4-FFF2-40B4-BE49-F238E27FC236}">
                <a16:creationId xmlns:a16="http://schemas.microsoft.com/office/drawing/2014/main" id="{357E7B9C-61D2-CF6D-C042-B5C90FC0D6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9839" y="5076825"/>
            <a:ext cx="1785937" cy="3937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27  30  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32</a:t>
            </a:r>
            <a:r>
              <a:rPr lang="en-US" altLang="en-US" sz="1800">
                <a:latin typeface="Tahoma" panose="020B0604030504040204" pitchFamily="34" charset="0"/>
              </a:rPr>
              <a:t>  35</a:t>
            </a:r>
          </a:p>
        </p:txBody>
      </p:sp>
      <p:sp>
        <p:nvSpPr>
          <p:cNvPr id="22534" name="Rectangle 7">
            <a:extLst>
              <a:ext uri="{FF2B5EF4-FFF2-40B4-BE49-F238E27FC236}">
                <a16:creationId xmlns:a16="http://schemas.microsoft.com/office/drawing/2014/main" id="{2CFAC2C8-0D77-92FC-C5C5-1EABE28FBE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08413" y="5654676"/>
            <a:ext cx="182562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5" name="Rectangle 8">
            <a:extLst>
              <a:ext uri="{FF2B5EF4-FFF2-40B4-BE49-F238E27FC236}">
                <a16:creationId xmlns:a16="http://schemas.microsoft.com/office/drawing/2014/main" id="{C5A78EC7-57AF-81C2-F395-B078DAFD4A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26075" y="5654676"/>
            <a:ext cx="185738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6" name="Rectangle 9">
            <a:extLst>
              <a:ext uri="{FF2B5EF4-FFF2-40B4-BE49-F238E27FC236}">
                <a16:creationId xmlns:a16="http://schemas.microsoft.com/office/drawing/2014/main" id="{E41D8800-132A-DA33-BE92-40316AF819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85989" y="5654676"/>
            <a:ext cx="128587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7" name="Rectangle 10">
            <a:extLst>
              <a:ext uri="{FF2B5EF4-FFF2-40B4-BE49-F238E27FC236}">
                <a16:creationId xmlns:a16="http://schemas.microsoft.com/office/drawing/2014/main" id="{91097B69-D632-5FE4-28A1-F052DA7037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1" y="5654676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38" name="AutoShape 11">
            <a:extLst>
              <a:ext uri="{FF2B5EF4-FFF2-40B4-BE49-F238E27FC236}">
                <a16:creationId xmlns:a16="http://schemas.microsoft.com/office/drawing/2014/main" id="{BE57ACD6-DF7F-7759-8126-38EAC4C70CCF}"/>
              </a:ext>
            </a:extLst>
          </p:cNvPr>
          <p:cNvCxnSpPr>
            <a:cxnSpLocks noChangeAspect="1" noChangeShapeType="1"/>
            <a:stCxn id="22531" idx="5"/>
            <a:endCxn id="22533" idx="0"/>
          </p:cNvCxnSpPr>
          <p:nvPr/>
        </p:nvCxnSpPr>
        <p:spPr bwMode="auto">
          <a:xfrm>
            <a:off x="4252914" y="4629151"/>
            <a:ext cx="420687" cy="428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9" name="Rectangle 12">
            <a:extLst>
              <a:ext uri="{FF2B5EF4-FFF2-40B4-BE49-F238E27FC236}">
                <a16:creationId xmlns:a16="http://schemas.microsoft.com/office/drawing/2014/main" id="{84F00650-B552-DBD2-A53E-2C9238C3FB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3226" y="5654676"/>
            <a:ext cx="182563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40" name="AutoShape 13">
            <a:extLst>
              <a:ext uri="{FF2B5EF4-FFF2-40B4-BE49-F238E27FC236}">
                <a16:creationId xmlns:a16="http://schemas.microsoft.com/office/drawing/2014/main" id="{9FDAE333-6B3A-2018-5861-A58F4BA7B080}"/>
              </a:ext>
            </a:extLst>
          </p:cNvPr>
          <p:cNvCxnSpPr>
            <a:cxnSpLocks noChangeAspect="1" noChangeShapeType="1"/>
            <a:stCxn id="22534" idx="0"/>
            <a:endCxn id="22533" idx="3"/>
          </p:cNvCxnSpPr>
          <p:nvPr/>
        </p:nvCxnSpPr>
        <p:spPr bwMode="auto">
          <a:xfrm flipV="1">
            <a:off x="3900489" y="5432426"/>
            <a:ext cx="141287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1" name="AutoShape 14">
            <a:extLst>
              <a:ext uri="{FF2B5EF4-FFF2-40B4-BE49-F238E27FC236}">
                <a16:creationId xmlns:a16="http://schemas.microsoft.com/office/drawing/2014/main" id="{24930054-A2F7-E3A5-818F-666C68BABE9B}"/>
              </a:ext>
            </a:extLst>
          </p:cNvPr>
          <p:cNvCxnSpPr>
            <a:cxnSpLocks noChangeAspect="1" noChangeShapeType="1"/>
            <a:stCxn id="22535" idx="0"/>
            <a:endCxn id="22533" idx="5"/>
          </p:cNvCxnSpPr>
          <p:nvPr/>
        </p:nvCxnSpPr>
        <p:spPr bwMode="auto">
          <a:xfrm flipH="1" flipV="1">
            <a:off x="5303838" y="5432426"/>
            <a:ext cx="215900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2" name="Oval 15">
            <a:extLst>
              <a:ext uri="{FF2B5EF4-FFF2-40B4-BE49-F238E27FC236}">
                <a16:creationId xmlns:a16="http://schemas.microsoft.com/office/drawing/2014/main" id="{DBD6F9CB-F49E-7D8F-9A53-16ACFDBAF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44813" y="5076825"/>
            <a:ext cx="684212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2543" name="Rectangle 16">
            <a:extLst>
              <a:ext uri="{FF2B5EF4-FFF2-40B4-BE49-F238E27FC236}">
                <a16:creationId xmlns:a16="http://schemas.microsoft.com/office/drawing/2014/main" id="{729EA032-54B7-6555-B93E-D8CDD7A239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5614" y="5654676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4" name="Rectangle 17">
            <a:extLst>
              <a:ext uri="{FF2B5EF4-FFF2-40B4-BE49-F238E27FC236}">
                <a16:creationId xmlns:a16="http://schemas.microsoft.com/office/drawing/2014/main" id="{1AA01E77-1976-5152-1352-5DEA1CBD43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0426" y="5654676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45" name="AutoShape 18">
            <a:extLst>
              <a:ext uri="{FF2B5EF4-FFF2-40B4-BE49-F238E27FC236}">
                <a16:creationId xmlns:a16="http://schemas.microsoft.com/office/drawing/2014/main" id="{C5F98EE1-A089-5548-C3C0-D12D7B5122DB}"/>
              </a:ext>
            </a:extLst>
          </p:cNvPr>
          <p:cNvCxnSpPr>
            <a:cxnSpLocks noChangeAspect="1" noChangeShapeType="1"/>
            <a:stCxn id="22536" idx="0"/>
            <a:endCxn id="22532" idx="3"/>
          </p:cNvCxnSpPr>
          <p:nvPr/>
        </p:nvCxnSpPr>
        <p:spPr bwMode="auto">
          <a:xfrm flipH="1" flipV="1">
            <a:off x="2235201" y="5421314"/>
            <a:ext cx="15875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6" name="AutoShape 19">
            <a:extLst>
              <a:ext uri="{FF2B5EF4-FFF2-40B4-BE49-F238E27FC236}">
                <a16:creationId xmlns:a16="http://schemas.microsoft.com/office/drawing/2014/main" id="{398D56AC-4DFA-F336-4872-66C215EB9339}"/>
              </a:ext>
            </a:extLst>
          </p:cNvPr>
          <p:cNvCxnSpPr>
            <a:cxnSpLocks noChangeAspect="1" noChangeShapeType="1"/>
            <a:stCxn id="22543" idx="0"/>
            <a:endCxn id="22542" idx="3"/>
          </p:cNvCxnSpPr>
          <p:nvPr/>
        </p:nvCxnSpPr>
        <p:spPr bwMode="auto">
          <a:xfrm flipH="1" flipV="1">
            <a:off x="3044826" y="5421314"/>
            <a:ext cx="15875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7" name="AutoShape 20">
            <a:extLst>
              <a:ext uri="{FF2B5EF4-FFF2-40B4-BE49-F238E27FC236}">
                <a16:creationId xmlns:a16="http://schemas.microsoft.com/office/drawing/2014/main" id="{8F1F6269-6BA0-3EC0-6CA9-453188CC3DC5}"/>
              </a:ext>
            </a:extLst>
          </p:cNvPr>
          <p:cNvCxnSpPr>
            <a:cxnSpLocks noChangeAspect="1" noChangeShapeType="1"/>
            <a:stCxn id="22544" idx="0"/>
            <a:endCxn id="22542" idx="5"/>
          </p:cNvCxnSpPr>
          <p:nvPr/>
        </p:nvCxnSpPr>
        <p:spPr bwMode="auto">
          <a:xfrm flipV="1">
            <a:off x="3467101" y="5421314"/>
            <a:ext cx="60325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8" name="AutoShape 21">
            <a:extLst>
              <a:ext uri="{FF2B5EF4-FFF2-40B4-BE49-F238E27FC236}">
                <a16:creationId xmlns:a16="http://schemas.microsoft.com/office/drawing/2014/main" id="{E79345CA-192D-3AC4-7734-3EFE452F2FE1}"/>
              </a:ext>
            </a:extLst>
          </p:cNvPr>
          <p:cNvCxnSpPr>
            <a:cxnSpLocks noChangeAspect="1" noChangeShapeType="1"/>
            <a:stCxn id="22537" idx="0"/>
            <a:endCxn id="22532" idx="5"/>
          </p:cNvCxnSpPr>
          <p:nvPr/>
        </p:nvCxnSpPr>
        <p:spPr bwMode="auto">
          <a:xfrm flipV="1">
            <a:off x="2655888" y="5421314"/>
            <a:ext cx="61912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9" name="Rectangle 22">
            <a:extLst>
              <a:ext uri="{FF2B5EF4-FFF2-40B4-BE49-F238E27FC236}">
                <a16:creationId xmlns:a16="http://schemas.microsoft.com/office/drawing/2014/main" id="{FA1D5F8E-2CC4-6D45-77D8-C305E9C75A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6451" y="5654676"/>
            <a:ext cx="182563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50" name="AutoShape 23">
            <a:extLst>
              <a:ext uri="{FF2B5EF4-FFF2-40B4-BE49-F238E27FC236}">
                <a16:creationId xmlns:a16="http://schemas.microsoft.com/office/drawing/2014/main" id="{B3F6C9C1-812B-6341-CBC0-CB6F9C902CB0}"/>
              </a:ext>
            </a:extLst>
          </p:cNvPr>
          <p:cNvCxnSpPr>
            <a:cxnSpLocks noChangeShapeType="1"/>
            <a:stCxn id="22539" idx="0"/>
          </p:cNvCxnSpPr>
          <p:nvPr/>
        </p:nvCxnSpPr>
        <p:spPr bwMode="auto">
          <a:xfrm flipV="1">
            <a:off x="4305300" y="5476876"/>
            <a:ext cx="71438" cy="168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1" name="AutoShape 24">
            <a:extLst>
              <a:ext uri="{FF2B5EF4-FFF2-40B4-BE49-F238E27FC236}">
                <a16:creationId xmlns:a16="http://schemas.microsoft.com/office/drawing/2014/main" id="{74F9EC21-402E-81EF-9A7A-3FB0A874D10D}"/>
              </a:ext>
            </a:extLst>
          </p:cNvPr>
          <p:cNvCxnSpPr>
            <a:cxnSpLocks noChangeShapeType="1"/>
            <a:stCxn id="22549" idx="0"/>
            <a:endCxn id="22533" idx="4"/>
          </p:cNvCxnSpPr>
          <p:nvPr/>
        </p:nvCxnSpPr>
        <p:spPr bwMode="auto">
          <a:xfrm flipH="1" flipV="1">
            <a:off x="4673601" y="5489576"/>
            <a:ext cx="34925" cy="155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2" name="AutoShape 25">
            <a:extLst>
              <a:ext uri="{FF2B5EF4-FFF2-40B4-BE49-F238E27FC236}">
                <a16:creationId xmlns:a16="http://schemas.microsoft.com/office/drawing/2014/main" id="{D438607E-8A97-408E-2380-D4C4F43D1F28}"/>
              </a:ext>
            </a:extLst>
          </p:cNvPr>
          <p:cNvCxnSpPr>
            <a:cxnSpLocks noChangeShapeType="1"/>
            <a:stCxn id="22542" idx="0"/>
            <a:endCxn id="22531" idx="4"/>
          </p:cNvCxnSpPr>
          <p:nvPr/>
        </p:nvCxnSpPr>
        <p:spPr bwMode="auto">
          <a:xfrm flipV="1">
            <a:off x="3287714" y="4686300"/>
            <a:ext cx="549275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3" name="AutoShape 26">
            <a:extLst>
              <a:ext uri="{FF2B5EF4-FFF2-40B4-BE49-F238E27FC236}">
                <a16:creationId xmlns:a16="http://schemas.microsoft.com/office/drawing/2014/main" id="{D41C3E8B-A16A-05D9-6B85-39D95301E0B2}"/>
              </a:ext>
            </a:extLst>
          </p:cNvPr>
          <p:cNvCxnSpPr>
            <a:cxnSpLocks noChangeShapeType="1"/>
            <a:stCxn id="22532" idx="0"/>
            <a:endCxn id="22531" idx="3"/>
          </p:cNvCxnSpPr>
          <p:nvPr/>
        </p:nvCxnSpPr>
        <p:spPr bwMode="auto">
          <a:xfrm flipV="1">
            <a:off x="2476501" y="4629150"/>
            <a:ext cx="942975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4" name="Rectangle 27">
            <a:extLst>
              <a:ext uri="{FF2B5EF4-FFF2-40B4-BE49-F238E27FC236}">
                <a16:creationId xmlns:a16="http://schemas.microsoft.com/office/drawing/2014/main" id="{2A972B09-7106-7DA0-077F-304EA7DF38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1264" y="5654676"/>
            <a:ext cx="1809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55" name="AutoShape 28">
            <a:extLst>
              <a:ext uri="{FF2B5EF4-FFF2-40B4-BE49-F238E27FC236}">
                <a16:creationId xmlns:a16="http://schemas.microsoft.com/office/drawing/2014/main" id="{6AC6AD52-AB96-391E-7BCC-43783C4AC515}"/>
              </a:ext>
            </a:extLst>
          </p:cNvPr>
          <p:cNvCxnSpPr>
            <a:cxnSpLocks noChangeShapeType="1"/>
            <a:stCxn id="22554" idx="0"/>
          </p:cNvCxnSpPr>
          <p:nvPr/>
        </p:nvCxnSpPr>
        <p:spPr bwMode="auto">
          <a:xfrm flipH="1" flipV="1">
            <a:off x="5038726" y="5486400"/>
            <a:ext cx="73025" cy="158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6" name="Text Box 29">
            <a:extLst>
              <a:ext uri="{FF2B5EF4-FFF2-40B4-BE49-F238E27FC236}">
                <a16:creationId xmlns:a16="http://schemas.microsoft.com/office/drawing/2014/main" id="{A0CA9A35-2D88-E236-5F87-CB275B236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1" y="4732339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2557" name="Text Box 30">
            <a:extLst>
              <a:ext uri="{FF2B5EF4-FFF2-40B4-BE49-F238E27FC236}">
                <a16:creationId xmlns:a16="http://schemas.microsoft.com/office/drawing/2014/main" id="{A34F2735-9259-8F8D-86F6-C5B9615AE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175" y="3978276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2558" name="Text Box 31">
            <a:extLst>
              <a:ext uri="{FF2B5EF4-FFF2-40B4-BE49-F238E27FC236}">
                <a16:creationId xmlns:a16="http://schemas.microsoft.com/office/drawing/2014/main" id="{0C6CCF92-96CA-9437-83BC-568E14FB9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225" y="5703889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59" name="Text Box 32">
            <a:extLst>
              <a:ext uri="{FF2B5EF4-FFF2-40B4-BE49-F238E27FC236}">
                <a16:creationId xmlns:a16="http://schemas.microsoft.com/office/drawing/2014/main" id="{01619305-1225-1011-0C30-C25E47348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6" y="5703889"/>
            <a:ext cx="512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60" name="Text Box 33">
            <a:extLst>
              <a:ext uri="{FF2B5EF4-FFF2-40B4-BE49-F238E27FC236}">
                <a16:creationId xmlns:a16="http://schemas.microsoft.com/office/drawing/2014/main" id="{04370DA1-44AD-E9DB-9256-33A925A39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038" y="5703889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61" name="Text Box 34">
            <a:extLst>
              <a:ext uri="{FF2B5EF4-FFF2-40B4-BE49-F238E27FC236}">
                <a16:creationId xmlns:a16="http://schemas.microsoft.com/office/drawing/2014/main" id="{9A84B05D-85BE-B93E-64AF-ADFF78964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738" y="5703889"/>
            <a:ext cx="51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62" name="Text Box 35">
            <a:extLst>
              <a:ext uri="{FF2B5EF4-FFF2-40B4-BE49-F238E27FC236}">
                <a16:creationId xmlns:a16="http://schemas.microsoft.com/office/drawing/2014/main" id="{DB1F1F42-2D02-9992-3CBA-12950618A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850" y="5703889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63" name="Oval 36">
            <a:extLst>
              <a:ext uri="{FF2B5EF4-FFF2-40B4-BE49-F238E27FC236}">
                <a16:creationId xmlns:a16="http://schemas.microsoft.com/office/drawing/2014/main" id="{9336DD5A-F5D1-0558-12BF-327A9748D4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0" y="4267200"/>
            <a:ext cx="1600200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15 24  </a:t>
            </a:r>
            <a:r>
              <a:rPr lang="en-US" altLang="en-US" sz="1800">
                <a:solidFill>
                  <a:schemeClr val="tx2"/>
                </a:solidFill>
                <a:latin typeface="Tahoma" panose="020B0604030504040204" pitchFamily="34" charset="0"/>
              </a:rPr>
              <a:t>32</a:t>
            </a:r>
          </a:p>
        </p:txBody>
      </p:sp>
      <p:sp>
        <p:nvSpPr>
          <p:cNvPr id="22564" name="Oval 37">
            <a:extLst>
              <a:ext uri="{FF2B5EF4-FFF2-40B4-BE49-F238E27FC236}">
                <a16:creationId xmlns:a16="http://schemas.microsoft.com/office/drawing/2014/main" id="{BF0B8771-282B-9376-4D12-0C6266567B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8413" y="5076825"/>
            <a:ext cx="684212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2565" name="Oval 38">
            <a:extLst>
              <a:ext uri="{FF2B5EF4-FFF2-40B4-BE49-F238E27FC236}">
                <a16:creationId xmlns:a16="http://schemas.microsoft.com/office/drawing/2014/main" id="{D07AD520-67DA-0F40-8DDA-D21F778D8D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5076825"/>
            <a:ext cx="1066800" cy="3937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27  30</a:t>
            </a:r>
          </a:p>
        </p:txBody>
      </p:sp>
      <p:sp>
        <p:nvSpPr>
          <p:cNvPr id="22566" name="Rectangle 39">
            <a:extLst>
              <a:ext uri="{FF2B5EF4-FFF2-40B4-BE49-F238E27FC236}">
                <a16:creationId xmlns:a16="http://schemas.microsoft.com/office/drawing/2014/main" id="{21F3B45C-5DFE-BD38-7C6C-8CDD58648B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23226" y="5638801"/>
            <a:ext cx="182563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67" name="Rectangle 40">
            <a:extLst>
              <a:ext uri="{FF2B5EF4-FFF2-40B4-BE49-F238E27FC236}">
                <a16:creationId xmlns:a16="http://schemas.microsoft.com/office/drawing/2014/main" id="{1185C294-79F5-9416-C3C5-4EF1B506F2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48864" y="5638801"/>
            <a:ext cx="185737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68" name="Rectangle 41">
            <a:extLst>
              <a:ext uri="{FF2B5EF4-FFF2-40B4-BE49-F238E27FC236}">
                <a16:creationId xmlns:a16="http://schemas.microsoft.com/office/drawing/2014/main" id="{F7404C67-654E-056B-B8D9-4FA6CA40C2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5638801"/>
            <a:ext cx="128588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69" name="Rectangle 42">
            <a:extLst>
              <a:ext uri="{FF2B5EF4-FFF2-40B4-BE49-F238E27FC236}">
                <a16:creationId xmlns:a16="http://schemas.microsoft.com/office/drawing/2014/main" id="{54AFF7A7-8FD7-83D2-D2CC-0080FE13B7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5614" y="5638801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70" name="AutoShape 43">
            <a:extLst>
              <a:ext uri="{FF2B5EF4-FFF2-40B4-BE49-F238E27FC236}">
                <a16:creationId xmlns:a16="http://schemas.microsoft.com/office/drawing/2014/main" id="{5E752D24-B05E-D76E-5BB7-116E53C8B1B3}"/>
              </a:ext>
            </a:extLst>
          </p:cNvPr>
          <p:cNvCxnSpPr>
            <a:cxnSpLocks noChangeAspect="1" noChangeShapeType="1"/>
            <a:stCxn id="22563" idx="5"/>
            <a:endCxn id="22595" idx="0"/>
          </p:cNvCxnSpPr>
          <p:nvPr/>
        </p:nvCxnSpPr>
        <p:spPr bwMode="auto">
          <a:xfrm>
            <a:off x="8985250" y="4613275"/>
            <a:ext cx="730250" cy="4445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71" name="Rectangle 44">
            <a:extLst>
              <a:ext uri="{FF2B5EF4-FFF2-40B4-BE49-F238E27FC236}">
                <a16:creationId xmlns:a16="http://schemas.microsoft.com/office/drawing/2014/main" id="{A290F385-8C95-EAB9-2B9D-5607D26DEA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28038" y="5638801"/>
            <a:ext cx="182562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72" name="AutoShape 45">
            <a:extLst>
              <a:ext uri="{FF2B5EF4-FFF2-40B4-BE49-F238E27FC236}">
                <a16:creationId xmlns:a16="http://schemas.microsoft.com/office/drawing/2014/main" id="{56AF7A4E-E3C6-A8D1-2DBE-2BCB0E2DDCB5}"/>
              </a:ext>
            </a:extLst>
          </p:cNvPr>
          <p:cNvCxnSpPr>
            <a:cxnSpLocks noChangeAspect="1" noChangeShapeType="1"/>
            <a:stCxn id="22566" idx="0"/>
            <a:endCxn id="22565" idx="3"/>
          </p:cNvCxnSpPr>
          <p:nvPr/>
        </p:nvCxnSpPr>
        <p:spPr bwMode="auto">
          <a:xfrm flipV="1">
            <a:off x="8115301" y="5432425"/>
            <a:ext cx="117475" cy="196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3" name="AutoShape 46">
            <a:extLst>
              <a:ext uri="{FF2B5EF4-FFF2-40B4-BE49-F238E27FC236}">
                <a16:creationId xmlns:a16="http://schemas.microsoft.com/office/drawing/2014/main" id="{6A1D5B28-C842-FBA8-89A5-389B7E718795}"/>
              </a:ext>
            </a:extLst>
          </p:cNvPr>
          <p:cNvCxnSpPr>
            <a:cxnSpLocks noChangeAspect="1" noChangeShapeType="1"/>
            <a:stCxn id="22595" idx="5"/>
            <a:endCxn id="22567" idx="0"/>
          </p:cNvCxnSpPr>
          <p:nvPr/>
        </p:nvCxnSpPr>
        <p:spPr bwMode="auto">
          <a:xfrm>
            <a:off x="9956801" y="5432425"/>
            <a:ext cx="85725" cy="196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74" name="Oval 47">
            <a:extLst>
              <a:ext uri="{FF2B5EF4-FFF2-40B4-BE49-F238E27FC236}">
                <a16:creationId xmlns:a16="http://schemas.microsoft.com/office/drawing/2014/main" id="{A6452DBA-8C14-CBA2-9F63-03B8FFF9C6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59626" y="5076825"/>
            <a:ext cx="684213" cy="3937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2575" name="Rectangle 48">
            <a:extLst>
              <a:ext uri="{FF2B5EF4-FFF2-40B4-BE49-F238E27FC236}">
                <a16:creationId xmlns:a16="http://schemas.microsoft.com/office/drawing/2014/main" id="{03369CB0-09B6-D958-CC8B-D4880629A6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0426" y="5638801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76" name="Rectangle 49">
            <a:extLst>
              <a:ext uri="{FF2B5EF4-FFF2-40B4-BE49-F238E27FC236}">
                <a16:creationId xmlns:a16="http://schemas.microsoft.com/office/drawing/2014/main" id="{93C4F3F9-D4E8-000B-9BCE-0EF721315A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15239" y="5638801"/>
            <a:ext cx="1301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77" name="AutoShape 50">
            <a:extLst>
              <a:ext uri="{FF2B5EF4-FFF2-40B4-BE49-F238E27FC236}">
                <a16:creationId xmlns:a16="http://schemas.microsoft.com/office/drawing/2014/main" id="{C1632269-F739-412E-BF34-8CA82AEE58F6}"/>
              </a:ext>
            </a:extLst>
          </p:cNvPr>
          <p:cNvCxnSpPr>
            <a:cxnSpLocks noChangeAspect="1" noChangeShapeType="1"/>
            <a:stCxn id="22568" idx="0"/>
            <a:endCxn id="22564" idx="3"/>
          </p:cNvCxnSpPr>
          <p:nvPr/>
        </p:nvCxnSpPr>
        <p:spPr bwMode="auto">
          <a:xfrm flipH="1" flipV="1">
            <a:off x="6448426" y="5422901"/>
            <a:ext cx="17463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8" name="AutoShape 51">
            <a:extLst>
              <a:ext uri="{FF2B5EF4-FFF2-40B4-BE49-F238E27FC236}">
                <a16:creationId xmlns:a16="http://schemas.microsoft.com/office/drawing/2014/main" id="{688AA31F-70F1-AB94-9FEF-06FC29CB7297}"/>
              </a:ext>
            </a:extLst>
          </p:cNvPr>
          <p:cNvCxnSpPr>
            <a:cxnSpLocks noChangeAspect="1" noChangeShapeType="1"/>
            <a:stCxn id="22575" idx="0"/>
            <a:endCxn id="22574" idx="3"/>
          </p:cNvCxnSpPr>
          <p:nvPr/>
        </p:nvCxnSpPr>
        <p:spPr bwMode="auto">
          <a:xfrm flipH="1" flipV="1">
            <a:off x="7259639" y="5422901"/>
            <a:ext cx="15875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9" name="AutoShape 52">
            <a:extLst>
              <a:ext uri="{FF2B5EF4-FFF2-40B4-BE49-F238E27FC236}">
                <a16:creationId xmlns:a16="http://schemas.microsoft.com/office/drawing/2014/main" id="{4CA3E553-08FC-2228-0388-2D99B875E1A5}"/>
              </a:ext>
            </a:extLst>
          </p:cNvPr>
          <p:cNvCxnSpPr>
            <a:cxnSpLocks noChangeAspect="1" noChangeShapeType="1"/>
            <a:stCxn id="22576" idx="0"/>
            <a:endCxn id="22574" idx="5"/>
          </p:cNvCxnSpPr>
          <p:nvPr/>
        </p:nvCxnSpPr>
        <p:spPr bwMode="auto">
          <a:xfrm flipV="1">
            <a:off x="7680325" y="5422901"/>
            <a:ext cx="63500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0" name="AutoShape 53">
            <a:extLst>
              <a:ext uri="{FF2B5EF4-FFF2-40B4-BE49-F238E27FC236}">
                <a16:creationId xmlns:a16="http://schemas.microsoft.com/office/drawing/2014/main" id="{7C32EB3F-66FB-5461-310B-2D722E6A7CC4}"/>
              </a:ext>
            </a:extLst>
          </p:cNvPr>
          <p:cNvCxnSpPr>
            <a:cxnSpLocks noChangeAspect="1" noChangeShapeType="1"/>
            <a:stCxn id="22569" idx="0"/>
            <a:endCxn id="22564" idx="5"/>
          </p:cNvCxnSpPr>
          <p:nvPr/>
        </p:nvCxnSpPr>
        <p:spPr bwMode="auto">
          <a:xfrm flipV="1">
            <a:off x="6870701" y="5422901"/>
            <a:ext cx="61913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1" name="Rectangle 54">
            <a:extLst>
              <a:ext uri="{FF2B5EF4-FFF2-40B4-BE49-F238E27FC236}">
                <a16:creationId xmlns:a16="http://schemas.microsoft.com/office/drawing/2014/main" id="{A5CB57F9-4B81-4D5D-DF47-9A5C4DA452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31263" y="5638801"/>
            <a:ext cx="182562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82" name="AutoShape 55">
            <a:extLst>
              <a:ext uri="{FF2B5EF4-FFF2-40B4-BE49-F238E27FC236}">
                <a16:creationId xmlns:a16="http://schemas.microsoft.com/office/drawing/2014/main" id="{70DA07BE-9D73-484E-095A-22FC42D824DF}"/>
              </a:ext>
            </a:extLst>
          </p:cNvPr>
          <p:cNvCxnSpPr>
            <a:cxnSpLocks noChangeShapeType="1"/>
            <a:stCxn id="22571" idx="0"/>
          </p:cNvCxnSpPr>
          <p:nvPr/>
        </p:nvCxnSpPr>
        <p:spPr bwMode="auto">
          <a:xfrm flipV="1">
            <a:off x="8520114" y="5461001"/>
            <a:ext cx="71437" cy="168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3" name="AutoShape 56">
            <a:extLst>
              <a:ext uri="{FF2B5EF4-FFF2-40B4-BE49-F238E27FC236}">
                <a16:creationId xmlns:a16="http://schemas.microsoft.com/office/drawing/2014/main" id="{159FC715-C537-5EA6-25AA-A845B2C1D711}"/>
              </a:ext>
            </a:extLst>
          </p:cNvPr>
          <p:cNvCxnSpPr>
            <a:cxnSpLocks noChangeShapeType="1"/>
            <a:stCxn id="22581" idx="0"/>
            <a:endCxn id="22565" idx="5"/>
          </p:cNvCxnSpPr>
          <p:nvPr/>
        </p:nvCxnSpPr>
        <p:spPr bwMode="auto">
          <a:xfrm flipV="1">
            <a:off x="8923339" y="5432425"/>
            <a:ext cx="65087" cy="196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4" name="AutoShape 57">
            <a:extLst>
              <a:ext uri="{FF2B5EF4-FFF2-40B4-BE49-F238E27FC236}">
                <a16:creationId xmlns:a16="http://schemas.microsoft.com/office/drawing/2014/main" id="{418E390C-96C4-AFB4-BC04-94AE893D9295}"/>
              </a:ext>
            </a:extLst>
          </p:cNvPr>
          <p:cNvCxnSpPr>
            <a:cxnSpLocks noChangeShapeType="1"/>
            <a:stCxn id="22574" idx="0"/>
          </p:cNvCxnSpPr>
          <p:nvPr/>
        </p:nvCxnSpPr>
        <p:spPr bwMode="auto">
          <a:xfrm flipV="1">
            <a:off x="7502526" y="4670426"/>
            <a:ext cx="746125" cy="396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85" name="AutoShape 58">
            <a:extLst>
              <a:ext uri="{FF2B5EF4-FFF2-40B4-BE49-F238E27FC236}">
                <a16:creationId xmlns:a16="http://schemas.microsoft.com/office/drawing/2014/main" id="{C966C50A-37B3-F679-B3DE-314B9DD7B4F3}"/>
              </a:ext>
            </a:extLst>
          </p:cNvPr>
          <p:cNvCxnSpPr>
            <a:cxnSpLocks noChangeShapeType="1"/>
            <a:stCxn id="22564" idx="0"/>
            <a:endCxn id="22563" idx="3"/>
          </p:cNvCxnSpPr>
          <p:nvPr/>
        </p:nvCxnSpPr>
        <p:spPr bwMode="auto">
          <a:xfrm flipV="1">
            <a:off x="6691314" y="4613276"/>
            <a:ext cx="1163637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6" name="Rectangle 59">
            <a:extLst>
              <a:ext uri="{FF2B5EF4-FFF2-40B4-BE49-F238E27FC236}">
                <a16:creationId xmlns:a16="http://schemas.microsoft.com/office/drawing/2014/main" id="{4E7BA5CF-55A7-C8B6-9F7F-2E4C18346A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88464" y="5638801"/>
            <a:ext cx="180975" cy="1301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2587" name="AutoShape 60">
            <a:extLst>
              <a:ext uri="{FF2B5EF4-FFF2-40B4-BE49-F238E27FC236}">
                <a16:creationId xmlns:a16="http://schemas.microsoft.com/office/drawing/2014/main" id="{A5DA83A6-ECA5-C1A9-762F-4B905E926D9C}"/>
              </a:ext>
            </a:extLst>
          </p:cNvPr>
          <p:cNvCxnSpPr>
            <a:cxnSpLocks noChangeShapeType="1"/>
            <a:stCxn id="22586" idx="0"/>
            <a:endCxn id="22595" idx="3"/>
          </p:cNvCxnSpPr>
          <p:nvPr/>
        </p:nvCxnSpPr>
        <p:spPr bwMode="auto">
          <a:xfrm flipV="1">
            <a:off x="9378951" y="5432425"/>
            <a:ext cx="93663" cy="196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88" name="Text Box 61">
            <a:extLst>
              <a:ext uri="{FF2B5EF4-FFF2-40B4-BE49-F238E27FC236}">
                <a16:creationId xmlns:a16="http://schemas.microsoft.com/office/drawing/2014/main" id="{8769052D-F593-47E7-F939-2D7452813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9825" y="4732339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 i="1">
                <a:solidFill>
                  <a:schemeClr val="tx2"/>
                </a:solidFill>
                <a:latin typeface="Times New Roman" panose="02020603050405020304" pitchFamily="18" charset="0"/>
              </a:rPr>
              <a:t>'</a:t>
            </a:r>
          </a:p>
        </p:txBody>
      </p:sp>
      <p:sp>
        <p:nvSpPr>
          <p:cNvPr id="22589" name="Text Box 62">
            <a:extLst>
              <a:ext uri="{FF2B5EF4-FFF2-40B4-BE49-F238E27FC236}">
                <a16:creationId xmlns:a16="http://schemas.microsoft.com/office/drawing/2014/main" id="{D6A635FC-6312-B56C-1567-07C862545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3164" y="3962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2590" name="Text Box 63">
            <a:extLst>
              <a:ext uri="{FF2B5EF4-FFF2-40B4-BE49-F238E27FC236}">
                <a16:creationId xmlns:a16="http://schemas.microsoft.com/office/drawing/2014/main" id="{0B401BED-020C-388D-2A8C-555C1E490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5688014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91" name="Text Box 64">
            <a:extLst>
              <a:ext uri="{FF2B5EF4-FFF2-40B4-BE49-F238E27FC236}">
                <a16:creationId xmlns:a16="http://schemas.microsoft.com/office/drawing/2014/main" id="{D1BC9DA2-7660-776D-5E93-5EFC29F3D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3738" y="5688014"/>
            <a:ext cx="51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92" name="Text Box 65">
            <a:extLst>
              <a:ext uri="{FF2B5EF4-FFF2-40B4-BE49-F238E27FC236}">
                <a16:creationId xmlns:a16="http://schemas.microsoft.com/office/drawing/2014/main" id="{2085FDF2-7D56-74D0-E5C6-E3362C999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850" y="5688014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93" name="Text Box 66">
            <a:extLst>
              <a:ext uri="{FF2B5EF4-FFF2-40B4-BE49-F238E27FC236}">
                <a16:creationId xmlns:a16="http://schemas.microsoft.com/office/drawing/2014/main" id="{A7BC72E8-EB49-3885-A01D-EF6ED294E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1938" y="5688014"/>
            <a:ext cx="51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94" name="Text Box 67">
            <a:extLst>
              <a:ext uri="{FF2B5EF4-FFF2-40B4-BE49-F238E27FC236}">
                <a16:creationId xmlns:a16="http://schemas.microsoft.com/office/drawing/2014/main" id="{53188F4F-DDC3-4548-B96B-28844B51D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2650" y="5688014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95" name="Oval 68">
            <a:extLst>
              <a:ext uri="{FF2B5EF4-FFF2-40B4-BE49-F238E27FC236}">
                <a16:creationId xmlns:a16="http://schemas.microsoft.com/office/drawing/2014/main" id="{18D7B72E-E273-9DAD-48E0-080F0DAB39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72601" y="5076825"/>
            <a:ext cx="684213" cy="3937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35</a:t>
            </a:r>
          </a:p>
        </p:txBody>
      </p:sp>
      <p:cxnSp>
        <p:nvCxnSpPr>
          <p:cNvPr id="22596" name="AutoShape 69">
            <a:extLst>
              <a:ext uri="{FF2B5EF4-FFF2-40B4-BE49-F238E27FC236}">
                <a16:creationId xmlns:a16="http://schemas.microsoft.com/office/drawing/2014/main" id="{ACBDAAB2-256B-53B6-7F56-DED332DA2EA6}"/>
              </a:ext>
            </a:extLst>
          </p:cNvPr>
          <p:cNvCxnSpPr>
            <a:cxnSpLocks noChangeAspect="1" noChangeShapeType="1"/>
            <a:endCxn id="22565" idx="0"/>
          </p:cNvCxnSpPr>
          <p:nvPr/>
        </p:nvCxnSpPr>
        <p:spPr bwMode="auto">
          <a:xfrm>
            <a:off x="8410576" y="4651375"/>
            <a:ext cx="200025" cy="4064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97" name="Text Box 70">
            <a:extLst>
              <a:ext uri="{FF2B5EF4-FFF2-40B4-BE49-F238E27FC236}">
                <a16:creationId xmlns:a16="http://schemas.microsoft.com/office/drawing/2014/main" id="{087A8EE9-6A23-18F0-0042-5D21991FE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5813" y="4732339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 i="1">
                <a:solidFill>
                  <a:schemeClr val="tx2"/>
                </a:solidFill>
                <a:latin typeface="Times New Roman" panose="02020603050405020304" pitchFamily="18" charset="0"/>
              </a:rPr>
              <a:t>"</a:t>
            </a:r>
          </a:p>
        </p:txBody>
      </p:sp>
      <p:sp>
        <p:nvSpPr>
          <p:cNvPr id="22598" name="AutoShape 71">
            <a:extLst>
              <a:ext uri="{FF2B5EF4-FFF2-40B4-BE49-F238E27FC236}">
                <a16:creationId xmlns:a16="http://schemas.microsoft.com/office/drawing/2014/main" id="{3D9CED17-1D67-D681-9297-B33E7793A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1" y="4495801"/>
            <a:ext cx="633413" cy="314325"/>
          </a:xfrm>
          <a:prstGeom prst="rightArrow">
            <a:avLst>
              <a:gd name="adj1" fmla="val 50000"/>
              <a:gd name="adj2" fmla="val 50379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F62B518-2E77-3980-289B-A5ED29E12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Analysis of Insertion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23E6FFE8-E7A0-37E1-E64E-96386D058A1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752600"/>
            <a:ext cx="4114800" cy="4114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solidFill>
                  <a:schemeClr val="tx2"/>
                </a:solidFill>
                <a:latin typeface="Times New Roman" panose="02020603050405020304" pitchFamily="18" charset="0"/>
              </a:rPr>
              <a:t>insertItem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600" b="1" i="1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b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</a:br>
            <a:endParaRPr lang="en-US" altLang="en-US" sz="16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1.	We search for key 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>
                <a:latin typeface="Times New Roman" panose="02020603050405020304" pitchFamily="18" charset="0"/>
              </a:rPr>
              <a:t> to locate the insertion node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br>
              <a:rPr lang="en-US" altLang="en-US" sz="1600" b="1" i="1">
                <a:latin typeface="Times New Roman" panose="02020603050405020304" pitchFamily="18" charset="0"/>
              </a:rPr>
            </a:br>
            <a:endParaRPr lang="en-US" altLang="en-US" sz="160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2.	We add the new item (</a:t>
            </a:r>
            <a:r>
              <a:rPr lang="en-US" altLang="en-US" sz="1600" b="1" i="1">
                <a:latin typeface="Times New Roman" panose="02020603050405020304" pitchFamily="18" charset="0"/>
              </a:rPr>
              <a:t>k</a:t>
            </a:r>
            <a:r>
              <a:rPr lang="en-US" altLang="en-US" sz="1600">
                <a:latin typeface="Times New Roman" panose="02020603050405020304" pitchFamily="18" charset="0"/>
              </a:rPr>
              <a:t>, </a:t>
            </a:r>
            <a:r>
              <a:rPr lang="en-US" altLang="en-US" sz="1600" b="1" i="1"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latin typeface="Times New Roman" panose="02020603050405020304" pitchFamily="18" charset="0"/>
              </a:rPr>
              <a:t>) at node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br>
              <a:rPr lang="en-US" altLang="en-US" sz="1600" b="1" i="1">
                <a:latin typeface="Times New Roman" panose="02020603050405020304" pitchFamily="18" charset="0"/>
              </a:rPr>
            </a:br>
            <a:endParaRPr lang="en-US" altLang="en-US" sz="1600" b="1" i="1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3. 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latin typeface="Times New Roman" panose="02020603050405020304" pitchFamily="18" charset="0"/>
              </a:rPr>
              <a:t>overflow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600" b="1" i="1">
                <a:latin typeface="Times New Roman" panose="02020603050405020304" pitchFamily="18" charset="0"/>
              </a:rPr>
              <a:t>isRoot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	 create a new empty root above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endParaRPr lang="en-US" altLang="en-US" sz="1600">
              <a:latin typeface="Times New Roman" panose="02020603050405020304" pitchFamily="18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600" b="1" i="1">
                <a:latin typeface="Times New Roman" panose="02020603050405020304" pitchFamily="18" charset="0"/>
              </a:rPr>
              <a:t>v </a:t>
            </a: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600" b="1" i="1">
                <a:latin typeface="Times New Roman" panose="02020603050405020304" pitchFamily="18" charset="0"/>
              </a:rPr>
              <a:t> split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327F0B61-6EA9-090C-9990-6D3BBCCB683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705600" y="1600200"/>
            <a:ext cx="3581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be a (2,4) tree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Tree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has</a:t>
            </a:r>
            <a:r>
              <a:rPr lang="en-US" altLang="en-US" sz="1800" b="1" i="1">
                <a:latin typeface="Times New Roman" panose="02020603050405020304" pitchFamily="18" charset="0"/>
              </a:rPr>
              <a:t> 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height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Step 1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because we visit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Step 2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Step 3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because each split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 and we perform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splits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Thus, an insertion in a (2,4) tree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 b="1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 b="1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00D963C5-3859-54B2-743B-3D9F49C19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Deletion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697B5BCD-0297-3419-6BE4-44EB92AEB5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066801"/>
            <a:ext cx="8077200" cy="235267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We reduce deletion of an item to the case where the item is at the node with leaf children</a:t>
            </a:r>
          </a:p>
          <a:p>
            <a:pPr eaLnBrk="1" hangingPunct="1"/>
            <a:r>
              <a:rPr lang="en-US" altLang="en-US" sz="2000"/>
              <a:t>Otherwise, we </a:t>
            </a:r>
            <a:r>
              <a:rPr lang="en-US" altLang="en-US" sz="2000" b="1"/>
              <a:t>replace the item with its inorder successor</a:t>
            </a:r>
            <a:r>
              <a:rPr lang="en-US" altLang="en-US" sz="2000"/>
              <a:t> (or, equivalently, with its inorder predecessor) and delete the latter item</a:t>
            </a:r>
          </a:p>
          <a:p>
            <a:pPr eaLnBrk="1" hangingPunct="1"/>
            <a:r>
              <a:rPr lang="en-US" altLang="en-US" sz="2000"/>
              <a:t>Example: to delete key 24, we replace it with 27 (inorder successor)</a:t>
            </a:r>
          </a:p>
        </p:txBody>
      </p:sp>
      <p:grpSp>
        <p:nvGrpSpPr>
          <p:cNvPr id="24579" name="Group 4">
            <a:extLst>
              <a:ext uri="{FF2B5EF4-FFF2-40B4-BE49-F238E27FC236}">
                <a16:creationId xmlns:a16="http://schemas.microsoft.com/office/drawing/2014/main" id="{B5EBF375-0F09-D500-6264-FD3CF19B65B2}"/>
              </a:ext>
            </a:extLst>
          </p:cNvPr>
          <p:cNvGrpSpPr>
            <a:grpSpLocks/>
          </p:cNvGrpSpPr>
          <p:nvPr/>
        </p:nvGrpSpPr>
        <p:grpSpPr bwMode="auto">
          <a:xfrm>
            <a:off x="3201988" y="3352801"/>
            <a:ext cx="5943600" cy="1173163"/>
            <a:chOff x="1200" y="2112"/>
            <a:chExt cx="3744" cy="739"/>
          </a:xfrm>
        </p:grpSpPr>
        <p:sp>
          <p:nvSpPr>
            <p:cNvPr id="24610" name="Oval 5">
              <a:extLst>
                <a:ext uri="{FF2B5EF4-FFF2-40B4-BE49-F238E27FC236}">
                  <a16:creationId xmlns:a16="http://schemas.microsoft.com/office/drawing/2014/main" id="{EDEB30C4-76DE-F961-E423-1D6B6DC8C5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5" y="2433"/>
              <a:ext cx="1069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27   32   35</a:t>
              </a:r>
            </a:p>
          </p:txBody>
        </p:sp>
        <p:cxnSp>
          <p:nvCxnSpPr>
            <p:cNvPr id="24611" name="AutoShape 6">
              <a:extLst>
                <a:ext uri="{FF2B5EF4-FFF2-40B4-BE49-F238E27FC236}">
                  <a16:creationId xmlns:a16="http://schemas.microsoft.com/office/drawing/2014/main" id="{BC05AED4-1C03-8D81-BE70-BC26C744DB1F}"/>
                </a:ext>
              </a:extLst>
            </p:cNvPr>
            <p:cNvCxnSpPr>
              <a:cxnSpLocks noChangeAspect="1" noChangeShapeType="1"/>
              <a:stCxn id="24640" idx="0"/>
              <a:endCxn id="24610" idx="5"/>
            </p:cNvCxnSpPr>
            <p:nvPr/>
          </p:nvCxnSpPr>
          <p:spPr bwMode="auto">
            <a:xfrm flipH="1" flipV="1">
              <a:off x="4787" y="2593"/>
              <a:ext cx="61" cy="15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12" name="Oval 7">
              <a:extLst>
                <a:ext uri="{FF2B5EF4-FFF2-40B4-BE49-F238E27FC236}">
                  <a16:creationId xmlns:a16="http://schemas.microsoft.com/office/drawing/2014/main" id="{C5623AB5-CC0D-8A8A-7E36-1D6C6901C3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83" y="2112"/>
              <a:ext cx="1147" cy="179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10   15   </a:t>
              </a:r>
              <a:r>
                <a:rPr lang="en-US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24</a:t>
              </a:r>
            </a:p>
          </p:txBody>
        </p:sp>
        <p:sp>
          <p:nvSpPr>
            <p:cNvPr id="24613" name="Oval 8">
              <a:extLst>
                <a:ext uri="{FF2B5EF4-FFF2-40B4-BE49-F238E27FC236}">
                  <a16:creationId xmlns:a16="http://schemas.microsoft.com/office/drawing/2014/main" id="{97A6659A-B608-C818-6F36-C67DCAEC70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59" y="2433"/>
              <a:ext cx="753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2   8</a:t>
              </a:r>
            </a:p>
          </p:txBody>
        </p:sp>
        <p:sp>
          <p:nvSpPr>
            <p:cNvPr id="24614" name="Oval 9">
              <a:extLst>
                <a:ext uri="{FF2B5EF4-FFF2-40B4-BE49-F238E27FC236}">
                  <a16:creationId xmlns:a16="http://schemas.microsoft.com/office/drawing/2014/main" id="{2EDFF46C-979A-7175-6FDF-C22CF73989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0" y="2433"/>
              <a:ext cx="502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4615" name="Rectangle 10">
              <a:extLst>
                <a:ext uri="{FF2B5EF4-FFF2-40B4-BE49-F238E27FC236}">
                  <a16:creationId xmlns:a16="http://schemas.microsoft.com/office/drawing/2014/main" id="{BD404CF7-31C6-815D-0E63-9B978B7C8A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2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16" name="Rectangle 11">
              <a:extLst>
                <a:ext uri="{FF2B5EF4-FFF2-40B4-BE49-F238E27FC236}">
                  <a16:creationId xmlns:a16="http://schemas.microsoft.com/office/drawing/2014/main" id="{DD4CC086-9E5E-EC57-F14D-AEE8287D4E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0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17" name="Rectangle 12">
              <a:extLst>
                <a:ext uri="{FF2B5EF4-FFF2-40B4-BE49-F238E27FC236}">
                  <a16:creationId xmlns:a16="http://schemas.microsoft.com/office/drawing/2014/main" id="{53E4674F-0298-69CB-8828-176EF4A23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28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18" name="Rectangle 13">
              <a:extLst>
                <a:ext uri="{FF2B5EF4-FFF2-40B4-BE49-F238E27FC236}">
                  <a16:creationId xmlns:a16="http://schemas.microsoft.com/office/drawing/2014/main" id="{D26F8EF2-84FD-BAA5-69E0-5A2215F6E6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0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19" name="Rectangle 14">
              <a:extLst>
                <a:ext uri="{FF2B5EF4-FFF2-40B4-BE49-F238E27FC236}">
                  <a16:creationId xmlns:a16="http://schemas.microsoft.com/office/drawing/2014/main" id="{F089B304-9DDD-01F3-1C53-6A1A36573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6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20" name="Rectangle 15">
              <a:extLst>
                <a:ext uri="{FF2B5EF4-FFF2-40B4-BE49-F238E27FC236}">
                  <a16:creationId xmlns:a16="http://schemas.microsoft.com/office/drawing/2014/main" id="{821E1D09-1241-84DA-5321-72BA7A8537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76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21" name="AutoShape 16">
              <a:extLst>
                <a:ext uri="{FF2B5EF4-FFF2-40B4-BE49-F238E27FC236}">
                  <a16:creationId xmlns:a16="http://schemas.microsoft.com/office/drawing/2014/main" id="{3B2EBD03-B1FA-FE5B-E4C9-A043BE47141C}"/>
                </a:ext>
              </a:extLst>
            </p:cNvPr>
            <p:cNvCxnSpPr>
              <a:cxnSpLocks noChangeAspect="1" noChangeShapeType="1"/>
              <a:stCxn id="24612" idx="3"/>
              <a:endCxn id="24613" idx="0"/>
            </p:cNvCxnSpPr>
            <p:nvPr/>
          </p:nvCxnSpPr>
          <p:spPr bwMode="auto">
            <a:xfrm flipH="1">
              <a:off x="1636" y="2271"/>
              <a:ext cx="915" cy="15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2" name="AutoShape 17">
              <a:extLst>
                <a:ext uri="{FF2B5EF4-FFF2-40B4-BE49-F238E27FC236}">
                  <a16:creationId xmlns:a16="http://schemas.microsoft.com/office/drawing/2014/main" id="{4D0DFAC7-BA8A-FC91-91FD-B089F7B36EED}"/>
                </a:ext>
              </a:extLst>
            </p:cNvPr>
            <p:cNvCxnSpPr>
              <a:cxnSpLocks noChangeAspect="1" noChangeShapeType="1"/>
              <a:stCxn id="24612" idx="5"/>
              <a:endCxn id="24610" idx="0"/>
            </p:cNvCxnSpPr>
            <p:nvPr/>
          </p:nvCxnSpPr>
          <p:spPr bwMode="auto">
            <a:xfrm>
              <a:off x="3362" y="2271"/>
              <a:ext cx="1048" cy="15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3" name="AutoShape 18">
              <a:extLst>
                <a:ext uri="{FF2B5EF4-FFF2-40B4-BE49-F238E27FC236}">
                  <a16:creationId xmlns:a16="http://schemas.microsoft.com/office/drawing/2014/main" id="{0AC55C09-13EF-67DE-3192-EA51BCF23D91}"/>
                </a:ext>
              </a:extLst>
            </p:cNvPr>
            <p:cNvCxnSpPr>
              <a:cxnSpLocks noChangeAspect="1" noChangeShapeType="1"/>
              <a:stCxn id="24613" idx="3"/>
              <a:endCxn id="24618" idx="0"/>
            </p:cNvCxnSpPr>
            <p:nvPr/>
          </p:nvCxnSpPr>
          <p:spPr bwMode="auto">
            <a:xfrm flipH="1">
              <a:off x="1248" y="2591"/>
              <a:ext cx="121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4" name="AutoShape 19">
              <a:extLst>
                <a:ext uri="{FF2B5EF4-FFF2-40B4-BE49-F238E27FC236}">
                  <a16:creationId xmlns:a16="http://schemas.microsoft.com/office/drawing/2014/main" id="{A107E20E-8735-EC28-6AE5-FCEDC781ECC8}"/>
                </a:ext>
              </a:extLst>
            </p:cNvPr>
            <p:cNvCxnSpPr>
              <a:cxnSpLocks noChangeAspect="1" noChangeShapeType="1"/>
              <a:stCxn id="24613" idx="5"/>
              <a:endCxn id="24620" idx="0"/>
            </p:cNvCxnSpPr>
            <p:nvPr/>
          </p:nvCxnSpPr>
          <p:spPr bwMode="auto">
            <a:xfrm>
              <a:off x="1901" y="2591"/>
              <a:ext cx="123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25" name="Rectangle 20">
              <a:extLst>
                <a:ext uri="{FF2B5EF4-FFF2-40B4-BE49-F238E27FC236}">
                  <a16:creationId xmlns:a16="http://schemas.microsoft.com/office/drawing/2014/main" id="{44964208-888D-512D-60F6-44C13F1677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9" y="2756"/>
              <a:ext cx="94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26" name="AutoShape 21">
              <a:extLst>
                <a:ext uri="{FF2B5EF4-FFF2-40B4-BE49-F238E27FC236}">
                  <a16:creationId xmlns:a16="http://schemas.microsoft.com/office/drawing/2014/main" id="{81E4AC36-8300-B763-C925-D47B05AFDC39}"/>
                </a:ext>
              </a:extLst>
            </p:cNvPr>
            <p:cNvCxnSpPr>
              <a:cxnSpLocks noChangeAspect="1" noChangeShapeType="1"/>
              <a:stCxn id="24615" idx="0"/>
              <a:endCxn id="24610" idx="3"/>
            </p:cNvCxnSpPr>
            <p:nvPr/>
          </p:nvCxnSpPr>
          <p:spPr bwMode="auto">
            <a:xfrm flipV="1">
              <a:off x="3900" y="2593"/>
              <a:ext cx="132" cy="15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7" name="AutoShape 22">
              <a:extLst>
                <a:ext uri="{FF2B5EF4-FFF2-40B4-BE49-F238E27FC236}">
                  <a16:creationId xmlns:a16="http://schemas.microsoft.com/office/drawing/2014/main" id="{9DCFDB64-B8E0-07FE-4FB5-62F9113758D5}"/>
                </a:ext>
              </a:extLst>
            </p:cNvPr>
            <p:cNvCxnSpPr>
              <a:cxnSpLocks noChangeAspect="1" noChangeShapeType="1"/>
              <a:stCxn id="24619" idx="0"/>
              <a:endCxn id="24613" idx="4"/>
            </p:cNvCxnSpPr>
            <p:nvPr/>
          </p:nvCxnSpPr>
          <p:spPr bwMode="auto">
            <a:xfrm flipV="1">
              <a:off x="1634" y="2617"/>
              <a:ext cx="1" cy="13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28" name="Oval 23">
              <a:extLst>
                <a:ext uri="{FF2B5EF4-FFF2-40B4-BE49-F238E27FC236}">
                  <a16:creationId xmlns:a16="http://schemas.microsoft.com/office/drawing/2014/main" id="{36BDF6BB-0785-4B67-AD47-6F991F885D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1" y="2433"/>
              <a:ext cx="502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18</a:t>
              </a:r>
            </a:p>
          </p:txBody>
        </p:sp>
        <p:sp>
          <p:nvSpPr>
            <p:cNvPr id="24629" name="Rectangle 24">
              <a:extLst>
                <a:ext uri="{FF2B5EF4-FFF2-40B4-BE49-F238E27FC236}">
                  <a16:creationId xmlns:a16="http://schemas.microsoft.com/office/drawing/2014/main" id="{51596014-46E9-C6F4-A6F5-8F29760109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1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30" name="Rectangle 25">
              <a:extLst>
                <a:ext uri="{FF2B5EF4-FFF2-40B4-BE49-F238E27FC236}">
                  <a16:creationId xmlns:a16="http://schemas.microsoft.com/office/drawing/2014/main" id="{728815C4-1BF6-DCED-573A-09475068A9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5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31" name="AutoShape 26">
              <a:extLst>
                <a:ext uri="{FF2B5EF4-FFF2-40B4-BE49-F238E27FC236}">
                  <a16:creationId xmlns:a16="http://schemas.microsoft.com/office/drawing/2014/main" id="{361FE560-655E-4A91-2184-2AE2088BAE97}"/>
                </a:ext>
              </a:extLst>
            </p:cNvPr>
            <p:cNvCxnSpPr>
              <a:cxnSpLocks noChangeAspect="1" noChangeShapeType="1"/>
              <a:stCxn id="24616" idx="0"/>
            </p:cNvCxnSpPr>
            <p:nvPr/>
          </p:nvCxnSpPr>
          <p:spPr bwMode="auto">
            <a:xfrm flipV="1">
              <a:off x="2418" y="2607"/>
              <a:ext cx="120" cy="14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2" name="AutoShape 27">
              <a:extLst>
                <a:ext uri="{FF2B5EF4-FFF2-40B4-BE49-F238E27FC236}">
                  <a16:creationId xmlns:a16="http://schemas.microsoft.com/office/drawing/2014/main" id="{0B4B35EC-B9A8-54AF-E8DA-B37AC6414FA7}"/>
                </a:ext>
              </a:extLst>
            </p:cNvPr>
            <p:cNvCxnSpPr>
              <a:cxnSpLocks noChangeAspect="1" noChangeShapeType="1"/>
              <a:stCxn id="24629" idx="0"/>
            </p:cNvCxnSpPr>
            <p:nvPr/>
          </p:nvCxnSpPr>
          <p:spPr bwMode="auto">
            <a:xfrm flipV="1">
              <a:off x="3099" y="2611"/>
              <a:ext cx="126" cy="1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3" name="AutoShape 28">
              <a:extLst>
                <a:ext uri="{FF2B5EF4-FFF2-40B4-BE49-F238E27FC236}">
                  <a16:creationId xmlns:a16="http://schemas.microsoft.com/office/drawing/2014/main" id="{9EB76FD2-976F-35BA-5A10-B6E52968D851}"/>
                </a:ext>
              </a:extLst>
            </p:cNvPr>
            <p:cNvCxnSpPr>
              <a:cxnSpLocks noChangeAspect="1" noChangeShapeType="1"/>
              <a:stCxn id="24630" idx="0"/>
            </p:cNvCxnSpPr>
            <p:nvPr/>
          </p:nvCxnSpPr>
          <p:spPr bwMode="auto">
            <a:xfrm flipH="1" flipV="1">
              <a:off x="3398" y="2602"/>
              <a:ext cx="95" cy="1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4" name="AutoShape 29">
              <a:extLst>
                <a:ext uri="{FF2B5EF4-FFF2-40B4-BE49-F238E27FC236}">
                  <a16:creationId xmlns:a16="http://schemas.microsoft.com/office/drawing/2014/main" id="{28B53466-8F7C-16A6-9F05-D83173559EAE}"/>
                </a:ext>
              </a:extLst>
            </p:cNvPr>
            <p:cNvCxnSpPr>
              <a:cxnSpLocks noChangeAspect="1" noChangeShapeType="1"/>
              <a:stCxn id="24617" idx="0"/>
            </p:cNvCxnSpPr>
            <p:nvPr/>
          </p:nvCxnSpPr>
          <p:spPr bwMode="auto">
            <a:xfrm flipH="1" flipV="1">
              <a:off x="2691" y="2611"/>
              <a:ext cx="85" cy="1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35" name="Rectangle 30">
              <a:extLst>
                <a:ext uri="{FF2B5EF4-FFF2-40B4-BE49-F238E27FC236}">
                  <a16:creationId xmlns:a16="http://schemas.microsoft.com/office/drawing/2014/main" id="{B5510DAA-E35B-9966-0515-89A15FB4FF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60" y="2756"/>
              <a:ext cx="94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36" name="AutoShape 31">
              <a:extLst>
                <a:ext uri="{FF2B5EF4-FFF2-40B4-BE49-F238E27FC236}">
                  <a16:creationId xmlns:a16="http://schemas.microsoft.com/office/drawing/2014/main" id="{0D5AB118-04E0-A414-C0E0-5FBF209CE3F2}"/>
                </a:ext>
              </a:extLst>
            </p:cNvPr>
            <p:cNvCxnSpPr>
              <a:cxnSpLocks noChangeShapeType="1"/>
              <a:stCxn id="24625" idx="0"/>
            </p:cNvCxnSpPr>
            <p:nvPr/>
          </p:nvCxnSpPr>
          <p:spPr bwMode="auto">
            <a:xfrm flipV="1">
              <a:off x="4276" y="2615"/>
              <a:ext cx="34" cy="13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7" name="AutoShape 32">
              <a:extLst>
                <a:ext uri="{FF2B5EF4-FFF2-40B4-BE49-F238E27FC236}">
                  <a16:creationId xmlns:a16="http://schemas.microsoft.com/office/drawing/2014/main" id="{E65D9C6C-A917-C391-B0F2-CBBA9D8950B0}"/>
                </a:ext>
              </a:extLst>
            </p:cNvPr>
            <p:cNvCxnSpPr>
              <a:cxnSpLocks noChangeShapeType="1"/>
              <a:stCxn id="24635" idx="0"/>
            </p:cNvCxnSpPr>
            <p:nvPr/>
          </p:nvCxnSpPr>
          <p:spPr bwMode="auto">
            <a:xfrm flipH="1" flipV="1">
              <a:off x="4522" y="2611"/>
              <a:ext cx="85" cy="1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8" name="AutoShape 33">
              <a:extLst>
                <a:ext uri="{FF2B5EF4-FFF2-40B4-BE49-F238E27FC236}">
                  <a16:creationId xmlns:a16="http://schemas.microsoft.com/office/drawing/2014/main" id="{12A4B7FA-3BFE-514A-13C7-8A17B2DA9F7C}"/>
                </a:ext>
              </a:extLst>
            </p:cNvPr>
            <p:cNvCxnSpPr>
              <a:cxnSpLocks noChangeShapeType="1"/>
              <a:stCxn id="24628" idx="0"/>
            </p:cNvCxnSpPr>
            <p:nvPr/>
          </p:nvCxnSpPr>
          <p:spPr bwMode="auto">
            <a:xfrm flipH="1" flipV="1">
              <a:off x="3082" y="2291"/>
              <a:ext cx="220" cy="13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39" name="AutoShape 34">
              <a:extLst>
                <a:ext uri="{FF2B5EF4-FFF2-40B4-BE49-F238E27FC236}">
                  <a16:creationId xmlns:a16="http://schemas.microsoft.com/office/drawing/2014/main" id="{EE62909B-6AF4-D2AD-9878-5DD0D84A8E13}"/>
                </a:ext>
              </a:extLst>
            </p:cNvPr>
            <p:cNvCxnSpPr>
              <a:cxnSpLocks noChangeShapeType="1"/>
              <a:stCxn id="24614" idx="0"/>
            </p:cNvCxnSpPr>
            <p:nvPr/>
          </p:nvCxnSpPr>
          <p:spPr bwMode="auto">
            <a:xfrm flipV="1">
              <a:off x="2621" y="2287"/>
              <a:ext cx="197" cy="1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40" name="Rectangle 35">
              <a:extLst>
                <a:ext uri="{FF2B5EF4-FFF2-40B4-BE49-F238E27FC236}">
                  <a16:creationId xmlns:a16="http://schemas.microsoft.com/office/drawing/2014/main" id="{FEDC0DA2-464B-739C-B916-3FEDEFB3F1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2756"/>
              <a:ext cx="95" cy="9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4580" name="Oval 36">
            <a:extLst>
              <a:ext uri="{FF2B5EF4-FFF2-40B4-BE49-F238E27FC236}">
                <a16:creationId xmlns:a16="http://schemas.microsoft.com/office/drawing/2014/main" id="{3BC5CA6D-6C75-2E3B-6A7A-E4CA35BA89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46964" y="5584825"/>
            <a:ext cx="1303337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32   35</a:t>
            </a:r>
          </a:p>
        </p:txBody>
      </p:sp>
      <p:cxnSp>
        <p:nvCxnSpPr>
          <p:cNvPr id="24581" name="AutoShape 37">
            <a:extLst>
              <a:ext uri="{FF2B5EF4-FFF2-40B4-BE49-F238E27FC236}">
                <a16:creationId xmlns:a16="http://schemas.microsoft.com/office/drawing/2014/main" id="{4246E2A6-0EA5-4925-C26D-681A5A9427EE}"/>
              </a:ext>
            </a:extLst>
          </p:cNvPr>
          <p:cNvCxnSpPr>
            <a:cxnSpLocks noChangeAspect="1" noChangeShapeType="1"/>
            <a:stCxn id="24608" idx="0"/>
            <a:endCxn id="24580" idx="5"/>
          </p:cNvCxnSpPr>
          <p:nvPr/>
        </p:nvCxnSpPr>
        <p:spPr bwMode="auto">
          <a:xfrm flipH="1" flipV="1">
            <a:off x="8559800" y="5838825"/>
            <a:ext cx="190500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2" name="Oval 38">
            <a:extLst>
              <a:ext uri="{FF2B5EF4-FFF2-40B4-BE49-F238E27FC236}">
                <a16:creationId xmlns:a16="http://schemas.microsoft.com/office/drawing/2014/main" id="{FD1B894A-3501-BD94-9581-468B3C95B2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78413" y="5075238"/>
            <a:ext cx="1820862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10   15   </a:t>
            </a:r>
            <a:r>
              <a:rPr lang="en-US" altLang="en-US" sz="1600">
                <a:solidFill>
                  <a:schemeClr val="tx2"/>
                </a:solidFill>
                <a:latin typeface="Tahoma" panose="020B0604030504040204" pitchFamily="34" charset="0"/>
              </a:rPr>
              <a:t>27</a:t>
            </a:r>
          </a:p>
        </p:txBody>
      </p:sp>
      <p:sp>
        <p:nvSpPr>
          <p:cNvPr id="24583" name="Oval 39">
            <a:extLst>
              <a:ext uri="{FF2B5EF4-FFF2-40B4-BE49-F238E27FC236}">
                <a16:creationId xmlns:a16="http://schemas.microsoft.com/office/drawing/2014/main" id="{25BFF418-4903-0622-BCDF-1F4EDDE192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94064" y="5584825"/>
            <a:ext cx="1195387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2   8</a:t>
            </a:r>
          </a:p>
        </p:txBody>
      </p:sp>
      <p:sp>
        <p:nvSpPr>
          <p:cNvPr id="24584" name="Oval 40">
            <a:extLst>
              <a:ext uri="{FF2B5EF4-FFF2-40B4-BE49-F238E27FC236}">
                <a16:creationId xmlns:a16="http://schemas.microsoft.com/office/drawing/2014/main" id="{1816A599-33CC-1523-4FC2-EC3375B217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57776" y="55848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4585" name="Rectangle 41">
            <a:extLst>
              <a:ext uri="{FF2B5EF4-FFF2-40B4-BE49-F238E27FC236}">
                <a16:creationId xmlns:a16="http://schemas.microsoft.com/office/drawing/2014/main" id="{309F231A-867A-1AF3-97DA-1F6D705AC1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10451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6" name="Rectangle 42">
            <a:extLst>
              <a:ext uri="{FF2B5EF4-FFF2-40B4-BE49-F238E27FC236}">
                <a16:creationId xmlns:a16="http://schemas.microsoft.com/office/drawing/2014/main" id="{89F46C1C-18B3-9977-DA49-4FB5237BFF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57776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7" name="Rectangle 43">
            <a:extLst>
              <a:ext uri="{FF2B5EF4-FFF2-40B4-BE49-F238E27FC236}">
                <a16:creationId xmlns:a16="http://schemas.microsoft.com/office/drawing/2014/main" id="{16D824AD-C80D-35DA-8A13-924B4A504B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1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8" name="Rectangle 44">
            <a:extLst>
              <a:ext uri="{FF2B5EF4-FFF2-40B4-BE49-F238E27FC236}">
                <a16:creationId xmlns:a16="http://schemas.microsoft.com/office/drawing/2014/main" id="{FC9F0D98-585F-2789-BF45-23CEE22C54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1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89" name="Rectangle 45">
            <a:extLst>
              <a:ext uri="{FF2B5EF4-FFF2-40B4-BE49-F238E27FC236}">
                <a16:creationId xmlns:a16="http://schemas.microsoft.com/office/drawing/2014/main" id="{678D7592-A3D2-72E2-BA7E-083D011B33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3176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90" name="Rectangle 46">
            <a:extLst>
              <a:ext uri="{FF2B5EF4-FFF2-40B4-BE49-F238E27FC236}">
                <a16:creationId xmlns:a16="http://schemas.microsoft.com/office/drawing/2014/main" id="{7EF27BBE-2B5A-70D9-77C5-79C528903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32301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4591" name="AutoShape 47">
            <a:extLst>
              <a:ext uri="{FF2B5EF4-FFF2-40B4-BE49-F238E27FC236}">
                <a16:creationId xmlns:a16="http://schemas.microsoft.com/office/drawing/2014/main" id="{E5C94347-F0CA-5CEF-EBBC-267B11834149}"/>
              </a:ext>
            </a:extLst>
          </p:cNvPr>
          <p:cNvCxnSpPr>
            <a:cxnSpLocks noChangeAspect="1" noChangeShapeType="1"/>
            <a:stCxn id="24582" idx="3"/>
            <a:endCxn id="24583" idx="0"/>
          </p:cNvCxnSpPr>
          <p:nvPr/>
        </p:nvCxnSpPr>
        <p:spPr bwMode="auto">
          <a:xfrm flipH="1">
            <a:off x="3892551" y="5327650"/>
            <a:ext cx="1452563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2" name="AutoShape 48">
            <a:extLst>
              <a:ext uri="{FF2B5EF4-FFF2-40B4-BE49-F238E27FC236}">
                <a16:creationId xmlns:a16="http://schemas.microsoft.com/office/drawing/2014/main" id="{F65EF625-A525-9CA0-7DDD-7F45FA5A7C31}"/>
              </a:ext>
            </a:extLst>
          </p:cNvPr>
          <p:cNvCxnSpPr>
            <a:cxnSpLocks noChangeAspect="1" noChangeShapeType="1"/>
            <a:stCxn id="24582" idx="5"/>
            <a:endCxn id="24580" idx="0"/>
          </p:cNvCxnSpPr>
          <p:nvPr/>
        </p:nvCxnSpPr>
        <p:spPr bwMode="auto">
          <a:xfrm>
            <a:off x="6632575" y="5327650"/>
            <a:ext cx="14668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3" name="AutoShape 49">
            <a:extLst>
              <a:ext uri="{FF2B5EF4-FFF2-40B4-BE49-F238E27FC236}">
                <a16:creationId xmlns:a16="http://schemas.microsoft.com/office/drawing/2014/main" id="{41BC3420-68F3-5F80-A199-F2A34891832F}"/>
              </a:ext>
            </a:extLst>
          </p:cNvPr>
          <p:cNvCxnSpPr>
            <a:cxnSpLocks noChangeAspect="1" noChangeShapeType="1"/>
            <a:stCxn id="24583" idx="3"/>
            <a:endCxn id="24588" idx="0"/>
          </p:cNvCxnSpPr>
          <p:nvPr/>
        </p:nvCxnSpPr>
        <p:spPr bwMode="auto">
          <a:xfrm flipH="1">
            <a:off x="3276600" y="5838825"/>
            <a:ext cx="19208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4" name="AutoShape 50">
            <a:extLst>
              <a:ext uri="{FF2B5EF4-FFF2-40B4-BE49-F238E27FC236}">
                <a16:creationId xmlns:a16="http://schemas.microsoft.com/office/drawing/2014/main" id="{5D0C0C3D-583C-26FD-C6A8-EADCFAD52C28}"/>
              </a:ext>
            </a:extLst>
          </p:cNvPr>
          <p:cNvCxnSpPr>
            <a:cxnSpLocks noChangeAspect="1" noChangeShapeType="1"/>
            <a:stCxn id="24583" idx="5"/>
            <a:endCxn id="24590" idx="0"/>
          </p:cNvCxnSpPr>
          <p:nvPr/>
        </p:nvCxnSpPr>
        <p:spPr bwMode="auto">
          <a:xfrm>
            <a:off x="4314826" y="5838825"/>
            <a:ext cx="193675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5" name="AutoShape 51">
            <a:extLst>
              <a:ext uri="{FF2B5EF4-FFF2-40B4-BE49-F238E27FC236}">
                <a16:creationId xmlns:a16="http://schemas.microsoft.com/office/drawing/2014/main" id="{676B7688-FD4B-374F-6F9C-AD88CBD9B344}"/>
              </a:ext>
            </a:extLst>
          </p:cNvPr>
          <p:cNvCxnSpPr>
            <a:cxnSpLocks noChangeAspect="1" noChangeShapeType="1"/>
            <a:stCxn id="24585" idx="0"/>
            <a:endCxn id="24580" idx="3"/>
          </p:cNvCxnSpPr>
          <p:nvPr/>
        </p:nvCxnSpPr>
        <p:spPr bwMode="auto">
          <a:xfrm flipV="1">
            <a:off x="7486651" y="5838825"/>
            <a:ext cx="15081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AutoShape 52">
            <a:extLst>
              <a:ext uri="{FF2B5EF4-FFF2-40B4-BE49-F238E27FC236}">
                <a16:creationId xmlns:a16="http://schemas.microsoft.com/office/drawing/2014/main" id="{FC624468-CDB8-B70A-CF2E-25089572AE96}"/>
              </a:ext>
            </a:extLst>
          </p:cNvPr>
          <p:cNvCxnSpPr>
            <a:cxnSpLocks noChangeAspect="1" noChangeShapeType="1"/>
            <a:stCxn id="24589" idx="0"/>
            <a:endCxn id="24583" idx="4"/>
          </p:cNvCxnSpPr>
          <p:nvPr/>
        </p:nvCxnSpPr>
        <p:spPr bwMode="auto">
          <a:xfrm flipV="1">
            <a:off x="3889376" y="5880101"/>
            <a:ext cx="3175" cy="2079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7" name="Oval 53">
            <a:extLst>
              <a:ext uri="{FF2B5EF4-FFF2-40B4-BE49-F238E27FC236}">
                <a16:creationId xmlns:a16="http://schemas.microsoft.com/office/drawing/2014/main" id="{B451DFAC-6AC0-9425-187C-0AD64FADD5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38864" y="5584825"/>
            <a:ext cx="79692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24598" name="Rectangle 54">
            <a:extLst>
              <a:ext uri="{FF2B5EF4-FFF2-40B4-BE49-F238E27FC236}">
                <a16:creationId xmlns:a16="http://schemas.microsoft.com/office/drawing/2014/main" id="{5BE7E0F8-32D4-CAA6-AF96-47ADF24E77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38863" y="60975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599" name="Rectangle 55">
            <a:extLst>
              <a:ext uri="{FF2B5EF4-FFF2-40B4-BE49-F238E27FC236}">
                <a16:creationId xmlns:a16="http://schemas.microsoft.com/office/drawing/2014/main" id="{2C7E70C2-4590-C3A3-934D-FFF0FB44B5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64338" y="6097588"/>
            <a:ext cx="150812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4600" name="AutoShape 56">
            <a:extLst>
              <a:ext uri="{FF2B5EF4-FFF2-40B4-BE49-F238E27FC236}">
                <a16:creationId xmlns:a16="http://schemas.microsoft.com/office/drawing/2014/main" id="{B5D3FB2D-DF6D-F562-8FD1-101FF8947D61}"/>
              </a:ext>
            </a:extLst>
          </p:cNvPr>
          <p:cNvCxnSpPr>
            <a:cxnSpLocks noChangeAspect="1" noChangeShapeType="1"/>
            <a:stCxn id="24586" idx="0"/>
          </p:cNvCxnSpPr>
          <p:nvPr/>
        </p:nvCxnSpPr>
        <p:spPr bwMode="auto">
          <a:xfrm flipV="1">
            <a:off x="5133975" y="5861051"/>
            <a:ext cx="190500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1" name="AutoShape 57">
            <a:extLst>
              <a:ext uri="{FF2B5EF4-FFF2-40B4-BE49-F238E27FC236}">
                <a16:creationId xmlns:a16="http://schemas.microsoft.com/office/drawing/2014/main" id="{3156B065-FBA7-32C1-6BCD-F41D7A6BAF7E}"/>
              </a:ext>
            </a:extLst>
          </p:cNvPr>
          <p:cNvCxnSpPr>
            <a:cxnSpLocks noChangeAspect="1" noChangeShapeType="1"/>
            <a:stCxn id="24598" idx="0"/>
          </p:cNvCxnSpPr>
          <p:nvPr/>
        </p:nvCxnSpPr>
        <p:spPr bwMode="auto">
          <a:xfrm flipV="1">
            <a:off x="6215064" y="5867401"/>
            <a:ext cx="200025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AutoShape 58">
            <a:extLst>
              <a:ext uri="{FF2B5EF4-FFF2-40B4-BE49-F238E27FC236}">
                <a16:creationId xmlns:a16="http://schemas.microsoft.com/office/drawing/2014/main" id="{01243D99-B31D-BD7E-16A8-EBDF6FD69CBB}"/>
              </a:ext>
            </a:extLst>
          </p:cNvPr>
          <p:cNvCxnSpPr>
            <a:cxnSpLocks noChangeAspect="1" noChangeShapeType="1"/>
            <a:stCxn id="24599" idx="0"/>
          </p:cNvCxnSpPr>
          <p:nvPr/>
        </p:nvCxnSpPr>
        <p:spPr bwMode="auto">
          <a:xfrm flipH="1" flipV="1">
            <a:off x="6689726" y="5853113"/>
            <a:ext cx="150813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3" name="AutoShape 59">
            <a:extLst>
              <a:ext uri="{FF2B5EF4-FFF2-40B4-BE49-F238E27FC236}">
                <a16:creationId xmlns:a16="http://schemas.microsoft.com/office/drawing/2014/main" id="{7BD415B9-BCED-146E-3F5E-769F55FE04F1}"/>
              </a:ext>
            </a:extLst>
          </p:cNvPr>
          <p:cNvCxnSpPr>
            <a:cxnSpLocks noChangeAspect="1" noChangeShapeType="1"/>
            <a:stCxn id="24587" idx="0"/>
          </p:cNvCxnSpPr>
          <p:nvPr/>
        </p:nvCxnSpPr>
        <p:spPr bwMode="auto">
          <a:xfrm flipH="1" flipV="1">
            <a:off x="5567364" y="5867401"/>
            <a:ext cx="134937" cy="220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4" name="Rectangle 60">
            <a:extLst>
              <a:ext uri="{FF2B5EF4-FFF2-40B4-BE49-F238E27FC236}">
                <a16:creationId xmlns:a16="http://schemas.microsoft.com/office/drawing/2014/main" id="{8600A624-E8F6-7FC2-2536-45EC7EAEC3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16876" y="6097588"/>
            <a:ext cx="149225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4605" name="AutoShape 61">
            <a:extLst>
              <a:ext uri="{FF2B5EF4-FFF2-40B4-BE49-F238E27FC236}">
                <a16:creationId xmlns:a16="http://schemas.microsoft.com/office/drawing/2014/main" id="{812AA6AC-F41A-C9B7-8B26-807B95A22B4F}"/>
              </a:ext>
            </a:extLst>
          </p:cNvPr>
          <p:cNvCxnSpPr>
            <a:cxnSpLocks noChangeShapeType="1"/>
            <a:stCxn id="24604" idx="0"/>
            <a:endCxn id="24580" idx="4"/>
          </p:cNvCxnSpPr>
          <p:nvPr/>
        </p:nvCxnSpPr>
        <p:spPr bwMode="auto">
          <a:xfrm flipV="1">
            <a:off x="8091489" y="5880101"/>
            <a:ext cx="7937" cy="2079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6" name="AutoShape 62">
            <a:extLst>
              <a:ext uri="{FF2B5EF4-FFF2-40B4-BE49-F238E27FC236}">
                <a16:creationId xmlns:a16="http://schemas.microsoft.com/office/drawing/2014/main" id="{0A583C5A-89C5-AA82-922C-BC4050F09680}"/>
              </a:ext>
            </a:extLst>
          </p:cNvPr>
          <p:cNvCxnSpPr>
            <a:cxnSpLocks noChangeShapeType="1"/>
            <a:stCxn id="24597" idx="0"/>
          </p:cNvCxnSpPr>
          <p:nvPr/>
        </p:nvCxnSpPr>
        <p:spPr bwMode="auto">
          <a:xfrm flipH="1" flipV="1">
            <a:off x="6188075" y="5359400"/>
            <a:ext cx="349250" cy="215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7" name="AutoShape 63">
            <a:extLst>
              <a:ext uri="{FF2B5EF4-FFF2-40B4-BE49-F238E27FC236}">
                <a16:creationId xmlns:a16="http://schemas.microsoft.com/office/drawing/2014/main" id="{D40C9944-D782-F04F-C3EA-8F20CC20EC67}"/>
              </a:ext>
            </a:extLst>
          </p:cNvPr>
          <p:cNvCxnSpPr>
            <a:cxnSpLocks noChangeShapeType="1"/>
            <a:stCxn id="24584" idx="0"/>
          </p:cNvCxnSpPr>
          <p:nvPr/>
        </p:nvCxnSpPr>
        <p:spPr bwMode="auto">
          <a:xfrm flipV="1">
            <a:off x="5456239" y="5353050"/>
            <a:ext cx="3127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8" name="Rectangle 64">
            <a:extLst>
              <a:ext uri="{FF2B5EF4-FFF2-40B4-BE49-F238E27FC236}">
                <a16:creationId xmlns:a16="http://schemas.microsoft.com/office/drawing/2014/main" id="{2FCD8E7B-F374-0AE7-1587-62BEE7A0B9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74101" y="6097588"/>
            <a:ext cx="150813" cy="15081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4609" name="AutoShape 65">
            <a:extLst>
              <a:ext uri="{FF2B5EF4-FFF2-40B4-BE49-F238E27FC236}">
                <a16:creationId xmlns:a16="http://schemas.microsoft.com/office/drawing/2014/main" id="{1D164033-87F6-06D5-D688-DC8D31B7B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4648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25ECB0E9-A8AA-882A-3310-44375A184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Underflow and Fusion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2B7A91BC-890B-740C-050D-8DCD365F74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143000"/>
            <a:ext cx="8077200" cy="2971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Deleting an item from a 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may cause an </a:t>
            </a:r>
            <a:r>
              <a:rPr lang="en-US" altLang="en-US" sz="2000">
                <a:solidFill>
                  <a:srgbClr val="C00000"/>
                </a:solidFill>
              </a:rPr>
              <a:t>underflow</a:t>
            </a:r>
            <a:r>
              <a:rPr lang="en-US" altLang="en-US" sz="2000"/>
              <a:t>, where node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becomes a 1-node with one child and no keys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To handle an underflow at node </a:t>
            </a:r>
            <a:r>
              <a:rPr lang="en-US" altLang="en-US" sz="2000" b="1" i="1">
                <a:latin typeface="Times New Roman" panose="02020603050405020304" pitchFamily="18" charset="0"/>
              </a:rPr>
              <a:t>v </a:t>
            </a:r>
            <a:r>
              <a:rPr lang="en-US" altLang="en-US" sz="2000"/>
              <a:t>with parent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r>
              <a:rPr lang="en-US" altLang="en-US" sz="2000"/>
              <a:t>, we consider two cases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Case 1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the adjacent siblings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are 2-nodes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Fusion operation</a:t>
            </a:r>
            <a:r>
              <a:rPr lang="en-US" altLang="en-US" sz="1800">
                <a:solidFill>
                  <a:schemeClr val="tx2"/>
                </a:solidFill>
              </a:rPr>
              <a:t>:</a:t>
            </a:r>
            <a:r>
              <a:rPr lang="en-US" altLang="en-US" sz="1800"/>
              <a:t> we merge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with an adjacent sibling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/>
              <a:t> and move an item from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to the merged node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i="1">
                <a:latin typeface="Times New Roman" panose="02020603050405020304" pitchFamily="18" charset="0"/>
              </a:rPr>
              <a:t>'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After a fusion, the underflow may propagate to the parent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5603" name="Oval 4">
            <a:extLst>
              <a:ext uri="{FF2B5EF4-FFF2-40B4-BE49-F238E27FC236}">
                <a16:creationId xmlns:a16="http://schemas.microsoft.com/office/drawing/2014/main" id="{A73DD9AE-BAF6-3824-A6C6-A6E2BE605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063" y="4495800"/>
            <a:ext cx="1295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9  14</a:t>
            </a:r>
          </a:p>
        </p:txBody>
      </p:sp>
      <p:sp>
        <p:nvSpPr>
          <p:cNvPr id="25604" name="Oval 5">
            <a:extLst>
              <a:ext uri="{FF2B5EF4-FFF2-40B4-BE49-F238E27FC236}">
                <a16:creationId xmlns:a16="http://schemas.microsoft.com/office/drawing/2014/main" id="{E93D7E15-6756-F0F8-817E-120BBFE76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257800"/>
            <a:ext cx="1295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2  5  7</a:t>
            </a:r>
          </a:p>
        </p:txBody>
      </p:sp>
      <p:sp>
        <p:nvSpPr>
          <p:cNvPr id="25605" name="Oval 6">
            <a:extLst>
              <a:ext uri="{FF2B5EF4-FFF2-40B4-BE49-F238E27FC236}">
                <a16:creationId xmlns:a16="http://schemas.microsoft.com/office/drawing/2014/main" id="{35AC78BB-A668-353D-91FE-90EB31679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257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25606" name="Oval 7">
            <a:extLst>
              <a:ext uri="{FF2B5EF4-FFF2-40B4-BE49-F238E27FC236}">
                <a16:creationId xmlns:a16="http://schemas.microsoft.com/office/drawing/2014/main" id="{F8AF0335-8EAA-52CD-57D1-73E50CE73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257800"/>
            <a:ext cx="6096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5607" name="Rectangle 8">
            <a:extLst>
              <a:ext uri="{FF2B5EF4-FFF2-40B4-BE49-F238E27FC236}">
                <a16:creationId xmlns:a16="http://schemas.microsoft.com/office/drawing/2014/main" id="{6F329F0A-13A0-0C24-1D0F-E9D0DDB85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8" name="Rectangle 9">
            <a:extLst>
              <a:ext uri="{FF2B5EF4-FFF2-40B4-BE49-F238E27FC236}">
                <a16:creationId xmlns:a16="http://schemas.microsoft.com/office/drawing/2014/main" id="{A542C760-1D3E-FDA3-51CF-6525D9591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9" name="Rectangle 10">
            <a:extLst>
              <a:ext uri="{FF2B5EF4-FFF2-40B4-BE49-F238E27FC236}">
                <a16:creationId xmlns:a16="http://schemas.microsoft.com/office/drawing/2014/main" id="{B5525697-E6B8-8912-9F16-80D55E19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0" name="Rectangle 11">
            <a:extLst>
              <a:ext uri="{FF2B5EF4-FFF2-40B4-BE49-F238E27FC236}">
                <a16:creationId xmlns:a16="http://schemas.microsoft.com/office/drawing/2014/main" id="{3FB69B00-CB95-298B-FA81-1DD945EB9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1" name="Rectangle 12">
            <a:extLst>
              <a:ext uri="{FF2B5EF4-FFF2-40B4-BE49-F238E27FC236}">
                <a16:creationId xmlns:a16="http://schemas.microsoft.com/office/drawing/2014/main" id="{C26EACEB-4E59-B57B-807E-8EA60EAD4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2" name="Rectangle 13">
            <a:extLst>
              <a:ext uri="{FF2B5EF4-FFF2-40B4-BE49-F238E27FC236}">
                <a16:creationId xmlns:a16="http://schemas.microsoft.com/office/drawing/2014/main" id="{E66EC30C-61A4-0B71-5E22-A92E27875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225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13" name="AutoShape 14">
            <a:extLst>
              <a:ext uri="{FF2B5EF4-FFF2-40B4-BE49-F238E27FC236}">
                <a16:creationId xmlns:a16="http://schemas.microsoft.com/office/drawing/2014/main" id="{4C6ACC4B-71C7-D041-5996-AE16662068EC}"/>
              </a:ext>
            </a:extLst>
          </p:cNvPr>
          <p:cNvCxnSpPr>
            <a:cxnSpLocks noChangeShapeType="1"/>
            <a:stCxn id="25607" idx="0"/>
            <a:endCxn id="25604" idx="3"/>
          </p:cNvCxnSpPr>
          <p:nvPr/>
        </p:nvCxnSpPr>
        <p:spPr bwMode="auto">
          <a:xfrm flipV="1">
            <a:off x="2095501" y="5592763"/>
            <a:ext cx="2270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4" name="AutoShape 15">
            <a:extLst>
              <a:ext uri="{FF2B5EF4-FFF2-40B4-BE49-F238E27FC236}">
                <a16:creationId xmlns:a16="http://schemas.microsoft.com/office/drawing/2014/main" id="{97AD6DE9-F2E3-66D1-004E-2B26108DCB36}"/>
              </a:ext>
            </a:extLst>
          </p:cNvPr>
          <p:cNvCxnSpPr>
            <a:cxnSpLocks noChangeShapeType="1"/>
            <a:stCxn id="25608" idx="0"/>
            <a:endCxn id="25604" idx="4"/>
          </p:cNvCxnSpPr>
          <p:nvPr/>
        </p:nvCxnSpPr>
        <p:spPr bwMode="auto">
          <a:xfrm flipV="1">
            <a:off x="2628900" y="5648325"/>
            <a:ext cx="1524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5" name="AutoShape 16">
            <a:extLst>
              <a:ext uri="{FF2B5EF4-FFF2-40B4-BE49-F238E27FC236}">
                <a16:creationId xmlns:a16="http://schemas.microsoft.com/office/drawing/2014/main" id="{56AF954B-2957-7D53-29C9-36D03EF7B716}"/>
              </a:ext>
            </a:extLst>
          </p:cNvPr>
          <p:cNvCxnSpPr>
            <a:cxnSpLocks noChangeShapeType="1"/>
            <a:stCxn id="25609" idx="0"/>
            <a:endCxn id="25604" idx="5"/>
          </p:cNvCxnSpPr>
          <p:nvPr/>
        </p:nvCxnSpPr>
        <p:spPr bwMode="auto">
          <a:xfrm flipH="1" flipV="1">
            <a:off x="3240088" y="5592763"/>
            <a:ext cx="1508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6" name="AutoShape 17">
            <a:extLst>
              <a:ext uri="{FF2B5EF4-FFF2-40B4-BE49-F238E27FC236}">
                <a16:creationId xmlns:a16="http://schemas.microsoft.com/office/drawing/2014/main" id="{EB934822-85DE-8F95-02BE-290111378616}"/>
              </a:ext>
            </a:extLst>
          </p:cNvPr>
          <p:cNvCxnSpPr>
            <a:cxnSpLocks noChangeShapeType="1"/>
            <a:stCxn id="25610" idx="0"/>
            <a:endCxn id="25605" idx="3"/>
          </p:cNvCxnSpPr>
          <p:nvPr/>
        </p:nvCxnSpPr>
        <p:spPr bwMode="auto">
          <a:xfrm flipV="1">
            <a:off x="400050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7" name="AutoShape 18">
            <a:extLst>
              <a:ext uri="{FF2B5EF4-FFF2-40B4-BE49-F238E27FC236}">
                <a16:creationId xmlns:a16="http://schemas.microsoft.com/office/drawing/2014/main" id="{FFBBC07A-7E4E-BAE2-5F7F-A452DCE7BDCD}"/>
              </a:ext>
            </a:extLst>
          </p:cNvPr>
          <p:cNvCxnSpPr>
            <a:cxnSpLocks noChangeShapeType="1"/>
            <a:stCxn id="25611" idx="0"/>
            <a:endCxn id="25605" idx="5"/>
          </p:cNvCxnSpPr>
          <p:nvPr/>
        </p:nvCxnSpPr>
        <p:spPr bwMode="auto">
          <a:xfrm flipH="1" flipV="1">
            <a:off x="466725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8" name="AutoShape 19">
            <a:extLst>
              <a:ext uri="{FF2B5EF4-FFF2-40B4-BE49-F238E27FC236}">
                <a16:creationId xmlns:a16="http://schemas.microsoft.com/office/drawing/2014/main" id="{7BDE1337-76CE-2685-69A6-C2DCBAC53D33}"/>
              </a:ext>
            </a:extLst>
          </p:cNvPr>
          <p:cNvCxnSpPr>
            <a:cxnSpLocks noChangeShapeType="1"/>
            <a:stCxn id="25612" idx="0"/>
            <a:endCxn id="25606" idx="4"/>
          </p:cNvCxnSpPr>
          <p:nvPr/>
        </p:nvCxnSpPr>
        <p:spPr bwMode="auto">
          <a:xfrm flipH="1" flipV="1">
            <a:off x="5334001" y="5657851"/>
            <a:ext cx="9525" cy="200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20">
            <a:extLst>
              <a:ext uri="{FF2B5EF4-FFF2-40B4-BE49-F238E27FC236}">
                <a16:creationId xmlns:a16="http://schemas.microsoft.com/office/drawing/2014/main" id="{9C699CC7-D059-A59B-CD19-18E991E418E5}"/>
              </a:ext>
            </a:extLst>
          </p:cNvPr>
          <p:cNvCxnSpPr>
            <a:cxnSpLocks noChangeShapeType="1"/>
            <a:stCxn id="25604" idx="0"/>
            <a:endCxn id="25603" idx="3"/>
          </p:cNvCxnSpPr>
          <p:nvPr/>
        </p:nvCxnSpPr>
        <p:spPr bwMode="auto">
          <a:xfrm flipV="1">
            <a:off x="2781301" y="4830763"/>
            <a:ext cx="701675" cy="417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21">
            <a:extLst>
              <a:ext uri="{FF2B5EF4-FFF2-40B4-BE49-F238E27FC236}">
                <a16:creationId xmlns:a16="http://schemas.microsoft.com/office/drawing/2014/main" id="{EC640647-C972-11C2-91ED-9C0EE9C91320}"/>
              </a:ext>
            </a:extLst>
          </p:cNvPr>
          <p:cNvCxnSpPr>
            <a:cxnSpLocks noChangeShapeType="1"/>
            <a:stCxn id="25605" idx="0"/>
            <a:endCxn id="25603" idx="4"/>
          </p:cNvCxnSpPr>
          <p:nvPr/>
        </p:nvCxnSpPr>
        <p:spPr bwMode="auto">
          <a:xfrm flipH="1" flipV="1">
            <a:off x="3941764" y="4886325"/>
            <a:ext cx="401637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22">
            <a:extLst>
              <a:ext uri="{FF2B5EF4-FFF2-40B4-BE49-F238E27FC236}">
                <a16:creationId xmlns:a16="http://schemas.microsoft.com/office/drawing/2014/main" id="{CF23A71D-713F-4589-D99B-3997DA92358A}"/>
              </a:ext>
            </a:extLst>
          </p:cNvPr>
          <p:cNvCxnSpPr>
            <a:cxnSpLocks noChangeShapeType="1"/>
            <a:stCxn id="25606" idx="0"/>
            <a:endCxn id="25603" idx="5"/>
          </p:cNvCxnSpPr>
          <p:nvPr/>
        </p:nvCxnSpPr>
        <p:spPr bwMode="auto">
          <a:xfrm flipH="1" flipV="1">
            <a:off x="4400550" y="4830764"/>
            <a:ext cx="933450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2" name="Rectangle 23">
            <a:extLst>
              <a:ext uri="{FF2B5EF4-FFF2-40B4-BE49-F238E27FC236}">
                <a16:creationId xmlns:a16="http://schemas.microsoft.com/office/drawing/2014/main" id="{BC31F347-318C-DA95-DE5E-9CED1D14A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3371" y="4267200"/>
            <a:ext cx="1715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5623" name="Rectangle 24">
            <a:extLst>
              <a:ext uri="{FF2B5EF4-FFF2-40B4-BE49-F238E27FC236}">
                <a16:creationId xmlns:a16="http://schemas.microsoft.com/office/drawing/2014/main" id="{6F2BDE8E-A23B-0B0F-8416-E3F97F905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741" y="4953000"/>
            <a:ext cx="1362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5624" name="Oval 25">
            <a:extLst>
              <a:ext uri="{FF2B5EF4-FFF2-40B4-BE49-F238E27FC236}">
                <a16:creationId xmlns:a16="http://schemas.microsoft.com/office/drawing/2014/main" id="{656AB517-6689-74AB-ED4E-85E869804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495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5625" name="Oval 26">
            <a:extLst>
              <a:ext uri="{FF2B5EF4-FFF2-40B4-BE49-F238E27FC236}">
                <a16:creationId xmlns:a16="http://schemas.microsoft.com/office/drawing/2014/main" id="{E142D271-12E7-44A7-3956-785DF68ED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4900" y="5257800"/>
            <a:ext cx="12954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10  14</a:t>
            </a:r>
          </a:p>
        </p:txBody>
      </p:sp>
      <p:sp>
        <p:nvSpPr>
          <p:cNvPr id="25626" name="Rectangle 27">
            <a:extLst>
              <a:ext uri="{FF2B5EF4-FFF2-40B4-BE49-F238E27FC236}">
                <a16:creationId xmlns:a16="http://schemas.microsoft.com/office/drawing/2014/main" id="{920A5F9F-C7DF-F90A-12FD-D5A1DA558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27" name="Rectangle 28">
            <a:extLst>
              <a:ext uri="{FF2B5EF4-FFF2-40B4-BE49-F238E27FC236}">
                <a16:creationId xmlns:a16="http://schemas.microsoft.com/office/drawing/2014/main" id="{D1527B74-FE89-0838-9AF6-F9BAC1EB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8775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28" name="Rectangle 29">
            <a:extLst>
              <a:ext uri="{FF2B5EF4-FFF2-40B4-BE49-F238E27FC236}">
                <a16:creationId xmlns:a16="http://schemas.microsoft.com/office/drawing/2014/main" id="{1898B877-DE79-1343-4CE7-F10C1BF3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29" name="AutoShape 30">
            <a:extLst>
              <a:ext uri="{FF2B5EF4-FFF2-40B4-BE49-F238E27FC236}">
                <a16:creationId xmlns:a16="http://schemas.microsoft.com/office/drawing/2014/main" id="{D9698184-7CD2-A457-C7DB-BF94852C91E8}"/>
              </a:ext>
            </a:extLst>
          </p:cNvPr>
          <p:cNvCxnSpPr>
            <a:cxnSpLocks noChangeShapeType="1"/>
            <a:stCxn id="25626" idx="0"/>
            <a:endCxn id="25625" idx="3"/>
          </p:cNvCxnSpPr>
          <p:nvPr/>
        </p:nvCxnSpPr>
        <p:spPr bwMode="auto">
          <a:xfrm flipV="1">
            <a:off x="8677275" y="5602289"/>
            <a:ext cx="2365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0" name="AutoShape 31">
            <a:extLst>
              <a:ext uri="{FF2B5EF4-FFF2-40B4-BE49-F238E27FC236}">
                <a16:creationId xmlns:a16="http://schemas.microsoft.com/office/drawing/2014/main" id="{D96C569C-FD96-189B-A854-3BDE4C497F1D}"/>
              </a:ext>
            </a:extLst>
          </p:cNvPr>
          <p:cNvCxnSpPr>
            <a:cxnSpLocks noChangeShapeType="1"/>
            <a:stCxn id="25627" idx="0"/>
            <a:endCxn id="25625" idx="4"/>
          </p:cNvCxnSpPr>
          <p:nvPr/>
        </p:nvCxnSpPr>
        <p:spPr bwMode="auto">
          <a:xfrm flipV="1">
            <a:off x="9363076" y="5657851"/>
            <a:ext cx="9525" cy="200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1" name="AutoShape 32">
            <a:extLst>
              <a:ext uri="{FF2B5EF4-FFF2-40B4-BE49-F238E27FC236}">
                <a16:creationId xmlns:a16="http://schemas.microsoft.com/office/drawing/2014/main" id="{3507D8EC-BEEC-10B8-89C0-5A9CFB51B6F9}"/>
              </a:ext>
            </a:extLst>
          </p:cNvPr>
          <p:cNvCxnSpPr>
            <a:cxnSpLocks noChangeShapeType="1"/>
            <a:stCxn id="25628" idx="0"/>
            <a:endCxn id="25625" idx="5"/>
          </p:cNvCxnSpPr>
          <p:nvPr/>
        </p:nvCxnSpPr>
        <p:spPr bwMode="auto">
          <a:xfrm flipH="1" flipV="1">
            <a:off x="9831388" y="5602289"/>
            <a:ext cx="188912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2" name="AutoShape 33">
            <a:extLst>
              <a:ext uri="{FF2B5EF4-FFF2-40B4-BE49-F238E27FC236}">
                <a16:creationId xmlns:a16="http://schemas.microsoft.com/office/drawing/2014/main" id="{96A8B06B-262B-4B28-65A0-9C5F9CE6A00C}"/>
              </a:ext>
            </a:extLst>
          </p:cNvPr>
          <p:cNvCxnSpPr>
            <a:cxnSpLocks noChangeShapeType="1"/>
            <a:stCxn id="25640" idx="0"/>
            <a:endCxn id="25624" idx="3"/>
          </p:cNvCxnSpPr>
          <p:nvPr/>
        </p:nvCxnSpPr>
        <p:spPr bwMode="auto">
          <a:xfrm flipV="1">
            <a:off x="7429500" y="4830763"/>
            <a:ext cx="628650" cy="417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3" name="AutoShape 34">
            <a:extLst>
              <a:ext uri="{FF2B5EF4-FFF2-40B4-BE49-F238E27FC236}">
                <a16:creationId xmlns:a16="http://schemas.microsoft.com/office/drawing/2014/main" id="{B9491291-658A-2EA6-A380-72F1C3E41776}"/>
              </a:ext>
            </a:extLst>
          </p:cNvPr>
          <p:cNvCxnSpPr>
            <a:cxnSpLocks noChangeShapeType="1"/>
            <a:stCxn id="25625" idx="0"/>
            <a:endCxn id="25624" idx="5"/>
          </p:cNvCxnSpPr>
          <p:nvPr/>
        </p:nvCxnSpPr>
        <p:spPr bwMode="auto">
          <a:xfrm flipH="1" flipV="1">
            <a:off x="8705850" y="4830764"/>
            <a:ext cx="666750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4" name="Rectangle 35">
            <a:extLst>
              <a:ext uri="{FF2B5EF4-FFF2-40B4-BE49-F238E27FC236}">
                <a16:creationId xmlns:a16="http://schemas.microsoft.com/office/drawing/2014/main" id="{BBD7E45E-5DB6-F2BE-3457-55FAFE36E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1571" y="4267200"/>
            <a:ext cx="1715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5635" name="Rectangle 36">
            <a:extLst>
              <a:ext uri="{FF2B5EF4-FFF2-40B4-BE49-F238E27FC236}">
                <a16:creationId xmlns:a16="http://schemas.microsoft.com/office/drawing/2014/main" id="{A4901D0C-82E1-9121-E5E9-90475E269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7399" y="4953000"/>
            <a:ext cx="2019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i="1">
                <a:solidFill>
                  <a:schemeClr val="tx2"/>
                </a:solidFill>
                <a:latin typeface="Times New Roman" panose="02020603050405020304" pitchFamily="18" charset="0"/>
              </a:rPr>
              <a:t>'</a:t>
            </a:r>
          </a:p>
        </p:txBody>
      </p:sp>
      <p:sp>
        <p:nvSpPr>
          <p:cNvPr id="25636" name="Rectangle 37">
            <a:extLst>
              <a:ext uri="{FF2B5EF4-FFF2-40B4-BE49-F238E27FC236}">
                <a16:creationId xmlns:a16="http://schemas.microsoft.com/office/drawing/2014/main" id="{5E5296B3-0ACA-0797-F0D2-273E79FE5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0208" y="4953000"/>
            <a:ext cx="2051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5637" name="AutoShape 38">
            <a:extLst>
              <a:ext uri="{FF2B5EF4-FFF2-40B4-BE49-F238E27FC236}">
                <a16:creationId xmlns:a16="http://schemas.microsoft.com/office/drawing/2014/main" id="{4B58D53E-0107-73BE-B751-746EBEBB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1" y="4953001"/>
            <a:ext cx="633413" cy="314325"/>
          </a:xfrm>
          <a:prstGeom prst="rightArrow">
            <a:avLst>
              <a:gd name="adj1" fmla="val 50000"/>
              <a:gd name="adj2" fmla="val 50379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38" name="Rectangle 39">
            <a:extLst>
              <a:ext uri="{FF2B5EF4-FFF2-40B4-BE49-F238E27FC236}">
                <a16:creationId xmlns:a16="http://schemas.microsoft.com/office/drawing/2014/main" id="{967018F8-1153-45A4-1ACD-C2E88962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39" name="AutoShape 40">
            <a:extLst>
              <a:ext uri="{FF2B5EF4-FFF2-40B4-BE49-F238E27FC236}">
                <a16:creationId xmlns:a16="http://schemas.microsoft.com/office/drawing/2014/main" id="{F696565E-D7F1-5F41-F0AA-030E6B381AAC}"/>
              </a:ext>
            </a:extLst>
          </p:cNvPr>
          <p:cNvCxnSpPr>
            <a:cxnSpLocks noChangeShapeType="1"/>
            <a:stCxn id="25638" idx="0"/>
            <a:endCxn id="25604" idx="4"/>
          </p:cNvCxnSpPr>
          <p:nvPr/>
        </p:nvCxnSpPr>
        <p:spPr bwMode="auto">
          <a:xfrm flipH="1" flipV="1">
            <a:off x="2781300" y="5648325"/>
            <a:ext cx="2286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40" name="Oval 41">
            <a:extLst>
              <a:ext uri="{FF2B5EF4-FFF2-40B4-BE49-F238E27FC236}">
                <a16:creationId xmlns:a16="http://schemas.microsoft.com/office/drawing/2014/main" id="{FF349DA5-1F05-1FA5-B054-B0B0939E8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257800"/>
            <a:ext cx="1295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2  5  7</a:t>
            </a:r>
          </a:p>
        </p:txBody>
      </p:sp>
      <p:sp>
        <p:nvSpPr>
          <p:cNvPr id="25641" name="Rectangle 42">
            <a:extLst>
              <a:ext uri="{FF2B5EF4-FFF2-40B4-BE49-F238E27FC236}">
                <a16:creationId xmlns:a16="http://schemas.microsoft.com/office/drawing/2014/main" id="{5FD6E536-542F-8312-A4A5-859591A92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42" name="Rectangle 43">
            <a:extLst>
              <a:ext uri="{FF2B5EF4-FFF2-40B4-BE49-F238E27FC236}">
                <a16:creationId xmlns:a16="http://schemas.microsoft.com/office/drawing/2014/main" id="{603E1E83-7C02-84D0-B777-FF9A594EC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43" name="Rectangle 44">
            <a:extLst>
              <a:ext uri="{FF2B5EF4-FFF2-40B4-BE49-F238E27FC236}">
                <a16:creationId xmlns:a16="http://schemas.microsoft.com/office/drawing/2014/main" id="{B405F0A8-D49A-975E-6F8D-879E7B8CB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44" name="AutoShape 45">
            <a:extLst>
              <a:ext uri="{FF2B5EF4-FFF2-40B4-BE49-F238E27FC236}">
                <a16:creationId xmlns:a16="http://schemas.microsoft.com/office/drawing/2014/main" id="{A5741FA0-95AC-DCD1-93B5-42A703073EE5}"/>
              </a:ext>
            </a:extLst>
          </p:cNvPr>
          <p:cNvCxnSpPr>
            <a:cxnSpLocks noChangeShapeType="1"/>
            <a:stCxn id="25641" idx="0"/>
            <a:endCxn id="25640" idx="3"/>
          </p:cNvCxnSpPr>
          <p:nvPr/>
        </p:nvCxnSpPr>
        <p:spPr bwMode="auto">
          <a:xfrm flipV="1">
            <a:off x="6743701" y="5592763"/>
            <a:ext cx="2270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5" name="AutoShape 46">
            <a:extLst>
              <a:ext uri="{FF2B5EF4-FFF2-40B4-BE49-F238E27FC236}">
                <a16:creationId xmlns:a16="http://schemas.microsoft.com/office/drawing/2014/main" id="{C52F7EB0-D292-C0CC-5426-228121A4AE96}"/>
              </a:ext>
            </a:extLst>
          </p:cNvPr>
          <p:cNvCxnSpPr>
            <a:cxnSpLocks noChangeShapeType="1"/>
            <a:stCxn id="25642" idx="0"/>
            <a:endCxn id="25640" idx="4"/>
          </p:cNvCxnSpPr>
          <p:nvPr/>
        </p:nvCxnSpPr>
        <p:spPr bwMode="auto">
          <a:xfrm flipV="1">
            <a:off x="7277100" y="5648325"/>
            <a:ext cx="1524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6" name="AutoShape 47">
            <a:extLst>
              <a:ext uri="{FF2B5EF4-FFF2-40B4-BE49-F238E27FC236}">
                <a16:creationId xmlns:a16="http://schemas.microsoft.com/office/drawing/2014/main" id="{B3D5080A-6F9A-B09C-1099-692871907AD4}"/>
              </a:ext>
            </a:extLst>
          </p:cNvPr>
          <p:cNvCxnSpPr>
            <a:cxnSpLocks noChangeShapeType="1"/>
            <a:stCxn id="25643" idx="0"/>
            <a:endCxn id="25640" idx="5"/>
          </p:cNvCxnSpPr>
          <p:nvPr/>
        </p:nvCxnSpPr>
        <p:spPr bwMode="auto">
          <a:xfrm flipH="1" flipV="1">
            <a:off x="7888288" y="5592763"/>
            <a:ext cx="1508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47" name="Rectangle 48">
            <a:extLst>
              <a:ext uri="{FF2B5EF4-FFF2-40B4-BE49-F238E27FC236}">
                <a16:creationId xmlns:a16="http://schemas.microsoft.com/office/drawing/2014/main" id="{948E756F-BC95-308B-DED0-72A94EC59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48" name="AutoShape 49">
            <a:extLst>
              <a:ext uri="{FF2B5EF4-FFF2-40B4-BE49-F238E27FC236}">
                <a16:creationId xmlns:a16="http://schemas.microsoft.com/office/drawing/2014/main" id="{E86FEF97-431F-068C-A5A5-4615EDF25C9F}"/>
              </a:ext>
            </a:extLst>
          </p:cNvPr>
          <p:cNvCxnSpPr>
            <a:cxnSpLocks noChangeShapeType="1"/>
            <a:stCxn id="25647" idx="0"/>
            <a:endCxn id="25640" idx="4"/>
          </p:cNvCxnSpPr>
          <p:nvPr/>
        </p:nvCxnSpPr>
        <p:spPr bwMode="auto">
          <a:xfrm flipH="1" flipV="1">
            <a:off x="7429500" y="5648325"/>
            <a:ext cx="2286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CD52A9AC-2D50-937C-D1EA-E3E110DA2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Underflow and Transfer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DAF8FF76-BA35-400C-68A1-F35658937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524000"/>
            <a:ext cx="79248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C00000"/>
                </a:solidFill>
              </a:rPr>
              <a:t>Case 2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an adjacent sibling </a:t>
            </a:r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  <a:r>
              <a:rPr lang="en-US" altLang="en-US" sz="2000"/>
              <a:t>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is a 3-node or 4-node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Transfer operation</a:t>
            </a:r>
            <a:r>
              <a:rPr lang="en-US" altLang="en-US" sz="1800">
                <a:solidFill>
                  <a:schemeClr val="tx2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/>
              <a:t>		1.  we move a child of </a:t>
            </a:r>
            <a:r>
              <a:rPr lang="en-US" altLang="en-US" sz="1600" b="1" i="1">
                <a:latin typeface="Times New Roman" panose="02020603050405020304" pitchFamily="18" charset="0"/>
              </a:rPr>
              <a:t>w</a:t>
            </a:r>
            <a:r>
              <a:rPr lang="en-US" altLang="en-US" sz="1600"/>
              <a:t> to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  <a:r>
              <a:rPr lang="en-US" altLang="en-US" sz="1600"/>
              <a:t>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/>
              <a:t>		2.  we move an item from </a:t>
            </a:r>
            <a:r>
              <a:rPr lang="en-US" altLang="en-US" sz="1600" b="1" i="1">
                <a:latin typeface="Times New Roman" panose="02020603050405020304" pitchFamily="18" charset="0"/>
              </a:rPr>
              <a:t>u</a:t>
            </a:r>
            <a:r>
              <a:rPr lang="en-US" altLang="en-US" sz="1600"/>
              <a:t> to </a:t>
            </a:r>
            <a:r>
              <a:rPr lang="en-US" altLang="en-US" sz="1600" b="1" i="1">
                <a:latin typeface="Times New Roman" panose="02020603050405020304" pitchFamily="18" charset="0"/>
              </a:rPr>
              <a:t>v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 b="1" i="1">
                <a:latin typeface="Times New Roman" panose="02020603050405020304" pitchFamily="18" charset="0"/>
              </a:rPr>
              <a:t>		</a:t>
            </a:r>
            <a:r>
              <a:rPr lang="en-US" altLang="en-US" sz="1600"/>
              <a:t>3.  we move an item from </a:t>
            </a:r>
            <a:r>
              <a:rPr lang="en-US" altLang="en-US" sz="1600" b="1" i="1">
                <a:latin typeface="Times New Roman" panose="02020603050405020304" pitchFamily="18" charset="0"/>
              </a:rPr>
              <a:t>w</a:t>
            </a:r>
            <a:r>
              <a:rPr lang="en-US" altLang="en-US" sz="1600"/>
              <a:t> to </a:t>
            </a:r>
            <a:r>
              <a:rPr lang="en-US" altLang="en-US" sz="1600" b="1" i="1">
                <a:latin typeface="Times New Roman" panose="02020603050405020304" pitchFamily="18" charset="0"/>
              </a:rPr>
              <a:t>u</a:t>
            </a: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After a transfer, no underflow occurs</a:t>
            </a:r>
          </a:p>
        </p:txBody>
      </p:sp>
      <p:sp>
        <p:nvSpPr>
          <p:cNvPr id="26627" name="Oval 4">
            <a:extLst>
              <a:ext uri="{FF2B5EF4-FFF2-40B4-BE49-F238E27FC236}">
                <a16:creationId xmlns:a16="http://schemas.microsoft.com/office/drawing/2014/main" id="{5C18C1CE-A7B9-40A8-7CAC-BE42AC0A7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95800"/>
            <a:ext cx="9906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4  </a:t>
            </a: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6628" name="Oval 5">
            <a:extLst>
              <a:ext uri="{FF2B5EF4-FFF2-40B4-BE49-F238E27FC236}">
                <a16:creationId xmlns:a16="http://schemas.microsoft.com/office/drawing/2014/main" id="{16351299-BE50-69EF-4EEB-8EE09C7F6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257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6  </a:t>
            </a: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6629" name="Oval 6">
            <a:extLst>
              <a:ext uri="{FF2B5EF4-FFF2-40B4-BE49-F238E27FC236}">
                <a16:creationId xmlns:a16="http://schemas.microsoft.com/office/drawing/2014/main" id="{ABA90855-5117-6521-5CCD-AB21E1ADC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257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6630" name="Oval 7">
            <a:extLst>
              <a:ext uri="{FF2B5EF4-FFF2-40B4-BE49-F238E27FC236}">
                <a16:creationId xmlns:a16="http://schemas.microsoft.com/office/drawing/2014/main" id="{B0DE3EAE-F77D-6C75-78B0-D212CBC1C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257800"/>
            <a:ext cx="6096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6631" name="Rectangle 8">
            <a:extLst>
              <a:ext uri="{FF2B5EF4-FFF2-40B4-BE49-F238E27FC236}">
                <a16:creationId xmlns:a16="http://schemas.microsoft.com/office/drawing/2014/main" id="{DBB03294-9D8F-E7E4-28AC-FB7E59800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2" name="Rectangle 9">
            <a:extLst>
              <a:ext uri="{FF2B5EF4-FFF2-40B4-BE49-F238E27FC236}">
                <a16:creationId xmlns:a16="http://schemas.microsoft.com/office/drawing/2014/main" id="{5C4C7B49-278C-5F4D-C6FA-2A03A5237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3" name="Rectangle 10">
            <a:extLst>
              <a:ext uri="{FF2B5EF4-FFF2-40B4-BE49-F238E27FC236}">
                <a16:creationId xmlns:a16="http://schemas.microsoft.com/office/drawing/2014/main" id="{72A46143-F511-6028-A15E-FFDA8A908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4" name="Rectangle 11">
            <a:extLst>
              <a:ext uri="{FF2B5EF4-FFF2-40B4-BE49-F238E27FC236}">
                <a16:creationId xmlns:a16="http://schemas.microsoft.com/office/drawing/2014/main" id="{4A8B13E2-8DBB-95E6-E55B-E47106C3B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5" name="Rectangle 12">
            <a:extLst>
              <a:ext uri="{FF2B5EF4-FFF2-40B4-BE49-F238E27FC236}">
                <a16:creationId xmlns:a16="http://schemas.microsoft.com/office/drawing/2014/main" id="{905E7EF1-0A4F-981A-9053-55A69C255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6" name="Rectangle 13">
            <a:extLst>
              <a:ext uri="{FF2B5EF4-FFF2-40B4-BE49-F238E27FC236}">
                <a16:creationId xmlns:a16="http://schemas.microsoft.com/office/drawing/2014/main" id="{1747FC54-8677-89E5-0150-0872B00F3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37" name="AutoShape 14">
            <a:extLst>
              <a:ext uri="{FF2B5EF4-FFF2-40B4-BE49-F238E27FC236}">
                <a16:creationId xmlns:a16="http://schemas.microsoft.com/office/drawing/2014/main" id="{75370677-EA1F-C407-5716-2045E462A34D}"/>
              </a:ext>
            </a:extLst>
          </p:cNvPr>
          <p:cNvCxnSpPr>
            <a:cxnSpLocks noChangeShapeType="1"/>
            <a:stCxn id="26631" idx="0"/>
            <a:endCxn id="26628" idx="3"/>
          </p:cNvCxnSpPr>
          <p:nvPr/>
        </p:nvCxnSpPr>
        <p:spPr bwMode="auto">
          <a:xfrm flipV="1">
            <a:off x="3467100" y="5592763"/>
            <a:ext cx="2476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15">
            <a:extLst>
              <a:ext uri="{FF2B5EF4-FFF2-40B4-BE49-F238E27FC236}">
                <a16:creationId xmlns:a16="http://schemas.microsoft.com/office/drawing/2014/main" id="{1C0E0DD1-AA54-4037-8F00-633660EB18AF}"/>
              </a:ext>
            </a:extLst>
          </p:cNvPr>
          <p:cNvCxnSpPr>
            <a:cxnSpLocks noChangeShapeType="1"/>
            <a:stCxn id="26632" idx="0"/>
            <a:endCxn id="26628" idx="4"/>
          </p:cNvCxnSpPr>
          <p:nvPr/>
        </p:nvCxnSpPr>
        <p:spPr bwMode="auto">
          <a:xfrm flipV="1">
            <a:off x="4000500" y="5648325"/>
            <a:ext cx="38100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6">
            <a:extLst>
              <a:ext uri="{FF2B5EF4-FFF2-40B4-BE49-F238E27FC236}">
                <a16:creationId xmlns:a16="http://schemas.microsoft.com/office/drawing/2014/main" id="{24AF9204-3F50-B760-A14A-8A60006C23AF}"/>
              </a:ext>
            </a:extLst>
          </p:cNvPr>
          <p:cNvCxnSpPr>
            <a:cxnSpLocks noChangeShapeType="1"/>
            <a:stCxn id="26633" idx="0"/>
            <a:endCxn id="26628" idx="5"/>
          </p:cNvCxnSpPr>
          <p:nvPr/>
        </p:nvCxnSpPr>
        <p:spPr bwMode="auto">
          <a:xfrm flipH="1" flipV="1">
            <a:off x="4362450" y="5592763"/>
            <a:ext cx="952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7">
            <a:extLst>
              <a:ext uri="{FF2B5EF4-FFF2-40B4-BE49-F238E27FC236}">
                <a16:creationId xmlns:a16="http://schemas.microsoft.com/office/drawing/2014/main" id="{7143EEBF-6F33-89BA-C737-CF0068284499}"/>
              </a:ext>
            </a:extLst>
          </p:cNvPr>
          <p:cNvCxnSpPr>
            <a:cxnSpLocks noChangeShapeType="1"/>
            <a:stCxn id="26634" idx="0"/>
            <a:endCxn id="26629" idx="3"/>
          </p:cNvCxnSpPr>
          <p:nvPr/>
        </p:nvCxnSpPr>
        <p:spPr bwMode="auto">
          <a:xfrm flipV="1">
            <a:off x="224790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18">
            <a:extLst>
              <a:ext uri="{FF2B5EF4-FFF2-40B4-BE49-F238E27FC236}">
                <a16:creationId xmlns:a16="http://schemas.microsoft.com/office/drawing/2014/main" id="{AAE12CD1-2F6D-DE80-D474-B9EE4C49172F}"/>
              </a:ext>
            </a:extLst>
          </p:cNvPr>
          <p:cNvCxnSpPr>
            <a:cxnSpLocks noChangeShapeType="1"/>
            <a:stCxn id="26635" idx="0"/>
            <a:endCxn id="26629" idx="5"/>
          </p:cNvCxnSpPr>
          <p:nvPr/>
        </p:nvCxnSpPr>
        <p:spPr bwMode="auto">
          <a:xfrm flipH="1" flipV="1">
            <a:off x="291465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2" name="AutoShape 19">
            <a:extLst>
              <a:ext uri="{FF2B5EF4-FFF2-40B4-BE49-F238E27FC236}">
                <a16:creationId xmlns:a16="http://schemas.microsoft.com/office/drawing/2014/main" id="{7B52702E-7426-A48D-55BF-A36FB42A6A61}"/>
              </a:ext>
            </a:extLst>
          </p:cNvPr>
          <p:cNvCxnSpPr>
            <a:cxnSpLocks noChangeShapeType="1"/>
            <a:stCxn id="26636" idx="0"/>
            <a:endCxn id="26630" idx="4"/>
          </p:cNvCxnSpPr>
          <p:nvPr/>
        </p:nvCxnSpPr>
        <p:spPr bwMode="auto">
          <a:xfrm flipH="1" flipV="1">
            <a:off x="5105401" y="5657851"/>
            <a:ext cx="9525" cy="200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3" name="AutoShape 20">
            <a:extLst>
              <a:ext uri="{FF2B5EF4-FFF2-40B4-BE49-F238E27FC236}">
                <a16:creationId xmlns:a16="http://schemas.microsoft.com/office/drawing/2014/main" id="{5C6E48CD-44FF-88C5-69E6-936E8D92896B}"/>
              </a:ext>
            </a:extLst>
          </p:cNvPr>
          <p:cNvCxnSpPr>
            <a:cxnSpLocks noChangeShapeType="1"/>
            <a:stCxn id="26628" idx="0"/>
            <a:endCxn id="26627" idx="4"/>
          </p:cNvCxnSpPr>
          <p:nvPr/>
        </p:nvCxnSpPr>
        <p:spPr bwMode="auto">
          <a:xfrm flipH="1" flipV="1">
            <a:off x="3924300" y="4886325"/>
            <a:ext cx="11430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21">
            <a:extLst>
              <a:ext uri="{FF2B5EF4-FFF2-40B4-BE49-F238E27FC236}">
                <a16:creationId xmlns:a16="http://schemas.microsoft.com/office/drawing/2014/main" id="{09356EF8-DAC4-7EE3-683D-5565888C36DE}"/>
              </a:ext>
            </a:extLst>
          </p:cNvPr>
          <p:cNvCxnSpPr>
            <a:cxnSpLocks noChangeShapeType="1"/>
            <a:stCxn id="26629" idx="0"/>
            <a:endCxn id="26627" idx="3"/>
          </p:cNvCxnSpPr>
          <p:nvPr/>
        </p:nvCxnSpPr>
        <p:spPr bwMode="auto">
          <a:xfrm flipV="1">
            <a:off x="2590801" y="4830763"/>
            <a:ext cx="982663" cy="417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5" name="AutoShape 22">
            <a:extLst>
              <a:ext uri="{FF2B5EF4-FFF2-40B4-BE49-F238E27FC236}">
                <a16:creationId xmlns:a16="http://schemas.microsoft.com/office/drawing/2014/main" id="{8A1B20B8-06D5-7733-8F8A-5B553C18952D}"/>
              </a:ext>
            </a:extLst>
          </p:cNvPr>
          <p:cNvCxnSpPr>
            <a:cxnSpLocks noChangeShapeType="1"/>
            <a:stCxn id="26630" idx="0"/>
            <a:endCxn id="26627" idx="5"/>
          </p:cNvCxnSpPr>
          <p:nvPr/>
        </p:nvCxnSpPr>
        <p:spPr bwMode="auto">
          <a:xfrm flipH="1" flipV="1">
            <a:off x="4275138" y="4830764"/>
            <a:ext cx="830262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6" name="Rectangle 23">
            <a:extLst>
              <a:ext uri="{FF2B5EF4-FFF2-40B4-BE49-F238E27FC236}">
                <a16:creationId xmlns:a16="http://schemas.microsoft.com/office/drawing/2014/main" id="{B79C3BBE-0D78-E6DE-3492-0D2E46CE7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108" y="4114800"/>
            <a:ext cx="1715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6647" name="Rectangle 24">
            <a:extLst>
              <a:ext uri="{FF2B5EF4-FFF2-40B4-BE49-F238E27FC236}">
                <a16:creationId xmlns:a16="http://schemas.microsoft.com/office/drawing/2014/main" id="{37AA5785-FB71-5C41-BEDC-E7702949A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141" y="4953000"/>
            <a:ext cx="1362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6648" name="Rectangle 25">
            <a:extLst>
              <a:ext uri="{FF2B5EF4-FFF2-40B4-BE49-F238E27FC236}">
                <a16:creationId xmlns:a16="http://schemas.microsoft.com/office/drawing/2014/main" id="{149C5A1D-376A-9C46-E23E-8E8776CDD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6208" y="4953000"/>
            <a:ext cx="2051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6649" name="AutoShape 26">
            <a:extLst>
              <a:ext uri="{FF2B5EF4-FFF2-40B4-BE49-F238E27FC236}">
                <a16:creationId xmlns:a16="http://schemas.microsoft.com/office/drawing/2014/main" id="{BB346418-B09F-8854-BF96-A6AC8922D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1" y="4953001"/>
            <a:ext cx="633413" cy="314325"/>
          </a:xfrm>
          <a:prstGeom prst="rightArrow">
            <a:avLst>
              <a:gd name="adj1" fmla="val 50000"/>
              <a:gd name="adj2" fmla="val 50379"/>
            </a:avLst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0" name="Oval 27">
            <a:extLst>
              <a:ext uri="{FF2B5EF4-FFF2-40B4-BE49-F238E27FC236}">
                <a16:creationId xmlns:a16="http://schemas.microsoft.com/office/drawing/2014/main" id="{653F1166-B3AC-8DC4-98EF-9D0C753A3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495800"/>
            <a:ext cx="9906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4  </a:t>
            </a: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6651" name="Oval 28">
            <a:extLst>
              <a:ext uri="{FF2B5EF4-FFF2-40B4-BE49-F238E27FC236}">
                <a16:creationId xmlns:a16="http://schemas.microsoft.com/office/drawing/2014/main" id="{258B6C1A-3831-6096-0D69-E4E7651BE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257800"/>
            <a:ext cx="6858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6652" name="Oval 29">
            <a:extLst>
              <a:ext uri="{FF2B5EF4-FFF2-40B4-BE49-F238E27FC236}">
                <a16:creationId xmlns:a16="http://schemas.microsoft.com/office/drawing/2014/main" id="{564F5A61-468C-5EA9-3592-D8157E469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257800"/>
            <a:ext cx="9144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6653" name="Oval 30">
            <a:extLst>
              <a:ext uri="{FF2B5EF4-FFF2-40B4-BE49-F238E27FC236}">
                <a16:creationId xmlns:a16="http://schemas.microsoft.com/office/drawing/2014/main" id="{FC6F394C-3693-F27F-EE74-8B260237E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5257800"/>
            <a:ext cx="609600" cy="381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6654" name="Rectangle 31">
            <a:extLst>
              <a:ext uri="{FF2B5EF4-FFF2-40B4-BE49-F238E27FC236}">
                <a16:creationId xmlns:a16="http://schemas.microsoft.com/office/drawing/2014/main" id="{6894665D-0412-05EE-7C93-714DB153A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5" name="Rectangle 32">
            <a:extLst>
              <a:ext uri="{FF2B5EF4-FFF2-40B4-BE49-F238E27FC236}">
                <a16:creationId xmlns:a16="http://schemas.microsoft.com/office/drawing/2014/main" id="{E8668BE2-CD84-9489-E360-A6FB782A1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6" name="Rectangle 33">
            <a:extLst>
              <a:ext uri="{FF2B5EF4-FFF2-40B4-BE49-F238E27FC236}">
                <a16:creationId xmlns:a16="http://schemas.microsoft.com/office/drawing/2014/main" id="{BAA9960F-EC1F-2ACB-4F11-DD8F83E1F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7" name="Rectangle 34">
            <a:extLst>
              <a:ext uri="{FF2B5EF4-FFF2-40B4-BE49-F238E27FC236}">
                <a16:creationId xmlns:a16="http://schemas.microsoft.com/office/drawing/2014/main" id="{2F0F9E6E-7D61-26B0-775E-00C0EE840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8" name="Rectangle 35">
            <a:extLst>
              <a:ext uri="{FF2B5EF4-FFF2-40B4-BE49-F238E27FC236}">
                <a16:creationId xmlns:a16="http://schemas.microsoft.com/office/drawing/2014/main" id="{F5CD8CA3-CFDC-6B3C-6764-940360EE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59" name="Rectangle 36">
            <a:extLst>
              <a:ext uri="{FF2B5EF4-FFF2-40B4-BE49-F238E27FC236}">
                <a16:creationId xmlns:a16="http://schemas.microsoft.com/office/drawing/2014/main" id="{CC3C13BB-1EE7-015C-8CDD-6CDD9CF81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9800" y="5867400"/>
            <a:ext cx="228600" cy="2286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60" name="AutoShape 37">
            <a:extLst>
              <a:ext uri="{FF2B5EF4-FFF2-40B4-BE49-F238E27FC236}">
                <a16:creationId xmlns:a16="http://schemas.microsoft.com/office/drawing/2014/main" id="{8437C9AF-8F50-DEA9-A4BD-F36148B07A25}"/>
              </a:ext>
            </a:extLst>
          </p:cNvPr>
          <p:cNvCxnSpPr>
            <a:cxnSpLocks noChangeShapeType="1"/>
            <a:stCxn id="26654" idx="0"/>
            <a:endCxn id="26651" idx="3"/>
          </p:cNvCxnSpPr>
          <p:nvPr/>
        </p:nvCxnSpPr>
        <p:spPr bwMode="auto">
          <a:xfrm flipV="1">
            <a:off x="7962901" y="5592763"/>
            <a:ext cx="619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1" name="AutoShape 38">
            <a:extLst>
              <a:ext uri="{FF2B5EF4-FFF2-40B4-BE49-F238E27FC236}">
                <a16:creationId xmlns:a16="http://schemas.microsoft.com/office/drawing/2014/main" id="{D965CD88-049A-33FC-E385-4EF0C4B59A4E}"/>
              </a:ext>
            </a:extLst>
          </p:cNvPr>
          <p:cNvCxnSpPr>
            <a:cxnSpLocks noChangeShapeType="1"/>
            <a:stCxn id="26655" idx="0"/>
            <a:endCxn id="26651" idx="5"/>
          </p:cNvCxnSpPr>
          <p:nvPr/>
        </p:nvCxnSpPr>
        <p:spPr bwMode="auto">
          <a:xfrm flipH="1" flipV="1">
            <a:off x="8510588" y="5592763"/>
            <a:ext cx="6191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2" name="AutoShape 39">
            <a:extLst>
              <a:ext uri="{FF2B5EF4-FFF2-40B4-BE49-F238E27FC236}">
                <a16:creationId xmlns:a16="http://schemas.microsoft.com/office/drawing/2014/main" id="{20B6CE4F-E074-841C-9073-6996D3837D77}"/>
              </a:ext>
            </a:extLst>
          </p:cNvPr>
          <p:cNvCxnSpPr>
            <a:cxnSpLocks noChangeShapeType="1"/>
            <a:stCxn id="26656" idx="0"/>
            <a:endCxn id="26653" idx="3"/>
          </p:cNvCxnSpPr>
          <p:nvPr/>
        </p:nvCxnSpPr>
        <p:spPr bwMode="auto">
          <a:xfrm flipV="1">
            <a:off x="9258300" y="5602289"/>
            <a:ext cx="12700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3" name="AutoShape 40">
            <a:extLst>
              <a:ext uri="{FF2B5EF4-FFF2-40B4-BE49-F238E27FC236}">
                <a16:creationId xmlns:a16="http://schemas.microsoft.com/office/drawing/2014/main" id="{B20E670D-7968-89CD-4379-3BACF703DC97}"/>
              </a:ext>
            </a:extLst>
          </p:cNvPr>
          <p:cNvCxnSpPr>
            <a:cxnSpLocks noChangeShapeType="1"/>
            <a:stCxn id="26657" idx="0"/>
            <a:endCxn id="26652" idx="3"/>
          </p:cNvCxnSpPr>
          <p:nvPr/>
        </p:nvCxnSpPr>
        <p:spPr bwMode="auto">
          <a:xfrm flipV="1">
            <a:off x="659130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4" name="AutoShape 41">
            <a:extLst>
              <a:ext uri="{FF2B5EF4-FFF2-40B4-BE49-F238E27FC236}">
                <a16:creationId xmlns:a16="http://schemas.microsoft.com/office/drawing/2014/main" id="{2F7900B4-CC03-812F-747A-9B8C7A92096E}"/>
              </a:ext>
            </a:extLst>
          </p:cNvPr>
          <p:cNvCxnSpPr>
            <a:cxnSpLocks noChangeShapeType="1"/>
            <a:stCxn id="26658" idx="0"/>
            <a:endCxn id="26652" idx="5"/>
          </p:cNvCxnSpPr>
          <p:nvPr/>
        </p:nvCxnSpPr>
        <p:spPr bwMode="auto">
          <a:xfrm flipH="1" flipV="1">
            <a:off x="7258050" y="5592763"/>
            <a:ext cx="19050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5" name="AutoShape 42">
            <a:extLst>
              <a:ext uri="{FF2B5EF4-FFF2-40B4-BE49-F238E27FC236}">
                <a16:creationId xmlns:a16="http://schemas.microsoft.com/office/drawing/2014/main" id="{7C53688F-5EE3-97A0-D524-93D9F96965DE}"/>
              </a:ext>
            </a:extLst>
          </p:cNvPr>
          <p:cNvCxnSpPr>
            <a:cxnSpLocks noChangeShapeType="1"/>
            <a:stCxn id="26659" idx="0"/>
            <a:endCxn id="26653" idx="5"/>
          </p:cNvCxnSpPr>
          <p:nvPr/>
        </p:nvCxnSpPr>
        <p:spPr bwMode="auto">
          <a:xfrm flipH="1" flipV="1">
            <a:off x="9817100" y="5602289"/>
            <a:ext cx="12700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6" name="AutoShape 43">
            <a:extLst>
              <a:ext uri="{FF2B5EF4-FFF2-40B4-BE49-F238E27FC236}">
                <a16:creationId xmlns:a16="http://schemas.microsoft.com/office/drawing/2014/main" id="{1D0DBDAB-BD81-1DBF-BC98-F1601A293BC0}"/>
              </a:ext>
            </a:extLst>
          </p:cNvPr>
          <p:cNvCxnSpPr>
            <a:cxnSpLocks noChangeShapeType="1"/>
            <a:stCxn id="26651" idx="0"/>
            <a:endCxn id="26650" idx="4"/>
          </p:cNvCxnSpPr>
          <p:nvPr/>
        </p:nvCxnSpPr>
        <p:spPr bwMode="auto">
          <a:xfrm flipV="1">
            <a:off x="8267700" y="4886325"/>
            <a:ext cx="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7" name="AutoShape 44">
            <a:extLst>
              <a:ext uri="{FF2B5EF4-FFF2-40B4-BE49-F238E27FC236}">
                <a16:creationId xmlns:a16="http://schemas.microsoft.com/office/drawing/2014/main" id="{941B6D2D-9C1D-1390-7401-116CA65E02D9}"/>
              </a:ext>
            </a:extLst>
          </p:cNvPr>
          <p:cNvCxnSpPr>
            <a:cxnSpLocks noChangeShapeType="1"/>
            <a:stCxn id="26652" idx="0"/>
            <a:endCxn id="26650" idx="3"/>
          </p:cNvCxnSpPr>
          <p:nvPr/>
        </p:nvCxnSpPr>
        <p:spPr bwMode="auto">
          <a:xfrm flipV="1">
            <a:off x="6934201" y="4830763"/>
            <a:ext cx="982663" cy="417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8" name="AutoShape 45">
            <a:extLst>
              <a:ext uri="{FF2B5EF4-FFF2-40B4-BE49-F238E27FC236}">
                <a16:creationId xmlns:a16="http://schemas.microsoft.com/office/drawing/2014/main" id="{4C8145CC-4548-8A55-97F4-4DA97F741F39}"/>
              </a:ext>
            </a:extLst>
          </p:cNvPr>
          <p:cNvCxnSpPr>
            <a:cxnSpLocks noChangeShapeType="1"/>
            <a:stCxn id="26653" idx="0"/>
            <a:endCxn id="26650" idx="5"/>
          </p:cNvCxnSpPr>
          <p:nvPr/>
        </p:nvCxnSpPr>
        <p:spPr bwMode="auto">
          <a:xfrm flipH="1" flipV="1">
            <a:off x="8618538" y="4830764"/>
            <a:ext cx="982662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69" name="Rectangle 46">
            <a:extLst>
              <a:ext uri="{FF2B5EF4-FFF2-40B4-BE49-F238E27FC236}">
                <a16:creationId xmlns:a16="http://schemas.microsoft.com/office/drawing/2014/main" id="{610CECA6-B19D-4BC7-68EF-0194B9DE0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6508" y="4114800"/>
            <a:ext cx="1715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26670" name="Rectangle 47">
            <a:extLst>
              <a:ext uri="{FF2B5EF4-FFF2-40B4-BE49-F238E27FC236}">
                <a16:creationId xmlns:a16="http://schemas.microsoft.com/office/drawing/2014/main" id="{AB971A9E-A635-3116-F9A9-77FBFE7D4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7400" y="4953000"/>
            <a:ext cx="228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6671" name="Rectangle 48">
            <a:extLst>
              <a:ext uri="{FF2B5EF4-FFF2-40B4-BE49-F238E27FC236}">
                <a16:creationId xmlns:a16="http://schemas.microsoft.com/office/drawing/2014/main" id="{228ED4DD-D21B-34D2-D60F-7D941A3E4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953000"/>
            <a:ext cx="279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  <a:endParaRPr lang="en-US" altLang="en-US" b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F555ADC-CD5A-EEA0-80FE-11F2AC43A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Analysis of Deletion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4C89D4D0-0329-75F1-D286-027ABF7E56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752600"/>
            <a:ext cx="77724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be a (2,4) tree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Tree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has</a:t>
            </a:r>
            <a:r>
              <a:rPr lang="en-US" altLang="en-US" sz="1800" b="1" i="1">
                <a:latin typeface="Times New Roman" panose="02020603050405020304" pitchFamily="18" charset="0"/>
              </a:rPr>
              <a:t> 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height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 a deletion operation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visit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nodes to locate the node to be deleted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handle an underflow with a series of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fusions, followed by at most one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 Each fusion and transfer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Thus, deleting an item from a (2,4) tree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17ED41EB-0BE7-568A-7688-E365A0182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Implementing a Dictionary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385C64C7-BFE0-9D62-A682-ADD63A795D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2000"/>
              <a:t>Comparison of efficient dictionary implementations</a:t>
            </a:r>
          </a:p>
        </p:txBody>
      </p:sp>
      <p:graphicFrame>
        <p:nvGraphicFramePr>
          <p:cNvPr id="134180" name="Group 36">
            <a:extLst>
              <a:ext uri="{FF2B5EF4-FFF2-40B4-BE49-F238E27FC236}">
                <a16:creationId xmlns:a16="http://schemas.microsoft.com/office/drawing/2014/main" id="{F646DC3D-D1A8-518A-172D-C548A9F739A4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2362201"/>
          <a:ext cx="8077200" cy="2616201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Search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Delete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Notes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7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Hash Table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expected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expected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expected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 ordered dictionary </a:t>
                      </a:r>
                      <a:b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methods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simple to implement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(2,4) Tree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b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worst-case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b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worst-case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b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worst-case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complex to implement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1332</Words>
  <Application>Microsoft Office PowerPoint</Application>
  <PresentationFormat>Widescreen</PresentationFormat>
  <Paragraphs>236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Symbol</vt:lpstr>
      <vt:lpstr>Tahoma</vt:lpstr>
      <vt:lpstr>Times New Roman</vt:lpstr>
      <vt:lpstr>Trebuchet MS</vt:lpstr>
      <vt:lpstr>Wingdings 3</vt:lpstr>
      <vt:lpstr>Facet</vt:lpstr>
      <vt:lpstr>CS535: Algorithm Design and Analysis   Bounded-Depth Search Trees</vt:lpstr>
      <vt:lpstr>Multi-Way Search Tree</vt:lpstr>
      <vt:lpstr>Multi-Way Inorder Traversal</vt:lpstr>
      <vt:lpstr>Multi-Way Searching</vt:lpstr>
      <vt:lpstr>(2,4) Tree</vt:lpstr>
      <vt:lpstr>Height of a (2,4) Tree</vt:lpstr>
      <vt:lpstr>Insertion</vt:lpstr>
      <vt:lpstr>Overflow and Split</vt:lpstr>
      <vt:lpstr>Analysis of Insertion</vt:lpstr>
      <vt:lpstr>Deletion</vt:lpstr>
      <vt:lpstr>Underflow and Fusion</vt:lpstr>
      <vt:lpstr>Underflow and Transfer</vt:lpstr>
      <vt:lpstr>Analysis of Deletion</vt:lpstr>
      <vt:lpstr>Implementing a Dictionary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</cp:revision>
  <dcterms:created xsi:type="dcterms:W3CDTF">2024-10-07T05:04:29Z</dcterms:created>
  <dcterms:modified xsi:type="dcterms:W3CDTF">2024-10-07T05:06:26Z</dcterms:modified>
</cp:coreProperties>
</file>