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B7EB1-4B20-4E4E-BE09-5736ED3F92C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9953C-D12C-4526-B3E7-9C943113C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57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C7E35C15-7D91-FCB6-DAFF-1DF2F59B7B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300"/>
              <a:t>Dynamic Programming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94AF1208-8B9A-B4DB-7046-0F02298F471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4E8F88-C53D-40D8-BD0A-92294BD86C4B}" type="datetime8">
              <a:rPr lang="en-US" altLang="en-US" sz="1300" smtClean="0"/>
              <a:pPr>
                <a:spcBef>
                  <a:spcPct val="0"/>
                </a:spcBef>
              </a:pPr>
              <a:t>11/10/2024 10:42 PM</a:t>
            </a:fld>
            <a:endParaRPr lang="en-US" altLang="en-US" sz="1300"/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5C39CFF1-96F9-5D51-F15D-7C311E2BBB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16134D-5FF5-4B13-8073-7863FBB26643}" type="slidenum">
              <a:rPr lang="en-US" altLang="en-US" sz="1300" smtClean="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A0268A50-EE25-DD8C-4DB9-E25996431E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810EDE67-46CA-B2F1-5947-89C8B590E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32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90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4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8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2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19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4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24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3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860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74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256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14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64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0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9C164-981E-46EE-AC05-8D6280EEA7C0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9E0A3A-1F76-49E6-9B89-812C3664F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8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ki.cs.brown.edu:8081/webae/images/cover-large.jp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510F7A7B-507C-D4BD-E5D5-CD9A94336CD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Dynamic Programming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75CCDAC-BE8B-780B-3B6A-08D49CE415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November 11, 2024</a:t>
            </a:r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63ADC592-28C9-8645-0098-82DE935D1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5.3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07685D1-EBF9-9076-448B-AE5F91969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Matrix Chain-Products</a:t>
            </a:r>
          </a:p>
        </p:txBody>
      </p:sp>
      <p:sp>
        <p:nvSpPr>
          <p:cNvPr id="1638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30C9C54-F7E1-632F-0E1A-46146B654A5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81200" y="1219200"/>
            <a:ext cx="5943600" cy="3810000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chemeClr val="tx2"/>
                </a:solidFill>
              </a:rPr>
              <a:t>Dynamic Programming</a:t>
            </a:r>
            <a:r>
              <a:rPr lang="en-US" altLang="en-US" sz="2000"/>
              <a:t> is a general algorithm design paradigm.</a:t>
            </a:r>
          </a:p>
          <a:p>
            <a:pPr lvl="1" eaLnBrk="1" hangingPunct="1"/>
            <a:r>
              <a:rPr lang="en-US" altLang="en-US" sz="1800"/>
              <a:t>Rather than giving the general structure, let us first give a motivating example: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Matrix Chain-Products</a:t>
            </a:r>
          </a:p>
          <a:p>
            <a:pPr lvl="1" eaLnBrk="1" hangingPunct="1"/>
            <a:endParaRPr lang="en-US" altLang="en-US" sz="1200" b="1">
              <a:solidFill>
                <a:schemeClr val="tx2"/>
              </a:solidFill>
            </a:endParaRPr>
          </a:p>
          <a:p>
            <a:pPr eaLnBrk="1" hangingPunct="1"/>
            <a:r>
              <a:rPr lang="en-US" altLang="en-US" sz="2000"/>
              <a:t>Review: Matrix Multiplication.</a:t>
            </a:r>
          </a:p>
          <a:p>
            <a:pPr lvl="1" eaLnBrk="1" hangingPunct="1"/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 i="1">
                <a:latin typeface="Times New Roman" panose="02020603050405020304" pitchFamily="18" charset="0"/>
              </a:rPr>
              <a:t> = </a:t>
            </a:r>
            <a:r>
              <a:rPr lang="en-US" altLang="en-US" sz="1800" b="1" i="1">
                <a:latin typeface="Times New Roman" panose="02020603050405020304" pitchFamily="18" charset="0"/>
              </a:rPr>
              <a:t>A</a:t>
            </a:r>
            <a:r>
              <a:rPr lang="en-US" altLang="en-US" sz="1800" i="1">
                <a:latin typeface="Times New Roman" panose="02020603050405020304" pitchFamily="18" charset="0"/>
              </a:rPr>
              <a:t>*</a:t>
            </a: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</a:p>
          <a:p>
            <a:pPr lvl="1" eaLnBrk="1" hangingPunct="1"/>
            <a:r>
              <a:rPr lang="en-US" altLang="en-US" sz="1800" b="1" i="1">
                <a:latin typeface="Times New Roman" panose="02020603050405020304" pitchFamily="18" charset="0"/>
              </a:rPr>
              <a:t>A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is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d </a:t>
            </a:r>
            <a:r>
              <a:rPr lang="en-US" altLang="en-US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and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is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e </a:t>
            </a:r>
            <a:r>
              <a:rPr lang="en-US" altLang="en-US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en-US" sz="1800" b="1" i="1">
                <a:latin typeface="Times New Roman" panose="02020603050405020304" pitchFamily="18" charset="0"/>
              </a:rPr>
              <a:t> f</a:t>
            </a:r>
          </a:p>
          <a:p>
            <a:pPr lvl="1" eaLnBrk="1" hangingPunct="1"/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time</a:t>
            </a:r>
          </a:p>
        </p:txBody>
      </p:sp>
      <p:sp>
        <p:nvSpPr>
          <p:cNvPr id="16387" name="Rectangle 56">
            <a:extLst>
              <a:ext uri="{FF2B5EF4-FFF2-40B4-BE49-F238E27FC236}">
                <a16:creationId xmlns:a16="http://schemas.microsoft.com/office/drawing/2014/main" id="{848B0F0B-CC48-70A3-C41C-807080FD8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215423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16388" name="Group 87">
            <a:extLst>
              <a:ext uri="{FF2B5EF4-FFF2-40B4-BE49-F238E27FC236}">
                <a16:creationId xmlns:a16="http://schemas.microsoft.com/office/drawing/2014/main" id="{681A90CF-EEE8-B17B-41E7-1195673EEE7C}"/>
              </a:ext>
            </a:extLst>
          </p:cNvPr>
          <p:cNvGrpSpPr>
            <a:grpSpLocks/>
          </p:cNvGrpSpPr>
          <p:nvPr/>
        </p:nvGrpSpPr>
        <p:grpSpPr bwMode="auto">
          <a:xfrm>
            <a:off x="5624513" y="2057400"/>
            <a:ext cx="4948238" cy="4332288"/>
            <a:chOff x="2075" y="1440"/>
            <a:chExt cx="3117" cy="2729"/>
          </a:xfrm>
        </p:grpSpPr>
        <p:sp>
          <p:nvSpPr>
            <p:cNvPr id="16390" name="Rectangle 63">
              <a:extLst>
                <a:ext uri="{FF2B5EF4-FFF2-40B4-BE49-F238E27FC236}">
                  <a16:creationId xmlns:a16="http://schemas.microsoft.com/office/drawing/2014/main" id="{C3B80809-E986-66DC-9953-D46F36D47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264"/>
              <a:ext cx="1152" cy="57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1" name="Rectangle 64">
              <a:extLst>
                <a:ext uri="{FF2B5EF4-FFF2-40B4-BE49-F238E27FC236}">
                  <a16:creationId xmlns:a16="http://schemas.microsoft.com/office/drawing/2014/main" id="{F6913693-4D26-7078-2B01-E7CB045DA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920"/>
              <a:ext cx="960" cy="1152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2" name="Rectangle 65">
              <a:extLst>
                <a:ext uri="{FF2B5EF4-FFF2-40B4-BE49-F238E27FC236}">
                  <a16:creationId xmlns:a16="http://schemas.microsoft.com/office/drawing/2014/main" id="{6C41A3D8-B948-F933-DFB4-33306F881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264"/>
              <a:ext cx="960" cy="57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3" name="Rectangle 66">
              <a:extLst>
                <a:ext uri="{FF2B5EF4-FFF2-40B4-BE49-F238E27FC236}">
                  <a16:creationId xmlns:a16="http://schemas.microsoft.com/office/drawing/2014/main" id="{F3850420-0473-9D24-641F-94B2D8A8D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920"/>
              <a:ext cx="192" cy="115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4" name="Rectangle 67">
              <a:extLst>
                <a:ext uri="{FF2B5EF4-FFF2-40B4-BE49-F238E27FC236}">
                  <a16:creationId xmlns:a16="http://schemas.microsoft.com/office/drawing/2014/main" id="{02C0B363-6720-A5CA-A915-907DB7E7D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456"/>
              <a:ext cx="1152" cy="19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5" name="Rectangle 68">
              <a:extLst>
                <a:ext uri="{FF2B5EF4-FFF2-40B4-BE49-F238E27FC236}">
                  <a16:creationId xmlns:a16="http://schemas.microsoft.com/office/drawing/2014/main" id="{1268ECE6-BB59-333D-0E93-9358D0215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456"/>
              <a:ext cx="192" cy="19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396" name="Text Box 69">
              <a:extLst>
                <a:ext uri="{FF2B5EF4-FFF2-40B4-BE49-F238E27FC236}">
                  <a16:creationId xmlns:a16="http://schemas.microsoft.com/office/drawing/2014/main" id="{6DCE80F1-BA5E-A178-0651-DA318CC73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7" y="3216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397" name="Text Box 70">
              <a:extLst>
                <a:ext uri="{FF2B5EF4-FFF2-40B4-BE49-F238E27FC236}">
                  <a16:creationId xmlns:a16="http://schemas.microsoft.com/office/drawing/2014/main" id="{EB64597F-EBC1-7CA7-0DA5-95F0A4A40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" y="3216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398" name="Text Box 71">
              <a:extLst>
                <a:ext uri="{FF2B5EF4-FFF2-40B4-BE49-F238E27FC236}">
                  <a16:creationId xmlns:a16="http://schemas.microsoft.com/office/drawing/2014/main" id="{B0E46C12-3DD9-575D-BE88-55596875F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" y="1872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399" name="Text Box 72">
              <a:extLst>
                <a:ext uri="{FF2B5EF4-FFF2-40B4-BE49-F238E27FC236}">
                  <a16:creationId xmlns:a16="http://schemas.microsoft.com/office/drawing/2014/main" id="{312642DF-D0FB-DB0F-C679-5BB7E73EF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5" y="3408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400" name="Text Box 73">
              <a:extLst>
                <a:ext uri="{FF2B5EF4-FFF2-40B4-BE49-F238E27FC236}">
                  <a16:creationId xmlns:a16="http://schemas.microsoft.com/office/drawing/2014/main" id="{C4CFD8B8-9708-C341-3E69-49D379295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" y="3408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401" name="Text Box 74">
              <a:extLst>
                <a:ext uri="{FF2B5EF4-FFF2-40B4-BE49-F238E27FC236}">
                  <a16:creationId xmlns:a16="http://schemas.microsoft.com/office/drawing/2014/main" id="{EB0F1072-5683-8E53-16C6-184D7C815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4" y="1440"/>
              <a:ext cx="16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6402" name="Text Box 75">
              <a:extLst>
                <a:ext uri="{FF2B5EF4-FFF2-40B4-BE49-F238E27FC236}">
                  <a16:creationId xmlns:a16="http://schemas.microsoft.com/office/drawing/2014/main" id="{8AE8158B-5B86-FE98-6BF2-3EADD5A25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8" y="2832"/>
              <a:ext cx="1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6403" name="Text Box 76">
              <a:extLst>
                <a:ext uri="{FF2B5EF4-FFF2-40B4-BE49-F238E27FC236}">
                  <a16:creationId xmlns:a16="http://schemas.microsoft.com/office/drawing/2014/main" id="{34F45E37-B0C1-7FC4-2BEC-6806C17C1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0" y="3936"/>
              <a:ext cx="16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6404" name="Text Box 77">
              <a:extLst>
                <a:ext uri="{FF2B5EF4-FFF2-40B4-BE49-F238E27FC236}">
                  <a16:creationId xmlns:a16="http://schemas.microsoft.com/office/drawing/2014/main" id="{94866D96-63A7-227A-9D35-C44BB14D26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2304"/>
              <a:ext cx="18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6405" name="Text Box 78">
              <a:extLst>
                <a:ext uri="{FF2B5EF4-FFF2-40B4-BE49-F238E27FC236}">
                  <a16:creationId xmlns:a16="http://schemas.microsoft.com/office/drawing/2014/main" id="{8197E399-EC68-B7BF-591F-94E300D42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9" y="3408"/>
              <a:ext cx="1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6406" name="Text Box 79">
              <a:extLst>
                <a:ext uri="{FF2B5EF4-FFF2-40B4-BE49-F238E27FC236}">
                  <a16:creationId xmlns:a16="http://schemas.microsoft.com/office/drawing/2014/main" id="{45FE1683-771E-5F6C-3AA1-B79CD3434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3" y="2208"/>
              <a:ext cx="1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6407" name="Text Box 80">
              <a:extLst>
                <a:ext uri="{FF2B5EF4-FFF2-40B4-BE49-F238E27FC236}">
                  <a16:creationId xmlns:a16="http://schemas.microsoft.com/office/drawing/2014/main" id="{99F47841-E1DE-E838-78E6-5E9E5D597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4" y="3408"/>
              <a:ext cx="23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i,j</a:t>
              </a:r>
            </a:p>
          </p:txBody>
        </p:sp>
        <p:sp>
          <p:nvSpPr>
            <p:cNvPr id="16408" name="AutoShape 81">
              <a:extLst>
                <a:ext uri="{FF2B5EF4-FFF2-40B4-BE49-F238E27FC236}">
                  <a16:creationId xmlns:a16="http://schemas.microsoft.com/office/drawing/2014/main" id="{C1C5176B-C02F-11C7-8EED-BC77763EF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264"/>
              <a:ext cx="144" cy="576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09" name="AutoShape 82">
              <a:extLst>
                <a:ext uri="{FF2B5EF4-FFF2-40B4-BE49-F238E27FC236}">
                  <a16:creationId xmlns:a16="http://schemas.microsoft.com/office/drawing/2014/main" id="{4135E30C-C5DD-B1E1-132F-450456323EE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848" y="3264"/>
              <a:ext cx="144" cy="576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10" name="AutoShape 83">
              <a:extLst>
                <a:ext uri="{FF2B5EF4-FFF2-40B4-BE49-F238E27FC236}">
                  <a16:creationId xmlns:a16="http://schemas.microsoft.com/office/drawing/2014/main" id="{B15510BE-1B6C-09E1-7A6A-52BA0A4B2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920"/>
              <a:ext cx="96" cy="1152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11" name="AutoShape 84">
              <a:extLst>
                <a:ext uri="{FF2B5EF4-FFF2-40B4-BE49-F238E27FC236}">
                  <a16:creationId xmlns:a16="http://schemas.microsoft.com/office/drawing/2014/main" id="{5100E366-2C2F-25FE-4EAC-6E29048B6A8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248" y="3480"/>
              <a:ext cx="144" cy="960"/>
            </a:xfrm>
            <a:prstGeom prst="leftBrace">
              <a:avLst>
                <a:gd name="adj1" fmla="val 55556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12" name="AutoShape 85">
              <a:extLst>
                <a:ext uri="{FF2B5EF4-FFF2-40B4-BE49-F238E27FC236}">
                  <a16:creationId xmlns:a16="http://schemas.microsoft.com/office/drawing/2014/main" id="{C564F043-B09C-3F93-8F61-FE68BA3558C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976" y="2592"/>
              <a:ext cx="144" cy="1104"/>
            </a:xfrm>
            <a:prstGeom prst="leftBrace">
              <a:avLst>
                <a:gd name="adj1" fmla="val 6388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413" name="AutoShape 86">
              <a:extLst>
                <a:ext uri="{FF2B5EF4-FFF2-40B4-BE49-F238E27FC236}">
                  <a16:creationId xmlns:a16="http://schemas.microsoft.com/office/drawing/2014/main" id="{3851E244-E5D2-2242-2F4F-85792F1760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248" y="1320"/>
              <a:ext cx="144" cy="960"/>
            </a:xfrm>
            <a:prstGeom prst="leftBrace">
              <a:avLst>
                <a:gd name="adj1" fmla="val 55556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aphicFrame>
        <p:nvGraphicFramePr>
          <p:cNvPr id="16389" name="Object 2">
            <a:extLst>
              <a:ext uri="{FF2B5EF4-FFF2-40B4-BE49-F238E27FC236}">
                <a16:creationId xmlns:a16="http://schemas.microsoft.com/office/drawing/2014/main" id="{9D0CE3BC-825F-CF9C-C7A3-57EBECFA8F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105401"/>
          <a:ext cx="33401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16389" name="Object 2">
                        <a:extLst>
                          <a:ext uri="{FF2B5EF4-FFF2-40B4-BE49-F238E27FC236}">
                            <a16:creationId xmlns:a16="http://schemas.microsoft.com/office/drawing/2014/main" id="{9D0CE3BC-825F-CF9C-C7A3-57EBECFA8F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105401"/>
                        <a:ext cx="33401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5962482A-4F19-9D66-4FF4-A042BE3E2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Matrix Chain-Products</a:t>
            </a:r>
          </a:p>
        </p:txBody>
      </p:sp>
      <p:sp>
        <p:nvSpPr>
          <p:cNvPr id="1741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72F8FB0-D108-71A3-816C-D9B53A3D3AD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895600" y="1524000"/>
            <a:ext cx="67818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Matrix Chain-Product: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Compute A=A</a:t>
            </a:r>
            <a:r>
              <a:rPr lang="en-US" altLang="en-US" sz="1800" baseline="-25000"/>
              <a:t>0</a:t>
            </a:r>
            <a:r>
              <a:rPr lang="en-US" altLang="en-US" sz="1800"/>
              <a:t>*A</a:t>
            </a:r>
            <a:r>
              <a:rPr lang="en-US" altLang="en-US" sz="1800" baseline="-25000"/>
              <a:t>1</a:t>
            </a:r>
            <a:r>
              <a:rPr lang="en-US" altLang="en-US" sz="1800"/>
              <a:t>*…*A</a:t>
            </a:r>
            <a:r>
              <a:rPr lang="en-US" altLang="en-US" sz="1800" baseline="-25000"/>
              <a:t>n-1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</a:t>
            </a:r>
            <a:r>
              <a:rPr lang="en-US" altLang="en-US" sz="1800" baseline="-25000"/>
              <a:t>i</a:t>
            </a:r>
            <a:r>
              <a:rPr lang="en-US" altLang="en-US" sz="1800"/>
              <a:t> is d</a:t>
            </a:r>
            <a:r>
              <a:rPr lang="en-US" altLang="en-US" sz="1800" baseline="-25000"/>
              <a:t>i </a:t>
            </a:r>
            <a:r>
              <a:rPr lang="en-US" altLang="en-US" sz="1800">
                <a:cs typeface="Tahoma" panose="020B0604030504040204" pitchFamily="34" charset="0"/>
              </a:rPr>
              <a:t>× </a:t>
            </a:r>
            <a:r>
              <a:rPr lang="en-US" altLang="en-US" sz="1800"/>
              <a:t>d</a:t>
            </a:r>
            <a:r>
              <a:rPr lang="en-US" altLang="en-US" sz="1800" baseline="-25000"/>
              <a:t>i+1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Matrix chain product is associative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Problem: how to parenthesize?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 is 3 </a:t>
            </a:r>
            <a:r>
              <a:rPr lang="en-US" altLang="en-US" sz="1800">
                <a:cs typeface="Tahoma" panose="020B0604030504040204" pitchFamily="34" charset="0"/>
              </a:rPr>
              <a:t>× 100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C is 100 × 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D is 5 × 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(B*C)*D takes 1500 + 75 = 1575 ops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B*(C*D) takes 1500 + 2500 = 4000 ops</a:t>
            </a: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35E932C5-D4BD-AB7F-FEF1-A61264419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215423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E189DFF-87E1-A23F-7910-22409AC41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Enumeration Approach</a:t>
            </a:r>
          </a:p>
        </p:txBody>
      </p:sp>
      <p:sp>
        <p:nvSpPr>
          <p:cNvPr id="1843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9884FBC-60E5-49D1-0047-1D886AA87A2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590800" y="1371600"/>
            <a:ext cx="67818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Matrix Chain-Product Algorithm: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Try all possible ways to parenthesize A=A</a:t>
            </a:r>
            <a:r>
              <a:rPr lang="en-US" altLang="en-US" sz="1800" baseline="-25000"/>
              <a:t>0</a:t>
            </a:r>
            <a:r>
              <a:rPr lang="en-US" altLang="en-US" sz="1800"/>
              <a:t>*A</a:t>
            </a:r>
            <a:r>
              <a:rPr lang="en-US" altLang="en-US" sz="1800" baseline="-25000"/>
              <a:t>1</a:t>
            </a:r>
            <a:r>
              <a:rPr lang="en-US" altLang="en-US" sz="1800"/>
              <a:t>*…*A</a:t>
            </a:r>
            <a:r>
              <a:rPr lang="en-US" altLang="en-US" sz="1800" baseline="-25000"/>
              <a:t>n-1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Calculate the number of operations for each one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Pick the one that is best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Running time: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number of parenthesizations is equal to the number of binary trees with n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This is </a:t>
            </a:r>
            <a:r>
              <a:rPr lang="en-US" altLang="en-US" sz="1800" b="1">
                <a:solidFill>
                  <a:schemeClr val="tx2"/>
                </a:solidFill>
              </a:rPr>
              <a:t>exponential</a:t>
            </a:r>
            <a:r>
              <a:rPr lang="en-US" altLang="en-US" sz="1800"/>
              <a:t>!</a:t>
            </a:r>
            <a:endParaRPr lang="en-US" altLang="en-US" sz="1800">
              <a:cs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It is called the </a:t>
            </a:r>
            <a:r>
              <a:rPr lang="en-US" altLang="en-US" sz="1800">
                <a:solidFill>
                  <a:srgbClr val="0070C0"/>
                </a:solidFill>
                <a:cs typeface="Tahoma" panose="020B0604030504040204" pitchFamily="34" charset="0"/>
              </a:rPr>
              <a:t>Catalan</a:t>
            </a:r>
            <a:r>
              <a:rPr lang="en-US" altLang="en-US" sz="1800">
                <a:cs typeface="Tahoma" panose="020B0604030504040204" pitchFamily="34" charset="0"/>
              </a:rPr>
              <a:t> number, and it is almost 4</a:t>
            </a:r>
            <a:r>
              <a:rPr lang="en-US" altLang="en-US" sz="1800" baseline="30000">
                <a:cs typeface="Tahoma" panose="020B0604030504040204" pitchFamily="34" charset="0"/>
              </a:rPr>
              <a:t>n</a:t>
            </a:r>
            <a:r>
              <a:rPr lang="en-US" altLang="en-US" sz="1800">
                <a:cs typeface="Tahoma" panose="020B0604030504040204" pitchFamily="34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This is an extremely inefficient algorithm</a:t>
            </a: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D569CAC-5739-0680-6DC9-1E56A18DC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215423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FB7A435B-42B8-3230-C64A-06A41FCC2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Greedy Approach</a:t>
            </a:r>
          </a:p>
        </p:txBody>
      </p:sp>
      <p:sp>
        <p:nvSpPr>
          <p:cNvPr id="1945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8F0B2AF-FC69-DCB8-FADB-7482469D384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0" y="1676400"/>
            <a:ext cx="7848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Idea #1: repeatedly select the product that uses the most operations.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Counter-example</a:t>
            </a:r>
            <a:r>
              <a:rPr lang="en-US" altLang="en-US" sz="2000"/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is 10 </a:t>
            </a:r>
            <a:r>
              <a:rPr lang="en-US" altLang="en-US" sz="1800">
                <a:cs typeface="Tahoma" panose="020B0604030504040204" pitchFamily="34" charset="0"/>
              </a:rPr>
              <a:t>× 5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 is 5 </a:t>
            </a:r>
            <a:r>
              <a:rPr lang="en-US" altLang="en-US" sz="1800">
                <a:cs typeface="Tahoma" panose="020B0604030504040204" pitchFamily="34" charset="0"/>
              </a:rPr>
              <a:t>× 10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C is 10 × 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D is 5 × 10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Greedy idea #1 gives (A*B)*(C*D), which takes 500+1000+500 = 2000 ops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A*((B*C)*D) takes 500+250+250 = 1000 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AF97733-DB9D-55D2-D06B-6465E4830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Another Greedy Approach</a:t>
            </a:r>
          </a:p>
        </p:txBody>
      </p:sp>
      <p:sp>
        <p:nvSpPr>
          <p:cNvPr id="2048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7299F59-574D-1EE3-8922-747AA080AA5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133600" y="13716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Idea #2: repeatedly select the product that uses the fewest operations.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Counter-example</a:t>
            </a:r>
            <a:r>
              <a:rPr lang="en-US" altLang="en-US" sz="2000"/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is 101 </a:t>
            </a:r>
            <a:r>
              <a:rPr lang="en-US" altLang="en-US" sz="1800">
                <a:cs typeface="Tahoma" panose="020B0604030504040204" pitchFamily="34" charset="0"/>
              </a:rPr>
              <a:t>× 11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 is 11 </a:t>
            </a:r>
            <a:r>
              <a:rPr lang="en-US" altLang="en-US" sz="1800">
                <a:cs typeface="Tahoma" panose="020B0604030504040204" pitchFamily="34" charset="0"/>
              </a:rPr>
              <a:t>× 9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C is 9 × 100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D is 100 × 99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Greedy idea #2 gives A*((B*C)*D)), which takes 109989+9900+108900=228789 ops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(A*B)*(C*D) takes 9999+89991+89100=189090 ops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cs typeface="Tahoma" panose="020B0604030504040204" pitchFamily="34" charset="0"/>
              </a:rPr>
              <a:t>The greedy approach is not giving us the optimal 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438C36AC-D8CB-01D0-62A0-00F847804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848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“Recursive” Approach</a:t>
            </a:r>
          </a:p>
        </p:txBody>
      </p:sp>
      <p:sp>
        <p:nvSpPr>
          <p:cNvPr id="2150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B26D21F-6696-A325-B629-AA3A88EDFE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371600"/>
            <a:ext cx="8077200" cy="4953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Define </a:t>
            </a:r>
            <a:r>
              <a:rPr lang="en-US" altLang="en-US" sz="2000" b="1">
                <a:solidFill>
                  <a:schemeClr val="tx2"/>
                </a:solidFill>
              </a:rPr>
              <a:t>subproblems</a:t>
            </a:r>
            <a:r>
              <a:rPr lang="en-US" altLang="en-US" sz="200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Find the best parenthesization of A</a:t>
            </a:r>
            <a:r>
              <a:rPr lang="en-US" altLang="en-US" sz="1800" baseline="-25000"/>
              <a:t>i</a:t>
            </a:r>
            <a:r>
              <a:rPr lang="en-US" altLang="en-US" sz="1800"/>
              <a:t>*A</a:t>
            </a:r>
            <a:r>
              <a:rPr lang="en-US" altLang="en-US" sz="1800" baseline="-25000"/>
              <a:t>i+1</a:t>
            </a:r>
            <a:r>
              <a:rPr lang="en-US" altLang="en-US" sz="1800"/>
              <a:t>*…*A</a:t>
            </a:r>
            <a:r>
              <a:rPr lang="en-US" altLang="en-US" sz="1800" baseline="-25000"/>
              <a:t>j</a:t>
            </a:r>
            <a:r>
              <a:rPr lang="en-US" altLang="en-US" sz="18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N</a:t>
            </a:r>
            <a:r>
              <a:rPr lang="en-US" altLang="en-US" sz="1800" baseline="-25000"/>
              <a:t>i,j</a:t>
            </a:r>
            <a:r>
              <a:rPr lang="en-US" altLang="en-US" sz="1800"/>
              <a:t> denote the number of operations done by this subproblem.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optimal solution for the whole problem is N</a:t>
            </a:r>
            <a:r>
              <a:rPr lang="en-US" altLang="en-US" sz="1800" baseline="-25000"/>
              <a:t>0,n-1</a:t>
            </a:r>
            <a:r>
              <a:rPr lang="en-US" altLang="en-US" sz="1800"/>
              <a:t>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 sz="2000" b="1">
                <a:solidFill>
                  <a:schemeClr val="tx2"/>
                </a:solidFill>
              </a:rPr>
              <a:t>Subproblem optimality</a:t>
            </a:r>
            <a:r>
              <a:rPr lang="en-US" altLang="en-US" sz="2000"/>
              <a:t>: The optimal solution can be defined in terms of optimal subproblems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There has to be a final multiplication (root of the </a:t>
            </a:r>
            <a:r>
              <a:rPr lang="en-US" altLang="en-US" sz="1800">
                <a:solidFill>
                  <a:srgbClr val="0070C0"/>
                </a:solidFill>
              </a:rPr>
              <a:t>expression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rgbClr val="0070C0"/>
                </a:solidFill>
              </a:rPr>
              <a:t>tree</a:t>
            </a:r>
            <a:r>
              <a:rPr lang="en-US" altLang="en-US" sz="1800"/>
              <a:t>) for the optimal solution.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Say, the final multiply is at index i: (A</a:t>
            </a:r>
            <a:r>
              <a:rPr lang="en-US" altLang="en-US" sz="1800" baseline="-25000"/>
              <a:t>0</a:t>
            </a:r>
            <a:r>
              <a:rPr lang="en-US" altLang="en-US" sz="1800"/>
              <a:t>*…*A</a:t>
            </a:r>
            <a:r>
              <a:rPr lang="en-US" altLang="en-US" sz="1800" baseline="-25000"/>
              <a:t>i</a:t>
            </a:r>
            <a:r>
              <a:rPr lang="en-US" altLang="en-US" sz="1800"/>
              <a:t>)*(A</a:t>
            </a:r>
            <a:r>
              <a:rPr lang="en-US" altLang="en-US" sz="1800" baseline="-25000"/>
              <a:t>i+1</a:t>
            </a:r>
            <a:r>
              <a:rPr lang="en-US" altLang="en-US" sz="1800"/>
              <a:t>*…*A</a:t>
            </a:r>
            <a:r>
              <a:rPr lang="en-US" altLang="en-US" sz="1800" baseline="-25000"/>
              <a:t>n-1</a:t>
            </a:r>
            <a:r>
              <a:rPr lang="en-US" altLang="en-US" sz="1800"/>
              <a:t>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Then the optimal solution N</a:t>
            </a:r>
            <a:r>
              <a:rPr lang="en-US" altLang="en-US" sz="1800" baseline="-25000"/>
              <a:t>0,n-1</a:t>
            </a:r>
            <a:r>
              <a:rPr lang="en-US" altLang="en-US" sz="1800"/>
              <a:t> is the sum of two optimal subproblems, N</a:t>
            </a:r>
            <a:r>
              <a:rPr lang="en-US" altLang="en-US" sz="1800" baseline="-25000"/>
              <a:t>0,i</a:t>
            </a:r>
            <a:r>
              <a:rPr lang="en-US" altLang="en-US" sz="1800"/>
              <a:t> and N</a:t>
            </a:r>
            <a:r>
              <a:rPr lang="en-US" altLang="en-US" sz="1800" baseline="-25000"/>
              <a:t>i+1,n-1 </a:t>
            </a:r>
            <a:r>
              <a:rPr lang="en-US" altLang="en-US" sz="1800"/>
              <a:t>plus the time for the last multiply.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 If the global optimum did not have these optimal subproblems, we could define an even better “optimal” 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894EBC6-C384-C53D-96B3-08CFC2B0F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848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Characterizing Equation</a:t>
            </a:r>
          </a:p>
        </p:txBody>
      </p:sp>
      <p:sp>
        <p:nvSpPr>
          <p:cNvPr id="2253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4525B0B-39F0-3387-5648-AF6C3F6BBA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600200"/>
            <a:ext cx="83058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global optimal has to be defined in terms of optimal subproblems, depending on where the final multiply is.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us consider all possible places for that final multiply: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Recall that A</a:t>
            </a:r>
            <a:r>
              <a:rPr lang="en-US" altLang="en-US" sz="1800" baseline="-25000"/>
              <a:t>i</a:t>
            </a:r>
            <a:r>
              <a:rPr lang="en-US" altLang="en-US" sz="1800"/>
              <a:t> is a d</a:t>
            </a:r>
            <a:r>
              <a:rPr lang="en-US" altLang="en-US" sz="1800" baseline="-25000"/>
              <a:t>i</a:t>
            </a:r>
            <a:r>
              <a:rPr lang="en-US" altLang="en-US" sz="1800"/>
              <a:t> </a:t>
            </a:r>
            <a:r>
              <a:rPr lang="en-US" altLang="en-US" sz="1800">
                <a:cs typeface="Tahoma" panose="020B0604030504040204" pitchFamily="34" charset="0"/>
              </a:rPr>
              <a:t>× d</a:t>
            </a:r>
            <a:r>
              <a:rPr lang="en-US" altLang="en-US" sz="1800" baseline="-25000">
                <a:cs typeface="Tahoma" panose="020B0604030504040204" pitchFamily="34" charset="0"/>
              </a:rPr>
              <a:t>i+1</a:t>
            </a:r>
            <a:r>
              <a:rPr lang="en-US" altLang="en-US" sz="1800">
                <a:cs typeface="Tahoma" panose="020B0604030504040204" pitchFamily="34" charset="0"/>
              </a:rPr>
              <a:t> dimensional matrix.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cs typeface="Tahoma" panose="020B0604030504040204" pitchFamily="34" charset="0"/>
              </a:rPr>
              <a:t>So, a characterizing equation for N</a:t>
            </a:r>
            <a:r>
              <a:rPr lang="en-US" altLang="en-US" sz="1800" baseline="-25000">
                <a:cs typeface="Tahoma" panose="020B0604030504040204" pitchFamily="34" charset="0"/>
              </a:rPr>
              <a:t>i,j</a:t>
            </a:r>
            <a:r>
              <a:rPr lang="en-US" altLang="en-US" sz="1800">
                <a:cs typeface="Tahoma" panose="020B0604030504040204" pitchFamily="34" charset="0"/>
              </a:rPr>
              <a:t> is the following: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cs typeface="Tahoma" panose="020B0604030504040204" pitchFamily="34" charset="0"/>
              </a:rPr>
              <a:t>Note that subproblems are not independent–the </a:t>
            </a:r>
            <a:r>
              <a:rPr lang="en-US" altLang="en-US" sz="2000" b="1">
                <a:solidFill>
                  <a:schemeClr val="tx2"/>
                </a:solidFill>
                <a:cs typeface="Tahoma" panose="020B0604030504040204" pitchFamily="34" charset="0"/>
              </a:rPr>
              <a:t>subproblems overlap</a:t>
            </a:r>
            <a:r>
              <a:rPr lang="en-US" altLang="en-US" sz="2000">
                <a:cs typeface="Tahoma" panose="020B0604030504040204" pitchFamily="34" charset="0"/>
              </a:rPr>
              <a:t>.</a:t>
            </a:r>
            <a:endParaRPr lang="en-US" altLang="en-US" sz="2000"/>
          </a:p>
        </p:txBody>
      </p:sp>
      <p:graphicFrame>
        <p:nvGraphicFramePr>
          <p:cNvPr id="22531" name="Object 4">
            <a:extLst>
              <a:ext uri="{FF2B5EF4-FFF2-40B4-BE49-F238E27FC236}">
                <a16:creationId xmlns:a16="http://schemas.microsoft.com/office/drawing/2014/main" id="{08AF83A4-7E1C-D7D9-A705-7FA6ED3E13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3962401"/>
          <a:ext cx="63246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2531" name="Object 4">
                        <a:extLst>
                          <a:ext uri="{FF2B5EF4-FFF2-40B4-BE49-F238E27FC236}">
                            <a16:creationId xmlns:a16="http://schemas.microsoft.com/office/drawing/2014/main" id="{08AF83A4-7E1C-D7D9-A705-7FA6ED3E13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962401"/>
                        <a:ext cx="63246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64">
            <a:extLst>
              <a:ext uri="{FF2B5EF4-FFF2-40B4-BE49-F238E27FC236}">
                <a16:creationId xmlns:a16="http://schemas.microsoft.com/office/drawing/2014/main" id="{26ABC195-EE49-6B56-D56F-4F466B25C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819400"/>
            <a:ext cx="304800" cy="3048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4" name="Text Box 161">
            <a:extLst>
              <a:ext uri="{FF2B5EF4-FFF2-40B4-BE49-F238E27FC236}">
                <a16:creationId xmlns:a16="http://schemas.microsoft.com/office/drawing/2014/main" id="{A4DD290A-16E2-CA66-1DBE-5BC2865C5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7478" y="3352800"/>
            <a:ext cx="9284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answer</a:t>
            </a:r>
          </a:p>
        </p:txBody>
      </p:sp>
      <p:sp>
        <p:nvSpPr>
          <p:cNvPr id="23555" name="Line 162">
            <a:extLst>
              <a:ext uri="{FF2B5EF4-FFF2-40B4-BE49-F238E27FC236}">
                <a16:creationId xmlns:a16="http://schemas.microsoft.com/office/drawing/2014/main" id="{527589DA-C907-3A84-370A-41B8B9E616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91625" y="2971800"/>
            <a:ext cx="4572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56" name="Group 160">
            <a:extLst>
              <a:ext uri="{FF2B5EF4-FFF2-40B4-BE49-F238E27FC236}">
                <a16:creationId xmlns:a16="http://schemas.microsoft.com/office/drawing/2014/main" id="{3B4E6BEF-3501-9C24-6008-AAF790B879FA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2819400"/>
            <a:ext cx="2438400" cy="2438400"/>
            <a:chOff x="2880" y="1536"/>
            <a:chExt cx="1536" cy="1536"/>
          </a:xfrm>
        </p:grpSpPr>
        <p:sp>
          <p:nvSpPr>
            <p:cNvPr id="23635" name="Rectangle 151">
              <a:extLst>
                <a:ext uri="{FF2B5EF4-FFF2-40B4-BE49-F238E27FC236}">
                  <a16:creationId xmlns:a16="http://schemas.microsoft.com/office/drawing/2014/main" id="{08E3D274-6561-561F-FAB5-3A7F49FB1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36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36" name="Rectangle 152">
              <a:extLst>
                <a:ext uri="{FF2B5EF4-FFF2-40B4-BE49-F238E27FC236}">
                  <a16:creationId xmlns:a16="http://schemas.microsoft.com/office/drawing/2014/main" id="{4180234D-3900-D7E3-F29B-D3008DE86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28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37" name="Rectangle 153">
              <a:extLst>
                <a:ext uri="{FF2B5EF4-FFF2-40B4-BE49-F238E27FC236}">
                  <a16:creationId xmlns:a16="http://schemas.microsoft.com/office/drawing/2014/main" id="{5D62FF09-DD0F-3B62-4E13-7DD78C206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920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38" name="Rectangle 154">
              <a:extLst>
                <a:ext uri="{FF2B5EF4-FFF2-40B4-BE49-F238E27FC236}">
                  <a16:creationId xmlns:a16="http://schemas.microsoft.com/office/drawing/2014/main" id="{48019563-7D49-7FD5-4E1B-0B4A82660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112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39" name="Rectangle 155">
              <a:extLst>
                <a:ext uri="{FF2B5EF4-FFF2-40B4-BE49-F238E27FC236}">
                  <a16:creationId xmlns:a16="http://schemas.microsoft.com/office/drawing/2014/main" id="{4CF08418-C1A7-5B27-BA26-10D1E7861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304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40" name="Rectangle 156">
              <a:extLst>
                <a:ext uri="{FF2B5EF4-FFF2-40B4-BE49-F238E27FC236}">
                  <a16:creationId xmlns:a16="http://schemas.microsoft.com/office/drawing/2014/main" id="{994418CF-E7C0-B430-F1C9-93AE85352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496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41" name="Rectangle 157">
              <a:extLst>
                <a:ext uri="{FF2B5EF4-FFF2-40B4-BE49-F238E27FC236}">
                  <a16:creationId xmlns:a16="http://schemas.microsoft.com/office/drawing/2014/main" id="{A1B7D1BC-A8A2-602A-59A3-2C4A6F38B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688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42" name="Rectangle 158">
              <a:extLst>
                <a:ext uri="{FF2B5EF4-FFF2-40B4-BE49-F238E27FC236}">
                  <a16:creationId xmlns:a16="http://schemas.microsoft.com/office/drawing/2014/main" id="{46D6102E-F941-1337-94BD-054B19125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80"/>
              <a:ext cx="19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23557" name="Group 149">
            <a:extLst>
              <a:ext uri="{FF2B5EF4-FFF2-40B4-BE49-F238E27FC236}">
                <a16:creationId xmlns:a16="http://schemas.microsoft.com/office/drawing/2014/main" id="{DDED2D14-4486-6A74-75D7-9DBFA3E94F5C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819400"/>
            <a:ext cx="2743200" cy="2743200"/>
            <a:chOff x="2688" y="1536"/>
            <a:chExt cx="1728" cy="1728"/>
          </a:xfrm>
        </p:grpSpPr>
        <p:sp>
          <p:nvSpPr>
            <p:cNvPr id="190603" name="Rectangle 139">
              <a:extLst>
                <a:ext uri="{FF2B5EF4-FFF2-40B4-BE49-F238E27FC236}">
                  <a16:creationId xmlns:a16="http://schemas.microsoft.com/office/drawing/2014/main" id="{1900B453-0FC2-02B8-F03E-688690A61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536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90604" name="Rectangle 140">
              <a:extLst>
                <a:ext uri="{FF2B5EF4-FFF2-40B4-BE49-F238E27FC236}">
                  <a16:creationId xmlns:a16="http://schemas.microsoft.com/office/drawing/2014/main" id="{901AAB8D-7B45-C70A-F090-C522B5383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728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90605" name="Rectangle 141">
              <a:extLst>
                <a:ext uri="{FF2B5EF4-FFF2-40B4-BE49-F238E27FC236}">
                  <a16:creationId xmlns:a16="http://schemas.microsoft.com/office/drawing/2014/main" id="{10A1EB92-F90B-83B1-AE6C-ADA764D40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920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23629" name="Rectangle 142">
              <a:extLst>
                <a:ext uri="{FF2B5EF4-FFF2-40B4-BE49-F238E27FC236}">
                  <a16:creationId xmlns:a16="http://schemas.microsoft.com/office/drawing/2014/main" id="{A9CC6688-F402-5539-4543-63B308644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112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0607" name="Rectangle 143">
              <a:extLst>
                <a:ext uri="{FF2B5EF4-FFF2-40B4-BE49-F238E27FC236}">
                  <a16:creationId xmlns:a16="http://schemas.microsoft.com/office/drawing/2014/main" id="{BE7B6CC0-9A89-856F-C07C-CF36FDF98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304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23631" name="Rectangle 144">
              <a:extLst>
                <a:ext uri="{FF2B5EF4-FFF2-40B4-BE49-F238E27FC236}">
                  <a16:creationId xmlns:a16="http://schemas.microsoft.com/office/drawing/2014/main" id="{B24B1712-7026-5286-96F8-868B88C26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496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0609" name="Rectangle 145">
              <a:extLst>
                <a:ext uri="{FF2B5EF4-FFF2-40B4-BE49-F238E27FC236}">
                  <a16:creationId xmlns:a16="http://schemas.microsoft.com/office/drawing/2014/main" id="{2F64DF53-07D8-DC3E-FB44-617BEFFB4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688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90610" name="Rectangle 146">
              <a:extLst>
                <a:ext uri="{FF2B5EF4-FFF2-40B4-BE49-F238E27FC236}">
                  <a16:creationId xmlns:a16="http://schemas.microsoft.com/office/drawing/2014/main" id="{76D5A361-DA2D-3E4E-96F0-04A0F9776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880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90611" name="Rectangle 147">
              <a:extLst>
                <a:ext uri="{FF2B5EF4-FFF2-40B4-BE49-F238E27FC236}">
                  <a16:creationId xmlns:a16="http://schemas.microsoft.com/office/drawing/2014/main" id="{CA8BAE77-00AE-C912-E9F8-A76044ED0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072"/>
              <a:ext cx="192" cy="1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</p:grpSp>
      <p:grpSp>
        <p:nvGrpSpPr>
          <p:cNvPr id="23558" name="Group 137">
            <a:extLst>
              <a:ext uri="{FF2B5EF4-FFF2-40B4-BE49-F238E27FC236}">
                <a16:creationId xmlns:a16="http://schemas.microsoft.com/office/drawing/2014/main" id="{EEC5B0B9-5BFD-C594-CA53-BAAF138D25A9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819400"/>
            <a:ext cx="3048000" cy="3048000"/>
            <a:chOff x="2496" y="1536"/>
            <a:chExt cx="1920" cy="1920"/>
          </a:xfrm>
        </p:grpSpPr>
        <p:sp>
          <p:nvSpPr>
            <p:cNvPr id="23616" name="Rectangle 117">
              <a:extLst>
                <a:ext uri="{FF2B5EF4-FFF2-40B4-BE49-F238E27FC236}">
                  <a16:creationId xmlns:a16="http://schemas.microsoft.com/office/drawing/2014/main" id="{BC4B772C-085C-10F6-2CDC-A70F62DF0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536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17" name="Rectangle 119">
              <a:extLst>
                <a:ext uri="{FF2B5EF4-FFF2-40B4-BE49-F238E27FC236}">
                  <a16:creationId xmlns:a16="http://schemas.microsoft.com/office/drawing/2014/main" id="{7E83A112-BF97-FC7D-43CC-E5608B5C5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728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18" name="Rectangle 121">
              <a:extLst>
                <a:ext uri="{FF2B5EF4-FFF2-40B4-BE49-F238E27FC236}">
                  <a16:creationId xmlns:a16="http://schemas.microsoft.com/office/drawing/2014/main" id="{EE087B89-5610-C64B-5109-B9928EAD9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920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19" name="Rectangle 123">
              <a:extLst>
                <a:ext uri="{FF2B5EF4-FFF2-40B4-BE49-F238E27FC236}">
                  <a16:creationId xmlns:a16="http://schemas.microsoft.com/office/drawing/2014/main" id="{B2313B75-147D-EDDE-5F3F-B54E2F62E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12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0" name="Rectangle 125">
              <a:extLst>
                <a:ext uri="{FF2B5EF4-FFF2-40B4-BE49-F238E27FC236}">
                  <a16:creationId xmlns:a16="http://schemas.microsoft.com/office/drawing/2014/main" id="{4EB94AE5-81B6-AAEA-7ADC-DEB22F2EC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304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1" name="Rectangle 127">
              <a:extLst>
                <a:ext uri="{FF2B5EF4-FFF2-40B4-BE49-F238E27FC236}">
                  <a16:creationId xmlns:a16="http://schemas.microsoft.com/office/drawing/2014/main" id="{1A8A5173-02C1-0928-4316-4E4036B4F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496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2" name="Rectangle 129">
              <a:extLst>
                <a:ext uri="{FF2B5EF4-FFF2-40B4-BE49-F238E27FC236}">
                  <a16:creationId xmlns:a16="http://schemas.microsoft.com/office/drawing/2014/main" id="{A96B71B1-70F4-FE82-B38D-045E95CD9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688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3" name="Rectangle 131">
              <a:extLst>
                <a:ext uri="{FF2B5EF4-FFF2-40B4-BE49-F238E27FC236}">
                  <a16:creationId xmlns:a16="http://schemas.microsoft.com/office/drawing/2014/main" id="{5F00E5A8-FB7B-033A-383C-6B39F7F33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880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4" name="Rectangle 133">
              <a:extLst>
                <a:ext uri="{FF2B5EF4-FFF2-40B4-BE49-F238E27FC236}">
                  <a16:creationId xmlns:a16="http://schemas.microsoft.com/office/drawing/2014/main" id="{D2C0A8E7-17C8-52D8-3CD8-FD81D3185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072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625" name="Rectangle 135">
              <a:extLst>
                <a:ext uri="{FF2B5EF4-FFF2-40B4-BE49-F238E27FC236}">
                  <a16:creationId xmlns:a16="http://schemas.microsoft.com/office/drawing/2014/main" id="{6F1CB44A-834A-EA50-5D9B-9D88FB6B6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264"/>
              <a:ext cx="192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3559" name="Line 89">
            <a:extLst>
              <a:ext uri="{FF2B5EF4-FFF2-40B4-BE49-F238E27FC236}">
                <a16:creationId xmlns:a16="http://schemas.microsoft.com/office/drawing/2014/main" id="{8FB528B7-CB4C-B401-FCEB-873F63E23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819400"/>
            <a:ext cx="3352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90">
            <a:extLst>
              <a:ext uri="{FF2B5EF4-FFF2-40B4-BE49-F238E27FC236}">
                <a16:creationId xmlns:a16="http://schemas.microsoft.com/office/drawing/2014/main" id="{C2F8192B-A1D0-B0EE-0ACC-9E7EF0D2A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514600"/>
            <a:ext cx="0" cy="3657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Text Box 91">
            <a:extLst>
              <a:ext uri="{FF2B5EF4-FFF2-40B4-BE49-F238E27FC236}">
                <a16:creationId xmlns:a16="http://schemas.microsoft.com/office/drawing/2014/main" id="{108A2A6F-046B-7A91-8353-1F665B578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642" y="2370138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23562" name="Text Box 92">
            <a:extLst>
              <a:ext uri="{FF2B5EF4-FFF2-40B4-BE49-F238E27FC236}">
                <a16:creationId xmlns:a16="http://schemas.microsoft.com/office/drawing/2014/main" id="{48174F6E-E345-D719-9DE5-4C156EDBA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198" y="2422525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0</a:t>
            </a:r>
          </a:p>
        </p:txBody>
      </p:sp>
      <p:sp>
        <p:nvSpPr>
          <p:cNvPr id="23563" name="Text Box 93">
            <a:extLst>
              <a:ext uri="{FF2B5EF4-FFF2-40B4-BE49-F238E27FC236}">
                <a16:creationId xmlns:a16="http://schemas.microsoft.com/office/drawing/2014/main" id="{B42CFE9B-2AF5-AF78-897E-0E835C4A2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523" y="2422525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1</a:t>
            </a:r>
          </a:p>
        </p:txBody>
      </p:sp>
      <p:sp>
        <p:nvSpPr>
          <p:cNvPr id="23564" name="Text Box 94">
            <a:extLst>
              <a:ext uri="{FF2B5EF4-FFF2-40B4-BE49-F238E27FC236}">
                <a16:creationId xmlns:a16="http://schemas.microsoft.com/office/drawing/2014/main" id="{6C1893DE-9EAE-C294-3D9D-C6AEB9EF8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61" y="28194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0</a:t>
            </a:r>
          </a:p>
        </p:txBody>
      </p:sp>
      <p:sp>
        <p:nvSpPr>
          <p:cNvPr id="23565" name="Text Box 95">
            <a:extLst>
              <a:ext uri="{FF2B5EF4-FFF2-40B4-BE49-F238E27FC236}">
                <a16:creationId xmlns:a16="http://schemas.microsoft.com/office/drawing/2014/main" id="{2BE60C56-A1D0-4D11-8EE4-64E38B676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61" y="3124200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1</a:t>
            </a:r>
          </a:p>
        </p:txBody>
      </p:sp>
      <p:sp>
        <p:nvSpPr>
          <p:cNvPr id="23566" name="Text Box 97">
            <a:extLst>
              <a:ext uri="{FF2B5EF4-FFF2-40B4-BE49-F238E27FC236}">
                <a16:creationId xmlns:a16="http://schemas.microsoft.com/office/drawing/2014/main" id="{88E6CED2-4DA3-603F-945C-3024B014E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7798" y="2422525"/>
            <a:ext cx="2984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2</a:t>
            </a:r>
          </a:p>
        </p:txBody>
      </p:sp>
      <p:sp>
        <p:nvSpPr>
          <p:cNvPr id="23567" name="Text Box 98">
            <a:extLst>
              <a:ext uri="{FF2B5EF4-FFF2-40B4-BE49-F238E27FC236}">
                <a16:creationId xmlns:a16="http://schemas.microsoft.com/office/drawing/2014/main" id="{35A3344F-5E4A-E350-EEFB-D62E6E425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3895" y="2422525"/>
            <a:ext cx="3898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…</a:t>
            </a:r>
          </a:p>
        </p:txBody>
      </p:sp>
      <p:sp>
        <p:nvSpPr>
          <p:cNvPr id="23568" name="Text Box 99">
            <a:extLst>
              <a:ext uri="{FF2B5EF4-FFF2-40B4-BE49-F238E27FC236}">
                <a16:creationId xmlns:a16="http://schemas.microsoft.com/office/drawing/2014/main" id="{4ECC0AE4-60AC-46AE-EBEB-28BDE31DC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486400"/>
            <a:ext cx="48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n-1</a:t>
            </a:r>
          </a:p>
        </p:txBody>
      </p:sp>
      <p:sp>
        <p:nvSpPr>
          <p:cNvPr id="23569" name="Text Box 100">
            <a:extLst>
              <a:ext uri="{FF2B5EF4-FFF2-40B4-BE49-F238E27FC236}">
                <a16:creationId xmlns:a16="http://schemas.microsoft.com/office/drawing/2014/main" id="{E6DD0C63-5E9D-F568-A33A-0CD7F3EF5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9770" y="3352800"/>
            <a:ext cx="3898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…</a:t>
            </a:r>
          </a:p>
        </p:txBody>
      </p:sp>
      <p:sp>
        <p:nvSpPr>
          <p:cNvPr id="23570" name="Text Box 101">
            <a:extLst>
              <a:ext uri="{FF2B5EF4-FFF2-40B4-BE49-F238E27FC236}">
                <a16:creationId xmlns:a16="http://schemas.microsoft.com/office/drawing/2014/main" id="{1913D1CD-A3BF-3824-ADA0-868B66F4C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2422525"/>
            <a:ext cx="48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n-1</a:t>
            </a:r>
          </a:p>
        </p:txBody>
      </p:sp>
      <p:sp>
        <p:nvSpPr>
          <p:cNvPr id="23571" name="Text Box 102">
            <a:extLst>
              <a:ext uri="{FF2B5EF4-FFF2-40B4-BE49-F238E27FC236}">
                <a16:creationId xmlns:a16="http://schemas.microsoft.com/office/drawing/2014/main" id="{E6E87F65-492F-C4BB-73D4-4FE13E45F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975" y="2422525"/>
            <a:ext cx="2295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j</a:t>
            </a:r>
          </a:p>
        </p:txBody>
      </p:sp>
      <p:sp>
        <p:nvSpPr>
          <p:cNvPr id="23572" name="Text Box 103">
            <a:extLst>
              <a:ext uri="{FF2B5EF4-FFF2-40B4-BE49-F238E27FC236}">
                <a16:creationId xmlns:a16="http://schemas.microsoft.com/office/drawing/2014/main" id="{BF6BC766-0E6F-4E23-87CA-C62EDEB58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702050"/>
            <a:ext cx="230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</a:t>
            </a:r>
          </a:p>
        </p:txBody>
      </p:sp>
      <p:sp>
        <p:nvSpPr>
          <p:cNvPr id="190570" name="Rectangle 106">
            <a:extLst>
              <a:ext uri="{FF2B5EF4-FFF2-40B4-BE49-F238E27FC236}">
                <a16:creationId xmlns:a16="http://schemas.microsoft.com/office/drawing/2014/main" id="{48E6DA0D-D344-4E60-CDD8-BCEDD2D07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52400"/>
            <a:ext cx="7391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0000FF"/>
                </a:solidFill>
                <a:latin typeface="+mj-lt"/>
                <a:cs typeface="Arial" charset="0"/>
              </a:rPr>
              <a:t>Dynamic Programming Algorithm Visualization</a:t>
            </a:r>
          </a:p>
        </p:txBody>
      </p:sp>
      <p:sp>
        <p:nvSpPr>
          <p:cNvPr id="23574" name="Rectangle 108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927BCFC-743C-18AB-D581-7A5EF403C5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85975" y="1600200"/>
            <a:ext cx="3276600" cy="4800600"/>
          </a:xfrm>
          <a:noFill/>
        </p:spPr>
        <p:txBody>
          <a:bodyPr/>
          <a:lstStyle/>
          <a:p>
            <a:pPr eaLnBrk="1" hangingPunct="1"/>
            <a:r>
              <a:rPr lang="en-US" altLang="en-US" sz="2000"/>
              <a:t>The bottom-up construction fills in the N array by diagonals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N</a:t>
            </a:r>
            <a:r>
              <a:rPr lang="en-US" altLang="en-US" sz="2000" baseline="-25000"/>
              <a:t>i,j</a:t>
            </a:r>
            <a:r>
              <a:rPr lang="en-US" altLang="en-US" sz="2000"/>
              <a:t> gets values from previous entries in i-th row and j-th column 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Getting actual parenthesization can be done by remembering “k” for each N entry</a:t>
            </a:r>
          </a:p>
        </p:txBody>
      </p:sp>
      <p:sp>
        <p:nvSpPr>
          <p:cNvPr id="23575" name="Rectangle 175">
            <a:extLst>
              <a:ext uri="{FF2B5EF4-FFF2-40B4-BE49-F238E27FC236}">
                <a16:creationId xmlns:a16="http://schemas.microsoft.com/office/drawing/2014/main" id="{00D4F1F1-52E2-A166-343E-DEC9718A19C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34200" y="3733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3576" name="Group 105">
            <a:extLst>
              <a:ext uri="{FF2B5EF4-FFF2-40B4-BE49-F238E27FC236}">
                <a16:creationId xmlns:a16="http://schemas.microsoft.com/office/drawing/2014/main" id="{008E266C-6077-5A7B-8887-AF44AF7BE388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819400"/>
            <a:ext cx="3124200" cy="3048000"/>
            <a:chOff x="2208" y="1536"/>
            <a:chExt cx="3120" cy="1920"/>
          </a:xfrm>
        </p:grpSpPr>
        <p:sp>
          <p:nvSpPr>
            <p:cNvPr id="23605" name="Line 32">
              <a:extLst>
                <a:ext uri="{FF2B5EF4-FFF2-40B4-BE49-F238E27FC236}">
                  <a16:creationId xmlns:a16="http://schemas.microsoft.com/office/drawing/2014/main" id="{5F87AF18-C073-5236-5777-89568CE07534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153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6" name="Line 33">
              <a:extLst>
                <a:ext uri="{FF2B5EF4-FFF2-40B4-BE49-F238E27FC236}">
                  <a16:creationId xmlns:a16="http://schemas.microsoft.com/office/drawing/2014/main" id="{E10B24C6-FC4B-189E-C2DE-982279A9816D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1728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Line 34">
              <a:extLst>
                <a:ext uri="{FF2B5EF4-FFF2-40B4-BE49-F238E27FC236}">
                  <a16:creationId xmlns:a16="http://schemas.microsoft.com/office/drawing/2014/main" id="{742D59BB-5C38-28C6-DEB2-D2E568B8BE31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1920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Line 35">
              <a:extLst>
                <a:ext uri="{FF2B5EF4-FFF2-40B4-BE49-F238E27FC236}">
                  <a16:creationId xmlns:a16="http://schemas.microsoft.com/office/drawing/2014/main" id="{F52883B9-23DC-CB5D-92BE-A3DD5DABC204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2112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Line 36">
              <a:extLst>
                <a:ext uri="{FF2B5EF4-FFF2-40B4-BE49-F238E27FC236}">
                  <a16:creationId xmlns:a16="http://schemas.microsoft.com/office/drawing/2014/main" id="{AF9A2F14-87F9-45F7-5DBB-DBF6A43F2FE9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2304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0" name="Line 37">
              <a:extLst>
                <a:ext uri="{FF2B5EF4-FFF2-40B4-BE49-F238E27FC236}">
                  <a16:creationId xmlns:a16="http://schemas.microsoft.com/office/drawing/2014/main" id="{C3F07BED-9C19-ED66-C452-C35FABE2F49A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249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1" name="Line 38">
              <a:extLst>
                <a:ext uri="{FF2B5EF4-FFF2-40B4-BE49-F238E27FC236}">
                  <a16:creationId xmlns:a16="http://schemas.microsoft.com/office/drawing/2014/main" id="{1898E6F0-3F95-3F49-502E-662888470722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2688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2" name="Line 39">
              <a:extLst>
                <a:ext uri="{FF2B5EF4-FFF2-40B4-BE49-F238E27FC236}">
                  <a16:creationId xmlns:a16="http://schemas.microsoft.com/office/drawing/2014/main" id="{6D53D495-6783-9F38-3E08-803ECE2238A6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2880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3" name="Line 40">
              <a:extLst>
                <a:ext uri="{FF2B5EF4-FFF2-40B4-BE49-F238E27FC236}">
                  <a16:creationId xmlns:a16="http://schemas.microsoft.com/office/drawing/2014/main" id="{3BA74B84-C9AB-605B-3E21-08BECC0FFD82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3072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4" name="Line 41">
              <a:extLst>
                <a:ext uri="{FF2B5EF4-FFF2-40B4-BE49-F238E27FC236}">
                  <a16:creationId xmlns:a16="http://schemas.microsoft.com/office/drawing/2014/main" id="{3592214D-D2DC-A99C-8CFC-3FB5B183F069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3264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5" name="Line 42">
              <a:extLst>
                <a:ext uri="{FF2B5EF4-FFF2-40B4-BE49-F238E27FC236}">
                  <a16:creationId xmlns:a16="http://schemas.microsoft.com/office/drawing/2014/main" id="{270D7261-BFB7-412E-C567-E5E1B61C33AC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208" y="3456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77" name="Group 136">
            <a:extLst>
              <a:ext uri="{FF2B5EF4-FFF2-40B4-BE49-F238E27FC236}">
                <a16:creationId xmlns:a16="http://schemas.microsoft.com/office/drawing/2014/main" id="{AD50843A-4CDA-B266-5781-1BD230422981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743200"/>
            <a:ext cx="3048000" cy="3124200"/>
            <a:chOff x="2496" y="1488"/>
            <a:chExt cx="1920" cy="1968"/>
          </a:xfrm>
        </p:grpSpPr>
        <p:sp>
          <p:nvSpPr>
            <p:cNvPr id="23594" name="Line 60">
              <a:extLst>
                <a:ext uri="{FF2B5EF4-FFF2-40B4-BE49-F238E27FC236}">
                  <a16:creationId xmlns:a16="http://schemas.microsoft.com/office/drawing/2014/main" id="{B5470613-18BC-530F-5867-1B23DBFA642D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496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5" name="Line 61">
              <a:extLst>
                <a:ext uri="{FF2B5EF4-FFF2-40B4-BE49-F238E27FC236}">
                  <a16:creationId xmlns:a16="http://schemas.microsoft.com/office/drawing/2014/main" id="{32949B48-9C4E-665D-C9AC-267378CD4095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688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6" name="Line 62">
              <a:extLst>
                <a:ext uri="{FF2B5EF4-FFF2-40B4-BE49-F238E27FC236}">
                  <a16:creationId xmlns:a16="http://schemas.microsoft.com/office/drawing/2014/main" id="{FFCC03A2-0F48-999A-9819-C10226CFF374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2880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Line 63">
              <a:extLst>
                <a:ext uri="{FF2B5EF4-FFF2-40B4-BE49-F238E27FC236}">
                  <a16:creationId xmlns:a16="http://schemas.microsoft.com/office/drawing/2014/main" id="{4668B77B-C53B-9E28-344D-A79177103DB0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3072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8" name="Line 64">
              <a:extLst>
                <a:ext uri="{FF2B5EF4-FFF2-40B4-BE49-F238E27FC236}">
                  <a16:creationId xmlns:a16="http://schemas.microsoft.com/office/drawing/2014/main" id="{4126B60D-79F4-4892-9C6E-D483D69B4575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3264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Line 65">
              <a:extLst>
                <a:ext uri="{FF2B5EF4-FFF2-40B4-BE49-F238E27FC236}">
                  <a16:creationId xmlns:a16="http://schemas.microsoft.com/office/drawing/2014/main" id="{F23635E7-9409-967A-3864-E49D3CDF83BE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3456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Line 66">
              <a:extLst>
                <a:ext uri="{FF2B5EF4-FFF2-40B4-BE49-F238E27FC236}">
                  <a16:creationId xmlns:a16="http://schemas.microsoft.com/office/drawing/2014/main" id="{463BD206-E5F0-DC3E-B3B2-440B6DDABDC6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3648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Line 67">
              <a:extLst>
                <a:ext uri="{FF2B5EF4-FFF2-40B4-BE49-F238E27FC236}">
                  <a16:creationId xmlns:a16="http://schemas.microsoft.com/office/drawing/2014/main" id="{EB692BC2-58EE-96F9-DF1D-F4F5A318D34E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3840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2" name="Line 68">
              <a:extLst>
                <a:ext uri="{FF2B5EF4-FFF2-40B4-BE49-F238E27FC236}">
                  <a16:creationId xmlns:a16="http://schemas.microsoft.com/office/drawing/2014/main" id="{61F7CBFA-8E43-65D0-9CD4-28056219EA9F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4032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3" name="Line 69">
              <a:extLst>
                <a:ext uri="{FF2B5EF4-FFF2-40B4-BE49-F238E27FC236}">
                  <a16:creationId xmlns:a16="http://schemas.microsoft.com/office/drawing/2014/main" id="{07AB269B-8934-EE27-7D68-C3F1CBC78987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4224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Line 70">
              <a:extLst>
                <a:ext uri="{FF2B5EF4-FFF2-40B4-BE49-F238E27FC236}">
                  <a16:creationId xmlns:a16="http://schemas.microsoft.com/office/drawing/2014/main" id="{34DF4698-3F15-F3BD-9591-A0262E93E0BE}"/>
                </a:ext>
              </a:extLst>
            </p:cNvPr>
            <p:cNvSpPr>
              <a:spLocks noChangeShapeType="1"/>
            </p:cNvSpPr>
            <p:nvPr/>
          </p:nvSpPr>
          <p:spPr bwMode="white">
            <a:xfrm>
              <a:off x="4416" y="1488"/>
              <a:ext cx="0" cy="1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3578" name="Object 2">
            <a:extLst>
              <a:ext uri="{FF2B5EF4-FFF2-40B4-BE49-F238E27FC236}">
                <a16:creationId xmlns:a16="http://schemas.microsoft.com/office/drawing/2014/main" id="{9E8FB742-7057-4BFB-3810-EBAC9DC542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1447801"/>
          <a:ext cx="43434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3578" name="Object 2">
                        <a:extLst>
                          <a:ext uri="{FF2B5EF4-FFF2-40B4-BE49-F238E27FC236}">
                            <a16:creationId xmlns:a16="http://schemas.microsoft.com/office/drawing/2014/main" id="{9E8FB742-7057-4BFB-3810-EBAC9DC542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447801"/>
                        <a:ext cx="43434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Text Box 179">
            <a:extLst>
              <a:ext uri="{FF2B5EF4-FFF2-40B4-BE49-F238E27FC236}">
                <a16:creationId xmlns:a16="http://schemas.microsoft.com/office/drawing/2014/main" id="{5ABB7F3E-7249-75E2-01DE-68A3AA84D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6589" y="2422525"/>
            <a:ext cx="2301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</a:t>
            </a:r>
          </a:p>
        </p:txBody>
      </p:sp>
      <p:sp>
        <p:nvSpPr>
          <p:cNvPr id="23580" name="Text Box 180">
            <a:extLst>
              <a:ext uri="{FF2B5EF4-FFF2-40B4-BE49-F238E27FC236}">
                <a16:creationId xmlns:a16="http://schemas.microsoft.com/office/drawing/2014/main" id="{0EA64843-C3F9-C783-C561-29B701AA4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125" y="4616450"/>
            <a:ext cx="2295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j</a:t>
            </a:r>
          </a:p>
        </p:txBody>
      </p:sp>
      <p:sp>
        <p:nvSpPr>
          <p:cNvPr id="190645" name="Rectangle 181">
            <a:extLst>
              <a:ext uri="{FF2B5EF4-FFF2-40B4-BE49-F238E27FC236}">
                <a16:creationId xmlns:a16="http://schemas.microsoft.com/office/drawing/2014/main" id="{AF7FED65-A3EA-E99B-CE39-CC4FF80DE15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239000" y="3733800"/>
            <a:ext cx="3048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3582" name="Rectangle 176">
            <a:extLst>
              <a:ext uri="{FF2B5EF4-FFF2-40B4-BE49-F238E27FC236}">
                <a16:creationId xmlns:a16="http://schemas.microsoft.com/office/drawing/2014/main" id="{88BD0A6C-E2A2-B10B-6F74-2502CA36C14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848600" y="4038600"/>
            <a:ext cx="3048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0646" name="Rectangle 182">
            <a:extLst>
              <a:ext uri="{FF2B5EF4-FFF2-40B4-BE49-F238E27FC236}">
                <a16:creationId xmlns:a16="http://schemas.microsoft.com/office/drawing/2014/main" id="{4970B05D-54B4-776E-0DC5-1543C0EFF59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848600" y="4343400"/>
            <a:ext cx="3048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3584" name="Rectangle 183">
            <a:extLst>
              <a:ext uri="{FF2B5EF4-FFF2-40B4-BE49-F238E27FC236}">
                <a16:creationId xmlns:a16="http://schemas.microsoft.com/office/drawing/2014/main" id="{70F78B8D-16EA-42FD-494E-58CFDD5BB4E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534275" y="3733800"/>
            <a:ext cx="3048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85" name="Rectangle 184">
            <a:extLst>
              <a:ext uri="{FF2B5EF4-FFF2-40B4-BE49-F238E27FC236}">
                <a16:creationId xmlns:a16="http://schemas.microsoft.com/office/drawing/2014/main" id="{01C73411-9D29-A2C2-E197-543353FEFB4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848600" y="4648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23586" name="Group 90">
            <a:extLst>
              <a:ext uri="{FF2B5EF4-FFF2-40B4-BE49-F238E27FC236}">
                <a16:creationId xmlns:a16="http://schemas.microsoft.com/office/drawing/2014/main" id="{D6D0C438-FE8D-EC81-A3C7-A21F153CEBC6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3733800"/>
            <a:ext cx="1066800" cy="1143000"/>
            <a:chOff x="5562600" y="3733800"/>
            <a:chExt cx="1066800" cy="1143000"/>
          </a:xfrm>
        </p:grpSpPr>
        <p:sp>
          <p:nvSpPr>
            <p:cNvPr id="23587" name="Rectangle 174">
              <a:extLst>
                <a:ext uri="{FF2B5EF4-FFF2-40B4-BE49-F238E27FC236}">
                  <a16:creationId xmlns:a16="http://schemas.microsoft.com/office/drawing/2014/main" id="{87B384D7-FA68-879B-18C2-CDC5D36C1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3733800"/>
              <a:ext cx="304800" cy="3048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88" name="Oval 84">
              <a:extLst>
                <a:ext uri="{FF2B5EF4-FFF2-40B4-BE49-F238E27FC236}">
                  <a16:creationId xmlns:a16="http://schemas.microsoft.com/office/drawing/2014/main" id="{67406636-A17D-369C-B371-99AD5503F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886200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89" name="Oval 85">
              <a:extLst>
                <a:ext uri="{FF2B5EF4-FFF2-40B4-BE49-F238E27FC236}">
                  <a16:creationId xmlns:a16="http://schemas.microsoft.com/office/drawing/2014/main" id="{ED8453BC-F8B6-C8F1-4FE2-6EE9ABFD3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1681" y="3886200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90" name="Oval 86">
              <a:extLst>
                <a:ext uri="{FF2B5EF4-FFF2-40B4-BE49-F238E27FC236}">
                  <a16:creationId xmlns:a16="http://schemas.microsoft.com/office/drawing/2014/main" id="{A9F172F6-A4F9-92A4-ECF4-89BBA81F8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886200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91" name="Oval 87">
              <a:extLst>
                <a:ext uri="{FF2B5EF4-FFF2-40B4-BE49-F238E27FC236}">
                  <a16:creationId xmlns:a16="http://schemas.microsoft.com/office/drawing/2014/main" id="{27714196-F531-995F-E324-91B0D0BC4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1281" y="4191000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92" name="Oval 88">
              <a:extLst>
                <a:ext uri="{FF2B5EF4-FFF2-40B4-BE49-F238E27FC236}">
                  <a16:creationId xmlns:a16="http://schemas.microsoft.com/office/drawing/2014/main" id="{09C17CC5-365D-834D-D02C-153FBB20B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1281" y="4495800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3593" name="Oval 89">
              <a:extLst>
                <a:ext uri="{FF2B5EF4-FFF2-40B4-BE49-F238E27FC236}">
                  <a16:creationId xmlns:a16="http://schemas.microsoft.com/office/drawing/2014/main" id="{B65410DB-B8FA-3C05-71F1-BAB7CA998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1281" y="4831081"/>
              <a:ext cx="45719" cy="45719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9D909A36-199D-CA6C-9119-91A04E4F5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010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Dynamic Programming Algorithm</a:t>
            </a:r>
          </a:p>
        </p:txBody>
      </p:sp>
      <p:sp>
        <p:nvSpPr>
          <p:cNvPr id="2457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B7EF322-7514-4544-A758-F98E50FAEA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447800"/>
            <a:ext cx="27432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Since </a:t>
            </a:r>
            <a:r>
              <a:rPr lang="en-US" altLang="en-US" sz="2000">
                <a:solidFill>
                  <a:schemeClr val="tx2"/>
                </a:solidFill>
              </a:rPr>
              <a:t>subproblems overlap</a:t>
            </a:r>
            <a:r>
              <a:rPr lang="en-US" altLang="en-US" sz="2000"/>
              <a:t>, we don’t use recursion.</a:t>
            </a:r>
          </a:p>
          <a:p>
            <a:pPr eaLnBrk="1" hangingPunct="1">
              <a:lnSpc>
                <a:spcPct val="80000"/>
              </a:lnSpc>
            </a:pPr>
            <a:endParaRPr lang="en-US" altLang="en-US" sz="8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Instead, we construct optimal subproblems “bottom-up.” </a:t>
            </a:r>
          </a:p>
          <a:p>
            <a:pPr eaLnBrk="1" hangingPunct="1">
              <a:lnSpc>
                <a:spcPct val="80000"/>
              </a:lnSpc>
            </a:pPr>
            <a:endParaRPr lang="en-US" altLang="en-US" sz="8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N</a:t>
            </a:r>
            <a:r>
              <a:rPr lang="en-US" altLang="en-US" sz="2000" baseline="-25000"/>
              <a:t>i,i</a:t>
            </a:r>
            <a:r>
              <a:rPr lang="en-US" altLang="en-US" sz="2000"/>
              <a:t>’s are easy, so start with them</a:t>
            </a:r>
          </a:p>
          <a:p>
            <a:pPr eaLnBrk="1" hangingPunct="1">
              <a:lnSpc>
                <a:spcPct val="80000"/>
              </a:lnSpc>
            </a:pPr>
            <a:endParaRPr lang="en-US" altLang="en-US" sz="8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Then do problems of “length” 2,3,… subproblems, and so on.</a:t>
            </a:r>
          </a:p>
          <a:p>
            <a:pPr eaLnBrk="1" hangingPunct="1">
              <a:lnSpc>
                <a:spcPct val="80000"/>
              </a:lnSpc>
            </a:pPr>
            <a:endParaRPr lang="en-US" altLang="en-US" sz="8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Running time: O(n</a:t>
            </a:r>
            <a:r>
              <a:rPr lang="en-US" altLang="en-US" sz="2000" baseline="30000"/>
              <a:t>3</a:t>
            </a:r>
            <a:r>
              <a:rPr lang="en-US" altLang="en-US" sz="2000"/>
              <a:t>)</a:t>
            </a:r>
          </a:p>
        </p:txBody>
      </p:sp>
      <p:sp>
        <p:nvSpPr>
          <p:cNvPr id="24579" name="Text Box 205">
            <a:extLst>
              <a:ext uri="{FF2B5EF4-FFF2-40B4-BE49-F238E27FC236}">
                <a16:creationId xmlns:a16="http://schemas.microsoft.com/office/drawing/2014/main" id="{9E041D53-655B-AAB1-31E1-865209AD8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524001"/>
            <a:ext cx="5791200" cy="46704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matrixChain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):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Input: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matrices to be multiplied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number of operations in an optimal 				parenthesization 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sz="20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i,i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  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{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i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is the length of the problem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}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b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 	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-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min{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i,k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k+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,j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k+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j+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return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0,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baseline="-250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baseline="-25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9747B050-7F8C-55DA-0846-8EAFFC01C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9248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The General Dynamic Programming Technique</a:t>
            </a:r>
          </a:p>
        </p:txBody>
      </p:sp>
      <p:sp>
        <p:nvSpPr>
          <p:cNvPr id="2560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26465E0-13BF-C35D-0502-2D0F186DAF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6002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Applies to a problem that at first seems to require a lot of time (possibly exponential), provided we have: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Simple subproblems:</a:t>
            </a:r>
            <a:r>
              <a:rPr lang="en-US" altLang="en-US" sz="1800"/>
              <a:t> the subproblems can be defined in terms of a few variables, such as i, j, k, and so on.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Subproblem optimality:</a:t>
            </a:r>
            <a:r>
              <a:rPr lang="en-US" altLang="en-US" sz="1800"/>
              <a:t> the global optimum value can be defined in terms of optimal subproblems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Subproblem overlap:</a:t>
            </a:r>
            <a:r>
              <a:rPr lang="en-US" altLang="en-US" sz="1800"/>
              <a:t> the subproblems are not independent, but instead they overlap (hence, should be constructed bottom-up).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6C0F51FF-2B2F-1488-205C-D40D2C944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772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The 0/1 Knapsack Problem</a:t>
            </a:r>
          </a:p>
        </p:txBody>
      </p:sp>
      <p:sp>
        <p:nvSpPr>
          <p:cNvPr id="2662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18E70BE-7517-81E4-24B4-E302FF09B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19200"/>
            <a:ext cx="81534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Given: A set S of n items, with each item i having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w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weight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b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benefit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2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Goal: Choose items with maximum total benefit but with a total weight at most W.</a:t>
            </a:r>
          </a:p>
          <a:p>
            <a:pPr eaLnBrk="1" hangingPunct="1">
              <a:lnSpc>
                <a:spcPct val="80000"/>
              </a:lnSpc>
            </a:pPr>
            <a:endParaRPr lang="en-US" altLang="en-US" sz="12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If we are </a:t>
            </a:r>
            <a:r>
              <a:rPr lang="en-US" altLang="en-US" sz="2000" b="1">
                <a:solidFill>
                  <a:schemeClr val="tx2"/>
                </a:solidFill>
              </a:rPr>
              <a:t>not</a:t>
            </a:r>
            <a:r>
              <a:rPr lang="en-US" altLang="en-US" sz="2000"/>
              <a:t> allowed to take fractional amounts, then this is the </a:t>
            </a:r>
            <a:r>
              <a:rPr lang="en-US" altLang="en-US" sz="2000" b="1">
                <a:solidFill>
                  <a:schemeClr val="tx2"/>
                </a:solidFill>
              </a:rPr>
              <a:t>0/1 knapsack problem</a:t>
            </a:r>
            <a:r>
              <a:rPr lang="en-US" altLang="en-US" sz="2000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In this case, we let T</a:t>
            </a:r>
            <a:r>
              <a:rPr lang="en-US" altLang="en-US" sz="1800" baseline="-25000"/>
              <a:t> </a:t>
            </a:r>
            <a:r>
              <a:rPr lang="en-US" altLang="en-US" sz="1800"/>
              <a:t>denote the set of items we take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Objective: maximize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Constraint:</a:t>
            </a:r>
          </a:p>
        </p:txBody>
      </p:sp>
      <p:graphicFrame>
        <p:nvGraphicFramePr>
          <p:cNvPr id="26627" name="Object 3">
            <a:extLst>
              <a:ext uri="{FF2B5EF4-FFF2-40B4-BE49-F238E27FC236}">
                <a16:creationId xmlns:a16="http://schemas.microsoft.com/office/drawing/2014/main" id="{BA938101-4719-9B96-F01F-3F70FF881C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1" y="4038600"/>
          <a:ext cx="81756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26627" name="Object 3">
                        <a:extLst>
                          <a:ext uri="{FF2B5EF4-FFF2-40B4-BE49-F238E27FC236}">
                            <a16:creationId xmlns:a16="http://schemas.microsoft.com/office/drawing/2014/main" id="{BA938101-4719-9B96-F01F-3F70FF881C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4038600"/>
                        <a:ext cx="81756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FAC87D89-F429-F14E-D00F-016EB8A309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1" y="5181600"/>
          <a:ext cx="16367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26628" name="Object 4">
                        <a:extLst>
                          <a:ext uri="{FF2B5EF4-FFF2-40B4-BE49-F238E27FC236}">
                            <a16:creationId xmlns:a16="http://schemas.microsoft.com/office/drawing/2014/main" id="{FAC87D89-F429-F14E-D00F-016EB8A309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5181600"/>
                        <a:ext cx="163671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>
            <a:extLst>
              <a:ext uri="{FF2B5EF4-FFF2-40B4-BE49-F238E27FC236}">
                <a16:creationId xmlns:a16="http://schemas.microsoft.com/office/drawing/2014/main" id="{30318A11-6F6D-C1A3-1C22-B5A78B2710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0" y="152400"/>
            <a:ext cx="5257800" cy="990600"/>
          </a:xfrm>
        </p:spPr>
        <p:txBody>
          <a:bodyPr/>
          <a:lstStyle/>
          <a:p>
            <a:pPr eaLnBrk="1" hangingPunct="1"/>
            <a:r>
              <a:rPr lang="en-US" altLang="en-US" sz="2400"/>
              <a:t>Example</a:t>
            </a:r>
          </a:p>
        </p:txBody>
      </p:sp>
      <p:sp>
        <p:nvSpPr>
          <p:cNvPr id="2764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5D30169-CCED-348F-98FC-7A1DA61121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95400"/>
            <a:ext cx="8229600" cy="213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Given: A set S of n items, with each item i having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“benefit”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“weight”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Goal: Choose items with maximum total benefit but with a total weight at most W.</a:t>
            </a:r>
          </a:p>
        </p:txBody>
      </p:sp>
      <p:grpSp>
        <p:nvGrpSpPr>
          <p:cNvPr id="27650" name="Group 171">
            <a:extLst>
              <a:ext uri="{FF2B5EF4-FFF2-40B4-BE49-F238E27FC236}">
                <a16:creationId xmlns:a16="http://schemas.microsoft.com/office/drawing/2014/main" id="{D2D87CA1-F9F7-B30F-3597-388D4359BF78}"/>
              </a:ext>
            </a:extLst>
          </p:cNvPr>
          <p:cNvGrpSpPr>
            <a:grpSpLocks/>
          </p:cNvGrpSpPr>
          <p:nvPr/>
        </p:nvGrpSpPr>
        <p:grpSpPr bwMode="auto">
          <a:xfrm>
            <a:off x="5105401" y="3581401"/>
            <a:ext cx="885825" cy="1262063"/>
            <a:chOff x="3474" y="61"/>
            <a:chExt cx="558" cy="795"/>
          </a:xfrm>
        </p:grpSpPr>
        <p:sp>
          <p:nvSpPr>
            <p:cNvPr id="27739" name="Freeform 98">
              <a:extLst>
                <a:ext uri="{FF2B5EF4-FFF2-40B4-BE49-F238E27FC236}">
                  <a16:creationId xmlns:a16="http://schemas.microsoft.com/office/drawing/2014/main" id="{6051078A-6E03-6AD6-2F9A-2A502A911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66"/>
              <a:ext cx="540" cy="774"/>
            </a:xfrm>
            <a:custGeom>
              <a:avLst/>
              <a:gdLst>
                <a:gd name="T0" fmla="*/ 0 w 920"/>
                <a:gd name="T1" fmla="*/ 0 h 1680"/>
                <a:gd name="T2" fmla="*/ 3 w 920"/>
                <a:gd name="T3" fmla="*/ 0 h 1680"/>
                <a:gd name="T4" fmla="*/ 3 w 920"/>
                <a:gd name="T5" fmla="*/ 0 h 1680"/>
                <a:gd name="T6" fmla="*/ 4 w 920"/>
                <a:gd name="T7" fmla="*/ 0 h 1680"/>
                <a:gd name="T8" fmla="*/ 4 w 920"/>
                <a:gd name="T9" fmla="*/ 0 h 1680"/>
                <a:gd name="T10" fmla="*/ 4 w 920"/>
                <a:gd name="T11" fmla="*/ 0 h 1680"/>
                <a:gd name="T12" fmla="*/ 4 w 920"/>
                <a:gd name="T13" fmla="*/ 0 h 1680"/>
                <a:gd name="T14" fmla="*/ 4 w 920"/>
                <a:gd name="T15" fmla="*/ 0 h 1680"/>
                <a:gd name="T16" fmla="*/ 4 w 920"/>
                <a:gd name="T17" fmla="*/ 0 h 1680"/>
                <a:gd name="T18" fmla="*/ 4 w 920"/>
                <a:gd name="T19" fmla="*/ 0 h 1680"/>
                <a:gd name="T20" fmla="*/ 4 w 920"/>
                <a:gd name="T21" fmla="*/ 0 h 1680"/>
                <a:gd name="T22" fmla="*/ 4 w 920"/>
                <a:gd name="T23" fmla="*/ 0 h 1680"/>
                <a:gd name="T24" fmla="*/ 4 w 920"/>
                <a:gd name="T25" fmla="*/ 0 h 1680"/>
                <a:gd name="T26" fmla="*/ 4 w 920"/>
                <a:gd name="T27" fmla="*/ 0 h 1680"/>
                <a:gd name="T28" fmla="*/ 4 w 920"/>
                <a:gd name="T29" fmla="*/ 0 h 1680"/>
                <a:gd name="T30" fmla="*/ 4 w 920"/>
                <a:gd name="T31" fmla="*/ 0 h 1680"/>
                <a:gd name="T32" fmla="*/ 4 w 920"/>
                <a:gd name="T33" fmla="*/ 0 h 1680"/>
                <a:gd name="T34" fmla="*/ 5 w 920"/>
                <a:gd name="T35" fmla="*/ 0 h 1680"/>
                <a:gd name="T36" fmla="*/ 5 w 920"/>
                <a:gd name="T37" fmla="*/ 0 h 1680"/>
                <a:gd name="T38" fmla="*/ 5 w 920"/>
                <a:gd name="T39" fmla="*/ 0 h 1680"/>
                <a:gd name="T40" fmla="*/ 5 w 920"/>
                <a:gd name="T41" fmla="*/ 0 h 1680"/>
                <a:gd name="T42" fmla="*/ 5 w 920"/>
                <a:gd name="T43" fmla="*/ 0 h 1680"/>
                <a:gd name="T44" fmla="*/ 4 w 920"/>
                <a:gd name="T45" fmla="*/ 0 h 1680"/>
                <a:gd name="T46" fmla="*/ 4 w 920"/>
                <a:gd name="T47" fmla="*/ 0 h 1680"/>
                <a:gd name="T48" fmla="*/ 4 w 920"/>
                <a:gd name="T49" fmla="*/ 0 h 1680"/>
                <a:gd name="T50" fmla="*/ 4 w 920"/>
                <a:gd name="T51" fmla="*/ 0 h 1680"/>
                <a:gd name="T52" fmla="*/ 4 w 920"/>
                <a:gd name="T53" fmla="*/ 0 h 1680"/>
                <a:gd name="T54" fmla="*/ 4 w 920"/>
                <a:gd name="T55" fmla="*/ 0 h 1680"/>
                <a:gd name="T56" fmla="*/ 4 w 920"/>
                <a:gd name="T57" fmla="*/ 0 h 1680"/>
                <a:gd name="T58" fmla="*/ 4 w 920"/>
                <a:gd name="T59" fmla="*/ 0 h 1680"/>
                <a:gd name="T60" fmla="*/ 4 w 920"/>
                <a:gd name="T61" fmla="*/ 0 h 1680"/>
                <a:gd name="T62" fmla="*/ 4 w 920"/>
                <a:gd name="T63" fmla="*/ 0 h 1680"/>
                <a:gd name="T64" fmla="*/ 4 w 920"/>
                <a:gd name="T65" fmla="*/ 0 h 1680"/>
                <a:gd name="T66" fmla="*/ 3 w 920"/>
                <a:gd name="T67" fmla="*/ 0 h 1680"/>
                <a:gd name="T68" fmla="*/ 3 w 920"/>
                <a:gd name="T69" fmla="*/ 0 h 1680"/>
                <a:gd name="T70" fmla="*/ 1 w 920"/>
                <a:gd name="T71" fmla="*/ 0 h 1680"/>
                <a:gd name="T72" fmla="*/ 0 w 920"/>
                <a:gd name="T73" fmla="*/ 0 h 168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920"/>
                <a:gd name="T112" fmla="*/ 0 h 1680"/>
                <a:gd name="T113" fmla="*/ 920 w 920"/>
                <a:gd name="T114" fmla="*/ 1680 h 168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920" h="1680">
                  <a:moveTo>
                    <a:pt x="0" y="129"/>
                  </a:moveTo>
                  <a:lnTo>
                    <a:pt x="692" y="30"/>
                  </a:lnTo>
                  <a:lnTo>
                    <a:pt x="693" y="29"/>
                  </a:lnTo>
                  <a:lnTo>
                    <a:pt x="696" y="26"/>
                  </a:lnTo>
                  <a:lnTo>
                    <a:pt x="703" y="23"/>
                  </a:lnTo>
                  <a:lnTo>
                    <a:pt x="711" y="19"/>
                  </a:lnTo>
                  <a:lnTo>
                    <a:pt x="720" y="15"/>
                  </a:lnTo>
                  <a:lnTo>
                    <a:pt x="732" y="10"/>
                  </a:lnTo>
                  <a:lnTo>
                    <a:pt x="746" y="7"/>
                  </a:lnTo>
                  <a:lnTo>
                    <a:pt x="761" y="3"/>
                  </a:lnTo>
                  <a:lnTo>
                    <a:pt x="776" y="1"/>
                  </a:lnTo>
                  <a:lnTo>
                    <a:pt x="793" y="0"/>
                  </a:lnTo>
                  <a:lnTo>
                    <a:pt x="810" y="1"/>
                  </a:lnTo>
                  <a:lnTo>
                    <a:pt x="829" y="4"/>
                  </a:lnTo>
                  <a:lnTo>
                    <a:pt x="848" y="9"/>
                  </a:lnTo>
                  <a:lnTo>
                    <a:pt x="867" y="18"/>
                  </a:lnTo>
                  <a:lnTo>
                    <a:pt x="886" y="30"/>
                  </a:lnTo>
                  <a:lnTo>
                    <a:pt x="906" y="45"/>
                  </a:lnTo>
                  <a:lnTo>
                    <a:pt x="920" y="1640"/>
                  </a:lnTo>
                  <a:lnTo>
                    <a:pt x="918" y="1641"/>
                  </a:lnTo>
                  <a:lnTo>
                    <a:pt x="914" y="1642"/>
                  </a:lnTo>
                  <a:lnTo>
                    <a:pt x="907" y="1645"/>
                  </a:lnTo>
                  <a:lnTo>
                    <a:pt x="898" y="1648"/>
                  </a:lnTo>
                  <a:lnTo>
                    <a:pt x="887" y="1651"/>
                  </a:lnTo>
                  <a:lnTo>
                    <a:pt x="874" y="1656"/>
                  </a:lnTo>
                  <a:lnTo>
                    <a:pt x="859" y="1661"/>
                  </a:lnTo>
                  <a:lnTo>
                    <a:pt x="841" y="1664"/>
                  </a:lnTo>
                  <a:lnTo>
                    <a:pt x="822" y="1669"/>
                  </a:lnTo>
                  <a:lnTo>
                    <a:pt x="802" y="1672"/>
                  </a:lnTo>
                  <a:lnTo>
                    <a:pt x="780" y="1676"/>
                  </a:lnTo>
                  <a:lnTo>
                    <a:pt x="758" y="1678"/>
                  </a:lnTo>
                  <a:lnTo>
                    <a:pt x="734" y="1679"/>
                  </a:lnTo>
                  <a:lnTo>
                    <a:pt x="710" y="1680"/>
                  </a:lnTo>
                  <a:lnTo>
                    <a:pt x="685" y="1679"/>
                  </a:lnTo>
                  <a:lnTo>
                    <a:pt x="659" y="1677"/>
                  </a:lnTo>
                  <a:lnTo>
                    <a:pt x="20" y="1632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3F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Freeform 99">
              <a:extLst>
                <a:ext uri="{FF2B5EF4-FFF2-40B4-BE49-F238E27FC236}">
                  <a16:creationId xmlns:a16="http://schemas.microsoft.com/office/drawing/2014/main" id="{D0F5C43F-FCBD-9BC6-AC3F-5B62A1ADC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" y="85"/>
              <a:ext cx="436" cy="752"/>
            </a:xfrm>
            <a:custGeom>
              <a:avLst/>
              <a:gdLst>
                <a:gd name="T0" fmla="*/ 4 w 743"/>
                <a:gd name="T1" fmla="*/ 0 h 1632"/>
                <a:gd name="T2" fmla="*/ 4 w 743"/>
                <a:gd name="T3" fmla="*/ 0 h 1632"/>
                <a:gd name="T4" fmla="*/ 1 w 743"/>
                <a:gd name="T5" fmla="*/ 0 h 1632"/>
                <a:gd name="T6" fmla="*/ 0 w 743"/>
                <a:gd name="T7" fmla="*/ 0 h 1632"/>
                <a:gd name="T8" fmla="*/ 4 w 743"/>
                <a:gd name="T9" fmla="*/ 0 h 16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3"/>
                <a:gd name="T16" fmla="*/ 0 h 1632"/>
                <a:gd name="T17" fmla="*/ 743 w 743"/>
                <a:gd name="T18" fmla="*/ 1632 h 16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3" h="1632">
                  <a:moveTo>
                    <a:pt x="703" y="0"/>
                  </a:moveTo>
                  <a:lnTo>
                    <a:pt x="743" y="1632"/>
                  </a:lnTo>
                  <a:lnTo>
                    <a:pt x="21" y="1602"/>
                  </a:lnTo>
                  <a:lnTo>
                    <a:pt x="0" y="106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007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Freeform 100">
              <a:extLst>
                <a:ext uri="{FF2B5EF4-FFF2-40B4-BE49-F238E27FC236}">
                  <a16:creationId xmlns:a16="http://schemas.microsoft.com/office/drawing/2014/main" id="{C93F58BD-62D7-5814-60D8-78E6D043C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73"/>
              <a:ext cx="85" cy="783"/>
            </a:xfrm>
            <a:custGeom>
              <a:avLst/>
              <a:gdLst>
                <a:gd name="T0" fmla="*/ 1 w 144"/>
                <a:gd name="T1" fmla="*/ 0 h 1701"/>
                <a:gd name="T2" fmla="*/ 1 w 144"/>
                <a:gd name="T3" fmla="*/ 0 h 1701"/>
                <a:gd name="T4" fmla="*/ 1 w 144"/>
                <a:gd name="T5" fmla="*/ 0 h 1701"/>
                <a:gd name="T6" fmla="*/ 1 w 144"/>
                <a:gd name="T7" fmla="*/ 0 h 1701"/>
                <a:gd name="T8" fmla="*/ 1 w 144"/>
                <a:gd name="T9" fmla="*/ 0 h 1701"/>
                <a:gd name="T10" fmla="*/ 1 w 144"/>
                <a:gd name="T11" fmla="*/ 0 h 1701"/>
                <a:gd name="T12" fmla="*/ 1 w 144"/>
                <a:gd name="T13" fmla="*/ 0 h 1701"/>
                <a:gd name="T14" fmla="*/ 1 w 144"/>
                <a:gd name="T15" fmla="*/ 0 h 1701"/>
                <a:gd name="T16" fmla="*/ 1 w 144"/>
                <a:gd name="T17" fmla="*/ 0 h 1701"/>
                <a:gd name="T18" fmla="*/ 1 w 144"/>
                <a:gd name="T19" fmla="*/ 0 h 1701"/>
                <a:gd name="T20" fmla="*/ 0 w 144"/>
                <a:gd name="T21" fmla="*/ 0 h 1701"/>
                <a:gd name="T22" fmla="*/ 1 w 144"/>
                <a:gd name="T23" fmla="*/ 0 h 1701"/>
                <a:gd name="T24" fmla="*/ 1 w 144"/>
                <a:gd name="T25" fmla="*/ 0 h 1701"/>
                <a:gd name="T26" fmla="*/ 1 w 144"/>
                <a:gd name="T27" fmla="*/ 0 h 1701"/>
                <a:gd name="T28" fmla="*/ 1 w 144"/>
                <a:gd name="T29" fmla="*/ 0 h 1701"/>
                <a:gd name="T30" fmla="*/ 1 w 144"/>
                <a:gd name="T31" fmla="*/ 0 h 1701"/>
                <a:gd name="T32" fmla="*/ 1 w 144"/>
                <a:gd name="T33" fmla="*/ 0 h 1701"/>
                <a:gd name="T34" fmla="*/ 1 w 144"/>
                <a:gd name="T35" fmla="*/ 0 h 1701"/>
                <a:gd name="T36" fmla="*/ 1 w 144"/>
                <a:gd name="T37" fmla="*/ 0 h 170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44"/>
                <a:gd name="T58" fmla="*/ 0 h 1701"/>
                <a:gd name="T59" fmla="*/ 144 w 144"/>
                <a:gd name="T60" fmla="*/ 1701 h 170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44" h="1701">
                  <a:moveTo>
                    <a:pt x="75" y="10"/>
                  </a:moveTo>
                  <a:lnTo>
                    <a:pt x="75" y="80"/>
                  </a:lnTo>
                  <a:lnTo>
                    <a:pt x="77" y="264"/>
                  </a:lnTo>
                  <a:lnTo>
                    <a:pt x="81" y="526"/>
                  </a:lnTo>
                  <a:lnTo>
                    <a:pt x="88" y="825"/>
                  </a:lnTo>
                  <a:lnTo>
                    <a:pt x="96" y="1126"/>
                  </a:lnTo>
                  <a:lnTo>
                    <a:pt x="108" y="1387"/>
                  </a:lnTo>
                  <a:lnTo>
                    <a:pt x="123" y="1574"/>
                  </a:lnTo>
                  <a:lnTo>
                    <a:pt x="144" y="1646"/>
                  </a:lnTo>
                  <a:lnTo>
                    <a:pt x="31" y="1701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10" y="19"/>
                  </a:lnTo>
                  <a:lnTo>
                    <a:pt x="21" y="13"/>
                  </a:lnTo>
                  <a:lnTo>
                    <a:pt x="35" y="6"/>
                  </a:lnTo>
                  <a:lnTo>
                    <a:pt x="47" y="2"/>
                  </a:lnTo>
                  <a:lnTo>
                    <a:pt x="59" y="0"/>
                  </a:lnTo>
                  <a:lnTo>
                    <a:pt x="69" y="2"/>
                  </a:lnTo>
                  <a:lnTo>
                    <a:pt x="75" y="10"/>
                  </a:lnTo>
                  <a:close/>
                </a:path>
              </a:pathLst>
            </a:custGeom>
            <a:solidFill>
              <a:srgbClr val="007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2" name="Freeform 101">
              <a:extLst>
                <a:ext uri="{FF2B5EF4-FFF2-40B4-BE49-F238E27FC236}">
                  <a16:creationId xmlns:a16="http://schemas.microsoft.com/office/drawing/2014/main" id="{6FF9CC41-3E1B-61F6-85F8-E61BD3D74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188"/>
              <a:ext cx="124" cy="51"/>
            </a:xfrm>
            <a:custGeom>
              <a:avLst/>
              <a:gdLst>
                <a:gd name="T0" fmla="*/ 1 w 210"/>
                <a:gd name="T1" fmla="*/ 0 h 111"/>
                <a:gd name="T2" fmla="*/ 1 w 210"/>
                <a:gd name="T3" fmla="*/ 0 h 111"/>
                <a:gd name="T4" fmla="*/ 1 w 210"/>
                <a:gd name="T5" fmla="*/ 0 h 111"/>
                <a:gd name="T6" fmla="*/ 1 w 210"/>
                <a:gd name="T7" fmla="*/ 0 h 111"/>
                <a:gd name="T8" fmla="*/ 1 w 210"/>
                <a:gd name="T9" fmla="*/ 0 h 111"/>
                <a:gd name="T10" fmla="*/ 1 w 210"/>
                <a:gd name="T11" fmla="*/ 0 h 111"/>
                <a:gd name="T12" fmla="*/ 1 w 210"/>
                <a:gd name="T13" fmla="*/ 0 h 111"/>
                <a:gd name="T14" fmla="*/ 1 w 210"/>
                <a:gd name="T15" fmla="*/ 0 h 111"/>
                <a:gd name="T16" fmla="*/ 1 w 210"/>
                <a:gd name="T17" fmla="*/ 0 h 111"/>
                <a:gd name="T18" fmla="*/ 1 w 210"/>
                <a:gd name="T19" fmla="*/ 0 h 111"/>
                <a:gd name="T20" fmla="*/ 1 w 210"/>
                <a:gd name="T21" fmla="*/ 0 h 111"/>
                <a:gd name="T22" fmla="*/ 1 w 210"/>
                <a:gd name="T23" fmla="*/ 0 h 111"/>
                <a:gd name="T24" fmla="*/ 1 w 210"/>
                <a:gd name="T25" fmla="*/ 0 h 111"/>
                <a:gd name="T26" fmla="*/ 1 w 210"/>
                <a:gd name="T27" fmla="*/ 0 h 111"/>
                <a:gd name="T28" fmla="*/ 1 w 210"/>
                <a:gd name="T29" fmla="*/ 0 h 111"/>
                <a:gd name="T30" fmla="*/ 1 w 210"/>
                <a:gd name="T31" fmla="*/ 0 h 111"/>
                <a:gd name="T32" fmla="*/ 1 w 210"/>
                <a:gd name="T33" fmla="*/ 0 h 111"/>
                <a:gd name="T34" fmla="*/ 1 w 210"/>
                <a:gd name="T35" fmla="*/ 0 h 111"/>
                <a:gd name="T36" fmla="*/ 1 w 210"/>
                <a:gd name="T37" fmla="*/ 0 h 111"/>
                <a:gd name="T38" fmla="*/ 1 w 210"/>
                <a:gd name="T39" fmla="*/ 0 h 111"/>
                <a:gd name="T40" fmla="*/ 1 w 210"/>
                <a:gd name="T41" fmla="*/ 0 h 111"/>
                <a:gd name="T42" fmla="*/ 1 w 210"/>
                <a:gd name="T43" fmla="*/ 0 h 111"/>
                <a:gd name="T44" fmla="*/ 1 w 210"/>
                <a:gd name="T45" fmla="*/ 0 h 111"/>
                <a:gd name="T46" fmla="*/ 1 w 210"/>
                <a:gd name="T47" fmla="*/ 0 h 111"/>
                <a:gd name="T48" fmla="*/ 1 w 210"/>
                <a:gd name="T49" fmla="*/ 0 h 111"/>
                <a:gd name="T50" fmla="*/ 1 w 210"/>
                <a:gd name="T51" fmla="*/ 0 h 111"/>
                <a:gd name="T52" fmla="*/ 1 w 210"/>
                <a:gd name="T53" fmla="*/ 0 h 111"/>
                <a:gd name="T54" fmla="*/ 1 w 210"/>
                <a:gd name="T55" fmla="*/ 0 h 111"/>
                <a:gd name="T56" fmla="*/ 1 w 210"/>
                <a:gd name="T57" fmla="*/ 0 h 111"/>
                <a:gd name="T58" fmla="*/ 1 w 210"/>
                <a:gd name="T59" fmla="*/ 0 h 111"/>
                <a:gd name="T60" fmla="*/ 1 w 210"/>
                <a:gd name="T61" fmla="*/ 0 h 111"/>
                <a:gd name="T62" fmla="*/ 1 w 210"/>
                <a:gd name="T63" fmla="*/ 0 h 111"/>
                <a:gd name="T64" fmla="*/ 1 w 210"/>
                <a:gd name="T65" fmla="*/ 0 h 111"/>
                <a:gd name="T66" fmla="*/ 0 w 210"/>
                <a:gd name="T67" fmla="*/ 0 h 111"/>
                <a:gd name="T68" fmla="*/ 1 w 210"/>
                <a:gd name="T69" fmla="*/ 0 h 11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10"/>
                <a:gd name="T106" fmla="*/ 0 h 111"/>
                <a:gd name="T107" fmla="*/ 210 w 210"/>
                <a:gd name="T108" fmla="*/ 111 h 11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10" h="111">
                  <a:moveTo>
                    <a:pt x="4" y="20"/>
                  </a:moveTo>
                  <a:lnTo>
                    <a:pt x="6" y="20"/>
                  </a:lnTo>
                  <a:lnTo>
                    <a:pt x="11" y="19"/>
                  </a:lnTo>
                  <a:lnTo>
                    <a:pt x="19" y="17"/>
                  </a:lnTo>
                  <a:lnTo>
                    <a:pt x="31" y="14"/>
                  </a:lnTo>
                  <a:lnTo>
                    <a:pt x="43" y="12"/>
                  </a:lnTo>
                  <a:lnTo>
                    <a:pt x="58" y="10"/>
                  </a:lnTo>
                  <a:lnTo>
                    <a:pt x="74" y="6"/>
                  </a:lnTo>
                  <a:lnTo>
                    <a:pt x="92" y="4"/>
                  </a:lnTo>
                  <a:lnTo>
                    <a:pt x="109" y="3"/>
                  </a:lnTo>
                  <a:lnTo>
                    <a:pt x="127" y="0"/>
                  </a:lnTo>
                  <a:lnTo>
                    <a:pt x="145" y="0"/>
                  </a:lnTo>
                  <a:lnTo>
                    <a:pt x="161" y="0"/>
                  </a:lnTo>
                  <a:lnTo>
                    <a:pt x="176" y="2"/>
                  </a:lnTo>
                  <a:lnTo>
                    <a:pt x="190" y="5"/>
                  </a:lnTo>
                  <a:lnTo>
                    <a:pt x="201" y="9"/>
                  </a:lnTo>
                  <a:lnTo>
                    <a:pt x="210" y="14"/>
                  </a:lnTo>
                  <a:lnTo>
                    <a:pt x="206" y="101"/>
                  </a:lnTo>
                  <a:lnTo>
                    <a:pt x="203" y="101"/>
                  </a:lnTo>
                  <a:lnTo>
                    <a:pt x="198" y="100"/>
                  </a:lnTo>
                  <a:lnTo>
                    <a:pt x="188" y="98"/>
                  </a:lnTo>
                  <a:lnTo>
                    <a:pt x="177" y="97"/>
                  </a:lnTo>
                  <a:lnTo>
                    <a:pt x="163" y="96"/>
                  </a:lnTo>
                  <a:lnTo>
                    <a:pt x="147" y="95"/>
                  </a:lnTo>
                  <a:lnTo>
                    <a:pt x="130" y="94"/>
                  </a:lnTo>
                  <a:lnTo>
                    <a:pt x="111" y="93"/>
                  </a:lnTo>
                  <a:lnTo>
                    <a:pt x="93" y="91"/>
                  </a:lnTo>
                  <a:lnTo>
                    <a:pt x="74" y="93"/>
                  </a:lnTo>
                  <a:lnTo>
                    <a:pt x="57" y="93"/>
                  </a:lnTo>
                  <a:lnTo>
                    <a:pt x="41" y="95"/>
                  </a:lnTo>
                  <a:lnTo>
                    <a:pt x="27" y="97"/>
                  </a:lnTo>
                  <a:lnTo>
                    <a:pt x="15" y="101"/>
                  </a:lnTo>
                  <a:lnTo>
                    <a:pt x="5" y="105"/>
                  </a:lnTo>
                  <a:lnTo>
                    <a:pt x="0" y="111"/>
                  </a:lnTo>
                  <a:lnTo>
                    <a:pt x="4" y="2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Freeform 102">
              <a:extLst>
                <a:ext uri="{FF2B5EF4-FFF2-40B4-BE49-F238E27FC236}">
                  <a16:creationId xmlns:a16="http://schemas.microsoft.com/office/drawing/2014/main" id="{A6FA54E1-CFCA-92E9-C0C0-7B3828365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" y="188"/>
              <a:ext cx="65" cy="44"/>
            </a:xfrm>
            <a:custGeom>
              <a:avLst/>
              <a:gdLst>
                <a:gd name="T0" fmla="*/ 0 w 109"/>
                <a:gd name="T1" fmla="*/ 0 h 94"/>
                <a:gd name="T2" fmla="*/ 1 w 109"/>
                <a:gd name="T3" fmla="*/ 0 h 94"/>
                <a:gd name="T4" fmla="*/ 1 w 109"/>
                <a:gd name="T5" fmla="*/ 0 h 94"/>
                <a:gd name="T6" fmla="*/ 1 w 109"/>
                <a:gd name="T7" fmla="*/ 0 h 94"/>
                <a:gd name="T8" fmla="*/ 1 w 109"/>
                <a:gd name="T9" fmla="*/ 0 h 94"/>
                <a:gd name="T10" fmla="*/ 1 w 109"/>
                <a:gd name="T11" fmla="*/ 0 h 94"/>
                <a:gd name="T12" fmla="*/ 1 w 109"/>
                <a:gd name="T13" fmla="*/ 0 h 94"/>
                <a:gd name="T14" fmla="*/ 1 w 109"/>
                <a:gd name="T15" fmla="*/ 0 h 94"/>
                <a:gd name="T16" fmla="*/ 1 w 109"/>
                <a:gd name="T17" fmla="*/ 0 h 94"/>
                <a:gd name="T18" fmla="*/ 1 w 109"/>
                <a:gd name="T19" fmla="*/ 0 h 94"/>
                <a:gd name="T20" fmla="*/ 1 w 109"/>
                <a:gd name="T21" fmla="*/ 0 h 94"/>
                <a:gd name="T22" fmla="*/ 1 w 109"/>
                <a:gd name="T23" fmla="*/ 0 h 94"/>
                <a:gd name="T24" fmla="*/ 1 w 109"/>
                <a:gd name="T25" fmla="*/ 0 h 94"/>
                <a:gd name="T26" fmla="*/ 1 w 109"/>
                <a:gd name="T27" fmla="*/ 0 h 94"/>
                <a:gd name="T28" fmla="*/ 1 w 109"/>
                <a:gd name="T29" fmla="*/ 0 h 94"/>
                <a:gd name="T30" fmla="*/ 1 w 109"/>
                <a:gd name="T31" fmla="*/ 0 h 94"/>
                <a:gd name="T32" fmla="*/ 1 w 109"/>
                <a:gd name="T33" fmla="*/ 0 h 94"/>
                <a:gd name="T34" fmla="*/ 1 w 109"/>
                <a:gd name="T35" fmla="*/ 0 h 94"/>
                <a:gd name="T36" fmla="*/ 0 w 109"/>
                <a:gd name="T37" fmla="*/ 0 h 9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9"/>
                <a:gd name="T58" fmla="*/ 0 h 94"/>
                <a:gd name="T59" fmla="*/ 109 w 109"/>
                <a:gd name="T60" fmla="*/ 94 h 9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9" h="94">
                  <a:moveTo>
                    <a:pt x="0" y="12"/>
                  </a:moveTo>
                  <a:lnTo>
                    <a:pt x="3" y="13"/>
                  </a:lnTo>
                  <a:lnTo>
                    <a:pt x="12" y="17"/>
                  </a:lnTo>
                  <a:lnTo>
                    <a:pt x="24" y="23"/>
                  </a:lnTo>
                  <a:lnTo>
                    <a:pt x="38" y="31"/>
                  </a:lnTo>
                  <a:lnTo>
                    <a:pt x="51" y="42"/>
                  </a:lnTo>
                  <a:lnTo>
                    <a:pt x="62" y="55"/>
                  </a:lnTo>
                  <a:lnTo>
                    <a:pt x="69" y="71"/>
                  </a:lnTo>
                  <a:lnTo>
                    <a:pt x="69" y="88"/>
                  </a:lnTo>
                  <a:lnTo>
                    <a:pt x="109" y="94"/>
                  </a:lnTo>
                  <a:lnTo>
                    <a:pt x="104" y="8"/>
                  </a:lnTo>
                  <a:lnTo>
                    <a:pt x="102" y="7"/>
                  </a:lnTo>
                  <a:lnTo>
                    <a:pt x="96" y="5"/>
                  </a:lnTo>
                  <a:lnTo>
                    <a:pt x="87" y="2"/>
                  </a:lnTo>
                  <a:lnTo>
                    <a:pt x="75" y="1"/>
                  </a:lnTo>
                  <a:lnTo>
                    <a:pt x="60" y="0"/>
                  </a:lnTo>
                  <a:lnTo>
                    <a:pt x="41" y="1"/>
                  </a:lnTo>
                  <a:lnTo>
                    <a:pt x="22" y="5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Freeform 103">
              <a:extLst>
                <a:ext uri="{FF2B5EF4-FFF2-40B4-BE49-F238E27FC236}">
                  <a16:creationId xmlns:a16="http://schemas.microsoft.com/office/drawing/2014/main" id="{7FBC6FFD-6390-7F5F-8E0C-8F25EC0BD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269"/>
              <a:ext cx="123" cy="18"/>
            </a:xfrm>
            <a:custGeom>
              <a:avLst/>
              <a:gdLst>
                <a:gd name="T0" fmla="*/ 1 w 211"/>
                <a:gd name="T1" fmla="*/ 0 h 39"/>
                <a:gd name="T2" fmla="*/ 1 w 211"/>
                <a:gd name="T3" fmla="*/ 0 h 39"/>
                <a:gd name="T4" fmla="*/ 1 w 211"/>
                <a:gd name="T5" fmla="*/ 0 h 39"/>
                <a:gd name="T6" fmla="*/ 1 w 211"/>
                <a:gd name="T7" fmla="*/ 0 h 39"/>
                <a:gd name="T8" fmla="*/ 1 w 211"/>
                <a:gd name="T9" fmla="*/ 0 h 39"/>
                <a:gd name="T10" fmla="*/ 1 w 211"/>
                <a:gd name="T11" fmla="*/ 0 h 39"/>
                <a:gd name="T12" fmla="*/ 1 w 211"/>
                <a:gd name="T13" fmla="*/ 0 h 39"/>
                <a:gd name="T14" fmla="*/ 1 w 211"/>
                <a:gd name="T15" fmla="*/ 0 h 39"/>
                <a:gd name="T16" fmla="*/ 1 w 211"/>
                <a:gd name="T17" fmla="*/ 0 h 39"/>
                <a:gd name="T18" fmla="*/ 1 w 211"/>
                <a:gd name="T19" fmla="*/ 0 h 39"/>
                <a:gd name="T20" fmla="*/ 1 w 211"/>
                <a:gd name="T21" fmla="*/ 0 h 39"/>
                <a:gd name="T22" fmla="*/ 1 w 211"/>
                <a:gd name="T23" fmla="*/ 0 h 39"/>
                <a:gd name="T24" fmla="*/ 1 w 211"/>
                <a:gd name="T25" fmla="*/ 0 h 39"/>
                <a:gd name="T26" fmla="*/ 1 w 211"/>
                <a:gd name="T27" fmla="*/ 0 h 39"/>
                <a:gd name="T28" fmla="*/ 1 w 211"/>
                <a:gd name="T29" fmla="*/ 0 h 39"/>
                <a:gd name="T30" fmla="*/ 1 w 211"/>
                <a:gd name="T31" fmla="*/ 0 h 39"/>
                <a:gd name="T32" fmla="*/ 1 w 211"/>
                <a:gd name="T33" fmla="*/ 0 h 39"/>
                <a:gd name="T34" fmla="*/ 1 w 211"/>
                <a:gd name="T35" fmla="*/ 0 h 39"/>
                <a:gd name="T36" fmla="*/ 1 w 211"/>
                <a:gd name="T37" fmla="*/ 0 h 39"/>
                <a:gd name="T38" fmla="*/ 1 w 211"/>
                <a:gd name="T39" fmla="*/ 0 h 39"/>
                <a:gd name="T40" fmla="*/ 1 w 211"/>
                <a:gd name="T41" fmla="*/ 0 h 39"/>
                <a:gd name="T42" fmla="*/ 1 w 211"/>
                <a:gd name="T43" fmla="*/ 0 h 39"/>
                <a:gd name="T44" fmla="*/ 1 w 211"/>
                <a:gd name="T45" fmla="*/ 0 h 39"/>
                <a:gd name="T46" fmla="*/ 1 w 211"/>
                <a:gd name="T47" fmla="*/ 0 h 39"/>
                <a:gd name="T48" fmla="*/ 1 w 211"/>
                <a:gd name="T49" fmla="*/ 0 h 39"/>
                <a:gd name="T50" fmla="*/ 1 w 211"/>
                <a:gd name="T51" fmla="*/ 0 h 39"/>
                <a:gd name="T52" fmla="*/ 1 w 211"/>
                <a:gd name="T53" fmla="*/ 0 h 39"/>
                <a:gd name="T54" fmla="*/ 1 w 211"/>
                <a:gd name="T55" fmla="*/ 0 h 39"/>
                <a:gd name="T56" fmla="*/ 1 w 211"/>
                <a:gd name="T57" fmla="*/ 0 h 39"/>
                <a:gd name="T58" fmla="*/ 1 w 211"/>
                <a:gd name="T59" fmla="*/ 0 h 39"/>
                <a:gd name="T60" fmla="*/ 1 w 211"/>
                <a:gd name="T61" fmla="*/ 0 h 39"/>
                <a:gd name="T62" fmla="*/ 1 w 211"/>
                <a:gd name="T63" fmla="*/ 0 h 39"/>
                <a:gd name="T64" fmla="*/ 1 w 211"/>
                <a:gd name="T65" fmla="*/ 0 h 39"/>
                <a:gd name="T66" fmla="*/ 0 w 211"/>
                <a:gd name="T67" fmla="*/ 0 h 39"/>
                <a:gd name="T68" fmla="*/ 1 w 211"/>
                <a:gd name="T69" fmla="*/ 0 h 3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11"/>
                <a:gd name="T106" fmla="*/ 0 h 39"/>
                <a:gd name="T107" fmla="*/ 211 w 211"/>
                <a:gd name="T108" fmla="*/ 39 h 39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11" h="39">
                  <a:moveTo>
                    <a:pt x="5" y="7"/>
                  </a:moveTo>
                  <a:lnTo>
                    <a:pt x="7" y="7"/>
                  </a:lnTo>
                  <a:lnTo>
                    <a:pt x="12" y="7"/>
                  </a:lnTo>
                  <a:lnTo>
                    <a:pt x="20" y="5"/>
                  </a:lnTo>
                  <a:lnTo>
                    <a:pt x="31" y="4"/>
                  </a:lnTo>
                  <a:lnTo>
                    <a:pt x="44" y="4"/>
                  </a:lnTo>
                  <a:lnTo>
                    <a:pt x="59" y="3"/>
                  </a:lnTo>
                  <a:lnTo>
                    <a:pt x="75" y="2"/>
                  </a:lnTo>
                  <a:lnTo>
                    <a:pt x="92" y="1"/>
                  </a:lnTo>
                  <a:lnTo>
                    <a:pt x="110" y="1"/>
                  </a:lnTo>
                  <a:lnTo>
                    <a:pt x="128" y="0"/>
                  </a:lnTo>
                  <a:lnTo>
                    <a:pt x="145" y="0"/>
                  </a:lnTo>
                  <a:lnTo>
                    <a:pt x="162" y="1"/>
                  </a:lnTo>
                  <a:lnTo>
                    <a:pt x="176" y="1"/>
                  </a:lnTo>
                  <a:lnTo>
                    <a:pt x="190" y="2"/>
                  </a:lnTo>
                  <a:lnTo>
                    <a:pt x="202" y="3"/>
                  </a:lnTo>
                  <a:lnTo>
                    <a:pt x="211" y="5"/>
                  </a:lnTo>
                  <a:lnTo>
                    <a:pt x="206" y="35"/>
                  </a:lnTo>
                  <a:lnTo>
                    <a:pt x="204" y="35"/>
                  </a:lnTo>
                  <a:lnTo>
                    <a:pt x="198" y="35"/>
                  </a:lnTo>
                  <a:lnTo>
                    <a:pt x="189" y="34"/>
                  </a:lnTo>
                  <a:lnTo>
                    <a:pt x="178" y="34"/>
                  </a:lnTo>
                  <a:lnTo>
                    <a:pt x="164" y="33"/>
                  </a:lnTo>
                  <a:lnTo>
                    <a:pt x="148" y="33"/>
                  </a:lnTo>
                  <a:lnTo>
                    <a:pt x="130" y="33"/>
                  </a:lnTo>
                  <a:lnTo>
                    <a:pt x="112" y="32"/>
                  </a:lnTo>
                  <a:lnTo>
                    <a:pt x="94" y="32"/>
                  </a:lnTo>
                  <a:lnTo>
                    <a:pt x="75" y="32"/>
                  </a:lnTo>
                  <a:lnTo>
                    <a:pt x="58" y="32"/>
                  </a:lnTo>
                  <a:lnTo>
                    <a:pt x="42" y="33"/>
                  </a:lnTo>
                  <a:lnTo>
                    <a:pt x="28" y="34"/>
                  </a:lnTo>
                  <a:lnTo>
                    <a:pt x="15" y="35"/>
                  </a:lnTo>
                  <a:lnTo>
                    <a:pt x="6" y="37"/>
                  </a:lnTo>
                  <a:lnTo>
                    <a:pt x="0" y="39"/>
                  </a:lnTo>
                  <a:lnTo>
                    <a:pt x="5" y="7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Freeform 104">
              <a:extLst>
                <a:ext uri="{FF2B5EF4-FFF2-40B4-BE49-F238E27FC236}">
                  <a16:creationId xmlns:a16="http://schemas.microsoft.com/office/drawing/2014/main" id="{F434EBDF-6C14-27ED-5EBA-F2E27B81C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69"/>
              <a:ext cx="65" cy="16"/>
            </a:xfrm>
            <a:custGeom>
              <a:avLst/>
              <a:gdLst>
                <a:gd name="T0" fmla="*/ 0 w 110"/>
                <a:gd name="T1" fmla="*/ 0 h 33"/>
                <a:gd name="T2" fmla="*/ 1 w 110"/>
                <a:gd name="T3" fmla="*/ 0 h 33"/>
                <a:gd name="T4" fmla="*/ 1 w 110"/>
                <a:gd name="T5" fmla="*/ 0 h 33"/>
                <a:gd name="T6" fmla="*/ 1 w 110"/>
                <a:gd name="T7" fmla="*/ 0 h 33"/>
                <a:gd name="T8" fmla="*/ 1 w 110"/>
                <a:gd name="T9" fmla="*/ 0 h 33"/>
                <a:gd name="T10" fmla="*/ 1 w 110"/>
                <a:gd name="T11" fmla="*/ 0 h 33"/>
                <a:gd name="T12" fmla="*/ 1 w 110"/>
                <a:gd name="T13" fmla="*/ 0 h 33"/>
                <a:gd name="T14" fmla="*/ 1 w 110"/>
                <a:gd name="T15" fmla="*/ 0 h 33"/>
                <a:gd name="T16" fmla="*/ 1 w 110"/>
                <a:gd name="T17" fmla="*/ 0 h 33"/>
                <a:gd name="T18" fmla="*/ 1 w 110"/>
                <a:gd name="T19" fmla="*/ 0 h 33"/>
                <a:gd name="T20" fmla="*/ 1 w 110"/>
                <a:gd name="T21" fmla="*/ 0 h 33"/>
                <a:gd name="T22" fmla="*/ 1 w 110"/>
                <a:gd name="T23" fmla="*/ 0 h 33"/>
                <a:gd name="T24" fmla="*/ 1 w 110"/>
                <a:gd name="T25" fmla="*/ 0 h 33"/>
                <a:gd name="T26" fmla="*/ 1 w 110"/>
                <a:gd name="T27" fmla="*/ 0 h 33"/>
                <a:gd name="T28" fmla="*/ 1 w 110"/>
                <a:gd name="T29" fmla="*/ 0 h 33"/>
                <a:gd name="T30" fmla="*/ 1 w 110"/>
                <a:gd name="T31" fmla="*/ 0 h 33"/>
                <a:gd name="T32" fmla="*/ 1 w 110"/>
                <a:gd name="T33" fmla="*/ 0 h 33"/>
                <a:gd name="T34" fmla="*/ 1 w 110"/>
                <a:gd name="T35" fmla="*/ 0 h 33"/>
                <a:gd name="T36" fmla="*/ 0 w 110"/>
                <a:gd name="T37" fmla="*/ 0 h 3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0"/>
                <a:gd name="T58" fmla="*/ 0 h 33"/>
                <a:gd name="T59" fmla="*/ 110 w 110"/>
                <a:gd name="T60" fmla="*/ 33 h 3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0" h="33">
                  <a:moveTo>
                    <a:pt x="0" y="4"/>
                  </a:moveTo>
                  <a:lnTo>
                    <a:pt x="4" y="4"/>
                  </a:lnTo>
                  <a:lnTo>
                    <a:pt x="12" y="6"/>
                  </a:lnTo>
                  <a:lnTo>
                    <a:pt x="25" y="8"/>
                  </a:lnTo>
                  <a:lnTo>
                    <a:pt x="38" y="11"/>
                  </a:lnTo>
                  <a:lnTo>
                    <a:pt x="51" y="15"/>
                  </a:lnTo>
                  <a:lnTo>
                    <a:pt x="61" y="19"/>
                  </a:lnTo>
                  <a:lnTo>
                    <a:pt x="68" y="25"/>
                  </a:lnTo>
                  <a:lnTo>
                    <a:pt x="68" y="31"/>
                  </a:lnTo>
                  <a:lnTo>
                    <a:pt x="110" y="33"/>
                  </a:lnTo>
                  <a:lnTo>
                    <a:pt x="105" y="2"/>
                  </a:lnTo>
                  <a:lnTo>
                    <a:pt x="103" y="2"/>
                  </a:lnTo>
                  <a:lnTo>
                    <a:pt x="97" y="1"/>
                  </a:lnTo>
                  <a:lnTo>
                    <a:pt x="88" y="1"/>
                  </a:lnTo>
                  <a:lnTo>
                    <a:pt x="75" y="0"/>
                  </a:lnTo>
                  <a:lnTo>
                    <a:pt x="59" y="0"/>
                  </a:lnTo>
                  <a:lnTo>
                    <a:pt x="42" y="0"/>
                  </a:lnTo>
                  <a:lnTo>
                    <a:pt x="22" y="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Freeform 105">
              <a:extLst>
                <a:ext uri="{FF2B5EF4-FFF2-40B4-BE49-F238E27FC236}">
                  <a16:creationId xmlns:a16="http://schemas.microsoft.com/office/drawing/2014/main" id="{63596ECC-AA9D-A02F-4855-3DE350ECD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722"/>
              <a:ext cx="118" cy="29"/>
            </a:xfrm>
            <a:custGeom>
              <a:avLst/>
              <a:gdLst>
                <a:gd name="T0" fmla="*/ 1 w 203"/>
                <a:gd name="T1" fmla="*/ 0 h 61"/>
                <a:gd name="T2" fmla="*/ 1 w 203"/>
                <a:gd name="T3" fmla="*/ 0 h 61"/>
                <a:gd name="T4" fmla="*/ 1 w 203"/>
                <a:gd name="T5" fmla="*/ 0 h 61"/>
                <a:gd name="T6" fmla="*/ 1 w 203"/>
                <a:gd name="T7" fmla="*/ 0 h 61"/>
                <a:gd name="T8" fmla="*/ 1 w 203"/>
                <a:gd name="T9" fmla="*/ 0 h 61"/>
                <a:gd name="T10" fmla="*/ 1 w 203"/>
                <a:gd name="T11" fmla="*/ 0 h 61"/>
                <a:gd name="T12" fmla="*/ 1 w 203"/>
                <a:gd name="T13" fmla="*/ 0 h 61"/>
                <a:gd name="T14" fmla="*/ 1 w 203"/>
                <a:gd name="T15" fmla="*/ 0 h 61"/>
                <a:gd name="T16" fmla="*/ 1 w 203"/>
                <a:gd name="T17" fmla="*/ 0 h 61"/>
                <a:gd name="T18" fmla="*/ 1 w 203"/>
                <a:gd name="T19" fmla="*/ 0 h 61"/>
                <a:gd name="T20" fmla="*/ 1 w 203"/>
                <a:gd name="T21" fmla="*/ 0 h 61"/>
                <a:gd name="T22" fmla="*/ 1 w 203"/>
                <a:gd name="T23" fmla="*/ 0 h 61"/>
                <a:gd name="T24" fmla="*/ 1 w 203"/>
                <a:gd name="T25" fmla="*/ 0 h 61"/>
                <a:gd name="T26" fmla="*/ 1 w 203"/>
                <a:gd name="T27" fmla="*/ 0 h 61"/>
                <a:gd name="T28" fmla="*/ 1 w 203"/>
                <a:gd name="T29" fmla="*/ 0 h 61"/>
                <a:gd name="T30" fmla="*/ 1 w 203"/>
                <a:gd name="T31" fmla="*/ 0 h 61"/>
                <a:gd name="T32" fmla="*/ 1 w 203"/>
                <a:gd name="T33" fmla="*/ 0 h 61"/>
                <a:gd name="T34" fmla="*/ 1 w 203"/>
                <a:gd name="T35" fmla="*/ 0 h 61"/>
                <a:gd name="T36" fmla="*/ 1 w 203"/>
                <a:gd name="T37" fmla="*/ 0 h 61"/>
                <a:gd name="T38" fmla="*/ 1 w 203"/>
                <a:gd name="T39" fmla="*/ 0 h 61"/>
                <a:gd name="T40" fmla="*/ 1 w 203"/>
                <a:gd name="T41" fmla="*/ 0 h 61"/>
                <a:gd name="T42" fmla="*/ 1 w 203"/>
                <a:gd name="T43" fmla="*/ 0 h 61"/>
                <a:gd name="T44" fmla="*/ 1 w 203"/>
                <a:gd name="T45" fmla="*/ 0 h 61"/>
                <a:gd name="T46" fmla="*/ 1 w 203"/>
                <a:gd name="T47" fmla="*/ 0 h 61"/>
                <a:gd name="T48" fmla="*/ 1 w 203"/>
                <a:gd name="T49" fmla="*/ 0 h 61"/>
                <a:gd name="T50" fmla="*/ 1 w 203"/>
                <a:gd name="T51" fmla="*/ 0 h 61"/>
                <a:gd name="T52" fmla="*/ 1 w 203"/>
                <a:gd name="T53" fmla="*/ 0 h 61"/>
                <a:gd name="T54" fmla="*/ 1 w 203"/>
                <a:gd name="T55" fmla="*/ 0 h 61"/>
                <a:gd name="T56" fmla="*/ 1 w 203"/>
                <a:gd name="T57" fmla="*/ 0 h 61"/>
                <a:gd name="T58" fmla="*/ 1 w 203"/>
                <a:gd name="T59" fmla="*/ 0 h 61"/>
                <a:gd name="T60" fmla="*/ 1 w 203"/>
                <a:gd name="T61" fmla="*/ 0 h 61"/>
                <a:gd name="T62" fmla="*/ 1 w 203"/>
                <a:gd name="T63" fmla="*/ 0 h 61"/>
                <a:gd name="T64" fmla="*/ 1 w 203"/>
                <a:gd name="T65" fmla="*/ 0 h 61"/>
                <a:gd name="T66" fmla="*/ 0 w 203"/>
                <a:gd name="T67" fmla="*/ 0 h 61"/>
                <a:gd name="T68" fmla="*/ 1 w 203"/>
                <a:gd name="T69" fmla="*/ 0 h 6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03"/>
                <a:gd name="T106" fmla="*/ 0 h 61"/>
                <a:gd name="T107" fmla="*/ 203 w 203"/>
                <a:gd name="T108" fmla="*/ 61 h 6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03" h="61">
                  <a:moveTo>
                    <a:pt x="4" y="27"/>
                  </a:moveTo>
                  <a:lnTo>
                    <a:pt x="6" y="27"/>
                  </a:lnTo>
                  <a:lnTo>
                    <a:pt x="11" y="26"/>
                  </a:lnTo>
                  <a:lnTo>
                    <a:pt x="19" y="24"/>
                  </a:lnTo>
                  <a:lnTo>
                    <a:pt x="29" y="21"/>
                  </a:lnTo>
                  <a:lnTo>
                    <a:pt x="42" y="19"/>
                  </a:lnTo>
                  <a:lnTo>
                    <a:pt x="57" y="17"/>
                  </a:lnTo>
                  <a:lnTo>
                    <a:pt x="72" y="13"/>
                  </a:lnTo>
                  <a:lnTo>
                    <a:pt x="88" y="11"/>
                  </a:lnTo>
                  <a:lnTo>
                    <a:pt x="105" y="8"/>
                  </a:lnTo>
                  <a:lnTo>
                    <a:pt x="122" y="5"/>
                  </a:lnTo>
                  <a:lnTo>
                    <a:pt x="138" y="3"/>
                  </a:lnTo>
                  <a:lnTo>
                    <a:pt x="155" y="2"/>
                  </a:lnTo>
                  <a:lnTo>
                    <a:pt x="169" y="1"/>
                  </a:lnTo>
                  <a:lnTo>
                    <a:pt x="183" y="0"/>
                  </a:lnTo>
                  <a:lnTo>
                    <a:pt x="194" y="0"/>
                  </a:lnTo>
                  <a:lnTo>
                    <a:pt x="203" y="1"/>
                  </a:lnTo>
                  <a:lnTo>
                    <a:pt x="199" y="32"/>
                  </a:lnTo>
                  <a:lnTo>
                    <a:pt x="197" y="32"/>
                  </a:lnTo>
                  <a:lnTo>
                    <a:pt x="191" y="33"/>
                  </a:lnTo>
                  <a:lnTo>
                    <a:pt x="183" y="33"/>
                  </a:lnTo>
                  <a:lnTo>
                    <a:pt x="172" y="34"/>
                  </a:lnTo>
                  <a:lnTo>
                    <a:pt x="158" y="35"/>
                  </a:lnTo>
                  <a:lnTo>
                    <a:pt x="142" y="36"/>
                  </a:lnTo>
                  <a:lnTo>
                    <a:pt x="126" y="39"/>
                  </a:lnTo>
                  <a:lnTo>
                    <a:pt x="108" y="41"/>
                  </a:lnTo>
                  <a:lnTo>
                    <a:pt x="90" y="42"/>
                  </a:lnTo>
                  <a:lnTo>
                    <a:pt x="73" y="44"/>
                  </a:lnTo>
                  <a:lnTo>
                    <a:pt x="57" y="47"/>
                  </a:lnTo>
                  <a:lnTo>
                    <a:pt x="40" y="50"/>
                  </a:lnTo>
                  <a:lnTo>
                    <a:pt x="27" y="53"/>
                  </a:lnTo>
                  <a:lnTo>
                    <a:pt x="15" y="55"/>
                  </a:lnTo>
                  <a:lnTo>
                    <a:pt x="6" y="58"/>
                  </a:lnTo>
                  <a:lnTo>
                    <a:pt x="0" y="61"/>
                  </a:lnTo>
                  <a:lnTo>
                    <a:pt x="4" y="27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Freeform 106">
              <a:extLst>
                <a:ext uri="{FF2B5EF4-FFF2-40B4-BE49-F238E27FC236}">
                  <a16:creationId xmlns:a16="http://schemas.microsoft.com/office/drawing/2014/main" id="{43D3AFE4-B10B-1BF8-A74C-C070F786F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724"/>
              <a:ext cx="63" cy="16"/>
            </a:xfrm>
            <a:custGeom>
              <a:avLst/>
              <a:gdLst>
                <a:gd name="T0" fmla="*/ 0 w 106"/>
                <a:gd name="T1" fmla="*/ 0 h 33"/>
                <a:gd name="T2" fmla="*/ 1 w 106"/>
                <a:gd name="T3" fmla="*/ 0 h 33"/>
                <a:gd name="T4" fmla="*/ 1 w 106"/>
                <a:gd name="T5" fmla="*/ 0 h 33"/>
                <a:gd name="T6" fmla="*/ 1 w 106"/>
                <a:gd name="T7" fmla="*/ 0 h 33"/>
                <a:gd name="T8" fmla="*/ 1 w 106"/>
                <a:gd name="T9" fmla="*/ 0 h 33"/>
                <a:gd name="T10" fmla="*/ 1 w 106"/>
                <a:gd name="T11" fmla="*/ 0 h 33"/>
                <a:gd name="T12" fmla="*/ 1 w 106"/>
                <a:gd name="T13" fmla="*/ 0 h 33"/>
                <a:gd name="T14" fmla="*/ 1 w 106"/>
                <a:gd name="T15" fmla="*/ 0 h 33"/>
                <a:gd name="T16" fmla="*/ 1 w 106"/>
                <a:gd name="T17" fmla="*/ 0 h 33"/>
                <a:gd name="T18" fmla="*/ 1 w 106"/>
                <a:gd name="T19" fmla="*/ 0 h 33"/>
                <a:gd name="T20" fmla="*/ 1 w 106"/>
                <a:gd name="T21" fmla="*/ 0 h 33"/>
                <a:gd name="T22" fmla="*/ 1 w 106"/>
                <a:gd name="T23" fmla="*/ 0 h 33"/>
                <a:gd name="T24" fmla="*/ 1 w 106"/>
                <a:gd name="T25" fmla="*/ 0 h 33"/>
                <a:gd name="T26" fmla="*/ 1 w 106"/>
                <a:gd name="T27" fmla="*/ 0 h 33"/>
                <a:gd name="T28" fmla="*/ 1 w 106"/>
                <a:gd name="T29" fmla="*/ 0 h 33"/>
                <a:gd name="T30" fmla="*/ 1 w 106"/>
                <a:gd name="T31" fmla="*/ 0 h 33"/>
                <a:gd name="T32" fmla="*/ 1 w 106"/>
                <a:gd name="T33" fmla="*/ 0 h 33"/>
                <a:gd name="T34" fmla="*/ 1 w 106"/>
                <a:gd name="T35" fmla="*/ 0 h 33"/>
                <a:gd name="T36" fmla="*/ 0 w 106"/>
                <a:gd name="T37" fmla="*/ 0 h 3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6"/>
                <a:gd name="T58" fmla="*/ 0 h 33"/>
                <a:gd name="T59" fmla="*/ 106 w 106"/>
                <a:gd name="T60" fmla="*/ 33 h 3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6" h="33">
                  <a:moveTo>
                    <a:pt x="0" y="15"/>
                  </a:moveTo>
                  <a:lnTo>
                    <a:pt x="3" y="15"/>
                  </a:lnTo>
                  <a:lnTo>
                    <a:pt x="11" y="15"/>
                  </a:lnTo>
                  <a:lnTo>
                    <a:pt x="23" y="16"/>
                  </a:lnTo>
                  <a:lnTo>
                    <a:pt x="37" y="17"/>
                  </a:lnTo>
                  <a:lnTo>
                    <a:pt x="49" y="20"/>
                  </a:lnTo>
                  <a:lnTo>
                    <a:pt x="60" y="23"/>
                  </a:lnTo>
                  <a:lnTo>
                    <a:pt x="67" y="28"/>
                  </a:lnTo>
                  <a:lnTo>
                    <a:pt x="67" y="33"/>
                  </a:lnTo>
                  <a:lnTo>
                    <a:pt x="106" y="31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3" y="0"/>
                  </a:lnTo>
                  <a:lnTo>
                    <a:pt x="84" y="0"/>
                  </a:lnTo>
                  <a:lnTo>
                    <a:pt x="72" y="1"/>
                  </a:lnTo>
                  <a:lnTo>
                    <a:pt x="57" y="3"/>
                  </a:lnTo>
                  <a:lnTo>
                    <a:pt x="40" y="6"/>
                  </a:lnTo>
                  <a:lnTo>
                    <a:pt x="21" y="9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Freeform 109">
              <a:extLst>
                <a:ext uri="{FF2B5EF4-FFF2-40B4-BE49-F238E27FC236}">
                  <a16:creationId xmlns:a16="http://schemas.microsoft.com/office/drawing/2014/main" id="{934792E5-47D8-F14D-E944-9290C068C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822"/>
              <a:ext cx="472" cy="34"/>
            </a:xfrm>
            <a:custGeom>
              <a:avLst/>
              <a:gdLst>
                <a:gd name="T0" fmla="*/ 1 w 803"/>
                <a:gd name="T1" fmla="*/ 0 h 75"/>
                <a:gd name="T2" fmla="*/ 1 w 803"/>
                <a:gd name="T3" fmla="*/ 0 h 75"/>
                <a:gd name="T4" fmla="*/ 1 w 803"/>
                <a:gd name="T5" fmla="*/ 0 h 75"/>
                <a:gd name="T6" fmla="*/ 1 w 803"/>
                <a:gd name="T7" fmla="*/ 0 h 75"/>
                <a:gd name="T8" fmla="*/ 1 w 803"/>
                <a:gd name="T9" fmla="*/ 0 h 75"/>
                <a:gd name="T10" fmla="*/ 2 w 803"/>
                <a:gd name="T11" fmla="*/ 0 h 75"/>
                <a:gd name="T12" fmla="*/ 2 w 803"/>
                <a:gd name="T13" fmla="*/ 0 h 75"/>
                <a:gd name="T14" fmla="*/ 3 w 803"/>
                <a:gd name="T15" fmla="*/ 0 h 75"/>
                <a:gd name="T16" fmla="*/ 3 w 803"/>
                <a:gd name="T17" fmla="*/ 0 h 75"/>
                <a:gd name="T18" fmla="*/ 3 w 803"/>
                <a:gd name="T19" fmla="*/ 0 h 75"/>
                <a:gd name="T20" fmla="*/ 3 w 803"/>
                <a:gd name="T21" fmla="*/ 0 h 75"/>
                <a:gd name="T22" fmla="*/ 3 w 803"/>
                <a:gd name="T23" fmla="*/ 0 h 75"/>
                <a:gd name="T24" fmla="*/ 4 w 803"/>
                <a:gd name="T25" fmla="*/ 0 h 75"/>
                <a:gd name="T26" fmla="*/ 4 w 803"/>
                <a:gd name="T27" fmla="*/ 0 h 75"/>
                <a:gd name="T28" fmla="*/ 4 w 803"/>
                <a:gd name="T29" fmla="*/ 0 h 75"/>
                <a:gd name="T30" fmla="*/ 4 w 803"/>
                <a:gd name="T31" fmla="*/ 0 h 75"/>
                <a:gd name="T32" fmla="*/ 4 w 803"/>
                <a:gd name="T33" fmla="*/ 0 h 75"/>
                <a:gd name="T34" fmla="*/ 4 w 803"/>
                <a:gd name="T35" fmla="*/ 0 h 75"/>
                <a:gd name="T36" fmla="*/ 4 w 803"/>
                <a:gd name="T37" fmla="*/ 0 h 75"/>
                <a:gd name="T38" fmla="*/ 4 w 803"/>
                <a:gd name="T39" fmla="*/ 0 h 75"/>
                <a:gd name="T40" fmla="*/ 4 w 803"/>
                <a:gd name="T41" fmla="*/ 0 h 75"/>
                <a:gd name="T42" fmla="*/ 3 w 803"/>
                <a:gd name="T43" fmla="*/ 0 h 75"/>
                <a:gd name="T44" fmla="*/ 3 w 803"/>
                <a:gd name="T45" fmla="*/ 0 h 75"/>
                <a:gd name="T46" fmla="*/ 3 w 803"/>
                <a:gd name="T47" fmla="*/ 0 h 75"/>
                <a:gd name="T48" fmla="*/ 3 w 803"/>
                <a:gd name="T49" fmla="*/ 0 h 75"/>
                <a:gd name="T50" fmla="*/ 3 w 803"/>
                <a:gd name="T51" fmla="*/ 0 h 75"/>
                <a:gd name="T52" fmla="*/ 2 w 803"/>
                <a:gd name="T53" fmla="*/ 0 h 75"/>
                <a:gd name="T54" fmla="*/ 2 w 803"/>
                <a:gd name="T55" fmla="*/ 0 h 75"/>
                <a:gd name="T56" fmla="*/ 2 w 803"/>
                <a:gd name="T57" fmla="*/ 0 h 75"/>
                <a:gd name="T58" fmla="*/ 1 w 803"/>
                <a:gd name="T59" fmla="*/ 0 h 75"/>
                <a:gd name="T60" fmla="*/ 1 w 803"/>
                <a:gd name="T61" fmla="*/ 0 h 75"/>
                <a:gd name="T62" fmla="*/ 1 w 803"/>
                <a:gd name="T63" fmla="*/ 0 h 7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803"/>
                <a:gd name="T97" fmla="*/ 0 h 75"/>
                <a:gd name="T98" fmla="*/ 803 w 803"/>
                <a:gd name="T99" fmla="*/ 75 h 7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803" h="75">
                  <a:moveTo>
                    <a:pt x="0" y="30"/>
                  </a:moveTo>
                  <a:lnTo>
                    <a:pt x="3" y="30"/>
                  </a:lnTo>
                  <a:lnTo>
                    <a:pt x="11" y="29"/>
                  </a:lnTo>
                  <a:lnTo>
                    <a:pt x="26" y="28"/>
                  </a:lnTo>
                  <a:lnTo>
                    <a:pt x="47" y="26"/>
                  </a:lnTo>
                  <a:lnTo>
                    <a:pt x="72" y="25"/>
                  </a:lnTo>
                  <a:lnTo>
                    <a:pt x="102" y="24"/>
                  </a:lnTo>
                  <a:lnTo>
                    <a:pt x="137" y="24"/>
                  </a:lnTo>
                  <a:lnTo>
                    <a:pt x="176" y="24"/>
                  </a:lnTo>
                  <a:lnTo>
                    <a:pt x="219" y="25"/>
                  </a:lnTo>
                  <a:lnTo>
                    <a:pt x="265" y="28"/>
                  </a:lnTo>
                  <a:lnTo>
                    <a:pt x="315" y="31"/>
                  </a:lnTo>
                  <a:lnTo>
                    <a:pt x="369" y="36"/>
                  </a:lnTo>
                  <a:lnTo>
                    <a:pt x="426" y="43"/>
                  </a:lnTo>
                  <a:lnTo>
                    <a:pt x="485" y="52"/>
                  </a:lnTo>
                  <a:lnTo>
                    <a:pt x="547" y="62"/>
                  </a:lnTo>
                  <a:lnTo>
                    <a:pt x="610" y="75"/>
                  </a:lnTo>
                  <a:lnTo>
                    <a:pt x="613" y="75"/>
                  </a:lnTo>
                  <a:lnTo>
                    <a:pt x="618" y="74"/>
                  </a:lnTo>
                  <a:lnTo>
                    <a:pt x="626" y="72"/>
                  </a:lnTo>
                  <a:lnTo>
                    <a:pt x="638" y="71"/>
                  </a:lnTo>
                  <a:lnTo>
                    <a:pt x="652" y="69"/>
                  </a:lnTo>
                  <a:lnTo>
                    <a:pt x="668" y="67"/>
                  </a:lnTo>
                  <a:lnTo>
                    <a:pt x="684" y="63"/>
                  </a:lnTo>
                  <a:lnTo>
                    <a:pt x="701" y="60"/>
                  </a:lnTo>
                  <a:lnTo>
                    <a:pt x="719" y="55"/>
                  </a:lnTo>
                  <a:lnTo>
                    <a:pt x="736" y="49"/>
                  </a:lnTo>
                  <a:lnTo>
                    <a:pt x="752" y="44"/>
                  </a:lnTo>
                  <a:lnTo>
                    <a:pt x="767" y="37"/>
                  </a:lnTo>
                  <a:lnTo>
                    <a:pt x="780" y="29"/>
                  </a:lnTo>
                  <a:lnTo>
                    <a:pt x="790" y="21"/>
                  </a:lnTo>
                  <a:lnTo>
                    <a:pt x="798" y="10"/>
                  </a:lnTo>
                  <a:lnTo>
                    <a:pt x="803" y="0"/>
                  </a:lnTo>
                  <a:lnTo>
                    <a:pt x="801" y="0"/>
                  </a:lnTo>
                  <a:lnTo>
                    <a:pt x="798" y="2"/>
                  </a:lnTo>
                  <a:lnTo>
                    <a:pt x="791" y="5"/>
                  </a:lnTo>
                  <a:lnTo>
                    <a:pt x="783" y="7"/>
                  </a:lnTo>
                  <a:lnTo>
                    <a:pt x="774" y="10"/>
                  </a:lnTo>
                  <a:lnTo>
                    <a:pt x="762" y="14"/>
                  </a:lnTo>
                  <a:lnTo>
                    <a:pt x="748" y="17"/>
                  </a:lnTo>
                  <a:lnTo>
                    <a:pt x="735" y="22"/>
                  </a:lnTo>
                  <a:lnTo>
                    <a:pt x="720" y="25"/>
                  </a:lnTo>
                  <a:lnTo>
                    <a:pt x="705" y="29"/>
                  </a:lnTo>
                  <a:lnTo>
                    <a:pt x="689" y="32"/>
                  </a:lnTo>
                  <a:lnTo>
                    <a:pt x="672" y="34"/>
                  </a:lnTo>
                  <a:lnTo>
                    <a:pt x="656" y="37"/>
                  </a:lnTo>
                  <a:lnTo>
                    <a:pt x="640" y="38"/>
                  </a:lnTo>
                  <a:lnTo>
                    <a:pt x="625" y="38"/>
                  </a:lnTo>
                  <a:lnTo>
                    <a:pt x="610" y="37"/>
                  </a:lnTo>
                  <a:lnTo>
                    <a:pt x="606" y="36"/>
                  </a:lnTo>
                  <a:lnTo>
                    <a:pt x="592" y="34"/>
                  </a:lnTo>
                  <a:lnTo>
                    <a:pt x="569" y="32"/>
                  </a:lnTo>
                  <a:lnTo>
                    <a:pt x="540" y="29"/>
                  </a:lnTo>
                  <a:lnTo>
                    <a:pt x="504" y="26"/>
                  </a:lnTo>
                  <a:lnTo>
                    <a:pt x="464" y="23"/>
                  </a:lnTo>
                  <a:lnTo>
                    <a:pt x="419" y="20"/>
                  </a:lnTo>
                  <a:lnTo>
                    <a:pt x="372" y="16"/>
                  </a:lnTo>
                  <a:lnTo>
                    <a:pt x="322" y="14"/>
                  </a:lnTo>
                  <a:lnTo>
                    <a:pt x="272" y="11"/>
                  </a:lnTo>
                  <a:lnTo>
                    <a:pt x="221" y="11"/>
                  </a:lnTo>
                  <a:lnTo>
                    <a:pt x="170" y="11"/>
                  </a:lnTo>
                  <a:lnTo>
                    <a:pt x="122" y="14"/>
                  </a:lnTo>
                  <a:lnTo>
                    <a:pt x="77" y="17"/>
                  </a:lnTo>
                  <a:lnTo>
                    <a:pt x="35" y="22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9" name="Freeform 110">
              <a:extLst>
                <a:ext uri="{FF2B5EF4-FFF2-40B4-BE49-F238E27FC236}">
                  <a16:creationId xmlns:a16="http://schemas.microsoft.com/office/drawing/2014/main" id="{6737A095-F992-A878-2879-2ED947915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104"/>
              <a:ext cx="14" cy="703"/>
            </a:xfrm>
            <a:custGeom>
              <a:avLst/>
              <a:gdLst>
                <a:gd name="T0" fmla="*/ 0 w 25"/>
                <a:gd name="T1" fmla="*/ 0 h 1526"/>
                <a:gd name="T2" fmla="*/ 1 w 25"/>
                <a:gd name="T3" fmla="*/ 0 h 1526"/>
                <a:gd name="T4" fmla="*/ 1 w 25"/>
                <a:gd name="T5" fmla="*/ 0 h 1526"/>
                <a:gd name="T6" fmla="*/ 1 w 25"/>
                <a:gd name="T7" fmla="*/ 0 h 1526"/>
                <a:gd name="T8" fmla="*/ 1 w 25"/>
                <a:gd name="T9" fmla="*/ 0 h 1526"/>
                <a:gd name="T10" fmla="*/ 1 w 25"/>
                <a:gd name="T11" fmla="*/ 0 h 1526"/>
                <a:gd name="T12" fmla="*/ 1 w 25"/>
                <a:gd name="T13" fmla="*/ 0 h 1526"/>
                <a:gd name="T14" fmla="*/ 1 w 25"/>
                <a:gd name="T15" fmla="*/ 0 h 1526"/>
                <a:gd name="T16" fmla="*/ 1 w 25"/>
                <a:gd name="T17" fmla="*/ 0 h 1526"/>
                <a:gd name="T18" fmla="*/ 0 w 25"/>
                <a:gd name="T19" fmla="*/ 0 h 15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5"/>
                <a:gd name="T31" fmla="*/ 0 h 1526"/>
                <a:gd name="T32" fmla="*/ 25 w 25"/>
                <a:gd name="T33" fmla="*/ 1526 h 152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5" h="1526">
                  <a:moveTo>
                    <a:pt x="0" y="0"/>
                  </a:moveTo>
                  <a:lnTo>
                    <a:pt x="13" y="1526"/>
                  </a:lnTo>
                  <a:lnTo>
                    <a:pt x="15" y="1460"/>
                  </a:lnTo>
                  <a:lnTo>
                    <a:pt x="18" y="1287"/>
                  </a:lnTo>
                  <a:lnTo>
                    <a:pt x="22" y="1043"/>
                  </a:lnTo>
                  <a:lnTo>
                    <a:pt x="25" y="762"/>
                  </a:lnTo>
                  <a:lnTo>
                    <a:pt x="25" y="482"/>
                  </a:lnTo>
                  <a:lnTo>
                    <a:pt x="23" y="238"/>
                  </a:lnTo>
                  <a:lnTo>
                    <a:pt x="15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0" name="Freeform 111">
              <a:extLst>
                <a:ext uri="{FF2B5EF4-FFF2-40B4-BE49-F238E27FC236}">
                  <a16:creationId xmlns:a16="http://schemas.microsoft.com/office/drawing/2014/main" id="{136BF05C-9C75-8DC0-1B8B-8DB7F90EB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12"/>
              <a:ext cx="15" cy="702"/>
            </a:xfrm>
            <a:custGeom>
              <a:avLst/>
              <a:gdLst>
                <a:gd name="T0" fmla="*/ 0 w 25"/>
                <a:gd name="T1" fmla="*/ 0 h 1526"/>
                <a:gd name="T2" fmla="*/ 1 w 25"/>
                <a:gd name="T3" fmla="*/ 0 h 1526"/>
                <a:gd name="T4" fmla="*/ 1 w 25"/>
                <a:gd name="T5" fmla="*/ 0 h 1526"/>
                <a:gd name="T6" fmla="*/ 1 w 25"/>
                <a:gd name="T7" fmla="*/ 0 h 1526"/>
                <a:gd name="T8" fmla="*/ 1 w 25"/>
                <a:gd name="T9" fmla="*/ 0 h 1526"/>
                <a:gd name="T10" fmla="*/ 1 w 25"/>
                <a:gd name="T11" fmla="*/ 0 h 1526"/>
                <a:gd name="T12" fmla="*/ 1 w 25"/>
                <a:gd name="T13" fmla="*/ 0 h 1526"/>
                <a:gd name="T14" fmla="*/ 1 w 25"/>
                <a:gd name="T15" fmla="*/ 0 h 1526"/>
                <a:gd name="T16" fmla="*/ 1 w 25"/>
                <a:gd name="T17" fmla="*/ 0 h 1526"/>
                <a:gd name="T18" fmla="*/ 0 w 25"/>
                <a:gd name="T19" fmla="*/ 0 h 15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5"/>
                <a:gd name="T31" fmla="*/ 0 h 1526"/>
                <a:gd name="T32" fmla="*/ 25 w 25"/>
                <a:gd name="T33" fmla="*/ 1526 h 152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5" h="1526">
                  <a:moveTo>
                    <a:pt x="0" y="0"/>
                  </a:moveTo>
                  <a:lnTo>
                    <a:pt x="14" y="1526"/>
                  </a:lnTo>
                  <a:lnTo>
                    <a:pt x="15" y="1460"/>
                  </a:lnTo>
                  <a:lnTo>
                    <a:pt x="18" y="1287"/>
                  </a:lnTo>
                  <a:lnTo>
                    <a:pt x="22" y="1043"/>
                  </a:lnTo>
                  <a:lnTo>
                    <a:pt x="25" y="762"/>
                  </a:lnTo>
                  <a:lnTo>
                    <a:pt x="25" y="482"/>
                  </a:lnTo>
                  <a:lnTo>
                    <a:pt x="23" y="238"/>
                  </a:lnTo>
                  <a:lnTo>
                    <a:pt x="15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1" name="Freeform 112">
              <a:extLst>
                <a:ext uri="{FF2B5EF4-FFF2-40B4-BE49-F238E27FC236}">
                  <a16:creationId xmlns:a16="http://schemas.microsoft.com/office/drawing/2014/main" id="{E8B7A529-07BF-78ED-FE13-20D7A1FA1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61"/>
              <a:ext cx="136" cy="38"/>
            </a:xfrm>
            <a:custGeom>
              <a:avLst/>
              <a:gdLst>
                <a:gd name="T0" fmla="*/ 0 w 233"/>
                <a:gd name="T1" fmla="*/ 0 h 82"/>
                <a:gd name="T2" fmla="*/ 1 w 233"/>
                <a:gd name="T3" fmla="*/ 0 h 82"/>
                <a:gd name="T4" fmla="*/ 1 w 233"/>
                <a:gd name="T5" fmla="*/ 0 h 82"/>
                <a:gd name="T6" fmla="*/ 1 w 233"/>
                <a:gd name="T7" fmla="*/ 0 h 82"/>
                <a:gd name="T8" fmla="*/ 1 w 233"/>
                <a:gd name="T9" fmla="*/ 0 h 82"/>
                <a:gd name="T10" fmla="*/ 1 w 233"/>
                <a:gd name="T11" fmla="*/ 0 h 82"/>
                <a:gd name="T12" fmla="*/ 1 w 233"/>
                <a:gd name="T13" fmla="*/ 0 h 82"/>
                <a:gd name="T14" fmla="*/ 1 w 233"/>
                <a:gd name="T15" fmla="*/ 0 h 82"/>
                <a:gd name="T16" fmla="*/ 1 w 233"/>
                <a:gd name="T17" fmla="*/ 0 h 82"/>
                <a:gd name="T18" fmla="*/ 1 w 233"/>
                <a:gd name="T19" fmla="*/ 0 h 82"/>
                <a:gd name="T20" fmla="*/ 1 w 233"/>
                <a:gd name="T21" fmla="*/ 0 h 82"/>
                <a:gd name="T22" fmla="*/ 1 w 233"/>
                <a:gd name="T23" fmla="*/ 0 h 82"/>
                <a:gd name="T24" fmla="*/ 1 w 233"/>
                <a:gd name="T25" fmla="*/ 0 h 82"/>
                <a:gd name="T26" fmla="*/ 1 w 233"/>
                <a:gd name="T27" fmla="*/ 0 h 82"/>
                <a:gd name="T28" fmla="*/ 1 w 233"/>
                <a:gd name="T29" fmla="*/ 0 h 82"/>
                <a:gd name="T30" fmla="*/ 1 w 233"/>
                <a:gd name="T31" fmla="*/ 0 h 82"/>
                <a:gd name="T32" fmla="*/ 1 w 233"/>
                <a:gd name="T33" fmla="*/ 0 h 82"/>
                <a:gd name="T34" fmla="*/ 1 w 233"/>
                <a:gd name="T35" fmla="*/ 0 h 82"/>
                <a:gd name="T36" fmla="*/ 1 w 233"/>
                <a:gd name="T37" fmla="*/ 0 h 82"/>
                <a:gd name="T38" fmla="*/ 1 w 233"/>
                <a:gd name="T39" fmla="*/ 0 h 82"/>
                <a:gd name="T40" fmla="*/ 1 w 233"/>
                <a:gd name="T41" fmla="*/ 0 h 82"/>
                <a:gd name="T42" fmla="*/ 1 w 233"/>
                <a:gd name="T43" fmla="*/ 0 h 82"/>
                <a:gd name="T44" fmla="*/ 1 w 233"/>
                <a:gd name="T45" fmla="*/ 0 h 82"/>
                <a:gd name="T46" fmla="*/ 1 w 233"/>
                <a:gd name="T47" fmla="*/ 0 h 82"/>
                <a:gd name="T48" fmla="*/ 1 w 233"/>
                <a:gd name="T49" fmla="*/ 0 h 82"/>
                <a:gd name="T50" fmla="*/ 1 w 233"/>
                <a:gd name="T51" fmla="*/ 0 h 82"/>
                <a:gd name="T52" fmla="*/ 1 w 233"/>
                <a:gd name="T53" fmla="*/ 0 h 82"/>
                <a:gd name="T54" fmla="*/ 1 w 233"/>
                <a:gd name="T55" fmla="*/ 0 h 82"/>
                <a:gd name="T56" fmla="*/ 1 w 233"/>
                <a:gd name="T57" fmla="*/ 0 h 82"/>
                <a:gd name="T58" fmla="*/ 1 w 233"/>
                <a:gd name="T59" fmla="*/ 0 h 82"/>
                <a:gd name="T60" fmla="*/ 1 w 233"/>
                <a:gd name="T61" fmla="*/ 0 h 82"/>
                <a:gd name="T62" fmla="*/ 1 w 233"/>
                <a:gd name="T63" fmla="*/ 0 h 82"/>
                <a:gd name="T64" fmla="*/ 0 w 233"/>
                <a:gd name="T65" fmla="*/ 0 h 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3"/>
                <a:gd name="T100" fmla="*/ 0 h 82"/>
                <a:gd name="T101" fmla="*/ 233 w 233"/>
                <a:gd name="T102" fmla="*/ 82 h 8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3" h="82">
                  <a:moveTo>
                    <a:pt x="0" y="34"/>
                  </a:moveTo>
                  <a:lnTo>
                    <a:pt x="2" y="32"/>
                  </a:lnTo>
                  <a:lnTo>
                    <a:pt x="9" y="29"/>
                  </a:lnTo>
                  <a:lnTo>
                    <a:pt x="21" y="26"/>
                  </a:lnTo>
                  <a:lnTo>
                    <a:pt x="34" y="20"/>
                  </a:lnTo>
                  <a:lnTo>
                    <a:pt x="52" y="15"/>
                  </a:lnTo>
                  <a:lnTo>
                    <a:pt x="70" y="9"/>
                  </a:lnTo>
                  <a:lnTo>
                    <a:pt x="91" y="5"/>
                  </a:lnTo>
                  <a:lnTo>
                    <a:pt x="112" y="1"/>
                  </a:lnTo>
                  <a:lnTo>
                    <a:pt x="132" y="0"/>
                  </a:lnTo>
                  <a:lnTo>
                    <a:pt x="153" y="1"/>
                  </a:lnTo>
                  <a:lnTo>
                    <a:pt x="173" y="5"/>
                  </a:lnTo>
                  <a:lnTo>
                    <a:pt x="191" y="12"/>
                  </a:lnTo>
                  <a:lnTo>
                    <a:pt x="206" y="22"/>
                  </a:lnTo>
                  <a:lnTo>
                    <a:pt x="219" y="37"/>
                  </a:lnTo>
                  <a:lnTo>
                    <a:pt x="228" y="57"/>
                  </a:lnTo>
                  <a:lnTo>
                    <a:pt x="233" y="82"/>
                  </a:lnTo>
                  <a:lnTo>
                    <a:pt x="231" y="81"/>
                  </a:lnTo>
                  <a:lnTo>
                    <a:pt x="230" y="77"/>
                  </a:lnTo>
                  <a:lnTo>
                    <a:pt x="227" y="73"/>
                  </a:lnTo>
                  <a:lnTo>
                    <a:pt x="222" y="67"/>
                  </a:lnTo>
                  <a:lnTo>
                    <a:pt x="215" y="60"/>
                  </a:lnTo>
                  <a:lnTo>
                    <a:pt x="207" y="53"/>
                  </a:lnTo>
                  <a:lnTo>
                    <a:pt x="197" y="46"/>
                  </a:lnTo>
                  <a:lnTo>
                    <a:pt x="185" y="38"/>
                  </a:lnTo>
                  <a:lnTo>
                    <a:pt x="170" y="32"/>
                  </a:lnTo>
                  <a:lnTo>
                    <a:pt x="154" y="27"/>
                  </a:lnTo>
                  <a:lnTo>
                    <a:pt x="135" y="22"/>
                  </a:lnTo>
                  <a:lnTo>
                    <a:pt x="114" y="20"/>
                  </a:lnTo>
                  <a:lnTo>
                    <a:pt x="90" y="20"/>
                  </a:lnTo>
                  <a:lnTo>
                    <a:pt x="62" y="21"/>
                  </a:lnTo>
                  <a:lnTo>
                    <a:pt x="32" y="26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1" name="Group 170">
            <a:extLst>
              <a:ext uri="{FF2B5EF4-FFF2-40B4-BE49-F238E27FC236}">
                <a16:creationId xmlns:a16="http://schemas.microsoft.com/office/drawing/2014/main" id="{43BD0562-9CC4-7A64-DF46-774E8A738067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3886200"/>
            <a:ext cx="762000" cy="947738"/>
            <a:chOff x="2496" y="48"/>
            <a:chExt cx="614" cy="837"/>
          </a:xfrm>
        </p:grpSpPr>
        <p:sp>
          <p:nvSpPr>
            <p:cNvPr id="27723" name="Freeform 107">
              <a:extLst>
                <a:ext uri="{FF2B5EF4-FFF2-40B4-BE49-F238E27FC236}">
                  <a16:creationId xmlns:a16="http://schemas.microsoft.com/office/drawing/2014/main" id="{A6D1897C-1974-1A0A-1A67-145F31252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76"/>
              <a:ext cx="408" cy="95"/>
            </a:xfrm>
            <a:custGeom>
              <a:avLst/>
              <a:gdLst>
                <a:gd name="T0" fmla="*/ 4 w 693"/>
                <a:gd name="T1" fmla="*/ 0 h 208"/>
                <a:gd name="T2" fmla="*/ 1 w 693"/>
                <a:gd name="T3" fmla="*/ 0 h 208"/>
                <a:gd name="T4" fmla="*/ 1 w 693"/>
                <a:gd name="T5" fmla="*/ 0 h 208"/>
                <a:gd name="T6" fmla="*/ 1 w 693"/>
                <a:gd name="T7" fmla="*/ 0 h 208"/>
                <a:gd name="T8" fmla="*/ 1 w 693"/>
                <a:gd name="T9" fmla="*/ 0 h 208"/>
                <a:gd name="T10" fmla="*/ 1 w 693"/>
                <a:gd name="T11" fmla="*/ 0 h 208"/>
                <a:gd name="T12" fmla="*/ 1 w 693"/>
                <a:gd name="T13" fmla="*/ 0 h 208"/>
                <a:gd name="T14" fmla="*/ 1 w 693"/>
                <a:gd name="T15" fmla="*/ 0 h 208"/>
                <a:gd name="T16" fmla="*/ 0 w 693"/>
                <a:gd name="T17" fmla="*/ 0 h 208"/>
                <a:gd name="T18" fmla="*/ 0 w 693"/>
                <a:gd name="T19" fmla="*/ 0 h 208"/>
                <a:gd name="T20" fmla="*/ 0 w 693"/>
                <a:gd name="T21" fmla="*/ 0 h 208"/>
                <a:gd name="T22" fmla="*/ 0 w 693"/>
                <a:gd name="T23" fmla="*/ 0 h 208"/>
                <a:gd name="T24" fmla="*/ 1 w 693"/>
                <a:gd name="T25" fmla="*/ 0 h 208"/>
                <a:gd name="T26" fmla="*/ 1 w 693"/>
                <a:gd name="T27" fmla="*/ 0 h 208"/>
                <a:gd name="T28" fmla="*/ 1 w 693"/>
                <a:gd name="T29" fmla="*/ 0 h 208"/>
                <a:gd name="T30" fmla="*/ 1 w 693"/>
                <a:gd name="T31" fmla="*/ 0 h 208"/>
                <a:gd name="T32" fmla="*/ 1 w 693"/>
                <a:gd name="T33" fmla="*/ 0 h 208"/>
                <a:gd name="T34" fmla="*/ 1 w 693"/>
                <a:gd name="T35" fmla="*/ 0 h 208"/>
                <a:gd name="T36" fmla="*/ 1 w 693"/>
                <a:gd name="T37" fmla="*/ 0 h 208"/>
                <a:gd name="T38" fmla="*/ 1 w 693"/>
                <a:gd name="T39" fmla="*/ 0 h 208"/>
                <a:gd name="T40" fmla="*/ 1 w 693"/>
                <a:gd name="T41" fmla="*/ 0 h 208"/>
                <a:gd name="T42" fmla="*/ 1 w 693"/>
                <a:gd name="T43" fmla="*/ 0 h 208"/>
                <a:gd name="T44" fmla="*/ 1 w 693"/>
                <a:gd name="T45" fmla="*/ 0 h 208"/>
                <a:gd name="T46" fmla="*/ 1 w 693"/>
                <a:gd name="T47" fmla="*/ 0 h 208"/>
                <a:gd name="T48" fmla="*/ 1 w 693"/>
                <a:gd name="T49" fmla="*/ 0 h 208"/>
                <a:gd name="T50" fmla="*/ 2 w 693"/>
                <a:gd name="T51" fmla="*/ 0 h 208"/>
                <a:gd name="T52" fmla="*/ 2 w 693"/>
                <a:gd name="T53" fmla="*/ 0 h 208"/>
                <a:gd name="T54" fmla="*/ 2 w 693"/>
                <a:gd name="T55" fmla="*/ 0 h 208"/>
                <a:gd name="T56" fmla="*/ 2 w 693"/>
                <a:gd name="T57" fmla="*/ 0 h 208"/>
                <a:gd name="T58" fmla="*/ 3 w 693"/>
                <a:gd name="T59" fmla="*/ 0 h 208"/>
                <a:gd name="T60" fmla="*/ 3 w 693"/>
                <a:gd name="T61" fmla="*/ 0 h 208"/>
                <a:gd name="T62" fmla="*/ 3 w 693"/>
                <a:gd name="T63" fmla="*/ 0 h 208"/>
                <a:gd name="T64" fmla="*/ 3 w 693"/>
                <a:gd name="T65" fmla="*/ 0 h 208"/>
                <a:gd name="T66" fmla="*/ 4 w 693"/>
                <a:gd name="T67" fmla="*/ 0 h 2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693"/>
                <a:gd name="T103" fmla="*/ 0 h 208"/>
                <a:gd name="T104" fmla="*/ 693 w 693"/>
                <a:gd name="T105" fmla="*/ 208 h 2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693" h="208">
                  <a:moveTo>
                    <a:pt x="693" y="0"/>
                  </a:moveTo>
                  <a:lnTo>
                    <a:pt x="81" y="91"/>
                  </a:lnTo>
                  <a:lnTo>
                    <a:pt x="78" y="91"/>
                  </a:lnTo>
                  <a:lnTo>
                    <a:pt x="68" y="92"/>
                  </a:lnTo>
                  <a:lnTo>
                    <a:pt x="53" y="96"/>
                  </a:lnTo>
                  <a:lnTo>
                    <a:pt x="37" y="104"/>
                  </a:lnTo>
                  <a:lnTo>
                    <a:pt x="20" y="118"/>
                  </a:lnTo>
                  <a:lnTo>
                    <a:pt x="8" y="139"/>
                  </a:lnTo>
                  <a:lnTo>
                    <a:pt x="0" y="168"/>
                  </a:lnTo>
                  <a:lnTo>
                    <a:pt x="0" y="208"/>
                  </a:lnTo>
                  <a:lnTo>
                    <a:pt x="0" y="204"/>
                  </a:lnTo>
                  <a:lnTo>
                    <a:pt x="0" y="195"/>
                  </a:lnTo>
                  <a:lnTo>
                    <a:pt x="2" y="181"/>
                  </a:lnTo>
                  <a:lnTo>
                    <a:pt x="5" y="164"/>
                  </a:lnTo>
                  <a:lnTo>
                    <a:pt x="13" y="148"/>
                  </a:lnTo>
                  <a:lnTo>
                    <a:pt x="25" y="132"/>
                  </a:lnTo>
                  <a:lnTo>
                    <a:pt x="43" y="118"/>
                  </a:lnTo>
                  <a:lnTo>
                    <a:pt x="68" y="110"/>
                  </a:lnTo>
                  <a:lnTo>
                    <a:pt x="73" y="109"/>
                  </a:lnTo>
                  <a:lnTo>
                    <a:pt x="89" y="106"/>
                  </a:lnTo>
                  <a:lnTo>
                    <a:pt x="116" y="102"/>
                  </a:lnTo>
                  <a:lnTo>
                    <a:pt x="149" y="96"/>
                  </a:lnTo>
                  <a:lnTo>
                    <a:pt x="191" y="89"/>
                  </a:lnTo>
                  <a:lnTo>
                    <a:pt x="236" y="82"/>
                  </a:lnTo>
                  <a:lnTo>
                    <a:pt x="286" y="73"/>
                  </a:lnTo>
                  <a:lnTo>
                    <a:pt x="339" y="65"/>
                  </a:lnTo>
                  <a:lnTo>
                    <a:pt x="392" y="56"/>
                  </a:lnTo>
                  <a:lnTo>
                    <a:pt x="447" y="46"/>
                  </a:lnTo>
                  <a:lnTo>
                    <a:pt x="500" y="37"/>
                  </a:lnTo>
                  <a:lnTo>
                    <a:pt x="549" y="28"/>
                  </a:lnTo>
                  <a:lnTo>
                    <a:pt x="594" y="20"/>
                  </a:lnTo>
                  <a:lnTo>
                    <a:pt x="634" y="12"/>
                  </a:lnTo>
                  <a:lnTo>
                    <a:pt x="668" y="6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Freeform 108">
              <a:extLst>
                <a:ext uri="{FF2B5EF4-FFF2-40B4-BE49-F238E27FC236}">
                  <a16:creationId xmlns:a16="http://schemas.microsoft.com/office/drawing/2014/main" id="{55506962-2C8B-4CC8-155B-D041AEAF3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204"/>
              <a:ext cx="58" cy="635"/>
            </a:xfrm>
            <a:custGeom>
              <a:avLst/>
              <a:gdLst>
                <a:gd name="T0" fmla="*/ 0 w 98"/>
                <a:gd name="T1" fmla="*/ 0 h 1380"/>
                <a:gd name="T2" fmla="*/ 1 w 98"/>
                <a:gd name="T3" fmla="*/ 0 h 1380"/>
                <a:gd name="T4" fmla="*/ 1 w 98"/>
                <a:gd name="T5" fmla="*/ 0 h 1380"/>
                <a:gd name="T6" fmla="*/ 1 w 98"/>
                <a:gd name="T7" fmla="*/ 0 h 1380"/>
                <a:gd name="T8" fmla="*/ 1 w 98"/>
                <a:gd name="T9" fmla="*/ 0 h 1380"/>
                <a:gd name="T10" fmla="*/ 1 w 98"/>
                <a:gd name="T11" fmla="*/ 0 h 1380"/>
                <a:gd name="T12" fmla="*/ 1 w 98"/>
                <a:gd name="T13" fmla="*/ 0 h 1380"/>
                <a:gd name="T14" fmla="*/ 1 w 98"/>
                <a:gd name="T15" fmla="*/ 0 h 1380"/>
                <a:gd name="T16" fmla="*/ 1 w 98"/>
                <a:gd name="T17" fmla="*/ 0 h 1380"/>
                <a:gd name="T18" fmla="*/ 1 w 98"/>
                <a:gd name="T19" fmla="*/ 0 h 1380"/>
                <a:gd name="T20" fmla="*/ 1 w 98"/>
                <a:gd name="T21" fmla="*/ 0 h 1380"/>
                <a:gd name="T22" fmla="*/ 1 w 98"/>
                <a:gd name="T23" fmla="*/ 0 h 1380"/>
                <a:gd name="T24" fmla="*/ 1 w 98"/>
                <a:gd name="T25" fmla="*/ 0 h 1380"/>
                <a:gd name="T26" fmla="*/ 1 w 98"/>
                <a:gd name="T27" fmla="*/ 0 h 1380"/>
                <a:gd name="T28" fmla="*/ 1 w 98"/>
                <a:gd name="T29" fmla="*/ 0 h 1380"/>
                <a:gd name="T30" fmla="*/ 1 w 98"/>
                <a:gd name="T31" fmla="*/ 0 h 1380"/>
                <a:gd name="T32" fmla="*/ 1 w 98"/>
                <a:gd name="T33" fmla="*/ 0 h 1380"/>
                <a:gd name="T34" fmla="*/ 1 w 98"/>
                <a:gd name="T35" fmla="*/ 0 h 1380"/>
                <a:gd name="T36" fmla="*/ 0 w 98"/>
                <a:gd name="T37" fmla="*/ 0 h 138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8"/>
                <a:gd name="T58" fmla="*/ 0 h 1380"/>
                <a:gd name="T59" fmla="*/ 98 w 98"/>
                <a:gd name="T60" fmla="*/ 1380 h 138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8" h="1380">
                  <a:moveTo>
                    <a:pt x="0" y="0"/>
                  </a:moveTo>
                  <a:lnTo>
                    <a:pt x="30" y="1273"/>
                  </a:lnTo>
                  <a:lnTo>
                    <a:pt x="30" y="1277"/>
                  </a:lnTo>
                  <a:lnTo>
                    <a:pt x="29" y="1288"/>
                  </a:lnTo>
                  <a:lnTo>
                    <a:pt x="29" y="1304"/>
                  </a:lnTo>
                  <a:lnTo>
                    <a:pt x="33" y="1322"/>
                  </a:lnTo>
                  <a:lnTo>
                    <a:pt x="40" y="1341"/>
                  </a:lnTo>
                  <a:lnTo>
                    <a:pt x="52" y="1357"/>
                  </a:lnTo>
                  <a:lnTo>
                    <a:pt x="72" y="1367"/>
                  </a:lnTo>
                  <a:lnTo>
                    <a:pt x="98" y="1372"/>
                  </a:lnTo>
                  <a:lnTo>
                    <a:pt x="94" y="1374"/>
                  </a:lnTo>
                  <a:lnTo>
                    <a:pt x="82" y="1378"/>
                  </a:lnTo>
                  <a:lnTo>
                    <a:pt x="66" y="1380"/>
                  </a:lnTo>
                  <a:lnTo>
                    <a:pt x="48" y="1376"/>
                  </a:lnTo>
                  <a:lnTo>
                    <a:pt x="30" y="1364"/>
                  </a:lnTo>
                  <a:lnTo>
                    <a:pt x="14" y="1337"/>
                  </a:lnTo>
                  <a:lnTo>
                    <a:pt x="5" y="1292"/>
                  </a:lnTo>
                  <a:lnTo>
                    <a:pt x="3" y="1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Freeform 113">
              <a:extLst>
                <a:ext uri="{FF2B5EF4-FFF2-40B4-BE49-F238E27FC236}">
                  <a16:creationId xmlns:a16="http://schemas.microsoft.com/office/drawing/2014/main" id="{1BCBD822-FF9E-F7AB-2607-D98623788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54"/>
              <a:ext cx="567" cy="815"/>
            </a:xfrm>
            <a:custGeom>
              <a:avLst/>
              <a:gdLst>
                <a:gd name="T0" fmla="*/ 0 w 968"/>
                <a:gd name="T1" fmla="*/ 0 h 1769"/>
                <a:gd name="T2" fmla="*/ 4 w 968"/>
                <a:gd name="T3" fmla="*/ 0 h 1769"/>
                <a:gd name="T4" fmla="*/ 4 w 968"/>
                <a:gd name="T5" fmla="*/ 0 h 1769"/>
                <a:gd name="T6" fmla="*/ 4 w 968"/>
                <a:gd name="T7" fmla="*/ 0 h 1769"/>
                <a:gd name="T8" fmla="*/ 4 w 968"/>
                <a:gd name="T9" fmla="*/ 0 h 1769"/>
                <a:gd name="T10" fmla="*/ 4 w 968"/>
                <a:gd name="T11" fmla="*/ 0 h 1769"/>
                <a:gd name="T12" fmla="*/ 4 w 968"/>
                <a:gd name="T13" fmla="*/ 0 h 1769"/>
                <a:gd name="T14" fmla="*/ 4 w 968"/>
                <a:gd name="T15" fmla="*/ 0 h 1769"/>
                <a:gd name="T16" fmla="*/ 4 w 968"/>
                <a:gd name="T17" fmla="*/ 0 h 1769"/>
                <a:gd name="T18" fmla="*/ 4 w 968"/>
                <a:gd name="T19" fmla="*/ 0 h 1769"/>
                <a:gd name="T20" fmla="*/ 4 w 968"/>
                <a:gd name="T21" fmla="*/ 0 h 1769"/>
                <a:gd name="T22" fmla="*/ 4 w 968"/>
                <a:gd name="T23" fmla="*/ 0 h 1769"/>
                <a:gd name="T24" fmla="*/ 4 w 968"/>
                <a:gd name="T25" fmla="*/ 0 h 1769"/>
                <a:gd name="T26" fmla="*/ 4 w 968"/>
                <a:gd name="T27" fmla="*/ 0 h 1769"/>
                <a:gd name="T28" fmla="*/ 4 w 968"/>
                <a:gd name="T29" fmla="*/ 0 h 1769"/>
                <a:gd name="T30" fmla="*/ 5 w 968"/>
                <a:gd name="T31" fmla="*/ 0 h 1769"/>
                <a:gd name="T32" fmla="*/ 5 w 968"/>
                <a:gd name="T33" fmla="*/ 0 h 1769"/>
                <a:gd name="T34" fmla="*/ 5 w 968"/>
                <a:gd name="T35" fmla="*/ 0 h 1769"/>
                <a:gd name="T36" fmla="*/ 5 w 968"/>
                <a:gd name="T37" fmla="*/ 1 h 1769"/>
                <a:gd name="T38" fmla="*/ 5 w 968"/>
                <a:gd name="T39" fmla="*/ 1 h 1769"/>
                <a:gd name="T40" fmla="*/ 5 w 968"/>
                <a:gd name="T41" fmla="*/ 1 h 1769"/>
                <a:gd name="T42" fmla="*/ 5 w 968"/>
                <a:gd name="T43" fmla="*/ 1 h 1769"/>
                <a:gd name="T44" fmla="*/ 5 w 968"/>
                <a:gd name="T45" fmla="*/ 1 h 1769"/>
                <a:gd name="T46" fmla="*/ 5 w 968"/>
                <a:gd name="T47" fmla="*/ 1 h 1769"/>
                <a:gd name="T48" fmla="*/ 5 w 968"/>
                <a:gd name="T49" fmla="*/ 1 h 1769"/>
                <a:gd name="T50" fmla="*/ 5 w 968"/>
                <a:gd name="T51" fmla="*/ 1 h 1769"/>
                <a:gd name="T52" fmla="*/ 4 w 968"/>
                <a:gd name="T53" fmla="*/ 1 h 1769"/>
                <a:gd name="T54" fmla="*/ 4 w 968"/>
                <a:gd name="T55" fmla="*/ 1 h 1769"/>
                <a:gd name="T56" fmla="*/ 4 w 968"/>
                <a:gd name="T57" fmla="*/ 1 h 1769"/>
                <a:gd name="T58" fmla="*/ 4 w 968"/>
                <a:gd name="T59" fmla="*/ 1 h 1769"/>
                <a:gd name="T60" fmla="*/ 4 w 968"/>
                <a:gd name="T61" fmla="*/ 1 h 1769"/>
                <a:gd name="T62" fmla="*/ 4 w 968"/>
                <a:gd name="T63" fmla="*/ 1 h 1769"/>
                <a:gd name="T64" fmla="*/ 4 w 968"/>
                <a:gd name="T65" fmla="*/ 1 h 1769"/>
                <a:gd name="T66" fmla="*/ 4 w 968"/>
                <a:gd name="T67" fmla="*/ 1 h 1769"/>
                <a:gd name="T68" fmla="*/ 3 w 968"/>
                <a:gd name="T69" fmla="*/ 1 h 1769"/>
                <a:gd name="T70" fmla="*/ 1 w 968"/>
                <a:gd name="T71" fmla="*/ 0 h 1769"/>
                <a:gd name="T72" fmla="*/ 0 w 968"/>
                <a:gd name="T73" fmla="*/ 0 h 176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968"/>
                <a:gd name="T112" fmla="*/ 0 h 1769"/>
                <a:gd name="T113" fmla="*/ 968 w 968"/>
                <a:gd name="T114" fmla="*/ 1769 h 176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968" h="1769">
                  <a:moveTo>
                    <a:pt x="0" y="136"/>
                  </a:moveTo>
                  <a:lnTo>
                    <a:pt x="727" y="31"/>
                  </a:lnTo>
                  <a:lnTo>
                    <a:pt x="728" y="30"/>
                  </a:lnTo>
                  <a:lnTo>
                    <a:pt x="733" y="28"/>
                  </a:lnTo>
                  <a:lnTo>
                    <a:pt x="739" y="24"/>
                  </a:lnTo>
                  <a:lnTo>
                    <a:pt x="747" y="21"/>
                  </a:lnTo>
                  <a:lnTo>
                    <a:pt x="758" y="16"/>
                  </a:lnTo>
                  <a:lnTo>
                    <a:pt x="770" y="12"/>
                  </a:lnTo>
                  <a:lnTo>
                    <a:pt x="784" y="7"/>
                  </a:lnTo>
                  <a:lnTo>
                    <a:pt x="800" y="4"/>
                  </a:lnTo>
                  <a:lnTo>
                    <a:pt x="816" y="1"/>
                  </a:lnTo>
                  <a:lnTo>
                    <a:pt x="834" y="0"/>
                  </a:lnTo>
                  <a:lnTo>
                    <a:pt x="853" y="1"/>
                  </a:lnTo>
                  <a:lnTo>
                    <a:pt x="872" y="5"/>
                  </a:lnTo>
                  <a:lnTo>
                    <a:pt x="893" y="10"/>
                  </a:lnTo>
                  <a:lnTo>
                    <a:pt x="913" y="20"/>
                  </a:lnTo>
                  <a:lnTo>
                    <a:pt x="933" y="31"/>
                  </a:lnTo>
                  <a:lnTo>
                    <a:pt x="954" y="47"/>
                  </a:lnTo>
                  <a:lnTo>
                    <a:pt x="968" y="1727"/>
                  </a:lnTo>
                  <a:lnTo>
                    <a:pt x="967" y="1728"/>
                  </a:lnTo>
                  <a:lnTo>
                    <a:pt x="962" y="1729"/>
                  </a:lnTo>
                  <a:lnTo>
                    <a:pt x="955" y="1731"/>
                  </a:lnTo>
                  <a:lnTo>
                    <a:pt x="945" y="1735"/>
                  </a:lnTo>
                  <a:lnTo>
                    <a:pt x="933" y="1739"/>
                  </a:lnTo>
                  <a:lnTo>
                    <a:pt x="919" y="1743"/>
                  </a:lnTo>
                  <a:lnTo>
                    <a:pt x="903" y="1747"/>
                  </a:lnTo>
                  <a:lnTo>
                    <a:pt x="885" y="1752"/>
                  </a:lnTo>
                  <a:lnTo>
                    <a:pt x="865" y="1757"/>
                  </a:lnTo>
                  <a:lnTo>
                    <a:pt x="843" y="1760"/>
                  </a:lnTo>
                  <a:lnTo>
                    <a:pt x="822" y="1764"/>
                  </a:lnTo>
                  <a:lnTo>
                    <a:pt x="797" y="1767"/>
                  </a:lnTo>
                  <a:lnTo>
                    <a:pt x="772" y="1768"/>
                  </a:lnTo>
                  <a:lnTo>
                    <a:pt x="747" y="1769"/>
                  </a:lnTo>
                  <a:lnTo>
                    <a:pt x="720" y="1768"/>
                  </a:lnTo>
                  <a:lnTo>
                    <a:pt x="694" y="1766"/>
                  </a:lnTo>
                  <a:lnTo>
                    <a:pt x="22" y="1719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3F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Freeform 114">
              <a:extLst>
                <a:ext uri="{FF2B5EF4-FFF2-40B4-BE49-F238E27FC236}">
                  <a16:creationId xmlns:a16="http://schemas.microsoft.com/office/drawing/2014/main" id="{3D2B5B74-96F6-4AD6-453E-94F72192B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73"/>
              <a:ext cx="458" cy="792"/>
            </a:xfrm>
            <a:custGeom>
              <a:avLst/>
              <a:gdLst>
                <a:gd name="T0" fmla="*/ 4 w 781"/>
                <a:gd name="T1" fmla="*/ 0 h 1718"/>
                <a:gd name="T2" fmla="*/ 4 w 781"/>
                <a:gd name="T3" fmla="*/ 0 h 1718"/>
                <a:gd name="T4" fmla="*/ 1 w 781"/>
                <a:gd name="T5" fmla="*/ 0 h 1718"/>
                <a:gd name="T6" fmla="*/ 0 w 781"/>
                <a:gd name="T7" fmla="*/ 0 h 1718"/>
                <a:gd name="T8" fmla="*/ 4 w 781"/>
                <a:gd name="T9" fmla="*/ 0 h 17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1"/>
                <a:gd name="T16" fmla="*/ 0 h 1718"/>
                <a:gd name="T17" fmla="*/ 781 w 781"/>
                <a:gd name="T18" fmla="*/ 1718 h 17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1" h="1718">
                  <a:moveTo>
                    <a:pt x="738" y="0"/>
                  </a:moveTo>
                  <a:lnTo>
                    <a:pt x="781" y="1718"/>
                  </a:lnTo>
                  <a:lnTo>
                    <a:pt x="21" y="1686"/>
                  </a:lnTo>
                  <a:lnTo>
                    <a:pt x="0" y="111"/>
                  </a:lnTo>
                  <a:lnTo>
                    <a:pt x="738" y="0"/>
                  </a:lnTo>
                  <a:close/>
                </a:path>
              </a:pathLst>
            </a:custGeom>
            <a:solidFill>
              <a:srgbClr val="007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Freeform 115">
              <a:extLst>
                <a:ext uri="{FF2B5EF4-FFF2-40B4-BE49-F238E27FC236}">
                  <a16:creationId xmlns:a16="http://schemas.microsoft.com/office/drawing/2014/main" id="{99883A2C-191F-EC8C-1AC2-9AABA80D3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8" y="61"/>
              <a:ext cx="90" cy="824"/>
            </a:xfrm>
            <a:custGeom>
              <a:avLst/>
              <a:gdLst>
                <a:gd name="T0" fmla="*/ 1 w 152"/>
                <a:gd name="T1" fmla="*/ 0 h 1791"/>
                <a:gd name="T2" fmla="*/ 1 w 152"/>
                <a:gd name="T3" fmla="*/ 0 h 1791"/>
                <a:gd name="T4" fmla="*/ 1 w 152"/>
                <a:gd name="T5" fmla="*/ 0 h 1791"/>
                <a:gd name="T6" fmla="*/ 1 w 152"/>
                <a:gd name="T7" fmla="*/ 0 h 1791"/>
                <a:gd name="T8" fmla="*/ 1 w 152"/>
                <a:gd name="T9" fmla="*/ 0 h 1791"/>
                <a:gd name="T10" fmla="*/ 1 w 152"/>
                <a:gd name="T11" fmla="*/ 0 h 1791"/>
                <a:gd name="T12" fmla="*/ 1 w 152"/>
                <a:gd name="T13" fmla="*/ 0 h 1791"/>
                <a:gd name="T14" fmla="*/ 1 w 152"/>
                <a:gd name="T15" fmla="*/ 0 h 1791"/>
                <a:gd name="T16" fmla="*/ 1 w 152"/>
                <a:gd name="T17" fmla="*/ 1 h 1791"/>
                <a:gd name="T18" fmla="*/ 1 w 152"/>
                <a:gd name="T19" fmla="*/ 1 h 1791"/>
                <a:gd name="T20" fmla="*/ 0 w 152"/>
                <a:gd name="T21" fmla="*/ 0 h 1791"/>
                <a:gd name="T22" fmla="*/ 1 w 152"/>
                <a:gd name="T23" fmla="*/ 0 h 1791"/>
                <a:gd name="T24" fmla="*/ 1 w 152"/>
                <a:gd name="T25" fmla="*/ 0 h 1791"/>
                <a:gd name="T26" fmla="*/ 1 w 152"/>
                <a:gd name="T27" fmla="*/ 0 h 1791"/>
                <a:gd name="T28" fmla="*/ 1 w 152"/>
                <a:gd name="T29" fmla="*/ 0 h 1791"/>
                <a:gd name="T30" fmla="*/ 1 w 152"/>
                <a:gd name="T31" fmla="*/ 0 h 1791"/>
                <a:gd name="T32" fmla="*/ 1 w 152"/>
                <a:gd name="T33" fmla="*/ 0 h 1791"/>
                <a:gd name="T34" fmla="*/ 1 w 152"/>
                <a:gd name="T35" fmla="*/ 0 h 1791"/>
                <a:gd name="T36" fmla="*/ 1 w 152"/>
                <a:gd name="T37" fmla="*/ 0 h 179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52"/>
                <a:gd name="T58" fmla="*/ 0 h 1791"/>
                <a:gd name="T59" fmla="*/ 152 w 152"/>
                <a:gd name="T60" fmla="*/ 1791 h 179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52" h="1791">
                  <a:moveTo>
                    <a:pt x="79" y="12"/>
                  </a:moveTo>
                  <a:lnTo>
                    <a:pt x="79" y="85"/>
                  </a:lnTo>
                  <a:lnTo>
                    <a:pt x="81" y="280"/>
                  </a:lnTo>
                  <a:lnTo>
                    <a:pt x="86" y="555"/>
                  </a:lnTo>
                  <a:lnTo>
                    <a:pt x="92" y="870"/>
                  </a:lnTo>
                  <a:lnTo>
                    <a:pt x="101" y="1186"/>
                  </a:lnTo>
                  <a:lnTo>
                    <a:pt x="114" y="1462"/>
                  </a:lnTo>
                  <a:lnTo>
                    <a:pt x="131" y="1658"/>
                  </a:lnTo>
                  <a:lnTo>
                    <a:pt x="152" y="1732"/>
                  </a:lnTo>
                  <a:lnTo>
                    <a:pt x="33" y="1791"/>
                  </a:lnTo>
                  <a:lnTo>
                    <a:pt x="0" y="28"/>
                  </a:lnTo>
                  <a:lnTo>
                    <a:pt x="3" y="25"/>
                  </a:lnTo>
                  <a:lnTo>
                    <a:pt x="11" y="21"/>
                  </a:lnTo>
                  <a:lnTo>
                    <a:pt x="23" y="14"/>
                  </a:lnTo>
                  <a:lnTo>
                    <a:pt x="37" y="7"/>
                  </a:lnTo>
                  <a:lnTo>
                    <a:pt x="50" y="2"/>
                  </a:lnTo>
                  <a:lnTo>
                    <a:pt x="63" y="0"/>
                  </a:lnTo>
                  <a:lnTo>
                    <a:pt x="73" y="4"/>
                  </a:lnTo>
                  <a:lnTo>
                    <a:pt x="79" y="12"/>
                  </a:lnTo>
                  <a:close/>
                </a:path>
              </a:pathLst>
            </a:custGeom>
            <a:solidFill>
              <a:srgbClr val="007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Freeform 116">
              <a:extLst>
                <a:ext uri="{FF2B5EF4-FFF2-40B4-BE49-F238E27FC236}">
                  <a16:creationId xmlns:a16="http://schemas.microsoft.com/office/drawing/2014/main" id="{F2B273B1-3D9B-2FB2-F717-7C16FC9D7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182"/>
              <a:ext cx="129" cy="53"/>
            </a:xfrm>
            <a:custGeom>
              <a:avLst/>
              <a:gdLst>
                <a:gd name="T0" fmla="*/ 1 w 221"/>
                <a:gd name="T1" fmla="*/ 0 h 116"/>
                <a:gd name="T2" fmla="*/ 1 w 221"/>
                <a:gd name="T3" fmla="*/ 0 h 116"/>
                <a:gd name="T4" fmla="*/ 1 w 221"/>
                <a:gd name="T5" fmla="*/ 0 h 116"/>
                <a:gd name="T6" fmla="*/ 1 w 221"/>
                <a:gd name="T7" fmla="*/ 0 h 116"/>
                <a:gd name="T8" fmla="*/ 1 w 221"/>
                <a:gd name="T9" fmla="*/ 0 h 116"/>
                <a:gd name="T10" fmla="*/ 1 w 221"/>
                <a:gd name="T11" fmla="*/ 0 h 116"/>
                <a:gd name="T12" fmla="*/ 1 w 221"/>
                <a:gd name="T13" fmla="*/ 0 h 116"/>
                <a:gd name="T14" fmla="*/ 1 w 221"/>
                <a:gd name="T15" fmla="*/ 0 h 116"/>
                <a:gd name="T16" fmla="*/ 1 w 221"/>
                <a:gd name="T17" fmla="*/ 0 h 116"/>
                <a:gd name="T18" fmla="*/ 1 w 221"/>
                <a:gd name="T19" fmla="*/ 0 h 116"/>
                <a:gd name="T20" fmla="*/ 1 w 221"/>
                <a:gd name="T21" fmla="*/ 0 h 116"/>
                <a:gd name="T22" fmla="*/ 1 w 221"/>
                <a:gd name="T23" fmla="*/ 0 h 116"/>
                <a:gd name="T24" fmla="*/ 1 w 221"/>
                <a:gd name="T25" fmla="*/ 0 h 116"/>
                <a:gd name="T26" fmla="*/ 1 w 221"/>
                <a:gd name="T27" fmla="*/ 0 h 116"/>
                <a:gd name="T28" fmla="*/ 1 w 221"/>
                <a:gd name="T29" fmla="*/ 0 h 116"/>
                <a:gd name="T30" fmla="*/ 1 w 221"/>
                <a:gd name="T31" fmla="*/ 0 h 116"/>
                <a:gd name="T32" fmla="*/ 1 w 221"/>
                <a:gd name="T33" fmla="*/ 0 h 116"/>
                <a:gd name="T34" fmla="*/ 1 w 221"/>
                <a:gd name="T35" fmla="*/ 0 h 116"/>
                <a:gd name="T36" fmla="*/ 1 w 221"/>
                <a:gd name="T37" fmla="*/ 0 h 116"/>
                <a:gd name="T38" fmla="*/ 1 w 221"/>
                <a:gd name="T39" fmla="*/ 0 h 116"/>
                <a:gd name="T40" fmla="*/ 1 w 221"/>
                <a:gd name="T41" fmla="*/ 0 h 116"/>
                <a:gd name="T42" fmla="*/ 1 w 221"/>
                <a:gd name="T43" fmla="*/ 0 h 116"/>
                <a:gd name="T44" fmla="*/ 1 w 221"/>
                <a:gd name="T45" fmla="*/ 0 h 116"/>
                <a:gd name="T46" fmla="*/ 1 w 221"/>
                <a:gd name="T47" fmla="*/ 0 h 116"/>
                <a:gd name="T48" fmla="*/ 1 w 221"/>
                <a:gd name="T49" fmla="*/ 0 h 116"/>
                <a:gd name="T50" fmla="*/ 1 w 221"/>
                <a:gd name="T51" fmla="*/ 0 h 116"/>
                <a:gd name="T52" fmla="*/ 1 w 221"/>
                <a:gd name="T53" fmla="*/ 0 h 116"/>
                <a:gd name="T54" fmla="*/ 1 w 221"/>
                <a:gd name="T55" fmla="*/ 0 h 116"/>
                <a:gd name="T56" fmla="*/ 1 w 221"/>
                <a:gd name="T57" fmla="*/ 0 h 116"/>
                <a:gd name="T58" fmla="*/ 1 w 221"/>
                <a:gd name="T59" fmla="*/ 0 h 116"/>
                <a:gd name="T60" fmla="*/ 1 w 221"/>
                <a:gd name="T61" fmla="*/ 0 h 116"/>
                <a:gd name="T62" fmla="*/ 1 w 221"/>
                <a:gd name="T63" fmla="*/ 0 h 116"/>
                <a:gd name="T64" fmla="*/ 1 w 221"/>
                <a:gd name="T65" fmla="*/ 0 h 116"/>
                <a:gd name="T66" fmla="*/ 0 w 221"/>
                <a:gd name="T67" fmla="*/ 0 h 116"/>
                <a:gd name="T68" fmla="*/ 1 w 221"/>
                <a:gd name="T69" fmla="*/ 0 h 11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1"/>
                <a:gd name="T106" fmla="*/ 0 h 116"/>
                <a:gd name="T107" fmla="*/ 221 w 221"/>
                <a:gd name="T108" fmla="*/ 116 h 11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1" h="116">
                  <a:moveTo>
                    <a:pt x="4" y="20"/>
                  </a:moveTo>
                  <a:lnTo>
                    <a:pt x="6" y="20"/>
                  </a:lnTo>
                  <a:lnTo>
                    <a:pt x="12" y="18"/>
                  </a:lnTo>
                  <a:lnTo>
                    <a:pt x="20" y="17"/>
                  </a:lnTo>
                  <a:lnTo>
                    <a:pt x="32" y="15"/>
                  </a:lnTo>
                  <a:lnTo>
                    <a:pt x="46" y="11"/>
                  </a:lnTo>
                  <a:lnTo>
                    <a:pt x="61" y="9"/>
                  </a:lnTo>
                  <a:lnTo>
                    <a:pt x="78" y="7"/>
                  </a:lnTo>
                  <a:lnTo>
                    <a:pt x="96" y="3"/>
                  </a:lnTo>
                  <a:lnTo>
                    <a:pt x="115" y="2"/>
                  </a:lnTo>
                  <a:lnTo>
                    <a:pt x="133" y="1"/>
                  </a:lnTo>
                  <a:lnTo>
                    <a:pt x="152" y="0"/>
                  </a:lnTo>
                  <a:lnTo>
                    <a:pt x="169" y="0"/>
                  </a:lnTo>
                  <a:lnTo>
                    <a:pt x="185" y="2"/>
                  </a:lnTo>
                  <a:lnTo>
                    <a:pt x="199" y="4"/>
                  </a:lnTo>
                  <a:lnTo>
                    <a:pt x="212" y="9"/>
                  </a:lnTo>
                  <a:lnTo>
                    <a:pt x="221" y="15"/>
                  </a:lnTo>
                  <a:lnTo>
                    <a:pt x="216" y="106"/>
                  </a:lnTo>
                  <a:lnTo>
                    <a:pt x="214" y="106"/>
                  </a:lnTo>
                  <a:lnTo>
                    <a:pt x="208" y="104"/>
                  </a:lnTo>
                  <a:lnTo>
                    <a:pt x="198" y="103"/>
                  </a:lnTo>
                  <a:lnTo>
                    <a:pt x="185" y="102"/>
                  </a:lnTo>
                  <a:lnTo>
                    <a:pt x="170" y="101"/>
                  </a:lnTo>
                  <a:lnTo>
                    <a:pt x="154" y="99"/>
                  </a:lnTo>
                  <a:lnTo>
                    <a:pt x="136" y="98"/>
                  </a:lnTo>
                  <a:lnTo>
                    <a:pt x="117" y="96"/>
                  </a:lnTo>
                  <a:lnTo>
                    <a:pt x="97" y="96"/>
                  </a:lnTo>
                  <a:lnTo>
                    <a:pt x="78" y="96"/>
                  </a:lnTo>
                  <a:lnTo>
                    <a:pt x="59" y="98"/>
                  </a:lnTo>
                  <a:lnTo>
                    <a:pt x="43" y="99"/>
                  </a:lnTo>
                  <a:lnTo>
                    <a:pt x="28" y="101"/>
                  </a:lnTo>
                  <a:lnTo>
                    <a:pt x="16" y="104"/>
                  </a:lnTo>
                  <a:lnTo>
                    <a:pt x="5" y="110"/>
                  </a:lnTo>
                  <a:lnTo>
                    <a:pt x="0" y="116"/>
                  </a:lnTo>
                  <a:lnTo>
                    <a:pt x="4" y="2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Freeform 117">
              <a:extLst>
                <a:ext uri="{FF2B5EF4-FFF2-40B4-BE49-F238E27FC236}">
                  <a16:creationId xmlns:a16="http://schemas.microsoft.com/office/drawing/2014/main" id="{2CF9A818-7E3E-B3DE-3E5D-E397D48F7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82"/>
              <a:ext cx="69" cy="46"/>
            </a:xfrm>
            <a:custGeom>
              <a:avLst/>
              <a:gdLst>
                <a:gd name="T0" fmla="*/ 0 w 116"/>
                <a:gd name="T1" fmla="*/ 0 h 98"/>
                <a:gd name="T2" fmla="*/ 1 w 116"/>
                <a:gd name="T3" fmla="*/ 0 h 98"/>
                <a:gd name="T4" fmla="*/ 1 w 116"/>
                <a:gd name="T5" fmla="*/ 0 h 98"/>
                <a:gd name="T6" fmla="*/ 1 w 116"/>
                <a:gd name="T7" fmla="*/ 0 h 98"/>
                <a:gd name="T8" fmla="*/ 1 w 116"/>
                <a:gd name="T9" fmla="*/ 0 h 98"/>
                <a:gd name="T10" fmla="*/ 1 w 116"/>
                <a:gd name="T11" fmla="*/ 0 h 98"/>
                <a:gd name="T12" fmla="*/ 1 w 116"/>
                <a:gd name="T13" fmla="*/ 0 h 98"/>
                <a:gd name="T14" fmla="*/ 1 w 116"/>
                <a:gd name="T15" fmla="*/ 0 h 98"/>
                <a:gd name="T16" fmla="*/ 1 w 116"/>
                <a:gd name="T17" fmla="*/ 0 h 98"/>
                <a:gd name="T18" fmla="*/ 1 w 116"/>
                <a:gd name="T19" fmla="*/ 0 h 98"/>
                <a:gd name="T20" fmla="*/ 1 w 116"/>
                <a:gd name="T21" fmla="*/ 0 h 98"/>
                <a:gd name="T22" fmla="*/ 1 w 116"/>
                <a:gd name="T23" fmla="*/ 0 h 98"/>
                <a:gd name="T24" fmla="*/ 1 w 116"/>
                <a:gd name="T25" fmla="*/ 0 h 98"/>
                <a:gd name="T26" fmla="*/ 1 w 116"/>
                <a:gd name="T27" fmla="*/ 0 h 98"/>
                <a:gd name="T28" fmla="*/ 1 w 116"/>
                <a:gd name="T29" fmla="*/ 0 h 98"/>
                <a:gd name="T30" fmla="*/ 1 w 116"/>
                <a:gd name="T31" fmla="*/ 0 h 98"/>
                <a:gd name="T32" fmla="*/ 1 w 116"/>
                <a:gd name="T33" fmla="*/ 0 h 98"/>
                <a:gd name="T34" fmla="*/ 1 w 116"/>
                <a:gd name="T35" fmla="*/ 0 h 98"/>
                <a:gd name="T36" fmla="*/ 0 w 116"/>
                <a:gd name="T37" fmla="*/ 0 h 9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6"/>
                <a:gd name="T58" fmla="*/ 0 h 98"/>
                <a:gd name="T59" fmla="*/ 116 w 116"/>
                <a:gd name="T60" fmla="*/ 98 h 9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6" h="98">
                  <a:moveTo>
                    <a:pt x="0" y="13"/>
                  </a:moveTo>
                  <a:lnTo>
                    <a:pt x="3" y="14"/>
                  </a:lnTo>
                  <a:lnTo>
                    <a:pt x="13" y="17"/>
                  </a:lnTo>
                  <a:lnTo>
                    <a:pt x="25" y="24"/>
                  </a:lnTo>
                  <a:lnTo>
                    <a:pt x="40" y="32"/>
                  </a:lnTo>
                  <a:lnTo>
                    <a:pt x="54" y="44"/>
                  </a:lnTo>
                  <a:lnTo>
                    <a:pt x="66" y="58"/>
                  </a:lnTo>
                  <a:lnTo>
                    <a:pt x="73" y="74"/>
                  </a:lnTo>
                  <a:lnTo>
                    <a:pt x="73" y="93"/>
                  </a:lnTo>
                  <a:lnTo>
                    <a:pt x="116" y="98"/>
                  </a:lnTo>
                  <a:lnTo>
                    <a:pt x="111" y="8"/>
                  </a:lnTo>
                  <a:lnTo>
                    <a:pt x="108" y="7"/>
                  </a:lnTo>
                  <a:lnTo>
                    <a:pt x="103" y="5"/>
                  </a:lnTo>
                  <a:lnTo>
                    <a:pt x="92" y="2"/>
                  </a:lnTo>
                  <a:lnTo>
                    <a:pt x="79" y="0"/>
                  </a:lnTo>
                  <a:lnTo>
                    <a:pt x="63" y="0"/>
                  </a:lnTo>
                  <a:lnTo>
                    <a:pt x="44" y="1"/>
                  </a:lnTo>
                  <a:lnTo>
                    <a:pt x="23" y="5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Freeform 118">
              <a:extLst>
                <a:ext uri="{FF2B5EF4-FFF2-40B4-BE49-F238E27FC236}">
                  <a16:creationId xmlns:a16="http://schemas.microsoft.com/office/drawing/2014/main" id="{3AB76E22-E7B1-7CCC-0585-541F05E95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67"/>
              <a:ext cx="131" cy="19"/>
            </a:xfrm>
            <a:custGeom>
              <a:avLst/>
              <a:gdLst>
                <a:gd name="T0" fmla="*/ 1 w 221"/>
                <a:gd name="T1" fmla="*/ 0 h 41"/>
                <a:gd name="T2" fmla="*/ 1 w 221"/>
                <a:gd name="T3" fmla="*/ 0 h 41"/>
                <a:gd name="T4" fmla="*/ 1 w 221"/>
                <a:gd name="T5" fmla="*/ 0 h 41"/>
                <a:gd name="T6" fmla="*/ 1 w 221"/>
                <a:gd name="T7" fmla="*/ 0 h 41"/>
                <a:gd name="T8" fmla="*/ 1 w 221"/>
                <a:gd name="T9" fmla="*/ 0 h 41"/>
                <a:gd name="T10" fmla="*/ 1 w 221"/>
                <a:gd name="T11" fmla="*/ 0 h 41"/>
                <a:gd name="T12" fmla="*/ 1 w 221"/>
                <a:gd name="T13" fmla="*/ 0 h 41"/>
                <a:gd name="T14" fmla="*/ 1 w 221"/>
                <a:gd name="T15" fmla="*/ 0 h 41"/>
                <a:gd name="T16" fmla="*/ 1 w 221"/>
                <a:gd name="T17" fmla="*/ 0 h 41"/>
                <a:gd name="T18" fmla="*/ 1 w 221"/>
                <a:gd name="T19" fmla="*/ 0 h 41"/>
                <a:gd name="T20" fmla="*/ 1 w 221"/>
                <a:gd name="T21" fmla="*/ 0 h 41"/>
                <a:gd name="T22" fmla="*/ 1 w 221"/>
                <a:gd name="T23" fmla="*/ 0 h 41"/>
                <a:gd name="T24" fmla="*/ 1 w 221"/>
                <a:gd name="T25" fmla="*/ 0 h 41"/>
                <a:gd name="T26" fmla="*/ 1 w 221"/>
                <a:gd name="T27" fmla="*/ 0 h 41"/>
                <a:gd name="T28" fmla="*/ 1 w 221"/>
                <a:gd name="T29" fmla="*/ 0 h 41"/>
                <a:gd name="T30" fmla="*/ 1 w 221"/>
                <a:gd name="T31" fmla="*/ 0 h 41"/>
                <a:gd name="T32" fmla="*/ 1 w 221"/>
                <a:gd name="T33" fmla="*/ 0 h 41"/>
                <a:gd name="T34" fmla="*/ 1 w 221"/>
                <a:gd name="T35" fmla="*/ 0 h 41"/>
                <a:gd name="T36" fmla="*/ 1 w 221"/>
                <a:gd name="T37" fmla="*/ 0 h 41"/>
                <a:gd name="T38" fmla="*/ 1 w 221"/>
                <a:gd name="T39" fmla="*/ 0 h 41"/>
                <a:gd name="T40" fmla="*/ 1 w 221"/>
                <a:gd name="T41" fmla="*/ 0 h 41"/>
                <a:gd name="T42" fmla="*/ 1 w 221"/>
                <a:gd name="T43" fmla="*/ 0 h 41"/>
                <a:gd name="T44" fmla="*/ 1 w 221"/>
                <a:gd name="T45" fmla="*/ 0 h 41"/>
                <a:gd name="T46" fmla="*/ 1 w 221"/>
                <a:gd name="T47" fmla="*/ 0 h 41"/>
                <a:gd name="T48" fmla="*/ 1 w 221"/>
                <a:gd name="T49" fmla="*/ 0 h 41"/>
                <a:gd name="T50" fmla="*/ 1 w 221"/>
                <a:gd name="T51" fmla="*/ 0 h 41"/>
                <a:gd name="T52" fmla="*/ 1 w 221"/>
                <a:gd name="T53" fmla="*/ 0 h 41"/>
                <a:gd name="T54" fmla="*/ 1 w 221"/>
                <a:gd name="T55" fmla="*/ 0 h 41"/>
                <a:gd name="T56" fmla="*/ 1 w 221"/>
                <a:gd name="T57" fmla="*/ 0 h 41"/>
                <a:gd name="T58" fmla="*/ 1 w 221"/>
                <a:gd name="T59" fmla="*/ 0 h 41"/>
                <a:gd name="T60" fmla="*/ 1 w 221"/>
                <a:gd name="T61" fmla="*/ 0 h 41"/>
                <a:gd name="T62" fmla="*/ 1 w 221"/>
                <a:gd name="T63" fmla="*/ 0 h 41"/>
                <a:gd name="T64" fmla="*/ 1 w 221"/>
                <a:gd name="T65" fmla="*/ 0 h 41"/>
                <a:gd name="T66" fmla="*/ 0 w 221"/>
                <a:gd name="T67" fmla="*/ 0 h 41"/>
                <a:gd name="T68" fmla="*/ 1 w 221"/>
                <a:gd name="T69" fmla="*/ 0 h 4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1"/>
                <a:gd name="T106" fmla="*/ 0 h 41"/>
                <a:gd name="T107" fmla="*/ 221 w 221"/>
                <a:gd name="T108" fmla="*/ 41 h 4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1" h="41">
                  <a:moveTo>
                    <a:pt x="5" y="7"/>
                  </a:moveTo>
                  <a:lnTo>
                    <a:pt x="7" y="7"/>
                  </a:lnTo>
                  <a:lnTo>
                    <a:pt x="13" y="6"/>
                  </a:lnTo>
                  <a:lnTo>
                    <a:pt x="21" y="6"/>
                  </a:lnTo>
                  <a:lnTo>
                    <a:pt x="32" y="5"/>
                  </a:lnTo>
                  <a:lnTo>
                    <a:pt x="46" y="4"/>
                  </a:lnTo>
                  <a:lnTo>
                    <a:pt x="62" y="3"/>
                  </a:lnTo>
                  <a:lnTo>
                    <a:pt x="80" y="3"/>
                  </a:lnTo>
                  <a:lnTo>
                    <a:pt x="97" y="1"/>
                  </a:lnTo>
                  <a:lnTo>
                    <a:pt x="115" y="0"/>
                  </a:lnTo>
                  <a:lnTo>
                    <a:pt x="134" y="0"/>
                  </a:lnTo>
                  <a:lnTo>
                    <a:pt x="152" y="0"/>
                  </a:lnTo>
                  <a:lnTo>
                    <a:pt x="169" y="0"/>
                  </a:lnTo>
                  <a:lnTo>
                    <a:pt x="186" y="0"/>
                  </a:lnTo>
                  <a:lnTo>
                    <a:pt x="199" y="1"/>
                  </a:lnTo>
                  <a:lnTo>
                    <a:pt x="212" y="3"/>
                  </a:lnTo>
                  <a:lnTo>
                    <a:pt x="221" y="5"/>
                  </a:lnTo>
                  <a:lnTo>
                    <a:pt x="217" y="37"/>
                  </a:lnTo>
                  <a:lnTo>
                    <a:pt x="214" y="37"/>
                  </a:lnTo>
                  <a:lnTo>
                    <a:pt x="209" y="37"/>
                  </a:lnTo>
                  <a:lnTo>
                    <a:pt x="198" y="36"/>
                  </a:lnTo>
                  <a:lnTo>
                    <a:pt x="187" y="36"/>
                  </a:lnTo>
                  <a:lnTo>
                    <a:pt x="172" y="35"/>
                  </a:lnTo>
                  <a:lnTo>
                    <a:pt x="154" y="35"/>
                  </a:lnTo>
                  <a:lnTo>
                    <a:pt x="136" y="35"/>
                  </a:lnTo>
                  <a:lnTo>
                    <a:pt x="118" y="34"/>
                  </a:lnTo>
                  <a:lnTo>
                    <a:pt x="98" y="34"/>
                  </a:lnTo>
                  <a:lnTo>
                    <a:pt x="80" y="34"/>
                  </a:lnTo>
                  <a:lnTo>
                    <a:pt x="61" y="34"/>
                  </a:lnTo>
                  <a:lnTo>
                    <a:pt x="44" y="35"/>
                  </a:lnTo>
                  <a:lnTo>
                    <a:pt x="29" y="36"/>
                  </a:lnTo>
                  <a:lnTo>
                    <a:pt x="16" y="37"/>
                  </a:lnTo>
                  <a:lnTo>
                    <a:pt x="7" y="38"/>
                  </a:lnTo>
                  <a:lnTo>
                    <a:pt x="0" y="41"/>
                  </a:lnTo>
                  <a:lnTo>
                    <a:pt x="5" y="7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Freeform 119">
              <a:extLst>
                <a:ext uri="{FF2B5EF4-FFF2-40B4-BE49-F238E27FC236}">
                  <a16:creationId xmlns:a16="http://schemas.microsoft.com/office/drawing/2014/main" id="{77D9AAA1-730F-966F-279E-E5F1F2719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267"/>
              <a:ext cx="68" cy="16"/>
            </a:xfrm>
            <a:custGeom>
              <a:avLst/>
              <a:gdLst>
                <a:gd name="T0" fmla="*/ 0 w 115"/>
                <a:gd name="T1" fmla="*/ 0 h 35"/>
                <a:gd name="T2" fmla="*/ 1 w 115"/>
                <a:gd name="T3" fmla="*/ 0 h 35"/>
                <a:gd name="T4" fmla="*/ 1 w 115"/>
                <a:gd name="T5" fmla="*/ 0 h 35"/>
                <a:gd name="T6" fmla="*/ 1 w 115"/>
                <a:gd name="T7" fmla="*/ 0 h 35"/>
                <a:gd name="T8" fmla="*/ 1 w 115"/>
                <a:gd name="T9" fmla="*/ 0 h 35"/>
                <a:gd name="T10" fmla="*/ 1 w 115"/>
                <a:gd name="T11" fmla="*/ 0 h 35"/>
                <a:gd name="T12" fmla="*/ 1 w 115"/>
                <a:gd name="T13" fmla="*/ 0 h 35"/>
                <a:gd name="T14" fmla="*/ 1 w 115"/>
                <a:gd name="T15" fmla="*/ 0 h 35"/>
                <a:gd name="T16" fmla="*/ 1 w 115"/>
                <a:gd name="T17" fmla="*/ 0 h 35"/>
                <a:gd name="T18" fmla="*/ 1 w 115"/>
                <a:gd name="T19" fmla="*/ 0 h 35"/>
                <a:gd name="T20" fmla="*/ 1 w 115"/>
                <a:gd name="T21" fmla="*/ 0 h 35"/>
                <a:gd name="T22" fmla="*/ 1 w 115"/>
                <a:gd name="T23" fmla="*/ 0 h 35"/>
                <a:gd name="T24" fmla="*/ 1 w 115"/>
                <a:gd name="T25" fmla="*/ 0 h 35"/>
                <a:gd name="T26" fmla="*/ 1 w 115"/>
                <a:gd name="T27" fmla="*/ 0 h 35"/>
                <a:gd name="T28" fmla="*/ 1 w 115"/>
                <a:gd name="T29" fmla="*/ 0 h 35"/>
                <a:gd name="T30" fmla="*/ 1 w 115"/>
                <a:gd name="T31" fmla="*/ 0 h 35"/>
                <a:gd name="T32" fmla="*/ 1 w 115"/>
                <a:gd name="T33" fmla="*/ 0 h 35"/>
                <a:gd name="T34" fmla="*/ 1 w 115"/>
                <a:gd name="T35" fmla="*/ 0 h 35"/>
                <a:gd name="T36" fmla="*/ 0 w 115"/>
                <a:gd name="T37" fmla="*/ 0 h 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5"/>
                <a:gd name="T58" fmla="*/ 0 h 35"/>
                <a:gd name="T59" fmla="*/ 115 w 115"/>
                <a:gd name="T60" fmla="*/ 35 h 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5" h="35">
                  <a:moveTo>
                    <a:pt x="0" y="5"/>
                  </a:moveTo>
                  <a:lnTo>
                    <a:pt x="3" y="5"/>
                  </a:lnTo>
                  <a:lnTo>
                    <a:pt x="12" y="7"/>
                  </a:lnTo>
                  <a:lnTo>
                    <a:pt x="25" y="9"/>
                  </a:lnTo>
                  <a:lnTo>
                    <a:pt x="39" y="12"/>
                  </a:lnTo>
                  <a:lnTo>
                    <a:pt x="53" y="16"/>
                  </a:lnTo>
                  <a:lnTo>
                    <a:pt x="64" y="21"/>
                  </a:lnTo>
                  <a:lnTo>
                    <a:pt x="71" y="27"/>
                  </a:lnTo>
                  <a:lnTo>
                    <a:pt x="71" y="34"/>
                  </a:lnTo>
                  <a:lnTo>
                    <a:pt x="115" y="35"/>
                  </a:lnTo>
                  <a:lnTo>
                    <a:pt x="110" y="4"/>
                  </a:lnTo>
                  <a:lnTo>
                    <a:pt x="108" y="4"/>
                  </a:lnTo>
                  <a:lnTo>
                    <a:pt x="102" y="3"/>
                  </a:lnTo>
                  <a:lnTo>
                    <a:pt x="92" y="1"/>
                  </a:lnTo>
                  <a:lnTo>
                    <a:pt x="78" y="0"/>
                  </a:lnTo>
                  <a:lnTo>
                    <a:pt x="62" y="0"/>
                  </a:lnTo>
                  <a:lnTo>
                    <a:pt x="43" y="0"/>
                  </a:lnTo>
                  <a:lnTo>
                    <a:pt x="23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120">
              <a:extLst>
                <a:ext uri="{FF2B5EF4-FFF2-40B4-BE49-F238E27FC236}">
                  <a16:creationId xmlns:a16="http://schemas.microsoft.com/office/drawing/2014/main" id="{9790694D-1717-9140-8DE0-F0363C358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744"/>
              <a:ext cx="126" cy="31"/>
            </a:xfrm>
            <a:custGeom>
              <a:avLst/>
              <a:gdLst>
                <a:gd name="T0" fmla="*/ 1 w 214"/>
                <a:gd name="T1" fmla="*/ 0 h 65"/>
                <a:gd name="T2" fmla="*/ 1 w 214"/>
                <a:gd name="T3" fmla="*/ 0 h 65"/>
                <a:gd name="T4" fmla="*/ 1 w 214"/>
                <a:gd name="T5" fmla="*/ 0 h 65"/>
                <a:gd name="T6" fmla="*/ 1 w 214"/>
                <a:gd name="T7" fmla="*/ 0 h 65"/>
                <a:gd name="T8" fmla="*/ 1 w 214"/>
                <a:gd name="T9" fmla="*/ 0 h 65"/>
                <a:gd name="T10" fmla="*/ 1 w 214"/>
                <a:gd name="T11" fmla="*/ 0 h 65"/>
                <a:gd name="T12" fmla="*/ 1 w 214"/>
                <a:gd name="T13" fmla="*/ 0 h 65"/>
                <a:gd name="T14" fmla="*/ 1 w 214"/>
                <a:gd name="T15" fmla="*/ 0 h 65"/>
                <a:gd name="T16" fmla="*/ 1 w 214"/>
                <a:gd name="T17" fmla="*/ 0 h 65"/>
                <a:gd name="T18" fmla="*/ 1 w 214"/>
                <a:gd name="T19" fmla="*/ 0 h 65"/>
                <a:gd name="T20" fmla="*/ 1 w 214"/>
                <a:gd name="T21" fmla="*/ 0 h 65"/>
                <a:gd name="T22" fmla="*/ 1 w 214"/>
                <a:gd name="T23" fmla="*/ 0 h 65"/>
                <a:gd name="T24" fmla="*/ 1 w 214"/>
                <a:gd name="T25" fmla="*/ 0 h 65"/>
                <a:gd name="T26" fmla="*/ 1 w 214"/>
                <a:gd name="T27" fmla="*/ 0 h 65"/>
                <a:gd name="T28" fmla="*/ 1 w 214"/>
                <a:gd name="T29" fmla="*/ 0 h 65"/>
                <a:gd name="T30" fmla="*/ 1 w 214"/>
                <a:gd name="T31" fmla="*/ 0 h 65"/>
                <a:gd name="T32" fmla="*/ 1 w 214"/>
                <a:gd name="T33" fmla="*/ 0 h 65"/>
                <a:gd name="T34" fmla="*/ 1 w 214"/>
                <a:gd name="T35" fmla="*/ 0 h 65"/>
                <a:gd name="T36" fmla="*/ 1 w 214"/>
                <a:gd name="T37" fmla="*/ 0 h 65"/>
                <a:gd name="T38" fmla="*/ 1 w 214"/>
                <a:gd name="T39" fmla="*/ 0 h 65"/>
                <a:gd name="T40" fmla="*/ 1 w 214"/>
                <a:gd name="T41" fmla="*/ 0 h 65"/>
                <a:gd name="T42" fmla="*/ 1 w 214"/>
                <a:gd name="T43" fmla="*/ 0 h 65"/>
                <a:gd name="T44" fmla="*/ 1 w 214"/>
                <a:gd name="T45" fmla="*/ 0 h 65"/>
                <a:gd name="T46" fmla="*/ 1 w 214"/>
                <a:gd name="T47" fmla="*/ 0 h 65"/>
                <a:gd name="T48" fmla="*/ 1 w 214"/>
                <a:gd name="T49" fmla="*/ 0 h 65"/>
                <a:gd name="T50" fmla="*/ 1 w 214"/>
                <a:gd name="T51" fmla="*/ 0 h 65"/>
                <a:gd name="T52" fmla="*/ 1 w 214"/>
                <a:gd name="T53" fmla="*/ 0 h 65"/>
                <a:gd name="T54" fmla="*/ 1 w 214"/>
                <a:gd name="T55" fmla="*/ 0 h 65"/>
                <a:gd name="T56" fmla="*/ 1 w 214"/>
                <a:gd name="T57" fmla="*/ 0 h 65"/>
                <a:gd name="T58" fmla="*/ 1 w 214"/>
                <a:gd name="T59" fmla="*/ 0 h 65"/>
                <a:gd name="T60" fmla="*/ 1 w 214"/>
                <a:gd name="T61" fmla="*/ 0 h 65"/>
                <a:gd name="T62" fmla="*/ 1 w 214"/>
                <a:gd name="T63" fmla="*/ 0 h 65"/>
                <a:gd name="T64" fmla="*/ 1 w 214"/>
                <a:gd name="T65" fmla="*/ 0 h 65"/>
                <a:gd name="T66" fmla="*/ 0 w 214"/>
                <a:gd name="T67" fmla="*/ 0 h 65"/>
                <a:gd name="T68" fmla="*/ 1 w 214"/>
                <a:gd name="T69" fmla="*/ 0 h 6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14"/>
                <a:gd name="T106" fmla="*/ 0 h 65"/>
                <a:gd name="T107" fmla="*/ 214 w 214"/>
                <a:gd name="T108" fmla="*/ 65 h 6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14" h="65">
                  <a:moveTo>
                    <a:pt x="5" y="30"/>
                  </a:moveTo>
                  <a:lnTo>
                    <a:pt x="7" y="30"/>
                  </a:lnTo>
                  <a:lnTo>
                    <a:pt x="12" y="29"/>
                  </a:lnTo>
                  <a:lnTo>
                    <a:pt x="21" y="26"/>
                  </a:lnTo>
                  <a:lnTo>
                    <a:pt x="31" y="24"/>
                  </a:lnTo>
                  <a:lnTo>
                    <a:pt x="45" y="22"/>
                  </a:lnTo>
                  <a:lnTo>
                    <a:pt x="60" y="18"/>
                  </a:lnTo>
                  <a:lnTo>
                    <a:pt x="76" y="16"/>
                  </a:lnTo>
                  <a:lnTo>
                    <a:pt x="93" y="12"/>
                  </a:lnTo>
                  <a:lnTo>
                    <a:pt x="112" y="9"/>
                  </a:lnTo>
                  <a:lnTo>
                    <a:pt x="129" y="7"/>
                  </a:lnTo>
                  <a:lnTo>
                    <a:pt x="146" y="4"/>
                  </a:lnTo>
                  <a:lnTo>
                    <a:pt x="164" y="2"/>
                  </a:lnTo>
                  <a:lnTo>
                    <a:pt x="179" y="1"/>
                  </a:lnTo>
                  <a:lnTo>
                    <a:pt x="194" y="0"/>
                  </a:lnTo>
                  <a:lnTo>
                    <a:pt x="205" y="0"/>
                  </a:lnTo>
                  <a:lnTo>
                    <a:pt x="214" y="1"/>
                  </a:lnTo>
                  <a:lnTo>
                    <a:pt x="210" y="34"/>
                  </a:lnTo>
                  <a:lnTo>
                    <a:pt x="207" y="34"/>
                  </a:lnTo>
                  <a:lnTo>
                    <a:pt x="202" y="35"/>
                  </a:lnTo>
                  <a:lnTo>
                    <a:pt x="192" y="35"/>
                  </a:lnTo>
                  <a:lnTo>
                    <a:pt x="180" y="37"/>
                  </a:lnTo>
                  <a:lnTo>
                    <a:pt x="166" y="38"/>
                  </a:lnTo>
                  <a:lnTo>
                    <a:pt x="150" y="40"/>
                  </a:lnTo>
                  <a:lnTo>
                    <a:pt x="131" y="41"/>
                  </a:lnTo>
                  <a:lnTo>
                    <a:pt x="114" y="44"/>
                  </a:lnTo>
                  <a:lnTo>
                    <a:pt x="94" y="46"/>
                  </a:lnTo>
                  <a:lnTo>
                    <a:pt x="76" y="48"/>
                  </a:lnTo>
                  <a:lnTo>
                    <a:pt x="59" y="50"/>
                  </a:lnTo>
                  <a:lnTo>
                    <a:pt x="43" y="53"/>
                  </a:lnTo>
                  <a:lnTo>
                    <a:pt x="28" y="56"/>
                  </a:lnTo>
                  <a:lnTo>
                    <a:pt x="16" y="60"/>
                  </a:lnTo>
                  <a:lnTo>
                    <a:pt x="6" y="62"/>
                  </a:lnTo>
                  <a:lnTo>
                    <a:pt x="0" y="65"/>
                  </a:lnTo>
                  <a:lnTo>
                    <a:pt x="5" y="3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Freeform 121">
              <a:extLst>
                <a:ext uri="{FF2B5EF4-FFF2-40B4-BE49-F238E27FC236}">
                  <a16:creationId xmlns:a16="http://schemas.microsoft.com/office/drawing/2014/main" id="{5ECA68E9-F992-DFA5-451F-D7E62A9E4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746"/>
              <a:ext cx="67" cy="16"/>
            </a:xfrm>
            <a:custGeom>
              <a:avLst/>
              <a:gdLst>
                <a:gd name="T0" fmla="*/ 0 w 113"/>
                <a:gd name="T1" fmla="*/ 0 h 35"/>
                <a:gd name="T2" fmla="*/ 1 w 113"/>
                <a:gd name="T3" fmla="*/ 0 h 35"/>
                <a:gd name="T4" fmla="*/ 1 w 113"/>
                <a:gd name="T5" fmla="*/ 0 h 35"/>
                <a:gd name="T6" fmla="*/ 1 w 113"/>
                <a:gd name="T7" fmla="*/ 0 h 35"/>
                <a:gd name="T8" fmla="*/ 1 w 113"/>
                <a:gd name="T9" fmla="*/ 0 h 35"/>
                <a:gd name="T10" fmla="*/ 1 w 113"/>
                <a:gd name="T11" fmla="*/ 0 h 35"/>
                <a:gd name="T12" fmla="*/ 1 w 113"/>
                <a:gd name="T13" fmla="*/ 0 h 35"/>
                <a:gd name="T14" fmla="*/ 1 w 113"/>
                <a:gd name="T15" fmla="*/ 0 h 35"/>
                <a:gd name="T16" fmla="*/ 1 w 113"/>
                <a:gd name="T17" fmla="*/ 0 h 35"/>
                <a:gd name="T18" fmla="*/ 1 w 113"/>
                <a:gd name="T19" fmla="*/ 0 h 35"/>
                <a:gd name="T20" fmla="*/ 1 w 113"/>
                <a:gd name="T21" fmla="*/ 0 h 35"/>
                <a:gd name="T22" fmla="*/ 1 w 113"/>
                <a:gd name="T23" fmla="*/ 0 h 35"/>
                <a:gd name="T24" fmla="*/ 1 w 113"/>
                <a:gd name="T25" fmla="*/ 0 h 35"/>
                <a:gd name="T26" fmla="*/ 1 w 113"/>
                <a:gd name="T27" fmla="*/ 0 h 35"/>
                <a:gd name="T28" fmla="*/ 1 w 113"/>
                <a:gd name="T29" fmla="*/ 0 h 35"/>
                <a:gd name="T30" fmla="*/ 1 w 113"/>
                <a:gd name="T31" fmla="*/ 0 h 35"/>
                <a:gd name="T32" fmla="*/ 1 w 113"/>
                <a:gd name="T33" fmla="*/ 0 h 35"/>
                <a:gd name="T34" fmla="*/ 1 w 113"/>
                <a:gd name="T35" fmla="*/ 0 h 35"/>
                <a:gd name="T36" fmla="*/ 0 w 113"/>
                <a:gd name="T37" fmla="*/ 0 h 3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3"/>
                <a:gd name="T58" fmla="*/ 0 h 35"/>
                <a:gd name="T59" fmla="*/ 113 w 113"/>
                <a:gd name="T60" fmla="*/ 35 h 3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3" h="35">
                  <a:moveTo>
                    <a:pt x="0" y="15"/>
                  </a:moveTo>
                  <a:lnTo>
                    <a:pt x="4" y="15"/>
                  </a:lnTo>
                  <a:lnTo>
                    <a:pt x="13" y="15"/>
                  </a:lnTo>
                  <a:lnTo>
                    <a:pt x="24" y="16"/>
                  </a:lnTo>
                  <a:lnTo>
                    <a:pt x="39" y="18"/>
                  </a:lnTo>
                  <a:lnTo>
                    <a:pt x="52" y="20"/>
                  </a:lnTo>
                  <a:lnTo>
                    <a:pt x="64" y="23"/>
                  </a:lnTo>
                  <a:lnTo>
                    <a:pt x="70" y="28"/>
                  </a:lnTo>
                  <a:lnTo>
                    <a:pt x="70" y="35"/>
                  </a:lnTo>
                  <a:lnTo>
                    <a:pt x="113" y="31"/>
                  </a:lnTo>
                  <a:lnTo>
                    <a:pt x="107" y="0"/>
                  </a:lnTo>
                  <a:lnTo>
                    <a:pt x="105" y="0"/>
                  </a:lnTo>
                  <a:lnTo>
                    <a:pt x="99" y="0"/>
                  </a:lnTo>
                  <a:lnTo>
                    <a:pt x="90" y="0"/>
                  </a:lnTo>
                  <a:lnTo>
                    <a:pt x="76" y="2"/>
                  </a:lnTo>
                  <a:lnTo>
                    <a:pt x="61" y="3"/>
                  </a:lnTo>
                  <a:lnTo>
                    <a:pt x="43" y="6"/>
                  </a:lnTo>
                  <a:lnTo>
                    <a:pt x="22" y="1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4" name="Freeform 122">
              <a:extLst>
                <a:ext uri="{FF2B5EF4-FFF2-40B4-BE49-F238E27FC236}">
                  <a16:creationId xmlns:a16="http://schemas.microsoft.com/office/drawing/2014/main" id="{A6F1BF65-D8C3-0564-6A97-715175C5F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63"/>
              <a:ext cx="429" cy="101"/>
            </a:xfrm>
            <a:custGeom>
              <a:avLst/>
              <a:gdLst>
                <a:gd name="T0" fmla="*/ 4 w 730"/>
                <a:gd name="T1" fmla="*/ 0 h 219"/>
                <a:gd name="T2" fmla="*/ 1 w 730"/>
                <a:gd name="T3" fmla="*/ 0 h 219"/>
                <a:gd name="T4" fmla="*/ 1 w 730"/>
                <a:gd name="T5" fmla="*/ 0 h 219"/>
                <a:gd name="T6" fmla="*/ 1 w 730"/>
                <a:gd name="T7" fmla="*/ 0 h 219"/>
                <a:gd name="T8" fmla="*/ 1 w 730"/>
                <a:gd name="T9" fmla="*/ 0 h 219"/>
                <a:gd name="T10" fmla="*/ 1 w 730"/>
                <a:gd name="T11" fmla="*/ 0 h 219"/>
                <a:gd name="T12" fmla="*/ 1 w 730"/>
                <a:gd name="T13" fmla="*/ 0 h 219"/>
                <a:gd name="T14" fmla="*/ 1 w 730"/>
                <a:gd name="T15" fmla="*/ 0 h 219"/>
                <a:gd name="T16" fmla="*/ 0 w 730"/>
                <a:gd name="T17" fmla="*/ 0 h 219"/>
                <a:gd name="T18" fmla="*/ 0 w 730"/>
                <a:gd name="T19" fmla="*/ 0 h 219"/>
                <a:gd name="T20" fmla="*/ 0 w 730"/>
                <a:gd name="T21" fmla="*/ 0 h 219"/>
                <a:gd name="T22" fmla="*/ 0 w 730"/>
                <a:gd name="T23" fmla="*/ 0 h 219"/>
                <a:gd name="T24" fmla="*/ 1 w 730"/>
                <a:gd name="T25" fmla="*/ 0 h 219"/>
                <a:gd name="T26" fmla="*/ 1 w 730"/>
                <a:gd name="T27" fmla="*/ 0 h 219"/>
                <a:gd name="T28" fmla="*/ 1 w 730"/>
                <a:gd name="T29" fmla="*/ 0 h 219"/>
                <a:gd name="T30" fmla="*/ 1 w 730"/>
                <a:gd name="T31" fmla="*/ 0 h 219"/>
                <a:gd name="T32" fmla="*/ 1 w 730"/>
                <a:gd name="T33" fmla="*/ 0 h 219"/>
                <a:gd name="T34" fmla="*/ 1 w 730"/>
                <a:gd name="T35" fmla="*/ 0 h 219"/>
                <a:gd name="T36" fmla="*/ 1 w 730"/>
                <a:gd name="T37" fmla="*/ 0 h 219"/>
                <a:gd name="T38" fmla="*/ 1 w 730"/>
                <a:gd name="T39" fmla="*/ 0 h 219"/>
                <a:gd name="T40" fmla="*/ 1 w 730"/>
                <a:gd name="T41" fmla="*/ 0 h 219"/>
                <a:gd name="T42" fmla="*/ 1 w 730"/>
                <a:gd name="T43" fmla="*/ 0 h 219"/>
                <a:gd name="T44" fmla="*/ 1 w 730"/>
                <a:gd name="T45" fmla="*/ 0 h 219"/>
                <a:gd name="T46" fmla="*/ 1 w 730"/>
                <a:gd name="T47" fmla="*/ 0 h 219"/>
                <a:gd name="T48" fmla="*/ 1 w 730"/>
                <a:gd name="T49" fmla="*/ 0 h 219"/>
                <a:gd name="T50" fmla="*/ 2 w 730"/>
                <a:gd name="T51" fmla="*/ 0 h 219"/>
                <a:gd name="T52" fmla="*/ 2 w 730"/>
                <a:gd name="T53" fmla="*/ 0 h 219"/>
                <a:gd name="T54" fmla="*/ 2 w 730"/>
                <a:gd name="T55" fmla="*/ 0 h 219"/>
                <a:gd name="T56" fmla="*/ 3 w 730"/>
                <a:gd name="T57" fmla="*/ 0 h 219"/>
                <a:gd name="T58" fmla="*/ 3 w 730"/>
                <a:gd name="T59" fmla="*/ 0 h 219"/>
                <a:gd name="T60" fmla="*/ 3 w 730"/>
                <a:gd name="T61" fmla="*/ 0 h 219"/>
                <a:gd name="T62" fmla="*/ 3 w 730"/>
                <a:gd name="T63" fmla="*/ 0 h 219"/>
                <a:gd name="T64" fmla="*/ 4 w 730"/>
                <a:gd name="T65" fmla="*/ 0 h 219"/>
                <a:gd name="T66" fmla="*/ 4 w 730"/>
                <a:gd name="T67" fmla="*/ 0 h 21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30"/>
                <a:gd name="T103" fmla="*/ 0 h 219"/>
                <a:gd name="T104" fmla="*/ 730 w 730"/>
                <a:gd name="T105" fmla="*/ 219 h 21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30" h="219">
                  <a:moveTo>
                    <a:pt x="730" y="0"/>
                  </a:moveTo>
                  <a:lnTo>
                    <a:pt x="87" y="95"/>
                  </a:lnTo>
                  <a:lnTo>
                    <a:pt x="82" y="95"/>
                  </a:lnTo>
                  <a:lnTo>
                    <a:pt x="72" y="97"/>
                  </a:lnTo>
                  <a:lnTo>
                    <a:pt x="57" y="101"/>
                  </a:lnTo>
                  <a:lnTo>
                    <a:pt x="40" y="109"/>
                  </a:lnTo>
                  <a:lnTo>
                    <a:pt x="22" y="123"/>
                  </a:lnTo>
                  <a:lnTo>
                    <a:pt x="10" y="145"/>
                  </a:lnTo>
                  <a:lnTo>
                    <a:pt x="0" y="177"/>
                  </a:lnTo>
                  <a:lnTo>
                    <a:pt x="0" y="219"/>
                  </a:lnTo>
                  <a:lnTo>
                    <a:pt x="0" y="215"/>
                  </a:lnTo>
                  <a:lnTo>
                    <a:pt x="0" y="205"/>
                  </a:lnTo>
                  <a:lnTo>
                    <a:pt x="3" y="190"/>
                  </a:lnTo>
                  <a:lnTo>
                    <a:pt x="7" y="173"/>
                  </a:lnTo>
                  <a:lnTo>
                    <a:pt x="15" y="155"/>
                  </a:lnTo>
                  <a:lnTo>
                    <a:pt x="28" y="138"/>
                  </a:lnTo>
                  <a:lnTo>
                    <a:pt x="46" y="124"/>
                  </a:lnTo>
                  <a:lnTo>
                    <a:pt x="73" y="115"/>
                  </a:lnTo>
                  <a:lnTo>
                    <a:pt x="79" y="114"/>
                  </a:lnTo>
                  <a:lnTo>
                    <a:pt x="96" y="112"/>
                  </a:lnTo>
                  <a:lnTo>
                    <a:pt x="124" y="107"/>
                  </a:lnTo>
                  <a:lnTo>
                    <a:pt x="159" y="101"/>
                  </a:lnTo>
                  <a:lnTo>
                    <a:pt x="202" y="93"/>
                  </a:lnTo>
                  <a:lnTo>
                    <a:pt x="250" y="85"/>
                  </a:lnTo>
                  <a:lnTo>
                    <a:pt x="303" y="77"/>
                  </a:lnTo>
                  <a:lnTo>
                    <a:pt x="359" y="68"/>
                  </a:lnTo>
                  <a:lnTo>
                    <a:pt x="415" y="57"/>
                  </a:lnTo>
                  <a:lnTo>
                    <a:pt x="472" y="48"/>
                  </a:lnTo>
                  <a:lnTo>
                    <a:pt x="526" y="38"/>
                  </a:lnTo>
                  <a:lnTo>
                    <a:pt x="579" y="29"/>
                  </a:lnTo>
                  <a:lnTo>
                    <a:pt x="626" y="21"/>
                  </a:lnTo>
                  <a:lnTo>
                    <a:pt x="669" y="12"/>
                  </a:lnTo>
                  <a:lnTo>
                    <a:pt x="703" y="6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124">
              <a:extLst>
                <a:ext uri="{FF2B5EF4-FFF2-40B4-BE49-F238E27FC236}">
                  <a16:creationId xmlns:a16="http://schemas.microsoft.com/office/drawing/2014/main" id="{AD355697-BFCD-9790-4121-8CFE61E95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6" y="849"/>
              <a:ext cx="495" cy="36"/>
            </a:xfrm>
            <a:custGeom>
              <a:avLst/>
              <a:gdLst>
                <a:gd name="T0" fmla="*/ 1 w 845"/>
                <a:gd name="T1" fmla="*/ 0 h 79"/>
                <a:gd name="T2" fmla="*/ 1 w 845"/>
                <a:gd name="T3" fmla="*/ 0 h 79"/>
                <a:gd name="T4" fmla="*/ 1 w 845"/>
                <a:gd name="T5" fmla="*/ 0 h 79"/>
                <a:gd name="T6" fmla="*/ 1 w 845"/>
                <a:gd name="T7" fmla="*/ 0 h 79"/>
                <a:gd name="T8" fmla="*/ 1 w 845"/>
                <a:gd name="T9" fmla="*/ 0 h 79"/>
                <a:gd name="T10" fmla="*/ 2 w 845"/>
                <a:gd name="T11" fmla="*/ 0 h 79"/>
                <a:gd name="T12" fmla="*/ 2 w 845"/>
                <a:gd name="T13" fmla="*/ 0 h 79"/>
                <a:gd name="T14" fmla="*/ 3 w 845"/>
                <a:gd name="T15" fmla="*/ 0 h 79"/>
                <a:gd name="T16" fmla="*/ 3 w 845"/>
                <a:gd name="T17" fmla="*/ 0 h 79"/>
                <a:gd name="T18" fmla="*/ 3 w 845"/>
                <a:gd name="T19" fmla="*/ 0 h 79"/>
                <a:gd name="T20" fmla="*/ 3 w 845"/>
                <a:gd name="T21" fmla="*/ 0 h 79"/>
                <a:gd name="T22" fmla="*/ 4 w 845"/>
                <a:gd name="T23" fmla="*/ 0 h 79"/>
                <a:gd name="T24" fmla="*/ 4 w 845"/>
                <a:gd name="T25" fmla="*/ 0 h 79"/>
                <a:gd name="T26" fmla="*/ 4 w 845"/>
                <a:gd name="T27" fmla="*/ 0 h 79"/>
                <a:gd name="T28" fmla="*/ 4 w 845"/>
                <a:gd name="T29" fmla="*/ 0 h 79"/>
                <a:gd name="T30" fmla="*/ 4 w 845"/>
                <a:gd name="T31" fmla="*/ 0 h 79"/>
                <a:gd name="T32" fmla="*/ 4 w 845"/>
                <a:gd name="T33" fmla="*/ 0 h 79"/>
                <a:gd name="T34" fmla="*/ 4 w 845"/>
                <a:gd name="T35" fmla="*/ 0 h 79"/>
                <a:gd name="T36" fmla="*/ 4 w 845"/>
                <a:gd name="T37" fmla="*/ 0 h 79"/>
                <a:gd name="T38" fmla="*/ 4 w 845"/>
                <a:gd name="T39" fmla="*/ 0 h 79"/>
                <a:gd name="T40" fmla="*/ 4 w 845"/>
                <a:gd name="T41" fmla="*/ 0 h 79"/>
                <a:gd name="T42" fmla="*/ 4 w 845"/>
                <a:gd name="T43" fmla="*/ 0 h 79"/>
                <a:gd name="T44" fmla="*/ 3 w 845"/>
                <a:gd name="T45" fmla="*/ 0 h 79"/>
                <a:gd name="T46" fmla="*/ 3 w 845"/>
                <a:gd name="T47" fmla="*/ 0 h 79"/>
                <a:gd name="T48" fmla="*/ 3 w 845"/>
                <a:gd name="T49" fmla="*/ 0 h 79"/>
                <a:gd name="T50" fmla="*/ 3 w 845"/>
                <a:gd name="T51" fmla="*/ 0 h 79"/>
                <a:gd name="T52" fmla="*/ 3 w 845"/>
                <a:gd name="T53" fmla="*/ 0 h 79"/>
                <a:gd name="T54" fmla="*/ 2 w 845"/>
                <a:gd name="T55" fmla="*/ 0 h 79"/>
                <a:gd name="T56" fmla="*/ 2 w 845"/>
                <a:gd name="T57" fmla="*/ 0 h 79"/>
                <a:gd name="T58" fmla="*/ 1 w 845"/>
                <a:gd name="T59" fmla="*/ 0 h 79"/>
                <a:gd name="T60" fmla="*/ 1 w 845"/>
                <a:gd name="T61" fmla="*/ 0 h 79"/>
                <a:gd name="T62" fmla="*/ 1 w 845"/>
                <a:gd name="T63" fmla="*/ 0 h 7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845"/>
                <a:gd name="T97" fmla="*/ 0 h 79"/>
                <a:gd name="T98" fmla="*/ 845 w 845"/>
                <a:gd name="T99" fmla="*/ 79 h 7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845" h="79">
                  <a:moveTo>
                    <a:pt x="0" y="31"/>
                  </a:moveTo>
                  <a:lnTo>
                    <a:pt x="4" y="31"/>
                  </a:lnTo>
                  <a:lnTo>
                    <a:pt x="13" y="30"/>
                  </a:lnTo>
                  <a:lnTo>
                    <a:pt x="28" y="28"/>
                  </a:lnTo>
                  <a:lnTo>
                    <a:pt x="50" y="27"/>
                  </a:lnTo>
                  <a:lnTo>
                    <a:pt x="76" y="26"/>
                  </a:lnTo>
                  <a:lnTo>
                    <a:pt x="108" y="25"/>
                  </a:lnTo>
                  <a:lnTo>
                    <a:pt x="144" y="25"/>
                  </a:lnTo>
                  <a:lnTo>
                    <a:pt x="185" y="25"/>
                  </a:lnTo>
                  <a:lnTo>
                    <a:pt x="231" y="26"/>
                  </a:lnTo>
                  <a:lnTo>
                    <a:pt x="279" y="28"/>
                  </a:lnTo>
                  <a:lnTo>
                    <a:pt x="332" y="33"/>
                  </a:lnTo>
                  <a:lnTo>
                    <a:pt x="389" y="38"/>
                  </a:lnTo>
                  <a:lnTo>
                    <a:pt x="449" y="46"/>
                  </a:lnTo>
                  <a:lnTo>
                    <a:pt x="511" y="54"/>
                  </a:lnTo>
                  <a:lnTo>
                    <a:pt x="575" y="65"/>
                  </a:lnTo>
                  <a:lnTo>
                    <a:pt x="642" y="79"/>
                  </a:lnTo>
                  <a:lnTo>
                    <a:pt x="644" y="79"/>
                  </a:lnTo>
                  <a:lnTo>
                    <a:pt x="650" y="78"/>
                  </a:lnTo>
                  <a:lnTo>
                    <a:pt x="659" y="77"/>
                  </a:lnTo>
                  <a:lnTo>
                    <a:pt x="672" y="76"/>
                  </a:lnTo>
                  <a:lnTo>
                    <a:pt x="686" y="73"/>
                  </a:lnTo>
                  <a:lnTo>
                    <a:pt x="703" y="71"/>
                  </a:lnTo>
                  <a:lnTo>
                    <a:pt x="720" y="68"/>
                  </a:lnTo>
                  <a:lnTo>
                    <a:pt x="739" y="63"/>
                  </a:lnTo>
                  <a:lnTo>
                    <a:pt x="756" y="58"/>
                  </a:lnTo>
                  <a:lnTo>
                    <a:pt x="775" y="53"/>
                  </a:lnTo>
                  <a:lnTo>
                    <a:pt x="792" y="46"/>
                  </a:lnTo>
                  <a:lnTo>
                    <a:pt x="807" y="39"/>
                  </a:lnTo>
                  <a:lnTo>
                    <a:pt x="821" y="31"/>
                  </a:lnTo>
                  <a:lnTo>
                    <a:pt x="832" y="22"/>
                  </a:lnTo>
                  <a:lnTo>
                    <a:pt x="840" y="11"/>
                  </a:lnTo>
                  <a:lnTo>
                    <a:pt x="845" y="0"/>
                  </a:lnTo>
                  <a:lnTo>
                    <a:pt x="844" y="0"/>
                  </a:lnTo>
                  <a:lnTo>
                    <a:pt x="839" y="2"/>
                  </a:lnTo>
                  <a:lnTo>
                    <a:pt x="833" y="4"/>
                  </a:lnTo>
                  <a:lnTo>
                    <a:pt x="824" y="7"/>
                  </a:lnTo>
                  <a:lnTo>
                    <a:pt x="814" y="10"/>
                  </a:lnTo>
                  <a:lnTo>
                    <a:pt x="802" y="15"/>
                  </a:lnTo>
                  <a:lnTo>
                    <a:pt x="788" y="18"/>
                  </a:lnTo>
                  <a:lnTo>
                    <a:pt x="773" y="23"/>
                  </a:lnTo>
                  <a:lnTo>
                    <a:pt x="757" y="26"/>
                  </a:lnTo>
                  <a:lnTo>
                    <a:pt x="741" y="30"/>
                  </a:lnTo>
                  <a:lnTo>
                    <a:pt x="724" y="33"/>
                  </a:lnTo>
                  <a:lnTo>
                    <a:pt x="708" y="37"/>
                  </a:lnTo>
                  <a:lnTo>
                    <a:pt x="690" y="38"/>
                  </a:lnTo>
                  <a:lnTo>
                    <a:pt x="673" y="40"/>
                  </a:lnTo>
                  <a:lnTo>
                    <a:pt x="657" y="40"/>
                  </a:lnTo>
                  <a:lnTo>
                    <a:pt x="642" y="39"/>
                  </a:lnTo>
                  <a:lnTo>
                    <a:pt x="638" y="38"/>
                  </a:lnTo>
                  <a:lnTo>
                    <a:pt x="623" y="37"/>
                  </a:lnTo>
                  <a:lnTo>
                    <a:pt x="598" y="34"/>
                  </a:lnTo>
                  <a:lnTo>
                    <a:pt x="568" y="31"/>
                  </a:lnTo>
                  <a:lnTo>
                    <a:pt x="530" y="27"/>
                  </a:lnTo>
                  <a:lnTo>
                    <a:pt x="488" y="24"/>
                  </a:lnTo>
                  <a:lnTo>
                    <a:pt x="442" y="20"/>
                  </a:lnTo>
                  <a:lnTo>
                    <a:pt x="391" y="17"/>
                  </a:lnTo>
                  <a:lnTo>
                    <a:pt x="339" y="15"/>
                  </a:lnTo>
                  <a:lnTo>
                    <a:pt x="285" y="12"/>
                  </a:lnTo>
                  <a:lnTo>
                    <a:pt x="232" y="11"/>
                  </a:lnTo>
                  <a:lnTo>
                    <a:pt x="179" y="12"/>
                  </a:lnTo>
                  <a:lnTo>
                    <a:pt x="129" y="13"/>
                  </a:lnTo>
                  <a:lnTo>
                    <a:pt x="81" y="18"/>
                  </a:lnTo>
                  <a:lnTo>
                    <a:pt x="38" y="23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6" name="Freeform 125">
              <a:extLst>
                <a:ext uri="{FF2B5EF4-FFF2-40B4-BE49-F238E27FC236}">
                  <a16:creationId xmlns:a16="http://schemas.microsoft.com/office/drawing/2014/main" id="{D767702E-93F5-5958-1CE5-CBC775931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" y="94"/>
              <a:ext cx="16" cy="740"/>
            </a:xfrm>
            <a:custGeom>
              <a:avLst/>
              <a:gdLst>
                <a:gd name="T0" fmla="*/ 0 w 26"/>
                <a:gd name="T1" fmla="*/ 0 h 1606"/>
                <a:gd name="T2" fmla="*/ 1 w 26"/>
                <a:gd name="T3" fmla="*/ 0 h 1606"/>
                <a:gd name="T4" fmla="*/ 1 w 26"/>
                <a:gd name="T5" fmla="*/ 0 h 1606"/>
                <a:gd name="T6" fmla="*/ 1 w 26"/>
                <a:gd name="T7" fmla="*/ 0 h 1606"/>
                <a:gd name="T8" fmla="*/ 1 w 26"/>
                <a:gd name="T9" fmla="*/ 0 h 1606"/>
                <a:gd name="T10" fmla="*/ 1 w 26"/>
                <a:gd name="T11" fmla="*/ 0 h 1606"/>
                <a:gd name="T12" fmla="*/ 1 w 26"/>
                <a:gd name="T13" fmla="*/ 0 h 1606"/>
                <a:gd name="T14" fmla="*/ 1 w 26"/>
                <a:gd name="T15" fmla="*/ 0 h 1606"/>
                <a:gd name="T16" fmla="*/ 1 w 26"/>
                <a:gd name="T17" fmla="*/ 0 h 1606"/>
                <a:gd name="T18" fmla="*/ 0 w 26"/>
                <a:gd name="T19" fmla="*/ 0 h 16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6"/>
                <a:gd name="T31" fmla="*/ 0 h 1606"/>
                <a:gd name="T32" fmla="*/ 26 w 26"/>
                <a:gd name="T33" fmla="*/ 1606 h 160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6" h="1606">
                  <a:moveTo>
                    <a:pt x="0" y="0"/>
                  </a:moveTo>
                  <a:lnTo>
                    <a:pt x="15" y="1606"/>
                  </a:lnTo>
                  <a:lnTo>
                    <a:pt x="16" y="1537"/>
                  </a:lnTo>
                  <a:lnTo>
                    <a:pt x="19" y="1355"/>
                  </a:lnTo>
                  <a:lnTo>
                    <a:pt x="23" y="1098"/>
                  </a:lnTo>
                  <a:lnTo>
                    <a:pt x="26" y="802"/>
                  </a:lnTo>
                  <a:lnTo>
                    <a:pt x="26" y="508"/>
                  </a:lnTo>
                  <a:lnTo>
                    <a:pt x="24" y="251"/>
                  </a:lnTo>
                  <a:lnTo>
                    <a:pt x="15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Freeform 126">
              <a:extLst>
                <a:ext uri="{FF2B5EF4-FFF2-40B4-BE49-F238E27FC236}">
                  <a16:creationId xmlns:a16="http://schemas.microsoft.com/office/drawing/2014/main" id="{C73A3396-4818-5DF3-0010-0497AF4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01"/>
              <a:ext cx="15" cy="740"/>
            </a:xfrm>
            <a:custGeom>
              <a:avLst/>
              <a:gdLst>
                <a:gd name="T0" fmla="*/ 0 w 26"/>
                <a:gd name="T1" fmla="*/ 0 h 1607"/>
                <a:gd name="T2" fmla="*/ 1 w 26"/>
                <a:gd name="T3" fmla="*/ 0 h 1607"/>
                <a:gd name="T4" fmla="*/ 1 w 26"/>
                <a:gd name="T5" fmla="*/ 0 h 1607"/>
                <a:gd name="T6" fmla="*/ 1 w 26"/>
                <a:gd name="T7" fmla="*/ 0 h 1607"/>
                <a:gd name="T8" fmla="*/ 1 w 26"/>
                <a:gd name="T9" fmla="*/ 0 h 1607"/>
                <a:gd name="T10" fmla="*/ 1 w 26"/>
                <a:gd name="T11" fmla="*/ 0 h 1607"/>
                <a:gd name="T12" fmla="*/ 1 w 26"/>
                <a:gd name="T13" fmla="*/ 0 h 1607"/>
                <a:gd name="T14" fmla="*/ 1 w 26"/>
                <a:gd name="T15" fmla="*/ 0 h 1607"/>
                <a:gd name="T16" fmla="*/ 1 w 26"/>
                <a:gd name="T17" fmla="*/ 0 h 1607"/>
                <a:gd name="T18" fmla="*/ 0 w 26"/>
                <a:gd name="T19" fmla="*/ 0 h 16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6"/>
                <a:gd name="T31" fmla="*/ 0 h 1607"/>
                <a:gd name="T32" fmla="*/ 26 w 26"/>
                <a:gd name="T33" fmla="*/ 1607 h 16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6" h="1607">
                  <a:moveTo>
                    <a:pt x="0" y="0"/>
                  </a:moveTo>
                  <a:lnTo>
                    <a:pt x="15" y="1607"/>
                  </a:lnTo>
                  <a:lnTo>
                    <a:pt x="16" y="1537"/>
                  </a:lnTo>
                  <a:lnTo>
                    <a:pt x="19" y="1355"/>
                  </a:lnTo>
                  <a:lnTo>
                    <a:pt x="23" y="1099"/>
                  </a:lnTo>
                  <a:lnTo>
                    <a:pt x="26" y="803"/>
                  </a:lnTo>
                  <a:lnTo>
                    <a:pt x="26" y="508"/>
                  </a:lnTo>
                  <a:lnTo>
                    <a:pt x="24" y="251"/>
                  </a:lnTo>
                  <a:lnTo>
                    <a:pt x="15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Freeform 127">
              <a:extLst>
                <a:ext uri="{FF2B5EF4-FFF2-40B4-BE49-F238E27FC236}">
                  <a16:creationId xmlns:a16="http://schemas.microsoft.com/office/drawing/2014/main" id="{54EA59FD-B402-3C4D-98B7-D6EF1BE54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48"/>
              <a:ext cx="145" cy="40"/>
            </a:xfrm>
            <a:custGeom>
              <a:avLst/>
              <a:gdLst>
                <a:gd name="T0" fmla="*/ 0 w 246"/>
                <a:gd name="T1" fmla="*/ 0 h 87"/>
                <a:gd name="T2" fmla="*/ 1 w 246"/>
                <a:gd name="T3" fmla="*/ 0 h 87"/>
                <a:gd name="T4" fmla="*/ 1 w 246"/>
                <a:gd name="T5" fmla="*/ 0 h 87"/>
                <a:gd name="T6" fmla="*/ 1 w 246"/>
                <a:gd name="T7" fmla="*/ 0 h 87"/>
                <a:gd name="T8" fmla="*/ 1 w 246"/>
                <a:gd name="T9" fmla="*/ 0 h 87"/>
                <a:gd name="T10" fmla="*/ 1 w 246"/>
                <a:gd name="T11" fmla="*/ 0 h 87"/>
                <a:gd name="T12" fmla="*/ 1 w 246"/>
                <a:gd name="T13" fmla="*/ 0 h 87"/>
                <a:gd name="T14" fmla="*/ 1 w 246"/>
                <a:gd name="T15" fmla="*/ 0 h 87"/>
                <a:gd name="T16" fmla="*/ 1 w 246"/>
                <a:gd name="T17" fmla="*/ 0 h 87"/>
                <a:gd name="T18" fmla="*/ 1 w 246"/>
                <a:gd name="T19" fmla="*/ 0 h 87"/>
                <a:gd name="T20" fmla="*/ 1 w 246"/>
                <a:gd name="T21" fmla="*/ 0 h 87"/>
                <a:gd name="T22" fmla="*/ 1 w 246"/>
                <a:gd name="T23" fmla="*/ 0 h 87"/>
                <a:gd name="T24" fmla="*/ 1 w 246"/>
                <a:gd name="T25" fmla="*/ 0 h 87"/>
                <a:gd name="T26" fmla="*/ 1 w 246"/>
                <a:gd name="T27" fmla="*/ 0 h 87"/>
                <a:gd name="T28" fmla="*/ 1 w 246"/>
                <a:gd name="T29" fmla="*/ 0 h 87"/>
                <a:gd name="T30" fmla="*/ 1 w 246"/>
                <a:gd name="T31" fmla="*/ 0 h 87"/>
                <a:gd name="T32" fmla="*/ 1 w 246"/>
                <a:gd name="T33" fmla="*/ 0 h 87"/>
                <a:gd name="T34" fmla="*/ 1 w 246"/>
                <a:gd name="T35" fmla="*/ 0 h 87"/>
                <a:gd name="T36" fmla="*/ 1 w 246"/>
                <a:gd name="T37" fmla="*/ 0 h 87"/>
                <a:gd name="T38" fmla="*/ 1 w 246"/>
                <a:gd name="T39" fmla="*/ 0 h 87"/>
                <a:gd name="T40" fmla="*/ 1 w 246"/>
                <a:gd name="T41" fmla="*/ 0 h 87"/>
                <a:gd name="T42" fmla="*/ 1 w 246"/>
                <a:gd name="T43" fmla="*/ 0 h 87"/>
                <a:gd name="T44" fmla="*/ 1 w 246"/>
                <a:gd name="T45" fmla="*/ 0 h 87"/>
                <a:gd name="T46" fmla="*/ 1 w 246"/>
                <a:gd name="T47" fmla="*/ 0 h 87"/>
                <a:gd name="T48" fmla="*/ 1 w 246"/>
                <a:gd name="T49" fmla="*/ 0 h 87"/>
                <a:gd name="T50" fmla="*/ 1 w 246"/>
                <a:gd name="T51" fmla="*/ 0 h 87"/>
                <a:gd name="T52" fmla="*/ 1 w 246"/>
                <a:gd name="T53" fmla="*/ 0 h 87"/>
                <a:gd name="T54" fmla="*/ 1 w 246"/>
                <a:gd name="T55" fmla="*/ 0 h 87"/>
                <a:gd name="T56" fmla="*/ 1 w 246"/>
                <a:gd name="T57" fmla="*/ 0 h 87"/>
                <a:gd name="T58" fmla="*/ 1 w 246"/>
                <a:gd name="T59" fmla="*/ 0 h 87"/>
                <a:gd name="T60" fmla="*/ 1 w 246"/>
                <a:gd name="T61" fmla="*/ 0 h 87"/>
                <a:gd name="T62" fmla="*/ 1 w 246"/>
                <a:gd name="T63" fmla="*/ 0 h 87"/>
                <a:gd name="T64" fmla="*/ 0 w 246"/>
                <a:gd name="T65" fmla="*/ 0 h 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46"/>
                <a:gd name="T100" fmla="*/ 0 h 87"/>
                <a:gd name="T101" fmla="*/ 246 w 246"/>
                <a:gd name="T102" fmla="*/ 87 h 8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46" h="87">
                  <a:moveTo>
                    <a:pt x="0" y="36"/>
                  </a:moveTo>
                  <a:lnTo>
                    <a:pt x="3" y="35"/>
                  </a:lnTo>
                  <a:lnTo>
                    <a:pt x="11" y="32"/>
                  </a:lnTo>
                  <a:lnTo>
                    <a:pt x="22" y="27"/>
                  </a:lnTo>
                  <a:lnTo>
                    <a:pt x="37" y="22"/>
                  </a:lnTo>
                  <a:lnTo>
                    <a:pt x="55" y="17"/>
                  </a:lnTo>
                  <a:lnTo>
                    <a:pt x="74" y="11"/>
                  </a:lnTo>
                  <a:lnTo>
                    <a:pt x="96" y="6"/>
                  </a:lnTo>
                  <a:lnTo>
                    <a:pt x="118" y="3"/>
                  </a:lnTo>
                  <a:lnTo>
                    <a:pt x="140" y="0"/>
                  </a:lnTo>
                  <a:lnTo>
                    <a:pt x="162" y="2"/>
                  </a:lnTo>
                  <a:lnTo>
                    <a:pt x="182" y="5"/>
                  </a:lnTo>
                  <a:lnTo>
                    <a:pt x="202" y="12"/>
                  </a:lnTo>
                  <a:lnTo>
                    <a:pt x="218" y="23"/>
                  </a:lnTo>
                  <a:lnTo>
                    <a:pt x="231" y="40"/>
                  </a:lnTo>
                  <a:lnTo>
                    <a:pt x="241" y="60"/>
                  </a:lnTo>
                  <a:lnTo>
                    <a:pt x="246" y="87"/>
                  </a:lnTo>
                  <a:lnTo>
                    <a:pt x="245" y="86"/>
                  </a:lnTo>
                  <a:lnTo>
                    <a:pt x="243" y="82"/>
                  </a:lnTo>
                  <a:lnTo>
                    <a:pt x="240" y="78"/>
                  </a:lnTo>
                  <a:lnTo>
                    <a:pt x="234" y="72"/>
                  </a:lnTo>
                  <a:lnTo>
                    <a:pt x="227" y="65"/>
                  </a:lnTo>
                  <a:lnTo>
                    <a:pt x="219" y="57"/>
                  </a:lnTo>
                  <a:lnTo>
                    <a:pt x="208" y="49"/>
                  </a:lnTo>
                  <a:lnTo>
                    <a:pt x="195" y="42"/>
                  </a:lnTo>
                  <a:lnTo>
                    <a:pt x="180" y="35"/>
                  </a:lnTo>
                  <a:lnTo>
                    <a:pt x="163" y="29"/>
                  </a:lnTo>
                  <a:lnTo>
                    <a:pt x="142" y="25"/>
                  </a:lnTo>
                  <a:lnTo>
                    <a:pt x="120" y="21"/>
                  </a:lnTo>
                  <a:lnTo>
                    <a:pt x="95" y="21"/>
                  </a:lnTo>
                  <a:lnTo>
                    <a:pt x="66" y="23"/>
                  </a:lnTo>
                  <a:lnTo>
                    <a:pt x="35" y="28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2" name="Group 169">
            <a:extLst>
              <a:ext uri="{FF2B5EF4-FFF2-40B4-BE49-F238E27FC236}">
                <a16:creationId xmlns:a16="http://schemas.microsoft.com/office/drawing/2014/main" id="{779070B8-AD6D-C875-EB13-61D71615849B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3962400"/>
            <a:ext cx="915988" cy="895350"/>
            <a:chOff x="2448" y="386"/>
            <a:chExt cx="577" cy="564"/>
          </a:xfrm>
        </p:grpSpPr>
        <p:sp>
          <p:nvSpPr>
            <p:cNvPr id="27713" name="Freeform 128">
              <a:extLst>
                <a:ext uri="{FF2B5EF4-FFF2-40B4-BE49-F238E27FC236}">
                  <a16:creationId xmlns:a16="http://schemas.microsoft.com/office/drawing/2014/main" id="{8BF26280-422C-9970-EE53-6D4D8AFDD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394"/>
              <a:ext cx="566" cy="556"/>
            </a:xfrm>
            <a:custGeom>
              <a:avLst/>
              <a:gdLst>
                <a:gd name="T0" fmla="*/ 4 w 964"/>
                <a:gd name="T1" fmla="*/ 0 h 1206"/>
                <a:gd name="T2" fmla="*/ 4 w 964"/>
                <a:gd name="T3" fmla="*/ 0 h 1206"/>
                <a:gd name="T4" fmla="*/ 4 w 964"/>
                <a:gd name="T5" fmla="*/ 0 h 1206"/>
                <a:gd name="T6" fmla="*/ 4 w 964"/>
                <a:gd name="T7" fmla="*/ 0 h 1206"/>
                <a:gd name="T8" fmla="*/ 4 w 964"/>
                <a:gd name="T9" fmla="*/ 0 h 1206"/>
                <a:gd name="T10" fmla="*/ 4 w 964"/>
                <a:gd name="T11" fmla="*/ 0 h 1206"/>
                <a:gd name="T12" fmla="*/ 5 w 964"/>
                <a:gd name="T13" fmla="*/ 0 h 1206"/>
                <a:gd name="T14" fmla="*/ 5 w 964"/>
                <a:gd name="T15" fmla="*/ 0 h 1206"/>
                <a:gd name="T16" fmla="*/ 4 w 964"/>
                <a:gd name="T17" fmla="*/ 0 h 1206"/>
                <a:gd name="T18" fmla="*/ 4 w 964"/>
                <a:gd name="T19" fmla="*/ 0 h 1206"/>
                <a:gd name="T20" fmla="*/ 4 w 964"/>
                <a:gd name="T21" fmla="*/ 0 h 1206"/>
                <a:gd name="T22" fmla="*/ 3 w 964"/>
                <a:gd name="T23" fmla="*/ 0 h 1206"/>
                <a:gd name="T24" fmla="*/ 3 w 964"/>
                <a:gd name="T25" fmla="*/ 0 h 1206"/>
                <a:gd name="T26" fmla="*/ 2 w 964"/>
                <a:gd name="T27" fmla="*/ 0 h 1206"/>
                <a:gd name="T28" fmla="*/ 2 w 964"/>
                <a:gd name="T29" fmla="*/ 0 h 1206"/>
                <a:gd name="T30" fmla="*/ 1 w 964"/>
                <a:gd name="T31" fmla="*/ 0 h 1206"/>
                <a:gd name="T32" fmla="*/ 1 w 964"/>
                <a:gd name="T33" fmla="*/ 0 h 1206"/>
                <a:gd name="T34" fmla="*/ 1 w 964"/>
                <a:gd name="T35" fmla="*/ 0 h 1206"/>
                <a:gd name="T36" fmla="*/ 1 w 964"/>
                <a:gd name="T37" fmla="*/ 0 h 1206"/>
                <a:gd name="T38" fmla="*/ 1 w 964"/>
                <a:gd name="T39" fmla="*/ 0 h 1206"/>
                <a:gd name="T40" fmla="*/ 1 w 964"/>
                <a:gd name="T41" fmla="*/ 0 h 1206"/>
                <a:gd name="T42" fmla="*/ 1 w 964"/>
                <a:gd name="T43" fmla="*/ 0 h 1206"/>
                <a:gd name="T44" fmla="*/ 1 w 964"/>
                <a:gd name="T45" fmla="*/ 0 h 1206"/>
                <a:gd name="T46" fmla="*/ 1 w 964"/>
                <a:gd name="T47" fmla="*/ 0 h 1206"/>
                <a:gd name="T48" fmla="*/ 0 w 964"/>
                <a:gd name="T49" fmla="*/ 0 h 1206"/>
                <a:gd name="T50" fmla="*/ 1 w 964"/>
                <a:gd name="T51" fmla="*/ 0 h 1206"/>
                <a:gd name="T52" fmla="*/ 1 w 964"/>
                <a:gd name="T53" fmla="*/ 0 h 1206"/>
                <a:gd name="T54" fmla="*/ 1 w 964"/>
                <a:gd name="T55" fmla="*/ 0 h 1206"/>
                <a:gd name="T56" fmla="*/ 1 w 964"/>
                <a:gd name="T57" fmla="*/ 0 h 1206"/>
                <a:gd name="T58" fmla="*/ 1 w 964"/>
                <a:gd name="T59" fmla="*/ 0 h 1206"/>
                <a:gd name="T60" fmla="*/ 1 w 964"/>
                <a:gd name="T61" fmla="*/ 0 h 1206"/>
                <a:gd name="T62" fmla="*/ 2 w 964"/>
                <a:gd name="T63" fmla="*/ 0 h 1206"/>
                <a:gd name="T64" fmla="*/ 2 w 964"/>
                <a:gd name="T65" fmla="*/ 0 h 1206"/>
                <a:gd name="T66" fmla="*/ 3 w 964"/>
                <a:gd name="T67" fmla="*/ 0 h 1206"/>
                <a:gd name="T68" fmla="*/ 3 w 964"/>
                <a:gd name="T69" fmla="*/ 0 h 1206"/>
                <a:gd name="T70" fmla="*/ 4 w 964"/>
                <a:gd name="T71" fmla="*/ 0 h 1206"/>
                <a:gd name="T72" fmla="*/ 4 w 964"/>
                <a:gd name="T73" fmla="*/ 0 h 120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964"/>
                <a:gd name="T112" fmla="*/ 0 h 1206"/>
                <a:gd name="T113" fmla="*/ 964 w 964"/>
                <a:gd name="T114" fmla="*/ 1206 h 120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964" h="1206">
                  <a:moveTo>
                    <a:pt x="775" y="89"/>
                  </a:moveTo>
                  <a:lnTo>
                    <a:pt x="776" y="100"/>
                  </a:lnTo>
                  <a:lnTo>
                    <a:pt x="780" y="127"/>
                  </a:lnTo>
                  <a:lnTo>
                    <a:pt x="784" y="172"/>
                  </a:lnTo>
                  <a:lnTo>
                    <a:pt x="792" y="231"/>
                  </a:lnTo>
                  <a:lnTo>
                    <a:pt x="800" y="300"/>
                  </a:lnTo>
                  <a:lnTo>
                    <a:pt x="811" y="377"/>
                  </a:lnTo>
                  <a:lnTo>
                    <a:pt x="823" y="463"/>
                  </a:lnTo>
                  <a:lnTo>
                    <a:pt x="836" y="550"/>
                  </a:lnTo>
                  <a:lnTo>
                    <a:pt x="850" y="640"/>
                  </a:lnTo>
                  <a:lnTo>
                    <a:pt x="865" y="728"/>
                  </a:lnTo>
                  <a:lnTo>
                    <a:pt x="880" y="813"/>
                  </a:lnTo>
                  <a:lnTo>
                    <a:pt x="896" y="891"/>
                  </a:lnTo>
                  <a:lnTo>
                    <a:pt x="913" y="961"/>
                  </a:lnTo>
                  <a:lnTo>
                    <a:pt x="930" y="1021"/>
                  </a:lnTo>
                  <a:lnTo>
                    <a:pt x="947" y="1067"/>
                  </a:lnTo>
                  <a:lnTo>
                    <a:pt x="964" y="1097"/>
                  </a:lnTo>
                  <a:lnTo>
                    <a:pt x="860" y="1206"/>
                  </a:lnTo>
                  <a:lnTo>
                    <a:pt x="854" y="1204"/>
                  </a:lnTo>
                  <a:lnTo>
                    <a:pt x="837" y="1200"/>
                  </a:lnTo>
                  <a:lnTo>
                    <a:pt x="809" y="1194"/>
                  </a:lnTo>
                  <a:lnTo>
                    <a:pt x="774" y="1186"/>
                  </a:lnTo>
                  <a:lnTo>
                    <a:pt x="732" y="1177"/>
                  </a:lnTo>
                  <a:lnTo>
                    <a:pt x="684" y="1167"/>
                  </a:lnTo>
                  <a:lnTo>
                    <a:pt x="631" y="1157"/>
                  </a:lnTo>
                  <a:lnTo>
                    <a:pt x="576" y="1147"/>
                  </a:lnTo>
                  <a:lnTo>
                    <a:pt x="519" y="1138"/>
                  </a:lnTo>
                  <a:lnTo>
                    <a:pt x="462" y="1129"/>
                  </a:lnTo>
                  <a:lnTo>
                    <a:pt x="406" y="1123"/>
                  </a:lnTo>
                  <a:lnTo>
                    <a:pt x="353" y="1117"/>
                  </a:lnTo>
                  <a:lnTo>
                    <a:pt x="304" y="1115"/>
                  </a:lnTo>
                  <a:lnTo>
                    <a:pt x="260" y="1115"/>
                  </a:lnTo>
                  <a:lnTo>
                    <a:pt x="223" y="1117"/>
                  </a:lnTo>
                  <a:lnTo>
                    <a:pt x="194" y="1124"/>
                  </a:lnTo>
                  <a:lnTo>
                    <a:pt x="193" y="1113"/>
                  </a:lnTo>
                  <a:lnTo>
                    <a:pt x="190" y="1086"/>
                  </a:lnTo>
                  <a:lnTo>
                    <a:pt x="184" y="1041"/>
                  </a:lnTo>
                  <a:lnTo>
                    <a:pt x="176" y="983"/>
                  </a:lnTo>
                  <a:lnTo>
                    <a:pt x="167" y="915"/>
                  </a:lnTo>
                  <a:lnTo>
                    <a:pt x="155" y="838"/>
                  </a:lnTo>
                  <a:lnTo>
                    <a:pt x="142" y="755"/>
                  </a:lnTo>
                  <a:lnTo>
                    <a:pt x="129" y="670"/>
                  </a:lnTo>
                  <a:lnTo>
                    <a:pt x="114" y="584"/>
                  </a:lnTo>
                  <a:lnTo>
                    <a:pt x="99" y="499"/>
                  </a:lnTo>
                  <a:lnTo>
                    <a:pt x="83" y="420"/>
                  </a:lnTo>
                  <a:lnTo>
                    <a:pt x="65" y="346"/>
                  </a:lnTo>
                  <a:lnTo>
                    <a:pt x="49" y="283"/>
                  </a:lnTo>
                  <a:lnTo>
                    <a:pt x="32" y="232"/>
                  </a:lnTo>
                  <a:lnTo>
                    <a:pt x="16" y="195"/>
                  </a:lnTo>
                  <a:lnTo>
                    <a:pt x="0" y="176"/>
                  </a:lnTo>
                  <a:lnTo>
                    <a:pt x="6" y="172"/>
                  </a:lnTo>
                  <a:lnTo>
                    <a:pt x="23" y="163"/>
                  </a:lnTo>
                  <a:lnTo>
                    <a:pt x="47" y="148"/>
                  </a:lnTo>
                  <a:lnTo>
                    <a:pt x="73" y="127"/>
                  </a:lnTo>
                  <a:lnTo>
                    <a:pt x="99" y="102"/>
                  </a:lnTo>
                  <a:lnTo>
                    <a:pt x="118" y="72"/>
                  </a:lnTo>
                  <a:lnTo>
                    <a:pt x="130" y="38"/>
                  </a:lnTo>
                  <a:lnTo>
                    <a:pt x="129" y="0"/>
                  </a:lnTo>
                  <a:lnTo>
                    <a:pt x="136" y="1"/>
                  </a:lnTo>
                  <a:lnTo>
                    <a:pt x="154" y="4"/>
                  </a:lnTo>
                  <a:lnTo>
                    <a:pt x="183" y="9"/>
                  </a:lnTo>
                  <a:lnTo>
                    <a:pt x="221" y="15"/>
                  </a:lnTo>
                  <a:lnTo>
                    <a:pt x="267" y="23"/>
                  </a:lnTo>
                  <a:lnTo>
                    <a:pt x="318" y="31"/>
                  </a:lnTo>
                  <a:lnTo>
                    <a:pt x="373" y="39"/>
                  </a:lnTo>
                  <a:lnTo>
                    <a:pt x="429" y="48"/>
                  </a:lnTo>
                  <a:lnTo>
                    <a:pt x="488" y="56"/>
                  </a:lnTo>
                  <a:lnTo>
                    <a:pt x="544" y="64"/>
                  </a:lnTo>
                  <a:lnTo>
                    <a:pt x="599" y="72"/>
                  </a:lnTo>
                  <a:lnTo>
                    <a:pt x="649" y="79"/>
                  </a:lnTo>
                  <a:lnTo>
                    <a:pt x="693" y="84"/>
                  </a:lnTo>
                  <a:lnTo>
                    <a:pt x="730" y="88"/>
                  </a:lnTo>
                  <a:lnTo>
                    <a:pt x="758" y="89"/>
                  </a:lnTo>
                  <a:lnTo>
                    <a:pt x="775" y="89"/>
                  </a:lnTo>
                  <a:close/>
                </a:path>
              </a:pathLst>
            </a:custGeom>
            <a:solidFill>
              <a:srgbClr val="7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Freeform 129">
              <a:extLst>
                <a:ext uri="{FF2B5EF4-FFF2-40B4-BE49-F238E27FC236}">
                  <a16:creationId xmlns:a16="http://schemas.microsoft.com/office/drawing/2014/main" id="{17A2BE94-55BD-9A7C-8DC4-7FEE05410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406"/>
              <a:ext cx="411" cy="80"/>
            </a:xfrm>
            <a:custGeom>
              <a:avLst/>
              <a:gdLst>
                <a:gd name="T0" fmla="*/ 4 w 700"/>
                <a:gd name="T1" fmla="*/ 0 h 172"/>
                <a:gd name="T2" fmla="*/ 3 w 700"/>
                <a:gd name="T3" fmla="*/ 0 h 172"/>
                <a:gd name="T4" fmla="*/ 3 w 700"/>
                <a:gd name="T5" fmla="*/ 0 h 172"/>
                <a:gd name="T6" fmla="*/ 3 w 700"/>
                <a:gd name="T7" fmla="*/ 0 h 172"/>
                <a:gd name="T8" fmla="*/ 3 w 700"/>
                <a:gd name="T9" fmla="*/ 0 h 172"/>
                <a:gd name="T10" fmla="*/ 2 w 700"/>
                <a:gd name="T11" fmla="*/ 0 h 172"/>
                <a:gd name="T12" fmla="*/ 2 w 700"/>
                <a:gd name="T13" fmla="*/ 0 h 172"/>
                <a:gd name="T14" fmla="*/ 2 w 700"/>
                <a:gd name="T15" fmla="*/ 0 h 172"/>
                <a:gd name="T16" fmla="*/ 2 w 700"/>
                <a:gd name="T17" fmla="*/ 0 h 172"/>
                <a:gd name="T18" fmla="*/ 2 w 700"/>
                <a:gd name="T19" fmla="*/ 0 h 172"/>
                <a:gd name="T20" fmla="*/ 1 w 700"/>
                <a:gd name="T21" fmla="*/ 0 h 172"/>
                <a:gd name="T22" fmla="*/ 1 w 700"/>
                <a:gd name="T23" fmla="*/ 0 h 172"/>
                <a:gd name="T24" fmla="*/ 1 w 700"/>
                <a:gd name="T25" fmla="*/ 0 h 172"/>
                <a:gd name="T26" fmla="*/ 1 w 700"/>
                <a:gd name="T27" fmla="*/ 0 h 172"/>
                <a:gd name="T28" fmla="*/ 1 w 700"/>
                <a:gd name="T29" fmla="*/ 0 h 172"/>
                <a:gd name="T30" fmla="*/ 1 w 700"/>
                <a:gd name="T31" fmla="*/ 0 h 172"/>
                <a:gd name="T32" fmla="*/ 1 w 700"/>
                <a:gd name="T33" fmla="*/ 0 h 172"/>
                <a:gd name="T34" fmla="*/ 0 w 700"/>
                <a:gd name="T35" fmla="*/ 0 h 172"/>
                <a:gd name="T36" fmla="*/ 1 w 700"/>
                <a:gd name="T37" fmla="*/ 0 h 172"/>
                <a:gd name="T38" fmla="*/ 1 w 700"/>
                <a:gd name="T39" fmla="*/ 0 h 172"/>
                <a:gd name="T40" fmla="*/ 1 w 700"/>
                <a:gd name="T41" fmla="*/ 0 h 172"/>
                <a:gd name="T42" fmla="*/ 1 w 700"/>
                <a:gd name="T43" fmla="*/ 0 h 172"/>
                <a:gd name="T44" fmla="*/ 1 w 700"/>
                <a:gd name="T45" fmla="*/ 0 h 172"/>
                <a:gd name="T46" fmla="*/ 1 w 700"/>
                <a:gd name="T47" fmla="*/ 0 h 172"/>
                <a:gd name="T48" fmla="*/ 1 w 700"/>
                <a:gd name="T49" fmla="*/ 0 h 172"/>
                <a:gd name="T50" fmla="*/ 1 w 700"/>
                <a:gd name="T51" fmla="*/ 0 h 172"/>
                <a:gd name="T52" fmla="*/ 2 w 700"/>
                <a:gd name="T53" fmla="*/ 0 h 172"/>
                <a:gd name="T54" fmla="*/ 2 w 700"/>
                <a:gd name="T55" fmla="*/ 0 h 172"/>
                <a:gd name="T56" fmla="*/ 2 w 700"/>
                <a:gd name="T57" fmla="*/ 0 h 172"/>
                <a:gd name="T58" fmla="*/ 2 w 700"/>
                <a:gd name="T59" fmla="*/ 0 h 172"/>
                <a:gd name="T60" fmla="*/ 3 w 700"/>
                <a:gd name="T61" fmla="*/ 0 h 172"/>
                <a:gd name="T62" fmla="*/ 3 w 700"/>
                <a:gd name="T63" fmla="*/ 0 h 172"/>
                <a:gd name="T64" fmla="*/ 3 w 700"/>
                <a:gd name="T65" fmla="*/ 0 h 172"/>
                <a:gd name="T66" fmla="*/ 3 w 700"/>
                <a:gd name="T67" fmla="*/ 0 h 172"/>
                <a:gd name="T68" fmla="*/ 4 w 700"/>
                <a:gd name="T69" fmla="*/ 0 h 17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700"/>
                <a:gd name="T106" fmla="*/ 0 h 172"/>
                <a:gd name="T107" fmla="*/ 700 w 700"/>
                <a:gd name="T108" fmla="*/ 172 h 17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700" h="172">
                  <a:moveTo>
                    <a:pt x="700" y="80"/>
                  </a:moveTo>
                  <a:lnTo>
                    <a:pt x="614" y="172"/>
                  </a:lnTo>
                  <a:lnTo>
                    <a:pt x="607" y="171"/>
                  </a:lnTo>
                  <a:lnTo>
                    <a:pt x="590" y="168"/>
                  </a:lnTo>
                  <a:lnTo>
                    <a:pt x="561" y="165"/>
                  </a:lnTo>
                  <a:lnTo>
                    <a:pt x="524" y="160"/>
                  </a:lnTo>
                  <a:lnTo>
                    <a:pt x="479" y="154"/>
                  </a:lnTo>
                  <a:lnTo>
                    <a:pt x="431" y="149"/>
                  </a:lnTo>
                  <a:lnTo>
                    <a:pt x="378" y="142"/>
                  </a:lnTo>
                  <a:lnTo>
                    <a:pt x="323" y="136"/>
                  </a:lnTo>
                  <a:lnTo>
                    <a:pt x="266" y="130"/>
                  </a:lnTo>
                  <a:lnTo>
                    <a:pt x="212" y="124"/>
                  </a:lnTo>
                  <a:lnTo>
                    <a:pt x="160" y="121"/>
                  </a:lnTo>
                  <a:lnTo>
                    <a:pt x="113" y="118"/>
                  </a:lnTo>
                  <a:lnTo>
                    <a:pt x="71" y="115"/>
                  </a:lnTo>
                  <a:lnTo>
                    <a:pt x="38" y="115"/>
                  </a:lnTo>
                  <a:lnTo>
                    <a:pt x="14" y="118"/>
                  </a:lnTo>
                  <a:lnTo>
                    <a:pt x="0" y="121"/>
                  </a:lnTo>
                  <a:lnTo>
                    <a:pt x="91" y="0"/>
                  </a:lnTo>
                  <a:lnTo>
                    <a:pt x="97" y="1"/>
                  </a:lnTo>
                  <a:lnTo>
                    <a:pt x="112" y="3"/>
                  </a:lnTo>
                  <a:lnTo>
                    <a:pt x="136" y="7"/>
                  </a:lnTo>
                  <a:lnTo>
                    <a:pt x="167" y="13"/>
                  </a:lnTo>
                  <a:lnTo>
                    <a:pt x="205" y="18"/>
                  </a:lnTo>
                  <a:lnTo>
                    <a:pt x="248" y="25"/>
                  </a:lnTo>
                  <a:lnTo>
                    <a:pt x="295" y="32"/>
                  </a:lnTo>
                  <a:lnTo>
                    <a:pt x="345" y="39"/>
                  </a:lnTo>
                  <a:lnTo>
                    <a:pt x="396" y="47"/>
                  </a:lnTo>
                  <a:lnTo>
                    <a:pt x="448" y="54"/>
                  </a:lnTo>
                  <a:lnTo>
                    <a:pt x="499" y="61"/>
                  </a:lnTo>
                  <a:lnTo>
                    <a:pt x="548" y="67"/>
                  </a:lnTo>
                  <a:lnTo>
                    <a:pt x="593" y="73"/>
                  </a:lnTo>
                  <a:lnTo>
                    <a:pt x="635" y="76"/>
                  </a:lnTo>
                  <a:lnTo>
                    <a:pt x="672" y="78"/>
                  </a:lnTo>
                  <a:lnTo>
                    <a:pt x="700" y="80"/>
                  </a:lnTo>
                  <a:close/>
                </a:path>
              </a:pathLst>
            </a:cu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5" name="Freeform 130">
              <a:extLst>
                <a:ext uri="{FF2B5EF4-FFF2-40B4-BE49-F238E27FC236}">
                  <a16:creationId xmlns:a16="http://schemas.microsoft.com/office/drawing/2014/main" id="{ABB38BFD-71D8-940C-622C-94936F8A9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458"/>
              <a:ext cx="178" cy="492"/>
            </a:xfrm>
            <a:custGeom>
              <a:avLst/>
              <a:gdLst>
                <a:gd name="T0" fmla="*/ 0 w 303"/>
                <a:gd name="T1" fmla="*/ 0 h 1068"/>
                <a:gd name="T2" fmla="*/ 0 w 303"/>
                <a:gd name="T3" fmla="*/ 0 h 1068"/>
                <a:gd name="T4" fmla="*/ 1 w 303"/>
                <a:gd name="T5" fmla="*/ 0 h 1068"/>
                <a:gd name="T6" fmla="*/ 1 w 303"/>
                <a:gd name="T7" fmla="*/ 0 h 1068"/>
                <a:gd name="T8" fmla="*/ 1 w 303"/>
                <a:gd name="T9" fmla="*/ 0 h 1068"/>
                <a:gd name="T10" fmla="*/ 1 w 303"/>
                <a:gd name="T11" fmla="*/ 0 h 1068"/>
                <a:gd name="T12" fmla="*/ 1 w 303"/>
                <a:gd name="T13" fmla="*/ 0 h 1068"/>
                <a:gd name="T14" fmla="*/ 1 w 303"/>
                <a:gd name="T15" fmla="*/ 0 h 1068"/>
                <a:gd name="T16" fmla="*/ 1 w 303"/>
                <a:gd name="T17" fmla="*/ 0 h 1068"/>
                <a:gd name="T18" fmla="*/ 1 w 303"/>
                <a:gd name="T19" fmla="*/ 0 h 1068"/>
                <a:gd name="T20" fmla="*/ 1 w 303"/>
                <a:gd name="T21" fmla="*/ 0 h 1068"/>
                <a:gd name="T22" fmla="*/ 1 w 303"/>
                <a:gd name="T23" fmla="*/ 0 h 1068"/>
                <a:gd name="T24" fmla="*/ 1 w 303"/>
                <a:gd name="T25" fmla="*/ 0 h 1068"/>
                <a:gd name="T26" fmla="*/ 1 w 303"/>
                <a:gd name="T27" fmla="*/ 0 h 1068"/>
                <a:gd name="T28" fmla="*/ 1 w 303"/>
                <a:gd name="T29" fmla="*/ 0 h 1068"/>
                <a:gd name="T30" fmla="*/ 1 w 303"/>
                <a:gd name="T31" fmla="*/ 0 h 1068"/>
                <a:gd name="T32" fmla="*/ 1 w 303"/>
                <a:gd name="T33" fmla="*/ 0 h 1068"/>
                <a:gd name="T34" fmla="*/ 1 w 303"/>
                <a:gd name="T35" fmla="*/ 0 h 1068"/>
                <a:gd name="T36" fmla="*/ 1 w 303"/>
                <a:gd name="T37" fmla="*/ 0 h 1068"/>
                <a:gd name="T38" fmla="*/ 1 w 303"/>
                <a:gd name="T39" fmla="*/ 0 h 1068"/>
                <a:gd name="T40" fmla="*/ 1 w 303"/>
                <a:gd name="T41" fmla="*/ 0 h 1068"/>
                <a:gd name="T42" fmla="*/ 1 w 303"/>
                <a:gd name="T43" fmla="*/ 0 h 1068"/>
                <a:gd name="T44" fmla="*/ 1 w 303"/>
                <a:gd name="T45" fmla="*/ 0 h 1068"/>
                <a:gd name="T46" fmla="*/ 1 w 303"/>
                <a:gd name="T47" fmla="*/ 0 h 1068"/>
                <a:gd name="T48" fmla="*/ 1 w 303"/>
                <a:gd name="T49" fmla="*/ 0 h 1068"/>
                <a:gd name="T50" fmla="*/ 1 w 303"/>
                <a:gd name="T51" fmla="*/ 0 h 1068"/>
                <a:gd name="T52" fmla="*/ 1 w 303"/>
                <a:gd name="T53" fmla="*/ 0 h 1068"/>
                <a:gd name="T54" fmla="*/ 1 w 303"/>
                <a:gd name="T55" fmla="*/ 0 h 1068"/>
                <a:gd name="T56" fmla="*/ 1 w 303"/>
                <a:gd name="T57" fmla="*/ 0 h 1068"/>
                <a:gd name="T58" fmla="*/ 1 w 303"/>
                <a:gd name="T59" fmla="*/ 0 h 1068"/>
                <a:gd name="T60" fmla="*/ 1 w 303"/>
                <a:gd name="T61" fmla="*/ 0 h 1068"/>
                <a:gd name="T62" fmla="*/ 1 w 303"/>
                <a:gd name="T63" fmla="*/ 0 h 1068"/>
                <a:gd name="T64" fmla="*/ 1 w 303"/>
                <a:gd name="T65" fmla="*/ 0 h 1068"/>
                <a:gd name="T66" fmla="*/ 1 w 303"/>
                <a:gd name="T67" fmla="*/ 0 h 1068"/>
                <a:gd name="T68" fmla="*/ 0 w 303"/>
                <a:gd name="T69" fmla="*/ 0 h 10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03"/>
                <a:gd name="T106" fmla="*/ 0 h 1068"/>
                <a:gd name="T107" fmla="*/ 303 w 303"/>
                <a:gd name="T108" fmla="*/ 1068 h 10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03" h="1068">
                  <a:moveTo>
                    <a:pt x="0" y="88"/>
                  </a:moveTo>
                  <a:lnTo>
                    <a:pt x="0" y="95"/>
                  </a:lnTo>
                  <a:lnTo>
                    <a:pt x="2" y="115"/>
                  </a:lnTo>
                  <a:lnTo>
                    <a:pt x="6" y="147"/>
                  </a:lnTo>
                  <a:lnTo>
                    <a:pt x="9" y="190"/>
                  </a:lnTo>
                  <a:lnTo>
                    <a:pt x="15" y="241"/>
                  </a:lnTo>
                  <a:lnTo>
                    <a:pt x="23" y="300"/>
                  </a:lnTo>
                  <a:lnTo>
                    <a:pt x="31" y="367"/>
                  </a:lnTo>
                  <a:lnTo>
                    <a:pt x="42" y="440"/>
                  </a:lnTo>
                  <a:lnTo>
                    <a:pt x="54" y="516"/>
                  </a:lnTo>
                  <a:lnTo>
                    <a:pt x="69" y="595"/>
                  </a:lnTo>
                  <a:lnTo>
                    <a:pt x="85" y="677"/>
                  </a:lnTo>
                  <a:lnTo>
                    <a:pt x="104" y="759"/>
                  </a:lnTo>
                  <a:lnTo>
                    <a:pt x="124" y="839"/>
                  </a:lnTo>
                  <a:lnTo>
                    <a:pt x="146" y="919"/>
                  </a:lnTo>
                  <a:lnTo>
                    <a:pt x="172" y="996"/>
                  </a:lnTo>
                  <a:lnTo>
                    <a:pt x="199" y="1068"/>
                  </a:lnTo>
                  <a:lnTo>
                    <a:pt x="303" y="959"/>
                  </a:lnTo>
                  <a:lnTo>
                    <a:pt x="301" y="957"/>
                  </a:lnTo>
                  <a:lnTo>
                    <a:pt x="297" y="953"/>
                  </a:lnTo>
                  <a:lnTo>
                    <a:pt x="294" y="944"/>
                  </a:lnTo>
                  <a:lnTo>
                    <a:pt x="288" y="930"/>
                  </a:lnTo>
                  <a:lnTo>
                    <a:pt x="281" y="909"/>
                  </a:lnTo>
                  <a:lnTo>
                    <a:pt x="272" y="879"/>
                  </a:lnTo>
                  <a:lnTo>
                    <a:pt x="263" y="839"/>
                  </a:lnTo>
                  <a:lnTo>
                    <a:pt x="250" y="789"/>
                  </a:lnTo>
                  <a:lnTo>
                    <a:pt x="237" y="725"/>
                  </a:lnTo>
                  <a:lnTo>
                    <a:pt x="221" y="647"/>
                  </a:lnTo>
                  <a:lnTo>
                    <a:pt x="204" y="555"/>
                  </a:lnTo>
                  <a:lnTo>
                    <a:pt x="185" y="444"/>
                  </a:lnTo>
                  <a:lnTo>
                    <a:pt x="163" y="317"/>
                  </a:lnTo>
                  <a:lnTo>
                    <a:pt x="140" y="169"/>
                  </a:lnTo>
                  <a:lnTo>
                    <a:pt x="115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6" name="Freeform 131">
              <a:extLst>
                <a:ext uri="{FF2B5EF4-FFF2-40B4-BE49-F238E27FC236}">
                  <a16:creationId xmlns:a16="http://schemas.microsoft.com/office/drawing/2014/main" id="{81306A93-376D-770D-75A7-90964CB32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443"/>
              <a:ext cx="54" cy="43"/>
            </a:xfrm>
            <a:custGeom>
              <a:avLst/>
              <a:gdLst>
                <a:gd name="T0" fmla="*/ 1 w 91"/>
                <a:gd name="T1" fmla="*/ 0 h 92"/>
                <a:gd name="T2" fmla="*/ 1 w 91"/>
                <a:gd name="T3" fmla="*/ 0 h 92"/>
                <a:gd name="T4" fmla="*/ 1 w 91"/>
                <a:gd name="T5" fmla="*/ 0 h 92"/>
                <a:gd name="T6" fmla="*/ 1 w 91"/>
                <a:gd name="T7" fmla="*/ 0 h 92"/>
                <a:gd name="T8" fmla="*/ 1 w 91"/>
                <a:gd name="T9" fmla="*/ 0 h 92"/>
                <a:gd name="T10" fmla="*/ 1 w 91"/>
                <a:gd name="T11" fmla="*/ 0 h 92"/>
                <a:gd name="T12" fmla="*/ 1 w 91"/>
                <a:gd name="T13" fmla="*/ 0 h 92"/>
                <a:gd name="T14" fmla="*/ 0 w 91"/>
                <a:gd name="T15" fmla="*/ 0 h 92"/>
                <a:gd name="T16" fmla="*/ 1 w 91"/>
                <a:gd name="T17" fmla="*/ 0 h 92"/>
                <a:gd name="T18" fmla="*/ 1 w 91"/>
                <a:gd name="T19" fmla="*/ 0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1"/>
                <a:gd name="T31" fmla="*/ 0 h 92"/>
                <a:gd name="T32" fmla="*/ 91 w 91"/>
                <a:gd name="T33" fmla="*/ 92 h 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1" h="92">
                  <a:moveTo>
                    <a:pt x="91" y="0"/>
                  </a:moveTo>
                  <a:lnTo>
                    <a:pt x="87" y="2"/>
                  </a:lnTo>
                  <a:lnTo>
                    <a:pt x="74" y="8"/>
                  </a:lnTo>
                  <a:lnTo>
                    <a:pt x="57" y="18"/>
                  </a:lnTo>
                  <a:lnTo>
                    <a:pt x="37" y="29"/>
                  </a:lnTo>
                  <a:lnTo>
                    <a:pt x="20" y="43"/>
                  </a:lnTo>
                  <a:lnTo>
                    <a:pt x="6" y="59"/>
                  </a:lnTo>
                  <a:lnTo>
                    <a:pt x="0" y="76"/>
                  </a:lnTo>
                  <a:lnTo>
                    <a:pt x="5" y="92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7" name="Freeform 132">
              <a:extLst>
                <a:ext uri="{FF2B5EF4-FFF2-40B4-BE49-F238E27FC236}">
                  <a16:creationId xmlns:a16="http://schemas.microsoft.com/office/drawing/2014/main" id="{BA15B34D-3CD1-EDF0-F2B4-712CA031B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386"/>
              <a:ext cx="384" cy="42"/>
            </a:xfrm>
            <a:custGeom>
              <a:avLst/>
              <a:gdLst>
                <a:gd name="T0" fmla="*/ 3 w 654"/>
                <a:gd name="T1" fmla="*/ 0 h 92"/>
                <a:gd name="T2" fmla="*/ 3 w 654"/>
                <a:gd name="T3" fmla="*/ 0 h 92"/>
                <a:gd name="T4" fmla="*/ 3 w 654"/>
                <a:gd name="T5" fmla="*/ 0 h 92"/>
                <a:gd name="T6" fmla="*/ 3 w 654"/>
                <a:gd name="T7" fmla="*/ 0 h 92"/>
                <a:gd name="T8" fmla="*/ 3 w 654"/>
                <a:gd name="T9" fmla="*/ 0 h 92"/>
                <a:gd name="T10" fmla="*/ 3 w 654"/>
                <a:gd name="T11" fmla="*/ 0 h 92"/>
                <a:gd name="T12" fmla="*/ 3 w 654"/>
                <a:gd name="T13" fmla="*/ 0 h 92"/>
                <a:gd name="T14" fmla="*/ 3 w 654"/>
                <a:gd name="T15" fmla="*/ 0 h 92"/>
                <a:gd name="T16" fmla="*/ 3 w 654"/>
                <a:gd name="T17" fmla="*/ 0 h 92"/>
                <a:gd name="T18" fmla="*/ 2 w 654"/>
                <a:gd name="T19" fmla="*/ 0 h 92"/>
                <a:gd name="T20" fmla="*/ 2 w 654"/>
                <a:gd name="T21" fmla="*/ 0 h 92"/>
                <a:gd name="T22" fmla="*/ 2 w 654"/>
                <a:gd name="T23" fmla="*/ 0 h 92"/>
                <a:gd name="T24" fmla="*/ 2 w 654"/>
                <a:gd name="T25" fmla="*/ 0 h 92"/>
                <a:gd name="T26" fmla="*/ 1 w 654"/>
                <a:gd name="T27" fmla="*/ 0 h 92"/>
                <a:gd name="T28" fmla="*/ 1 w 654"/>
                <a:gd name="T29" fmla="*/ 0 h 92"/>
                <a:gd name="T30" fmla="*/ 1 w 654"/>
                <a:gd name="T31" fmla="*/ 0 h 92"/>
                <a:gd name="T32" fmla="*/ 1 w 654"/>
                <a:gd name="T33" fmla="*/ 0 h 92"/>
                <a:gd name="T34" fmla="*/ 1 w 654"/>
                <a:gd name="T35" fmla="*/ 0 h 92"/>
                <a:gd name="T36" fmla="*/ 1 w 654"/>
                <a:gd name="T37" fmla="*/ 0 h 92"/>
                <a:gd name="T38" fmla="*/ 1 w 654"/>
                <a:gd name="T39" fmla="*/ 0 h 92"/>
                <a:gd name="T40" fmla="*/ 1 w 654"/>
                <a:gd name="T41" fmla="*/ 0 h 92"/>
                <a:gd name="T42" fmla="*/ 1 w 654"/>
                <a:gd name="T43" fmla="*/ 0 h 92"/>
                <a:gd name="T44" fmla="*/ 1 w 654"/>
                <a:gd name="T45" fmla="*/ 0 h 92"/>
                <a:gd name="T46" fmla="*/ 1 w 654"/>
                <a:gd name="T47" fmla="*/ 0 h 92"/>
                <a:gd name="T48" fmla="*/ 1 w 654"/>
                <a:gd name="T49" fmla="*/ 0 h 92"/>
                <a:gd name="T50" fmla="*/ 1 w 654"/>
                <a:gd name="T51" fmla="*/ 0 h 92"/>
                <a:gd name="T52" fmla="*/ 1 w 654"/>
                <a:gd name="T53" fmla="*/ 0 h 92"/>
                <a:gd name="T54" fmla="*/ 0 w 654"/>
                <a:gd name="T55" fmla="*/ 0 h 92"/>
                <a:gd name="T56" fmla="*/ 1 w 654"/>
                <a:gd name="T57" fmla="*/ 0 h 92"/>
                <a:gd name="T58" fmla="*/ 1 w 654"/>
                <a:gd name="T59" fmla="*/ 0 h 92"/>
                <a:gd name="T60" fmla="*/ 1 w 654"/>
                <a:gd name="T61" fmla="*/ 0 h 92"/>
                <a:gd name="T62" fmla="*/ 1 w 654"/>
                <a:gd name="T63" fmla="*/ 0 h 92"/>
                <a:gd name="T64" fmla="*/ 1 w 654"/>
                <a:gd name="T65" fmla="*/ 0 h 92"/>
                <a:gd name="T66" fmla="*/ 1 w 654"/>
                <a:gd name="T67" fmla="*/ 0 h 92"/>
                <a:gd name="T68" fmla="*/ 1 w 654"/>
                <a:gd name="T69" fmla="*/ 0 h 92"/>
                <a:gd name="T70" fmla="*/ 1 w 654"/>
                <a:gd name="T71" fmla="*/ 0 h 92"/>
                <a:gd name="T72" fmla="*/ 1 w 654"/>
                <a:gd name="T73" fmla="*/ 0 h 92"/>
                <a:gd name="T74" fmla="*/ 1 w 654"/>
                <a:gd name="T75" fmla="*/ 0 h 92"/>
                <a:gd name="T76" fmla="*/ 1 w 654"/>
                <a:gd name="T77" fmla="*/ 0 h 92"/>
                <a:gd name="T78" fmla="*/ 1 w 654"/>
                <a:gd name="T79" fmla="*/ 0 h 92"/>
                <a:gd name="T80" fmla="*/ 1 w 654"/>
                <a:gd name="T81" fmla="*/ 0 h 92"/>
                <a:gd name="T82" fmla="*/ 2 w 654"/>
                <a:gd name="T83" fmla="*/ 0 h 92"/>
                <a:gd name="T84" fmla="*/ 2 w 654"/>
                <a:gd name="T85" fmla="*/ 0 h 92"/>
                <a:gd name="T86" fmla="*/ 2 w 654"/>
                <a:gd name="T87" fmla="*/ 0 h 92"/>
                <a:gd name="T88" fmla="*/ 2 w 654"/>
                <a:gd name="T89" fmla="*/ 0 h 92"/>
                <a:gd name="T90" fmla="*/ 2 w 654"/>
                <a:gd name="T91" fmla="*/ 0 h 92"/>
                <a:gd name="T92" fmla="*/ 3 w 654"/>
                <a:gd name="T93" fmla="*/ 0 h 92"/>
                <a:gd name="T94" fmla="*/ 3 w 654"/>
                <a:gd name="T95" fmla="*/ 0 h 92"/>
                <a:gd name="T96" fmla="*/ 3 w 654"/>
                <a:gd name="T97" fmla="*/ 0 h 9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654"/>
                <a:gd name="T148" fmla="*/ 0 h 92"/>
                <a:gd name="T149" fmla="*/ 654 w 654"/>
                <a:gd name="T150" fmla="*/ 92 h 9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654" h="92">
                  <a:moveTo>
                    <a:pt x="654" y="91"/>
                  </a:moveTo>
                  <a:lnTo>
                    <a:pt x="652" y="91"/>
                  </a:lnTo>
                  <a:lnTo>
                    <a:pt x="648" y="91"/>
                  </a:lnTo>
                  <a:lnTo>
                    <a:pt x="640" y="92"/>
                  </a:lnTo>
                  <a:lnTo>
                    <a:pt x="627" y="92"/>
                  </a:lnTo>
                  <a:lnTo>
                    <a:pt x="611" y="92"/>
                  </a:lnTo>
                  <a:lnTo>
                    <a:pt x="591" y="92"/>
                  </a:lnTo>
                  <a:lnTo>
                    <a:pt x="565" y="91"/>
                  </a:lnTo>
                  <a:lnTo>
                    <a:pt x="534" y="89"/>
                  </a:lnTo>
                  <a:lnTo>
                    <a:pt x="498" y="86"/>
                  </a:lnTo>
                  <a:lnTo>
                    <a:pt x="454" y="81"/>
                  </a:lnTo>
                  <a:lnTo>
                    <a:pt x="406" y="75"/>
                  </a:lnTo>
                  <a:lnTo>
                    <a:pt x="349" y="68"/>
                  </a:lnTo>
                  <a:lnTo>
                    <a:pt x="287" y="59"/>
                  </a:lnTo>
                  <a:lnTo>
                    <a:pt x="216" y="47"/>
                  </a:lnTo>
                  <a:lnTo>
                    <a:pt x="137" y="35"/>
                  </a:lnTo>
                  <a:lnTo>
                    <a:pt x="51" y="19"/>
                  </a:lnTo>
                  <a:lnTo>
                    <a:pt x="49" y="18"/>
                  </a:lnTo>
                  <a:lnTo>
                    <a:pt x="43" y="16"/>
                  </a:lnTo>
                  <a:lnTo>
                    <a:pt x="34" y="14"/>
                  </a:lnTo>
                  <a:lnTo>
                    <a:pt x="24" y="14"/>
                  </a:lnTo>
                  <a:lnTo>
                    <a:pt x="15" y="15"/>
                  </a:lnTo>
                  <a:lnTo>
                    <a:pt x="8" y="21"/>
                  </a:lnTo>
                  <a:lnTo>
                    <a:pt x="5" y="30"/>
                  </a:lnTo>
                  <a:lnTo>
                    <a:pt x="6" y="44"/>
                  </a:lnTo>
                  <a:lnTo>
                    <a:pt x="5" y="42"/>
                  </a:lnTo>
                  <a:lnTo>
                    <a:pt x="1" y="34"/>
                  </a:lnTo>
                  <a:lnTo>
                    <a:pt x="0" y="24"/>
                  </a:lnTo>
                  <a:lnTo>
                    <a:pt x="1" y="14"/>
                  </a:lnTo>
                  <a:lnTo>
                    <a:pt x="7" y="6"/>
                  </a:lnTo>
                  <a:lnTo>
                    <a:pt x="20" y="0"/>
                  </a:lnTo>
                  <a:lnTo>
                    <a:pt x="43" y="0"/>
                  </a:lnTo>
                  <a:lnTo>
                    <a:pt x="76" y="8"/>
                  </a:lnTo>
                  <a:lnTo>
                    <a:pt x="80" y="9"/>
                  </a:lnTo>
                  <a:lnTo>
                    <a:pt x="91" y="12"/>
                  </a:lnTo>
                  <a:lnTo>
                    <a:pt x="109" y="15"/>
                  </a:lnTo>
                  <a:lnTo>
                    <a:pt x="132" y="20"/>
                  </a:lnTo>
                  <a:lnTo>
                    <a:pt x="160" y="26"/>
                  </a:lnTo>
                  <a:lnTo>
                    <a:pt x="194" y="31"/>
                  </a:lnTo>
                  <a:lnTo>
                    <a:pt x="232" y="38"/>
                  </a:lnTo>
                  <a:lnTo>
                    <a:pt x="273" y="45"/>
                  </a:lnTo>
                  <a:lnTo>
                    <a:pt x="317" y="53"/>
                  </a:lnTo>
                  <a:lnTo>
                    <a:pt x="363" y="60"/>
                  </a:lnTo>
                  <a:lnTo>
                    <a:pt x="410" y="67"/>
                  </a:lnTo>
                  <a:lnTo>
                    <a:pt x="460" y="74"/>
                  </a:lnTo>
                  <a:lnTo>
                    <a:pt x="510" y="80"/>
                  </a:lnTo>
                  <a:lnTo>
                    <a:pt x="558" y="84"/>
                  </a:lnTo>
                  <a:lnTo>
                    <a:pt x="606" y="89"/>
                  </a:lnTo>
                  <a:lnTo>
                    <a:pt x="654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133">
              <a:extLst>
                <a:ext uri="{FF2B5EF4-FFF2-40B4-BE49-F238E27FC236}">
                  <a16:creationId xmlns:a16="http://schemas.microsoft.com/office/drawing/2014/main" id="{2F44F18B-D658-148C-95DF-50A5D5890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458"/>
              <a:ext cx="396" cy="29"/>
            </a:xfrm>
            <a:custGeom>
              <a:avLst/>
              <a:gdLst>
                <a:gd name="T0" fmla="*/ 3 w 674"/>
                <a:gd name="T1" fmla="*/ 0 h 62"/>
                <a:gd name="T2" fmla="*/ 3 w 674"/>
                <a:gd name="T3" fmla="*/ 0 h 62"/>
                <a:gd name="T4" fmla="*/ 3 w 674"/>
                <a:gd name="T5" fmla="*/ 0 h 62"/>
                <a:gd name="T6" fmla="*/ 3 w 674"/>
                <a:gd name="T7" fmla="*/ 0 h 62"/>
                <a:gd name="T8" fmla="*/ 3 w 674"/>
                <a:gd name="T9" fmla="*/ 0 h 62"/>
                <a:gd name="T10" fmla="*/ 3 w 674"/>
                <a:gd name="T11" fmla="*/ 0 h 62"/>
                <a:gd name="T12" fmla="*/ 2 w 674"/>
                <a:gd name="T13" fmla="*/ 0 h 62"/>
                <a:gd name="T14" fmla="*/ 2 w 674"/>
                <a:gd name="T15" fmla="*/ 0 h 62"/>
                <a:gd name="T16" fmla="*/ 2 w 674"/>
                <a:gd name="T17" fmla="*/ 0 h 62"/>
                <a:gd name="T18" fmla="*/ 2 w 674"/>
                <a:gd name="T19" fmla="*/ 0 h 62"/>
                <a:gd name="T20" fmla="*/ 1 w 674"/>
                <a:gd name="T21" fmla="*/ 0 h 62"/>
                <a:gd name="T22" fmla="*/ 1 w 674"/>
                <a:gd name="T23" fmla="*/ 0 h 62"/>
                <a:gd name="T24" fmla="*/ 1 w 674"/>
                <a:gd name="T25" fmla="*/ 0 h 62"/>
                <a:gd name="T26" fmla="*/ 1 w 674"/>
                <a:gd name="T27" fmla="*/ 0 h 62"/>
                <a:gd name="T28" fmla="*/ 1 w 674"/>
                <a:gd name="T29" fmla="*/ 0 h 62"/>
                <a:gd name="T30" fmla="*/ 1 w 674"/>
                <a:gd name="T31" fmla="*/ 0 h 62"/>
                <a:gd name="T32" fmla="*/ 1 w 674"/>
                <a:gd name="T33" fmla="*/ 0 h 62"/>
                <a:gd name="T34" fmla="*/ 1 w 674"/>
                <a:gd name="T35" fmla="*/ 0 h 62"/>
                <a:gd name="T36" fmla="*/ 1 w 674"/>
                <a:gd name="T37" fmla="*/ 0 h 62"/>
                <a:gd name="T38" fmla="*/ 1 w 674"/>
                <a:gd name="T39" fmla="*/ 0 h 62"/>
                <a:gd name="T40" fmla="*/ 0 w 674"/>
                <a:gd name="T41" fmla="*/ 0 h 62"/>
                <a:gd name="T42" fmla="*/ 0 w 674"/>
                <a:gd name="T43" fmla="*/ 0 h 62"/>
                <a:gd name="T44" fmla="*/ 1 w 674"/>
                <a:gd name="T45" fmla="*/ 0 h 62"/>
                <a:gd name="T46" fmla="*/ 1 w 674"/>
                <a:gd name="T47" fmla="*/ 0 h 62"/>
                <a:gd name="T48" fmla="*/ 1 w 674"/>
                <a:gd name="T49" fmla="*/ 0 h 62"/>
                <a:gd name="T50" fmla="*/ 1 w 674"/>
                <a:gd name="T51" fmla="*/ 0 h 62"/>
                <a:gd name="T52" fmla="*/ 1 w 674"/>
                <a:gd name="T53" fmla="*/ 0 h 62"/>
                <a:gd name="T54" fmla="*/ 1 w 674"/>
                <a:gd name="T55" fmla="*/ 0 h 62"/>
                <a:gd name="T56" fmla="*/ 1 w 674"/>
                <a:gd name="T57" fmla="*/ 0 h 62"/>
                <a:gd name="T58" fmla="*/ 1 w 674"/>
                <a:gd name="T59" fmla="*/ 0 h 62"/>
                <a:gd name="T60" fmla="*/ 1 w 674"/>
                <a:gd name="T61" fmla="*/ 0 h 62"/>
                <a:gd name="T62" fmla="*/ 1 w 674"/>
                <a:gd name="T63" fmla="*/ 0 h 62"/>
                <a:gd name="T64" fmla="*/ 1 w 674"/>
                <a:gd name="T65" fmla="*/ 0 h 62"/>
                <a:gd name="T66" fmla="*/ 1 w 674"/>
                <a:gd name="T67" fmla="*/ 0 h 62"/>
                <a:gd name="T68" fmla="*/ 1 w 674"/>
                <a:gd name="T69" fmla="*/ 0 h 62"/>
                <a:gd name="T70" fmla="*/ 1 w 674"/>
                <a:gd name="T71" fmla="*/ 0 h 62"/>
                <a:gd name="T72" fmla="*/ 1 w 674"/>
                <a:gd name="T73" fmla="*/ 0 h 62"/>
                <a:gd name="T74" fmla="*/ 1 w 674"/>
                <a:gd name="T75" fmla="*/ 0 h 62"/>
                <a:gd name="T76" fmla="*/ 1 w 674"/>
                <a:gd name="T77" fmla="*/ 0 h 62"/>
                <a:gd name="T78" fmla="*/ 1 w 674"/>
                <a:gd name="T79" fmla="*/ 0 h 62"/>
                <a:gd name="T80" fmla="*/ 1 w 674"/>
                <a:gd name="T81" fmla="*/ 0 h 62"/>
                <a:gd name="T82" fmla="*/ 1 w 674"/>
                <a:gd name="T83" fmla="*/ 0 h 62"/>
                <a:gd name="T84" fmla="*/ 1 w 674"/>
                <a:gd name="T85" fmla="*/ 0 h 62"/>
                <a:gd name="T86" fmla="*/ 2 w 674"/>
                <a:gd name="T87" fmla="*/ 0 h 62"/>
                <a:gd name="T88" fmla="*/ 2 w 674"/>
                <a:gd name="T89" fmla="*/ 0 h 62"/>
                <a:gd name="T90" fmla="*/ 2 w 674"/>
                <a:gd name="T91" fmla="*/ 0 h 62"/>
                <a:gd name="T92" fmla="*/ 2 w 674"/>
                <a:gd name="T93" fmla="*/ 0 h 62"/>
                <a:gd name="T94" fmla="*/ 3 w 674"/>
                <a:gd name="T95" fmla="*/ 0 h 62"/>
                <a:gd name="T96" fmla="*/ 3 w 674"/>
                <a:gd name="T97" fmla="*/ 0 h 6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674"/>
                <a:gd name="T148" fmla="*/ 0 h 62"/>
                <a:gd name="T149" fmla="*/ 674 w 674"/>
                <a:gd name="T150" fmla="*/ 62 h 6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674" h="62">
                  <a:moveTo>
                    <a:pt x="674" y="59"/>
                  </a:moveTo>
                  <a:lnTo>
                    <a:pt x="667" y="58"/>
                  </a:lnTo>
                  <a:lnTo>
                    <a:pt x="649" y="55"/>
                  </a:lnTo>
                  <a:lnTo>
                    <a:pt x="620" y="51"/>
                  </a:lnTo>
                  <a:lnTo>
                    <a:pt x="582" y="45"/>
                  </a:lnTo>
                  <a:lnTo>
                    <a:pt x="536" y="38"/>
                  </a:lnTo>
                  <a:lnTo>
                    <a:pt x="484" y="31"/>
                  </a:lnTo>
                  <a:lnTo>
                    <a:pt x="429" y="24"/>
                  </a:lnTo>
                  <a:lnTo>
                    <a:pt x="371" y="17"/>
                  </a:lnTo>
                  <a:lnTo>
                    <a:pt x="312" y="11"/>
                  </a:lnTo>
                  <a:lnTo>
                    <a:pt x="254" y="6"/>
                  </a:lnTo>
                  <a:lnTo>
                    <a:pt x="197" y="2"/>
                  </a:lnTo>
                  <a:lnTo>
                    <a:pt x="145" y="0"/>
                  </a:lnTo>
                  <a:lnTo>
                    <a:pt x="98" y="0"/>
                  </a:lnTo>
                  <a:lnTo>
                    <a:pt x="59" y="2"/>
                  </a:lnTo>
                  <a:lnTo>
                    <a:pt x="27" y="8"/>
                  </a:lnTo>
                  <a:lnTo>
                    <a:pt x="6" y="16"/>
                  </a:lnTo>
                  <a:lnTo>
                    <a:pt x="5" y="17"/>
                  </a:lnTo>
                  <a:lnTo>
                    <a:pt x="4" y="18"/>
                  </a:lnTo>
                  <a:lnTo>
                    <a:pt x="1" y="22"/>
                  </a:lnTo>
                  <a:lnTo>
                    <a:pt x="0" y="26"/>
                  </a:lnTo>
                  <a:lnTo>
                    <a:pt x="0" y="33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20" y="62"/>
                  </a:lnTo>
                  <a:lnTo>
                    <a:pt x="19" y="61"/>
                  </a:lnTo>
                  <a:lnTo>
                    <a:pt x="19" y="56"/>
                  </a:lnTo>
                  <a:lnTo>
                    <a:pt x="17" y="49"/>
                  </a:lnTo>
                  <a:lnTo>
                    <a:pt x="19" y="43"/>
                  </a:lnTo>
                  <a:lnTo>
                    <a:pt x="23" y="36"/>
                  </a:lnTo>
                  <a:lnTo>
                    <a:pt x="31" y="29"/>
                  </a:lnTo>
                  <a:lnTo>
                    <a:pt x="45" y="24"/>
                  </a:lnTo>
                  <a:lnTo>
                    <a:pt x="65" y="23"/>
                  </a:lnTo>
                  <a:lnTo>
                    <a:pt x="66" y="23"/>
                  </a:lnTo>
                  <a:lnTo>
                    <a:pt x="72" y="22"/>
                  </a:lnTo>
                  <a:lnTo>
                    <a:pt x="81" y="22"/>
                  </a:lnTo>
                  <a:lnTo>
                    <a:pt x="93" y="21"/>
                  </a:lnTo>
                  <a:lnTo>
                    <a:pt x="111" y="20"/>
                  </a:lnTo>
                  <a:lnTo>
                    <a:pt x="134" y="20"/>
                  </a:lnTo>
                  <a:lnTo>
                    <a:pt x="160" y="18"/>
                  </a:lnTo>
                  <a:lnTo>
                    <a:pt x="193" y="20"/>
                  </a:lnTo>
                  <a:lnTo>
                    <a:pt x="231" y="21"/>
                  </a:lnTo>
                  <a:lnTo>
                    <a:pt x="274" y="22"/>
                  </a:lnTo>
                  <a:lnTo>
                    <a:pt x="324" y="25"/>
                  </a:lnTo>
                  <a:lnTo>
                    <a:pt x="380" y="29"/>
                  </a:lnTo>
                  <a:lnTo>
                    <a:pt x="443" y="34"/>
                  </a:lnTo>
                  <a:lnTo>
                    <a:pt x="513" y="40"/>
                  </a:lnTo>
                  <a:lnTo>
                    <a:pt x="590" y="48"/>
                  </a:lnTo>
                  <a:lnTo>
                    <a:pt x="674" y="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134">
              <a:extLst>
                <a:ext uri="{FF2B5EF4-FFF2-40B4-BE49-F238E27FC236}">
                  <a16:creationId xmlns:a16="http://schemas.microsoft.com/office/drawing/2014/main" id="{C7E1025C-A1E1-D811-72D1-51C35A47C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435"/>
              <a:ext cx="109" cy="455"/>
            </a:xfrm>
            <a:custGeom>
              <a:avLst/>
              <a:gdLst>
                <a:gd name="T0" fmla="*/ 0 w 187"/>
                <a:gd name="T1" fmla="*/ 0 h 990"/>
                <a:gd name="T2" fmla="*/ 1 w 187"/>
                <a:gd name="T3" fmla="*/ 0 h 990"/>
                <a:gd name="T4" fmla="*/ 1 w 187"/>
                <a:gd name="T5" fmla="*/ 0 h 990"/>
                <a:gd name="T6" fmla="*/ 1 w 187"/>
                <a:gd name="T7" fmla="*/ 0 h 990"/>
                <a:gd name="T8" fmla="*/ 1 w 187"/>
                <a:gd name="T9" fmla="*/ 0 h 990"/>
                <a:gd name="T10" fmla="*/ 1 w 187"/>
                <a:gd name="T11" fmla="*/ 0 h 990"/>
                <a:gd name="T12" fmla="*/ 1 w 187"/>
                <a:gd name="T13" fmla="*/ 0 h 990"/>
                <a:gd name="T14" fmla="*/ 1 w 187"/>
                <a:gd name="T15" fmla="*/ 0 h 990"/>
                <a:gd name="T16" fmla="*/ 1 w 187"/>
                <a:gd name="T17" fmla="*/ 0 h 990"/>
                <a:gd name="T18" fmla="*/ 1 w 187"/>
                <a:gd name="T19" fmla="*/ 0 h 990"/>
                <a:gd name="T20" fmla="*/ 1 w 187"/>
                <a:gd name="T21" fmla="*/ 0 h 990"/>
                <a:gd name="T22" fmla="*/ 1 w 187"/>
                <a:gd name="T23" fmla="*/ 0 h 990"/>
                <a:gd name="T24" fmla="*/ 1 w 187"/>
                <a:gd name="T25" fmla="*/ 0 h 990"/>
                <a:gd name="T26" fmla="*/ 1 w 187"/>
                <a:gd name="T27" fmla="*/ 0 h 990"/>
                <a:gd name="T28" fmla="*/ 1 w 187"/>
                <a:gd name="T29" fmla="*/ 0 h 990"/>
                <a:gd name="T30" fmla="*/ 1 w 187"/>
                <a:gd name="T31" fmla="*/ 0 h 990"/>
                <a:gd name="T32" fmla="*/ 1 w 187"/>
                <a:gd name="T33" fmla="*/ 0 h 990"/>
                <a:gd name="T34" fmla="*/ 1 w 187"/>
                <a:gd name="T35" fmla="*/ 0 h 990"/>
                <a:gd name="T36" fmla="*/ 1 w 187"/>
                <a:gd name="T37" fmla="*/ 0 h 990"/>
                <a:gd name="T38" fmla="*/ 1 w 187"/>
                <a:gd name="T39" fmla="*/ 0 h 990"/>
                <a:gd name="T40" fmla="*/ 1 w 187"/>
                <a:gd name="T41" fmla="*/ 0 h 990"/>
                <a:gd name="T42" fmla="*/ 1 w 187"/>
                <a:gd name="T43" fmla="*/ 0 h 990"/>
                <a:gd name="T44" fmla="*/ 1 w 187"/>
                <a:gd name="T45" fmla="*/ 0 h 990"/>
                <a:gd name="T46" fmla="*/ 1 w 187"/>
                <a:gd name="T47" fmla="*/ 0 h 990"/>
                <a:gd name="T48" fmla="*/ 1 w 187"/>
                <a:gd name="T49" fmla="*/ 0 h 990"/>
                <a:gd name="T50" fmla="*/ 1 w 187"/>
                <a:gd name="T51" fmla="*/ 0 h 990"/>
                <a:gd name="T52" fmla="*/ 1 w 187"/>
                <a:gd name="T53" fmla="*/ 0 h 990"/>
                <a:gd name="T54" fmla="*/ 1 w 187"/>
                <a:gd name="T55" fmla="*/ 0 h 990"/>
                <a:gd name="T56" fmla="*/ 1 w 187"/>
                <a:gd name="T57" fmla="*/ 0 h 990"/>
                <a:gd name="T58" fmla="*/ 1 w 187"/>
                <a:gd name="T59" fmla="*/ 0 h 990"/>
                <a:gd name="T60" fmla="*/ 1 w 187"/>
                <a:gd name="T61" fmla="*/ 0 h 990"/>
                <a:gd name="T62" fmla="*/ 1 w 187"/>
                <a:gd name="T63" fmla="*/ 0 h 990"/>
                <a:gd name="T64" fmla="*/ 0 w 187"/>
                <a:gd name="T65" fmla="*/ 0 h 9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7"/>
                <a:gd name="T100" fmla="*/ 0 h 990"/>
                <a:gd name="T101" fmla="*/ 187 w 187"/>
                <a:gd name="T102" fmla="*/ 990 h 9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7" h="990">
                  <a:moveTo>
                    <a:pt x="0" y="0"/>
                  </a:moveTo>
                  <a:lnTo>
                    <a:pt x="1" y="9"/>
                  </a:lnTo>
                  <a:lnTo>
                    <a:pt x="3" y="36"/>
                  </a:lnTo>
                  <a:lnTo>
                    <a:pt x="6" y="77"/>
                  </a:lnTo>
                  <a:lnTo>
                    <a:pt x="11" y="131"/>
                  </a:lnTo>
                  <a:lnTo>
                    <a:pt x="18" y="196"/>
                  </a:lnTo>
                  <a:lnTo>
                    <a:pt x="24" y="268"/>
                  </a:lnTo>
                  <a:lnTo>
                    <a:pt x="34" y="348"/>
                  </a:lnTo>
                  <a:lnTo>
                    <a:pt x="44" y="431"/>
                  </a:lnTo>
                  <a:lnTo>
                    <a:pt x="57" y="517"/>
                  </a:lnTo>
                  <a:lnTo>
                    <a:pt x="71" y="602"/>
                  </a:lnTo>
                  <a:lnTo>
                    <a:pt x="86" y="685"/>
                  </a:lnTo>
                  <a:lnTo>
                    <a:pt x="103" y="764"/>
                  </a:lnTo>
                  <a:lnTo>
                    <a:pt x="121" y="835"/>
                  </a:lnTo>
                  <a:lnTo>
                    <a:pt x="141" y="899"/>
                  </a:lnTo>
                  <a:lnTo>
                    <a:pt x="163" y="950"/>
                  </a:lnTo>
                  <a:lnTo>
                    <a:pt x="187" y="990"/>
                  </a:lnTo>
                  <a:lnTo>
                    <a:pt x="186" y="985"/>
                  </a:lnTo>
                  <a:lnTo>
                    <a:pt x="182" y="971"/>
                  </a:lnTo>
                  <a:lnTo>
                    <a:pt x="175" y="949"/>
                  </a:lnTo>
                  <a:lnTo>
                    <a:pt x="167" y="919"/>
                  </a:lnTo>
                  <a:lnTo>
                    <a:pt x="158" y="880"/>
                  </a:lnTo>
                  <a:lnTo>
                    <a:pt x="147" y="834"/>
                  </a:lnTo>
                  <a:lnTo>
                    <a:pt x="134" y="780"/>
                  </a:lnTo>
                  <a:lnTo>
                    <a:pt x="120" y="719"/>
                  </a:lnTo>
                  <a:lnTo>
                    <a:pt x="106" y="651"/>
                  </a:lnTo>
                  <a:lnTo>
                    <a:pt x="91" y="576"/>
                  </a:lnTo>
                  <a:lnTo>
                    <a:pt x="75" y="494"/>
                  </a:lnTo>
                  <a:lnTo>
                    <a:pt x="59" y="407"/>
                  </a:lnTo>
                  <a:lnTo>
                    <a:pt x="44" y="313"/>
                  </a:lnTo>
                  <a:lnTo>
                    <a:pt x="29" y="214"/>
                  </a:lnTo>
                  <a:lnTo>
                    <a:pt x="14" y="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0" name="Freeform 135">
              <a:extLst>
                <a:ext uri="{FF2B5EF4-FFF2-40B4-BE49-F238E27FC236}">
                  <a16:creationId xmlns:a16="http://schemas.microsoft.com/office/drawing/2014/main" id="{DAECDA30-51B3-F248-69FF-0A4FE6142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498"/>
              <a:ext cx="117" cy="447"/>
            </a:xfrm>
            <a:custGeom>
              <a:avLst/>
              <a:gdLst>
                <a:gd name="T0" fmla="*/ 0 w 199"/>
                <a:gd name="T1" fmla="*/ 0 h 969"/>
                <a:gd name="T2" fmla="*/ 1 w 199"/>
                <a:gd name="T3" fmla="*/ 0 h 969"/>
                <a:gd name="T4" fmla="*/ 1 w 199"/>
                <a:gd name="T5" fmla="*/ 0 h 969"/>
                <a:gd name="T6" fmla="*/ 1 w 199"/>
                <a:gd name="T7" fmla="*/ 0 h 969"/>
                <a:gd name="T8" fmla="*/ 1 w 199"/>
                <a:gd name="T9" fmla="*/ 0 h 969"/>
                <a:gd name="T10" fmla="*/ 1 w 199"/>
                <a:gd name="T11" fmla="*/ 0 h 969"/>
                <a:gd name="T12" fmla="*/ 1 w 199"/>
                <a:gd name="T13" fmla="*/ 0 h 969"/>
                <a:gd name="T14" fmla="*/ 1 w 199"/>
                <a:gd name="T15" fmla="*/ 0 h 969"/>
                <a:gd name="T16" fmla="*/ 1 w 199"/>
                <a:gd name="T17" fmla="*/ 0 h 969"/>
                <a:gd name="T18" fmla="*/ 1 w 199"/>
                <a:gd name="T19" fmla="*/ 0 h 969"/>
                <a:gd name="T20" fmla="*/ 1 w 199"/>
                <a:gd name="T21" fmla="*/ 0 h 969"/>
                <a:gd name="T22" fmla="*/ 1 w 199"/>
                <a:gd name="T23" fmla="*/ 0 h 969"/>
                <a:gd name="T24" fmla="*/ 1 w 199"/>
                <a:gd name="T25" fmla="*/ 0 h 969"/>
                <a:gd name="T26" fmla="*/ 1 w 199"/>
                <a:gd name="T27" fmla="*/ 0 h 969"/>
                <a:gd name="T28" fmla="*/ 1 w 199"/>
                <a:gd name="T29" fmla="*/ 0 h 969"/>
                <a:gd name="T30" fmla="*/ 1 w 199"/>
                <a:gd name="T31" fmla="*/ 0 h 969"/>
                <a:gd name="T32" fmla="*/ 1 w 199"/>
                <a:gd name="T33" fmla="*/ 0 h 969"/>
                <a:gd name="T34" fmla="*/ 1 w 199"/>
                <a:gd name="T35" fmla="*/ 0 h 969"/>
                <a:gd name="T36" fmla="*/ 1 w 199"/>
                <a:gd name="T37" fmla="*/ 0 h 969"/>
                <a:gd name="T38" fmla="*/ 1 w 199"/>
                <a:gd name="T39" fmla="*/ 0 h 969"/>
                <a:gd name="T40" fmla="*/ 1 w 199"/>
                <a:gd name="T41" fmla="*/ 0 h 969"/>
                <a:gd name="T42" fmla="*/ 1 w 199"/>
                <a:gd name="T43" fmla="*/ 0 h 969"/>
                <a:gd name="T44" fmla="*/ 1 w 199"/>
                <a:gd name="T45" fmla="*/ 0 h 969"/>
                <a:gd name="T46" fmla="*/ 1 w 199"/>
                <a:gd name="T47" fmla="*/ 0 h 969"/>
                <a:gd name="T48" fmla="*/ 1 w 199"/>
                <a:gd name="T49" fmla="*/ 0 h 969"/>
                <a:gd name="T50" fmla="*/ 1 w 199"/>
                <a:gd name="T51" fmla="*/ 0 h 969"/>
                <a:gd name="T52" fmla="*/ 1 w 199"/>
                <a:gd name="T53" fmla="*/ 0 h 969"/>
                <a:gd name="T54" fmla="*/ 1 w 199"/>
                <a:gd name="T55" fmla="*/ 0 h 969"/>
                <a:gd name="T56" fmla="*/ 1 w 199"/>
                <a:gd name="T57" fmla="*/ 0 h 969"/>
                <a:gd name="T58" fmla="*/ 1 w 199"/>
                <a:gd name="T59" fmla="*/ 0 h 969"/>
                <a:gd name="T60" fmla="*/ 1 w 199"/>
                <a:gd name="T61" fmla="*/ 0 h 969"/>
                <a:gd name="T62" fmla="*/ 1 w 199"/>
                <a:gd name="T63" fmla="*/ 0 h 969"/>
                <a:gd name="T64" fmla="*/ 0 w 199"/>
                <a:gd name="T65" fmla="*/ 0 h 96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99"/>
                <a:gd name="T100" fmla="*/ 0 h 969"/>
                <a:gd name="T101" fmla="*/ 199 w 199"/>
                <a:gd name="T102" fmla="*/ 969 h 96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99" h="969">
                  <a:moveTo>
                    <a:pt x="0" y="0"/>
                  </a:moveTo>
                  <a:lnTo>
                    <a:pt x="1" y="11"/>
                  </a:lnTo>
                  <a:lnTo>
                    <a:pt x="4" y="40"/>
                  </a:lnTo>
                  <a:lnTo>
                    <a:pt x="10" y="85"/>
                  </a:lnTo>
                  <a:lnTo>
                    <a:pt x="18" y="143"/>
                  </a:lnTo>
                  <a:lnTo>
                    <a:pt x="27" y="212"/>
                  </a:lnTo>
                  <a:lnTo>
                    <a:pt x="38" y="290"/>
                  </a:lnTo>
                  <a:lnTo>
                    <a:pt x="51" y="374"/>
                  </a:lnTo>
                  <a:lnTo>
                    <a:pt x="64" y="460"/>
                  </a:lnTo>
                  <a:lnTo>
                    <a:pt x="79" y="549"/>
                  </a:lnTo>
                  <a:lnTo>
                    <a:pt x="94" y="634"/>
                  </a:lnTo>
                  <a:lnTo>
                    <a:pt x="112" y="716"/>
                  </a:lnTo>
                  <a:lnTo>
                    <a:pt x="128" y="791"/>
                  </a:lnTo>
                  <a:lnTo>
                    <a:pt x="146" y="856"/>
                  </a:lnTo>
                  <a:lnTo>
                    <a:pt x="163" y="909"/>
                  </a:lnTo>
                  <a:lnTo>
                    <a:pt x="182" y="947"/>
                  </a:lnTo>
                  <a:lnTo>
                    <a:pt x="199" y="969"/>
                  </a:lnTo>
                  <a:lnTo>
                    <a:pt x="198" y="967"/>
                  </a:lnTo>
                  <a:lnTo>
                    <a:pt x="196" y="961"/>
                  </a:lnTo>
                  <a:lnTo>
                    <a:pt x="191" y="948"/>
                  </a:lnTo>
                  <a:lnTo>
                    <a:pt x="184" y="931"/>
                  </a:lnTo>
                  <a:lnTo>
                    <a:pt x="176" y="907"/>
                  </a:lnTo>
                  <a:lnTo>
                    <a:pt x="167" y="875"/>
                  </a:lnTo>
                  <a:lnTo>
                    <a:pt x="155" y="836"/>
                  </a:lnTo>
                  <a:lnTo>
                    <a:pt x="143" y="787"/>
                  </a:lnTo>
                  <a:lnTo>
                    <a:pt x="129" y="730"/>
                  </a:lnTo>
                  <a:lnTo>
                    <a:pt x="114" y="662"/>
                  </a:lnTo>
                  <a:lnTo>
                    <a:pt x="97" y="582"/>
                  </a:lnTo>
                  <a:lnTo>
                    <a:pt x="79" y="492"/>
                  </a:lnTo>
                  <a:lnTo>
                    <a:pt x="61" y="390"/>
                  </a:lnTo>
                  <a:lnTo>
                    <a:pt x="41" y="273"/>
                  </a:lnTo>
                  <a:lnTo>
                    <a:pt x="21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Freeform 136">
              <a:extLst>
                <a:ext uri="{FF2B5EF4-FFF2-40B4-BE49-F238E27FC236}">
                  <a16:creationId xmlns:a16="http://schemas.microsoft.com/office/drawing/2014/main" id="{7BEF82DE-D283-3B3D-D256-8FD93F766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900"/>
              <a:ext cx="55" cy="45"/>
            </a:xfrm>
            <a:custGeom>
              <a:avLst/>
              <a:gdLst>
                <a:gd name="T0" fmla="*/ 1 w 93"/>
                <a:gd name="T1" fmla="*/ 0 h 98"/>
                <a:gd name="T2" fmla="*/ 1 w 93"/>
                <a:gd name="T3" fmla="*/ 0 h 98"/>
                <a:gd name="T4" fmla="*/ 1 w 93"/>
                <a:gd name="T5" fmla="*/ 0 h 98"/>
                <a:gd name="T6" fmla="*/ 1 w 93"/>
                <a:gd name="T7" fmla="*/ 0 h 98"/>
                <a:gd name="T8" fmla="*/ 1 w 93"/>
                <a:gd name="T9" fmla="*/ 0 h 98"/>
                <a:gd name="T10" fmla="*/ 1 w 93"/>
                <a:gd name="T11" fmla="*/ 0 h 98"/>
                <a:gd name="T12" fmla="*/ 1 w 93"/>
                <a:gd name="T13" fmla="*/ 0 h 98"/>
                <a:gd name="T14" fmla="*/ 1 w 93"/>
                <a:gd name="T15" fmla="*/ 0 h 98"/>
                <a:gd name="T16" fmla="*/ 0 w 93"/>
                <a:gd name="T17" fmla="*/ 0 h 98"/>
                <a:gd name="T18" fmla="*/ 1 w 93"/>
                <a:gd name="T19" fmla="*/ 0 h 98"/>
                <a:gd name="T20" fmla="*/ 1 w 93"/>
                <a:gd name="T21" fmla="*/ 0 h 98"/>
                <a:gd name="T22" fmla="*/ 1 w 93"/>
                <a:gd name="T23" fmla="*/ 0 h 98"/>
                <a:gd name="T24" fmla="*/ 1 w 93"/>
                <a:gd name="T25" fmla="*/ 0 h 98"/>
                <a:gd name="T26" fmla="*/ 1 w 93"/>
                <a:gd name="T27" fmla="*/ 0 h 98"/>
                <a:gd name="T28" fmla="*/ 1 w 93"/>
                <a:gd name="T29" fmla="*/ 0 h 98"/>
                <a:gd name="T30" fmla="*/ 1 w 93"/>
                <a:gd name="T31" fmla="*/ 0 h 98"/>
                <a:gd name="T32" fmla="*/ 1 w 93"/>
                <a:gd name="T33" fmla="*/ 0 h 9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3"/>
                <a:gd name="T52" fmla="*/ 0 h 98"/>
                <a:gd name="T53" fmla="*/ 93 w 93"/>
                <a:gd name="T54" fmla="*/ 98 h 9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3" h="98">
                  <a:moveTo>
                    <a:pt x="93" y="0"/>
                  </a:moveTo>
                  <a:lnTo>
                    <a:pt x="92" y="4"/>
                  </a:lnTo>
                  <a:lnTo>
                    <a:pt x="89" y="13"/>
                  </a:lnTo>
                  <a:lnTo>
                    <a:pt x="85" y="26"/>
                  </a:lnTo>
                  <a:lnTo>
                    <a:pt x="77" y="41"/>
                  </a:lnTo>
                  <a:lnTo>
                    <a:pt x="65" y="58"/>
                  </a:lnTo>
                  <a:lnTo>
                    <a:pt x="49" y="74"/>
                  </a:lnTo>
                  <a:lnTo>
                    <a:pt x="27" y="88"/>
                  </a:lnTo>
                  <a:lnTo>
                    <a:pt x="0" y="98"/>
                  </a:lnTo>
                  <a:lnTo>
                    <a:pt x="3" y="95"/>
                  </a:lnTo>
                  <a:lnTo>
                    <a:pt x="12" y="88"/>
                  </a:lnTo>
                  <a:lnTo>
                    <a:pt x="26" y="75"/>
                  </a:lnTo>
                  <a:lnTo>
                    <a:pt x="41" y="61"/>
                  </a:lnTo>
                  <a:lnTo>
                    <a:pt x="58" y="45"/>
                  </a:lnTo>
                  <a:lnTo>
                    <a:pt x="73" y="29"/>
                  </a:lnTo>
                  <a:lnTo>
                    <a:pt x="85" y="14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Freeform 137">
              <a:extLst>
                <a:ext uri="{FF2B5EF4-FFF2-40B4-BE49-F238E27FC236}">
                  <a16:creationId xmlns:a16="http://schemas.microsoft.com/office/drawing/2014/main" id="{B5D0F837-4C53-AA5C-28A3-637C2D51A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912"/>
              <a:ext cx="383" cy="34"/>
            </a:xfrm>
            <a:custGeom>
              <a:avLst/>
              <a:gdLst>
                <a:gd name="T0" fmla="*/ 3 w 652"/>
                <a:gd name="T1" fmla="*/ 0 h 74"/>
                <a:gd name="T2" fmla="*/ 3 w 652"/>
                <a:gd name="T3" fmla="*/ 0 h 74"/>
                <a:gd name="T4" fmla="*/ 3 w 652"/>
                <a:gd name="T5" fmla="*/ 0 h 74"/>
                <a:gd name="T6" fmla="*/ 3 w 652"/>
                <a:gd name="T7" fmla="*/ 0 h 74"/>
                <a:gd name="T8" fmla="*/ 3 w 652"/>
                <a:gd name="T9" fmla="*/ 0 h 74"/>
                <a:gd name="T10" fmla="*/ 3 w 652"/>
                <a:gd name="T11" fmla="*/ 0 h 74"/>
                <a:gd name="T12" fmla="*/ 2 w 652"/>
                <a:gd name="T13" fmla="*/ 0 h 74"/>
                <a:gd name="T14" fmla="*/ 2 w 652"/>
                <a:gd name="T15" fmla="*/ 0 h 74"/>
                <a:gd name="T16" fmla="*/ 2 w 652"/>
                <a:gd name="T17" fmla="*/ 0 h 74"/>
                <a:gd name="T18" fmla="*/ 2 w 652"/>
                <a:gd name="T19" fmla="*/ 0 h 74"/>
                <a:gd name="T20" fmla="*/ 1 w 652"/>
                <a:gd name="T21" fmla="*/ 0 h 74"/>
                <a:gd name="T22" fmla="*/ 1 w 652"/>
                <a:gd name="T23" fmla="*/ 0 h 74"/>
                <a:gd name="T24" fmla="*/ 1 w 652"/>
                <a:gd name="T25" fmla="*/ 0 h 74"/>
                <a:gd name="T26" fmla="*/ 1 w 652"/>
                <a:gd name="T27" fmla="*/ 0 h 74"/>
                <a:gd name="T28" fmla="*/ 1 w 652"/>
                <a:gd name="T29" fmla="*/ 0 h 74"/>
                <a:gd name="T30" fmla="*/ 1 w 652"/>
                <a:gd name="T31" fmla="*/ 0 h 74"/>
                <a:gd name="T32" fmla="*/ 0 w 652"/>
                <a:gd name="T33" fmla="*/ 0 h 74"/>
                <a:gd name="T34" fmla="*/ 1 w 652"/>
                <a:gd name="T35" fmla="*/ 0 h 74"/>
                <a:gd name="T36" fmla="*/ 1 w 652"/>
                <a:gd name="T37" fmla="*/ 0 h 74"/>
                <a:gd name="T38" fmla="*/ 1 w 652"/>
                <a:gd name="T39" fmla="*/ 0 h 74"/>
                <a:gd name="T40" fmla="*/ 1 w 652"/>
                <a:gd name="T41" fmla="*/ 0 h 74"/>
                <a:gd name="T42" fmla="*/ 1 w 652"/>
                <a:gd name="T43" fmla="*/ 0 h 74"/>
                <a:gd name="T44" fmla="*/ 1 w 652"/>
                <a:gd name="T45" fmla="*/ 0 h 74"/>
                <a:gd name="T46" fmla="*/ 1 w 652"/>
                <a:gd name="T47" fmla="*/ 0 h 74"/>
                <a:gd name="T48" fmla="*/ 1 w 652"/>
                <a:gd name="T49" fmla="*/ 0 h 74"/>
                <a:gd name="T50" fmla="*/ 1 w 652"/>
                <a:gd name="T51" fmla="*/ 0 h 74"/>
                <a:gd name="T52" fmla="*/ 2 w 652"/>
                <a:gd name="T53" fmla="*/ 0 h 74"/>
                <a:gd name="T54" fmla="*/ 2 w 652"/>
                <a:gd name="T55" fmla="*/ 0 h 74"/>
                <a:gd name="T56" fmla="*/ 2 w 652"/>
                <a:gd name="T57" fmla="*/ 0 h 74"/>
                <a:gd name="T58" fmla="*/ 2 w 652"/>
                <a:gd name="T59" fmla="*/ 0 h 74"/>
                <a:gd name="T60" fmla="*/ 3 w 652"/>
                <a:gd name="T61" fmla="*/ 0 h 74"/>
                <a:gd name="T62" fmla="*/ 3 w 652"/>
                <a:gd name="T63" fmla="*/ 0 h 74"/>
                <a:gd name="T64" fmla="*/ 3 w 652"/>
                <a:gd name="T65" fmla="*/ 0 h 7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52"/>
                <a:gd name="T100" fmla="*/ 0 h 74"/>
                <a:gd name="T101" fmla="*/ 652 w 652"/>
                <a:gd name="T102" fmla="*/ 74 h 7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52" h="74">
                  <a:moveTo>
                    <a:pt x="652" y="74"/>
                  </a:moveTo>
                  <a:lnTo>
                    <a:pt x="647" y="72"/>
                  </a:lnTo>
                  <a:lnTo>
                    <a:pt x="629" y="69"/>
                  </a:lnTo>
                  <a:lnTo>
                    <a:pt x="603" y="63"/>
                  </a:lnTo>
                  <a:lnTo>
                    <a:pt x="567" y="56"/>
                  </a:lnTo>
                  <a:lnTo>
                    <a:pt x="526" y="48"/>
                  </a:lnTo>
                  <a:lnTo>
                    <a:pt x="478" y="40"/>
                  </a:lnTo>
                  <a:lnTo>
                    <a:pt x="427" y="32"/>
                  </a:lnTo>
                  <a:lnTo>
                    <a:pt x="372" y="23"/>
                  </a:lnTo>
                  <a:lnTo>
                    <a:pt x="316" y="16"/>
                  </a:lnTo>
                  <a:lnTo>
                    <a:pt x="261" y="9"/>
                  </a:lnTo>
                  <a:lnTo>
                    <a:pt x="205" y="3"/>
                  </a:lnTo>
                  <a:lnTo>
                    <a:pt x="153" y="1"/>
                  </a:lnTo>
                  <a:lnTo>
                    <a:pt x="106" y="0"/>
                  </a:lnTo>
                  <a:lnTo>
                    <a:pt x="64" y="2"/>
                  </a:lnTo>
                  <a:lnTo>
                    <a:pt x="28" y="7"/>
                  </a:lnTo>
                  <a:lnTo>
                    <a:pt x="0" y="16"/>
                  </a:lnTo>
                  <a:lnTo>
                    <a:pt x="5" y="16"/>
                  </a:lnTo>
                  <a:lnTo>
                    <a:pt x="20" y="16"/>
                  </a:lnTo>
                  <a:lnTo>
                    <a:pt x="43" y="17"/>
                  </a:lnTo>
                  <a:lnTo>
                    <a:pt x="74" y="17"/>
                  </a:lnTo>
                  <a:lnTo>
                    <a:pt x="111" y="18"/>
                  </a:lnTo>
                  <a:lnTo>
                    <a:pt x="153" y="19"/>
                  </a:lnTo>
                  <a:lnTo>
                    <a:pt x="201" y="22"/>
                  </a:lnTo>
                  <a:lnTo>
                    <a:pt x="251" y="24"/>
                  </a:lnTo>
                  <a:lnTo>
                    <a:pt x="304" y="28"/>
                  </a:lnTo>
                  <a:lnTo>
                    <a:pt x="359" y="32"/>
                  </a:lnTo>
                  <a:lnTo>
                    <a:pt x="413" y="37"/>
                  </a:lnTo>
                  <a:lnTo>
                    <a:pt x="467" y="41"/>
                  </a:lnTo>
                  <a:lnTo>
                    <a:pt x="519" y="48"/>
                  </a:lnTo>
                  <a:lnTo>
                    <a:pt x="567" y="55"/>
                  </a:lnTo>
                  <a:lnTo>
                    <a:pt x="612" y="64"/>
                  </a:lnTo>
                  <a:lnTo>
                    <a:pt x="652" y="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54" name="Text Box 10">
            <a:extLst>
              <a:ext uri="{FF2B5EF4-FFF2-40B4-BE49-F238E27FC236}">
                <a16:creationId xmlns:a16="http://schemas.microsoft.com/office/drawing/2014/main" id="{589F5F52-2080-5321-BE74-922D87993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887" y="5257800"/>
            <a:ext cx="9627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Weight:</a:t>
            </a:r>
          </a:p>
        </p:txBody>
      </p:sp>
      <p:sp>
        <p:nvSpPr>
          <p:cNvPr id="27655" name="Text Box 11">
            <a:extLst>
              <a:ext uri="{FF2B5EF4-FFF2-40B4-BE49-F238E27FC236}">
                <a16:creationId xmlns:a16="http://schemas.microsoft.com/office/drawing/2014/main" id="{39BA1646-C126-3889-B18B-DD16BD912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092" y="5638800"/>
            <a:ext cx="9669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Benefit:</a:t>
            </a:r>
          </a:p>
        </p:txBody>
      </p:sp>
      <p:sp>
        <p:nvSpPr>
          <p:cNvPr id="27656" name="Text Box 12">
            <a:extLst>
              <a:ext uri="{FF2B5EF4-FFF2-40B4-BE49-F238E27FC236}">
                <a16:creationId xmlns:a16="http://schemas.microsoft.com/office/drawing/2014/main" id="{C8FB481C-44E2-44F0-5846-B8DB696E6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618" y="4876801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7657" name="Text Box 13">
            <a:extLst>
              <a:ext uri="{FF2B5EF4-FFF2-40B4-BE49-F238E27FC236}">
                <a16:creationId xmlns:a16="http://schemas.microsoft.com/office/drawing/2014/main" id="{D48036F9-0710-880D-63AF-1B8E6966D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68" y="4876801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7658" name="Text Box 14">
            <a:extLst>
              <a:ext uri="{FF2B5EF4-FFF2-40B4-BE49-F238E27FC236}">
                <a16:creationId xmlns:a16="http://schemas.microsoft.com/office/drawing/2014/main" id="{7F321A99-7CC6-C2AC-C211-480CCDE95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130" y="4876801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7659" name="Text Box 15">
            <a:extLst>
              <a:ext uri="{FF2B5EF4-FFF2-40B4-BE49-F238E27FC236}">
                <a16:creationId xmlns:a16="http://schemas.microsoft.com/office/drawing/2014/main" id="{6AA42804-0B6F-1312-140D-60B1285CD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80" y="4876801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7660" name="Text Box 16">
            <a:extLst>
              <a:ext uri="{FF2B5EF4-FFF2-40B4-BE49-F238E27FC236}">
                <a16:creationId xmlns:a16="http://schemas.microsoft.com/office/drawing/2014/main" id="{668AE2F0-E4DA-FEA2-4B93-00A409CD2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4968" y="4876801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7661" name="Text Box 17">
            <a:extLst>
              <a:ext uri="{FF2B5EF4-FFF2-40B4-BE49-F238E27FC236}">
                <a16:creationId xmlns:a16="http://schemas.microsoft.com/office/drawing/2014/main" id="{B0EFE289-0753-CADC-4622-AC27F9C86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450" y="5334001"/>
            <a:ext cx="560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4 in</a:t>
            </a:r>
          </a:p>
        </p:txBody>
      </p:sp>
      <p:sp>
        <p:nvSpPr>
          <p:cNvPr id="27662" name="Text Box 18">
            <a:extLst>
              <a:ext uri="{FF2B5EF4-FFF2-40B4-BE49-F238E27FC236}">
                <a16:creationId xmlns:a16="http://schemas.microsoft.com/office/drawing/2014/main" id="{3BFA8659-09DD-EE0C-A1C5-856421FB0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400" y="5334001"/>
            <a:ext cx="560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 in</a:t>
            </a:r>
          </a:p>
        </p:txBody>
      </p:sp>
      <p:sp>
        <p:nvSpPr>
          <p:cNvPr id="27663" name="Text Box 19">
            <a:extLst>
              <a:ext uri="{FF2B5EF4-FFF2-40B4-BE49-F238E27FC236}">
                <a16:creationId xmlns:a16="http://schemas.microsoft.com/office/drawing/2014/main" id="{EA9681FA-33DF-2D3E-452E-05DD7D127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964" y="5334001"/>
            <a:ext cx="560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 in</a:t>
            </a:r>
          </a:p>
        </p:txBody>
      </p:sp>
      <p:sp>
        <p:nvSpPr>
          <p:cNvPr id="27664" name="Text Box 20">
            <a:extLst>
              <a:ext uri="{FF2B5EF4-FFF2-40B4-BE49-F238E27FC236}">
                <a16:creationId xmlns:a16="http://schemas.microsoft.com/office/drawing/2014/main" id="{18753AE1-7864-1E42-3B82-2D52B18C0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4" y="5334001"/>
            <a:ext cx="560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 in</a:t>
            </a:r>
          </a:p>
        </p:txBody>
      </p:sp>
      <p:sp>
        <p:nvSpPr>
          <p:cNvPr id="27665" name="Text Box 21">
            <a:extLst>
              <a:ext uri="{FF2B5EF4-FFF2-40B4-BE49-F238E27FC236}">
                <a16:creationId xmlns:a16="http://schemas.microsoft.com/office/drawing/2014/main" id="{4895B6F3-43B7-5616-CB38-F3B65183F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800" y="5334001"/>
            <a:ext cx="560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 in</a:t>
            </a:r>
          </a:p>
        </p:txBody>
      </p:sp>
      <p:sp>
        <p:nvSpPr>
          <p:cNvPr id="27666" name="Text Box 22">
            <a:extLst>
              <a:ext uri="{FF2B5EF4-FFF2-40B4-BE49-F238E27FC236}">
                <a16:creationId xmlns:a16="http://schemas.microsoft.com/office/drawing/2014/main" id="{65669C0F-A7B2-621B-B53C-8AD6738D2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538" y="5715000"/>
            <a:ext cx="5693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$20</a:t>
            </a:r>
          </a:p>
        </p:txBody>
      </p:sp>
      <p:sp>
        <p:nvSpPr>
          <p:cNvPr id="27667" name="Text Box 23">
            <a:extLst>
              <a:ext uri="{FF2B5EF4-FFF2-40B4-BE49-F238E27FC236}">
                <a16:creationId xmlns:a16="http://schemas.microsoft.com/office/drawing/2014/main" id="{D2E895FD-A6B3-51FE-1EDB-C04575892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228" y="5715000"/>
            <a:ext cx="4411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$3</a:t>
            </a:r>
          </a:p>
        </p:txBody>
      </p:sp>
      <p:sp>
        <p:nvSpPr>
          <p:cNvPr id="27668" name="Text Box 24">
            <a:extLst>
              <a:ext uri="{FF2B5EF4-FFF2-40B4-BE49-F238E27FC236}">
                <a16:creationId xmlns:a16="http://schemas.microsoft.com/office/drawing/2014/main" id="{D2CEB243-4225-871F-0180-579115946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378" y="5715000"/>
            <a:ext cx="4411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$6</a:t>
            </a:r>
          </a:p>
        </p:txBody>
      </p:sp>
      <p:sp>
        <p:nvSpPr>
          <p:cNvPr id="27669" name="Text Box 25">
            <a:extLst>
              <a:ext uri="{FF2B5EF4-FFF2-40B4-BE49-F238E27FC236}">
                <a16:creationId xmlns:a16="http://schemas.microsoft.com/office/drawing/2014/main" id="{4DA5F840-8E0D-356F-5E82-4B45B3F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9200" y="5715000"/>
            <a:ext cx="5693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$25</a:t>
            </a:r>
          </a:p>
        </p:txBody>
      </p:sp>
      <p:sp>
        <p:nvSpPr>
          <p:cNvPr id="27670" name="Text Box 26">
            <a:extLst>
              <a:ext uri="{FF2B5EF4-FFF2-40B4-BE49-F238E27FC236}">
                <a16:creationId xmlns:a16="http://schemas.microsoft.com/office/drawing/2014/main" id="{F5D895C5-5823-F556-AE44-D29C45D9F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300" y="5715000"/>
            <a:ext cx="5693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$80</a:t>
            </a:r>
          </a:p>
        </p:txBody>
      </p:sp>
      <p:sp>
        <p:nvSpPr>
          <p:cNvPr id="27671" name="Text Box 27">
            <a:extLst>
              <a:ext uri="{FF2B5EF4-FFF2-40B4-BE49-F238E27FC236}">
                <a16:creationId xmlns:a16="http://schemas.microsoft.com/office/drawing/2014/main" id="{6FF08036-6649-A39A-7C94-AA459827C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504" y="42672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Items:</a:t>
            </a:r>
          </a:p>
        </p:txBody>
      </p:sp>
      <p:sp>
        <p:nvSpPr>
          <p:cNvPr id="27672" name="Text Box 42">
            <a:extLst>
              <a:ext uri="{FF2B5EF4-FFF2-40B4-BE49-F238E27FC236}">
                <a16:creationId xmlns:a16="http://schemas.microsoft.com/office/drawing/2014/main" id="{CC1E9CA0-CE98-313F-BE93-76CAA20A9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00601"/>
            <a:ext cx="1887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box of width 9 in</a:t>
            </a:r>
          </a:p>
        </p:txBody>
      </p:sp>
      <p:sp>
        <p:nvSpPr>
          <p:cNvPr id="27673" name="Line 43">
            <a:extLst>
              <a:ext uri="{FF2B5EF4-FFF2-40B4-BE49-F238E27FC236}">
                <a16:creationId xmlns:a16="http://schemas.microsoft.com/office/drawing/2014/main" id="{83F36726-D973-079A-E388-A098E61C5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657600"/>
            <a:ext cx="0" cy="2819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6412" name="Text Box 44">
            <a:extLst>
              <a:ext uri="{FF2B5EF4-FFF2-40B4-BE49-F238E27FC236}">
                <a16:creationId xmlns:a16="http://schemas.microsoft.com/office/drawing/2014/main" id="{62FC0067-D76D-3FD3-9417-0DA99D965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1" y="5181600"/>
            <a:ext cx="20605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Solution: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 item 5 ($80, 2 in)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 item 1 ($20, 4in)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 item 3 ($6, 2in)</a:t>
            </a:r>
          </a:p>
        </p:txBody>
      </p:sp>
      <p:sp>
        <p:nvSpPr>
          <p:cNvPr id="27675" name="Text Box 45">
            <a:extLst>
              <a:ext uri="{FF2B5EF4-FFF2-40B4-BE49-F238E27FC236}">
                <a16:creationId xmlns:a16="http://schemas.microsoft.com/office/drawing/2014/main" id="{5A7FFE5B-1D58-5ADC-2C1F-D1FA72F7E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835" y="3429000"/>
            <a:ext cx="13131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“knapsack”</a:t>
            </a:r>
          </a:p>
        </p:txBody>
      </p:sp>
      <p:pic>
        <p:nvPicPr>
          <p:cNvPr id="27676" name="Picture 48" descr="cover-small">
            <a:hlinkClick r:id="rId3"/>
            <a:extLst>
              <a:ext uri="{FF2B5EF4-FFF2-40B4-BE49-F238E27FC236}">
                <a16:creationId xmlns:a16="http://schemas.microsoft.com/office/drawing/2014/main" id="{19710955-0D0E-D300-9256-B915298A9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838" y="3657601"/>
            <a:ext cx="94456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77" name="Group 168">
            <a:extLst>
              <a:ext uri="{FF2B5EF4-FFF2-40B4-BE49-F238E27FC236}">
                <a16:creationId xmlns:a16="http://schemas.microsoft.com/office/drawing/2014/main" id="{DFAD7A19-C8EF-A907-16FD-2162CA7512A7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3657601"/>
            <a:ext cx="1090613" cy="1209675"/>
            <a:chOff x="1392" y="198"/>
            <a:chExt cx="687" cy="762"/>
          </a:xfrm>
        </p:grpSpPr>
        <p:sp>
          <p:nvSpPr>
            <p:cNvPr id="27685" name="Freeform 123">
              <a:extLst>
                <a:ext uri="{FF2B5EF4-FFF2-40B4-BE49-F238E27FC236}">
                  <a16:creationId xmlns:a16="http://schemas.microsoft.com/office/drawing/2014/main" id="{6FECAEEC-43CF-A8EE-FFC7-4DB448E96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198"/>
              <a:ext cx="61" cy="669"/>
            </a:xfrm>
            <a:custGeom>
              <a:avLst/>
              <a:gdLst>
                <a:gd name="T0" fmla="*/ 0 w 104"/>
                <a:gd name="T1" fmla="*/ 0 h 1452"/>
                <a:gd name="T2" fmla="*/ 1 w 104"/>
                <a:gd name="T3" fmla="*/ 0 h 1452"/>
                <a:gd name="T4" fmla="*/ 1 w 104"/>
                <a:gd name="T5" fmla="*/ 0 h 1452"/>
                <a:gd name="T6" fmla="*/ 1 w 104"/>
                <a:gd name="T7" fmla="*/ 0 h 1452"/>
                <a:gd name="T8" fmla="*/ 1 w 104"/>
                <a:gd name="T9" fmla="*/ 0 h 1452"/>
                <a:gd name="T10" fmla="*/ 1 w 104"/>
                <a:gd name="T11" fmla="*/ 0 h 1452"/>
                <a:gd name="T12" fmla="*/ 1 w 104"/>
                <a:gd name="T13" fmla="*/ 0 h 1452"/>
                <a:gd name="T14" fmla="*/ 1 w 104"/>
                <a:gd name="T15" fmla="*/ 0 h 1452"/>
                <a:gd name="T16" fmla="*/ 1 w 104"/>
                <a:gd name="T17" fmla="*/ 0 h 1452"/>
                <a:gd name="T18" fmla="*/ 1 w 104"/>
                <a:gd name="T19" fmla="*/ 0 h 1452"/>
                <a:gd name="T20" fmla="*/ 1 w 104"/>
                <a:gd name="T21" fmla="*/ 0 h 1452"/>
                <a:gd name="T22" fmla="*/ 1 w 104"/>
                <a:gd name="T23" fmla="*/ 0 h 1452"/>
                <a:gd name="T24" fmla="*/ 1 w 104"/>
                <a:gd name="T25" fmla="*/ 0 h 1452"/>
                <a:gd name="T26" fmla="*/ 1 w 104"/>
                <a:gd name="T27" fmla="*/ 0 h 1452"/>
                <a:gd name="T28" fmla="*/ 1 w 104"/>
                <a:gd name="T29" fmla="*/ 0 h 1452"/>
                <a:gd name="T30" fmla="*/ 1 w 104"/>
                <a:gd name="T31" fmla="*/ 0 h 1452"/>
                <a:gd name="T32" fmla="*/ 1 w 104"/>
                <a:gd name="T33" fmla="*/ 0 h 1452"/>
                <a:gd name="T34" fmla="*/ 1 w 104"/>
                <a:gd name="T35" fmla="*/ 0 h 1452"/>
                <a:gd name="T36" fmla="*/ 0 w 104"/>
                <a:gd name="T37" fmla="*/ 0 h 145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4"/>
                <a:gd name="T58" fmla="*/ 0 h 1452"/>
                <a:gd name="T59" fmla="*/ 104 w 104"/>
                <a:gd name="T60" fmla="*/ 1452 h 145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4" h="1452">
                  <a:moveTo>
                    <a:pt x="0" y="0"/>
                  </a:moveTo>
                  <a:lnTo>
                    <a:pt x="31" y="1339"/>
                  </a:lnTo>
                  <a:lnTo>
                    <a:pt x="31" y="1344"/>
                  </a:lnTo>
                  <a:lnTo>
                    <a:pt x="30" y="1355"/>
                  </a:lnTo>
                  <a:lnTo>
                    <a:pt x="31" y="1371"/>
                  </a:lnTo>
                  <a:lnTo>
                    <a:pt x="35" y="1391"/>
                  </a:lnTo>
                  <a:lnTo>
                    <a:pt x="42" y="1411"/>
                  </a:lnTo>
                  <a:lnTo>
                    <a:pt x="55" y="1427"/>
                  </a:lnTo>
                  <a:lnTo>
                    <a:pt x="75" y="1438"/>
                  </a:lnTo>
                  <a:lnTo>
                    <a:pt x="104" y="1443"/>
                  </a:lnTo>
                  <a:lnTo>
                    <a:pt x="99" y="1445"/>
                  </a:lnTo>
                  <a:lnTo>
                    <a:pt x="86" y="1450"/>
                  </a:lnTo>
                  <a:lnTo>
                    <a:pt x="70" y="1452"/>
                  </a:lnTo>
                  <a:lnTo>
                    <a:pt x="51" y="1447"/>
                  </a:lnTo>
                  <a:lnTo>
                    <a:pt x="31" y="1434"/>
                  </a:lnTo>
                  <a:lnTo>
                    <a:pt x="15" y="1406"/>
                  </a:lnTo>
                  <a:lnTo>
                    <a:pt x="5" y="1360"/>
                  </a:lnTo>
                  <a:lnTo>
                    <a:pt x="2" y="1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6" name="Freeform 138">
              <a:extLst>
                <a:ext uri="{FF2B5EF4-FFF2-40B4-BE49-F238E27FC236}">
                  <a16:creationId xmlns:a16="http://schemas.microsoft.com/office/drawing/2014/main" id="{BA2DEFBA-FBEB-E55D-44FD-27B0F021E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492"/>
              <a:ext cx="99" cy="403"/>
            </a:xfrm>
            <a:custGeom>
              <a:avLst/>
              <a:gdLst>
                <a:gd name="T0" fmla="*/ 0 w 168"/>
                <a:gd name="T1" fmla="*/ 0 h 874"/>
                <a:gd name="T2" fmla="*/ 1 w 168"/>
                <a:gd name="T3" fmla="*/ 0 h 874"/>
                <a:gd name="T4" fmla="*/ 1 w 168"/>
                <a:gd name="T5" fmla="*/ 0 h 874"/>
                <a:gd name="T6" fmla="*/ 1 w 168"/>
                <a:gd name="T7" fmla="*/ 0 h 874"/>
                <a:gd name="T8" fmla="*/ 1 w 168"/>
                <a:gd name="T9" fmla="*/ 0 h 874"/>
                <a:gd name="T10" fmla="*/ 1 w 168"/>
                <a:gd name="T11" fmla="*/ 0 h 874"/>
                <a:gd name="T12" fmla="*/ 1 w 168"/>
                <a:gd name="T13" fmla="*/ 0 h 874"/>
                <a:gd name="T14" fmla="*/ 1 w 168"/>
                <a:gd name="T15" fmla="*/ 0 h 874"/>
                <a:gd name="T16" fmla="*/ 1 w 168"/>
                <a:gd name="T17" fmla="*/ 0 h 874"/>
                <a:gd name="T18" fmla="*/ 1 w 168"/>
                <a:gd name="T19" fmla="*/ 0 h 874"/>
                <a:gd name="T20" fmla="*/ 1 w 168"/>
                <a:gd name="T21" fmla="*/ 0 h 874"/>
                <a:gd name="T22" fmla="*/ 1 w 168"/>
                <a:gd name="T23" fmla="*/ 0 h 874"/>
                <a:gd name="T24" fmla="*/ 1 w 168"/>
                <a:gd name="T25" fmla="*/ 0 h 874"/>
                <a:gd name="T26" fmla="*/ 1 w 168"/>
                <a:gd name="T27" fmla="*/ 0 h 874"/>
                <a:gd name="T28" fmla="*/ 1 w 168"/>
                <a:gd name="T29" fmla="*/ 0 h 874"/>
                <a:gd name="T30" fmla="*/ 1 w 168"/>
                <a:gd name="T31" fmla="*/ 0 h 874"/>
                <a:gd name="T32" fmla="*/ 0 w 168"/>
                <a:gd name="T33" fmla="*/ 0 h 87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68"/>
                <a:gd name="T52" fmla="*/ 0 h 874"/>
                <a:gd name="T53" fmla="*/ 168 w 168"/>
                <a:gd name="T54" fmla="*/ 874 h 87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68" h="874">
                  <a:moveTo>
                    <a:pt x="0" y="0"/>
                  </a:moveTo>
                  <a:lnTo>
                    <a:pt x="7" y="15"/>
                  </a:lnTo>
                  <a:lnTo>
                    <a:pt x="24" y="58"/>
                  </a:lnTo>
                  <a:lnTo>
                    <a:pt x="48" y="131"/>
                  </a:lnTo>
                  <a:lnTo>
                    <a:pt x="77" y="230"/>
                  </a:lnTo>
                  <a:lnTo>
                    <a:pt x="107" y="356"/>
                  </a:lnTo>
                  <a:lnTo>
                    <a:pt x="133" y="505"/>
                  </a:lnTo>
                  <a:lnTo>
                    <a:pt x="155" y="678"/>
                  </a:lnTo>
                  <a:lnTo>
                    <a:pt x="168" y="874"/>
                  </a:lnTo>
                  <a:lnTo>
                    <a:pt x="165" y="845"/>
                  </a:lnTo>
                  <a:lnTo>
                    <a:pt x="154" y="766"/>
                  </a:lnTo>
                  <a:lnTo>
                    <a:pt x="138" y="650"/>
                  </a:lnTo>
                  <a:lnTo>
                    <a:pt x="116" y="512"/>
                  </a:lnTo>
                  <a:lnTo>
                    <a:pt x="91" y="365"/>
                  </a:lnTo>
                  <a:lnTo>
                    <a:pt x="62" y="221"/>
                  </a:lnTo>
                  <a:lnTo>
                    <a:pt x="32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7" name="Freeform 139">
              <a:extLst>
                <a:ext uri="{FF2B5EF4-FFF2-40B4-BE49-F238E27FC236}">
                  <a16:creationId xmlns:a16="http://schemas.microsoft.com/office/drawing/2014/main" id="{4A3748DE-166E-4063-B4EF-7304BC10C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408"/>
              <a:ext cx="60" cy="45"/>
            </a:xfrm>
            <a:custGeom>
              <a:avLst/>
              <a:gdLst>
                <a:gd name="T0" fmla="*/ 1 w 102"/>
                <a:gd name="T1" fmla="*/ 0 h 98"/>
                <a:gd name="T2" fmla="*/ 1 w 102"/>
                <a:gd name="T3" fmla="*/ 0 h 98"/>
                <a:gd name="T4" fmla="*/ 1 w 102"/>
                <a:gd name="T5" fmla="*/ 0 h 98"/>
                <a:gd name="T6" fmla="*/ 1 w 102"/>
                <a:gd name="T7" fmla="*/ 0 h 98"/>
                <a:gd name="T8" fmla="*/ 1 w 102"/>
                <a:gd name="T9" fmla="*/ 0 h 98"/>
                <a:gd name="T10" fmla="*/ 1 w 102"/>
                <a:gd name="T11" fmla="*/ 0 h 98"/>
                <a:gd name="T12" fmla="*/ 1 w 102"/>
                <a:gd name="T13" fmla="*/ 0 h 98"/>
                <a:gd name="T14" fmla="*/ 1 w 102"/>
                <a:gd name="T15" fmla="*/ 0 h 98"/>
                <a:gd name="T16" fmla="*/ 0 w 102"/>
                <a:gd name="T17" fmla="*/ 0 h 98"/>
                <a:gd name="T18" fmla="*/ 1 w 102"/>
                <a:gd name="T19" fmla="*/ 0 h 98"/>
                <a:gd name="T20" fmla="*/ 1 w 102"/>
                <a:gd name="T21" fmla="*/ 0 h 98"/>
                <a:gd name="T22" fmla="*/ 1 w 102"/>
                <a:gd name="T23" fmla="*/ 0 h 98"/>
                <a:gd name="T24" fmla="*/ 1 w 102"/>
                <a:gd name="T25" fmla="*/ 0 h 98"/>
                <a:gd name="T26" fmla="*/ 1 w 102"/>
                <a:gd name="T27" fmla="*/ 0 h 98"/>
                <a:gd name="T28" fmla="*/ 1 w 102"/>
                <a:gd name="T29" fmla="*/ 0 h 98"/>
                <a:gd name="T30" fmla="*/ 1 w 102"/>
                <a:gd name="T31" fmla="*/ 0 h 98"/>
                <a:gd name="T32" fmla="*/ 1 w 102"/>
                <a:gd name="T33" fmla="*/ 0 h 9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98"/>
                <a:gd name="T53" fmla="*/ 102 w 102"/>
                <a:gd name="T54" fmla="*/ 98 h 9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98">
                  <a:moveTo>
                    <a:pt x="102" y="0"/>
                  </a:moveTo>
                  <a:lnTo>
                    <a:pt x="99" y="4"/>
                  </a:lnTo>
                  <a:lnTo>
                    <a:pt x="95" y="13"/>
                  </a:lnTo>
                  <a:lnTo>
                    <a:pt x="87" y="27"/>
                  </a:lnTo>
                  <a:lnTo>
                    <a:pt x="75" y="42"/>
                  </a:lnTo>
                  <a:lnTo>
                    <a:pt x="60" y="59"/>
                  </a:lnTo>
                  <a:lnTo>
                    <a:pt x="43" y="75"/>
                  </a:lnTo>
                  <a:lnTo>
                    <a:pt x="23" y="89"/>
                  </a:lnTo>
                  <a:lnTo>
                    <a:pt x="0" y="98"/>
                  </a:lnTo>
                  <a:lnTo>
                    <a:pt x="5" y="95"/>
                  </a:lnTo>
                  <a:lnTo>
                    <a:pt x="15" y="86"/>
                  </a:lnTo>
                  <a:lnTo>
                    <a:pt x="31" y="72"/>
                  </a:lnTo>
                  <a:lnTo>
                    <a:pt x="49" y="55"/>
                  </a:lnTo>
                  <a:lnTo>
                    <a:pt x="67" y="39"/>
                  </a:lnTo>
                  <a:lnTo>
                    <a:pt x="83" y="22"/>
                  </a:lnTo>
                  <a:lnTo>
                    <a:pt x="96" y="9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8" name="Freeform 140">
              <a:extLst>
                <a:ext uri="{FF2B5EF4-FFF2-40B4-BE49-F238E27FC236}">
                  <a16:creationId xmlns:a16="http://schemas.microsoft.com/office/drawing/2014/main" id="{F9FFCB3B-9051-845B-1BE2-3DA816AEC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285"/>
              <a:ext cx="669" cy="666"/>
            </a:xfrm>
            <a:custGeom>
              <a:avLst/>
              <a:gdLst>
                <a:gd name="T0" fmla="*/ 4 w 1140"/>
                <a:gd name="T1" fmla="*/ 0 h 1447"/>
                <a:gd name="T2" fmla="*/ 4 w 1140"/>
                <a:gd name="T3" fmla="*/ 0 h 1447"/>
                <a:gd name="T4" fmla="*/ 4 w 1140"/>
                <a:gd name="T5" fmla="*/ 0 h 1447"/>
                <a:gd name="T6" fmla="*/ 4 w 1140"/>
                <a:gd name="T7" fmla="*/ 0 h 1447"/>
                <a:gd name="T8" fmla="*/ 4 w 1140"/>
                <a:gd name="T9" fmla="*/ 0 h 1447"/>
                <a:gd name="T10" fmla="*/ 4 w 1140"/>
                <a:gd name="T11" fmla="*/ 0 h 1447"/>
                <a:gd name="T12" fmla="*/ 4 w 1140"/>
                <a:gd name="T13" fmla="*/ 0 h 1447"/>
                <a:gd name="T14" fmla="*/ 4 w 1140"/>
                <a:gd name="T15" fmla="*/ 0 h 1447"/>
                <a:gd name="T16" fmla="*/ 5 w 1140"/>
                <a:gd name="T17" fmla="*/ 0 h 1447"/>
                <a:gd name="T18" fmla="*/ 5 w 1140"/>
                <a:gd name="T19" fmla="*/ 0 h 1447"/>
                <a:gd name="T20" fmla="*/ 5 w 1140"/>
                <a:gd name="T21" fmla="*/ 0 h 1447"/>
                <a:gd name="T22" fmla="*/ 5 w 1140"/>
                <a:gd name="T23" fmla="*/ 0 h 1447"/>
                <a:gd name="T24" fmla="*/ 5 w 1140"/>
                <a:gd name="T25" fmla="*/ 0 h 1447"/>
                <a:gd name="T26" fmla="*/ 5 w 1140"/>
                <a:gd name="T27" fmla="*/ 0 h 1447"/>
                <a:gd name="T28" fmla="*/ 5 w 1140"/>
                <a:gd name="T29" fmla="*/ 0 h 1447"/>
                <a:gd name="T30" fmla="*/ 5 w 1140"/>
                <a:gd name="T31" fmla="*/ 0 h 1447"/>
                <a:gd name="T32" fmla="*/ 5 w 1140"/>
                <a:gd name="T33" fmla="*/ 0 h 1447"/>
                <a:gd name="T34" fmla="*/ 5 w 1140"/>
                <a:gd name="T35" fmla="*/ 0 h 1447"/>
                <a:gd name="T36" fmla="*/ 5 w 1140"/>
                <a:gd name="T37" fmla="*/ 0 h 1447"/>
                <a:gd name="T38" fmla="*/ 5 w 1140"/>
                <a:gd name="T39" fmla="*/ 0 h 1447"/>
                <a:gd name="T40" fmla="*/ 5 w 1140"/>
                <a:gd name="T41" fmla="*/ 0 h 1447"/>
                <a:gd name="T42" fmla="*/ 5 w 1140"/>
                <a:gd name="T43" fmla="*/ 0 h 1447"/>
                <a:gd name="T44" fmla="*/ 5 w 1140"/>
                <a:gd name="T45" fmla="*/ 0 h 1447"/>
                <a:gd name="T46" fmla="*/ 5 w 1140"/>
                <a:gd name="T47" fmla="*/ 0 h 1447"/>
                <a:gd name="T48" fmla="*/ 5 w 1140"/>
                <a:gd name="T49" fmla="*/ 0 h 1447"/>
                <a:gd name="T50" fmla="*/ 4 w 1140"/>
                <a:gd name="T51" fmla="*/ 0 h 1447"/>
                <a:gd name="T52" fmla="*/ 4 w 1140"/>
                <a:gd name="T53" fmla="*/ 0 h 1447"/>
                <a:gd name="T54" fmla="*/ 4 w 1140"/>
                <a:gd name="T55" fmla="*/ 0 h 1447"/>
                <a:gd name="T56" fmla="*/ 4 w 1140"/>
                <a:gd name="T57" fmla="*/ 0 h 1447"/>
                <a:gd name="T58" fmla="*/ 4 w 1140"/>
                <a:gd name="T59" fmla="*/ 0 h 1447"/>
                <a:gd name="T60" fmla="*/ 4 w 1140"/>
                <a:gd name="T61" fmla="*/ 0 h 1447"/>
                <a:gd name="T62" fmla="*/ 4 w 1140"/>
                <a:gd name="T63" fmla="*/ 0 h 1447"/>
                <a:gd name="T64" fmla="*/ 4 w 1140"/>
                <a:gd name="T65" fmla="*/ 0 h 1447"/>
                <a:gd name="T66" fmla="*/ 4 w 1140"/>
                <a:gd name="T67" fmla="*/ 0 h 1447"/>
                <a:gd name="T68" fmla="*/ 0 w 1140"/>
                <a:gd name="T69" fmla="*/ 0 h 1447"/>
                <a:gd name="T70" fmla="*/ 1 w 1140"/>
                <a:gd name="T71" fmla="*/ 0 h 1447"/>
                <a:gd name="T72" fmla="*/ 4 w 1140"/>
                <a:gd name="T73" fmla="*/ 0 h 144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140"/>
                <a:gd name="T112" fmla="*/ 0 h 1447"/>
                <a:gd name="T113" fmla="*/ 1140 w 1140"/>
                <a:gd name="T114" fmla="*/ 1447 h 144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140" h="1447">
                  <a:moveTo>
                    <a:pt x="822" y="14"/>
                  </a:moveTo>
                  <a:lnTo>
                    <a:pt x="823" y="13"/>
                  </a:lnTo>
                  <a:lnTo>
                    <a:pt x="828" y="12"/>
                  </a:lnTo>
                  <a:lnTo>
                    <a:pt x="836" y="9"/>
                  </a:lnTo>
                  <a:lnTo>
                    <a:pt x="845" y="6"/>
                  </a:lnTo>
                  <a:lnTo>
                    <a:pt x="858" y="4"/>
                  </a:lnTo>
                  <a:lnTo>
                    <a:pt x="872" y="1"/>
                  </a:lnTo>
                  <a:lnTo>
                    <a:pt x="891" y="0"/>
                  </a:lnTo>
                  <a:lnTo>
                    <a:pt x="910" y="0"/>
                  </a:lnTo>
                  <a:lnTo>
                    <a:pt x="932" y="3"/>
                  </a:lnTo>
                  <a:lnTo>
                    <a:pt x="957" y="7"/>
                  </a:lnTo>
                  <a:lnTo>
                    <a:pt x="983" y="14"/>
                  </a:lnTo>
                  <a:lnTo>
                    <a:pt x="1011" y="24"/>
                  </a:lnTo>
                  <a:lnTo>
                    <a:pt x="1041" y="38"/>
                  </a:lnTo>
                  <a:lnTo>
                    <a:pt x="1072" y="57"/>
                  </a:lnTo>
                  <a:lnTo>
                    <a:pt x="1105" y="79"/>
                  </a:lnTo>
                  <a:lnTo>
                    <a:pt x="1140" y="105"/>
                  </a:lnTo>
                  <a:lnTo>
                    <a:pt x="991" y="1438"/>
                  </a:lnTo>
                  <a:lnTo>
                    <a:pt x="989" y="1438"/>
                  </a:lnTo>
                  <a:lnTo>
                    <a:pt x="983" y="1439"/>
                  </a:lnTo>
                  <a:lnTo>
                    <a:pt x="973" y="1440"/>
                  </a:lnTo>
                  <a:lnTo>
                    <a:pt x="960" y="1442"/>
                  </a:lnTo>
                  <a:lnTo>
                    <a:pt x="944" y="1444"/>
                  </a:lnTo>
                  <a:lnTo>
                    <a:pt x="925" y="1445"/>
                  </a:lnTo>
                  <a:lnTo>
                    <a:pt x="906" y="1446"/>
                  </a:lnTo>
                  <a:lnTo>
                    <a:pt x="884" y="1447"/>
                  </a:lnTo>
                  <a:lnTo>
                    <a:pt x="861" y="1447"/>
                  </a:lnTo>
                  <a:lnTo>
                    <a:pt x="837" y="1446"/>
                  </a:lnTo>
                  <a:lnTo>
                    <a:pt x="811" y="1444"/>
                  </a:lnTo>
                  <a:lnTo>
                    <a:pt x="787" y="1440"/>
                  </a:lnTo>
                  <a:lnTo>
                    <a:pt x="763" y="1435"/>
                  </a:lnTo>
                  <a:lnTo>
                    <a:pt x="740" y="1430"/>
                  </a:lnTo>
                  <a:lnTo>
                    <a:pt x="718" y="1422"/>
                  </a:lnTo>
                  <a:lnTo>
                    <a:pt x="697" y="1411"/>
                  </a:lnTo>
                  <a:lnTo>
                    <a:pt x="0" y="1373"/>
                  </a:lnTo>
                  <a:lnTo>
                    <a:pt x="111" y="170"/>
                  </a:lnTo>
                  <a:lnTo>
                    <a:pt x="822" y="14"/>
                  </a:lnTo>
                  <a:close/>
                </a:path>
              </a:pathLst>
            </a:custGeom>
            <a:solidFill>
              <a:srgbClr val="BAE5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9" name="Freeform 141">
              <a:extLst>
                <a:ext uri="{FF2B5EF4-FFF2-40B4-BE49-F238E27FC236}">
                  <a16:creationId xmlns:a16="http://schemas.microsoft.com/office/drawing/2014/main" id="{CA04D9CA-1260-8E3F-A7EB-5BE64709F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94"/>
              <a:ext cx="546" cy="641"/>
            </a:xfrm>
            <a:custGeom>
              <a:avLst/>
              <a:gdLst>
                <a:gd name="T0" fmla="*/ 5 w 930"/>
                <a:gd name="T1" fmla="*/ 0 h 1392"/>
                <a:gd name="T2" fmla="*/ 4 w 930"/>
                <a:gd name="T3" fmla="*/ 0 h 1392"/>
                <a:gd name="T4" fmla="*/ 0 w 930"/>
                <a:gd name="T5" fmla="*/ 0 h 1392"/>
                <a:gd name="T6" fmla="*/ 1 w 930"/>
                <a:gd name="T7" fmla="*/ 0 h 1392"/>
                <a:gd name="T8" fmla="*/ 1 w 930"/>
                <a:gd name="T9" fmla="*/ 0 h 1392"/>
                <a:gd name="T10" fmla="*/ 1 w 930"/>
                <a:gd name="T11" fmla="*/ 0 h 1392"/>
                <a:gd name="T12" fmla="*/ 1 w 930"/>
                <a:gd name="T13" fmla="*/ 0 h 1392"/>
                <a:gd name="T14" fmla="*/ 1 w 930"/>
                <a:gd name="T15" fmla="*/ 0 h 1392"/>
                <a:gd name="T16" fmla="*/ 1 w 930"/>
                <a:gd name="T17" fmla="*/ 0 h 1392"/>
                <a:gd name="T18" fmla="*/ 1 w 930"/>
                <a:gd name="T19" fmla="*/ 0 h 1392"/>
                <a:gd name="T20" fmla="*/ 1 w 930"/>
                <a:gd name="T21" fmla="*/ 0 h 1392"/>
                <a:gd name="T22" fmla="*/ 1 w 930"/>
                <a:gd name="T23" fmla="*/ 0 h 1392"/>
                <a:gd name="T24" fmla="*/ 1 w 930"/>
                <a:gd name="T25" fmla="*/ 0 h 1392"/>
                <a:gd name="T26" fmla="*/ 2 w 930"/>
                <a:gd name="T27" fmla="*/ 0 h 1392"/>
                <a:gd name="T28" fmla="*/ 2 w 930"/>
                <a:gd name="T29" fmla="*/ 0 h 1392"/>
                <a:gd name="T30" fmla="*/ 2 w 930"/>
                <a:gd name="T31" fmla="*/ 0 h 1392"/>
                <a:gd name="T32" fmla="*/ 2 w 930"/>
                <a:gd name="T33" fmla="*/ 0 h 1392"/>
                <a:gd name="T34" fmla="*/ 2 w 930"/>
                <a:gd name="T35" fmla="*/ 0 h 1392"/>
                <a:gd name="T36" fmla="*/ 2 w 930"/>
                <a:gd name="T37" fmla="*/ 0 h 1392"/>
                <a:gd name="T38" fmla="*/ 2 w 930"/>
                <a:gd name="T39" fmla="*/ 0 h 1392"/>
                <a:gd name="T40" fmla="*/ 3 w 930"/>
                <a:gd name="T41" fmla="*/ 0 h 1392"/>
                <a:gd name="T42" fmla="*/ 3 w 930"/>
                <a:gd name="T43" fmla="*/ 0 h 1392"/>
                <a:gd name="T44" fmla="*/ 3 w 930"/>
                <a:gd name="T45" fmla="*/ 0 h 1392"/>
                <a:gd name="T46" fmla="*/ 3 w 930"/>
                <a:gd name="T47" fmla="*/ 0 h 1392"/>
                <a:gd name="T48" fmla="*/ 4 w 930"/>
                <a:gd name="T49" fmla="*/ 0 h 1392"/>
                <a:gd name="T50" fmla="*/ 4 w 930"/>
                <a:gd name="T51" fmla="*/ 0 h 1392"/>
                <a:gd name="T52" fmla="*/ 4 w 930"/>
                <a:gd name="T53" fmla="*/ 0 h 1392"/>
                <a:gd name="T54" fmla="*/ 4 w 930"/>
                <a:gd name="T55" fmla="*/ 0 h 1392"/>
                <a:gd name="T56" fmla="*/ 4 w 930"/>
                <a:gd name="T57" fmla="*/ 0 h 1392"/>
                <a:gd name="T58" fmla="*/ 4 w 930"/>
                <a:gd name="T59" fmla="*/ 0 h 1392"/>
                <a:gd name="T60" fmla="*/ 4 w 930"/>
                <a:gd name="T61" fmla="*/ 0 h 1392"/>
                <a:gd name="T62" fmla="*/ 4 w 930"/>
                <a:gd name="T63" fmla="*/ 0 h 1392"/>
                <a:gd name="T64" fmla="*/ 5 w 930"/>
                <a:gd name="T65" fmla="*/ 0 h 1392"/>
                <a:gd name="T66" fmla="*/ 5 w 930"/>
                <a:gd name="T67" fmla="*/ 0 h 1392"/>
                <a:gd name="T68" fmla="*/ 5 w 930"/>
                <a:gd name="T69" fmla="*/ 0 h 1392"/>
                <a:gd name="T70" fmla="*/ 5 w 930"/>
                <a:gd name="T71" fmla="*/ 0 h 13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930"/>
                <a:gd name="T109" fmla="*/ 0 h 1392"/>
                <a:gd name="T110" fmla="*/ 930 w 930"/>
                <a:gd name="T111" fmla="*/ 1392 h 139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930" h="1392">
                  <a:moveTo>
                    <a:pt x="930" y="6"/>
                  </a:moveTo>
                  <a:lnTo>
                    <a:pt x="783" y="1392"/>
                  </a:lnTo>
                  <a:lnTo>
                    <a:pt x="0" y="1366"/>
                  </a:lnTo>
                  <a:lnTo>
                    <a:pt x="134" y="150"/>
                  </a:lnTo>
                  <a:lnTo>
                    <a:pt x="136" y="150"/>
                  </a:lnTo>
                  <a:lnTo>
                    <a:pt x="142" y="147"/>
                  </a:lnTo>
                  <a:lnTo>
                    <a:pt x="152" y="145"/>
                  </a:lnTo>
                  <a:lnTo>
                    <a:pt x="166" y="142"/>
                  </a:lnTo>
                  <a:lnTo>
                    <a:pt x="184" y="138"/>
                  </a:lnTo>
                  <a:lnTo>
                    <a:pt x="204" y="133"/>
                  </a:lnTo>
                  <a:lnTo>
                    <a:pt x="227" y="128"/>
                  </a:lnTo>
                  <a:lnTo>
                    <a:pt x="253" y="122"/>
                  </a:lnTo>
                  <a:lnTo>
                    <a:pt x="280" y="115"/>
                  </a:lnTo>
                  <a:lnTo>
                    <a:pt x="310" y="108"/>
                  </a:lnTo>
                  <a:lnTo>
                    <a:pt x="343" y="101"/>
                  </a:lnTo>
                  <a:lnTo>
                    <a:pt x="376" y="93"/>
                  </a:lnTo>
                  <a:lnTo>
                    <a:pt x="409" y="86"/>
                  </a:lnTo>
                  <a:lnTo>
                    <a:pt x="445" y="78"/>
                  </a:lnTo>
                  <a:lnTo>
                    <a:pt x="481" y="70"/>
                  </a:lnTo>
                  <a:lnTo>
                    <a:pt x="518" y="63"/>
                  </a:lnTo>
                  <a:lnTo>
                    <a:pt x="553" y="55"/>
                  </a:lnTo>
                  <a:lnTo>
                    <a:pt x="590" y="48"/>
                  </a:lnTo>
                  <a:lnTo>
                    <a:pt x="626" y="41"/>
                  </a:lnTo>
                  <a:lnTo>
                    <a:pt x="660" y="34"/>
                  </a:lnTo>
                  <a:lnTo>
                    <a:pt x="695" y="28"/>
                  </a:lnTo>
                  <a:lnTo>
                    <a:pt x="728" y="22"/>
                  </a:lnTo>
                  <a:lnTo>
                    <a:pt x="760" y="16"/>
                  </a:lnTo>
                  <a:lnTo>
                    <a:pt x="789" y="11"/>
                  </a:lnTo>
                  <a:lnTo>
                    <a:pt x="817" y="8"/>
                  </a:lnTo>
                  <a:lnTo>
                    <a:pt x="842" y="4"/>
                  </a:lnTo>
                  <a:lnTo>
                    <a:pt x="864" y="2"/>
                  </a:lnTo>
                  <a:lnTo>
                    <a:pt x="885" y="1"/>
                  </a:lnTo>
                  <a:lnTo>
                    <a:pt x="901" y="0"/>
                  </a:lnTo>
                  <a:lnTo>
                    <a:pt x="915" y="1"/>
                  </a:lnTo>
                  <a:lnTo>
                    <a:pt x="924" y="2"/>
                  </a:lnTo>
                  <a:lnTo>
                    <a:pt x="930" y="6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0" name="Freeform 142">
              <a:extLst>
                <a:ext uri="{FF2B5EF4-FFF2-40B4-BE49-F238E27FC236}">
                  <a16:creationId xmlns:a16="http://schemas.microsoft.com/office/drawing/2014/main" id="{9B2DC0AF-A5BC-A0D5-508F-802A7A90C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317"/>
              <a:ext cx="132" cy="598"/>
            </a:xfrm>
            <a:custGeom>
              <a:avLst/>
              <a:gdLst>
                <a:gd name="T0" fmla="*/ 0 w 223"/>
                <a:gd name="T1" fmla="*/ 0 h 1298"/>
                <a:gd name="T2" fmla="*/ 1 w 223"/>
                <a:gd name="T3" fmla="*/ 0 h 1298"/>
                <a:gd name="T4" fmla="*/ 1 w 223"/>
                <a:gd name="T5" fmla="*/ 0 h 1298"/>
                <a:gd name="T6" fmla="*/ 1 w 223"/>
                <a:gd name="T7" fmla="*/ 0 h 1298"/>
                <a:gd name="T8" fmla="*/ 1 w 223"/>
                <a:gd name="T9" fmla="*/ 0 h 1298"/>
                <a:gd name="T10" fmla="*/ 1 w 223"/>
                <a:gd name="T11" fmla="*/ 0 h 1298"/>
                <a:gd name="T12" fmla="*/ 1 w 223"/>
                <a:gd name="T13" fmla="*/ 0 h 1298"/>
                <a:gd name="T14" fmla="*/ 1 w 223"/>
                <a:gd name="T15" fmla="*/ 0 h 1298"/>
                <a:gd name="T16" fmla="*/ 1 w 223"/>
                <a:gd name="T17" fmla="*/ 0 h 1298"/>
                <a:gd name="T18" fmla="*/ 1 w 223"/>
                <a:gd name="T19" fmla="*/ 0 h 1298"/>
                <a:gd name="T20" fmla="*/ 0 w 223"/>
                <a:gd name="T21" fmla="*/ 0 h 12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3"/>
                <a:gd name="T34" fmla="*/ 0 h 1298"/>
                <a:gd name="T35" fmla="*/ 223 w 223"/>
                <a:gd name="T36" fmla="*/ 1298 h 12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3" h="1298">
                  <a:moveTo>
                    <a:pt x="0" y="33"/>
                  </a:moveTo>
                  <a:lnTo>
                    <a:pt x="5" y="69"/>
                  </a:lnTo>
                  <a:lnTo>
                    <a:pt x="20" y="171"/>
                  </a:lnTo>
                  <a:lnTo>
                    <a:pt x="39" y="322"/>
                  </a:lnTo>
                  <a:lnTo>
                    <a:pt x="58" y="507"/>
                  </a:lnTo>
                  <a:lnTo>
                    <a:pt x="72" y="712"/>
                  </a:lnTo>
                  <a:lnTo>
                    <a:pt x="78" y="923"/>
                  </a:lnTo>
                  <a:lnTo>
                    <a:pt x="70" y="1123"/>
                  </a:lnTo>
                  <a:lnTo>
                    <a:pt x="44" y="1298"/>
                  </a:lnTo>
                  <a:lnTo>
                    <a:pt x="223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87D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1" name="Freeform 143">
              <a:extLst>
                <a:ext uri="{FF2B5EF4-FFF2-40B4-BE49-F238E27FC236}">
                  <a16:creationId xmlns:a16="http://schemas.microsoft.com/office/drawing/2014/main" id="{0C102726-95EA-BB34-93D4-D3A08A634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317"/>
              <a:ext cx="116" cy="630"/>
            </a:xfrm>
            <a:custGeom>
              <a:avLst/>
              <a:gdLst>
                <a:gd name="T0" fmla="*/ 1 w 198"/>
                <a:gd name="T1" fmla="*/ 0 h 1368"/>
                <a:gd name="T2" fmla="*/ 0 w 198"/>
                <a:gd name="T3" fmla="*/ 0 h 1368"/>
                <a:gd name="T4" fmla="*/ 1 w 198"/>
                <a:gd name="T5" fmla="*/ 0 h 1368"/>
                <a:gd name="T6" fmla="*/ 1 w 198"/>
                <a:gd name="T7" fmla="*/ 0 h 1368"/>
                <a:gd name="T8" fmla="*/ 1 w 198"/>
                <a:gd name="T9" fmla="*/ 0 h 1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1368"/>
                <a:gd name="T17" fmla="*/ 198 w 198"/>
                <a:gd name="T18" fmla="*/ 1368 h 1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1368">
                  <a:moveTo>
                    <a:pt x="133" y="0"/>
                  </a:moveTo>
                  <a:lnTo>
                    <a:pt x="0" y="1368"/>
                  </a:lnTo>
                  <a:lnTo>
                    <a:pt x="40" y="1367"/>
                  </a:lnTo>
                  <a:lnTo>
                    <a:pt x="198" y="7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2" name="Freeform 144">
              <a:extLst>
                <a:ext uri="{FF2B5EF4-FFF2-40B4-BE49-F238E27FC236}">
                  <a16:creationId xmlns:a16="http://schemas.microsoft.com/office/drawing/2014/main" id="{57F6B303-D94E-0CDA-31CB-ACC355954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397"/>
              <a:ext cx="191" cy="38"/>
            </a:xfrm>
            <a:custGeom>
              <a:avLst/>
              <a:gdLst>
                <a:gd name="T0" fmla="*/ 2 w 324"/>
                <a:gd name="T1" fmla="*/ 0 h 83"/>
                <a:gd name="T2" fmla="*/ 2 w 324"/>
                <a:gd name="T3" fmla="*/ 0 h 83"/>
                <a:gd name="T4" fmla="*/ 2 w 324"/>
                <a:gd name="T5" fmla="*/ 0 h 83"/>
                <a:gd name="T6" fmla="*/ 2 w 324"/>
                <a:gd name="T7" fmla="*/ 0 h 83"/>
                <a:gd name="T8" fmla="*/ 2 w 324"/>
                <a:gd name="T9" fmla="*/ 0 h 83"/>
                <a:gd name="T10" fmla="*/ 1 w 324"/>
                <a:gd name="T11" fmla="*/ 0 h 83"/>
                <a:gd name="T12" fmla="*/ 1 w 324"/>
                <a:gd name="T13" fmla="*/ 0 h 83"/>
                <a:gd name="T14" fmla="*/ 1 w 324"/>
                <a:gd name="T15" fmla="*/ 0 h 83"/>
                <a:gd name="T16" fmla="*/ 1 w 324"/>
                <a:gd name="T17" fmla="*/ 0 h 83"/>
                <a:gd name="T18" fmla="*/ 1 w 324"/>
                <a:gd name="T19" fmla="*/ 0 h 83"/>
                <a:gd name="T20" fmla="*/ 1 w 324"/>
                <a:gd name="T21" fmla="*/ 0 h 83"/>
                <a:gd name="T22" fmla="*/ 1 w 324"/>
                <a:gd name="T23" fmla="*/ 0 h 83"/>
                <a:gd name="T24" fmla="*/ 1 w 324"/>
                <a:gd name="T25" fmla="*/ 0 h 83"/>
                <a:gd name="T26" fmla="*/ 1 w 324"/>
                <a:gd name="T27" fmla="*/ 0 h 83"/>
                <a:gd name="T28" fmla="*/ 1 w 324"/>
                <a:gd name="T29" fmla="*/ 0 h 83"/>
                <a:gd name="T30" fmla="*/ 1 w 324"/>
                <a:gd name="T31" fmla="*/ 0 h 83"/>
                <a:gd name="T32" fmla="*/ 0 w 324"/>
                <a:gd name="T33" fmla="*/ 0 h 83"/>
                <a:gd name="T34" fmla="*/ 1 w 324"/>
                <a:gd name="T35" fmla="*/ 0 h 83"/>
                <a:gd name="T36" fmla="*/ 1 w 324"/>
                <a:gd name="T37" fmla="*/ 0 h 83"/>
                <a:gd name="T38" fmla="*/ 1 w 324"/>
                <a:gd name="T39" fmla="*/ 0 h 83"/>
                <a:gd name="T40" fmla="*/ 1 w 324"/>
                <a:gd name="T41" fmla="*/ 0 h 83"/>
                <a:gd name="T42" fmla="*/ 1 w 324"/>
                <a:gd name="T43" fmla="*/ 0 h 83"/>
                <a:gd name="T44" fmla="*/ 1 w 324"/>
                <a:gd name="T45" fmla="*/ 0 h 83"/>
                <a:gd name="T46" fmla="*/ 1 w 324"/>
                <a:gd name="T47" fmla="*/ 0 h 83"/>
                <a:gd name="T48" fmla="*/ 1 w 324"/>
                <a:gd name="T49" fmla="*/ 0 h 83"/>
                <a:gd name="T50" fmla="*/ 1 w 324"/>
                <a:gd name="T51" fmla="*/ 0 h 83"/>
                <a:gd name="T52" fmla="*/ 1 w 324"/>
                <a:gd name="T53" fmla="*/ 0 h 83"/>
                <a:gd name="T54" fmla="*/ 1 w 324"/>
                <a:gd name="T55" fmla="*/ 0 h 83"/>
                <a:gd name="T56" fmla="*/ 1 w 324"/>
                <a:gd name="T57" fmla="*/ 0 h 83"/>
                <a:gd name="T58" fmla="*/ 1 w 324"/>
                <a:gd name="T59" fmla="*/ 0 h 83"/>
                <a:gd name="T60" fmla="*/ 1 w 324"/>
                <a:gd name="T61" fmla="*/ 0 h 83"/>
                <a:gd name="T62" fmla="*/ 2 w 324"/>
                <a:gd name="T63" fmla="*/ 0 h 83"/>
                <a:gd name="T64" fmla="*/ 2 w 324"/>
                <a:gd name="T65" fmla="*/ 0 h 8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24"/>
                <a:gd name="T100" fmla="*/ 0 h 83"/>
                <a:gd name="T101" fmla="*/ 324 w 324"/>
                <a:gd name="T102" fmla="*/ 83 h 8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24" h="83">
                  <a:moveTo>
                    <a:pt x="324" y="83"/>
                  </a:moveTo>
                  <a:lnTo>
                    <a:pt x="323" y="82"/>
                  </a:lnTo>
                  <a:lnTo>
                    <a:pt x="319" y="77"/>
                  </a:lnTo>
                  <a:lnTo>
                    <a:pt x="312" y="72"/>
                  </a:lnTo>
                  <a:lnTo>
                    <a:pt x="302" y="65"/>
                  </a:lnTo>
                  <a:lnTo>
                    <a:pt x="291" y="57"/>
                  </a:lnTo>
                  <a:lnTo>
                    <a:pt x="276" y="48"/>
                  </a:lnTo>
                  <a:lnTo>
                    <a:pt x="260" y="37"/>
                  </a:lnTo>
                  <a:lnTo>
                    <a:pt x="240" y="28"/>
                  </a:lnTo>
                  <a:lnTo>
                    <a:pt x="218" y="20"/>
                  </a:lnTo>
                  <a:lnTo>
                    <a:pt x="194" y="12"/>
                  </a:lnTo>
                  <a:lnTo>
                    <a:pt x="168" y="6"/>
                  </a:lnTo>
                  <a:lnTo>
                    <a:pt x="138" y="1"/>
                  </a:lnTo>
                  <a:lnTo>
                    <a:pt x="107" y="0"/>
                  </a:lnTo>
                  <a:lnTo>
                    <a:pt x="73" y="0"/>
                  </a:lnTo>
                  <a:lnTo>
                    <a:pt x="38" y="5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14"/>
                  </a:lnTo>
                  <a:lnTo>
                    <a:pt x="25" y="15"/>
                  </a:lnTo>
                  <a:lnTo>
                    <a:pt x="43" y="18"/>
                  </a:lnTo>
                  <a:lnTo>
                    <a:pt x="64" y="20"/>
                  </a:lnTo>
                  <a:lnTo>
                    <a:pt x="88" y="23"/>
                  </a:lnTo>
                  <a:lnTo>
                    <a:pt x="115" y="27"/>
                  </a:lnTo>
                  <a:lnTo>
                    <a:pt x="142" y="31"/>
                  </a:lnTo>
                  <a:lnTo>
                    <a:pt x="171" y="36"/>
                  </a:lnTo>
                  <a:lnTo>
                    <a:pt x="199" y="42"/>
                  </a:lnTo>
                  <a:lnTo>
                    <a:pt x="226" y="48"/>
                  </a:lnTo>
                  <a:lnTo>
                    <a:pt x="252" y="53"/>
                  </a:lnTo>
                  <a:lnTo>
                    <a:pt x="275" y="60"/>
                  </a:lnTo>
                  <a:lnTo>
                    <a:pt x="296" y="67"/>
                  </a:lnTo>
                  <a:lnTo>
                    <a:pt x="312" y="75"/>
                  </a:lnTo>
                  <a:lnTo>
                    <a:pt x="324" y="83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3" name="Freeform 145">
              <a:extLst>
                <a:ext uri="{FF2B5EF4-FFF2-40B4-BE49-F238E27FC236}">
                  <a16:creationId xmlns:a16="http://schemas.microsoft.com/office/drawing/2014/main" id="{3CF91C73-BF32-603E-7E72-7C11A8153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429"/>
              <a:ext cx="191" cy="41"/>
            </a:xfrm>
            <a:custGeom>
              <a:avLst/>
              <a:gdLst>
                <a:gd name="T0" fmla="*/ 2 w 324"/>
                <a:gd name="T1" fmla="*/ 0 h 87"/>
                <a:gd name="T2" fmla="*/ 2 w 324"/>
                <a:gd name="T3" fmla="*/ 0 h 87"/>
                <a:gd name="T4" fmla="*/ 2 w 324"/>
                <a:gd name="T5" fmla="*/ 0 h 87"/>
                <a:gd name="T6" fmla="*/ 2 w 324"/>
                <a:gd name="T7" fmla="*/ 0 h 87"/>
                <a:gd name="T8" fmla="*/ 1 w 324"/>
                <a:gd name="T9" fmla="*/ 0 h 87"/>
                <a:gd name="T10" fmla="*/ 1 w 324"/>
                <a:gd name="T11" fmla="*/ 0 h 87"/>
                <a:gd name="T12" fmla="*/ 1 w 324"/>
                <a:gd name="T13" fmla="*/ 0 h 87"/>
                <a:gd name="T14" fmla="*/ 1 w 324"/>
                <a:gd name="T15" fmla="*/ 0 h 87"/>
                <a:gd name="T16" fmla="*/ 1 w 324"/>
                <a:gd name="T17" fmla="*/ 0 h 87"/>
                <a:gd name="T18" fmla="*/ 1 w 324"/>
                <a:gd name="T19" fmla="*/ 0 h 87"/>
                <a:gd name="T20" fmla="*/ 1 w 324"/>
                <a:gd name="T21" fmla="*/ 0 h 87"/>
                <a:gd name="T22" fmla="*/ 1 w 324"/>
                <a:gd name="T23" fmla="*/ 0 h 87"/>
                <a:gd name="T24" fmla="*/ 1 w 324"/>
                <a:gd name="T25" fmla="*/ 0 h 87"/>
                <a:gd name="T26" fmla="*/ 1 w 324"/>
                <a:gd name="T27" fmla="*/ 0 h 87"/>
                <a:gd name="T28" fmla="*/ 1 w 324"/>
                <a:gd name="T29" fmla="*/ 0 h 87"/>
                <a:gd name="T30" fmla="*/ 1 w 324"/>
                <a:gd name="T31" fmla="*/ 0 h 87"/>
                <a:gd name="T32" fmla="*/ 0 w 324"/>
                <a:gd name="T33" fmla="*/ 0 h 87"/>
                <a:gd name="T34" fmla="*/ 1 w 324"/>
                <a:gd name="T35" fmla="*/ 0 h 87"/>
                <a:gd name="T36" fmla="*/ 1 w 324"/>
                <a:gd name="T37" fmla="*/ 0 h 87"/>
                <a:gd name="T38" fmla="*/ 1 w 324"/>
                <a:gd name="T39" fmla="*/ 0 h 87"/>
                <a:gd name="T40" fmla="*/ 1 w 324"/>
                <a:gd name="T41" fmla="*/ 0 h 87"/>
                <a:gd name="T42" fmla="*/ 1 w 324"/>
                <a:gd name="T43" fmla="*/ 0 h 87"/>
                <a:gd name="T44" fmla="*/ 1 w 324"/>
                <a:gd name="T45" fmla="*/ 0 h 87"/>
                <a:gd name="T46" fmla="*/ 1 w 324"/>
                <a:gd name="T47" fmla="*/ 0 h 87"/>
                <a:gd name="T48" fmla="*/ 1 w 324"/>
                <a:gd name="T49" fmla="*/ 0 h 87"/>
                <a:gd name="T50" fmla="*/ 1 w 324"/>
                <a:gd name="T51" fmla="*/ 0 h 87"/>
                <a:gd name="T52" fmla="*/ 1 w 324"/>
                <a:gd name="T53" fmla="*/ 0 h 87"/>
                <a:gd name="T54" fmla="*/ 1 w 324"/>
                <a:gd name="T55" fmla="*/ 0 h 87"/>
                <a:gd name="T56" fmla="*/ 1 w 324"/>
                <a:gd name="T57" fmla="*/ 0 h 87"/>
                <a:gd name="T58" fmla="*/ 1 w 324"/>
                <a:gd name="T59" fmla="*/ 0 h 87"/>
                <a:gd name="T60" fmla="*/ 1 w 324"/>
                <a:gd name="T61" fmla="*/ 0 h 87"/>
                <a:gd name="T62" fmla="*/ 2 w 324"/>
                <a:gd name="T63" fmla="*/ 0 h 87"/>
                <a:gd name="T64" fmla="*/ 2 w 324"/>
                <a:gd name="T65" fmla="*/ 0 h 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24"/>
                <a:gd name="T100" fmla="*/ 0 h 87"/>
                <a:gd name="T101" fmla="*/ 324 w 324"/>
                <a:gd name="T102" fmla="*/ 87 h 8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24" h="87">
                  <a:moveTo>
                    <a:pt x="324" y="87"/>
                  </a:moveTo>
                  <a:lnTo>
                    <a:pt x="323" y="86"/>
                  </a:lnTo>
                  <a:lnTo>
                    <a:pt x="317" y="82"/>
                  </a:lnTo>
                  <a:lnTo>
                    <a:pt x="309" y="75"/>
                  </a:lnTo>
                  <a:lnTo>
                    <a:pt x="298" y="67"/>
                  </a:lnTo>
                  <a:lnTo>
                    <a:pt x="284" y="57"/>
                  </a:lnTo>
                  <a:lnTo>
                    <a:pt x="268" y="47"/>
                  </a:lnTo>
                  <a:lnTo>
                    <a:pt x="248" y="38"/>
                  </a:lnTo>
                  <a:lnTo>
                    <a:pt x="228" y="27"/>
                  </a:lnTo>
                  <a:lnTo>
                    <a:pt x="205" y="18"/>
                  </a:lnTo>
                  <a:lnTo>
                    <a:pt x="179" y="10"/>
                  </a:lnTo>
                  <a:lnTo>
                    <a:pt x="153" y="4"/>
                  </a:lnTo>
                  <a:lnTo>
                    <a:pt x="124" y="0"/>
                  </a:lnTo>
                  <a:lnTo>
                    <a:pt x="94" y="0"/>
                  </a:lnTo>
                  <a:lnTo>
                    <a:pt x="64" y="2"/>
                  </a:lnTo>
                  <a:lnTo>
                    <a:pt x="32" y="8"/>
                  </a:lnTo>
                  <a:lnTo>
                    <a:pt x="0" y="18"/>
                  </a:lnTo>
                  <a:lnTo>
                    <a:pt x="3" y="18"/>
                  </a:lnTo>
                  <a:lnTo>
                    <a:pt x="11" y="19"/>
                  </a:lnTo>
                  <a:lnTo>
                    <a:pt x="25" y="20"/>
                  </a:lnTo>
                  <a:lnTo>
                    <a:pt x="43" y="23"/>
                  </a:lnTo>
                  <a:lnTo>
                    <a:pt x="64" y="25"/>
                  </a:lnTo>
                  <a:lnTo>
                    <a:pt x="88" y="29"/>
                  </a:lnTo>
                  <a:lnTo>
                    <a:pt x="115" y="32"/>
                  </a:lnTo>
                  <a:lnTo>
                    <a:pt x="142" y="37"/>
                  </a:lnTo>
                  <a:lnTo>
                    <a:pt x="171" y="41"/>
                  </a:lnTo>
                  <a:lnTo>
                    <a:pt x="199" y="46"/>
                  </a:lnTo>
                  <a:lnTo>
                    <a:pt x="226" y="52"/>
                  </a:lnTo>
                  <a:lnTo>
                    <a:pt x="252" y="58"/>
                  </a:lnTo>
                  <a:lnTo>
                    <a:pt x="275" y="64"/>
                  </a:lnTo>
                  <a:lnTo>
                    <a:pt x="296" y="72"/>
                  </a:lnTo>
                  <a:lnTo>
                    <a:pt x="312" y="79"/>
                  </a:lnTo>
                  <a:lnTo>
                    <a:pt x="324" y="87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Freeform 146">
              <a:extLst>
                <a:ext uri="{FF2B5EF4-FFF2-40B4-BE49-F238E27FC236}">
                  <a16:creationId xmlns:a16="http://schemas.microsoft.com/office/drawing/2014/main" id="{C5D00404-3964-40CE-66CF-B1AF5051F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832"/>
              <a:ext cx="185" cy="33"/>
            </a:xfrm>
            <a:custGeom>
              <a:avLst/>
              <a:gdLst>
                <a:gd name="T0" fmla="*/ 2 w 313"/>
                <a:gd name="T1" fmla="*/ 0 h 70"/>
                <a:gd name="T2" fmla="*/ 2 w 313"/>
                <a:gd name="T3" fmla="*/ 0 h 70"/>
                <a:gd name="T4" fmla="*/ 2 w 313"/>
                <a:gd name="T5" fmla="*/ 0 h 70"/>
                <a:gd name="T6" fmla="*/ 1 w 313"/>
                <a:gd name="T7" fmla="*/ 0 h 70"/>
                <a:gd name="T8" fmla="*/ 1 w 313"/>
                <a:gd name="T9" fmla="*/ 0 h 70"/>
                <a:gd name="T10" fmla="*/ 1 w 313"/>
                <a:gd name="T11" fmla="*/ 0 h 70"/>
                <a:gd name="T12" fmla="*/ 1 w 313"/>
                <a:gd name="T13" fmla="*/ 0 h 70"/>
                <a:gd name="T14" fmla="*/ 1 w 313"/>
                <a:gd name="T15" fmla="*/ 0 h 70"/>
                <a:gd name="T16" fmla="*/ 1 w 313"/>
                <a:gd name="T17" fmla="*/ 0 h 70"/>
                <a:gd name="T18" fmla="*/ 1 w 313"/>
                <a:gd name="T19" fmla="*/ 0 h 70"/>
                <a:gd name="T20" fmla="*/ 1 w 313"/>
                <a:gd name="T21" fmla="*/ 0 h 70"/>
                <a:gd name="T22" fmla="*/ 1 w 313"/>
                <a:gd name="T23" fmla="*/ 0 h 70"/>
                <a:gd name="T24" fmla="*/ 1 w 313"/>
                <a:gd name="T25" fmla="*/ 0 h 70"/>
                <a:gd name="T26" fmla="*/ 1 w 313"/>
                <a:gd name="T27" fmla="*/ 0 h 70"/>
                <a:gd name="T28" fmla="*/ 1 w 313"/>
                <a:gd name="T29" fmla="*/ 0 h 70"/>
                <a:gd name="T30" fmla="*/ 1 w 313"/>
                <a:gd name="T31" fmla="*/ 0 h 70"/>
                <a:gd name="T32" fmla="*/ 0 w 313"/>
                <a:gd name="T33" fmla="*/ 0 h 70"/>
                <a:gd name="T34" fmla="*/ 1 w 313"/>
                <a:gd name="T35" fmla="*/ 0 h 70"/>
                <a:gd name="T36" fmla="*/ 1 w 313"/>
                <a:gd name="T37" fmla="*/ 0 h 70"/>
                <a:gd name="T38" fmla="*/ 1 w 313"/>
                <a:gd name="T39" fmla="*/ 0 h 70"/>
                <a:gd name="T40" fmla="*/ 1 w 313"/>
                <a:gd name="T41" fmla="*/ 0 h 70"/>
                <a:gd name="T42" fmla="*/ 1 w 313"/>
                <a:gd name="T43" fmla="*/ 0 h 70"/>
                <a:gd name="T44" fmla="*/ 1 w 313"/>
                <a:gd name="T45" fmla="*/ 0 h 70"/>
                <a:gd name="T46" fmla="*/ 1 w 313"/>
                <a:gd name="T47" fmla="*/ 0 h 70"/>
                <a:gd name="T48" fmla="*/ 1 w 313"/>
                <a:gd name="T49" fmla="*/ 0 h 70"/>
                <a:gd name="T50" fmla="*/ 1 w 313"/>
                <a:gd name="T51" fmla="*/ 0 h 70"/>
                <a:gd name="T52" fmla="*/ 1 w 313"/>
                <a:gd name="T53" fmla="*/ 0 h 70"/>
                <a:gd name="T54" fmla="*/ 1 w 313"/>
                <a:gd name="T55" fmla="*/ 0 h 70"/>
                <a:gd name="T56" fmla="*/ 1 w 313"/>
                <a:gd name="T57" fmla="*/ 0 h 70"/>
                <a:gd name="T58" fmla="*/ 1 w 313"/>
                <a:gd name="T59" fmla="*/ 0 h 70"/>
                <a:gd name="T60" fmla="*/ 1 w 313"/>
                <a:gd name="T61" fmla="*/ 0 h 70"/>
                <a:gd name="T62" fmla="*/ 2 w 313"/>
                <a:gd name="T63" fmla="*/ 0 h 70"/>
                <a:gd name="T64" fmla="*/ 2 w 313"/>
                <a:gd name="T65" fmla="*/ 0 h 7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3"/>
                <a:gd name="T100" fmla="*/ 0 h 70"/>
                <a:gd name="T101" fmla="*/ 313 w 313"/>
                <a:gd name="T102" fmla="*/ 70 h 7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3" h="70">
                  <a:moveTo>
                    <a:pt x="313" y="70"/>
                  </a:moveTo>
                  <a:lnTo>
                    <a:pt x="311" y="69"/>
                  </a:lnTo>
                  <a:lnTo>
                    <a:pt x="303" y="66"/>
                  </a:lnTo>
                  <a:lnTo>
                    <a:pt x="291" y="60"/>
                  </a:lnTo>
                  <a:lnTo>
                    <a:pt x="276" y="52"/>
                  </a:lnTo>
                  <a:lnTo>
                    <a:pt x="257" y="44"/>
                  </a:lnTo>
                  <a:lnTo>
                    <a:pt x="236" y="36"/>
                  </a:lnTo>
                  <a:lnTo>
                    <a:pt x="213" y="26"/>
                  </a:lnTo>
                  <a:lnTo>
                    <a:pt x="188" y="18"/>
                  </a:lnTo>
                  <a:lnTo>
                    <a:pt x="162" y="11"/>
                  </a:lnTo>
                  <a:lnTo>
                    <a:pt x="136" y="6"/>
                  </a:lnTo>
                  <a:lnTo>
                    <a:pt x="109" y="1"/>
                  </a:lnTo>
                  <a:lnTo>
                    <a:pt x="84" y="0"/>
                  </a:lnTo>
                  <a:lnTo>
                    <a:pt x="60" y="1"/>
                  </a:lnTo>
                  <a:lnTo>
                    <a:pt x="37" y="5"/>
                  </a:lnTo>
                  <a:lnTo>
                    <a:pt x="17" y="13"/>
                  </a:lnTo>
                  <a:lnTo>
                    <a:pt x="0" y="25"/>
                  </a:lnTo>
                  <a:lnTo>
                    <a:pt x="3" y="25"/>
                  </a:lnTo>
                  <a:lnTo>
                    <a:pt x="11" y="26"/>
                  </a:lnTo>
                  <a:lnTo>
                    <a:pt x="24" y="28"/>
                  </a:lnTo>
                  <a:lnTo>
                    <a:pt x="40" y="29"/>
                  </a:lnTo>
                  <a:lnTo>
                    <a:pt x="61" y="31"/>
                  </a:lnTo>
                  <a:lnTo>
                    <a:pt x="84" y="33"/>
                  </a:lnTo>
                  <a:lnTo>
                    <a:pt x="108" y="36"/>
                  </a:lnTo>
                  <a:lnTo>
                    <a:pt x="135" y="38"/>
                  </a:lnTo>
                  <a:lnTo>
                    <a:pt x="162" y="41"/>
                  </a:lnTo>
                  <a:lnTo>
                    <a:pt x="189" y="45"/>
                  </a:lnTo>
                  <a:lnTo>
                    <a:pt x="215" y="48"/>
                  </a:lnTo>
                  <a:lnTo>
                    <a:pt x="239" y="53"/>
                  </a:lnTo>
                  <a:lnTo>
                    <a:pt x="262" y="56"/>
                  </a:lnTo>
                  <a:lnTo>
                    <a:pt x="283" y="61"/>
                  </a:lnTo>
                  <a:lnTo>
                    <a:pt x="300" y="66"/>
                  </a:lnTo>
                  <a:lnTo>
                    <a:pt x="313" y="7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Freeform 147">
              <a:extLst>
                <a:ext uri="{FF2B5EF4-FFF2-40B4-BE49-F238E27FC236}">
                  <a16:creationId xmlns:a16="http://schemas.microsoft.com/office/drawing/2014/main" id="{0C232E86-5E75-25A8-06AD-490A4F432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" y="862"/>
              <a:ext cx="184" cy="33"/>
            </a:xfrm>
            <a:custGeom>
              <a:avLst/>
              <a:gdLst>
                <a:gd name="T0" fmla="*/ 2 w 313"/>
                <a:gd name="T1" fmla="*/ 0 h 70"/>
                <a:gd name="T2" fmla="*/ 2 w 313"/>
                <a:gd name="T3" fmla="*/ 0 h 70"/>
                <a:gd name="T4" fmla="*/ 1 w 313"/>
                <a:gd name="T5" fmla="*/ 0 h 70"/>
                <a:gd name="T6" fmla="*/ 1 w 313"/>
                <a:gd name="T7" fmla="*/ 0 h 70"/>
                <a:gd name="T8" fmla="*/ 1 w 313"/>
                <a:gd name="T9" fmla="*/ 0 h 70"/>
                <a:gd name="T10" fmla="*/ 1 w 313"/>
                <a:gd name="T11" fmla="*/ 0 h 70"/>
                <a:gd name="T12" fmla="*/ 1 w 313"/>
                <a:gd name="T13" fmla="*/ 0 h 70"/>
                <a:gd name="T14" fmla="*/ 1 w 313"/>
                <a:gd name="T15" fmla="*/ 0 h 70"/>
                <a:gd name="T16" fmla="*/ 1 w 313"/>
                <a:gd name="T17" fmla="*/ 0 h 70"/>
                <a:gd name="T18" fmla="*/ 1 w 313"/>
                <a:gd name="T19" fmla="*/ 0 h 70"/>
                <a:gd name="T20" fmla="*/ 1 w 313"/>
                <a:gd name="T21" fmla="*/ 0 h 70"/>
                <a:gd name="T22" fmla="*/ 1 w 313"/>
                <a:gd name="T23" fmla="*/ 0 h 70"/>
                <a:gd name="T24" fmla="*/ 1 w 313"/>
                <a:gd name="T25" fmla="*/ 0 h 70"/>
                <a:gd name="T26" fmla="*/ 1 w 313"/>
                <a:gd name="T27" fmla="*/ 0 h 70"/>
                <a:gd name="T28" fmla="*/ 1 w 313"/>
                <a:gd name="T29" fmla="*/ 0 h 70"/>
                <a:gd name="T30" fmla="*/ 1 w 313"/>
                <a:gd name="T31" fmla="*/ 0 h 70"/>
                <a:gd name="T32" fmla="*/ 0 w 313"/>
                <a:gd name="T33" fmla="*/ 0 h 70"/>
                <a:gd name="T34" fmla="*/ 1 w 313"/>
                <a:gd name="T35" fmla="*/ 0 h 70"/>
                <a:gd name="T36" fmla="*/ 1 w 313"/>
                <a:gd name="T37" fmla="*/ 0 h 70"/>
                <a:gd name="T38" fmla="*/ 1 w 313"/>
                <a:gd name="T39" fmla="*/ 0 h 70"/>
                <a:gd name="T40" fmla="*/ 1 w 313"/>
                <a:gd name="T41" fmla="*/ 0 h 70"/>
                <a:gd name="T42" fmla="*/ 1 w 313"/>
                <a:gd name="T43" fmla="*/ 0 h 70"/>
                <a:gd name="T44" fmla="*/ 1 w 313"/>
                <a:gd name="T45" fmla="*/ 0 h 70"/>
                <a:gd name="T46" fmla="*/ 1 w 313"/>
                <a:gd name="T47" fmla="*/ 0 h 70"/>
                <a:gd name="T48" fmla="*/ 1 w 313"/>
                <a:gd name="T49" fmla="*/ 0 h 70"/>
                <a:gd name="T50" fmla="*/ 1 w 313"/>
                <a:gd name="T51" fmla="*/ 0 h 70"/>
                <a:gd name="T52" fmla="*/ 1 w 313"/>
                <a:gd name="T53" fmla="*/ 0 h 70"/>
                <a:gd name="T54" fmla="*/ 1 w 313"/>
                <a:gd name="T55" fmla="*/ 0 h 70"/>
                <a:gd name="T56" fmla="*/ 1 w 313"/>
                <a:gd name="T57" fmla="*/ 0 h 70"/>
                <a:gd name="T58" fmla="*/ 1 w 313"/>
                <a:gd name="T59" fmla="*/ 0 h 70"/>
                <a:gd name="T60" fmla="*/ 1 w 313"/>
                <a:gd name="T61" fmla="*/ 0 h 70"/>
                <a:gd name="T62" fmla="*/ 1 w 313"/>
                <a:gd name="T63" fmla="*/ 0 h 70"/>
                <a:gd name="T64" fmla="*/ 2 w 313"/>
                <a:gd name="T65" fmla="*/ 0 h 7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3"/>
                <a:gd name="T100" fmla="*/ 0 h 70"/>
                <a:gd name="T101" fmla="*/ 313 w 313"/>
                <a:gd name="T102" fmla="*/ 70 h 7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3" h="70">
                  <a:moveTo>
                    <a:pt x="313" y="70"/>
                  </a:moveTo>
                  <a:lnTo>
                    <a:pt x="311" y="69"/>
                  </a:lnTo>
                  <a:lnTo>
                    <a:pt x="303" y="65"/>
                  </a:lnTo>
                  <a:lnTo>
                    <a:pt x="291" y="60"/>
                  </a:lnTo>
                  <a:lnTo>
                    <a:pt x="276" y="51"/>
                  </a:lnTo>
                  <a:lnTo>
                    <a:pt x="257" y="43"/>
                  </a:lnTo>
                  <a:lnTo>
                    <a:pt x="236" y="35"/>
                  </a:lnTo>
                  <a:lnTo>
                    <a:pt x="213" y="26"/>
                  </a:lnTo>
                  <a:lnTo>
                    <a:pt x="188" y="18"/>
                  </a:lnTo>
                  <a:lnTo>
                    <a:pt x="162" y="11"/>
                  </a:lnTo>
                  <a:lnTo>
                    <a:pt x="136" y="5"/>
                  </a:lnTo>
                  <a:lnTo>
                    <a:pt x="109" y="1"/>
                  </a:lnTo>
                  <a:lnTo>
                    <a:pt x="84" y="0"/>
                  </a:lnTo>
                  <a:lnTo>
                    <a:pt x="60" y="1"/>
                  </a:lnTo>
                  <a:lnTo>
                    <a:pt x="37" y="4"/>
                  </a:lnTo>
                  <a:lnTo>
                    <a:pt x="17" y="12"/>
                  </a:lnTo>
                  <a:lnTo>
                    <a:pt x="0" y="25"/>
                  </a:lnTo>
                  <a:lnTo>
                    <a:pt x="3" y="25"/>
                  </a:lnTo>
                  <a:lnTo>
                    <a:pt x="11" y="26"/>
                  </a:lnTo>
                  <a:lnTo>
                    <a:pt x="24" y="27"/>
                  </a:lnTo>
                  <a:lnTo>
                    <a:pt x="40" y="28"/>
                  </a:lnTo>
                  <a:lnTo>
                    <a:pt x="61" y="31"/>
                  </a:lnTo>
                  <a:lnTo>
                    <a:pt x="84" y="33"/>
                  </a:lnTo>
                  <a:lnTo>
                    <a:pt x="108" y="35"/>
                  </a:lnTo>
                  <a:lnTo>
                    <a:pt x="135" y="38"/>
                  </a:lnTo>
                  <a:lnTo>
                    <a:pt x="162" y="41"/>
                  </a:lnTo>
                  <a:lnTo>
                    <a:pt x="189" y="45"/>
                  </a:lnTo>
                  <a:lnTo>
                    <a:pt x="215" y="48"/>
                  </a:lnTo>
                  <a:lnTo>
                    <a:pt x="240" y="53"/>
                  </a:lnTo>
                  <a:lnTo>
                    <a:pt x="263" y="56"/>
                  </a:lnTo>
                  <a:lnTo>
                    <a:pt x="283" y="61"/>
                  </a:lnTo>
                  <a:lnTo>
                    <a:pt x="301" y="65"/>
                  </a:lnTo>
                  <a:lnTo>
                    <a:pt x="313" y="7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Freeform 148">
              <a:extLst>
                <a:ext uri="{FF2B5EF4-FFF2-40B4-BE49-F238E27FC236}">
                  <a16:creationId xmlns:a16="http://schemas.microsoft.com/office/drawing/2014/main" id="{C3944D4F-73EF-9ADA-4F5D-AE57A1A86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399"/>
              <a:ext cx="84" cy="20"/>
            </a:xfrm>
            <a:custGeom>
              <a:avLst/>
              <a:gdLst>
                <a:gd name="T0" fmla="*/ 1 w 143"/>
                <a:gd name="T1" fmla="*/ 0 h 45"/>
                <a:gd name="T2" fmla="*/ 1 w 143"/>
                <a:gd name="T3" fmla="*/ 0 h 45"/>
                <a:gd name="T4" fmla="*/ 1 w 143"/>
                <a:gd name="T5" fmla="*/ 0 h 45"/>
                <a:gd name="T6" fmla="*/ 1 w 143"/>
                <a:gd name="T7" fmla="*/ 0 h 45"/>
                <a:gd name="T8" fmla="*/ 1 w 143"/>
                <a:gd name="T9" fmla="*/ 0 h 45"/>
                <a:gd name="T10" fmla="*/ 1 w 143"/>
                <a:gd name="T11" fmla="*/ 0 h 45"/>
                <a:gd name="T12" fmla="*/ 1 w 143"/>
                <a:gd name="T13" fmla="*/ 0 h 45"/>
                <a:gd name="T14" fmla="*/ 1 w 143"/>
                <a:gd name="T15" fmla="*/ 0 h 45"/>
                <a:gd name="T16" fmla="*/ 0 w 143"/>
                <a:gd name="T17" fmla="*/ 0 h 45"/>
                <a:gd name="T18" fmla="*/ 1 w 143"/>
                <a:gd name="T19" fmla="*/ 0 h 45"/>
                <a:gd name="T20" fmla="*/ 1 w 143"/>
                <a:gd name="T21" fmla="*/ 0 h 45"/>
                <a:gd name="T22" fmla="*/ 1 w 143"/>
                <a:gd name="T23" fmla="*/ 0 h 45"/>
                <a:gd name="T24" fmla="*/ 1 w 143"/>
                <a:gd name="T25" fmla="*/ 0 h 45"/>
                <a:gd name="T26" fmla="*/ 1 w 143"/>
                <a:gd name="T27" fmla="*/ 0 h 45"/>
                <a:gd name="T28" fmla="*/ 1 w 143"/>
                <a:gd name="T29" fmla="*/ 0 h 45"/>
                <a:gd name="T30" fmla="*/ 1 w 143"/>
                <a:gd name="T31" fmla="*/ 0 h 45"/>
                <a:gd name="T32" fmla="*/ 1 w 143"/>
                <a:gd name="T33" fmla="*/ 0 h 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3"/>
                <a:gd name="T52" fmla="*/ 0 h 45"/>
                <a:gd name="T53" fmla="*/ 143 w 143"/>
                <a:gd name="T54" fmla="*/ 45 h 4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3" h="45">
                  <a:moveTo>
                    <a:pt x="143" y="45"/>
                  </a:moveTo>
                  <a:lnTo>
                    <a:pt x="140" y="41"/>
                  </a:lnTo>
                  <a:lnTo>
                    <a:pt x="132" y="33"/>
                  </a:lnTo>
                  <a:lnTo>
                    <a:pt x="121" y="22"/>
                  </a:lnTo>
                  <a:lnTo>
                    <a:pt x="104" y="10"/>
                  </a:lnTo>
                  <a:lnTo>
                    <a:pt x="83" y="2"/>
                  </a:lnTo>
                  <a:lnTo>
                    <a:pt x="59" y="0"/>
                  </a:lnTo>
                  <a:lnTo>
                    <a:pt x="31" y="6"/>
                  </a:lnTo>
                  <a:lnTo>
                    <a:pt x="0" y="22"/>
                  </a:lnTo>
                  <a:lnTo>
                    <a:pt x="4" y="23"/>
                  </a:lnTo>
                  <a:lnTo>
                    <a:pt x="16" y="25"/>
                  </a:lnTo>
                  <a:lnTo>
                    <a:pt x="34" y="29"/>
                  </a:lnTo>
                  <a:lnTo>
                    <a:pt x="56" y="33"/>
                  </a:lnTo>
                  <a:lnTo>
                    <a:pt x="79" y="38"/>
                  </a:lnTo>
                  <a:lnTo>
                    <a:pt x="104" y="41"/>
                  </a:lnTo>
                  <a:lnTo>
                    <a:pt x="125" y="44"/>
                  </a:lnTo>
                  <a:lnTo>
                    <a:pt x="143" y="45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Freeform 149">
              <a:extLst>
                <a:ext uri="{FF2B5EF4-FFF2-40B4-BE49-F238E27FC236}">
                  <a16:creationId xmlns:a16="http://schemas.microsoft.com/office/drawing/2014/main" id="{E4C05738-4329-E04F-C586-10E69E76D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6" y="435"/>
              <a:ext cx="84" cy="18"/>
            </a:xfrm>
            <a:custGeom>
              <a:avLst/>
              <a:gdLst>
                <a:gd name="T0" fmla="*/ 1 w 144"/>
                <a:gd name="T1" fmla="*/ 0 h 41"/>
                <a:gd name="T2" fmla="*/ 1 w 144"/>
                <a:gd name="T3" fmla="*/ 0 h 41"/>
                <a:gd name="T4" fmla="*/ 1 w 144"/>
                <a:gd name="T5" fmla="*/ 0 h 41"/>
                <a:gd name="T6" fmla="*/ 1 w 144"/>
                <a:gd name="T7" fmla="*/ 0 h 41"/>
                <a:gd name="T8" fmla="*/ 1 w 144"/>
                <a:gd name="T9" fmla="*/ 0 h 41"/>
                <a:gd name="T10" fmla="*/ 1 w 144"/>
                <a:gd name="T11" fmla="*/ 0 h 41"/>
                <a:gd name="T12" fmla="*/ 1 w 144"/>
                <a:gd name="T13" fmla="*/ 0 h 41"/>
                <a:gd name="T14" fmla="*/ 1 w 144"/>
                <a:gd name="T15" fmla="*/ 0 h 41"/>
                <a:gd name="T16" fmla="*/ 0 w 144"/>
                <a:gd name="T17" fmla="*/ 0 h 41"/>
                <a:gd name="T18" fmla="*/ 1 w 144"/>
                <a:gd name="T19" fmla="*/ 0 h 41"/>
                <a:gd name="T20" fmla="*/ 1 w 144"/>
                <a:gd name="T21" fmla="*/ 0 h 41"/>
                <a:gd name="T22" fmla="*/ 1 w 144"/>
                <a:gd name="T23" fmla="*/ 0 h 41"/>
                <a:gd name="T24" fmla="*/ 1 w 144"/>
                <a:gd name="T25" fmla="*/ 0 h 41"/>
                <a:gd name="T26" fmla="*/ 1 w 144"/>
                <a:gd name="T27" fmla="*/ 0 h 41"/>
                <a:gd name="T28" fmla="*/ 1 w 144"/>
                <a:gd name="T29" fmla="*/ 0 h 41"/>
                <a:gd name="T30" fmla="*/ 1 w 144"/>
                <a:gd name="T31" fmla="*/ 0 h 41"/>
                <a:gd name="T32" fmla="*/ 1 w 144"/>
                <a:gd name="T33" fmla="*/ 0 h 4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4"/>
                <a:gd name="T52" fmla="*/ 0 h 41"/>
                <a:gd name="T53" fmla="*/ 144 w 144"/>
                <a:gd name="T54" fmla="*/ 41 h 4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4" h="41">
                  <a:moveTo>
                    <a:pt x="144" y="41"/>
                  </a:moveTo>
                  <a:lnTo>
                    <a:pt x="140" y="37"/>
                  </a:lnTo>
                  <a:lnTo>
                    <a:pt x="131" y="30"/>
                  </a:lnTo>
                  <a:lnTo>
                    <a:pt x="117" y="20"/>
                  </a:lnTo>
                  <a:lnTo>
                    <a:pt x="100" y="9"/>
                  </a:lnTo>
                  <a:lnTo>
                    <a:pt x="78" y="3"/>
                  </a:lnTo>
                  <a:lnTo>
                    <a:pt x="54" y="0"/>
                  </a:lnTo>
                  <a:lnTo>
                    <a:pt x="27" y="4"/>
                  </a:lnTo>
                  <a:lnTo>
                    <a:pt x="0" y="18"/>
                  </a:lnTo>
                  <a:lnTo>
                    <a:pt x="4" y="19"/>
                  </a:lnTo>
                  <a:lnTo>
                    <a:pt x="16" y="21"/>
                  </a:lnTo>
                  <a:lnTo>
                    <a:pt x="34" y="24"/>
                  </a:lnTo>
                  <a:lnTo>
                    <a:pt x="56" y="29"/>
                  </a:lnTo>
                  <a:lnTo>
                    <a:pt x="80" y="34"/>
                  </a:lnTo>
                  <a:lnTo>
                    <a:pt x="103" y="37"/>
                  </a:lnTo>
                  <a:lnTo>
                    <a:pt x="125" y="39"/>
                  </a:lnTo>
                  <a:lnTo>
                    <a:pt x="144" y="41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Freeform 150">
              <a:extLst>
                <a:ext uri="{FF2B5EF4-FFF2-40B4-BE49-F238E27FC236}">
                  <a16:creationId xmlns:a16="http://schemas.microsoft.com/office/drawing/2014/main" id="{A54BBD10-B58A-5D13-67B3-9A7F333E8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837"/>
              <a:ext cx="84" cy="18"/>
            </a:xfrm>
            <a:custGeom>
              <a:avLst/>
              <a:gdLst>
                <a:gd name="T0" fmla="*/ 1 w 144"/>
                <a:gd name="T1" fmla="*/ 0 h 40"/>
                <a:gd name="T2" fmla="*/ 1 w 144"/>
                <a:gd name="T3" fmla="*/ 0 h 40"/>
                <a:gd name="T4" fmla="*/ 1 w 144"/>
                <a:gd name="T5" fmla="*/ 0 h 40"/>
                <a:gd name="T6" fmla="*/ 1 w 144"/>
                <a:gd name="T7" fmla="*/ 0 h 40"/>
                <a:gd name="T8" fmla="*/ 1 w 144"/>
                <a:gd name="T9" fmla="*/ 0 h 40"/>
                <a:gd name="T10" fmla="*/ 1 w 144"/>
                <a:gd name="T11" fmla="*/ 0 h 40"/>
                <a:gd name="T12" fmla="*/ 1 w 144"/>
                <a:gd name="T13" fmla="*/ 0 h 40"/>
                <a:gd name="T14" fmla="*/ 1 w 144"/>
                <a:gd name="T15" fmla="*/ 0 h 40"/>
                <a:gd name="T16" fmla="*/ 0 w 144"/>
                <a:gd name="T17" fmla="*/ 0 h 40"/>
                <a:gd name="T18" fmla="*/ 1 w 144"/>
                <a:gd name="T19" fmla="*/ 0 h 40"/>
                <a:gd name="T20" fmla="*/ 1 w 144"/>
                <a:gd name="T21" fmla="*/ 0 h 40"/>
                <a:gd name="T22" fmla="*/ 1 w 144"/>
                <a:gd name="T23" fmla="*/ 0 h 40"/>
                <a:gd name="T24" fmla="*/ 1 w 144"/>
                <a:gd name="T25" fmla="*/ 0 h 40"/>
                <a:gd name="T26" fmla="*/ 1 w 144"/>
                <a:gd name="T27" fmla="*/ 0 h 40"/>
                <a:gd name="T28" fmla="*/ 1 w 144"/>
                <a:gd name="T29" fmla="*/ 0 h 40"/>
                <a:gd name="T30" fmla="*/ 1 w 144"/>
                <a:gd name="T31" fmla="*/ 0 h 40"/>
                <a:gd name="T32" fmla="*/ 1 w 14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4"/>
                <a:gd name="T52" fmla="*/ 0 h 40"/>
                <a:gd name="T53" fmla="*/ 144 w 144"/>
                <a:gd name="T54" fmla="*/ 40 h 4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4" h="40">
                  <a:moveTo>
                    <a:pt x="144" y="40"/>
                  </a:moveTo>
                  <a:lnTo>
                    <a:pt x="140" y="37"/>
                  </a:lnTo>
                  <a:lnTo>
                    <a:pt x="131" y="30"/>
                  </a:lnTo>
                  <a:lnTo>
                    <a:pt x="117" y="20"/>
                  </a:lnTo>
                  <a:lnTo>
                    <a:pt x="100" y="9"/>
                  </a:lnTo>
                  <a:lnTo>
                    <a:pt x="78" y="2"/>
                  </a:lnTo>
                  <a:lnTo>
                    <a:pt x="54" y="0"/>
                  </a:lnTo>
                  <a:lnTo>
                    <a:pt x="27" y="4"/>
                  </a:lnTo>
                  <a:lnTo>
                    <a:pt x="0" y="17"/>
                  </a:lnTo>
                  <a:lnTo>
                    <a:pt x="4" y="19"/>
                  </a:lnTo>
                  <a:lnTo>
                    <a:pt x="16" y="21"/>
                  </a:lnTo>
                  <a:lnTo>
                    <a:pt x="34" y="24"/>
                  </a:lnTo>
                  <a:lnTo>
                    <a:pt x="56" y="29"/>
                  </a:lnTo>
                  <a:lnTo>
                    <a:pt x="80" y="34"/>
                  </a:lnTo>
                  <a:lnTo>
                    <a:pt x="103" y="37"/>
                  </a:lnTo>
                  <a:lnTo>
                    <a:pt x="125" y="39"/>
                  </a:lnTo>
                  <a:lnTo>
                    <a:pt x="144" y="40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Freeform 151">
              <a:extLst>
                <a:ext uri="{FF2B5EF4-FFF2-40B4-BE49-F238E27FC236}">
                  <a16:creationId xmlns:a16="http://schemas.microsoft.com/office/drawing/2014/main" id="{2673C9D7-1135-0F03-8F85-7C67DA7F0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" y="869"/>
              <a:ext cx="85" cy="18"/>
            </a:xfrm>
            <a:custGeom>
              <a:avLst/>
              <a:gdLst>
                <a:gd name="T0" fmla="*/ 1 w 144"/>
                <a:gd name="T1" fmla="*/ 0 h 41"/>
                <a:gd name="T2" fmla="*/ 1 w 144"/>
                <a:gd name="T3" fmla="*/ 0 h 41"/>
                <a:gd name="T4" fmla="*/ 1 w 144"/>
                <a:gd name="T5" fmla="*/ 0 h 41"/>
                <a:gd name="T6" fmla="*/ 1 w 144"/>
                <a:gd name="T7" fmla="*/ 0 h 41"/>
                <a:gd name="T8" fmla="*/ 1 w 144"/>
                <a:gd name="T9" fmla="*/ 0 h 41"/>
                <a:gd name="T10" fmla="*/ 1 w 144"/>
                <a:gd name="T11" fmla="*/ 0 h 41"/>
                <a:gd name="T12" fmla="*/ 1 w 144"/>
                <a:gd name="T13" fmla="*/ 0 h 41"/>
                <a:gd name="T14" fmla="*/ 1 w 144"/>
                <a:gd name="T15" fmla="*/ 0 h 41"/>
                <a:gd name="T16" fmla="*/ 0 w 144"/>
                <a:gd name="T17" fmla="*/ 0 h 41"/>
                <a:gd name="T18" fmla="*/ 1 w 144"/>
                <a:gd name="T19" fmla="*/ 0 h 41"/>
                <a:gd name="T20" fmla="*/ 1 w 144"/>
                <a:gd name="T21" fmla="*/ 0 h 41"/>
                <a:gd name="T22" fmla="*/ 1 w 144"/>
                <a:gd name="T23" fmla="*/ 0 h 41"/>
                <a:gd name="T24" fmla="*/ 1 w 144"/>
                <a:gd name="T25" fmla="*/ 0 h 41"/>
                <a:gd name="T26" fmla="*/ 1 w 144"/>
                <a:gd name="T27" fmla="*/ 0 h 41"/>
                <a:gd name="T28" fmla="*/ 1 w 144"/>
                <a:gd name="T29" fmla="*/ 0 h 41"/>
                <a:gd name="T30" fmla="*/ 1 w 144"/>
                <a:gd name="T31" fmla="*/ 0 h 41"/>
                <a:gd name="T32" fmla="*/ 1 w 144"/>
                <a:gd name="T33" fmla="*/ 0 h 4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4"/>
                <a:gd name="T52" fmla="*/ 0 h 41"/>
                <a:gd name="T53" fmla="*/ 144 w 144"/>
                <a:gd name="T54" fmla="*/ 41 h 4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4" h="41">
                  <a:moveTo>
                    <a:pt x="144" y="41"/>
                  </a:moveTo>
                  <a:lnTo>
                    <a:pt x="140" y="37"/>
                  </a:lnTo>
                  <a:lnTo>
                    <a:pt x="131" y="30"/>
                  </a:lnTo>
                  <a:lnTo>
                    <a:pt x="117" y="20"/>
                  </a:lnTo>
                  <a:lnTo>
                    <a:pt x="100" y="11"/>
                  </a:lnTo>
                  <a:lnTo>
                    <a:pt x="78" y="3"/>
                  </a:lnTo>
                  <a:lnTo>
                    <a:pt x="54" y="0"/>
                  </a:lnTo>
                  <a:lnTo>
                    <a:pt x="27" y="5"/>
                  </a:lnTo>
                  <a:lnTo>
                    <a:pt x="0" y="19"/>
                  </a:lnTo>
                  <a:lnTo>
                    <a:pt x="4" y="20"/>
                  </a:lnTo>
                  <a:lnTo>
                    <a:pt x="16" y="22"/>
                  </a:lnTo>
                  <a:lnTo>
                    <a:pt x="34" y="26"/>
                  </a:lnTo>
                  <a:lnTo>
                    <a:pt x="56" y="29"/>
                  </a:lnTo>
                  <a:lnTo>
                    <a:pt x="80" y="34"/>
                  </a:lnTo>
                  <a:lnTo>
                    <a:pt x="103" y="37"/>
                  </a:lnTo>
                  <a:lnTo>
                    <a:pt x="125" y="40"/>
                  </a:lnTo>
                  <a:lnTo>
                    <a:pt x="144" y="41"/>
                  </a:lnTo>
                  <a:close/>
                </a:path>
              </a:pathLst>
            </a:custGeom>
            <a:solidFill>
              <a:srgbClr val="FFF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0" name="Freeform 152">
              <a:extLst>
                <a:ext uri="{FF2B5EF4-FFF2-40B4-BE49-F238E27FC236}">
                  <a16:creationId xmlns:a16="http://schemas.microsoft.com/office/drawing/2014/main" id="{59BAB267-EA48-6C16-0AC6-F00CBDB3D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442"/>
              <a:ext cx="173" cy="26"/>
            </a:xfrm>
            <a:custGeom>
              <a:avLst/>
              <a:gdLst>
                <a:gd name="T0" fmla="*/ 1 w 296"/>
                <a:gd name="T1" fmla="*/ 0 h 58"/>
                <a:gd name="T2" fmla="*/ 1 w 296"/>
                <a:gd name="T3" fmla="*/ 0 h 58"/>
                <a:gd name="T4" fmla="*/ 1 w 296"/>
                <a:gd name="T5" fmla="*/ 0 h 58"/>
                <a:gd name="T6" fmla="*/ 1 w 296"/>
                <a:gd name="T7" fmla="*/ 0 h 58"/>
                <a:gd name="T8" fmla="*/ 1 w 296"/>
                <a:gd name="T9" fmla="*/ 0 h 58"/>
                <a:gd name="T10" fmla="*/ 1 w 296"/>
                <a:gd name="T11" fmla="*/ 0 h 58"/>
                <a:gd name="T12" fmla="*/ 1 w 296"/>
                <a:gd name="T13" fmla="*/ 0 h 58"/>
                <a:gd name="T14" fmla="*/ 1 w 296"/>
                <a:gd name="T15" fmla="*/ 0 h 58"/>
                <a:gd name="T16" fmla="*/ 1 w 296"/>
                <a:gd name="T17" fmla="*/ 0 h 58"/>
                <a:gd name="T18" fmla="*/ 1 w 296"/>
                <a:gd name="T19" fmla="*/ 0 h 58"/>
                <a:gd name="T20" fmla="*/ 1 w 296"/>
                <a:gd name="T21" fmla="*/ 0 h 58"/>
                <a:gd name="T22" fmla="*/ 1 w 296"/>
                <a:gd name="T23" fmla="*/ 0 h 58"/>
                <a:gd name="T24" fmla="*/ 1 w 296"/>
                <a:gd name="T25" fmla="*/ 0 h 58"/>
                <a:gd name="T26" fmla="*/ 1 w 296"/>
                <a:gd name="T27" fmla="*/ 0 h 58"/>
                <a:gd name="T28" fmla="*/ 1 w 296"/>
                <a:gd name="T29" fmla="*/ 0 h 58"/>
                <a:gd name="T30" fmla="*/ 1 w 296"/>
                <a:gd name="T31" fmla="*/ 0 h 58"/>
                <a:gd name="T32" fmla="*/ 0 w 296"/>
                <a:gd name="T33" fmla="*/ 0 h 58"/>
                <a:gd name="T34" fmla="*/ 1 w 296"/>
                <a:gd name="T35" fmla="*/ 0 h 58"/>
                <a:gd name="T36" fmla="*/ 1 w 296"/>
                <a:gd name="T37" fmla="*/ 0 h 58"/>
                <a:gd name="T38" fmla="*/ 1 w 296"/>
                <a:gd name="T39" fmla="*/ 0 h 58"/>
                <a:gd name="T40" fmla="*/ 1 w 296"/>
                <a:gd name="T41" fmla="*/ 0 h 58"/>
                <a:gd name="T42" fmla="*/ 1 w 296"/>
                <a:gd name="T43" fmla="*/ 0 h 58"/>
                <a:gd name="T44" fmla="*/ 1 w 296"/>
                <a:gd name="T45" fmla="*/ 0 h 58"/>
                <a:gd name="T46" fmla="*/ 1 w 296"/>
                <a:gd name="T47" fmla="*/ 0 h 58"/>
                <a:gd name="T48" fmla="*/ 1 w 296"/>
                <a:gd name="T49" fmla="*/ 0 h 58"/>
                <a:gd name="T50" fmla="*/ 1 w 296"/>
                <a:gd name="T51" fmla="*/ 0 h 58"/>
                <a:gd name="T52" fmla="*/ 1 w 296"/>
                <a:gd name="T53" fmla="*/ 0 h 58"/>
                <a:gd name="T54" fmla="*/ 1 w 296"/>
                <a:gd name="T55" fmla="*/ 0 h 58"/>
                <a:gd name="T56" fmla="*/ 1 w 296"/>
                <a:gd name="T57" fmla="*/ 0 h 58"/>
                <a:gd name="T58" fmla="*/ 1 w 296"/>
                <a:gd name="T59" fmla="*/ 0 h 58"/>
                <a:gd name="T60" fmla="*/ 1 w 296"/>
                <a:gd name="T61" fmla="*/ 0 h 58"/>
                <a:gd name="T62" fmla="*/ 1 w 296"/>
                <a:gd name="T63" fmla="*/ 0 h 58"/>
                <a:gd name="T64" fmla="*/ 1 w 296"/>
                <a:gd name="T65" fmla="*/ 0 h 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6"/>
                <a:gd name="T100" fmla="*/ 0 h 58"/>
                <a:gd name="T101" fmla="*/ 296 w 296"/>
                <a:gd name="T102" fmla="*/ 58 h 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6" h="58">
                  <a:moveTo>
                    <a:pt x="296" y="58"/>
                  </a:moveTo>
                  <a:lnTo>
                    <a:pt x="295" y="57"/>
                  </a:lnTo>
                  <a:lnTo>
                    <a:pt x="290" y="54"/>
                  </a:lnTo>
                  <a:lnTo>
                    <a:pt x="284" y="52"/>
                  </a:lnTo>
                  <a:lnTo>
                    <a:pt x="275" y="47"/>
                  </a:lnTo>
                  <a:lnTo>
                    <a:pt x="264" y="42"/>
                  </a:lnTo>
                  <a:lnTo>
                    <a:pt x="250" y="37"/>
                  </a:lnTo>
                  <a:lnTo>
                    <a:pt x="235" y="31"/>
                  </a:lnTo>
                  <a:lnTo>
                    <a:pt x="216" y="24"/>
                  </a:lnTo>
                  <a:lnTo>
                    <a:pt x="196" y="19"/>
                  </a:lnTo>
                  <a:lnTo>
                    <a:pt x="174" y="14"/>
                  </a:lnTo>
                  <a:lnTo>
                    <a:pt x="149" y="8"/>
                  </a:lnTo>
                  <a:lnTo>
                    <a:pt x="123" y="5"/>
                  </a:lnTo>
                  <a:lnTo>
                    <a:pt x="94" y="1"/>
                  </a:lnTo>
                  <a:lnTo>
                    <a:pt x="64" y="0"/>
                  </a:lnTo>
                  <a:lnTo>
                    <a:pt x="33" y="0"/>
                  </a:lnTo>
                  <a:lnTo>
                    <a:pt x="0" y="1"/>
                  </a:lnTo>
                  <a:lnTo>
                    <a:pt x="2" y="1"/>
                  </a:lnTo>
                  <a:lnTo>
                    <a:pt x="10" y="3"/>
                  </a:lnTo>
                  <a:lnTo>
                    <a:pt x="22" y="4"/>
                  </a:lnTo>
                  <a:lnTo>
                    <a:pt x="37" y="5"/>
                  </a:lnTo>
                  <a:lnTo>
                    <a:pt x="55" y="7"/>
                  </a:lnTo>
                  <a:lnTo>
                    <a:pt x="75" y="9"/>
                  </a:lnTo>
                  <a:lnTo>
                    <a:pt x="98" y="12"/>
                  </a:lnTo>
                  <a:lnTo>
                    <a:pt x="122" y="15"/>
                  </a:lnTo>
                  <a:lnTo>
                    <a:pt x="147" y="19"/>
                  </a:lnTo>
                  <a:lnTo>
                    <a:pt x="171" y="23"/>
                  </a:lnTo>
                  <a:lnTo>
                    <a:pt x="197" y="28"/>
                  </a:lnTo>
                  <a:lnTo>
                    <a:pt x="221" y="32"/>
                  </a:lnTo>
                  <a:lnTo>
                    <a:pt x="243" y="38"/>
                  </a:lnTo>
                  <a:lnTo>
                    <a:pt x="264" y="44"/>
                  </a:lnTo>
                  <a:lnTo>
                    <a:pt x="281" y="51"/>
                  </a:lnTo>
                  <a:lnTo>
                    <a:pt x="296" y="58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Freeform 153">
              <a:extLst>
                <a:ext uri="{FF2B5EF4-FFF2-40B4-BE49-F238E27FC236}">
                  <a16:creationId xmlns:a16="http://schemas.microsoft.com/office/drawing/2014/main" id="{A889F29A-7A13-1C7F-D185-83D750993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406"/>
              <a:ext cx="173" cy="27"/>
            </a:xfrm>
            <a:custGeom>
              <a:avLst/>
              <a:gdLst>
                <a:gd name="T0" fmla="*/ 1 w 296"/>
                <a:gd name="T1" fmla="*/ 0 h 59"/>
                <a:gd name="T2" fmla="*/ 1 w 296"/>
                <a:gd name="T3" fmla="*/ 0 h 59"/>
                <a:gd name="T4" fmla="*/ 1 w 296"/>
                <a:gd name="T5" fmla="*/ 0 h 59"/>
                <a:gd name="T6" fmla="*/ 1 w 296"/>
                <a:gd name="T7" fmla="*/ 0 h 59"/>
                <a:gd name="T8" fmla="*/ 1 w 296"/>
                <a:gd name="T9" fmla="*/ 0 h 59"/>
                <a:gd name="T10" fmla="*/ 1 w 296"/>
                <a:gd name="T11" fmla="*/ 0 h 59"/>
                <a:gd name="T12" fmla="*/ 1 w 296"/>
                <a:gd name="T13" fmla="*/ 0 h 59"/>
                <a:gd name="T14" fmla="*/ 1 w 296"/>
                <a:gd name="T15" fmla="*/ 0 h 59"/>
                <a:gd name="T16" fmla="*/ 1 w 296"/>
                <a:gd name="T17" fmla="*/ 0 h 59"/>
                <a:gd name="T18" fmla="*/ 1 w 296"/>
                <a:gd name="T19" fmla="*/ 0 h 59"/>
                <a:gd name="T20" fmla="*/ 1 w 296"/>
                <a:gd name="T21" fmla="*/ 0 h 59"/>
                <a:gd name="T22" fmla="*/ 1 w 296"/>
                <a:gd name="T23" fmla="*/ 0 h 59"/>
                <a:gd name="T24" fmla="*/ 1 w 296"/>
                <a:gd name="T25" fmla="*/ 0 h 59"/>
                <a:gd name="T26" fmla="*/ 1 w 296"/>
                <a:gd name="T27" fmla="*/ 0 h 59"/>
                <a:gd name="T28" fmla="*/ 1 w 296"/>
                <a:gd name="T29" fmla="*/ 0 h 59"/>
                <a:gd name="T30" fmla="*/ 1 w 296"/>
                <a:gd name="T31" fmla="*/ 0 h 59"/>
                <a:gd name="T32" fmla="*/ 0 w 296"/>
                <a:gd name="T33" fmla="*/ 0 h 59"/>
                <a:gd name="T34" fmla="*/ 1 w 296"/>
                <a:gd name="T35" fmla="*/ 0 h 59"/>
                <a:gd name="T36" fmla="*/ 1 w 296"/>
                <a:gd name="T37" fmla="*/ 0 h 59"/>
                <a:gd name="T38" fmla="*/ 1 w 296"/>
                <a:gd name="T39" fmla="*/ 0 h 59"/>
                <a:gd name="T40" fmla="*/ 1 w 296"/>
                <a:gd name="T41" fmla="*/ 0 h 59"/>
                <a:gd name="T42" fmla="*/ 1 w 296"/>
                <a:gd name="T43" fmla="*/ 0 h 59"/>
                <a:gd name="T44" fmla="*/ 1 w 296"/>
                <a:gd name="T45" fmla="*/ 0 h 59"/>
                <a:gd name="T46" fmla="*/ 1 w 296"/>
                <a:gd name="T47" fmla="*/ 0 h 59"/>
                <a:gd name="T48" fmla="*/ 1 w 296"/>
                <a:gd name="T49" fmla="*/ 0 h 59"/>
                <a:gd name="T50" fmla="*/ 1 w 296"/>
                <a:gd name="T51" fmla="*/ 0 h 59"/>
                <a:gd name="T52" fmla="*/ 1 w 296"/>
                <a:gd name="T53" fmla="*/ 0 h 59"/>
                <a:gd name="T54" fmla="*/ 1 w 296"/>
                <a:gd name="T55" fmla="*/ 0 h 59"/>
                <a:gd name="T56" fmla="*/ 1 w 296"/>
                <a:gd name="T57" fmla="*/ 0 h 59"/>
                <a:gd name="T58" fmla="*/ 1 w 296"/>
                <a:gd name="T59" fmla="*/ 0 h 59"/>
                <a:gd name="T60" fmla="*/ 1 w 296"/>
                <a:gd name="T61" fmla="*/ 0 h 59"/>
                <a:gd name="T62" fmla="*/ 1 w 296"/>
                <a:gd name="T63" fmla="*/ 0 h 59"/>
                <a:gd name="T64" fmla="*/ 1 w 296"/>
                <a:gd name="T65" fmla="*/ 0 h 5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6"/>
                <a:gd name="T100" fmla="*/ 0 h 59"/>
                <a:gd name="T101" fmla="*/ 296 w 296"/>
                <a:gd name="T102" fmla="*/ 59 h 5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6" h="59">
                  <a:moveTo>
                    <a:pt x="296" y="59"/>
                  </a:moveTo>
                  <a:lnTo>
                    <a:pt x="295" y="58"/>
                  </a:lnTo>
                  <a:lnTo>
                    <a:pt x="291" y="55"/>
                  </a:lnTo>
                  <a:lnTo>
                    <a:pt x="285" y="52"/>
                  </a:lnTo>
                  <a:lnTo>
                    <a:pt x="276" y="48"/>
                  </a:lnTo>
                  <a:lnTo>
                    <a:pt x="264" y="43"/>
                  </a:lnTo>
                  <a:lnTo>
                    <a:pt x="250" y="37"/>
                  </a:lnTo>
                  <a:lnTo>
                    <a:pt x="235" y="31"/>
                  </a:lnTo>
                  <a:lnTo>
                    <a:pt x="217" y="25"/>
                  </a:lnTo>
                  <a:lnTo>
                    <a:pt x="196" y="20"/>
                  </a:lnTo>
                  <a:lnTo>
                    <a:pt x="174" y="14"/>
                  </a:lnTo>
                  <a:lnTo>
                    <a:pt x="150" y="9"/>
                  </a:lnTo>
                  <a:lnTo>
                    <a:pt x="124" y="5"/>
                  </a:lnTo>
                  <a:lnTo>
                    <a:pt x="95" y="2"/>
                  </a:lnTo>
                  <a:lnTo>
                    <a:pt x="65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11" y="2"/>
                  </a:lnTo>
                  <a:lnTo>
                    <a:pt x="22" y="3"/>
                  </a:lnTo>
                  <a:lnTo>
                    <a:pt x="37" y="5"/>
                  </a:lnTo>
                  <a:lnTo>
                    <a:pt x="56" y="7"/>
                  </a:lnTo>
                  <a:lnTo>
                    <a:pt x="75" y="9"/>
                  </a:lnTo>
                  <a:lnTo>
                    <a:pt x="98" y="13"/>
                  </a:lnTo>
                  <a:lnTo>
                    <a:pt x="123" y="16"/>
                  </a:lnTo>
                  <a:lnTo>
                    <a:pt x="148" y="20"/>
                  </a:lnTo>
                  <a:lnTo>
                    <a:pt x="172" y="24"/>
                  </a:lnTo>
                  <a:lnTo>
                    <a:pt x="197" y="29"/>
                  </a:lnTo>
                  <a:lnTo>
                    <a:pt x="222" y="33"/>
                  </a:lnTo>
                  <a:lnTo>
                    <a:pt x="243" y="39"/>
                  </a:lnTo>
                  <a:lnTo>
                    <a:pt x="264" y="45"/>
                  </a:lnTo>
                  <a:lnTo>
                    <a:pt x="281" y="52"/>
                  </a:lnTo>
                  <a:lnTo>
                    <a:pt x="296" y="59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Freeform 154">
              <a:extLst>
                <a:ext uri="{FF2B5EF4-FFF2-40B4-BE49-F238E27FC236}">
                  <a16:creationId xmlns:a16="http://schemas.microsoft.com/office/drawing/2014/main" id="{A4A61AB3-D17A-83DE-FEEF-1E2C83799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3" y="844"/>
              <a:ext cx="175" cy="27"/>
            </a:xfrm>
            <a:custGeom>
              <a:avLst/>
              <a:gdLst>
                <a:gd name="T0" fmla="*/ 1 w 298"/>
                <a:gd name="T1" fmla="*/ 0 h 59"/>
                <a:gd name="T2" fmla="*/ 1 w 298"/>
                <a:gd name="T3" fmla="*/ 0 h 59"/>
                <a:gd name="T4" fmla="*/ 1 w 298"/>
                <a:gd name="T5" fmla="*/ 0 h 59"/>
                <a:gd name="T6" fmla="*/ 1 w 298"/>
                <a:gd name="T7" fmla="*/ 0 h 59"/>
                <a:gd name="T8" fmla="*/ 1 w 298"/>
                <a:gd name="T9" fmla="*/ 0 h 59"/>
                <a:gd name="T10" fmla="*/ 1 w 298"/>
                <a:gd name="T11" fmla="*/ 0 h 59"/>
                <a:gd name="T12" fmla="*/ 1 w 298"/>
                <a:gd name="T13" fmla="*/ 0 h 59"/>
                <a:gd name="T14" fmla="*/ 1 w 298"/>
                <a:gd name="T15" fmla="*/ 0 h 59"/>
                <a:gd name="T16" fmla="*/ 1 w 298"/>
                <a:gd name="T17" fmla="*/ 0 h 59"/>
                <a:gd name="T18" fmla="*/ 1 w 298"/>
                <a:gd name="T19" fmla="*/ 0 h 59"/>
                <a:gd name="T20" fmla="*/ 1 w 298"/>
                <a:gd name="T21" fmla="*/ 0 h 59"/>
                <a:gd name="T22" fmla="*/ 1 w 298"/>
                <a:gd name="T23" fmla="*/ 0 h 59"/>
                <a:gd name="T24" fmla="*/ 1 w 298"/>
                <a:gd name="T25" fmla="*/ 0 h 59"/>
                <a:gd name="T26" fmla="*/ 1 w 298"/>
                <a:gd name="T27" fmla="*/ 0 h 59"/>
                <a:gd name="T28" fmla="*/ 1 w 298"/>
                <a:gd name="T29" fmla="*/ 0 h 59"/>
                <a:gd name="T30" fmla="*/ 1 w 298"/>
                <a:gd name="T31" fmla="*/ 0 h 59"/>
                <a:gd name="T32" fmla="*/ 0 w 298"/>
                <a:gd name="T33" fmla="*/ 0 h 59"/>
                <a:gd name="T34" fmla="*/ 1 w 298"/>
                <a:gd name="T35" fmla="*/ 0 h 59"/>
                <a:gd name="T36" fmla="*/ 1 w 298"/>
                <a:gd name="T37" fmla="*/ 0 h 59"/>
                <a:gd name="T38" fmla="*/ 1 w 298"/>
                <a:gd name="T39" fmla="*/ 0 h 59"/>
                <a:gd name="T40" fmla="*/ 1 w 298"/>
                <a:gd name="T41" fmla="*/ 0 h 59"/>
                <a:gd name="T42" fmla="*/ 1 w 298"/>
                <a:gd name="T43" fmla="*/ 0 h 59"/>
                <a:gd name="T44" fmla="*/ 1 w 298"/>
                <a:gd name="T45" fmla="*/ 0 h 59"/>
                <a:gd name="T46" fmla="*/ 1 w 298"/>
                <a:gd name="T47" fmla="*/ 0 h 59"/>
                <a:gd name="T48" fmla="*/ 1 w 298"/>
                <a:gd name="T49" fmla="*/ 0 h 59"/>
                <a:gd name="T50" fmla="*/ 1 w 298"/>
                <a:gd name="T51" fmla="*/ 0 h 59"/>
                <a:gd name="T52" fmla="*/ 1 w 298"/>
                <a:gd name="T53" fmla="*/ 0 h 59"/>
                <a:gd name="T54" fmla="*/ 1 w 298"/>
                <a:gd name="T55" fmla="*/ 0 h 59"/>
                <a:gd name="T56" fmla="*/ 1 w 298"/>
                <a:gd name="T57" fmla="*/ 0 h 59"/>
                <a:gd name="T58" fmla="*/ 1 w 298"/>
                <a:gd name="T59" fmla="*/ 0 h 59"/>
                <a:gd name="T60" fmla="*/ 1 w 298"/>
                <a:gd name="T61" fmla="*/ 0 h 59"/>
                <a:gd name="T62" fmla="*/ 1 w 298"/>
                <a:gd name="T63" fmla="*/ 0 h 59"/>
                <a:gd name="T64" fmla="*/ 1 w 298"/>
                <a:gd name="T65" fmla="*/ 0 h 5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8"/>
                <a:gd name="T100" fmla="*/ 0 h 59"/>
                <a:gd name="T101" fmla="*/ 298 w 298"/>
                <a:gd name="T102" fmla="*/ 59 h 5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8" h="59">
                  <a:moveTo>
                    <a:pt x="298" y="59"/>
                  </a:moveTo>
                  <a:lnTo>
                    <a:pt x="296" y="58"/>
                  </a:lnTo>
                  <a:lnTo>
                    <a:pt x="292" y="55"/>
                  </a:lnTo>
                  <a:lnTo>
                    <a:pt x="286" y="52"/>
                  </a:lnTo>
                  <a:lnTo>
                    <a:pt x="277" y="49"/>
                  </a:lnTo>
                  <a:lnTo>
                    <a:pt x="265" y="43"/>
                  </a:lnTo>
                  <a:lnTo>
                    <a:pt x="251" y="37"/>
                  </a:lnTo>
                  <a:lnTo>
                    <a:pt x="235" y="31"/>
                  </a:lnTo>
                  <a:lnTo>
                    <a:pt x="217" y="25"/>
                  </a:lnTo>
                  <a:lnTo>
                    <a:pt x="197" y="20"/>
                  </a:lnTo>
                  <a:lnTo>
                    <a:pt x="174" y="14"/>
                  </a:lnTo>
                  <a:lnTo>
                    <a:pt x="150" y="9"/>
                  </a:lnTo>
                  <a:lnTo>
                    <a:pt x="124" y="5"/>
                  </a:lnTo>
                  <a:lnTo>
                    <a:pt x="95" y="2"/>
                  </a:lnTo>
                  <a:lnTo>
                    <a:pt x="65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11" y="2"/>
                  </a:lnTo>
                  <a:lnTo>
                    <a:pt x="22" y="4"/>
                  </a:lnTo>
                  <a:lnTo>
                    <a:pt x="37" y="5"/>
                  </a:lnTo>
                  <a:lnTo>
                    <a:pt x="56" y="7"/>
                  </a:lnTo>
                  <a:lnTo>
                    <a:pt x="76" y="9"/>
                  </a:lnTo>
                  <a:lnTo>
                    <a:pt x="98" y="13"/>
                  </a:lnTo>
                  <a:lnTo>
                    <a:pt x="122" y="16"/>
                  </a:lnTo>
                  <a:lnTo>
                    <a:pt x="148" y="20"/>
                  </a:lnTo>
                  <a:lnTo>
                    <a:pt x="173" y="24"/>
                  </a:lnTo>
                  <a:lnTo>
                    <a:pt x="197" y="29"/>
                  </a:lnTo>
                  <a:lnTo>
                    <a:pt x="222" y="34"/>
                  </a:lnTo>
                  <a:lnTo>
                    <a:pt x="245" y="39"/>
                  </a:lnTo>
                  <a:lnTo>
                    <a:pt x="264" y="45"/>
                  </a:lnTo>
                  <a:lnTo>
                    <a:pt x="283" y="52"/>
                  </a:lnTo>
                  <a:lnTo>
                    <a:pt x="298" y="59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Freeform 155">
              <a:extLst>
                <a:ext uri="{FF2B5EF4-FFF2-40B4-BE49-F238E27FC236}">
                  <a16:creationId xmlns:a16="http://schemas.microsoft.com/office/drawing/2014/main" id="{4080364A-D9B7-E88F-C748-4C330F2AF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875"/>
              <a:ext cx="175" cy="27"/>
            </a:xfrm>
            <a:custGeom>
              <a:avLst/>
              <a:gdLst>
                <a:gd name="T0" fmla="*/ 1 w 297"/>
                <a:gd name="T1" fmla="*/ 0 h 59"/>
                <a:gd name="T2" fmla="*/ 1 w 297"/>
                <a:gd name="T3" fmla="*/ 0 h 59"/>
                <a:gd name="T4" fmla="*/ 1 w 297"/>
                <a:gd name="T5" fmla="*/ 0 h 59"/>
                <a:gd name="T6" fmla="*/ 1 w 297"/>
                <a:gd name="T7" fmla="*/ 0 h 59"/>
                <a:gd name="T8" fmla="*/ 1 w 297"/>
                <a:gd name="T9" fmla="*/ 0 h 59"/>
                <a:gd name="T10" fmla="*/ 1 w 297"/>
                <a:gd name="T11" fmla="*/ 0 h 59"/>
                <a:gd name="T12" fmla="*/ 1 w 297"/>
                <a:gd name="T13" fmla="*/ 0 h 59"/>
                <a:gd name="T14" fmla="*/ 1 w 297"/>
                <a:gd name="T15" fmla="*/ 0 h 59"/>
                <a:gd name="T16" fmla="*/ 1 w 297"/>
                <a:gd name="T17" fmla="*/ 0 h 59"/>
                <a:gd name="T18" fmla="*/ 1 w 297"/>
                <a:gd name="T19" fmla="*/ 0 h 59"/>
                <a:gd name="T20" fmla="*/ 1 w 297"/>
                <a:gd name="T21" fmla="*/ 0 h 59"/>
                <a:gd name="T22" fmla="*/ 1 w 297"/>
                <a:gd name="T23" fmla="*/ 0 h 59"/>
                <a:gd name="T24" fmla="*/ 1 w 297"/>
                <a:gd name="T25" fmla="*/ 0 h 59"/>
                <a:gd name="T26" fmla="*/ 1 w 297"/>
                <a:gd name="T27" fmla="*/ 0 h 59"/>
                <a:gd name="T28" fmla="*/ 1 w 297"/>
                <a:gd name="T29" fmla="*/ 0 h 59"/>
                <a:gd name="T30" fmla="*/ 1 w 297"/>
                <a:gd name="T31" fmla="*/ 0 h 59"/>
                <a:gd name="T32" fmla="*/ 0 w 297"/>
                <a:gd name="T33" fmla="*/ 0 h 59"/>
                <a:gd name="T34" fmla="*/ 1 w 297"/>
                <a:gd name="T35" fmla="*/ 0 h 59"/>
                <a:gd name="T36" fmla="*/ 1 w 297"/>
                <a:gd name="T37" fmla="*/ 0 h 59"/>
                <a:gd name="T38" fmla="*/ 1 w 297"/>
                <a:gd name="T39" fmla="*/ 0 h 59"/>
                <a:gd name="T40" fmla="*/ 1 w 297"/>
                <a:gd name="T41" fmla="*/ 0 h 59"/>
                <a:gd name="T42" fmla="*/ 1 w 297"/>
                <a:gd name="T43" fmla="*/ 0 h 59"/>
                <a:gd name="T44" fmla="*/ 1 w 297"/>
                <a:gd name="T45" fmla="*/ 0 h 59"/>
                <a:gd name="T46" fmla="*/ 1 w 297"/>
                <a:gd name="T47" fmla="*/ 0 h 59"/>
                <a:gd name="T48" fmla="*/ 1 w 297"/>
                <a:gd name="T49" fmla="*/ 0 h 59"/>
                <a:gd name="T50" fmla="*/ 1 w 297"/>
                <a:gd name="T51" fmla="*/ 0 h 59"/>
                <a:gd name="T52" fmla="*/ 1 w 297"/>
                <a:gd name="T53" fmla="*/ 0 h 59"/>
                <a:gd name="T54" fmla="*/ 1 w 297"/>
                <a:gd name="T55" fmla="*/ 0 h 59"/>
                <a:gd name="T56" fmla="*/ 1 w 297"/>
                <a:gd name="T57" fmla="*/ 0 h 59"/>
                <a:gd name="T58" fmla="*/ 1 w 297"/>
                <a:gd name="T59" fmla="*/ 0 h 59"/>
                <a:gd name="T60" fmla="*/ 1 w 297"/>
                <a:gd name="T61" fmla="*/ 0 h 59"/>
                <a:gd name="T62" fmla="*/ 1 w 297"/>
                <a:gd name="T63" fmla="*/ 0 h 59"/>
                <a:gd name="T64" fmla="*/ 1 w 297"/>
                <a:gd name="T65" fmla="*/ 0 h 5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97"/>
                <a:gd name="T100" fmla="*/ 0 h 59"/>
                <a:gd name="T101" fmla="*/ 297 w 297"/>
                <a:gd name="T102" fmla="*/ 59 h 5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97" h="59">
                  <a:moveTo>
                    <a:pt x="297" y="59"/>
                  </a:moveTo>
                  <a:lnTo>
                    <a:pt x="296" y="58"/>
                  </a:lnTo>
                  <a:lnTo>
                    <a:pt x="292" y="55"/>
                  </a:lnTo>
                  <a:lnTo>
                    <a:pt x="286" y="52"/>
                  </a:lnTo>
                  <a:lnTo>
                    <a:pt x="277" y="48"/>
                  </a:lnTo>
                  <a:lnTo>
                    <a:pt x="265" y="43"/>
                  </a:lnTo>
                  <a:lnTo>
                    <a:pt x="251" y="37"/>
                  </a:lnTo>
                  <a:lnTo>
                    <a:pt x="235" y="31"/>
                  </a:lnTo>
                  <a:lnTo>
                    <a:pt x="217" y="25"/>
                  </a:lnTo>
                  <a:lnTo>
                    <a:pt x="197" y="20"/>
                  </a:lnTo>
                  <a:lnTo>
                    <a:pt x="174" y="14"/>
                  </a:lnTo>
                  <a:lnTo>
                    <a:pt x="150" y="9"/>
                  </a:lnTo>
                  <a:lnTo>
                    <a:pt x="123" y="5"/>
                  </a:lnTo>
                  <a:lnTo>
                    <a:pt x="95" y="2"/>
                  </a:lnTo>
                  <a:lnTo>
                    <a:pt x="65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11" y="2"/>
                  </a:lnTo>
                  <a:lnTo>
                    <a:pt x="22" y="4"/>
                  </a:lnTo>
                  <a:lnTo>
                    <a:pt x="37" y="5"/>
                  </a:lnTo>
                  <a:lnTo>
                    <a:pt x="56" y="7"/>
                  </a:lnTo>
                  <a:lnTo>
                    <a:pt x="76" y="9"/>
                  </a:lnTo>
                  <a:lnTo>
                    <a:pt x="98" y="13"/>
                  </a:lnTo>
                  <a:lnTo>
                    <a:pt x="122" y="16"/>
                  </a:lnTo>
                  <a:lnTo>
                    <a:pt x="148" y="20"/>
                  </a:lnTo>
                  <a:lnTo>
                    <a:pt x="173" y="24"/>
                  </a:lnTo>
                  <a:lnTo>
                    <a:pt x="197" y="29"/>
                  </a:lnTo>
                  <a:lnTo>
                    <a:pt x="221" y="34"/>
                  </a:lnTo>
                  <a:lnTo>
                    <a:pt x="244" y="39"/>
                  </a:lnTo>
                  <a:lnTo>
                    <a:pt x="264" y="45"/>
                  </a:lnTo>
                  <a:lnTo>
                    <a:pt x="282" y="52"/>
                  </a:lnTo>
                  <a:lnTo>
                    <a:pt x="297" y="59"/>
                  </a:lnTo>
                  <a:close/>
                </a:path>
              </a:pathLst>
            </a:custGeom>
            <a:solidFill>
              <a:srgbClr val="A0D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Freeform 156">
              <a:extLst>
                <a:ext uri="{FF2B5EF4-FFF2-40B4-BE49-F238E27FC236}">
                  <a16:creationId xmlns:a16="http://schemas.microsoft.com/office/drawing/2014/main" id="{D94573F3-9DF8-572A-434B-72B907DEA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859"/>
              <a:ext cx="79" cy="64"/>
            </a:xfrm>
            <a:custGeom>
              <a:avLst/>
              <a:gdLst>
                <a:gd name="T0" fmla="*/ 1 w 135"/>
                <a:gd name="T1" fmla="*/ 0 h 139"/>
                <a:gd name="T2" fmla="*/ 1 w 135"/>
                <a:gd name="T3" fmla="*/ 0 h 139"/>
                <a:gd name="T4" fmla="*/ 1 w 135"/>
                <a:gd name="T5" fmla="*/ 0 h 139"/>
                <a:gd name="T6" fmla="*/ 1 w 135"/>
                <a:gd name="T7" fmla="*/ 0 h 139"/>
                <a:gd name="T8" fmla="*/ 1 w 135"/>
                <a:gd name="T9" fmla="*/ 0 h 139"/>
                <a:gd name="T10" fmla="*/ 1 w 135"/>
                <a:gd name="T11" fmla="*/ 0 h 139"/>
                <a:gd name="T12" fmla="*/ 1 w 135"/>
                <a:gd name="T13" fmla="*/ 0 h 139"/>
                <a:gd name="T14" fmla="*/ 1 w 135"/>
                <a:gd name="T15" fmla="*/ 0 h 139"/>
                <a:gd name="T16" fmla="*/ 1 w 135"/>
                <a:gd name="T17" fmla="*/ 0 h 139"/>
                <a:gd name="T18" fmla="*/ 1 w 135"/>
                <a:gd name="T19" fmla="*/ 0 h 139"/>
                <a:gd name="T20" fmla="*/ 1 w 135"/>
                <a:gd name="T21" fmla="*/ 0 h 139"/>
                <a:gd name="T22" fmla="*/ 1 w 135"/>
                <a:gd name="T23" fmla="*/ 0 h 139"/>
                <a:gd name="T24" fmla="*/ 1 w 135"/>
                <a:gd name="T25" fmla="*/ 0 h 139"/>
                <a:gd name="T26" fmla="*/ 1 w 135"/>
                <a:gd name="T27" fmla="*/ 0 h 139"/>
                <a:gd name="T28" fmla="*/ 1 w 135"/>
                <a:gd name="T29" fmla="*/ 0 h 139"/>
                <a:gd name="T30" fmla="*/ 1 w 135"/>
                <a:gd name="T31" fmla="*/ 0 h 139"/>
                <a:gd name="T32" fmla="*/ 0 w 135"/>
                <a:gd name="T33" fmla="*/ 0 h 139"/>
                <a:gd name="T34" fmla="*/ 1 w 135"/>
                <a:gd name="T35" fmla="*/ 0 h 1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35"/>
                <a:gd name="T55" fmla="*/ 0 h 139"/>
                <a:gd name="T56" fmla="*/ 135 w 135"/>
                <a:gd name="T57" fmla="*/ 139 h 1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35" h="139">
                  <a:moveTo>
                    <a:pt x="20" y="0"/>
                  </a:moveTo>
                  <a:lnTo>
                    <a:pt x="22" y="4"/>
                  </a:lnTo>
                  <a:lnTo>
                    <a:pt x="30" y="18"/>
                  </a:lnTo>
                  <a:lnTo>
                    <a:pt x="40" y="38"/>
                  </a:lnTo>
                  <a:lnTo>
                    <a:pt x="55" y="59"/>
                  </a:lnTo>
                  <a:lnTo>
                    <a:pt x="73" y="84"/>
                  </a:lnTo>
                  <a:lnTo>
                    <a:pt x="92" y="106"/>
                  </a:lnTo>
                  <a:lnTo>
                    <a:pt x="113" y="123"/>
                  </a:lnTo>
                  <a:lnTo>
                    <a:pt x="135" y="134"/>
                  </a:lnTo>
                  <a:lnTo>
                    <a:pt x="129" y="135"/>
                  </a:lnTo>
                  <a:lnTo>
                    <a:pt x="114" y="138"/>
                  </a:lnTo>
                  <a:lnTo>
                    <a:pt x="92" y="139"/>
                  </a:lnTo>
                  <a:lnTo>
                    <a:pt x="68" y="139"/>
                  </a:lnTo>
                  <a:lnTo>
                    <a:pt x="43" y="134"/>
                  </a:lnTo>
                  <a:lnTo>
                    <a:pt x="21" y="123"/>
                  </a:lnTo>
                  <a:lnTo>
                    <a:pt x="6" y="104"/>
                  </a:lnTo>
                  <a:lnTo>
                    <a:pt x="0" y="77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Freeform 157">
              <a:extLst>
                <a:ext uri="{FF2B5EF4-FFF2-40B4-BE49-F238E27FC236}">
                  <a16:creationId xmlns:a16="http://schemas.microsoft.com/office/drawing/2014/main" id="{AA3E7B18-6509-28EC-544E-B4AC0673F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358"/>
              <a:ext cx="78" cy="59"/>
            </a:xfrm>
            <a:custGeom>
              <a:avLst/>
              <a:gdLst>
                <a:gd name="T0" fmla="*/ 1 w 133"/>
                <a:gd name="T1" fmla="*/ 0 h 129"/>
                <a:gd name="T2" fmla="*/ 1 w 133"/>
                <a:gd name="T3" fmla="*/ 0 h 129"/>
                <a:gd name="T4" fmla="*/ 1 w 133"/>
                <a:gd name="T5" fmla="*/ 0 h 129"/>
                <a:gd name="T6" fmla="*/ 1 w 133"/>
                <a:gd name="T7" fmla="*/ 0 h 129"/>
                <a:gd name="T8" fmla="*/ 1 w 133"/>
                <a:gd name="T9" fmla="*/ 0 h 129"/>
                <a:gd name="T10" fmla="*/ 1 w 133"/>
                <a:gd name="T11" fmla="*/ 0 h 129"/>
                <a:gd name="T12" fmla="*/ 1 w 133"/>
                <a:gd name="T13" fmla="*/ 0 h 129"/>
                <a:gd name="T14" fmla="*/ 1 w 133"/>
                <a:gd name="T15" fmla="*/ 0 h 129"/>
                <a:gd name="T16" fmla="*/ 1 w 133"/>
                <a:gd name="T17" fmla="*/ 0 h 129"/>
                <a:gd name="T18" fmla="*/ 1 w 133"/>
                <a:gd name="T19" fmla="*/ 0 h 129"/>
                <a:gd name="T20" fmla="*/ 1 w 133"/>
                <a:gd name="T21" fmla="*/ 0 h 129"/>
                <a:gd name="T22" fmla="*/ 1 w 133"/>
                <a:gd name="T23" fmla="*/ 0 h 129"/>
                <a:gd name="T24" fmla="*/ 0 w 133"/>
                <a:gd name="T25" fmla="*/ 0 h 129"/>
                <a:gd name="T26" fmla="*/ 0 w 133"/>
                <a:gd name="T27" fmla="*/ 0 h 129"/>
                <a:gd name="T28" fmla="*/ 1 w 133"/>
                <a:gd name="T29" fmla="*/ 0 h 129"/>
                <a:gd name="T30" fmla="*/ 1 w 133"/>
                <a:gd name="T31" fmla="*/ 0 h 129"/>
                <a:gd name="T32" fmla="*/ 1 w 133"/>
                <a:gd name="T33" fmla="*/ 0 h 129"/>
                <a:gd name="T34" fmla="*/ 1 w 133"/>
                <a:gd name="T35" fmla="*/ 0 h 12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33"/>
                <a:gd name="T55" fmla="*/ 0 h 129"/>
                <a:gd name="T56" fmla="*/ 133 w 133"/>
                <a:gd name="T57" fmla="*/ 129 h 12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33" h="129">
                  <a:moveTo>
                    <a:pt x="133" y="0"/>
                  </a:moveTo>
                  <a:lnTo>
                    <a:pt x="128" y="3"/>
                  </a:lnTo>
                  <a:lnTo>
                    <a:pt x="118" y="11"/>
                  </a:lnTo>
                  <a:lnTo>
                    <a:pt x="102" y="22"/>
                  </a:lnTo>
                  <a:lnTo>
                    <a:pt x="82" y="38"/>
                  </a:lnTo>
                  <a:lnTo>
                    <a:pt x="61" y="57"/>
                  </a:lnTo>
                  <a:lnTo>
                    <a:pt x="42" y="79"/>
                  </a:lnTo>
                  <a:lnTo>
                    <a:pt x="24" y="103"/>
                  </a:lnTo>
                  <a:lnTo>
                    <a:pt x="12" y="129"/>
                  </a:lnTo>
                  <a:lnTo>
                    <a:pt x="11" y="125"/>
                  </a:lnTo>
                  <a:lnTo>
                    <a:pt x="7" y="114"/>
                  </a:lnTo>
                  <a:lnTo>
                    <a:pt x="4" y="98"/>
                  </a:lnTo>
                  <a:lnTo>
                    <a:pt x="0" y="79"/>
                  </a:lnTo>
                  <a:lnTo>
                    <a:pt x="0" y="58"/>
                  </a:lnTo>
                  <a:lnTo>
                    <a:pt x="4" y="39"/>
                  </a:lnTo>
                  <a:lnTo>
                    <a:pt x="13" y="22"/>
                  </a:lnTo>
                  <a:lnTo>
                    <a:pt x="29" y="11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9191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Freeform 158">
              <a:extLst>
                <a:ext uri="{FF2B5EF4-FFF2-40B4-BE49-F238E27FC236}">
                  <a16:creationId xmlns:a16="http://schemas.microsoft.com/office/drawing/2014/main" id="{BA1F81FD-5B20-E36C-EAD3-F4C63B71E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271"/>
              <a:ext cx="580" cy="73"/>
            </a:xfrm>
            <a:custGeom>
              <a:avLst/>
              <a:gdLst>
                <a:gd name="T0" fmla="*/ 0 w 988"/>
                <a:gd name="T1" fmla="*/ 0 h 158"/>
                <a:gd name="T2" fmla="*/ 3 w 988"/>
                <a:gd name="T3" fmla="*/ 0 h 158"/>
                <a:gd name="T4" fmla="*/ 3 w 988"/>
                <a:gd name="T5" fmla="*/ 0 h 158"/>
                <a:gd name="T6" fmla="*/ 3 w 988"/>
                <a:gd name="T7" fmla="*/ 0 h 158"/>
                <a:gd name="T8" fmla="*/ 3 w 988"/>
                <a:gd name="T9" fmla="*/ 0 h 158"/>
                <a:gd name="T10" fmla="*/ 3 w 988"/>
                <a:gd name="T11" fmla="*/ 0 h 158"/>
                <a:gd name="T12" fmla="*/ 3 w 988"/>
                <a:gd name="T13" fmla="*/ 0 h 158"/>
                <a:gd name="T14" fmla="*/ 3 w 988"/>
                <a:gd name="T15" fmla="*/ 0 h 158"/>
                <a:gd name="T16" fmla="*/ 4 w 988"/>
                <a:gd name="T17" fmla="*/ 0 h 158"/>
                <a:gd name="T18" fmla="*/ 4 w 988"/>
                <a:gd name="T19" fmla="*/ 0 h 158"/>
                <a:gd name="T20" fmla="*/ 4 w 988"/>
                <a:gd name="T21" fmla="*/ 0 h 158"/>
                <a:gd name="T22" fmla="*/ 4 w 988"/>
                <a:gd name="T23" fmla="*/ 0 h 158"/>
                <a:gd name="T24" fmla="*/ 4 w 988"/>
                <a:gd name="T25" fmla="*/ 0 h 158"/>
                <a:gd name="T26" fmla="*/ 4 w 988"/>
                <a:gd name="T27" fmla="*/ 0 h 158"/>
                <a:gd name="T28" fmla="*/ 4 w 988"/>
                <a:gd name="T29" fmla="*/ 0 h 158"/>
                <a:gd name="T30" fmla="*/ 5 w 988"/>
                <a:gd name="T31" fmla="*/ 0 h 158"/>
                <a:gd name="T32" fmla="*/ 5 w 988"/>
                <a:gd name="T33" fmla="*/ 0 h 158"/>
                <a:gd name="T34" fmla="*/ 5 w 988"/>
                <a:gd name="T35" fmla="*/ 0 h 158"/>
                <a:gd name="T36" fmla="*/ 5 w 988"/>
                <a:gd name="T37" fmla="*/ 0 h 158"/>
                <a:gd name="T38" fmla="*/ 5 w 988"/>
                <a:gd name="T39" fmla="*/ 0 h 158"/>
                <a:gd name="T40" fmla="*/ 5 w 988"/>
                <a:gd name="T41" fmla="*/ 0 h 158"/>
                <a:gd name="T42" fmla="*/ 5 w 988"/>
                <a:gd name="T43" fmla="*/ 0 h 158"/>
                <a:gd name="T44" fmla="*/ 5 w 988"/>
                <a:gd name="T45" fmla="*/ 0 h 158"/>
                <a:gd name="T46" fmla="*/ 5 w 988"/>
                <a:gd name="T47" fmla="*/ 0 h 158"/>
                <a:gd name="T48" fmla="*/ 5 w 988"/>
                <a:gd name="T49" fmla="*/ 0 h 158"/>
                <a:gd name="T50" fmla="*/ 4 w 988"/>
                <a:gd name="T51" fmla="*/ 0 h 158"/>
                <a:gd name="T52" fmla="*/ 4 w 988"/>
                <a:gd name="T53" fmla="*/ 0 h 158"/>
                <a:gd name="T54" fmla="*/ 4 w 988"/>
                <a:gd name="T55" fmla="*/ 0 h 158"/>
                <a:gd name="T56" fmla="*/ 4 w 988"/>
                <a:gd name="T57" fmla="*/ 0 h 158"/>
                <a:gd name="T58" fmla="*/ 4 w 988"/>
                <a:gd name="T59" fmla="*/ 0 h 158"/>
                <a:gd name="T60" fmla="*/ 4 w 988"/>
                <a:gd name="T61" fmla="*/ 0 h 158"/>
                <a:gd name="T62" fmla="*/ 4 w 988"/>
                <a:gd name="T63" fmla="*/ 0 h 158"/>
                <a:gd name="T64" fmla="*/ 3 w 988"/>
                <a:gd name="T65" fmla="*/ 0 h 158"/>
                <a:gd name="T66" fmla="*/ 3 w 988"/>
                <a:gd name="T67" fmla="*/ 0 h 158"/>
                <a:gd name="T68" fmla="*/ 0 w 988"/>
                <a:gd name="T69" fmla="*/ 0 h 1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988"/>
                <a:gd name="T106" fmla="*/ 0 h 158"/>
                <a:gd name="T107" fmla="*/ 988 w 988"/>
                <a:gd name="T108" fmla="*/ 158 h 15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988" h="158">
                  <a:moveTo>
                    <a:pt x="0" y="158"/>
                  </a:moveTo>
                  <a:lnTo>
                    <a:pt x="641" y="54"/>
                  </a:lnTo>
                  <a:lnTo>
                    <a:pt x="642" y="53"/>
                  </a:lnTo>
                  <a:lnTo>
                    <a:pt x="647" y="51"/>
                  </a:lnTo>
                  <a:lnTo>
                    <a:pt x="654" y="46"/>
                  </a:lnTo>
                  <a:lnTo>
                    <a:pt x="663" y="42"/>
                  </a:lnTo>
                  <a:lnTo>
                    <a:pt x="676" y="37"/>
                  </a:lnTo>
                  <a:lnTo>
                    <a:pt x="691" y="33"/>
                  </a:lnTo>
                  <a:lnTo>
                    <a:pt x="708" y="28"/>
                  </a:lnTo>
                  <a:lnTo>
                    <a:pt x="729" y="25"/>
                  </a:lnTo>
                  <a:lnTo>
                    <a:pt x="752" y="23"/>
                  </a:lnTo>
                  <a:lnTo>
                    <a:pt x="778" y="23"/>
                  </a:lnTo>
                  <a:lnTo>
                    <a:pt x="806" y="26"/>
                  </a:lnTo>
                  <a:lnTo>
                    <a:pt x="837" y="31"/>
                  </a:lnTo>
                  <a:lnTo>
                    <a:pt x="872" y="39"/>
                  </a:lnTo>
                  <a:lnTo>
                    <a:pt x="907" y="52"/>
                  </a:lnTo>
                  <a:lnTo>
                    <a:pt x="947" y="69"/>
                  </a:lnTo>
                  <a:lnTo>
                    <a:pt x="988" y="90"/>
                  </a:lnTo>
                  <a:lnTo>
                    <a:pt x="986" y="89"/>
                  </a:lnTo>
                  <a:lnTo>
                    <a:pt x="980" y="83"/>
                  </a:lnTo>
                  <a:lnTo>
                    <a:pt x="971" y="76"/>
                  </a:lnTo>
                  <a:lnTo>
                    <a:pt x="957" y="67"/>
                  </a:lnTo>
                  <a:lnTo>
                    <a:pt x="941" y="57"/>
                  </a:lnTo>
                  <a:lnTo>
                    <a:pt x="922" y="46"/>
                  </a:lnTo>
                  <a:lnTo>
                    <a:pt x="900" y="36"/>
                  </a:lnTo>
                  <a:lnTo>
                    <a:pt x="876" y="25"/>
                  </a:lnTo>
                  <a:lnTo>
                    <a:pt x="850" y="15"/>
                  </a:lnTo>
                  <a:lnTo>
                    <a:pt x="822" y="8"/>
                  </a:lnTo>
                  <a:lnTo>
                    <a:pt x="792" y="3"/>
                  </a:lnTo>
                  <a:lnTo>
                    <a:pt x="761" y="0"/>
                  </a:lnTo>
                  <a:lnTo>
                    <a:pt x="729" y="1"/>
                  </a:lnTo>
                  <a:lnTo>
                    <a:pt x="695" y="7"/>
                  </a:lnTo>
                  <a:lnTo>
                    <a:pt x="662" y="18"/>
                  </a:lnTo>
                  <a:lnTo>
                    <a:pt x="629" y="33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Freeform 159">
              <a:extLst>
                <a:ext uri="{FF2B5EF4-FFF2-40B4-BE49-F238E27FC236}">
                  <a16:creationId xmlns:a16="http://schemas.microsoft.com/office/drawing/2014/main" id="{45CBB225-D1D8-A39C-0D88-97F18D161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" y="343"/>
              <a:ext cx="86" cy="617"/>
            </a:xfrm>
            <a:custGeom>
              <a:avLst/>
              <a:gdLst>
                <a:gd name="T0" fmla="*/ 1 w 147"/>
                <a:gd name="T1" fmla="*/ 0 h 1339"/>
                <a:gd name="T2" fmla="*/ 0 w 147"/>
                <a:gd name="T3" fmla="*/ 0 h 1339"/>
                <a:gd name="T4" fmla="*/ 1 w 147"/>
                <a:gd name="T5" fmla="*/ 0 h 1339"/>
                <a:gd name="T6" fmla="*/ 1 w 147"/>
                <a:gd name="T7" fmla="*/ 0 h 1339"/>
                <a:gd name="T8" fmla="*/ 1 w 147"/>
                <a:gd name="T9" fmla="*/ 0 h 1339"/>
                <a:gd name="T10" fmla="*/ 1 w 147"/>
                <a:gd name="T11" fmla="*/ 0 h 1339"/>
                <a:gd name="T12" fmla="*/ 1 w 147"/>
                <a:gd name="T13" fmla="*/ 0 h 1339"/>
                <a:gd name="T14" fmla="*/ 1 w 147"/>
                <a:gd name="T15" fmla="*/ 0 h 1339"/>
                <a:gd name="T16" fmla="*/ 1 w 147"/>
                <a:gd name="T17" fmla="*/ 0 h 1339"/>
                <a:gd name="T18" fmla="*/ 1 w 147"/>
                <a:gd name="T19" fmla="*/ 0 h 13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7"/>
                <a:gd name="T31" fmla="*/ 0 h 1339"/>
                <a:gd name="T32" fmla="*/ 147 w 147"/>
                <a:gd name="T33" fmla="*/ 1339 h 133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7" h="1339">
                  <a:moveTo>
                    <a:pt x="142" y="0"/>
                  </a:moveTo>
                  <a:lnTo>
                    <a:pt x="0" y="1339"/>
                  </a:lnTo>
                  <a:lnTo>
                    <a:pt x="8" y="1284"/>
                  </a:lnTo>
                  <a:lnTo>
                    <a:pt x="28" y="1139"/>
                  </a:lnTo>
                  <a:lnTo>
                    <a:pt x="56" y="933"/>
                  </a:lnTo>
                  <a:lnTo>
                    <a:pt x="85" y="694"/>
                  </a:lnTo>
                  <a:lnTo>
                    <a:pt x="114" y="452"/>
                  </a:lnTo>
                  <a:lnTo>
                    <a:pt x="136" y="237"/>
                  </a:lnTo>
                  <a:lnTo>
                    <a:pt x="147" y="76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Freeform 160">
              <a:extLst>
                <a:ext uri="{FF2B5EF4-FFF2-40B4-BE49-F238E27FC236}">
                  <a16:creationId xmlns:a16="http://schemas.microsoft.com/office/drawing/2014/main" id="{34F1E4C0-B7FD-9C74-363D-4A35171FE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904"/>
              <a:ext cx="596" cy="56"/>
            </a:xfrm>
            <a:custGeom>
              <a:avLst/>
              <a:gdLst>
                <a:gd name="T0" fmla="*/ 1 w 1015"/>
                <a:gd name="T1" fmla="*/ 0 h 121"/>
                <a:gd name="T2" fmla="*/ 3 w 1015"/>
                <a:gd name="T3" fmla="*/ 0 h 121"/>
                <a:gd name="T4" fmla="*/ 3 w 1015"/>
                <a:gd name="T5" fmla="*/ 0 h 121"/>
                <a:gd name="T6" fmla="*/ 3 w 1015"/>
                <a:gd name="T7" fmla="*/ 0 h 121"/>
                <a:gd name="T8" fmla="*/ 3 w 1015"/>
                <a:gd name="T9" fmla="*/ 0 h 121"/>
                <a:gd name="T10" fmla="*/ 3 w 1015"/>
                <a:gd name="T11" fmla="*/ 0 h 121"/>
                <a:gd name="T12" fmla="*/ 4 w 1015"/>
                <a:gd name="T13" fmla="*/ 0 h 121"/>
                <a:gd name="T14" fmla="*/ 4 w 1015"/>
                <a:gd name="T15" fmla="*/ 0 h 121"/>
                <a:gd name="T16" fmla="*/ 4 w 1015"/>
                <a:gd name="T17" fmla="*/ 0 h 121"/>
                <a:gd name="T18" fmla="*/ 4 w 1015"/>
                <a:gd name="T19" fmla="*/ 0 h 121"/>
                <a:gd name="T20" fmla="*/ 4 w 1015"/>
                <a:gd name="T21" fmla="*/ 0 h 121"/>
                <a:gd name="T22" fmla="*/ 4 w 1015"/>
                <a:gd name="T23" fmla="*/ 0 h 121"/>
                <a:gd name="T24" fmla="*/ 4 w 1015"/>
                <a:gd name="T25" fmla="*/ 0 h 121"/>
                <a:gd name="T26" fmla="*/ 4 w 1015"/>
                <a:gd name="T27" fmla="*/ 0 h 121"/>
                <a:gd name="T28" fmla="*/ 5 w 1015"/>
                <a:gd name="T29" fmla="*/ 0 h 121"/>
                <a:gd name="T30" fmla="*/ 5 w 1015"/>
                <a:gd name="T31" fmla="*/ 0 h 121"/>
                <a:gd name="T32" fmla="*/ 5 w 1015"/>
                <a:gd name="T33" fmla="*/ 0 h 121"/>
                <a:gd name="T34" fmla="*/ 5 w 1015"/>
                <a:gd name="T35" fmla="*/ 0 h 121"/>
                <a:gd name="T36" fmla="*/ 5 w 1015"/>
                <a:gd name="T37" fmla="*/ 0 h 121"/>
                <a:gd name="T38" fmla="*/ 5 w 1015"/>
                <a:gd name="T39" fmla="*/ 0 h 121"/>
                <a:gd name="T40" fmla="*/ 5 w 1015"/>
                <a:gd name="T41" fmla="*/ 0 h 121"/>
                <a:gd name="T42" fmla="*/ 5 w 1015"/>
                <a:gd name="T43" fmla="*/ 0 h 121"/>
                <a:gd name="T44" fmla="*/ 5 w 1015"/>
                <a:gd name="T45" fmla="*/ 0 h 121"/>
                <a:gd name="T46" fmla="*/ 5 w 1015"/>
                <a:gd name="T47" fmla="*/ 0 h 121"/>
                <a:gd name="T48" fmla="*/ 5 w 1015"/>
                <a:gd name="T49" fmla="*/ 0 h 121"/>
                <a:gd name="T50" fmla="*/ 5 w 1015"/>
                <a:gd name="T51" fmla="*/ 0 h 121"/>
                <a:gd name="T52" fmla="*/ 5 w 1015"/>
                <a:gd name="T53" fmla="*/ 0 h 121"/>
                <a:gd name="T54" fmla="*/ 4 w 1015"/>
                <a:gd name="T55" fmla="*/ 0 h 121"/>
                <a:gd name="T56" fmla="*/ 4 w 1015"/>
                <a:gd name="T57" fmla="*/ 0 h 121"/>
                <a:gd name="T58" fmla="*/ 4 w 1015"/>
                <a:gd name="T59" fmla="*/ 0 h 121"/>
                <a:gd name="T60" fmla="*/ 4 w 1015"/>
                <a:gd name="T61" fmla="*/ 0 h 121"/>
                <a:gd name="T62" fmla="*/ 4 w 1015"/>
                <a:gd name="T63" fmla="*/ 0 h 121"/>
                <a:gd name="T64" fmla="*/ 4 w 1015"/>
                <a:gd name="T65" fmla="*/ 0 h 121"/>
                <a:gd name="T66" fmla="*/ 3 w 1015"/>
                <a:gd name="T67" fmla="*/ 0 h 121"/>
                <a:gd name="T68" fmla="*/ 1 w 1015"/>
                <a:gd name="T69" fmla="*/ 0 h 121"/>
                <a:gd name="T70" fmla="*/ 1 w 1015"/>
                <a:gd name="T71" fmla="*/ 0 h 121"/>
                <a:gd name="T72" fmla="*/ 1 w 1015"/>
                <a:gd name="T73" fmla="*/ 0 h 121"/>
                <a:gd name="T74" fmla="*/ 1 w 1015"/>
                <a:gd name="T75" fmla="*/ 0 h 121"/>
                <a:gd name="T76" fmla="*/ 1 w 1015"/>
                <a:gd name="T77" fmla="*/ 0 h 121"/>
                <a:gd name="T78" fmla="*/ 1 w 1015"/>
                <a:gd name="T79" fmla="*/ 0 h 121"/>
                <a:gd name="T80" fmla="*/ 1 w 1015"/>
                <a:gd name="T81" fmla="*/ 0 h 121"/>
                <a:gd name="T82" fmla="*/ 1 w 1015"/>
                <a:gd name="T83" fmla="*/ 0 h 121"/>
                <a:gd name="T84" fmla="*/ 1 w 1015"/>
                <a:gd name="T85" fmla="*/ 0 h 121"/>
                <a:gd name="T86" fmla="*/ 1 w 1015"/>
                <a:gd name="T87" fmla="*/ 0 h 121"/>
                <a:gd name="T88" fmla="*/ 0 w 1015"/>
                <a:gd name="T89" fmla="*/ 0 h 121"/>
                <a:gd name="T90" fmla="*/ 0 w 1015"/>
                <a:gd name="T91" fmla="*/ 0 h 121"/>
                <a:gd name="T92" fmla="*/ 1 w 1015"/>
                <a:gd name="T93" fmla="*/ 0 h 121"/>
                <a:gd name="T94" fmla="*/ 1 w 1015"/>
                <a:gd name="T95" fmla="*/ 0 h 121"/>
                <a:gd name="T96" fmla="*/ 1 w 1015"/>
                <a:gd name="T97" fmla="*/ 0 h 121"/>
                <a:gd name="T98" fmla="*/ 1 w 1015"/>
                <a:gd name="T99" fmla="*/ 0 h 121"/>
                <a:gd name="T100" fmla="*/ 1 w 1015"/>
                <a:gd name="T101" fmla="*/ 0 h 12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15"/>
                <a:gd name="T154" fmla="*/ 0 h 121"/>
                <a:gd name="T155" fmla="*/ 1015 w 1015"/>
                <a:gd name="T156" fmla="*/ 121 h 12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15" h="121">
                  <a:moveTo>
                    <a:pt x="133" y="55"/>
                  </a:moveTo>
                  <a:lnTo>
                    <a:pt x="663" y="103"/>
                  </a:lnTo>
                  <a:lnTo>
                    <a:pt x="665" y="103"/>
                  </a:lnTo>
                  <a:lnTo>
                    <a:pt x="670" y="104"/>
                  </a:lnTo>
                  <a:lnTo>
                    <a:pt x="678" y="105"/>
                  </a:lnTo>
                  <a:lnTo>
                    <a:pt x="689" y="106"/>
                  </a:lnTo>
                  <a:lnTo>
                    <a:pt x="704" y="108"/>
                  </a:lnTo>
                  <a:lnTo>
                    <a:pt x="721" y="110"/>
                  </a:lnTo>
                  <a:lnTo>
                    <a:pt x="741" y="111"/>
                  </a:lnTo>
                  <a:lnTo>
                    <a:pt x="764" y="113"/>
                  </a:lnTo>
                  <a:lnTo>
                    <a:pt x="788" y="116"/>
                  </a:lnTo>
                  <a:lnTo>
                    <a:pt x="816" y="117"/>
                  </a:lnTo>
                  <a:lnTo>
                    <a:pt x="845" y="119"/>
                  </a:lnTo>
                  <a:lnTo>
                    <a:pt x="876" y="120"/>
                  </a:lnTo>
                  <a:lnTo>
                    <a:pt x="908" y="121"/>
                  </a:lnTo>
                  <a:lnTo>
                    <a:pt x="943" y="121"/>
                  </a:lnTo>
                  <a:lnTo>
                    <a:pt x="978" y="121"/>
                  </a:lnTo>
                  <a:lnTo>
                    <a:pt x="1015" y="121"/>
                  </a:lnTo>
                  <a:lnTo>
                    <a:pt x="1014" y="121"/>
                  </a:lnTo>
                  <a:lnTo>
                    <a:pt x="1009" y="121"/>
                  </a:lnTo>
                  <a:lnTo>
                    <a:pt x="1003" y="120"/>
                  </a:lnTo>
                  <a:lnTo>
                    <a:pt x="993" y="119"/>
                  </a:lnTo>
                  <a:lnTo>
                    <a:pt x="981" y="119"/>
                  </a:lnTo>
                  <a:lnTo>
                    <a:pt x="966" y="117"/>
                  </a:lnTo>
                  <a:lnTo>
                    <a:pt x="948" y="116"/>
                  </a:lnTo>
                  <a:lnTo>
                    <a:pt x="928" y="113"/>
                  </a:lnTo>
                  <a:lnTo>
                    <a:pt x="905" y="111"/>
                  </a:lnTo>
                  <a:lnTo>
                    <a:pt x="879" y="109"/>
                  </a:lnTo>
                  <a:lnTo>
                    <a:pt x="852" y="105"/>
                  </a:lnTo>
                  <a:lnTo>
                    <a:pt x="821" y="102"/>
                  </a:lnTo>
                  <a:lnTo>
                    <a:pt x="787" y="98"/>
                  </a:lnTo>
                  <a:lnTo>
                    <a:pt x="751" y="94"/>
                  </a:lnTo>
                  <a:lnTo>
                    <a:pt x="712" y="89"/>
                  </a:lnTo>
                  <a:lnTo>
                    <a:pt x="672" y="83"/>
                  </a:lnTo>
                  <a:lnTo>
                    <a:pt x="35" y="52"/>
                  </a:lnTo>
                  <a:lnTo>
                    <a:pt x="34" y="52"/>
                  </a:lnTo>
                  <a:lnTo>
                    <a:pt x="29" y="51"/>
                  </a:lnTo>
                  <a:lnTo>
                    <a:pt x="23" y="50"/>
                  </a:lnTo>
                  <a:lnTo>
                    <a:pt x="18" y="45"/>
                  </a:lnTo>
                  <a:lnTo>
                    <a:pt x="12" y="40"/>
                  </a:lnTo>
                  <a:lnTo>
                    <a:pt x="6" y="30"/>
                  </a:lnTo>
                  <a:lnTo>
                    <a:pt x="3" y="18"/>
                  </a:lnTo>
                  <a:lnTo>
                    <a:pt x="3" y="0"/>
                  </a:lnTo>
                  <a:lnTo>
                    <a:pt x="1" y="3"/>
                  </a:lnTo>
                  <a:lnTo>
                    <a:pt x="0" y="7"/>
                  </a:lnTo>
                  <a:lnTo>
                    <a:pt x="0" y="14"/>
                  </a:lnTo>
                  <a:lnTo>
                    <a:pt x="6" y="23"/>
                  </a:lnTo>
                  <a:lnTo>
                    <a:pt x="19" y="33"/>
                  </a:lnTo>
                  <a:lnTo>
                    <a:pt x="43" y="42"/>
                  </a:lnTo>
                  <a:lnTo>
                    <a:pt x="80" y="49"/>
                  </a:lnTo>
                  <a:lnTo>
                    <a:pt x="133" y="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Freeform 161">
              <a:extLst>
                <a:ext uri="{FF2B5EF4-FFF2-40B4-BE49-F238E27FC236}">
                  <a16:creationId xmlns:a16="http://schemas.microsoft.com/office/drawing/2014/main" id="{17D0BF71-B85B-576E-25C1-C0C239285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359"/>
              <a:ext cx="69" cy="559"/>
            </a:xfrm>
            <a:custGeom>
              <a:avLst/>
              <a:gdLst>
                <a:gd name="T0" fmla="*/ 1 w 118"/>
                <a:gd name="T1" fmla="*/ 0 h 1211"/>
                <a:gd name="T2" fmla="*/ 0 w 118"/>
                <a:gd name="T3" fmla="*/ 0 h 1211"/>
                <a:gd name="T4" fmla="*/ 1 w 118"/>
                <a:gd name="T5" fmla="*/ 0 h 1211"/>
                <a:gd name="T6" fmla="*/ 1 w 118"/>
                <a:gd name="T7" fmla="*/ 0 h 1211"/>
                <a:gd name="T8" fmla="*/ 1 w 118"/>
                <a:gd name="T9" fmla="*/ 0 h 1211"/>
                <a:gd name="T10" fmla="*/ 1 w 118"/>
                <a:gd name="T11" fmla="*/ 0 h 1211"/>
                <a:gd name="T12" fmla="*/ 1 w 118"/>
                <a:gd name="T13" fmla="*/ 0 h 1211"/>
                <a:gd name="T14" fmla="*/ 1 w 118"/>
                <a:gd name="T15" fmla="*/ 0 h 1211"/>
                <a:gd name="T16" fmla="*/ 1 w 118"/>
                <a:gd name="T17" fmla="*/ 0 h 1211"/>
                <a:gd name="T18" fmla="*/ 1 w 118"/>
                <a:gd name="T19" fmla="*/ 0 h 12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8"/>
                <a:gd name="T31" fmla="*/ 0 h 1211"/>
                <a:gd name="T32" fmla="*/ 118 w 118"/>
                <a:gd name="T33" fmla="*/ 1211 h 12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8" h="1211">
                  <a:moveTo>
                    <a:pt x="118" y="0"/>
                  </a:moveTo>
                  <a:lnTo>
                    <a:pt x="0" y="1211"/>
                  </a:lnTo>
                  <a:lnTo>
                    <a:pt x="3" y="1160"/>
                  </a:lnTo>
                  <a:lnTo>
                    <a:pt x="11" y="1023"/>
                  </a:lnTo>
                  <a:lnTo>
                    <a:pt x="23" y="828"/>
                  </a:lnTo>
                  <a:lnTo>
                    <a:pt x="38" y="606"/>
                  </a:lnTo>
                  <a:lnTo>
                    <a:pt x="57" y="383"/>
                  </a:lnTo>
                  <a:lnTo>
                    <a:pt x="76" y="189"/>
                  </a:lnTo>
                  <a:lnTo>
                    <a:pt x="97" y="52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Freeform 162">
              <a:extLst>
                <a:ext uri="{FF2B5EF4-FFF2-40B4-BE49-F238E27FC236}">
                  <a16:creationId xmlns:a16="http://schemas.microsoft.com/office/drawing/2014/main" id="{72038C70-A70C-3B64-5942-F502B6DEC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316"/>
              <a:ext cx="91" cy="605"/>
            </a:xfrm>
            <a:custGeom>
              <a:avLst/>
              <a:gdLst>
                <a:gd name="T0" fmla="*/ 1 w 153"/>
                <a:gd name="T1" fmla="*/ 0 h 1314"/>
                <a:gd name="T2" fmla="*/ 0 w 153"/>
                <a:gd name="T3" fmla="*/ 0 h 1314"/>
                <a:gd name="T4" fmla="*/ 1 w 153"/>
                <a:gd name="T5" fmla="*/ 0 h 1314"/>
                <a:gd name="T6" fmla="*/ 1 w 153"/>
                <a:gd name="T7" fmla="*/ 0 h 1314"/>
                <a:gd name="T8" fmla="*/ 1 w 153"/>
                <a:gd name="T9" fmla="*/ 0 h 1314"/>
                <a:gd name="T10" fmla="*/ 1 w 153"/>
                <a:gd name="T11" fmla="*/ 0 h 1314"/>
                <a:gd name="T12" fmla="*/ 1 w 153"/>
                <a:gd name="T13" fmla="*/ 0 h 1314"/>
                <a:gd name="T14" fmla="*/ 1 w 153"/>
                <a:gd name="T15" fmla="*/ 0 h 1314"/>
                <a:gd name="T16" fmla="*/ 1 w 153"/>
                <a:gd name="T17" fmla="*/ 0 h 1314"/>
                <a:gd name="T18" fmla="*/ 1 w 153"/>
                <a:gd name="T19" fmla="*/ 0 h 1314"/>
                <a:gd name="T20" fmla="*/ 1 w 153"/>
                <a:gd name="T21" fmla="*/ 0 h 1314"/>
                <a:gd name="T22" fmla="*/ 1 w 153"/>
                <a:gd name="T23" fmla="*/ 0 h 1314"/>
                <a:gd name="T24" fmla="*/ 1 w 153"/>
                <a:gd name="T25" fmla="*/ 0 h 1314"/>
                <a:gd name="T26" fmla="*/ 1 w 153"/>
                <a:gd name="T27" fmla="*/ 0 h 1314"/>
                <a:gd name="T28" fmla="*/ 1 w 153"/>
                <a:gd name="T29" fmla="*/ 0 h 1314"/>
                <a:gd name="T30" fmla="*/ 1 w 153"/>
                <a:gd name="T31" fmla="*/ 0 h 1314"/>
                <a:gd name="T32" fmla="*/ 1 w 153"/>
                <a:gd name="T33" fmla="*/ 0 h 1314"/>
                <a:gd name="T34" fmla="*/ 1 w 153"/>
                <a:gd name="T35" fmla="*/ 0 h 13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3"/>
                <a:gd name="T55" fmla="*/ 0 h 1314"/>
                <a:gd name="T56" fmla="*/ 153 w 153"/>
                <a:gd name="T57" fmla="*/ 1314 h 131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3" h="1314">
                  <a:moveTo>
                    <a:pt x="146" y="0"/>
                  </a:moveTo>
                  <a:lnTo>
                    <a:pt x="0" y="1314"/>
                  </a:lnTo>
                  <a:lnTo>
                    <a:pt x="2" y="1299"/>
                  </a:lnTo>
                  <a:lnTo>
                    <a:pt x="8" y="1259"/>
                  </a:lnTo>
                  <a:lnTo>
                    <a:pt x="17" y="1195"/>
                  </a:lnTo>
                  <a:lnTo>
                    <a:pt x="29" y="1112"/>
                  </a:lnTo>
                  <a:lnTo>
                    <a:pt x="42" y="1014"/>
                  </a:lnTo>
                  <a:lnTo>
                    <a:pt x="57" y="904"/>
                  </a:lnTo>
                  <a:lnTo>
                    <a:pt x="74" y="787"/>
                  </a:lnTo>
                  <a:lnTo>
                    <a:pt x="90" y="665"/>
                  </a:lnTo>
                  <a:lnTo>
                    <a:pt x="106" y="544"/>
                  </a:lnTo>
                  <a:lnTo>
                    <a:pt x="120" y="425"/>
                  </a:lnTo>
                  <a:lnTo>
                    <a:pt x="132" y="315"/>
                  </a:lnTo>
                  <a:lnTo>
                    <a:pt x="143" y="214"/>
                  </a:lnTo>
                  <a:lnTo>
                    <a:pt x="150" y="129"/>
                  </a:lnTo>
                  <a:lnTo>
                    <a:pt x="153" y="62"/>
                  </a:lnTo>
                  <a:lnTo>
                    <a:pt x="152" y="1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1" name="Freeform 163">
              <a:extLst>
                <a:ext uri="{FF2B5EF4-FFF2-40B4-BE49-F238E27FC236}">
                  <a16:creationId xmlns:a16="http://schemas.microsoft.com/office/drawing/2014/main" id="{A9BAF5C5-52D0-9772-110A-B41DDC9E3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3" y="856"/>
              <a:ext cx="86" cy="72"/>
            </a:xfrm>
            <a:custGeom>
              <a:avLst/>
              <a:gdLst>
                <a:gd name="T0" fmla="*/ 0 w 146"/>
                <a:gd name="T1" fmla="*/ 0 h 155"/>
                <a:gd name="T2" fmla="*/ 1 w 146"/>
                <a:gd name="T3" fmla="*/ 0 h 155"/>
                <a:gd name="T4" fmla="*/ 1 w 146"/>
                <a:gd name="T5" fmla="*/ 0 h 155"/>
                <a:gd name="T6" fmla="*/ 1 w 146"/>
                <a:gd name="T7" fmla="*/ 0 h 155"/>
                <a:gd name="T8" fmla="*/ 1 w 146"/>
                <a:gd name="T9" fmla="*/ 0 h 155"/>
                <a:gd name="T10" fmla="*/ 1 w 146"/>
                <a:gd name="T11" fmla="*/ 0 h 155"/>
                <a:gd name="T12" fmla="*/ 1 w 146"/>
                <a:gd name="T13" fmla="*/ 0 h 155"/>
                <a:gd name="T14" fmla="*/ 1 w 146"/>
                <a:gd name="T15" fmla="*/ 0 h 155"/>
                <a:gd name="T16" fmla="*/ 1 w 146"/>
                <a:gd name="T17" fmla="*/ 0 h 155"/>
                <a:gd name="T18" fmla="*/ 1 w 146"/>
                <a:gd name="T19" fmla="*/ 0 h 155"/>
                <a:gd name="T20" fmla="*/ 1 w 146"/>
                <a:gd name="T21" fmla="*/ 0 h 155"/>
                <a:gd name="T22" fmla="*/ 1 w 146"/>
                <a:gd name="T23" fmla="*/ 0 h 155"/>
                <a:gd name="T24" fmla="*/ 1 w 146"/>
                <a:gd name="T25" fmla="*/ 0 h 155"/>
                <a:gd name="T26" fmla="*/ 1 w 146"/>
                <a:gd name="T27" fmla="*/ 0 h 155"/>
                <a:gd name="T28" fmla="*/ 1 w 146"/>
                <a:gd name="T29" fmla="*/ 0 h 155"/>
                <a:gd name="T30" fmla="*/ 1 w 146"/>
                <a:gd name="T31" fmla="*/ 0 h 155"/>
                <a:gd name="T32" fmla="*/ 0 w 146"/>
                <a:gd name="T33" fmla="*/ 0 h 1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6"/>
                <a:gd name="T52" fmla="*/ 0 h 155"/>
                <a:gd name="T53" fmla="*/ 146 w 146"/>
                <a:gd name="T54" fmla="*/ 155 h 1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6" h="155">
                  <a:moveTo>
                    <a:pt x="0" y="0"/>
                  </a:moveTo>
                  <a:lnTo>
                    <a:pt x="1" y="6"/>
                  </a:lnTo>
                  <a:lnTo>
                    <a:pt x="6" y="21"/>
                  </a:lnTo>
                  <a:lnTo>
                    <a:pt x="15" y="42"/>
                  </a:lnTo>
                  <a:lnTo>
                    <a:pt x="29" y="68"/>
                  </a:lnTo>
                  <a:lnTo>
                    <a:pt x="48" y="94"/>
                  </a:lnTo>
                  <a:lnTo>
                    <a:pt x="74" y="120"/>
                  </a:lnTo>
                  <a:lnTo>
                    <a:pt x="106" y="141"/>
                  </a:lnTo>
                  <a:lnTo>
                    <a:pt x="146" y="155"/>
                  </a:lnTo>
                  <a:lnTo>
                    <a:pt x="141" y="152"/>
                  </a:lnTo>
                  <a:lnTo>
                    <a:pt x="126" y="143"/>
                  </a:lnTo>
                  <a:lnTo>
                    <a:pt x="105" y="128"/>
                  </a:lnTo>
                  <a:lnTo>
                    <a:pt x="81" y="108"/>
                  </a:lnTo>
                  <a:lnTo>
                    <a:pt x="54" y="85"/>
                  </a:lnTo>
                  <a:lnTo>
                    <a:pt x="31" y="59"/>
                  </a:lnTo>
                  <a:lnTo>
                    <a:pt x="12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Freeform 164">
              <a:extLst>
                <a:ext uri="{FF2B5EF4-FFF2-40B4-BE49-F238E27FC236}">
                  <a16:creationId xmlns:a16="http://schemas.microsoft.com/office/drawing/2014/main" id="{11DB5450-1487-4BE1-BAB6-885918D59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348"/>
              <a:ext cx="85" cy="73"/>
            </a:xfrm>
            <a:custGeom>
              <a:avLst/>
              <a:gdLst>
                <a:gd name="T0" fmla="*/ 1 w 148"/>
                <a:gd name="T1" fmla="*/ 0 h 158"/>
                <a:gd name="T2" fmla="*/ 1 w 148"/>
                <a:gd name="T3" fmla="*/ 0 h 158"/>
                <a:gd name="T4" fmla="*/ 1 w 148"/>
                <a:gd name="T5" fmla="*/ 0 h 158"/>
                <a:gd name="T6" fmla="*/ 1 w 148"/>
                <a:gd name="T7" fmla="*/ 0 h 158"/>
                <a:gd name="T8" fmla="*/ 1 w 148"/>
                <a:gd name="T9" fmla="*/ 0 h 158"/>
                <a:gd name="T10" fmla="*/ 1 w 148"/>
                <a:gd name="T11" fmla="*/ 0 h 158"/>
                <a:gd name="T12" fmla="*/ 1 w 148"/>
                <a:gd name="T13" fmla="*/ 0 h 158"/>
                <a:gd name="T14" fmla="*/ 1 w 148"/>
                <a:gd name="T15" fmla="*/ 0 h 158"/>
                <a:gd name="T16" fmla="*/ 0 w 148"/>
                <a:gd name="T17" fmla="*/ 0 h 158"/>
                <a:gd name="T18" fmla="*/ 1 w 148"/>
                <a:gd name="T19" fmla="*/ 0 h 158"/>
                <a:gd name="T20" fmla="*/ 1 w 148"/>
                <a:gd name="T21" fmla="*/ 0 h 158"/>
                <a:gd name="T22" fmla="*/ 1 w 148"/>
                <a:gd name="T23" fmla="*/ 0 h 158"/>
                <a:gd name="T24" fmla="*/ 1 w 148"/>
                <a:gd name="T25" fmla="*/ 0 h 158"/>
                <a:gd name="T26" fmla="*/ 1 w 148"/>
                <a:gd name="T27" fmla="*/ 0 h 158"/>
                <a:gd name="T28" fmla="*/ 1 w 148"/>
                <a:gd name="T29" fmla="*/ 0 h 158"/>
                <a:gd name="T30" fmla="*/ 1 w 148"/>
                <a:gd name="T31" fmla="*/ 0 h 158"/>
                <a:gd name="T32" fmla="*/ 1 w 148"/>
                <a:gd name="T33" fmla="*/ 0 h 15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48"/>
                <a:gd name="T52" fmla="*/ 0 h 158"/>
                <a:gd name="T53" fmla="*/ 148 w 148"/>
                <a:gd name="T54" fmla="*/ 158 h 15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48" h="158">
                  <a:moveTo>
                    <a:pt x="148" y="0"/>
                  </a:moveTo>
                  <a:lnTo>
                    <a:pt x="142" y="4"/>
                  </a:lnTo>
                  <a:lnTo>
                    <a:pt x="126" y="14"/>
                  </a:lnTo>
                  <a:lnTo>
                    <a:pt x="104" y="30"/>
                  </a:lnTo>
                  <a:lnTo>
                    <a:pt x="77" y="50"/>
                  </a:lnTo>
                  <a:lnTo>
                    <a:pt x="51" y="74"/>
                  </a:lnTo>
                  <a:lnTo>
                    <a:pt x="27" y="101"/>
                  </a:lnTo>
                  <a:lnTo>
                    <a:pt x="9" y="129"/>
                  </a:lnTo>
                  <a:lnTo>
                    <a:pt x="0" y="158"/>
                  </a:lnTo>
                  <a:lnTo>
                    <a:pt x="4" y="153"/>
                  </a:lnTo>
                  <a:lnTo>
                    <a:pt x="13" y="136"/>
                  </a:lnTo>
                  <a:lnTo>
                    <a:pt x="28" y="113"/>
                  </a:lnTo>
                  <a:lnTo>
                    <a:pt x="47" y="86"/>
                  </a:lnTo>
                  <a:lnTo>
                    <a:pt x="69" y="58"/>
                  </a:lnTo>
                  <a:lnTo>
                    <a:pt x="95" y="33"/>
                  </a:lnTo>
                  <a:lnTo>
                    <a:pt x="121" y="12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78" name="Group 192">
            <a:extLst>
              <a:ext uri="{FF2B5EF4-FFF2-40B4-BE49-F238E27FC236}">
                <a16:creationId xmlns:a16="http://schemas.microsoft.com/office/drawing/2014/main" id="{84372258-A6AA-F23E-6B27-19C2979E672F}"/>
              </a:ext>
            </a:extLst>
          </p:cNvPr>
          <p:cNvGrpSpPr>
            <a:grpSpLocks/>
          </p:cNvGrpSpPr>
          <p:nvPr/>
        </p:nvGrpSpPr>
        <p:grpSpPr bwMode="auto">
          <a:xfrm>
            <a:off x="8001001" y="3886200"/>
            <a:ext cx="1154113" cy="865188"/>
            <a:chOff x="3648" y="2112"/>
            <a:chExt cx="727" cy="1265"/>
          </a:xfrm>
        </p:grpSpPr>
        <p:sp>
          <p:nvSpPr>
            <p:cNvPr id="27679" name="AutoShape 172">
              <a:extLst>
                <a:ext uri="{FF2B5EF4-FFF2-40B4-BE49-F238E27FC236}">
                  <a16:creationId xmlns:a16="http://schemas.microsoft.com/office/drawing/2014/main" id="{96A2B1C5-985A-9727-F1E7-362B07A3D58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48" y="2112"/>
              <a:ext cx="727" cy="1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0" name="Freeform 174">
              <a:extLst>
                <a:ext uri="{FF2B5EF4-FFF2-40B4-BE49-F238E27FC236}">
                  <a16:creationId xmlns:a16="http://schemas.microsoft.com/office/drawing/2014/main" id="{1FCD076A-FA3B-1245-C22A-E5207EFFE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112"/>
              <a:ext cx="727" cy="1265"/>
            </a:xfrm>
            <a:custGeom>
              <a:avLst/>
              <a:gdLst>
                <a:gd name="T0" fmla="*/ 0 w 1454"/>
                <a:gd name="T1" fmla="*/ 3 h 2530"/>
                <a:gd name="T2" fmla="*/ 1 w 1454"/>
                <a:gd name="T3" fmla="*/ 3 h 2530"/>
                <a:gd name="T4" fmla="*/ 2 w 1454"/>
                <a:gd name="T5" fmla="*/ 3 h 2530"/>
                <a:gd name="T6" fmla="*/ 2 w 1454"/>
                <a:gd name="T7" fmla="*/ 1 h 2530"/>
                <a:gd name="T8" fmla="*/ 1 w 1454"/>
                <a:gd name="T9" fmla="*/ 0 h 2530"/>
                <a:gd name="T10" fmla="*/ 0 w 1454"/>
                <a:gd name="T11" fmla="*/ 1 h 2530"/>
                <a:gd name="T12" fmla="*/ 0 w 1454"/>
                <a:gd name="T13" fmla="*/ 3 h 25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54"/>
                <a:gd name="T22" fmla="*/ 0 h 2530"/>
                <a:gd name="T23" fmla="*/ 1454 w 1454"/>
                <a:gd name="T24" fmla="*/ 2530 h 253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54" h="2530">
                  <a:moveTo>
                    <a:pt x="0" y="2315"/>
                  </a:moveTo>
                  <a:lnTo>
                    <a:pt x="452" y="2530"/>
                  </a:lnTo>
                  <a:lnTo>
                    <a:pt x="1454" y="2128"/>
                  </a:lnTo>
                  <a:lnTo>
                    <a:pt x="1449" y="104"/>
                  </a:lnTo>
                  <a:lnTo>
                    <a:pt x="963" y="0"/>
                  </a:lnTo>
                  <a:lnTo>
                    <a:pt x="0" y="217"/>
                  </a:lnTo>
                  <a:lnTo>
                    <a:pt x="0" y="23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1" name="Freeform 175">
              <a:extLst>
                <a:ext uri="{FF2B5EF4-FFF2-40B4-BE49-F238E27FC236}">
                  <a16:creationId xmlns:a16="http://schemas.microsoft.com/office/drawing/2014/main" id="{0339DCE1-0FB3-213A-FA70-F52FB3520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2149"/>
              <a:ext cx="621" cy="147"/>
            </a:xfrm>
            <a:custGeom>
              <a:avLst/>
              <a:gdLst>
                <a:gd name="T0" fmla="*/ 0 w 1244"/>
                <a:gd name="T1" fmla="*/ 0 h 295"/>
                <a:gd name="T2" fmla="*/ 0 w 1244"/>
                <a:gd name="T3" fmla="*/ 0 h 295"/>
                <a:gd name="T4" fmla="*/ 1 w 1244"/>
                <a:gd name="T5" fmla="*/ 0 h 295"/>
                <a:gd name="T6" fmla="*/ 0 w 1244"/>
                <a:gd name="T7" fmla="*/ 0 h 295"/>
                <a:gd name="T8" fmla="*/ 0 w 1244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4"/>
                <a:gd name="T16" fmla="*/ 0 h 295"/>
                <a:gd name="T17" fmla="*/ 1244 w 1244"/>
                <a:gd name="T18" fmla="*/ 295 h 2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4" h="295">
                  <a:moveTo>
                    <a:pt x="0" y="196"/>
                  </a:moveTo>
                  <a:lnTo>
                    <a:pt x="856" y="0"/>
                  </a:lnTo>
                  <a:lnTo>
                    <a:pt x="1244" y="81"/>
                  </a:lnTo>
                  <a:lnTo>
                    <a:pt x="351" y="295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725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2" name="Freeform 177">
              <a:extLst>
                <a:ext uri="{FF2B5EF4-FFF2-40B4-BE49-F238E27FC236}">
                  <a16:creationId xmlns:a16="http://schemas.microsoft.com/office/drawing/2014/main" id="{71B1F0B3-D265-6DA6-0849-CD19FE21C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2214"/>
              <a:ext cx="179" cy="932"/>
            </a:xfrm>
            <a:custGeom>
              <a:avLst/>
              <a:gdLst>
                <a:gd name="T0" fmla="*/ 0 w 358"/>
                <a:gd name="T1" fmla="*/ 0 h 1865"/>
                <a:gd name="T2" fmla="*/ 1 w 358"/>
                <a:gd name="T3" fmla="*/ 0 h 1865"/>
                <a:gd name="T4" fmla="*/ 1 w 358"/>
                <a:gd name="T5" fmla="*/ 1 h 1865"/>
                <a:gd name="T6" fmla="*/ 0 w 358"/>
                <a:gd name="T7" fmla="*/ 1 h 1865"/>
                <a:gd name="T8" fmla="*/ 0 w 358"/>
                <a:gd name="T9" fmla="*/ 0 h 18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8"/>
                <a:gd name="T16" fmla="*/ 0 h 1865"/>
                <a:gd name="T17" fmla="*/ 358 w 358"/>
                <a:gd name="T18" fmla="*/ 1865 h 18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8" h="1865">
                  <a:moveTo>
                    <a:pt x="0" y="93"/>
                  </a:moveTo>
                  <a:lnTo>
                    <a:pt x="358" y="0"/>
                  </a:lnTo>
                  <a:lnTo>
                    <a:pt x="358" y="1865"/>
                  </a:lnTo>
                  <a:lnTo>
                    <a:pt x="0" y="1747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4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3" name="Freeform 178">
              <a:extLst>
                <a:ext uri="{FF2B5EF4-FFF2-40B4-BE49-F238E27FC236}">
                  <a16:creationId xmlns:a16="http://schemas.microsoft.com/office/drawing/2014/main" id="{6B8F4825-23B5-02A6-1AE7-3F688FA2E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2263"/>
              <a:ext cx="179" cy="1061"/>
            </a:xfrm>
            <a:custGeom>
              <a:avLst/>
              <a:gdLst>
                <a:gd name="T0" fmla="*/ 1 w 357"/>
                <a:gd name="T1" fmla="*/ 0 h 2120"/>
                <a:gd name="T2" fmla="*/ 1 w 357"/>
                <a:gd name="T3" fmla="*/ 1 h 2120"/>
                <a:gd name="T4" fmla="*/ 1 w 357"/>
                <a:gd name="T5" fmla="*/ 3 h 2120"/>
                <a:gd name="T6" fmla="*/ 0 w 357"/>
                <a:gd name="T7" fmla="*/ 2 h 2120"/>
                <a:gd name="T8" fmla="*/ 1 w 357"/>
                <a:gd name="T9" fmla="*/ 0 h 2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7"/>
                <a:gd name="T16" fmla="*/ 0 h 2120"/>
                <a:gd name="T17" fmla="*/ 357 w 357"/>
                <a:gd name="T18" fmla="*/ 2120 h 21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7" h="2120">
                  <a:moveTo>
                    <a:pt x="1" y="0"/>
                  </a:moveTo>
                  <a:lnTo>
                    <a:pt x="354" y="105"/>
                  </a:lnTo>
                  <a:lnTo>
                    <a:pt x="357" y="2120"/>
                  </a:lnTo>
                  <a:lnTo>
                    <a:pt x="0" y="19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Freeform 179">
              <a:extLst>
                <a:ext uri="{FF2B5EF4-FFF2-40B4-BE49-F238E27FC236}">
                  <a16:creationId xmlns:a16="http://schemas.microsoft.com/office/drawing/2014/main" id="{3527A30E-4449-2ADB-F9AF-1FB3ABB5B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3087"/>
              <a:ext cx="447" cy="237"/>
            </a:xfrm>
            <a:custGeom>
              <a:avLst/>
              <a:gdLst>
                <a:gd name="T0" fmla="*/ 1 w 892"/>
                <a:gd name="T1" fmla="*/ 1 h 472"/>
                <a:gd name="T2" fmla="*/ 0 w 892"/>
                <a:gd name="T3" fmla="*/ 1 h 472"/>
                <a:gd name="T4" fmla="*/ 1 w 892"/>
                <a:gd name="T5" fmla="*/ 1 h 472"/>
                <a:gd name="T6" fmla="*/ 1 w 892"/>
                <a:gd name="T7" fmla="*/ 0 h 472"/>
                <a:gd name="T8" fmla="*/ 1 w 892"/>
                <a:gd name="T9" fmla="*/ 1 h 4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2"/>
                <a:gd name="T16" fmla="*/ 0 h 472"/>
                <a:gd name="T17" fmla="*/ 892 w 892"/>
                <a:gd name="T18" fmla="*/ 472 h 4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2" h="472">
                  <a:moveTo>
                    <a:pt x="1" y="199"/>
                  </a:moveTo>
                  <a:lnTo>
                    <a:pt x="0" y="472"/>
                  </a:lnTo>
                  <a:lnTo>
                    <a:pt x="892" y="118"/>
                  </a:lnTo>
                  <a:lnTo>
                    <a:pt x="534" y="0"/>
                  </a:lnTo>
                  <a:lnTo>
                    <a:pt x="1" y="199"/>
                  </a:lnTo>
                  <a:close/>
                </a:path>
              </a:pathLst>
            </a:custGeom>
            <a:solidFill>
              <a:srgbClr val="725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412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7DFE2383-4149-5BA3-8179-45DF39FA2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A 0/1 Knapsack Algorithm: First Attempt</a:t>
            </a:r>
          </a:p>
        </p:txBody>
      </p:sp>
      <p:sp>
        <p:nvSpPr>
          <p:cNvPr id="2969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F41171A-21D7-0909-26A1-F97D63EC9A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219200"/>
            <a:ext cx="7467600" cy="2133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S</a:t>
            </a:r>
            <a:r>
              <a:rPr lang="en-US" altLang="en-US" sz="2000" baseline="-25000"/>
              <a:t>k</a:t>
            </a:r>
            <a:r>
              <a:rPr lang="en-US" altLang="en-US" sz="2000"/>
              <a:t>: Set of items numbered 1 to k.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Define B[k] = best selection from S</a:t>
            </a:r>
            <a:r>
              <a:rPr lang="en-US" altLang="en-US" sz="2000" baseline="-25000"/>
              <a:t>k</a:t>
            </a:r>
            <a:r>
              <a:rPr lang="en-US" altLang="en-US" sz="200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Problem: does not have subproblem optimality: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Consider set S={(3,2),(5,4),(8,5),(4,3),(10,9)} of</a:t>
            </a:r>
            <a:br>
              <a:rPr lang="en-US" altLang="en-US" sz="1800"/>
            </a:br>
            <a:r>
              <a:rPr lang="en-US" altLang="en-US" sz="1800"/>
              <a:t>(benefit, weight) pairs and total weight W = 20</a:t>
            </a:r>
          </a:p>
        </p:txBody>
      </p:sp>
      <p:pic>
        <p:nvPicPr>
          <p:cNvPr id="29699" name="Picture 7">
            <a:extLst>
              <a:ext uri="{FF2B5EF4-FFF2-40B4-BE49-F238E27FC236}">
                <a16:creationId xmlns:a16="http://schemas.microsoft.com/office/drawing/2014/main" id="{1A897434-24C3-FA53-43A8-3C044708A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3" t="2376" r="5661" b="9747"/>
          <a:stretch>
            <a:fillRect/>
          </a:stretch>
        </p:blipFill>
        <p:spPr bwMode="auto">
          <a:xfrm>
            <a:off x="4648200" y="3657600"/>
            <a:ext cx="3657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 Box 8">
            <a:extLst>
              <a:ext uri="{FF2B5EF4-FFF2-40B4-BE49-F238E27FC236}">
                <a16:creationId xmlns:a16="http://schemas.microsoft.com/office/drawing/2014/main" id="{D055AAD0-411A-03D4-9E4C-07D52C5E8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236" y="3886200"/>
            <a:ext cx="13468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Best for S</a:t>
            </a:r>
            <a:r>
              <a:rPr lang="en-US" altLang="en-US" sz="1800" baseline="-25000"/>
              <a:t>4</a:t>
            </a:r>
            <a:r>
              <a:rPr lang="en-US" altLang="en-US" sz="1800"/>
              <a:t>:</a:t>
            </a:r>
            <a:endParaRPr lang="en-US" altLang="en-US" sz="1800" baseline="-25000"/>
          </a:p>
        </p:txBody>
      </p:sp>
      <p:sp>
        <p:nvSpPr>
          <p:cNvPr id="29701" name="Text Box 9">
            <a:extLst>
              <a:ext uri="{FF2B5EF4-FFF2-40B4-BE49-F238E27FC236}">
                <a16:creationId xmlns:a16="http://schemas.microsoft.com/office/drawing/2014/main" id="{48F7999C-6731-4C30-DB4E-39E742354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236" y="5189538"/>
            <a:ext cx="13468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Best for S</a:t>
            </a:r>
            <a:r>
              <a:rPr lang="en-US" altLang="en-US" sz="1800" baseline="-25000"/>
              <a:t>5</a:t>
            </a:r>
            <a:r>
              <a:rPr lang="en-US" altLang="en-US" sz="1800"/>
              <a:t>:</a:t>
            </a:r>
            <a:endParaRPr lang="en-US" altLang="en-US" sz="1800" baseline="-25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2B07B67A-DF7E-3645-44C9-60BF76B60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010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A 0/1 Knapsack Algorithm: Second Attempt</a:t>
            </a:r>
          </a:p>
        </p:txBody>
      </p:sp>
      <p:sp>
        <p:nvSpPr>
          <p:cNvPr id="3072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54AEB51-D95E-977F-B2FC-E4437728D6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524000"/>
            <a:ext cx="7772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S</a:t>
            </a:r>
            <a:r>
              <a:rPr lang="en-US" altLang="en-US" sz="2000" baseline="-25000"/>
              <a:t>k</a:t>
            </a:r>
            <a:r>
              <a:rPr lang="en-US" altLang="en-US" sz="2000"/>
              <a:t>: Set of items numbered 1 to k.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Define B[k,w] to be the best selection from S</a:t>
            </a:r>
            <a:r>
              <a:rPr lang="en-US" altLang="en-US" sz="2000" baseline="-25000"/>
              <a:t>k</a:t>
            </a:r>
            <a:r>
              <a:rPr lang="en-US" altLang="en-US" sz="2000"/>
              <a:t> with weight at most w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Good news: this does have subproblem optimality.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	i.e., the best subset of S</a:t>
            </a:r>
            <a:r>
              <a:rPr lang="en-US" altLang="en-US" sz="2000" baseline="-25000"/>
              <a:t>k</a:t>
            </a:r>
            <a:r>
              <a:rPr lang="en-US" altLang="en-US" sz="2000"/>
              <a:t> with weight at most w is either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best subset of S</a:t>
            </a:r>
            <a:r>
              <a:rPr lang="en-US" altLang="en-US" sz="1800" baseline="-25000"/>
              <a:t>k-1</a:t>
            </a:r>
            <a:r>
              <a:rPr lang="en-US" altLang="en-US" sz="1800"/>
              <a:t> with weight at most w or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best subset of S</a:t>
            </a:r>
            <a:r>
              <a:rPr lang="en-US" altLang="en-US" sz="1800" baseline="-25000"/>
              <a:t>k-1</a:t>
            </a:r>
            <a:r>
              <a:rPr lang="en-US" altLang="en-US" sz="1800"/>
              <a:t> with weight at most w</a:t>
            </a:r>
            <a:r>
              <a:rPr lang="en-US" altLang="en-US" sz="1800">
                <a:latin typeface="Symbol" panose="05050102010706020507" pitchFamily="18" charset="2"/>
              </a:rPr>
              <a:t>-</a:t>
            </a:r>
            <a:r>
              <a:rPr lang="en-US" altLang="en-US" sz="1800"/>
              <a:t>w</a:t>
            </a:r>
            <a:r>
              <a:rPr lang="en-US" altLang="en-US" sz="1800" baseline="-25000"/>
              <a:t>k</a:t>
            </a:r>
            <a:r>
              <a:rPr lang="en-US" altLang="en-US" sz="1800"/>
              <a:t> plus item k</a:t>
            </a:r>
          </a:p>
        </p:txBody>
      </p:sp>
      <p:graphicFrame>
        <p:nvGraphicFramePr>
          <p:cNvPr id="30723" name="Object 3">
            <a:extLst>
              <a:ext uri="{FF2B5EF4-FFF2-40B4-BE49-F238E27FC236}">
                <a16:creationId xmlns:a16="http://schemas.microsoft.com/office/drawing/2014/main" id="{4996A465-E8C8-29B1-E904-F4B2CE94E1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269861"/>
              </p:ext>
            </p:extLst>
          </p:nvPr>
        </p:nvGraphicFramePr>
        <p:xfrm>
          <a:off x="2514600" y="3519487"/>
          <a:ext cx="73914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30723" name="Object 3">
                        <a:extLst>
                          <a:ext uri="{FF2B5EF4-FFF2-40B4-BE49-F238E27FC236}">
                            <a16:creationId xmlns:a16="http://schemas.microsoft.com/office/drawing/2014/main" id="{4996A465-E8C8-29B1-E904-F4B2CE94E1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19487"/>
                        <a:ext cx="73914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18CE8BDB-E9D2-48A7-C7C0-52C350371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71800" y="152400"/>
            <a:ext cx="69342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0/1 Knapsack Algorithm</a:t>
            </a:r>
          </a:p>
        </p:txBody>
      </p:sp>
      <p:sp>
        <p:nvSpPr>
          <p:cNvPr id="3174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AA0D20E-9B50-7053-36B6-278807EBCB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2133600"/>
            <a:ext cx="3962400" cy="4191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Assume integer weights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Since B[k,w] is defined in terms of B[k</a:t>
            </a:r>
            <a:r>
              <a:rPr lang="en-US" altLang="en-US" sz="2000">
                <a:latin typeface="Symbol" panose="05050102010706020507" pitchFamily="18" charset="2"/>
              </a:rPr>
              <a:t>-</a:t>
            </a:r>
            <a:r>
              <a:rPr lang="en-US" altLang="en-US" sz="2000"/>
              <a:t>1,*], we can use two arrays instead of a matrix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Running time: O(nW).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Not a polynomial-time algorithm since W may be large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This is a </a:t>
            </a:r>
            <a:r>
              <a:rPr lang="en-US" altLang="en-US" sz="2000">
                <a:solidFill>
                  <a:schemeClr val="tx2"/>
                </a:solidFill>
              </a:rPr>
              <a:t>pseudo-polynomial</a:t>
            </a:r>
            <a:r>
              <a:rPr lang="en-US" altLang="en-US" sz="2000"/>
              <a:t> time algorithm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9FF3B1F7-4D76-28C1-4DAA-12C52834E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057401"/>
            <a:ext cx="4495800" cy="4441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01Knapsack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S,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):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Input: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set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items with positive 		benefit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and positive integer weight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; 	maximum integer weight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benefit of best subset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with 		weight at most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let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and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be arrays of length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+ 1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0	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copy array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into array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 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b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&gt; A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then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 	B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b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]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</a:p>
        </p:txBody>
      </p:sp>
      <p:graphicFrame>
        <p:nvGraphicFramePr>
          <p:cNvPr id="31748" name="Object 3">
            <a:extLst>
              <a:ext uri="{FF2B5EF4-FFF2-40B4-BE49-F238E27FC236}">
                <a16:creationId xmlns:a16="http://schemas.microsoft.com/office/drawing/2014/main" id="{EF2CE12A-7855-520C-C15F-F4951B4AAD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066800"/>
          <a:ext cx="614838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31748" name="Object 3">
                        <a:extLst>
                          <a:ext uri="{FF2B5EF4-FFF2-40B4-BE49-F238E27FC236}">
                            <a16:creationId xmlns:a16="http://schemas.microsoft.com/office/drawing/2014/main" id="{EF2CE12A-7855-520C-C15F-F4951B4AAD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066800"/>
                        <a:ext cx="614838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1518</Words>
  <Application>Microsoft Office PowerPoint</Application>
  <PresentationFormat>Widescreen</PresentationFormat>
  <Paragraphs>241</Paragraphs>
  <Slides>16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Arial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Equation</vt:lpstr>
      <vt:lpstr>CS535: Algorithm Design and Analysis  Dynamic Programming</vt:lpstr>
      <vt:lpstr>Matrix Chain-Products</vt:lpstr>
      <vt:lpstr>Matrix Chain-Products</vt:lpstr>
      <vt:lpstr>Enumeration Approach</vt:lpstr>
      <vt:lpstr>Greedy Approach</vt:lpstr>
      <vt:lpstr>Another Greedy Approach</vt:lpstr>
      <vt:lpstr>“Recursive” Approach</vt:lpstr>
      <vt:lpstr>Characterizing Equation</vt:lpstr>
      <vt:lpstr>PowerPoint Presentation</vt:lpstr>
      <vt:lpstr>Dynamic Programming Algorithm</vt:lpstr>
      <vt:lpstr>The General Dynamic Programming Technique</vt:lpstr>
      <vt:lpstr>The 0/1 Knapsack Problem</vt:lpstr>
      <vt:lpstr>Example</vt:lpstr>
      <vt:lpstr>A 0/1 Knapsack Algorithm: First Attempt</vt:lpstr>
      <vt:lpstr>A 0/1 Knapsack Algorithm: Second Attempt</vt:lpstr>
      <vt:lpstr>0/1 Knapsack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4</cp:revision>
  <dcterms:created xsi:type="dcterms:W3CDTF">2024-11-11T04:39:24Z</dcterms:created>
  <dcterms:modified xsi:type="dcterms:W3CDTF">2024-11-11T04:42:37Z</dcterms:modified>
</cp:coreProperties>
</file>