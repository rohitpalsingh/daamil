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EFDE7-1B25-48C7-B9D7-35399F6CED3B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2E2FE-257D-41E9-9859-700D7D99F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450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EFDE7-1B25-48C7-B9D7-35399F6CED3B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2E2FE-257D-41E9-9859-700D7D99F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69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EFDE7-1B25-48C7-B9D7-35399F6CED3B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2E2FE-257D-41E9-9859-700D7D99F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63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EFDE7-1B25-48C7-B9D7-35399F6CED3B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2E2FE-257D-41E9-9859-700D7D99F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23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EFDE7-1B25-48C7-B9D7-35399F6CED3B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2E2FE-257D-41E9-9859-700D7D99F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459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EFDE7-1B25-48C7-B9D7-35399F6CED3B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2E2FE-257D-41E9-9859-700D7D99F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692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EFDE7-1B25-48C7-B9D7-35399F6CED3B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2E2FE-257D-41E9-9859-700D7D99F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122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EFDE7-1B25-48C7-B9D7-35399F6CED3B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2E2FE-257D-41E9-9859-700D7D99F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584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EFDE7-1B25-48C7-B9D7-35399F6CED3B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2E2FE-257D-41E9-9859-700D7D99F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65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EFDE7-1B25-48C7-B9D7-35399F6CED3B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2E2FE-257D-41E9-9859-700D7D99F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00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EFDE7-1B25-48C7-B9D7-35399F6CED3B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2E2FE-257D-41E9-9859-700D7D99FE8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90728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EFDE7-1B25-48C7-B9D7-35399F6CED3B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2E2FE-257D-41E9-9859-700D7D99F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234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EFDE7-1B25-48C7-B9D7-35399F6CED3B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2E2FE-257D-41E9-9859-700D7D99FE8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83499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EFDE7-1B25-48C7-B9D7-35399F6CED3B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2E2FE-257D-41E9-9859-700D7D99F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159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EFDE7-1B25-48C7-B9D7-35399F6CED3B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2E2FE-257D-41E9-9859-700D7D99F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312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EFDE7-1B25-48C7-B9D7-35399F6CED3B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2E2FE-257D-41E9-9859-700D7D99F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847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EFDE7-1B25-48C7-B9D7-35399F6CED3B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F72E2FE-257D-41E9-9859-700D7D99F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271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9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11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CBF4DEA3-CDDC-0E91-05E9-B4A41DA3C05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28800" y="1066801"/>
            <a:ext cx="8534400" cy="169862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2000">
                <a:solidFill>
                  <a:srgbClr val="FF9900"/>
                </a:solidFill>
              </a:rPr>
              <a:t>CS535: Algorithm Design and Analysis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r>
              <a:rPr lang="en-US" altLang="en-US" sz="2400"/>
              <a:t>Applications in Text Processing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05BD4C78-BC4A-AF2B-F9BC-31FDBAE213C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657600"/>
            <a:ext cx="6400800" cy="1981200"/>
          </a:xfrm>
        </p:spPr>
        <p:txBody>
          <a:bodyPr/>
          <a:lstStyle/>
          <a:p>
            <a:pPr algn="ctr" eaLnBrk="1" hangingPunct="1"/>
            <a:r>
              <a:rPr lang="en-US" altLang="en-US" sz="2000" b="1" dirty="0">
                <a:solidFill>
                  <a:srgbClr val="0000FF"/>
                </a:solidFill>
              </a:rPr>
              <a:t>Prof. Rohit Pal Singh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Department of Computer Science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University of Wisconsin, Milwaukee</a:t>
            </a:r>
          </a:p>
          <a:p>
            <a:pPr algn="ctr" eaLnBrk="1" hangingPunct="1"/>
            <a:endParaRPr lang="en-US" altLang="en-US" sz="1600" b="1" dirty="0">
              <a:solidFill>
                <a:srgbClr val="0000FF"/>
              </a:solidFill>
            </a:endParaRP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December 9, 2024</a:t>
            </a:r>
          </a:p>
        </p:txBody>
      </p:sp>
      <p:sp>
        <p:nvSpPr>
          <p:cNvPr id="15363" name="Rectangle 7">
            <a:extLst>
              <a:ext uri="{FF2B5EF4-FFF2-40B4-BE49-F238E27FC236}">
                <a16:creationId xmlns:a16="http://schemas.microsoft.com/office/drawing/2014/main" id="{1D5E1BED-8B30-2190-66B7-44E0C0F27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988" y="6248400"/>
            <a:ext cx="8837612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/>
              <a:t>Adapted from “M. Goodrich and R. Tamassia, Algorithm Design: Foundations, Analysis and Internet Examples, John Wiley and Sons, 2002”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9D088038-123E-82E3-8C43-9B65700C0E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Strings</a:t>
            </a:r>
          </a:p>
        </p:txBody>
      </p:sp>
      <p:sp>
        <p:nvSpPr>
          <p:cNvPr id="1638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1ABA496-D50E-C834-A1F1-1B4218CF58E1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981200" y="1447800"/>
            <a:ext cx="3886200" cy="47244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sz="2000"/>
              <a:t>A string is a sequence of characters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Examples of strings: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Java program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HTML document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DNA sequence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Digitized image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An alphabet </a:t>
            </a:r>
            <a:r>
              <a:rPr lang="en-US" altLang="en-US" sz="2400" b="1" i="1">
                <a:latin typeface="Symbol" panose="05050102010706020507" pitchFamily="18" charset="2"/>
              </a:rPr>
              <a:t>S</a:t>
            </a:r>
            <a:r>
              <a:rPr lang="en-US" altLang="en-US" sz="2000"/>
              <a:t>  is the set of possible characters for a family of strings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Example of alphabets: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{A,B,C,…Z}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{0,1,2,…9}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{0, 1}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{A, C, G, T}</a:t>
            </a:r>
          </a:p>
        </p:txBody>
      </p:sp>
      <p:sp>
        <p:nvSpPr>
          <p:cNvPr id="16387" name="Rectangle 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A2A715F-9427-AE8E-4E04-0A5E6052A64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096000" y="1447800"/>
            <a:ext cx="4191000" cy="48768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sz="2000"/>
              <a:t>Let </a:t>
            </a:r>
            <a:r>
              <a:rPr lang="en-US" altLang="en-US" sz="2000" b="1" i="1">
                <a:latin typeface="Times New Roman" panose="02020603050405020304" pitchFamily="18" charset="0"/>
              </a:rPr>
              <a:t>P</a:t>
            </a:r>
            <a:r>
              <a:rPr lang="en-US" altLang="en-US" sz="2000"/>
              <a:t> be a string of size </a:t>
            </a:r>
            <a:r>
              <a:rPr lang="en-US" altLang="en-US" sz="2000" b="1" i="1">
                <a:latin typeface="Times New Roman" panose="02020603050405020304" pitchFamily="18" charset="0"/>
              </a:rPr>
              <a:t>m</a:t>
            </a:r>
            <a:r>
              <a:rPr lang="en-US" altLang="en-US" sz="2000"/>
              <a:t> 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A </a:t>
            </a:r>
            <a:r>
              <a:rPr lang="en-US" altLang="en-US" sz="1800">
                <a:solidFill>
                  <a:srgbClr val="FF0000"/>
                </a:solidFill>
              </a:rPr>
              <a:t>substring</a:t>
            </a:r>
            <a:r>
              <a:rPr lang="en-US" altLang="en-US" sz="1800"/>
              <a:t> </a:t>
            </a:r>
            <a:r>
              <a:rPr lang="en-US" altLang="en-US" sz="1800" b="1" i="1">
                <a:latin typeface="Times New Roman" panose="02020603050405020304" pitchFamily="18" charset="0"/>
              </a:rPr>
              <a:t>P</a:t>
            </a:r>
            <a:r>
              <a:rPr lang="en-US" altLang="en-US" sz="1800"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latin typeface="Times New Roman" panose="02020603050405020304" pitchFamily="18" charset="0"/>
              </a:rPr>
              <a:t>i .. j</a:t>
            </a:r>
            <a:r>
              <a:rPr lang="en-US" altLang="en-US" sz="1800">
                <a:latin typeface="Times New Roman" panose="02020603050405020304" pitchFamily="18" charset="0"/>
              </a:rPr>
              <a:t>]</a:t>
            </a:r>
            <a:r>
              <a:rPr lang="en-US" altLang="en-US" sz="1800"/>
              <a:t> of </a:t>
            </a:r>
            <a:r>
              <a:rPr lang="en-US" altLang="en-US" sz="1800" b="1" i="1">
                <a:latin typeface="Times New Roman" panose="02020603050405020304" pitchFamily="18" charset="0"/>
              </a:rPr>
              <a:t>P</a:t>
            </a:r>
            <a:r>
              <a:rPr lang="en-US" altLang="en-US" sz="1800"/>
              <a:t> is the subsequence of </a:t>
            </a:r>
            <a:r>
              <a:rPr lang="en-US" altLang="en-US" sz="1800" b="1" i="1">
                <a:latin typeface="Times New Roman" panose="02020603050405020304" pitchFamily="18" charset="0"/>
              </a:rPr>
              <a:t>P</a:t>
            </a:r>
            <a:r>
              <a:rPr lang="en-US" altLang="en-US" sz="1800"/>
              <a:t> consisting of the characters with ranks between </a:t>
            </a:r>
            <a:r>
              <a:rPr lang="en-US" altLang="en-US" sz="1800" b="1" i="1">
                <a:latin typeface="Times New Roman" panose="02020603050405020304" pitchFamily="18" charset="0"/>
              </a:rPr>
              <a:t>i </a:t>
            </a:r>
            <a:r>
              <a:rPr lang="en-US" altLang="en-US" sz="1800"/>
              <a:t>and </a:t>
            </a:r>
            <a:r>
              <a:rPr lang="en-US" altLang="en-US" sz="1800" b="1" i="1">
                <a:latin typeface="Times New Roman" panose="02020603050405020304" pitchFamily="18" charset="0"/>
              </a:rPr>
              <a:t>j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A </a:t>
            </a:r>
            <a:r>
              <a:rPr lang="en-US" altLang="en-US" sz="1800">
                <a:solidFill>
                  <a:srgbClr val="FF0000"/>
                </a:solidFill>
              </a:rPr>
              <a:t>prefix</a:t>
            </a:r>
            <a:r>
              <a:rPr lang="en-US" altLang="en-US" sz="1800"/>
              <a:t> of </a:t>
            </a:r>
            <a:r>
              <a:rPr lang="en-US" altLang="en-US" sz="1800" b="1" i="1">
                <a:latin typeface="Times New Roman" panose="02020603050405020304" pitchFamily="18" charset="0"/>
              </a:rPr>
              <a:t>P</a:t>
            </a:r>
            <a:r>
              <a:rPr lang="en-US" altLang="en-US" sz="1800"/>
              <a:t> is a substring of the type </a:t>
            </a:r>
            <a:r>
              <a:rPr lang="en-US" altLang="en-US" sz="1800" b="1" i="1">
                <a:latin typeface="Times New Roman" panose="02020603050405020304" pitchFamily="18" charset="0"/>
              </a:rPr>
              <a:t>P</a:t>
            </a:r>
            <a:r>
              <a:rPr lang="en-US" altLang="en-US" sz="1800">
                <a:latin typeface="Times New Roman" panose="02020603050405020304" pitchFamily="18" charset="0"/>
              </a:rPr>
              <a:t>[0 </a:t>
            </a:r>
            <a:r>
              <a:rPr lang="en-US" altLang="en-US" sz="1800" b="1" i="1">
                <a:latin typeface="Times New Roman" panose="02020603050405020304" pitchFamily="18" charset="0"/>
              </a:rPr>
              <a:t>.. i</a:t>
            </a:r>
            <a:r>
              <a:rPr lang="en-US" altLang="en-US" sz="1800">
                <a:latin typeface="Times New Roman" panose="02020603050405020304" pitchFamily="18" charset="0"/>
              </a:rPr>
              <a:t>]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A </a:t>
            </a:r>
            <a:r>
              <a:rPr lang="en-US" altLang="en-US" sz="1800">
                <a:solidFill>
                  <a:srgbClr val="FF0000"/>
                </a:solidFill>
              </a:rPr>
              <a:t>suffix</a:t>
            </a:r>
            <a:r>
              <a:rPr lang="en-US" altLang="en-US" sz="1800"/>
              <a:t> of </a:t>
            </a:r>
            <a:r>
              <a:rPr lang="en-US" altLang="en-US" sz="1800" b="1" i="1">
                <a:latin typeface="Times New Roman" panose="02020603050405020304" pitchFamily="18" charset="0"/>
              </a:rPr>
              <a:t>P</a:t>
            </a:r>
            <a:r>
              <a:rPr lang="en-US" altLang="en-US" sz="1800"/>
              <a:t> is a substring of the type </a:t>
            </a:r>
            <a:r>
              <a:rPr lang="en-US" altLang="en-US" sz="1800" b="1" i="1">
                <a:latin typeface="Times New Roman" panose="02020603050405020304" pitchFamily="18" charset="0"/>
              </a:rPr>
              <a:t>P</a:t>
            </a:r>
            <a:r>
              <a:rPr lang="en-US" altLang="en-US" sz="1800"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latin typeface="Times New Roman" panose="02020603050405020304" pitchFamily="18" charset="0"/>
              </a:rPr>
              <a:t>i ..m </a:t>
            </a:r>
            <a:r>
              <a:rPr lang="en-US" altLang="en-US" sz="1800">
                <a:latin typeface="Symbol" panose="05050102010706020507" pitchFamily="18" charset="2"/>
              </a:rPr>
              <a:t>-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latin typeface="Times New Roman" panose="02020603050405020304" pitchFamily="18" charset="0"/>
              </a:rPr>
              <a:t>1] 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Given strings </a:t>
            </a:r>
            <a:r>
              <a:rPr lang="en-US" altLang="en-US" sz="2000" b="1" i="1">
                <a:latin typeface="Times New Roman" panose="02020603050405020304" pitchFamily="18" charset="0"/>
              </a:rPr>
              <a:t>T</a:t>
            </a:r>
            <a:r>
              <a:rPr lang="en-US" altLang="en-US" sz="2000"/>
              <a:t> (text) and </a:t>
            </a:r>
            <a:r>
              <a:rPr lang="en-US" altLang="en-US" sz="2000" b="1" i="1">
                <a:latin typeface="Times New Roman" panose="02020603050405020304" pitchFamily="18" charset="0"/>
              </a:rPr>
              <a:t>P</a:t>
            </a:r>
            <a:r>
              <a:rPr lang="en-US" altLang="en-US" sz="2000"/>
              <a:t> (pattern), </a:t>
            </a:r>
            <a:r>
              <a:rPr lang="en-US" altLang="en-US" sz="2000">
                <a:solidFill>
                  <a:srgbClr val="FF0000"/>
                </a:solidFill>
              </a:rPr>
              <a:t>the pattern matching problem</a:t>
            </a:r>
            <a:r>
              <a:rPr lang="en-US" altLang="en-US" sz="2000"/>
              <a:t> consists of finding a substring of </a:t>
            </a:r>
            <a:r>
              <a:rPr lang="en-US" altLang="en-US" sz="2000" b="1" i="1">
                <a:latin typeface="Times New Roman" panose="02020603050405020304" pitchFamily="18" charset="0"/>
              </a:rPr>
              <a:t>T</a:t>
            </a:r>
            <a:r>
              <a:rPr lang="en-US" altLang="en-US" sz="2000"/>
              <a:t> equal to </a:t>
            </a:r>
            <a:r>
              <a:rPr lang="en-US" altLang="en-US" sz="2000" b="1" i="1">
                <a:latin typeface="Times New Roman" panose="02020603050405020304" pitchFamily="18" charset="0"/>
              </a:rPr>
              <a:t>P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Applications: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Text editors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Search engines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Biological research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026">
            <a:extLst>
              <a:ext uri="{FF2B5EF4-FFF2-40B4-BE49-F238E27FC236}">
                <a16:creationId xmlns:a16="http://schemas.microsoft.com/office/drawing/2014/main" id="{9C88C101-15F0-6B63-BFE5-F3C8EA46EC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Brute-Force Algorithm</a:t>
            </a:r>
          </a:p>
        </p:txBody>
      </p:sp>
      <p:sp>
        <p:nvSpPr>
          <p:cNvPr id="17410" name="Rectangle 1027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04D99E3-D2DC-B720-10FC-039E54BB74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28800" y="1511300"/>
            <a:ext cx="3886200" cy="46482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000"/>
              <a:t>The brute-force pattern matching algorithm compares the pattern </a:t>
            </a:r>
            <a:r>
              <a:rPr lang="en-US" altLang="en-US" sz="2000" b="1" i="1">
                <a:latin typeface="Times New Roman" panose="02020603050405020304" pitchFamily="18" charset="0"/>
              </a:rPr>
              <a:t>P</a:t>
            </a:r>
            <a:r>
              <a:rPr lang="en-US" altLang="en-US" sz="2000"/>
              <a:t> with the text </a:t>
            </a:r>
            <a:r>
              <a:rPr lang="en-US" altLang="en-US" sz="2000" b="1" i="1">
                <a:latin typeface="Times New Roman" panose="02020603050405020304" pitchFamily="18" charset="0"/>
              </a:rPr>
              <a:t>T</a:t>
            </a:r>
            <a:r>
              <a:rPr lang="en-US" altLang="en-US" sz="2000"/>
              <a:t> for each possible shift of </a:t>
            </a:r>
            <a:r>
              <a:rPr lang="en-US" altLang="en-US" sz="2000" b="1" i="1">
                <a:latin typeface="Times New Roman" panose="02020603050405020304" pitchFamily="18" charset="0"/>
              </a:rPr>
              <a:t>P</a:t>
            </a:r>
            <a:r>
              <a:rPr lang="en-US" altLang="en-US" sz="2000"/>
              <a:t> relative to </a:t>
            </a:r>
            <a:r>
              <a:rPr lang="en-US" altLang="en-US" sz="2000" b="1" i="1">
                <a:latin typeface="Times New Roman" panose="02020603050405020304" pitchFamily="18" charset="0"/>
              </a:rPr>
              <a:t>T</a:t>
            </a:r>
            <a:r>
              <a:rPr lang="en-US" altLang="en-US" sz="2000"/>
              <a:t>, until either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a match is found, or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all placements of the pattern have been tried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Brute-force pattern matching runs in time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nm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Example of worst case:</a:t>
            </a:r>
          </a:p>
          <a:p>
            <a:pPr lvl="1">
              <a:lnSpc>
                <a:spcPct val="90000"/>
              </a:lnSpc>
            </a:pPr>
            <a:r>
              <a:rPr lang="en-US" altLang="en-US" sz="1800" b="1" i="1">
                <a:latin typeface="Times New Roman" panose="02020603050405020304" pitchFamily="18" charset="0"/>
              </a:rPr>
              <a:t>T </a:t>
            </a:r>
            <a:r>
              <a:rPr lang="en-US" altLang="en-US" sz="1800">
                <a:latin typeface="Symbol" panose="05050102010706020507" pitchFamily="18" charset="2"/>
              </a:rPr>
              <a:t>=</a:t>
            </a:r>
            <a:r>
              <a:rPr lang="en-US" altLang="en-US" sz="1800" b="1" i="1">
                <a:latin typeface="Times New Roman" panose="02020603050405020304" pitchFamily="18" charset="0"/>
              </a:rPr>
              <a:t> aaa … ah</a:t>
            </a:r>
          </a:p>
          <a:p>
            <a:pPr lvl="1">
              <a:lnSpc>
                <a:spcPct val="90000"/>
              </a:lnSpc>
            </a:pPr>
            <a:r>
              <a:rPr lang="en-US" altLang="en-US" sz="1800" b="1" i="1">
                <a:latin typeface="Times New Roman" panose="02020603050405020304" pitchFamily="18" charset="0"/>
              </a:rPr>
              <a:t>P </a:t>
            </a:r>
            <a:r>
              <a:rPr lang="en-US" altLang="en-US" sz="1800">
                <a:latin typeface="Symbol" panose="05050102010706020507" pitchFamily="18" charset="2"/>
              </a:rPr>
              <a:t>=</a:t>
            </a:r>
            <a:r>
              <a:rPr lang="en-US" altLang="en-US" sz="1800" b="1" i="1">
                <a:latin typeface="Times New Roman" panose="02020603050405020304" pitchFamily="18" charset="0"/>
              </a:rPr>
              <a:t> aaah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may occur in images and DNA sequences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unlikely in English text</a:t>
            </a:r>
          </a:p>
        </p:txBody>
      </p:sp>
      <p:sp>
        <p:nvSpPr>
          <p:cNvPr id="17411" name="Text Box 1028">
            <a:extLst>
              <a:ext uri="{FF2B5EF4-FFF2-40B4-BE49-F238E27FC236}">
                <a16:creationId xmlns:a16="http://schemas.microsoft.com/office/drawing/2014/main" id="{7D97640B-BC0D-3A6C-35C8-F343DC817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1371600"/>
            <a:ext cx="4419600" cy="501675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defTabSz="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3429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3429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BruteForceMatch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T, P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text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T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of size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and pattern </a:t>
            </a:r>
            <a:b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P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of size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m</a:t>
            </a:r>
            <a:endParaRPr lang="en-US" altLang="en-US" sz="20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starting index of a </a:t>
            </a:r>
            <a:b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	substring of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equal to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P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or </a:t>
            </a:r>
            <a:r>
              <a:rPr lang="en-US" altLang="en-US" sz="20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b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	if no such substring exists </a:t>
            </a:r>
            <a:endParaRPr lang="en-US" altLang="en-US" sz="20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for 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0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to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n </a:t>
            </a:r>
            <a:r>
              <a:rPr lang="en-US" altLang="en-US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m</a:t>
            </a: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b="1" i="1">
                <a:latin typeface="Times New Roman" panose="02020603050405020304" pitchFamily="18" charset="0"/>
              </a:rPr>
              <a:t>	</a:t>
            </a:r>
            <a:r>
              <a:rPr lang="en-US" altLang="en-US">
                <a:latin typeface="Times New Roman" panose="02020603050405020304" pitchFamily="18" charset="0"/>
              </a:rPr>
              <a:t>{ test shift </a:t>
            </a:r>
            <a:r>
              <a:rPr lang="en-US" altLang="en-US" b="1" i="1">
                <a:latin typeface="Times New Roman" panose="02020603050405020304" pitchFamily="18" charset="0"/>
              </a:rPr>
              <a:t>i</a:t>
            </a:r>
            <a:r>
              <a:rPr lang="en-US" altLang="en-US">
                <a:latin typeface="Times New Roman" panose="02020603050405020304" pitchFamily="18" charset="0"/>
              </a:rPr>
              <a:t> of the pattern }</a:t>
            </a: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0</a:t>
            </a:r>
            <a:endParaRPr lang="en-US" altLang="en-US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while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&lt;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m </a:t>
            </a:r>
            <a:r>
              <a:rPr lang="en-US" altLang="en-US" b="1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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>
                <a:solidFill>
                  <a:schemeClr val="accent2"/>
                </a:solidFill>
                <a:latin typeface="Symbol" panose="05050102010706020507" pitchFamily="18" charset="2"/>
              </a:rPr>
              <a:t>+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j</a:t>
            </a:r>
            <a:r>
              <a:rPr lang="en-US" altLang="en-US" u="sng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Symbol" panose="05050102010706020507" pitchFamily="18" charset="2"/>
              </a:rPr>
              <a:t>=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P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j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  <a:endParaRPr lang="en-US" altLang="en-US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	if 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>
                <a:solidFill>
                  <a:schemeClr val="accent2"/>
                </a:solidFill>
                <a:latin typeface="Symbol" panose="05050102010706020507" pitchFamily="18" charset="2"/>
              </a:rPr>
              <a:t>=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m</a:t>
            </a: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return 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>
                <a:latin typeface="Times New Roman" panose="02020603050405020304" pitchFamily="18" charset="0"/>
              </a:rPr>
              <a:t>{match at </a:t>
            </a:r>
            <a:r>
              <a:rPr lang="en-US" altLang="en-US" b="1" i="1">
                <a:latin typeface="Times New Roman" panose="02020603050405020304" pitchFamily="18" charset="0"/>
              </a:rPr>
              <a:t>i</a:t>
            </a:r>
            <a:r>
              <a:rPr lang="en-US" altLang="en-US">
                <a:latin typeface="Times New Roman" panose="02020603050405020304" pitchFamily="18" charset="0"/>
              </a:rPr>
              <a:t>}</a:t>
            </a:r>
            <a:endParaRPr lang="en-US" altLang="en-US" b="1" i="1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		break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while loop </a:t>
            </a:r>
            <a:r>
              <a:rPr lang="en-US" altLang="en-US">
                <a:latin typeface="Times New Roman" panose="02020603050405020304" pitchFamily="18" charset="0"/>
              </a:rPr>
              <a:t>{mismatch}</a:t>
            </a: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return  </a:t>
            </a: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-1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latin typeface="Times New Roman" panose="02020603050405020304" pitchFamily="18" charset="0"/>
              </a:rPr>
              <a:t>{no match anywhere}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E46FBBF5-87C0-BB43-CB4D-6D40008540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Boyer-Moore Heuristics</a:t>
            </a:r>
          </a:p>
        </p:txBody>
      </p:sp>
      <p:sp>
        <p:nvSpPr>
          <p:cNvPr id="1843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130A676-60A6-3CAB-0F90-BEF49DF6DC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57400" y="1447800"/>
            <a:ext cx="8153400" cy="2590800"/>
          </a:xfrm>
          <a:noFill/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000"/>
              <a:t>The Boyer-Moore’s pattern matching algorithm is based on two heuristics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	</a:t>
            </a:r>
            <a:r>
              <a:rPr lang="en-US" altLang="en-US" sz="2000">
                <a:solidFill>
                  <a:srgbClr val="FF0000"/>
                </a:solidFill>
              </a:rPr>
              <a:t>Looking-glass heuristic</a:t>
            </a:r>
            <a:r>
              <a:rPr lang="en-US" altLang="en-US" sz="2000">
                <a:solidFill>
                  <a:schemeClr val="tx2"/>
                </a:solidFill>
              </a:rPr>
              <a:t>:</a:t>
            </a:r>
            <a:r>
              <a:rPr lang="en-US" altLang="en-US" sz="2000"/>
              <a:t> Compare </a:t>
            </a:r>
            <a:r>
              <a:rPr lang="en-US" altLang="en-US" sz="2000" b="1" i="1">
                <a:latin typeface="Times New Roman" panose="02020603050405020304" pitchFamily="18" charset="0"/>
              </a:rPr>
              <a:t>P</a:t>
            </a:r>
            <a:r>
              <a:rPr lang="en-US" altLang="en-US" sz="2000"/>
              <a:t> with a subsequence of </a:t>
            </a:r>
            <a:r>
              <a:rPr lang="en-US" altLang="en-US" sz="2000" b="1" i="1">
                <a:latin typeface="Times New Roman" panose="02020603050405020304" pitchFamily="18" charset="0"/>
              </a:rPr>
              <a:t>T</a:t>
            </a:r>
            <a:r>
              <a:rPr lang="en-US" altLang="en-US" sz="2000"/>
              <a:t> moving backwards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	</a:t>
            </a:r>
            <a:r>
              <a:rPr lang="en-US" altLang="en-US" sz="2000">
                <a:solidFill>
                  <a:srgbClr val="FF0000"/>
                </a:solidFill>
              </a:rPr>
              <a:t>Character-jump heuristic: </a:t>
            </a:r>
            <a:r>
              <a:rPr lang="en-US" altLang="en-US" sz="2000"/>
              <a:t>When a mismatch occurs at </a:t>
            </a:r>
            <a:r>
              <a:rPr lang="en-US" altLang="en-US" sz="2000" b="1" i="1">
                <a:latin typeface="Times New Roman" panose="02020603050405020304" pitchFamily="18" charset="0"/>
              </a:rPr>
              <a:t>T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b="1" i="1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] </a:t>
            </a:r>
            <a:r>
              <a:rPr lang="en-US" altLang="en-US" sz="2000">
                <a:latin typeface="Symbol" panose="05050102010706020507" pitchFamily="18" charset="2"/>
              </a:rPr>
              <a:t>=</a:t>
            </a:r>
            <a:r>
              <a:rPr lang="en-US" altLang="en-US" sz="2000" b="1" i="1">
                <a:latin typeface="Times New Roman" panose="02020603050405020304" pitchFamily="18" charset="0"/>
              </a:rPr>
              <a:t> c</a:t>
            </a:r>
            <a:r>
              <a:rPr lang="en-US" altLang="en-US" sz="2000"/>
              <a:t> </a:t>
            </a:r>
            <a:endParaRPr lang="en-US" altLang="en-US" sz="2000" b="1" i="1">
              <a:latin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sz="1800"/>
              <a:t>If </a:t>
            </a:r>
            <a:r>
              <a:rPr lang="en-US" altLang="en-US" sz="1800" b="1" i="1">
                <a:latin typeface="Times New Roman" panose="02020603050405020304" pitchFamily="18" charset="0"/>
              </a:rPr>
              <a:t>P </a:t>
            </a:r>
            <a:r>
              <a:rPr lang="en-US" altLang="en-US" sz="1800"/>
              <a:t>contains </a:t>
            </a:r>
            <a:r>
              <a:rPr lang="en-US" altLang="en-US" sz="1800" b="1" i="1">
                <a:latin typeface="Times New Roman" panose="02020603050405020304" pitchFamily="18" charset="0"/>
              </a:rPr>
              <a:t>c</a:t>
            </a:r>
            <a:r>
              <a:rPr lang="en-US" altLang="en-US" sz="1800"/>
              <a:t>, shift </a:t>
            </a:r>
            <a:r>
              <a:rPr lang="en-US" altLang="en-US" sz="1800" b="1" i="1">
                <a:latin typeface="Times New Roman" panose="02020603050405020304" pitchFamily="18" charset="0"/>
              </a:rPr>
              <a:t>P</a:t>
            </a:r>
            <a:r>
              <a:rPr lang="en-US" altLang="en-US" sz="1800"/>
              <a:t> to align the last occurrence of </a:t>
            </a:r>
            <a:r>
              <a:rPr lang="en-US" altLang="en-US" sz="1800" b="1" i="1">
                <a:latin typeface="Times New Roman" panose="02020603050405020304" pitchFamily="18" charset="0"/>
              </a:rPr>
              <a:t>c </a:t>
            </a:r>
            <a:r>
              <a:rPr lang="en-US" altLang="en-US" sz="1800"/>
              <a:t>in </a:t>
            </a:r>
            <a:r>
              <a:rPr lang="en-US" altLang="en-US" sz="1800" b="1" i="1">
                <a:latin typeface="Times New Roman" panose="02020603050405020304" pitchFamily="18" charset="0"/>
              </a:rPr>
              <a:t>P </a:t>
            </a:r>
            <a:r>
              <a:rPr lang="en-US" altLang="en-US" sz="1800"/>
              <a:t>with </a:t>
            </a:r>
            <a:r>
              <a:rPr lang="en-US" altLang="en-US" sz="1800" b="1" i="1">
                <a:latin typeface="Times New Roman" panose="02020603050405020304" pitchFamily="18" charset="0"/>
              </a:rPr>
              <a:t>T</a:t>
            </a:r>
            <a:r>
              <a:rPr lang="en-US" altLang="en-US" sz="1800"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latin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</a:rPr>
              <a:t>] </a:t>
            </a:r>
            <a:endParaRPr lang="en-US" altLang="en-US" sz="1800" b="1" i="1">
              <a:latin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sz="1800"/>
              <a:t>Else, shift </a:t>
            </a:r>
            <a:r>
              <a:rPr lang="en-US" altLang="en-US" sz="1800" b="1" i="1">
                <a:latin typeface="Times New Roman" panose="02020603050405020304" pitchFamily="18" charset="0"/>
              </a:rPr>
              <a:t>P</a:t>
            </a:r>
            <a:r>
              <a:rPr lang="en-US" altLang="en-US" sz="1800"/>
              <a:t> to align </a:t>
            </a:r>
            <a:r>
              <a:rPr lang="en-US" altLang="en-US" sz="1800" b="1" i="1">
                <a:latin typeface="Times New Roman" panose="02020603050405020304" pitchFamily="18" charset="0"/>
              </a:rPr>
              <a:t>P</a:t>
            </a:r>
            <a:r>
              <a:rPr lang="en-US" altLang="en-US" sz="1800">
                <a:latin typeface="Times New Roman" panose="02020603050405020304" pitchFamily="18" charset="0"/>
              </a:rPr>
              <a:t>[0]</a:t>
            </a:r>
            <a:r>
              <a:rPr lang="en-US" altLang="en-US" sz="1800"/>
              <a:t> with </a:t>
            </a:r>
            <a:r>
              <a:rPr lang="en-US" altLang="en-US" sz="1800" b="1" i="1">
                <a:latin typeface="Times New Roman" panose="02020603050405020304" pitchFamily="18" charset="0"/>
              </a:rPr>
              <a:t>T</a:t>
            </a:r>
            <a:r>
              <a:rPr lang="en-US" altLang="en-US" sz="1800"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latin typeface="Times New Roman" panose="02020603050405020304" pitchFamily="18" charset="0"/>
              </a:rPr>
              <a:t>i </a:t>
            </a:r>
            <a:r>
              <a:rPr lang="en-US" altLang="en-US" sz="1800">
                <a:latin typeface="Symbol" panose="05050102010706020507" pitchFamily="18" charset="2"/>
              </a:rPr>
              <a:t>+</a:t>
            </a:r>
            <a:r>
              <a:rPr lang="en-US" altLang="en-US" sz="1800">
                <a:latin typeface="Times New Roman" panose="02020603050405020304" pitchFamily="18" charset="0"/>
              </a:rPr>
              <a:t> 1]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Example </a:t>
            </a:r>
          </a:p>
        </p:txBody>
      </p:sp>
      <p:graphicFrame>
        <p:nvGraphicFramePr>
          <p:cNvPr id="18435" name="Object 2">
            <a:extLst>
              <a:ext uri="{FF2B5EF4-FFF2-40B4-BE49-F238E27FC236}">
                <a16:creationId xmlns:a16="http://schemas.microsoft.com/office/drawing/2014/main" id="{DA366519-6C96-C246-0DCD-CF43E8CD10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05026" y="4191000"/>
          <a:ext cx="8029575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0" imgH="0" progId="Visio.Drawing.6">
                  <p:embed/>
                </p:oleObj>
              </mc:Choice>
              <mc:Fallback>
                <p:oleObj name="VISIO" r:id="rId2" imgW="0" imgH="0" progId="Visio.Drawing.6">
                  <p:embed/>
                  <p:pic>
                    <p:nvPicPr>
                      <p:cNvPr id="18435" name="Object 2">
                        <a:extLst>
                          <a:ext uri="{FF2B5EF4-FFF2-40B4-BE49-F238E27FC236}">
                            <a16:creationId xmlns:a16="http://schemas.microsoft.com/office/drawing/2014/main" id="{DA366519-6C96-C246-0DCD-CF43E8CD10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5026" y="4191000"/>
                        <a:ext cx="8029575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CA025489-DB59-5B5A-9FB5-E083A28E71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Last-Occurrence Function</a:t>
            </a:r>
          </a:p>
        </p:txBody>
      </p:sp>
      <p:sp>
        <p:nvSpPr>
          <p:cNvPr id="1945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4C46E7D-3C44-38CF-D330-97B5D681E9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0" y="1600200"/>
            <a:ext cx="7848600" cy="43434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000"/>
              <a:t>Boyer-Moore’s algorithm preprocesses the pattern </a:t>
            </a:r>
            <a:r>
              <a:rPr lang="en-US" altLang="en-US" sz="2000" b="1" i="1">
                <a:latin typeface="Times New Roman" panose="02020603050405020304" pitchFamily="18" charset="0"/>
              </a:rPr>
              <a:t>P</a:t>
            </a:r>
            <a:r>
              <a:rPr lang="en-US" altLang="en-US" sz="2000"/>
              <a:t> and the alphabet </a:t>
            </a:r>
            <a:r>
              <a:rPr lang="en-US" altLang="en-US" sz="2000" b="1" i="1">
                <a:latin typeface="Symbol" panose="05050102010706020507" pitchFamily="18" charset="2"/>
              </a:rPr>
              <a:t>S</a:t>
            </a:r>
            <a:r>
              <a:rPr lang="en-US" altLang="en-US" sz="2000"/>
              <a:t>  to build the </a:t>
            </a:r>
            <a:r>
              <a:rPr lang="en-US" altLang="en-US" sz="2000">
                <a:solidFill>
                  <a:srgbClr val="FF0000"/>
                </a:solidFill>
              </a:rPr>
              <a:t>last-occurrence function </a:t>
            </a:r>
            <a:r>
              <a:rPr lang="en-US" altLang="en-US" sz="2000" b="1" i="1">
                <a:latin typeface="Times New Roman" panose="02020603050405020304" pitchFamily="18" charset="0"/>
              </a:rPr>
              <a:t>L</a:t>
            </a:r>
            <a:r>
              <a:rPr lang="en-US" altLang="en-US" sz="2000"/>
              <a:t> mapping </a:t>
            </a:r>
            <a:r>
              <a:rPr lang="en-US" altLang="en-US" sz="2000" b="1" i="1">
                <a:latin typeface="Symbol" panose="05050102010706020507" pitchFamily="18" charset="2"/>
              </a:rPr>
              <a:t>S </a:t>
            </a:r>
            <a:r>
              <a:rPr lang="en-US" altLang="en-US" sz="2000"/>
              <a:t> to integers, where </a:t>
            </a:r>
            <a:r>
              <a:rPr lang="en-US" altLang="en-US" sz="2000" b="1" i="1">
                <a:latin typeface="Times New Roman" panose="02020603050405020304" pitchFamily="18" charset="0"/>
              </a:rPr>
              <a:t>L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c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is defined as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the largest index </a:t>
            </a:r>
            <a:r>
              <a:rPr lang="en-US" altLang="en-US" sz="1800" b="1" i="1">
                <a:latin typeface="Times New Roman" panose="02020603050405020304" pitchFamily="18" charset="0"/>
              </a:rPr>
              <a:t>i</a:t>
            </a:r>
            <a:r>
              <a:rPr lang="en-US" altLang="en-US" sz="1800"/>
              <a:t> such that </a:t>
            </a:r>
            <a:r>
              <a:rPr lang="en-US" altLang="en-US" sz="1800" b="1" i="1">
                <a:latin typeface="Times New Roman" panose="02020603050405020304" pitchFamily="18" charset="0"/>
              </a:rPr>
              <a:t>P</a:t>
            </a:r>
            <a:r>
              <a:rPr lang="en-US" altLang="en-US" sz="1800"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latin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</a:rPr>
              <a:t>]</a:t>
            </a:r>
            <a:r>
              <a:rPr lang="en-US" altLang="en-US" sz="1800"/>
              <a:t> </a:t>
            </a:r>
            <a:r>
              <a:rPr lang="en-US" altLang="en-US" sz="1800">
                <a:latin typeface="Symbol" panose="05050102010706020507" pitchFamily="18" charset="2"/>
              </a:rPr>
              <a:t>=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latin typeface="Times New Roman" panose="02020603050405020304" pitchFamily="18" charset="0"/>
              </a:rPr>
              <a:t>c </a:t>
            </a:r>
            <a:r>
              <a:rPr lang="en-US" altLang="en-US" sz="1800"/>
              <a:t>or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Symbol" panose="05050102010706020507" pitchFamily="18" charset="2"/>
              </a:rPr>
              <a:t>-   -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  <a:r>
              <a:rPr lang="en-US" altLang="en-US" sz="1800"/>
              <a:t> if no such index exists </a:t>
            </a:r>
            <a:endParaRPr lang="en-US" altLang="en-US" sz="1800" b="1" i="1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000"/>
              <a:t>Example: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1800" b="1" i="1">
                <a:latin typeface="Symbol" panose="05050102010706020507" pitchFamily="18" charset="2"/>
              </a:rPr>
              <a:t>-  S </a:t>
            </a:r>
            <a:r>
              <a:rPr lang="en-US" altLang="en-US" sz="1800">
                <a:latin typeface="Symbol" panose="05050102010706020507" pitchFamily="18" charset="2"/>
              </a:rPr>
              <a:t>=</a:t>
            </a:r>
            <a:r>
              <a:rPr lang="en-US" altLang="en-US" sz="1800">
                <a:latin typeface="Times New Roman" panose="02020603050405020304" pitchFamily="18" charset="0"/>
              </a:rPr>
              <a:t> {</a:t>
            </a:r>
            <a:r>
              <a:rPr lang="en-US" altLang="en-US" sz="1800" b="1" i="1">
                <a:latin typeface="Times New Roman" panose="02020603050405020304" pitchFamily="18" charset="0"/>
              </a:rPr>
              <a:t>a, b, c, d</a:t>
            </a:r>
            <a:r>
              <a:rPr lang="en-US" altLang="en-US" sz="1800">
                <a:latin typeface="Times New Roman" panose="02020603050405020304" pitchFamily="18" charset="0"/>
              </a:rPr>
              <a:t>}</a:t>
            </a:r>
          </a:p>
          <a:p>
            <a:pPr lvl="1">
              <a:lnSpc>
                <a:spcPct val="90000"/>
              </a:lnSpc>
            </a:pPr>
            <a:r>
              <a:rPr lang="en-US" altLang="en-US" sz="1800" b="1" i="1">
                <a:latin typeface="Times New Roman" panose="02020603050405020304" pitchFamily="18" charset="0"/>
              </a:rPr>
              <a:t>P</a:t>
            </a:r>
            <a:r>
              <a:rPr lang="en-US" altLang="en-US" sz="1800" b="1" i="1">
                <a:latin typeface="Symbol" panose="05050102010706020507" pitchFamily="18" charset="2"/>
              </a:rPr>
              <a:t> </a:t>
            </a:r>
            <a:r>
              <a:rPr lang="en-US" altLang="en-US" sz="1800">
                <a:latin typeface="Symbol" panose="05050102010706020507" pitchFamily="18" charset="2"/>
              </a:rPr>
              <a:t>=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latin typeface="Times New Roman" panose="02020603050405020304" pitchFamily="18" charset="0"/>
              </a:rPr>
              <a:t>abacab</a:t>
            </a:r>
          </a:p>
          <a:p>
            <a:pPr lvl="1">
              <a:lnSpc>
                <a:spcPct val="90000"/>
              </a:lnSpc>
            </a:pPr>
            <a:endParaRPr lang="en-US" altLang="en-US" sz="1800" b="1" i="1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000"/>
              <a:t>The last-occurrence function can be represented by an array indexed by the numeric codes of the characters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The last-occurrence function can be computed in time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m </a:t>
            </a:r>
            <a:r>
              <a:rPr lang="en-US" altLang="en-US" sz="2000">
                <a:latin typeface="Symbol" panose="05050102010706020507" pitchFamily="18" charset="2"/>
              </a:rPr>
              <a:t>+</a:t>
            </a:r>
            <a:r>
              <a:rPr lang="en-US" altLang="en-US" sz="2000" b="1" i="1">
                <a:latin typeface="Times New Roman" panose="02020603050405020304" pitchFamily="18" charset="0"/>
              </a:rPr>
              <a:t> s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, where </a:t>
            </a:r>
            <a:r>
              <a:rPr lang="en-US" altLang="en-US" sz="2000" b="1" i="1">
                <a:latin typeface="Times New Roman" panose="02020603050405020304" pitchFamily="18" charset="0"/>
              </a:rPr>
              <a:t>m</a:t>
            </a:r>
            <a:r>
              <a:rPr lang="en-US" altLang="en-US" sz="2000"/>
              <a:t> is the size of </a:t>
            </a:r>
            <a:r>
              <a:rPr lang="en-US" altLang="en-US" sz="2000" b="1" i="1">
                <a:latin typeface="Times New Roman" panose="02020603050405020304" pitchFamily="18" charset="0"/>
              </a:rPr>
              <a:t>P</a:t>
            </a:r>
            <a:r>
              <a:rPr lang="en-US" altLang="en-US" sz="2000"/>
              <a:t> and </a:t>
            </a:r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  <a:r>
              <a:rPr lang="en-US" altLang="en-US" sz="2000"/>
              <a:t> is the size of </a:t>
            </a:r>
            <a:r>
              <a:rPr lang="en-US" altLang="en-US" sz="2000" b="1" i="1">
                <a:latin typeface="Symbol" panose="05050102010706020507" pitchFamily="18" charset="2"/>
              </a:rPr>
              <a:t>S</a:t>
            </a:r>
          </a:p>
          <a:p>
            <a:pPr>
              <a:lnSpc>
                <a:spcPct val="90000"/>
              </a:lnSpc>
            </a:pPr>
            <a:endParaRPr lang="en-US" altLang="en-US" sz="2000" b="1" i="1">
              <a:latin typeface="Symbol" panose="05050102010706020507" pitchFamily="18" charset="2"/>
            </a:endParaRPr>
          </a:p>
        </p:txBody>
      </p:sp>
      <p:graphicFrame>
        <p:nvGraphicFramePr>
          <p:cNvPr id="169032" name="Group 72">
            <a:extLst>
              <a:ext uri="{FF2B5EF4-FFF2-40B4-BE49-F238E27FC236}">
                <a16:creationId xmlns:a16="http://schemas.microsoft.com/office/drawing/2014/main" id="{5907665E-8DFD-7803-F10E-F3F786577C7E}"/>
              </a:ext>
            </a:extLst>
          </p:cNvPr>
          <p:cNvGraphicFramePr>
            <a:graphicFrameLocks noGrp="1"/>
          </p:cNvGraphicFramePr>
          <p:nvPr/>
        </p:nvGraphicFramePr>
        <p:xfrm>
          <a:off x="4953000" y="3276601"/>
          <a:ext cx="4648200" cy="762029"/>
        </p:xfrm>
        <a:graphic>
          <a:graphicData uri="http://schemas.openxmlformats.org/drawingml/2006/table">
            <a:tbl>
              <a:tblPr/>
              <a:tblGrid>
                <a:gridCol w="93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6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marT="45663" marB="4566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663" marB="4566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</a:p>
                  </a:txBody>
                  <a:tcPr marT="45663" marB="4566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663" marB="4566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</a:rPr>
                        <a:t>-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1" name="Group 11">
            <a:extLst>
              <a:ext uri="{FF2B5EF4-FFF2-40B4-BE49-F238E27FC236}">
                <a16:creationId xmlns:a16="http://schemas.microsoft.com/office/drawing/2014/main" id="{049761F5-7929-8EAA-7948-B4EA15A83D8C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1447801"/>
            <a:ext cx="4114800" cy="2557463"/>
            <a:chOff x="2976" y="2517"/>
            <a:chExt cx="2592" cy="1611"/>
          </a:xfrm>
        </p:grpSpPr>
        <p:graphicFrame>
          <p:nvGraphicFramePr>
            <p:cNvPr id="20487" name="Object 3">
              <a:extLst>
                <a:ext uri="{FF2B5EF4-FFF2-40B4-BE49-F238E27FC236}">
                  <a16:creationId xmlns:a16="http://schemas.microsoft.com/office/drawing/2014/main" id="{61EC70B3-529E-9DAD-4A40-0769528C5AF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80" y="2757"/>
            <a:ext cx="2088" cy="13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0" imgH="0" progId="Visio.Drawing.6">
                    <p:embed/>
                  </p:oleObj>
                </mc:Choice>
                <mc:Fallback>
                  <p:oleObj name="VISIO" r:id="rId2" imgW="0" imgH="0" progId="Visio.Drawing.6">
                    <p:embed/>
                    <p:pic>
                      <p:nvPicPr>
                        <p:cNvPr id="20487" name="Object 3">
                          <a:extLst>
                            <a:ext uri="{FF2B5EF4-FFF2-40B4-BE49-F238E27FC236}">
                              <a16:creationId xmlns:a16="http://schemas.microsoft.com/office/drawing/2014/main" id="{61EC70B3-529E-9DAD-4A40-0769528C5AF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0" y="2757"/>
                          <a:ext cx="2088" cy="13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88" name="Text Box 9">
              <a:extLst>
                <a:ext uri="{FF2B5EF4-FFF2-40B4-BE49-F238E27FC236}">
                  <a16:creationId xmlns:a16="http://schemas.microsoft.com/office/drawing/2014/main" id="{8257DEFA-F7E3-FCBE-824A-9D1345330E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2517"/>
              <a:ext cx="132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/>
                <a:t>Case 1: </a:t>
              </a:r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j </a:t>
              </a:r>
              <a:r>
                <a:rPr lang="en-US" altLang="en-US" sz="2000">
                  <a:solidFill>
                    <a:schemeClr val="tx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</a:t>
              </a:r>
              <a:r>
                <a:rPr lang="en-US" altLang="en-US" sz="2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1</a:t>
              </a:r>
              <a:r>
                <a:rPr lang="en-US" altLang="en-US" sz="2000">
                  <a:solidFill>
                    <a:schemeClr val="tx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 </a:t>
              </a:r>
              <a:r>
                <a:rPr lang="en-US" altLang="en-US" sz="2000">
                  <a:solidFill>
                    <a:schemeClr val="tx2"/>
                  </a:solidFill>
                  <a:latin typeface="Symbol" panose="05050102010706020507" pitchFamily="18" charset="2"/>
                </a:rPr>
                <a:t>+</a:t>
              </a:r>
              <a:r>
                <a:rPr lang="en-US" altLang="en-US" sz="2000">
                  <a:solidFill>
                    <a:schemeClr val="tx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 </a:t>
              </a: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l</a:t>
              </a:r>
            </a:p>
          </p:txBody>
        </p:sp>
      </p:grpSp>
      <p:sp>
        <p:nvSpPr>
          <p:cNvPr id="20482" name="Rectangle 2">
            <a:extLst>
              <a:ext uri="{FF2B5EF4-FFF2-40B4-BE49-F238E27FC236}">
                <a16:creationId xmlns:a16="http://schemas.microsoft.com/office/drawing/2014/main" id="{EEA0AF07-D623-0A24-47CA-3309183C7C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Boyer-Moore Algorithm</a:t>
            </a:r>
          </a:p>
        </p:txBody>
      </p:sp>
      <p:sp>
        <p:nvSpPr>
          <p:cNvPr id="20483" name="Text Box 5">
            <a:extLst>
              <a:ext uri="{FF2B5EF4-FFF2-40B4-BE49-F238E27FC236}">
                <a16:creationId xmlns:a16="http://schemas.microsoft.com/office/drawing/2014/main" id="{33C0EEC4-4DC8-5E4F-53E8-BFE798B0D5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481138"/>
            <a:ext cx="3886200" cy="4614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defTabSz="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3429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3429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BoyerMooreMatch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T, P, </a:t>
            </a:r>
            <a:r>
              <a:rPr lang="en-US" altLang="en-US" sz="1800" b="1" i="1">
                <a:solidFill>
                  <a:schemeClr val="tx2"/>
                </a:solidFill>
                <a:latin typeface="Symbol" panose="05050102010706020507" pitchFamily="18" charset="2"/>
              </a:rPr>
              <a:t>S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L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lastOccurenceFunction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P, </a:t>
            </a:r>
            <a:r>
              <a:rPr lang="en-US" altLang="en-US" sz="1800" b="1" i="1">
                <a:solidFill>
                  <a:schemeClr val="accent2"/>
                </a:solidFill>
                <a:latin typeface="Symbol" panose="05050102010706020507" pitchFamily="18" charset="2"/>
              </a:rPr>
              <a:t>S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1800" b="1" i="1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repeat </a:t>
            </a:r>
            <a:endParaRPr lang="en-US" altLang="en-US" sz="1800" b="1" i="1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if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u="sng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Symbol" panose="05050102010706020507" pitchFamily="18" charset="2"/>
              </a:rPr>
              <a:t>=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P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j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if 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>
                <a:solidFill>
                  <a:schemeClr val="accent2"/>
                </a:solidFill>
                <a:latin typeface="Symbol" panose="05050102010706020507" pitchFamily="18" charset="2"/>
              </a:rPr>
              <a:t>=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return 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 </a:t>
            </a:r>
            <a:r>
              <a:rPr lang="en-US" altLang="en-US" sz="1800">
                <a:latin typeface="Times New Roman" panose="02020603050405020304" pitchFamily="18" charset="0"/>
              </a:rPr>
              <a:t>{ match at </a:t>
            </a:r>
            <a:r>
              <a:rPr lang="en-US" altLang="en-US" sz="1800" b="1" i="1">
                <a:latin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</a:rPr>
              <a:t> }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	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>
                <a:latin typeface="Times New Roman" panose="02020603050405020304" pitchFamily="18" charset="0"/>
              </a:rPr>
              <a:t>{ character-jump }</a:t>
            </a:r>
            <a:endParaRPr lang="en-US" altLang="en-US" sz="1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l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L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u="sng">
                <a:solidFill>
                  <a:schemeClr val="accent2"/>
                </a:solidFill>
                <a:latin typeface="Times New Roman" panose="02020603050405020304" pitchFamily="18" charset="0"/>
              </a:rPr>
              <a:t>]]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endParaRPr lang="en-US" altLang="en-US" sz="1800" b="1" i="1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tx2"/>
                </a:solidFill>
                <a:latin typeface="Symbol" panose="05050102010706020507" pitchFamily="18" charset="2"/>
              </a:rPr>
              <a:t>+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 m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–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min(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j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, 1</a:t>
            </a:r>
            <a:r>
              <a:rPr lang="en-US" altLang="en-US" sz="1800">
                <a:solidFill>
                  <a:schemeClr val="tx2"/>
                </a:solidFill>
                <a:latin typeface="Symbol" panose="05050102010706020507" pitchFamily="18" charset="2"/>
              </a:rPr>
              <a:t> + 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l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endParaRPr lang="en-US" altLang="en-US" sz="1800" b="1" i="1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until 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&gt;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return 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en-US" sz="1800">
                <a:latin typeface="Times New Roman" panose="02020603050405020304" pitchFamily="18" charset="0"/>
              </a:rPr>
              <a:t>{ no match }</a:t>
            </a:r>
          </a:p>
        </p:txBody>
      </p:sp>
      <p:grpSp>
        <p:nvGrpSpPr>
          <p:cNvPr id="20484" name="Group 10">
            <a:extLst>
              <a:ext uri="{FF2B5EF4-FFF2-40B4-BE49-F238E27FC236}">
                <a16:creationId xmlns:a16="http://schemas.microsoft.com/office/drawing/2014/main" id="{E5982DE4-BDAC-5248-2ABB-2F100777593D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3979864"/>
            <a:ext cx="4114800" cy="2573337"/>
            <a:chOff x="2976" y="1019"/>
            <a:chExt cx="2592" cy="1621"/>
          </a:xfrm>
        </p:grpSpPr>
        <p:graphicFrame>
          <p:nvGraphicFramePr>
            <p:cNvPr id="20485" name="Object 2">
              <a:extLst>
                <a:ext uri="{FF2B5EF4-FFF2-40B4-BE49-F238E27FC236}">
                  <a16:creationId xmlns:a16="http://schemas.microsoft.com/office/drawing/2014/main" id="{9F733605-867B-ADE6-3C61-C07E2F4F5E6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80" y="1269"/>
            <a:ext cx="2088" cy="13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0" imgH="0" progId="Visio.Drawing.6">
                    <p:embed/>
                  </p:oleObj>
                </mc:Choice>
                <mc:Fallback>
                  <p:oleObj name="VISIO" r:id="rId4" imgW="0" imgH="0" progId="Visio.Drawing.6">
                    <p:embed/>
                    <p:pic>
                      <p:nvPicPr>
                        <p:cNvPr id="20485" name="Object 2">
                          <a:extLst>
                            <a:ext uri="{FF2B5EF4-FFF2-40B4-BE49-F238E27FC236}">
                              <a16:creationId xmlns:a16="http://schemas.microsoft.com/office/drawing/2014/main" id="{9F733605-867B-ADE6-3C61-C07E2F4F5E6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0" y="1269"/>
                          <a:ext cx="2088" cy="13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86" name="Text Box 8">
              <a:extLst>
                <a:ext uri="{FF2B5EF4-FFF2-40B4-BE49-F238E27FC236}">
                  <a16:creationId xmlns:a16="http://schemas.microsoft.com/office/drawing/2014/main" id="{62205914-963B-64EB-91DD-ABFC5320A4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1019"/>
              <a:ext cx="132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/>
                <a:t>Case 2: </a:t>
              </a:r>
              <a:r>
                <a:rPr lang="en-US" altLang="en-US" sz="2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en-US" altLang="en-US" sz="2000">
                  <a:solidFill>
                    <a:schemeClr val="tx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 </a:t>
              </a:r>
              <a:r>
                <a:rPr lang="en-US" altLang="en-US" sz="2000">
                  <a:solidFill>
                    <a:schemeClr val="tx2"/>
                  </a:solidFill>
                  <a:latin typeface="Symbol" panose="05050102010706020507" pitchFamily="18" charset="2"/>
                </a:rPr>
                <a:t>+</a:t>
              </a:r>
              <a:r>
                <a:rPr lang="en-US" altLang="en-US" sz="2000">
                  <a:solidFill>
                    <a:schemeClr val="tx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 </a:t>
              </a: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l</a:t>
              </a:r>
              <a:r>
                <a:rPr lang="en-US" altLang="en-US" sz="2000" b="1">
                  <a:solidFill>
                    <a:schemeClr val="tx2"/>
                  </a:solidFill>
                  <a:latin typeface="Symbol" panose="05050102010706020507" pitchFamily="18" charset="2"/>
                </a:rPr>
                <a:t> </a:t>
              </a:r>
              <a:r>
                <a:rPr lang="en-US" altLang="en-US" sz="2000">
                  <a:solidFill>
                    <a:schemeClr val="tx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&lt; </a:t>
              </a: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j</a:t>
              </a:r>
              <a:endPara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10690FAC-703D-1953-9221-B81BA38218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</a:t>
            </a:r>
          </a:p>
        </p:txBody>
      </p:sp>
      <p:graphicFrame>
        <p:nvGraphicFramePr>
          <p:cNvPr id="21506" name="Object 2">
            <a:extLst>
              <a:ext uri="{FF2B5EF4-FFF2-40B4-BE49-F238E27FC236}">
                <a16:creationId xmlns:a16="http://schemas.microsoft.com/office/drawing/2014/main" id="{983C488F-FFE3-6F1B-0C04-24009F444C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2092326"/>
          <a:ext cx="7848600" cy="369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0" imgH="0" progId="Visio.Drawing.6">
                  <p:embed/>
                </p:oleObj>
              </mc:Choice>
              <mc:Fallback>
                <p:oleObj name="VISIO" r:id="rId2" imgW="0" imgH="0" progId="Visio.Drawing.6">
                  <p:embed/>
                  <p:pic>
                    <p:nvPicPr>
                      <p:cNvPr id="21506" name="Object 2">
                        <a:extLst>
                          <a:ext uri="{FF2B5EF4-FFF2-40B4-BE49-F238E27FC236}">
                            <a16:creationId xmlns:a16="http://schemas.microsoft.com/office/drawing/2014/main" id="{983C488F-FFE3-6F1B-0C04-24009F444C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092326"/>
                        <a:ext cx="7848600" cy="369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F242C021-5396-D161-49E7-5E64EDD49F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Analysis</a:t>
            </a:r>
          </a:p>
        </p:txBody>
      </p:sp>
      <p:sp>
        <p:nvSpPr>
          <p:cNvPr id="2253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CA5175F-2B4F-3EFB-2B48-95B5F524EB2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057400" y="1600200"/>
            <a:ext cx="4038600" cy="457200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sz="2000"/>
              <a:t>Boyer-Moore’s algorithm runs in time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nm </a:t>
            </a:r>
            <a:r>
              <a:rPr lang="en-US" altLang="en-US" sz="2000">
                <a:latin typeface="Symbol" panose="05050102010706020507" pitchFamily="18" charset="2"/>
              </a:rPr>
              <a:t>+</a:t>
            </a:r>
            <a:r>
              <a:rPr lang="en-US" altLang="en-US" sz="2000" b="1" i="1">
                <a:latin typeface="Times New Roman" panose="02020603050405020304" pitchFamily="18" charset="0"/>
              </a:rPr>
              <a:t> s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in the worst cases</a:t>
            </a:r>
          </a:p>
          <a:p>
            <a:r>
              <a:rPr lang="en-US" altLang="en-US" sz="2000"/>
              <a:t>Example of worst case:</a:t>
            </a:r>
          </a:p>
          <a:p>
            <a:pPr lvl="1"/>
            <a:r>
              <a:rPr lang="en-US" altLang="en-US" sz="1800" b="1" i="1">
                <a:latin typeface="Times New Roman" panose="02020603050405020304" pitchFamily="18" charset="0"/>
              </a:rPr>
              <a:t>T </a:t>
            </a:r>
            <a:r>
              <a:rPr lang="en-US" altLang="en-US" sz="1800">
                <a:latin typeface="Symbol" panose="05050102010706020507" pitchFamily="18" charset="2"/>
              </a:rPr>
              <a:t>=</a:t>
            </a:r>
            <a:r>
              <a:rPr lang="en-US" altLang="en-US" sz="1800" b="1" i="1">
                <a:latin typeface="Times New Roman" panose="02020603050405020304" pitchFamily="18" charset="0"/>
              </a:rPr>
              <a:t> aaa … a</a:t>
            </a:r>
          </a:p>
          <a:p>
            <a:pPr lvl="1"/>
            <a:r>
              <a:rPr lang="en-US" altLang="en-US" sz="1800" b="1" i="1">
                <a:latin typeface="Times New Roman" panose="02020603050405020304" pitchFamily="18" charset="0"/>
              </a:rPr>
              <a:t>P </a:t>
            </a:r>
            <a:r>
              <a:rPr lang="en-US" altLang="en-US" sz="1800">
                <a:latin typeface="Symbol" panose="05050102010706020507" pitchFamily="18" charset="2"/>
              </a:rPr>
              <a:t>=</a:t>
            </a:r>
            <a:r>
              <a:rPr lang="en-US" altLang="en-US" sz="1800" b="1" i="1">
                <a:latin typeface="Times New Roman" panose="02020603050405020304" pitchFamily="18" charset="0"/>
              </a:rPr>
              <a:t> baaa</a:t>
            </a:r>
          </a:p>
          <a:p>
            <a:r>
              <a:rPr lang="en-US" altLang="en-US" sz="2000"/>
              <a:t>The worst case may occur in images and DNA sequences but is unlikely in English text</a:t>
            </a:r>
          </a:p>
          <a:p>
            <a:r>
              <a:rPr lang="en-US" altLang="en-US" sz="2000"/>
              <a:t>Boyer-Moore’s algorithm is significantly faster than the brute-force algorithm on English text (on average, 0.24 comparison per text character)</a:t>
            </a:r>
          </a:p>
        </p:txBody>
      </p:sp>
      <p:graphicFrame>
        <p:nvGraphicFramePr>
          <p:cNvPr id="22531" name="Object 2">
            <a:extLst>
              <a:ext uri="{FF2B5EF4-FFF2-40B4-BE49-F238E27FC236}">
                <a16:creationId xmlns:a16="http://schemas.microsoft.com/office/drawing/2014/main" id="{F9EB3299-7367-D4B6-3FA9-0A8E41164B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1676401"/>
          <a:ext cx="4103688" cy="394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0" imgH="0" progId="Visio.Drawing.6">
                  <p:embed/>
                </p:oleObj>
              </mc:Choice>
              <mc:Fallback>
                <p:oleObj name="VISIO" r:id="rId2" imgW="0" imgH="0" progId="Visio.Drawing.6">
                  <p:embed/>
                  <p:pic>
                    <p:nvPicPr>
                      <p:cNvPr id="22531" name="Object 2">
                        <a:extLst>
                          <a:ext uri="{FF2B5EF4-FFF2-40B4-BE49-F238E27FC236}">
                            <a16:creationId xmlns:a16="http://schemas.microsoft.com/office/drawing/2014/main" id="{F9EB3299-7367-D4B6-3FA9-0A8E41164B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676401"/>
                        <a:ext cx="4103688" cy="3948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49D1F821-6122-0DF1-A4AB-6CBE34741E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Tries</a:t>
            </a:r>
          </a:p>
        </p:txBody>
      </p:sp>
      <p:sp>
        <p:nvSpPr>
          <p:cNvPr id="2355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7F4459D-A763-18DB-9A40-185AF9ED492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133600" y="1590676"/>
            <a:ext cx="8001000" cy="4505325"/>
          </a:xfrm>
        </p:spPr>
        <p:txBody>
          <a:bodyPr/>
          <a:lstStyle/>
          <a:p>
            <a:r>
              <a:rPr lang="en-US" altLang="en-US" sz="2400"/>
              <a:t>If the text is large, immutable and frequently searched, we may want to preprocess the text instead of the pattern</a:t>
            </a:r>
          </a:p>
          <a:p>
            <a:endParaRPr lang="en-US" altLang="en-US" sz="2400"/>
          </a:p>
          <a:p>
            <a:r>
              <a:rPr lang="en-US" altLang="en-US" sz="2400"/>
              <a:t>A trie is a compact data structure for representing a set of strings, such as all the words in a text</a:t>
            </a:r>
          </a:p>
          <a:p>
            <a:pPr lvl="1"/>
            <a:r>
              <a:rPr lang="en-US" altLang="en-US" sz="2000"/>
              <a:t>A tries supports pattern matching queries in time proportional to the pattern size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523EF5B2-08D9-C6DC-BC7C-9AB3B74C36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76200"/>
            <a:ext cx="8229600" cy="914400"/>
          </a:xfrm>
        </p:spPr>
        <p:txBody>
          <a:bodyPr/>
          <a:lstStyle/>
          <a:p>
            <a:r>
              <a:rPr lang="en-US" altLang="en-US"/>
              <a:t>Standard Trie (1)</a:t>
            </a:r>
          </a:p>
        </p:txBody>
      </p:sp>
      <p:sp>
        <p:nvSpPr>
          <p:cNvPr id="2457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C2D5747-46F9-F2C4-C94F-AD94A093A3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57400" y="1066800"/>
            <a:ext cx="8229600" cy="22860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000"/>
              <a:t>The standard trie for a set of strings S is an ordered tree such that: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Each node but the root is labeled with a character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The children of a node are alphabetically ordered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The paths from the external nodes to the root yield the strings of S (in inverse order)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Example: standard trie for the set of strings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S = { bear, bell, bid, bull, buy, sell, stock, stop }</a:t>
            </a:r>
          </a:p>
        </p:txBody>
      </p:sp>
      <p:graphicFrame>
        <p:nvGraphicFramePr>
          <p:cNvPr id="24579" name="Object 2">
            <a:extLst>
              <a:ext uri="{FF2B5EF4-FFF2-40B4-BE49-F238E27FC236}">
                <a16:creationId xmlns:a16="http://schemas.microsoft.com/office/drawing/2014/main" id="{CFD4C9B7-E70D-2A85-D98E-E9BC33228B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3335338"/>
          <a:ext cx="7315200" cy="321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0" imgH="0" progId="Visio.Drawing.6">
                  <p:embed/>
                </p:oleObj>
              </mc:Choice>
              <mc:Fallback>
                <p:oleObj name="VISIO" r:id="rId2" imgW="0" imgH="0" progId="Visio.Drawing.6">
                  <p:embed/>
                  <p:pic>
                    <p:nvPicPr>
                      <p:cNvPr id="24579" name="Object 2">
                        <a:extLst>
                          <a:ext uri="{FF2B5EF4-FFF2-40B4-BE49-F238E27FC236}">
                            <a16:creationId xmlns:a16="http://schemas.microsoft.com/office/drawing/2014/main" id="{CFD4C9B7-E70D-2A85-D98E-E9BC33228B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335338"/>
                        <a:ext cx="7315200" cy="321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026">
            <a:extLst>
              <a:ext uri="{FF2B5EF4-FFF2-40B4-BE49-F238E27FC236}">
                <a16:creationId xmlns:a16="http://schemas.microsoft.com/office/drawing/2014/main" id="{8A465A22-6516-0449-80A3-5962AEAC8A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76200"/>
            <a:ext cx="8229600" cy="914400"/>
          </a:xfrm>
        </p:spPr>
        <p:txBody>
          <a:bodyPr/>
          <a:lstStyle/>
          <a:p>
            <a:r>
              <a:rPr lang="en-US" altLang="en-US"/>
              <a:t>Standard Trie (2)</a:t>
            </a:r>
          </a:p>
        </p:txBody>
      </p:sp>
      <p:sp>
        <p:nvSpPr>
          <p:cNvPr id="25602" name="Rectangle 1027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38AEDA4-1EB8-425F-04E6-661702ADF4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57400" y="1295400"/>
            <a:ext cx="8153400" cy="2209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/>
              <a:t>A standard trie uses </a:t>
            </a:r>
            <a:r>
              <a:rPr lang="en-US" altLang="en-US" b="1" i="1">
                <a:latin typeface="Times New Roman" panose="02020603050405020304" pitchFamily="18" charset="0"/>
              </a:rPr>
              <a:t>O</a:t>
            </a:r>
            <a:r>
              <a:rPr lang="en-US" altLang="en-US"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latin typeface="Times New Roman" panose="02020603050405020304" pitchFamily="18" charset="0"/>
              </a:rPr>
              <a:t>n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  <a:r>
              <a:rPr lang="en-US" altLang="en-US"/>
              <a:t> space and supports searches, insertions and deletions in time </a:t>
            </a:r>
            <a:r>
              <a:rPr lang="en-US" altLang="en-US" b="1" i="1">
                <a:latin typeface="Times New Roman" panose="02020603050405020304" pitchFamily="18" charset="0"/>
              </a:rPr>
              <a:t>O</a:t>
            </a:r>
            <a:r>
              <a:rPr lang="en-US" altLang="en-US"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latin typeface="Times New Roman" panose="02020603050405020304" pitchFamily="18" charset="0"/>
              </a:rPr>
              <a:t>dm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  <a:r>
              <a:rPr lang="en-US" altLang="en-US"/>
              <a:t>, where: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b="1" i="1">
                <a:latin typeface="Times New Roman" panose="02020603050405020304" pitchFamily="18" charset="0"/>
              </a:rPr>
              <a:t>n</a:t>
            </a:r>
            <a:r>
              <a:rPr lang="en-US" altLang="en-US"/>
              <a:t> 	total size of the strings in S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b="1" i="1">
                <a:latin typeface="Times New Roman" panose="02020603050405020304" pitchFamily="18" charset="0"/>
              </a:rPr>
              <a:t>m</a:t>
            </a:r>
            <a:r>
              <a:rPr lang="en-US" altLang="en-US"/>
              <a:t> 	size of the string parameter of the operation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b="1" i="1">
                <a:latin typeface="Times New Roman" panose="02020603050405020304" pitchFamily="18" charset="0"/>
              </a:rPr>
              <a:t>d 	</a:t>
            </a:r>
            <a:r>
              <a:rPr lang="en-US" altLang="en-US"/>
              <a:t>size of the alphabet </a:t>
            </a:r>
          </a:p>
        </p:txBody>
      </p:sp>
      <p:graphicFrame>
        <p:nvGraphicFramePr>
          <p:cNvPr id="25603" name="Object 2">
            <a:extLst>
              <a:ext uri="{FF2B5EF4-FFF2-40B4-BE49-F238E27FC236}">
                <a16:creationId xmlns:a16="http://schemas.microsoft.com/office/drawing/2014/main" id="{49418DA7-B2A4-0368-15D7-E4BD570E76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3335338"/>
          <a:ext cx="7315200" cy="321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0" imgH="0" progId="Visio.Drawing.6">
                  <p:embed/>
                </p:oleObj>
              </mc:Choice>
              <mc:Fallback>
                <p:oleObj name="VISIO" r:id="rId2" imgW="0" imgH="0" progId="Visio.Drawing.6">
                  <p:embed/>
                  <p:pic>
                    <p:nvPicPr>
                      <p:cNvPr id="25603" name="Object 2">
                        <a:extLst>
                          <a:ext uri="{FF2B5EF4-FFF2-40B4-BE49-F238E27FC236}">
                            <a16:creationId xmlns:a16="http://schemas.microsoft.com/office/drawing/2014/main" id="{49418DA7-B2A4-0368-15D7-E4BD570E76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335338"/>
                        <a:ext cx="7315200" cy="321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A8F010E8-F6CC-4455-735B-D366421022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Word Matching with a Trie</a:t>
            </a:r>
          </a:p>
        </p:txBody>
      </p:sp>
      <p:sp>
        <p:nvSpPr>
          <p:cNvPr id="2662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899BB2C-1F34-624E-F232-BB4808265E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52600" y="1219200"/>
            <a:ext cx="2286000" cy="27432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000"/>
              <a:t>We insert the words of the text into a trie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Each external  node stores the occurrences of the associated words in the text </a:t>
            </a:r>
          </a:p>
        </p:txBody>
      </p:sp>
      <p:graphicFrame>
        <p:nvGraphicFramePr>
          <p:cNvPr id="26627" name="Object 2">
            <a:extLst>
              <a:ext uri="{FF2B5EF4-FFF2-40B4-BE49-F238E27FC236}">
                <a16:creationId xmlns:a16="http://schemas.microsoft.com/office/drawing/2014/main" id="{7A7A831B-F9E5-9159-5722-46BD81727A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00525" y="1219200"/>
          <a:ext cx="6172200" cy="207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0" imgH="0" progId="Visio.Drawing.6">
                  <p:embed/>
                </p:oleObj>
              </mc:Choice>
              <mc:Fallback>
                <p:oleObj name="VISIO" r:id="rId2" imgW="0" imgH="0" progId="Visio.Drawing.6">
                  <p:embed/>
                  <p:pic>
                    <p:nvPicPr>
                      <p:cNvPr id="26627" name="Object 2">
                        <a:extLst>
                          <a:ext uri="{FF2B5EF4-FFF2-40B4-BE49-F238E27FC236}">
                            <a16:creationId xmlns:a16="http://schemas.microsoft.com/office/drawing/2014/main" id="{7A7A831B-F9E5-9159-5722-46BD81727A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0525" y="1219200"/>
                        <a:ext cx="6172200" cy="207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" name="Object 3">
            <a:extLst>
              <a:ext uri="{FF2B5EF4-FFF2-40B4-BE49-F238E27FC236}">
                <a16:creationId xmlns:a16="http://schemas.microsoft.com/office/drawing/2014/main" id="{4D8172F7-B330-E8DA-B869-D2B121F3B6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1" y="3571876"/>
          <a:ext cx="7153275" cy="305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0" imgH="0" progId="Visio.Drawing.6">
                  <p:embed/>
                </p:oleObj>
              </mc:Choice>
              <mc:Fallback>
                <p:oleObj name="VISIO" r:id="rId4" imgW="0" imgH="0" progId="Visio.Drawing.6">
                  <p:embed/>
                  <p:pic>
                    <p:nvPicPr>
                      <p:cNvPr id="26628" name="Object 3">
                        <a:extLst>
                          <a:ext uri="{FF2B5EF4-FFF2-40B4-BE49-F238E27FC236}">
                            <a16:creationId xmlns:a16="http://schemas.microsoft.com/office/drawing/2014/main" id="{4D8172F7-B330-E8DA-B869-D2B121F3B6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1" y="3571876"/>
                        <a:ext cx="7153275" cy="305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F2A98D7C-D18D-2123-3635-EB2EAF2799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Compressed Trie</a:t>
            </a:r>
          </a:p>
        </p:txBody>
      </p:sp>
      <p:sp>
        <p:nvSpPr>
          <p:cNvPr id="2765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702054A-FB45-24D6-95D9-FFDE12AA63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295400"/>
            <a:ext cx="3505200" cy="2209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/>
              <a:t>A compressed trie has internal nodes of degree at least two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It is obtained from standard trie by compressing chains of “redundant” nodes</a:t>
            </a:r>
          </a:p>
        </p:txBody>
      </p:sp>
      <p:graphicFrame>
        <p:nvGraphicFramePr>
          <p:cNvPr id="27651" name="Object 2">
            <a:extLst>
              <a:ext uri="{FF2B5EF4-FFF2-40B4-BE49-F238E27FC236}">
                <a16:creationId xmlns:a16="http://schemas.microsoft.com/office/drawing/2014/main" id="{5D40358C-A612-B42D-C2CC-6447D07FAB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1066800"/>
          <a:ext cx="484505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0" imgH="0" progId="Visio.Drawing.6">
                  <p:embed/>
                </p:oleObj>
              </mc:Choice>
              <mc:Fallback>
                <p:oleObj name="VISIO" r:id="rId2" imgW="0" imgH="0" progId="Visio.Drawing.6">
                  <p:embed/>
                  <p:pic>
                    <p:nvPicPr>
                      <p:cNvPr id="27651" name="Object 2">
                        <a:extLst>
                          <a:ext uri="{FF2B5EF4-FFF2-40B4-BE49-F238E27FC236}">
                            <a16:creationId xmlns:a16="http://schemas.microsoft.com/office/drawing/2014/main" id="{5D40358C-A612-B42D-C2CC-6447D07FAB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066800"/>
                        <a:ext cx="4845050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Object 3">
            <a:extLst>
              <a:ext uri="{FF2B5EF4-FFF2-40B4-BE49-F238E27FC236}">
                <a16:creationId xmlns:a16="http://schemas.microsoft.com/office/drawing/2014/main" id="{1A548C56-DA1E-3855-35E8-57A8179B62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1" y="3352800"/>
          <a:ext cx="7248525" cy="318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0" imgH="0" progId="Visio.Drawing.6">
                  <p:embed/>
                </p:oleObj>
              </mc:Choice>
              <mc:Fallback>
                <p:oleObj name="VISIO" r:id="rId4" imgW="0" imgH="0" progId="Visio.Drawing.6">
                  <p:embed/>
                  <p:pic>
                    <p:nvPicPr>
                      <p:cNvPr id="27652" name="Object 3">
                        <a:extLst>
                          <a:ext uri="{FF2B5EF4-FFF2-40B4-BE49-F238E27FC236}">
                            <a16:creationId xmlns:a16="http://schemas.microsoft.com/office/drawing/2014/main" id="{1A548C56-DA1E-3855-35E8-57A8179B62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1" y="3352800"/>
                        <a:ext cx="7248525" cy="318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AutoShape 6">
            <a:extLst>
              <a:ext uri="{FF2B5EF4-FFF2-40B4-BE49-F238E27FC236}">
                <a16:creationId xmlns:a16="http://schemas.microsoft.com/office/drawing/2014/main" id="{C8ADDEEB-0337-FB17-DBE3-9777899E8FC4}"/>
              </a:ext>
            </a:extLst>
          </p:cNvPr>
          <p:cNvSpPr>
            <a:spLocks noChangeArrowheads="1"/>
          </p:cNvSpPr>
          <p:nvPr/>
        </p:nvSpPr>
        <p:spPr bwMode="auto">
          <a:xfrm rot="18886631">
            <a:off x="7772400" y="3429000"/>
            <a:ext cx="685800" cy="381000"/>
          </a:xfrm>
          <a:prstGeom prst="rightArrow">
            <a:avLst>
              <a:gd name="adj1" fmla="val 50000"/>
              <a:gd name="adj2" fmla="val 45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53DE3774-AE4C-868F-2A26-5B2FA5AEB7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Extra Slides</a:t>
            </a:r>
          </a:p>
        </p:txBody>
      </p:sp>
      <p:sp>
        <p:nvSpPr>
          <p:cNvPr id="28674" name="Content Placeholder 2">
            <a:extLst>
              <a:ext uri="{FF2B5EF4-FFF2-40B4-BE49-F238E27FC236}">
                <a16:creationId xmlns:a16="http://schemas.microsoft.com/office/drawing/2014/main" id="{D6F9996C-133D-A80D-2002-58F79B2483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FFA8F4ED-8E4B-F56F-5253-751213352D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Compact Representation</a:t>
            </a:r>
          </a:p>
        </p:txBody>
      </p:sp>
      <p:sp>
        <p:nvSpPr>
          <p:cNvPr id="2969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77ED476-1C01-C43B-A97E-F6ECF0176C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3600" y="1143000"/>
            <a:ext cx="8229600" cy="152400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sz="2000"/>
              <a:t>Compact representation of a compressed trie for an array of</a:t>
            </a:r>
            <a:r>
              <a:rPr lang="en-US" altLang="en-US" sz="2000" b="1" i="1">
                <a:latin typeface="Times New Roman" panose="02020603050405020304" pitchFamily="18" charset="0"/>
              </a:rPr>
              <a:t> </a:t>
            </a:r>
            <a:r>
              <a:rPr lang="en-US" altLang="en-US" sz="2000"/>
              <a:t>strings:</a:t>
            </a:r>
          </a:p>
          <a:p>
            <a:pPr lvl="1"/>
            <a:r>
              <a:rPr lang="en-US" altLang="en-US" sz="1800"/>
              <a:t>Stores at the nodes ranges of indices instead of substrings</a:t>
            </a:r>
          </a:p>
          <a:p>
            <a:pPr lvl="1"/>
            <a:r>
              <a:rPr lang="en-US" altLang="en-US" sz="1800"/>
              <a:t>Uses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  <a:r>
              <a:rPr lang="en-US" altLang="en-US" sz="1800">
                <a:latin typeface="Times New Roman" panose="02020603050405020304" pitchFamily="18" charset="0"/>
              </a:rPr>
              <a:t>) </a:t>
            </a:r>
            <a:r>
              <a:rPr lang="en-US" altLang="en-US" sz="1800"/>
              <a:t>space, where </a:t>
            </a:r>
            <a:r>
              <a:rPr lang="en-US" altLang="en-US" sz="1800" b="1" i="1">
                <a:latin typeface="Times New Roman" panose="02020603050405020304" pitchFamily="18" charset="0"/>
              </a:rPr>
              <a:t>s </a:t>
            </a:r>
            <a:r>
              <a:rPr lang="en-US" altLang="en-US" sz="1800"/>
              <a:t>is the number of strings in the array</a:t>
            </a:r>
          </a:p>
          <a:p>
            <a:pPr lvl="1"/>
            <a:r>
              <a:rPr lang="en-US" altLang="en-US" sz="1800"/>
              <a:t>Serves as an auxiliary index structure</a:t>
            </a:r>
          </a:p>
        </p:txBody>
      </p:sp>
      <p:graphicFrame>
        <p:nvGraphicFramePr>
          <p:cNvPr id="29699" name="Object 2">
            <a:extLst>
              <a:ext uri="{FF2B5EF4-FFF2-40B4-BE49-F238E27FC236}">
                <a16:creationId xmlns:a16="http://schemas.microsoft.com/office/drawing/2014/main" id="{F0CF4B31-4180-7301-7AF2-12BE8F4DF8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1" y="2819401"/>
          <a:ext cx="6145213" cy="154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0" imgH="0" progId="Visio.Drawing.6">
                  <p:embed/>
                </p:oleObj>
              </mc:Choice>
              <mc:Fallback>
                <p:oleObj name="VISIO" r:id="rId2" imgW="0" imgH="0" progId="Visio.Drawing.6">
                  <p:embed/>
                  <p:pic>
                    <p:nvPicPr>
                      <p:cNvPr id="29699" name="Object 2">
                        <a:extLst>
                          <a:ext uri="{FF2B5EF4-FFF2-40B4-BE49-F238E27FC236}">
                            <a16:creationId xmlns:a16="http://schemas.microsoft.com/office/drawing/2014/main" id="{F0CF4B31-4180-7301-7AF2-12BE8F4DF8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2819401"/>
                        <a:ext cx="6145213" cy="154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0" name="Object 3">
            <a:extLst>
              <a:ext uri="{FF2B5EF4-FFF2-40B4-BE49-F238E27FC236}">
                <a16:creationId xmlns:a16="http://schemas.microsoft.com/office/drawing/2014/main" id="{1396C02D-373C-FEAA-3276-E763B7BDCD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4343401"/>
          <a:ext cx="8153400" cy="204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0" imgH="0" progId="Visio.Drawing.6">
                  <p:embed/>
                </p:oleObj>
              </mc:Choice>
              <mc:Fallback>
                <p:oleObj name="VISIO" r:id="rId4" imgW="0" imgH="0" progId="Visio.Drawing.6">
                  <p:embed/>
                  <p:pic>
                    <p:nvPicPr>
                      <p:cNvPr id="29700" name="Object 3">
                        <a:extLst>
                          <a:ext uri="{FF2B5EF4-FFF2-40B4-BE49-F238E27FC236}">
                            <a16:creationId xmlns:a16="http://schemas.microsoft.com/office/drawing/2014/main" id="{1396C02D-373C-FEAA-3276-E763B7BDCD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343401"/>
                        <a:ext cx="8153400" cy="204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4DC4C7FB91B140B0A9EC1FA2FA4CC7" ma:contentTypeVersion="17" ma:contentTypeDescription="Create a new document." ma:contentTypeScope="" ma:versionID="a359d01a76d678a52599419a478fb88a">
  <xsd:schema xmlns:xsd="http://www.w3.org/2001/XMLSchema" xmlns:xs="http://www.w3.org/2001/XMLSchema" xmlns:p="http://schemas.microsoft.com/office/2006/metadata/properties" xmlns:ns3="267f01e4-7839-49fb-8a97-b068259145b5" xmlns:ns4="17d19868-ef34-488c-8b16-a06283663f10" targetNamespace="http://schemas.microsoft.com/office/2006/metadata/properties" ma:root="true" ma:fieldsID="a8afe97c77a35aee103cc5c858b906c6" ns3:_="" ns4:_="">
    <xsd:import namespace="267f01e4-7839-49fb-8a97-b068259145b5"/>
    <xsd:import namespace="17d19868-ef34-488c-8b16-a06283663f1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7f01e4-7839-49fb-8a97-b068259145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d19868-ef34-488c-8b16-a06283663f1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67f01e4-7839-49fb-8a97-b068259145b5" xsi:nil="true"/>
  </documentManagement>
</p:properties>
</file>

<file path=customXml/itemProps1.xml><?xml version="1.0" encoding="utf-8"?>
<ds:datastoreItem xmlns:ds="http://schemas.openxmlformats.org/officeDocument/2006/customXml" ds:itemID="{878F8D9E-8FEE-444E-B2D0-0B1C2379FB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7f01e4-7839-49fb-8a97-b068259145b5"/>
    <ds:schemaRef ds:uri="17d19868-ef34-488c-8b16-a06283663f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E191C36-EEC9-4FBF-8421-5B3481C3792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B22A97F-B084-45A7-A670-46E17772BFBF}">
  <ds:schemaRefs>
    <ds:schemaRef ds:uri="267f01e4-7839-49fb-8a97-b068259145b5"/>
    <ds:schemaRef ds:uri="17d19868-ef34-488c-8b16-a06283663f10"/>
    <ds:schemaRef ds:uri="http://schemas.microsoft.com/office/2006/documentManagement/types"/>
    <ds:schemaRef ds:uri="http://purl.org/dc/elements/1.1/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</TotalTime>
  <Words>1154</Words>
  <Application>Microsoft Office PowerPoint</Application>
  <PresentationFormat>Widescreen</PresentationFormat>
  <Paragraphs>137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Symbol</vt:lpstr>
      <vt:lpstr>Times New Roman</vt:lpstr>
      <vt:lpstr>Trebuchet MS</vt:lpstr>
      <vt:lpstr>Wingdings</vt:lpstr>
      <vt:lpstr>Wingdings 3</vt:lpstr>
      <vt:lpstr>Facet</vt:lpstr>
      <vt:lpstr>Microsoft Visio Drawing</vt:lpstr>
      <vt:lpstr>CS535: Algorithm Design and Analysis   Applications in Text Processing</vt:lpstr>
      <vt:lpstr>Strings</vt:lpstr>
      <vt:lpstr>Brute-Force Algorithm</vt:lpstr>
      <vt:lpstr>Boyer-Moore Heuristics</vt:lpstr>
      <vt:lpstr>Last-Occurrence Function</vt:lpstr>
      <vt:lpstr>The Boyer-Moore Algorithm</vt:lpstr>
      <vt:lpstr>Example</vt:lpstr>
      <vt:lpstr>Analysis</vt:lpstr>
      <vt:lpstr>Tries</vt:lpstr>
      <vt:lpstr>Standard Trie (1)</vt:lpstr>
      <vt:lpstr>Standard Trie (2)</vt:lpstr>
      <vt:lpstr>Word Matching with a Trie</vt:lpstr>
      <vt:lpstr>Compressed Trie</vt:lpstr>
      <vt:lpstr>Extra Slides</vt:lpstr>
      <vt:lpstr>Compact Representation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Rohit (singh2ro)</dc:creator>
  <cp:lastModifiedBy>Singh, Rohit (singh2ro)</cp:lastModifiedBy>
  <cp:revision>1</cp:revision>
  <dcterms:created xsi:type="dcterms:W3CDTF">2024-11-29T10:32:22Z</dcterms:created>
  <dcterms:modified xsi:type="dcterms:W3CDTF">2024-11-29T10:35:35Z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0x010100E54DC4C7FB91B140B0A9EC1FA2FA4CC7</vt:lpwstr>
  </property>
</Properties>
</file>