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36894-2E12-4D56-82B7-4EECDF7F68FF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9D479-F763-4032-837F-389446A55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0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>
            <a:extLst>
              <a:ext uri="{FF2B5EF4-FFF2-40B4-BE49-F238E27FC236}">
                <a16:creationId xmlns:a16="http://schemas.microsoft.com/office/drawing/2014/main" id="{964A56A1-8BBC-6AF5-05F1-B4A6F168D7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Notes Placeholder 2">
            <a:extLst>
              <a:ext uri="{FF2B5EF4-FFF2-40B4-BE49-F238E27FC236}">
                <a16:creationId xmlns:a16="http://schemas.microsoft.com/office/drawing/2014/main" id="{72D78A20-76FF-468F-19EF-712F9EF16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FE2FF764-7158-61EC-B170-F565CF19B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330C01-5ED7-4EB1-B6E4-ED3F328846D6}" type="slidenum">
              <a:rPr lang="en-US" altLang="en-US" sz="1300" smtClean="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25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0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26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4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8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9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6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1267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45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9924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18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99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06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17600" y="19050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9E2F8-47A3-C34E-9EE1-189AFC71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3DF9E-1CAB-BEAA-0800-6B3750E2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551F-39C3-B0BF-0149-FE34DA24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/>
            </a:lvl1pPr>
          </a:lstStyle>
          <a:p>
            <a:pPr>
              <a:defRPr/>
            </a:pPr>
            <a:fld id="{84D18BD2-6F92-4DE2-A981-0150C34D97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562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BE864-D05D-483E-8523-7B0982520DD2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1CC0D3-68D6-4BB7-87E8-4739F254C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0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4AA2160-B3C4-1A26-4432-6E6D57DA2D8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Shortest Paths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E55D1B7B-7C99-A935-2B88-C15AC776F9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Pal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November 25, 20</a:t>
            </a:r>
            <a:r>
              <a:rPr lang="en-US" altLang="zh-CN" sz="1600" b="1" dirty="0">
                <a:solidFill>
                  <a:srgbClr val="0000FF"/>
                </a:solidFill>
                <a:ea typeface="宋体" panose="02010600030101010101" pitchFamily="2" charset="-122"/>
              </a:rPr>
              <a:t>24</a:t>
            </a:r>
            <a:endParaRPr lang="en-US" altLang="en-US" sz="1600" b="1" dirty="0">
              <a:solidFill>
                <a:srgbClr val="0000FF"/>
              </a:solidFill>
            </a:endParaRPr>
          </a:p>
        </p:txBody>
      </p:sp>
      <p:sp>
        <p:nvSpPr>
          <p:cNvPr id="18435" name="TextBox 3">
            <a:extLst>
              <a:ext uri="{FF2B5EF4-FFF2-40B4-BE49-F238E27FC236}">
                <a16:creationId xmlns:a16="http://schemas.microsoft.com/office/drawing/2014/main" id="{329E74F7-E21E-4B26-AEDA-35D6EA48F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Readings: Chapter </a:t>
            </a:r>
            <a:r>
              <a:rPr lang="en-US" altLang="zh-CN" sz="1800">
                <a:ea typeface="宋体" panose="02010600030101010101" pitchFamily="2" charset="-122"/>
              </a:rPr>
              <a:t>7</a:t>
            </a:r>
            <a:r>
              <a:rPr lang="en-US" altLang="en-US" sz="1800"/>
              <a:t>.</a:t>
            </a:r>
            <a:r>
              <a:rPr lang="en-US" altLang="zh-CN" sz="1800">
                <a:ea typeface="宋体" panose="02010600030101010101" pitchFamily="2" charset="-122"/>
              </a:rPr>
              <a:t>1, 7.2</a:t>
            </a:r>
            <a:endParaRPr lang="en-US" altLang="en-US" sz="1800"/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3937C83-4DCA-FE11-C3D8-2EAC3248C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Weighted Graphs</a:t>
            </a:r>
          </a:p>
        </p:txBody>
      </p:sp>
      <p:sp>
        <p:nvSpPr>
          <p:cNvPr id="1945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B6C01A0-7826-9684-7D8A-33B9664F78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2200" y="1219200"/>
            <a:ext cx="77724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In a weighted graph, each edge has an associated numerical value, called the </a:t>
            </a:r>
            <a:r>
              <a:rPr lang="en-US" altLang="en-US" sz="2000" b="1"/>
              <a:t>weight</a:t>
            </a:r>
            <a:r>
              <a:rPr lang="en-US" altLang="en-US" sz="2000"/>
              <a:t> of the edge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Edge weights may represent, distances, costs, etc.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In a  flight route graph, the weight of an edge represents the distance in miles between the endpoint airports</a:t>
            </a:r>
          </a:p>
        </p:txBody>
      </p:sp>
      <p:sp>
        <p:nvSpPr>
          <p:cNvPr id="19459" name="Oval 4">
            <a:extLst>
              <a:ext uri="{FF2B5EF4-FFF2-40B4-BE49-F238E27FC236}">
                <a16:creationId xmlns:a16="http://schemas.microsoft.com/office/drawing/2014/main" id="{A7914969-95F9-F727-5912-BC01B0EF4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1" y="39846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PVD</a:t>
            </a:r>
          </a:p>
        </p:txBody>
      </p:sp>
      <p:sp>
        <p:nvSpPr>
          <p:cNvPr id="19460" name="Oval 5">
            <a:extLst>
              <a:ext uri="{FF2B5EF4-FFF2-40B4-BE49-F238E27FC236}">
                <a16:creationId xmlns:a16="http://schemas.microsoft.com/office/drawing/2014/main" id="{862A155F-5D55-4393-2E60-14B1AA176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1" y="382905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ORD</a:t>
            </a:r>
          </a:p>
        </p:txBody>
      </p:sp>
      <p:sp>
        <p:nvSpPr>
          <p:cNvPr id="19461" name="Oval 6">
            <a:extLst>
              <a:ext uri="{FF2B5EF4-FFF2-40B4-BE49-F238E27FC236}">
                <a16:creationId xmlns:a16="http://schemas.microsoft.com/office/drawing/2014/main" id="{D8AF01CE-A26E-D85D-BC51-C068B1D07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376" y="57372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MIA</a:t>
            </a:r>
          </a:p>
        </p:txBody>
      </p:sp>
      <p:sp>
        <p:nvSpPr>
          <p:cNvPr id="19462" name="Oval 7">
            <a:extLst>
              <a:ext uri="{FF2B5EF4-FFF2-40B4-BE49-F238E27FC236}">
                <a16:creationId xmlns:a16="http://schemas.microsoft.com/office/drawing/2014/main" id="{9D3C6A30-E206-EA2F-EC37-484B698F2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6" y="549910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DFW</a:t>
            </a:r>
          </a:p>
        </p:txBody>
      </p:sp>
      <p:sp>
        <p:nvSpPr>
          <p:cNvPr id="19463" name="Oval 8">
            <a:extLst>
              <a:ext uri="{FF2B5EF4-FFF2-40B4-BE49-F238E27FC236}">
                <a16:creationId xmlns:a16="http://schemas.microsoft.com/office/drawing/2014/main" id="{415BB733-79AA-6D0C-A344-C93B97124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42132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HNL</a:t>
            </a:r>
          </a:p>
        </p:txBody>
      </p:sp>
      <p:sp>
        <p:nvSpPr>
          <p:cNvPr id="19464" name="Oval 9">
            <a:extLst>
              <a:ext uri="{FF2B5EF4-FFF2-40B4-BE49-F238E27FC236}">
                <a16:creationId xmlns:a16="http://schemas.microsoft.com/office/drawing/2014/main" id="{1AF3BE9C-1B25-065F-4BC9-B9A2B37B8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1" y="53562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LAX</a:t>
            </a:r>
          </a:p>
        </p:txBody>
      </p:sp>
      <p:sp>
        <p:nvSpPr>
          <p:cNvPr id="19465" name="Oval 10">
            <a:extLst>
              <a:ext uri="{FF2B5EF4-FFF2-40B4-BE49-F238E27FC236}">
                <a16:creationId xmlns:a16="http://schemas.microsoft.com/office/drawing/2014/main" id="{A6C8E90C-E6EC-72BE-4E8D-501A52F7E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576" y="45942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LGA</a:t>
            </a:r>
          </a:p>
        </p:txBody>
      </p:sp>
      <p:sp>
        <p:nvSpPr>
          <p:cNvPr id="19466" name="Oval 11">
            <a:extLst>
              <a:ext uri="{FF2B5EF4-FFF2-40B4-BE49-F238E27FC236}">
                <a16:creationId xmlns:a16="http://schemas.microsoft.com/office/drawing/2014/main" id="{C72F70E8-6D0B-9327-45D6-BAD210765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51276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SFO</a:t>
            </a:r>
          </a:p>
        </p:txBody>
      </p:sp>
      <p:cxnSp>
        <p:nvCxnSpPr>
          <p:cNvPr id="19467" name="AutoShape 12">
            <a:extLst>
              <a:ext uri="{FF2B5EF4-FFF2-40B4-BE49-F238E27FC236}">
                <a16:creationId xmlns:a16="http://schemas.microsoft.com/office/drawing/2014/main" id="{FE492F58-A61C-3C14-7213-536828AA1DAD}"/>
              </a:ext>
            </a:extLst>
          </p:cNvPr>
          <p:cNvCxnSpPr>
            <a:cxnSpLocks noChangeShapeType="1"/>
            <a:stCxn id="19463" idx="6"/>
            <a:endCxn id="19459" idx="2"/>
          </p:cNvCxnSpPr>
          <p:nvPr/>
        </p:nvCxnSpPr>
        <p:spPr bwMode="auto">
          <a:xfrm flipV="1">
            <a:off x="5060951" y="4213225"/>
            <a:ext cx="125412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8" name="AutoShape 13">
            <a:extLst>
              <a:ext uri="{FF2B5EF4-FFF2-40B4-BE49-F238E27FC236}">
                <a16:creationId xmlns:a16="http://schemas.microsoft.com/office/drawing/2014/main" id="{2E44CF30-A589-0E00-70E8-A2D0699538AD}"/>
              </a:ext>
            </a:extLst>
          </p:cNvPr>
          <p:cNvCxnSpPr>
            <a:cxnSpLocks noChangeShapeType="1"/>
            <a:stCxn id="19462" idx="0"/>
            <a:endCxn id="19459" idx="4"/>
          </p:cNvCxnSpPr>
          <p:nvPr/>
        </p:nvCxnSpPr>
        <p:spPr bwMode="auto">
          <a:xfrm flipV="1">
            <a:off x="6503989" y="4451351"/>
            <a:ext cx="288925" cy="1038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9" name="AutoShape 14">
            <a:extLst>
              <a:ext uri="{FF2B5EF4-FFF2-40B4-BE49-F238E27FC236}">
                <a16:creationId xmlns:a16="http://schemas.microsoft.com/office/drawing/2014/main" id="{B1B40ADA-5289-83F6-7842-D5477D5F26E2}"/>
              </a:ext>
            </a:extLst>
          </p:cNvPr>
          <p:cNvCxnSpPr>
            <a:cxnSpLocks noChangeShapeType="1"/>
            <a:stCxn id="19462" idx="7"/>
            <a:endCxn id="19465" idx="3"/>
          </p:cNvCxnSpPr>
          <p:nvPr/>
        </p:nvCxnSpPr>
        <p:spPr bwMode="auto">
          <a:xfrm flipV="1">
            <a:off x="6835776" y="4994276"/>
            <a:ext cx="1203325" cy="561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0" name="AutoShape 15">
            <a:extLst>
              <a:ext uri="{FF2B5EF4-FFF2-40B4-BE49-F238E27FC236}">
                <a16:creationId xmlns:a16="http://schemas.microsoft.com/office/drawing/2014/main" id="{E41319F8-7279-7204-58C2-9C8FDDFA5CB0}"/>
              </a:ext>
            </a:extLst>
          </p:cNvPr>
          <p:cNvCxnSpPr>
            <a:cxnSpLocks noChangeShapeType="1"/>
            <a:stCxn id="19465" idx="0"/>
            <a:endCxn id="19460" idx="3"/>
          </p:cNvCxnSpPr>
          <p:nvPr/>
        </p:nvCxnSpPr>
        <p:spPr bwMode="auto">
          <a:xfrm flipV="1">
            <a:off x="8370889" y="4229100"/>
            <a:ext cx="604837" cy="355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16">
            <a:extLst>
              <a:ext uri="{FF2B5EF4-FFF2-40B4-BE49-F238E27FC236}">
                <a16:creationId xmlns:a16="http://schemas.microsoft.com/office/drawing/2014/main" id="{C089E859-3FA0-E6EF-C297-BD9D41D3C7CC}"/>
              </a:ext>
            </a:extLst>
          </p:cNvPr>
          <p:cNvCxnSpPr>
            <a:cxnSpLocks noChangeShapeType="1"/>
            <a:stCxn id="19459" idx="6"/>
            <a:endCxn id="19460" idx="2"/>
          </p:cNvCxnSpPr>
          <p:nvPr/>
        </p:nvCxnSpPr>
        <p:spPr bwMode="auto">
          <a:xfrm flipV="1">
            <a:off x="7270751" y="4057651"/>
            <a:ext cx="1558925" cy="1555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AutoShape 17">
            <a:extLst>
              <a:ext uri="{FF2B5EF4-FFF2-40B4-BE49-F238E27FC236}">
                <a16:creationId xmlns:a16="http://schemas.microsoft.com/office/drawing/2014/main" id="{598857DC-4199-513D-FA0B-ACB8B4FA7934}"/>
              </a:ext>
            </a:extLst>
          </p:cNvPr>
          <p:cNvCxnSpPr>
            <a:cxnSpLocks noChangeShapeType="1"/>
            <a:stCxn id="19466" idx="6"/>
            <a:endCxn id="19464" idx="2"/>
          </p:cNvCxnSpPr>
          <p:nvPr/>
        </p:nvCxnSpPr>
        <p:spPr bwMode="auto">
          <a:xfrm>
            <a:off x="3232151" y="5356225"/>
            <a:ext cx="1025525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3" name="AutoShape 18">
            <a:extLst>
              <a:ext uri="{FF2B5EF4-FFF2-40B4-BE49-F238E27FC236}">
                <a16:creationId xmlns:a16="http://schemas.microsoft.com/office/drawing/2014/main" id="{26B7D159-799D-F91A-4D81-A865C7247763}"/>
              </a:ext>
            </a:extLst>
          </p:cNvPr>
          <p:cNvCxnSpPr>
            <a:cxnSpLocks noChangeShapeType="1"/>
            <a:stCxn id="19463" idx="4"/>
            <a:endCxn id="19464" idx="0"/>
          </p:cNvCxnSpPr>
          <p:nvPr/>
        </p:nvCxnSpPr>
        <p:spPr bwMode="auto">
          <a:xfrm>
            <a:off x="4583113" y="4679950"/>
            <a:ext cx="15240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19">
            <a:extLst>
              <a:ext uri="{FF2B5EF4-FFF2-40B4-BE49-F238E27FC236}">
                <a16:creationId xmlns:a16="http://schemas.microsoft.com/office/drawing/2014/main" id="{17785F67-157E-72B2-7F3E-F792CEB83D11}"/>
              </a:ext>
            </a:extLst>
          </p:cNvPr>
          <p:cNvCxnSpPr>
            <a:cxnSpLocks noChangeShapeType="1"/>
            <a:stCxn id="19465" idx="4"/>
            <a:endCxn id="19461" idx="0"/>
          </p:cNvCxnSpPr>
          <p:nvPr/>
        </p:nvCxnSpPr>
        <p:spPr bwMode="auto">
          <a:xfrm>
            <a:off x="8370888" y="5060950"/>
            <a:ext cx="68580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5" name="AutoShape 20">
            <a:extLst>
              <a:ext uri="{FF2B5EF4-FFF2-40B4-BE49-F238E27FC236}">
                <a16:creationId xmlns:a16="http://schemas.microsoft.com/office/drawing/2014/main" id="{297F9107-E981-5ABB-48E3-05A44E84C4CE}"/>
              </a:ext>
            </a:extLst>
          </p:cNvPr>
          <p:cNvCxnSpPr>
            <a:cxnSpLocks noChangeShapeType="1"/>
            <a:endCxn id="19462" idx="6"/>
          </p:cNvCxnSpPr>
          <p:nvPr/>
        </p:nvCxnSpPr>
        <p:spPr bwMode="auto">
          <a:xfrm flipH="1" flipV="1">
            <a:off x="6981826" y="5727701"/>
            <a:ext cx="1597025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6" name="AutoShape 21">
            <a:extLst>
              <a:ext uri="{FF2B5EF4-FFF2-40B4-BE49-F238E27FC236}">
                <a16:creationId xmlns:a16="http://schemas.microsoft.com/office/drawing/2014/main" id="{A4C070C5-BEE6-E944-C164-A4282AF7B82E}"/>
              </a:ext>
            </a:extLst>
          </p:cNvPr>
          <p:cNvCxnSpPr>
            <a:cxnSpLocks noChangeShapeType="1"/>
            <a:stCxn id="19464" idx="6"/>
            <a:endCxn id="19462" idx="2"/>
          </p:cNvCxnSpPr>
          <p:nvPr/>
        </p:nvCxnSpPr>
        <p:spPr bwMode="auto">
          <a:xfrm>
            <a:off x="5213350" y="5584826"/>
            <a:ext cx="812800" cy="142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7" name="AutoShape 22">
            <a:extLst>
              <a:ext uri="{FF2B5EF4-FFF2-40B4-BE49-F238E27FC236}">
                <a16:creationId xmlns:a16="http://schemas.microsoft.com/office/drawing/2014/main" id="{A6D6FFA8-5D08-28B7-97E0-A4F83D604D80}"/>
              </a:ext>
            </a:extLst>
          </p:cNvPr>
          <p:cNvCxnSpPr>
            <a:cxnSpLocks noChangeShapeType="1"/>
            <a:stCxn id="19464" idx="7"/>
            <a:endCxn id="19459" idx="3"/>
          </p:cNvCxnSpPr>
          <p:nvPr/>
        </p:nvCxnSpPr>
        <p:spPr bwMode="auto">
          <a:xfrm flipV="1">
            <a:off x="5067301" y="4384675"/>
            <a:ext cx="1393825" cy="1028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8" name="Text Box 23">
            <a:extLst>
              <a:ext uri="{FF2B5EF4-FFF2-40B4-BE49-F238E27FC236}">
                <a16:creationId xmlns:a16="http://schemas.microsoft.com/office/drawing/2014/main" id="{83FF9359-FF7F-71EC-B083-E6D63778DBCC}"/>
              </a:ext>
            </a:extLst>
          </p:cNvPr>
          <p:cNvSpPr txBox="1">
            <a:spLocks noChangeArrowheads="1"/>
          </p:cNvSpPr>
          <p:nvPr/>
        </p:nvSpPr>
        <p:spPr bwMode="auto">
          <a:xfrm rot="21252715">
            <a:off x="7598623" y="3808383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849</a:t>
            </a:r>
          </a:p>
        </p:txBody>
      </p:sp>
      <p:sp>
        <p:nvSpPr>
          <p:cNvPr id="19479" name="Text Box 24">
            <a:extLst>
              <a:ext uri="{FF2B5EF4-FFF2-40B4-BE49-F238E27FC236}">
                <a16:creationId xmlns:a16="http://schemas.microsoft.com/office/drawing/2014/main" id="{3399D163-1D29-BBAE-02D0-95438C7683B8}"/>
              </a:ext>
            </a:extLst>
          </p:cNvPr>
          <p:cNvSpPr txBox="1">
            <a:spLocks noChangeArrowheads="1"/>
          </p:cNvSpPr>
          <p:nvPr/>
        </p:nvSpPr>
        <p:spPr bwMode="auto">
          <a:xfrm rot="16937753">
            <a:off x="6277029" y="4541014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802</a:t>
            </a:r>
          </a:p>
        </p:txBody>
      </p:sp>
      <p:sp>
        <p:nvSpPr>
          <p:cNvPr id="19480" name="Text Box 25">
            <a:extLst>
              <a:ext uri="{FF2B5EF4-FFF2-40B4-BE49-F238E27FC236}">
                <a16:creationId xmlns:a16="http://schemas.microsoft.com/office/drawing/2014/main" id="{B2B82C14-7CDE-B42D-D2AF-C88FCAC9ACAE}"/>
              </a:ext>
            </a:extLst>
          </p:cNvPr>
          <p:cNvSpPr txBox="1">
            <a:spLocks noChangeArrowheads="1"/>
          </p:cNvSpPr>
          <p:nvPr/>
        </p:nvSpPr>
        <p:spPr bwMode="auto">
          <a:xfrm rot="20055131">
            <a:off x="6950234" y="495773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1387</a:t>
            </a:r>
          </a:p>
        </p:txBody>
      </p:sp>
      <p:sp>
        <p:nvSpPr>
          <p:cNvPr id="19481" name="Text Box 26">
            <a:extLst>
              <a:ext uri="{FF2B5EF4-FFF2-40B4-BE49-F238E27FC236}">
                <a16:creationId xmlns:a16="http://schemas.microsoft.com/office/drawing/2014/main" id="{4777EA5F-5B88-60B6-D911-0DF51F712A15}"/>
              </a:ext>
            </a:extLst>
          </p:cNvPr>
          <p:cNvSpPr txBox="1">
            <a:spLocks noChangeArrowheads="1"/>
          </p:cNvSpPr>
          <p:nvPr/>
        </p:nvSpPr>
        <p:spPr bwMode="auto">
          <a:xfrm rot="19463698">
            <a:off x="5137309" y="47196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1743</a:t>
            </a:r>
          </a:p>
        </p:txBody>
      </p:sp>
      <p:sp>
        <p:nvSpPr>
          <p:cNvPr id="19482" name="Text Box 27">
            <a:extLst>
              <a:ext uri="{FF2B5EF4-FFF2-40B4-BE49-F238E27FC236}">
                <a16:creationId xmlns:a16="http://schemas.microsoft.com/office/drawing/2014/main" id="{DBE7820B-8670-1F37-CA78-9AB934CECA29}"/>
              </a:ext>
            </a:extLst>
          </p:cNvPr>
          <p:cNvSpPr txBox="1">
            <a:spLocks noChangeArrowheads="1"/>
          </p:cNvSpPr>
          <p:nvPr/>
        </p:nvSpPr>
        <p:spPr bwMode="auto">
          <a:xfrm rot="20910655">
            <a:off x="5248434" y="39830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1843</a:t>
            </a:r>
          </a:p>
        </p:txBody>
      </p:sp>
      <p:sp>
        <p:nvSpPr>
          <p:cNvPr id="19483" name="Text Box 28">
            <a:extLst>
              <a:ext uri="{FF2B5EF4-FFF2-40B4-BE49-F238E27FC236}">
                <a16:creationId xmlns:a16="http://schemas.microsoft.com/office/drawing/2014/main" id="{038CA2AC-066A-C588-0DEC-3FE1B00F7DFA}"/>
              </a:ext>
            </a:extLst>
          </p:cNvPr>
          <p:cNvSpPr txBox="1">
            <a:spLocks noChangeArrowheads="1"/>
          </p:cNvSpPr>
          <p:nvPr/>
        </p:nvSpPr>
        <p:spPr bwMode="auto">
          <a:xfrm rot="2626382">
            <a:off x="8545672" y="518633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1099</a:t>
            </a:r>
          </a:p>
        </p:txBody>
      </p:sp>
      <p:sp>
        <p:nvSpPr>
          <p:cNvPr id="19484" name="Text Box 29">
            <a:extLst>
              <a:ext uri="{FF2B5EF4-FFF2-40B4-BE49-F238E27FC236}">
                <a16:creationId xmlns:a16="http://schemas.microsoft.com/office/drawing/2014/main" id="{960361E3-926C-972E-B5A9-DBF58A05C23F}"/>
              </a:ext>
            </a:extLst>
          </p:cNvPr>
          <p:cNvSpPr txBox="1">
            <a:spLocks noChangeArrowheads="1"/>
          </p:cNvSpPr>
          <p:nvPr/>
        </p:nvSpPr>
        <p:spPr bwMode="auto">
          <a:xfrm rot="565849">
            <a:off x="7499350" y="5492751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1120</a:t>
            </a:r>
          </a:p>
        </p:txBody>
      </p:sp>
      <p:sp>
        <p:nvSpPr>
          <p:cNvPr id="19485" name="Text Box 30">
            <a:extLst>
              <a:ext uri="{FF2B5EF4-FFF2-40B4-BE49-F238E27FC236}">
                <a16:creationId xmlns:a16="http://schemas.microsoft.com/office/drawing/2014/main" id="{4CF6FE4E-1D3C-614C-DA68-1CE08E9E8167}"/>
              </a:ext>
            </a:extLst>
          </p:cNvPr>
          <p:cNvSpPr txBox="1">
            <a:spLocks noChangeArrowheads="1"/>
          </p:cNvSpPr>
          <p:nvPr/>
        </p:nvSpPr>
        <p:spPr bwMode="auto">
          <a:xfrm rot="695916">
            <a:off x="5289709" y="531015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1233</a:t>
            </a:r>
          </a:p>
        </p:txBody>
      </p:sp>
      <p:sp>
        <p:nvSpPr>
          <p:cNvPr id="19486" name="Text Box 31">
            <a:extLst>
              <a:ext uri="{FF2B5EF4-FFF2-40B4-BE49-F238E27FC236}">
                <a16:creationId xmlns:a16="http://schemas.microsoft.com/office/drawing/2014/main" id="{33231D77-EF5D-BB94-D5D0-6F4813A2FBD6}"/>
              </a:ext>
            </a:extLst>
          </p:cNvPr>
          <p:cNvSpPr txBox="1">
            <a:spLocks noChangeArrowheads="1"/>
          </p:cNvSpPr>
          <p:nvPr/>
        </p:nvSpPr>
        <p:spPr bwMode="auto">
          <a:xfrm rot="4665015">
            <a:off x="4511729" y="4847402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337</a:t>
            </a:r>
          </a:p>
        </p:txBody>
      </p:sp>
      <p:sp>
        <p:nvSpPr>
          <p:cNvPr id="19487" name="Text Box 32">
            <a:extLst>
              <a:ext uri="{FF2B5EF4-FFF2-40B4-BE49-F238E27FC236}">
                <a16:creationId xmlns:a16="http://schemas.microsoft.com/office/drawing/2014/main" id="{14C03AC8-5A38-82B5-463A-85AD700D50B6}"/>
              </a:ext>
            </a:extLst>
          </p:cNvPr>
          <p:cNvSpPr txBox="1">
            <a:spLocks noChangeArrowheads="1"/>
          </p:cNvSpPr>
          <p:nvPr/>
        </p:nvSpPr>
        <p:spPr bwMode="auto">
          <a:xfrm rot="832501">
            <a:off x="3441859" y="51260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2555</a:t>
            </a:r>
          </a:p>
        </p:txBody>
      </p:sp>
      <p:sp>
        <p:nvSpPr>
          <p:cNvPr id="19488" name="Text Box 33">
            <a:extLst>
              <a:ext uri="{FF2B5EF4-FFF2-40B4-BE49-F238E27FC236}">
                <a16:creationId xmlns:a16="http://schemas.microsoft.com/office/drawing/2014/main" id="{1C6C7CE0-60E7-8C68-FF60-19204B90110B}"/>
              </a:ext>
            </a:extLst>
          </p:cNvPr>
          <p:cNvSpPr txBox="1">
            <a:spLocks noChangeArrowheads="1"/>
          </p:cNvSpPr>
          <p:nvPr/>
        </p:nvSpPr>
        <p:spPr bwMode="auto">
          <a:xfrm rot="19708333">
            <a:off x="8300298" y="4110008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142</a:t>
            </a:r>
          </a:p>
        </p:txBody>
      </p:sp>
      <p:cxnSp>
        <p:nvCxnSpPr>
          <p:cNvPr id="19489" name="AutoShape 34">
            <a:extLst>
              <a:ext uri="{FF2B5EF4-FFF2-40B4-BE49-F238E27FC236}">
                <a16:creationId xmlns:a16="http://schemas.microsoft.com/office/drawing/2014/main" id="{AA6AB951-5075-9BF5-00EE-4188F75D68C1}"/>
              </a:ext>
            </a:extLst>
          </p:cNvPr>
          <p:cNvCxnSpPr>
            <a:cxnSpLocks noChangeShapeType="1"/>
            <a:stCxn id="19460" idx="4"/>
            <a:endCxn id="19461" idx="7"/>
          </p:cNvCxnSpPr>
          <p:nvPr/>
        </p:nvCxnSpPr>
        <p:spPr bwMode="auto">
          <a:xfrm>
            <a:off x="9307513" y="4295775"/>
            <a:ext cx="80962" cy="149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90" name="Text Box 35">
            <a:extLst>
              <a:ext uri="{FF2B5EF4-FFF2-40B4-BE49-F238E27FC236}">
                <a16:creationId xmlns:a16="http://schemas.microsoft.com/office/drawing/2014/main" id="{02FFCB44-CD8E-AABB-5D99-999CC94A9200}"/>
              </a:ext>
            </a:extLst>
          </p:cNvPr>
          <p:cNvSpPr txBox="1">
            <a:spLocks noChangeArrowheads="1"/>
          </p:cNvSpPr>
          <p:nvPr/>
        </p:nvSpPr>
        <p:spPr bwMode="auto">
          <a:xfrm rot="5207815">
            <a:off x="9177497" y="4695795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1205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785E5E4-C45B-8E73-1273-29A5CFF05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762000"/>
          </a:xfrm>
        </p:spPr>
        <p:txBody>
          <a:bodyPr/>
          <a:lstStyle/>
          <a:p>
            <a:r>
              <a:rPr lang="en-US" altLang="en-US"/>
              <a:t>Shortest Path Problem</a:t>
            </a:r>
          </a:p>
        </p:txBody>
      </p:sp>
      <p:sp>
        <p:nvSpPr>
          <p:cNvPr id="2048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6229B96-60F2-5C6C-B20E-1B505F2FE6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990600"/>
            <a:ext cx="7848600" cy="3124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Given a weighted graph and two vertices </a:t>
            </a: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, we want to find a path of minimum total weight between </a:t>
            </a:r>
            <a:r>
              <a:rPr lang="en-US" altLang="en-US" sz="2000" b="1" i="1">
                <a:latin typeface="Times New Roman" panose="02020603050405020304" pitchFamily="18" charset="0"/>
              </a:rPr>
              <a:t>u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v.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Length of a path is the sum of the weights of its edges.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No cycle with a negative total weight is allowed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Shortest path between ORD and SFO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Applications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Internet packet routing 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Flight reservations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Driving directions</a:t>
            </a:r>
          </a:p>
        </p:txBody>
      </p:sp>
      <p:sp>
        <p:nvSpPr>
          <p:cNvPr id="20483" name="Oval 4">
            <a:extLst>
              <a:ext uri="{FF2B5EF4-FFF2-40B4-BE49-F238E27FC236}">
                <a16:creationId xmlns:a16="http://schemas.microsoft.com/office/drawing/2014/main" id="{F47A291E-3B13-61A8-1034-83D8AE414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1" y="421322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PVD</a:t>
            </a:r>
          </a:p>
        </p:txBody>
      </p:sp>
      <p:sp>
        <p:nvSpPr>
          <p:cNvPr id="20484" name="Oval 5">
            <a:extLst>
              <a:ext uri="{FF2B5EF4-FFF2-40B4-BE49-F238E27FC236}">
                <a16:creationId xmlns:a16="http://schemas.microsoft.com/office/drawing/2014/main" id="{A3CBC262-0D06-46D6-CEEE-382ABE697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1" y="405765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ORD</a:t>
            </a:r>
          </a:p>
        </p:txBody>
      </p:sp>
      <p:sp>
        <p:nvSpPr>
          <p:cNvPr id="20485" name="Oval 6">
            <a:extLst>
              <a:ext uri="{FF2B5EF4-FFF2-40B4-BE49-F238E27FC236}">
                <a16:creationId xmlns:a16="http://schemas.microsoft.com/office/drawing/2014/main" id="{B43FA274-9CF8-3383-972E-F0AADB7E3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376" y="59658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MIA</a:t>
            </a:r>
          </a:p>
        </p:txBody>
      </p:sp>
      <p:sp>
        <p:nvSpPr>
          <p:cNvPr id="20486" name="Oval 7">
            <a:extLst>
              <a:ext uri="{FF2B5EF4-FFF2-40B4-BE49-F238E27FC236}">
                <a16:creationId xmlns:a16="http://schemas.microsoft.com/office/drawing/2014/main" id="{E7B278A0-6A98-8D9E-601D-3E135BC0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6" y="5727700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DFW</a:t>
            </a:r>
          </a:p>
        </p:txBody>
      </p:sp>
      <p:sp>
        <p:nvSpPr>
          <p:cNvPr id="20487" name="Oval 8">
            <a:extLst>
              <a:ext uri="{FF2B5EF4-FFF2-40B4-BE49-F238E27FC236}">
                <a16:creationId xmlns:a16="http://schemas.microsoft.com/office/drawing/2014/main" id="{E3E675D4-7713-6925-D159-22B8F72AA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44418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HNL</a:t>
            </a:r>
          </a:p>
        </p:txBody>
      </p:sp>
      <p:sp>
        <p:nvSpPr>
          <p:cNvPr id="20488" name="Oval 9">
            <a:extLst>
              <a:ext uri="{FF2B5EF4-FFF2-40B4-BE49-F238E27FC236}">
                <a16:creationId xmlns:a16="http://schemas.microsoft.com/office/drawing/2014/main" id="{DB06CAC4-A3BE-E5FC-CB47-7CEE06AE0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1" y="558482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LAX</a:t>
            </a:r>
          </a:p>
        </p:txBody>
      </p:sp>
      <p:sp>
        <p:nvSpPr>
          <p:cNvPr id="20489" name="Oval 10">
            <a:extLst>
              <a:ext uri="{FF2B5EF4-FFF2-40B4-BE49-F238E27FC236}">
                <a16:creationId xmlns:a16="http://schemas.microsoft.com/office/drawing/2014/main" id="{F3435033-3ECE-5359-B8AB-B9CD96CE1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576" y="4822825"/>
            <a:ext cx="936625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LGA</a:t>
            </a:r>
          </a:p>
        </p:txBody>
      </p:sp>
      <p:sp>
        <p:nvSpPr>
          <p:cNvPr id="20490" name="Oval 11">
            <a:extLst>
              <a:ext uri="{FF2B5EF4-FFF2-40B4-BE49-F238E27FC236}">
                <a16:creationId xmlns:a16="http://schemas.microsoft.com/office/drawing/2014/main" id="{BC8AB40C-2963-802A-70FE-F6F57C239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535622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SFO</a:t>
            </a:r>
          </a:p>
        </p:txBody>
      </p:sp>
      <p:cxnSp>
        <p:nvCxnSpPr>
          <p:cNvPr id="20491" name="AutoShape 12">
            <a:extLst>
              <a:ext uri="{FF2B5EF4-FFF2-40B4-BE49-F238E27FC236}">
                <a16:creationId xmlns:a16="http://schemas.microsoft.com/office/drawing/2014/main" id="{E370C558-7F1A-8A9E-4E02-F885EB292D2A}"/>
              </a:ext>
            </a:extLst>
          </p:cNvPr>
          <p:cNvCxnSpPr>
            <a:cxnSpLocks noChangeShapeType="1"/>
            <a:stCxn id="20487" idx="6"/>
            <a:endCxn id="20483" idx="2"/>
          </p:cNvCxnSpPr>
          <p:nvPr/>
        </p:nvCxnSpPr>
        <p:spPr bwMode="auto">
          <a:xfrm flipV="1">
            <a:off x="5060950" y="4441825"/>
            <a:ext cx="124460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2" name="AutoShape 13">
            <a:extLst>
              <a:ext uri="{FF2B5EF4-FFF2-40B4-BE49-F238E27FC236}">
                <a16:creationId xmlns:a16="http://schemas.microsoft.com/office/drawing/2014/main" id="{B64E16D7-7032-A9B2-D3BA-73DD1648E03D}"/>
              </a:ext>
            </a:extLst>
          </p:cNvPr>
          <p:cNvCxnSpPr>
            <a:cxnSpLocks noChangeShapeType="1"/>
            <a:stCxn id="20486" idx="0"/>
            <a:endCxn id="20483" idx="4"/>
          </p:cNvCxnSpPr>
          <p:nvPr/>
        </p:nvCxnSpPr>
        <p:spPr bwMode="auto">
          <a:xfrm flipV="1">
            <a:off x="6503989" y="4689475"/>
            <a:ext cx="288925" cy="1028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4">
            <a:extLst>
              <a:ext uri="{FF2B5EF4-FFF2-40B4-BE49-F238E27FC236}">
                <a16:creationId xmlns:a16="http://schemas.microsoft.com/office/drawing/2014/main" id="{F9CE95C1-F9C8-4A6F-C316-D957490D45D8}"/>
              </a:ext>
            </a:extLst>
          </p:cNvPr>
          <p:cNvCxnSpPr>
            <a:cxnSpLocks noChangeShapeType="1"/>
            <a:stCxn id="20486" idx="7"/>
            <a:endCxn id="20489" idx="3"/>
          </p:cNvCxnSpPr>
          <p:nvPr/>
        </p:nvCxnSpPr>
        <p:spPr bwMode="auto">
          <a:xfrm flipV="1">
            <a:off x="6835776" y="5222876"/>
            <a:ext cx="1203325" cy="5619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5">
            <a:extLst>
              <a:ext uri="{FF2B5EF4-FFF2-40B4-BE49-F238E27FC236}">
                <a16:creationId xmlns:a16="http://schemas.microsoft.com/office/drawing/2014/main" id="{2AC3A32B-9117-3CA6-7869-E636CB982D53}"/>
              </a:ext>
            </a:extLst>
          </p:cNvPr>
          <p:cNvCxnSpPr>
            <a:cxnSpLocks noChangeShapeType="1"/>
            <a:stCxn id="20489" idx="0"/>
            <a:endCxn id="20484" idx="3"/>
          </p:cNvCxnSpPr>
          <p:nvPr/>
        </p:nvCxnSpPr>
        <p:spPr bwMode="auto">
          <a:xfrm flipV="1">
            <a:off x="8370889" y="4467226"/>
            <a:ext cx="604837" cy="3460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6">
            <a:extLst>
              <a:ext uri="{FF2B5EF4-FFF2-40B4-BE49-F238E27FC236}">
                <a16:creationId xmlns:a16="http://schemas.microsoft.com/office/drawing/2014/main" id="{4F38303E-96CB-9AF3-F419-45475CA7A3D0}"/>
              </a:ext>
            </a:extLst>
          </p:cNvPr>
          <p:cNvCxnSpPr>
            <a:cxnSpLocks noChangeShapeType="1"/>
            <a:stCxn id="20483" idx="6"/>
            <a:endCxn id="20484" idx="2"/>
          </p:cNvCxnSpPr>
          <p:nvPr/>
        </p:nvCxnSpPr>
        <p:spPr bwMode="auto">
          <a:xfrm flipV="1">
            <a:off x="7280276" y="4286251"/>
            <a:ext cx="1539875" cy="1555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17">
            <a:extLst>
              <a:ext uri="{FF2B5EF4-FFF2-40B4-BE49-F238E27FC236}">
                <a16:creationId xmlns:a16="http://schemas.microsoft.com/office/drawing/2014/main" id="{434A20AE-A643-B3B5-08A4-48F606167F41}"/>
              </a:ext>
            </a:extLst>
          </p:cNvPr>
          <p:cNvCxnSpPr>
            <a:cxnSpLocks noChangeShapeType="1"/>
            <a:stCxn id="20490" idx="6"/>
            <a:endCxn id="20488" idx="2"/>
          </p:cNvCxnSpPr>
          <p:nvPr/>
        </p:nvCxnSpPr>
        <p:spPr bwMode="auto">
          <a:xfrm>
            <a:off x="3241676" y="5584825"/>
            <a:ext cx="1006475" cy="228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18">
            <a:extLst>
              <a:ext uri="{FF2B5EF4-FFF2-40B4-BE49-F238E27FC236}">
                <a16:creationId xmlns:a16="http://schemas.microsoft.com/office/drawing/2014/main" id="{CE17CF6E-0895-0764-468D-B4C54B093615}"/>
              </a:ext>
            </a:extLst>
          </p:cNvPr>
          <p:cNvCxnSpPr>
            <a:cxnSpLocks noChangeShapeType="1"/>
            <a:stCxn id="20487" idx="4"/>
            <a:endCxn id="20488" idx="0"/>
          </p:cNvCxnSpPr>
          <p:nvPr/>
        </p:nvCxnSpPr>
        <p:spPr bwMode="auto">
          <a:xfrm>
            <a:off x="4583113" y="4908551"/>
            <a:ext cx="152400" cy="6572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19">
            <a:extLst>
              <a:ext uri="{FF2B5EF4-FFF2-40B4-BE49-F238E27FC236}">
                <a16:creationId xmlns:a16="http://schemas.microsoft.com/office/drawing/2014/main" id="{107E0BA4-245F-6C2B-4887-4E4B65B9BDF7}"/>
              </a:ext>
            </a:extLst>
          </p:cNvPr>
          <p:cNvCxnSpPr>
            <a:cxnSpLocks noChangeShapeType="1"/>
            <a:stCxn id="20489" idx="4"/>
            <a:endCxn id="20485" idx="0"/>
          </p:cNvCxnSpPr>
          <p:nvPr/>
        </p:nvCxnSpPr>
        <p:spPr bwMode="auto">
          <a:xfrm>
            <a:off x="8370888" y="5289550"/>
            <a:ext cx="685800" cy="666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9" name="AutoShape 20">
            <a:extLst>
              <a:ext uri="{FF2B5EF4-FFF2-40B4-BE49-F238E27FC236}">
                <a16:creationId xmlns:a16="http://schemas.microsoft.com/office/drawing/2014/main" id="{D513314E-D8CD-C657-B4DD-C90769442E26}"/>
              </a:ext>
            </a:extLst>
          </p:cNvPr>
          <p:cNvCxnSpPr>
            <a:cxnSpLocks noChangeShapeType="1"/>
            <a:endCxn id="20486" idx="6"/>
          </p:cNvCxnSpPr>
          <p:nvPr/>
        </p:nvCxnSpPr>
        <p:spPr bwMode="auto">
          <a:xfrm flipH="1" flipV="1">
            <a:off x="6981826" y="5956301"/>
            <a:ext cx="1597025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0" name="AutoShape 21">
            <a:extLst>
              <a:ext uri="{FF2B5EF4-FFF2-40B4-BE49-F238E27FC236}">
                <a16:creationId xmlns:a16="http://schemas.microsoft.com/office/drawing/2014/main" id="{9A002606-337A-FA22-05AD-4FBF07D35A90}"/>
              </a:ext>
            </a:extLst>
          </p:cNvPr>
          <p:cNvCxnSpPr>
            <a:cxnSpLocks noChangeShapeType="1"/>
            <a:stCxn id="20488" idx="6"/>
            <a:endCxn id="20486" idx="2"/>
          </p:cNvCxnSpPr>
          <p:nvPr/>
        </p:nvCxnSpPr>
        <p:spPr bwMode="auto">
          <a:xfrm>
            <a:off x="5222876" y="5813426"/>
            <a:ext cx="803275" cy="142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1" name="AutoShape 22">
            <a:extLst>
              <a:ext uri="{FF2B5EF4-FFF2-40B4-BE49-F238E27FC236}">
                <a16:creationId xmlns:a16="http://schemas.microsoft.com/office/drawing/2014/main" id="{04E04EA3-F19F-7B45-DAE4-FC706DE74DD7}"/>
              </a:ext>
            </a:extLst>
          </p:cNvPr>
          <p:cNvCxnSpPr>
            <a:cxnSpLocks noChangeShapeType="1"/>
            <a:stCxn id="20488" idx="7"/>
            <a:endCxn id="20483" idx="3"/>
          </p:cNvCxnSpPr>
          <p:nvPr/>
        </p:nvCxnSpPr>
        <p:spPr bwMode="auto">
          <a:xfrm flipV="1">
            <a:off x="5067301" y="4622800"/>
            <a:ext cx="1393825" cy="10096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2" name="Text Box 23">
            <a:extLst>
              <a:ext uri="{FF2B5EF4-FFF2-40B4-BE49-F238E27FC236}">
                <a16:creationId xmlns:a16="http://schemas.microsoft.com/office/drawing/2014/main" id="{23D9E54C-0E22-31FC-369A-531C23E30680}"/>
              </a:ext>
            </a:extLst>
          </p:cNvPr>
          <p:cNvSpPr txBox="1">
            <a:spLocks noChangeArrowheads="1"/>
          </p:cNvSpPr>
          <p:nvPr/>
        </p:nvSpPr>
        <p:spPr bwMode="auto">
          <a:xfrm rot="21252715">
            <a:off x="7598623" y="4036983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849</a:t>
            </a:r>
          </a:p>
        </p:txBody>
      </p:sp>
      <p:sp>
        <p:nvSpPr>
          <p:cNvPr id="20503" name="Text Box 24">
            <a:extLst>
              <a:ext uri="{FF2B5EF4-FFF2-40B4-BE49-F238E27FC236}">
                <a16:creationId xmlns:a16="http://schemas.microsoft.com/office/drawing/2014/main" id="{45E55425-9843-71E7-94CA-214BF425BCE8}"/>
              </a:ext>
            </a:extLst>
          </p:cNvPr>
          <p:cNvSpPr txBox="1">
            <a:spLocks noChangeArrowheads="1"/>
          </p:cNvSpPr>
          <p:nvPr/>
        </p:nvSpPr>
        <p:spPr bwMode="auto">
          <a:xfrm rot="16937753">
            <a:off x="6277029" y="4769614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802</a:t>
            </a:r>
          </a:p>
        </p:txBody>
      </p:sp>
      <p:sp>
        <p:nvSpPr>
          <p:cNvPr id="20504" name="Text Box 25">
            <a:extLst>
              <a:ext uri="{FF2B5EF4-FFF2-40B4-BE49-F238E27FC236}">
                <a16:creationId xmlns:a16="http://schemas.microsoft.com/office/drawing/2014/main" id="{197771CB-A488-7FE1-D7E6-0479323697C3}"/>
              </a:ext>
            </a:extLst>
          </p:cNvPr>
          <p:cNvSpPr txBox="1">
            <a:spLocks noChangeArrowheads="1"/>
          </p:cNvSpPr>
          <p:nvPr/>
        </p:nvSpPr>
        <p:spPr bwMode="auto">
          <a:xfrm rot="20055131">
            <a:off x="6950234" y="518633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1387</a:t>
            </a:r>
          </a:p>
        </p:txBody>
      </p:sp>
      <p:sp>
        <p:nvSpPr>
          <p:cNvPr id="20505" name="Text Box 26">
            <a:extLst>
              <a:ext uri="{FF2B5EF4-FFF2-40B4-BE49-F238E27FC236}">
                <a16:creationId xmlns:a16="http://schemas.microsoft.com/office/drawing/2014/main" id="{A11F98C2-AD39-9522-506F-C8FC04C226EA}"/>
              </a:ext>
            </a:extLst>
          </p:cNvPr>
          <p:cNvSpPr txBox="1">
            <a:spLocks noChangeArrowheads="1"/>
          </p:cNvSpPr>
          <p:nvPr/>
        </p:nvSpPr>
        <p:spPr bwMode="auto">
          <a:xfrm rot="19463698">
            <a:off x="5137309" y="49482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1743</a:t>
            </a:r>
          </a:p>
        </p:txBody>
      </p:sp>
      <p:sp>
        <p:nvSpPr>
          <p:cNvPr id="20506" name="Text Box 27">
            <a:extLst>
              <a:ext uri="{FF2B5EF4-FFF2-40B4-BE49-F238E27FC236}">
                <a16:creationId xmlns:a16="http://schemas.microsoft.com/office/drawing/2014/main" id="{38585571-9897-EC94-0EC6-4F7B7D02594F}"/>
              </a:ext>
            </a:extLst>
          </p:cNvPr>
          <p:cNvSpPr txBox="1">
            <a:spLocks noChangeArrowheads="1"/>
          </p:cNvSpPr>
          <p:nvPr/>
        </p:nvSpPr>
        <p:spPr bwMode="auto">
          <a:xfrm rot="20910655">
            <a:off x="5248434" y="42116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1843</a:t>
            </a:r>
          </a:p>
        </p:txBody>
      </p:sp>
      <p:sp>
        <p:nvSpPr>
          <p:cNvPr id="20507" name="Text Box 28">
            <a:extLst>
              <a:ext uri="{FF2B5EF4-FFF2-40B4-BE49-F238E27FC236}">
                <a16:creationId xmlns:a16="http://schemas.microsoft.com/office/drawing/2014/main" id="{36E0C1A5-B629-D11D-02D7-C30E2D0072AA}"/>
              </a:ext>
            </a:extLst>
          </p:cNvPr>
          <p:cNvSpPr txBox="1">
            <a:spLocks noChangeArrowheads="1"/>
          </p:cNvSpPr>
          <p:nvPr/>
        </p:nvSpPr>
        <p:spPr bwMode="auto">
          <a:xfrm rot="2626382">
            <a:off x="8545672" y="541493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1099</a:t>
            </a:r>
          </a:p>
        </p:txBody>
      </p:sp>
      <p:sp>
        <p:nvSpPr>
          <p:cNvPr id="20508" name="Text Box 29">
            <a:extLst>
              <a:ext uri="{FF2B5EF4-FFF2-40B4-BE49-F238E27FC236}">
                <a16:creationId xmlns:a16="http://schemas.microsoft.com/office/drawing/2014/main" id="{7F387F16-7174-7947-CB34-E13579CC3797}"/>
              </a:ext>
            </a:extLst>
          </p:cNvPr>
          <p:cNvSpPr txBox="1">
            <a:spLocks noChangeArrowheads="1"/>
          </p:cNvSpPr>
          <p:nvPr/>
        </p:nvSpPr>
        <p:spPr bwMode="auto">
          <a:xfrm rot="565849">
            <a:off x="7499350" y="5721351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1120</a:t>
            </a:r>
          </a:p>
        </p:txBody>
      </p:sp>
      <p:sp>
        <p:nvSpPr>
          <p:cNvPr id="20509" name="Text Box 30">
            <a:extLst>
              <a:ext uri="{FF2B5EF4-FFF2-40B4-BE49-F238E27FC236}">
                <a16:creationId xmlns:a16="http://schemas.microsoft.com/office/drawing/2014/main" id="{90EFD513-F9B6-C123-AF4B-34F1414A5999}"/>
              </a:ext>
            </a:extLst>
          </p:cNvPr>
          <p:cNvSpPr txBox="1">
            <a:spLocks noChangeArrowheads="1"/>
          </p:cNvSpPr>
          <p:nvPr/>
        </p:nvSpPr>
        <p:spPr bwMode="auto">
          <a:xfrm rot="695916">
            <a:off x="5289709" y="553875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1233</a:t>
            </a:r>
          </a:p>
        </p:txBody>
      </p:sp>
      <p:sp>
        <p:nvSpPr>
          <p:cNvPr id="20510" name="Text Box 31">
            <a:extLst>
              <a:ext uri="{FF2B5EF4-FFF2-40B4-BE49-F238E27FC236}">
                <a16:creationId xmlns:a16="http://schemas.microsoft.com/office/drawing/2014/main" id="{0D8C233E-B2B3-0185-0F67-DAD57A61A81A}"/>
              </a:ext>
            </a:extLst>
          </p:cNvPr>
          <p:cNvSpPr txBox="1">
            <a:spLocks noChangeArrowheads="1"/>
          </p:cNvSpPr>
          <p:nvPr/>
        </p:nvSpPr>
        <p:spPr bwMode="auto">
          <a:xfrm rot="4665015">
            <a:off x="4511729" y="5076002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337</a:t>
            </a:r>
          </a:p>
        </p:txBody>
      </p:sp>
      <p:sp>
        <p:nvSpPr>
          <p:cNvPr id="20511" name="Text Box 32">
            <a:extLst>
              <a:ext uri="{FF2B5EF4-FFF2-40B4-BE49-F238E27FC236}">
                <a16:creationId xmlns:a16="http://schemas.microsoft.com/office/drawing/2014/main" id="{43814A07-F29D-7214-13D7-6686BB73F9DD}"/>
              </a:ext>
            </a:extLst>
          </p:cNvPr>
          <p:cNvSpPr txBox="1">
            <a:spLocks noChangeArrowheads="1"/>
          </p:cNvSpPr>
          <p:nvPr/>
        </p:nvSpPr>
        <p:spPr bwMode="auto">
          <a:xfrm rot="832501">
            <a:off x="3441859" y="53546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2555</a:t>
            </a:r>
          </a:p>
        </p:txBody>
      </p:sp>
      <p:sp>
        <p:nvSpPr>
          <p:cNvPr id="20512" name="Text Box 33">
            <a:extLst>
              <a:ext uri="{FF2B5EF4-FFF2-40B4-BE49-F238E27FC236}">
                <a16:creationId xmlns:a16="http://schemas.microsoft.com/office/drawing/2014/main" id="{A599501B-94F5-91DE-ED0F-A38773878B96}"/>
              </a:ext>
            </a:extLst>
          </p:cNvPr>
          <p:cNvSpPr txBox="1">
            <a:spLocks noChangeArrowheads="1"/>
          </p:cNvSpPr>
          <p:nvPr/>
        </p:nvSpPr>
        <p:spPr bwMode="auto">
          <a:xfrm rot="19708333">
            <a:off x="8300298" y="4338608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142</a:t>
            </a:r>
          </a:p>
        </p:txBody>
      </p:sp>
      <p:cxnSp>
        <p:nvCxnSpPr>
          <p:cNvPr id="20513" name="AutoShape 34">
            <a:extLst>
              <a:ext uri="{FF2B5EF4-FFF2-40B4-BE49-F238E27FC236}">
                <a16:creationId xmlns:a16="http://schemas.microsoft.com/office/drawing/2014/main" id="{5D7BD397-1E2D-305F-72B1-C7B52EA3E2C7}"/>
              </a:ext>
            </a:extLst>
          </p:cNvPr>
          <p:cNvCxnSpPr>
            <a:cxnSpLocks noChangeShapeType="1"/>
            <a:stCxn id="20484" idx="4"/>
            <a:endCxn id="20485" idx="7"/>
          </p:cNvCxnSpPr>
          <p:nvPr/>
        </p:nvCxnSpPr>
        <p:spPr bwMode="auto">
          <a:xfrm>
            <a:off x="9307513" y="4533901"/>
            <a:ext cx="80962" cy="14890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4" name="Text Box 35">
            <a:extLst>
              <a:ext uri="{FF2B5EF4-FFF2-40B4-BE49-F238E27FC236}">
                <a16:creationId xmlns:a16="http://schemas.microsoft.com/office/drawing/2014/main" id="{EF866DD8-95FF-E7B5-FB2E-E4E64F10580E}"/>
              </a:ext>
            </a:extLst>
          </p:cNvPr>
          <p:cNvSpPr txBox="1">
            <a:spLocks noChangeArrowheads="1"/>
          </p:cNvSpPr>
          <p:nvPr/>
        </p:nvSpPr>
        <p:spPr bwMode="auto">
          <a:xfrm rot="5207815">
            <a:off x="9177497" y="4924395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1205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86753F11-D073-50E2-EAE2-BFCE222D7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Shortest Path Properties</a:t>
            </a:r>
          </a:p>
        </p:txBody>
      </p:sp>
      <p:sp>
        <p:nvSpPr>
          <p:cNvPr id="2150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8DA830F-9E31-6426-D8B6-DE950C0B0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0" y="1295401"/>
            <a:ext cx="8001000" cy="21812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Property 1: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	A subpath of a shortest path is itself a shortest path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Property 2: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	There is a tree of shortest paths from a start vertex to all the other vertices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Example: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/>
              <a:t>	Tree of shortest paths from ORD</a:t>
            </a:r>
          </a:p>
        </p:txBody>
      </p:sp>
      <p:sp>
        <p:nvSpPr>
          <p:cNvPr id="21507" name="Oval 4">
            <a:extLst>
              <a:ext uri="{FF2B5EF4-FFF2-40B4-BE49-F238E27FC236}">
                <a16:creationId xmlns:a16="http://schemas.microsoft.com/office/drawing/2014/main" id="{F4A06B0B-5D27-DA8D-3DCE-D080A7AA3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1" y="41148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PVD</a:t>
            </a:r>
          </a:p>
        </p:txBody>
      </p:sp>
      <p:sp>
        <p:nvSpPr>
          <p:cNvPr id="21508" name="Oval 5">
            <a:extLst>
              <a:ext uri="{FF2B5EF4-FFF2-40B4-BE49-F238E27FC236}">
                <a16:creationId xmlns:a16="http://schemas.microsoft.com/office/drawing/2014/main" id="{80D75D51-C8E7-C888-E672-A47E17106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1" y="395922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ORD</a:t>
            </a:r>
          </a:p>
        </p:txBody>
      </p:sp>
      <p:sp>
        <p:nvSpPr>
          <p:cNvPr id="21509" name="Oval 6">
            <a:extLst>
              <a:ext uri="{FF2B5EF4-FFF2-40B4-BE49-F238E27FC236}">
                <a16:creationId xmlns:a16="http://schemas.microsoft.com/office/drawing/2014/main" id="{97F8B22A-4AE7-1438-3A40-3E8EDA55E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8376" y="58674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MIA</a:t>
            </a:r>
          </a:p>
        </p:txBody>
      </p:sp>
      <p:sp>
        <p:nvSpPr>
          <p:cNvPr id="21510" name="Oval 7">
            <a:extLst>
              <a:ext uri="{FF2B5EF4-FFF2-40B4-BE49-F238E27FC236}">
                <a16:creationId xmlns:a16="http://schemas.microsoft.com/office/drawing/2014/main" id="{0D1EEF7D-0D21-7EBE-A6CE-38EDCF423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6" y="5629275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DFW</a:t>
            </a:r>
          </a:p>
        </p:txBody>
      </p:sp>
      <p:sp>
        <p:nvSpPr>
          <p:cNvPr id="21511" name="Oval 8">
            <a:extLst>
              <a:ext uri="{FF2B5EF4-FFF2-40B4-BE49-F238E27FC236}">
                <a16:creationId xmlns:a16="http://schemas.microsoft.com/office/drawing/2014/main" id="{62A4C968-BCA2-0014-3CFA-8BADB4BD6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43434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HNL</a:t>
            </a:r>
          </a:p>
        </p:txBody>
      </p:sp>
      <p:sp>
        <p:nvSpPr>
          <p:cNvPr id="21512" name="Oval 9">
            <a:extLst>
              <a:ext uri="{FF2B5EF4-FFF2-40B4-BE49-F238E27FC236}">
                <a16:creationId xmlns:a16="http://schemas.microsoft.com/office/drawing/2014/main" id="{EB29F19B-3857-E892-B9BB-6385C4A19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1" y="54864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LAX</a:t>
            </a:r>
          </a:p>
        </p:txBody>
      </p:sp>
      <p:sp>
        <p:nvSpPr>
          <p:cNvPr id="21513" name="Oval 10">
            <a:extLst>
              <a:ext uri="{FF2B5EF4-FFF2-40B4-BE49-F238E27FC236}">
                <a16:creationId xmlns:a16="http://schemas.microsoft.com/office/drawing/2014/main" id="{F96FAC27-11CB-362D-0C30-9991AF652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576" y="47244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LGA</a:t>
            </a:r>
          </a:p>
        </p:txBody>
      </p:sp>
      <p:sp>
        <p:nvSpPr>
          <p:cNvPr id="21514" name="Oval 11">
            <a:extLst>
              <a:ext uri="{FF2B5EF4-FFF2-40B4-BE49-F238E27FC236}">
                <a16:creationId xmlns:a16="http://schemas.microsoft.com/office/drawing/2014/main" id="{FE8E756C-A4C1-B2C5-1F5B-97AA3B6C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5257800"/>
            <a:ext cx="936625" cy="457200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SFO</a:t>
            </a:r>
          </a:p>
        </p:txBody>
      </p:sp>
      <p:cxnSp>
        <p:nvCxnSpPr>
          <p:cNvPr id="21515" name="AutoShape 12">
            <a:extLst>
              <a:ext uri="{FF2B5EF4-FFF2-40B4-BE49-F238E27FC236}">
                <a16:creationId xmlns:a16="http://schemas.microsoft.com/office/drawing/2014/main" id="{C95DA9FC-AA34-96B6-8C50-6ADD82CA4063}"/>
              </a:ext>
            </a:extLst>
          </p:cNvPr>
          <p:cNvCxnSpPr>
            <a:cxnSpLocks noChangeShapeType="1"/>
            <a:stCxn id="21511" idx="6"/>
            <a:endCxn id="21507" idx="2"/>
          </p:cNvCxnSpPr>
          <p:nvPr/>
        </p:nvCxnSpPr>
        <p:spPr bwMode="auto">
          <a:xfrm flipV="1">
            <a:off x="5070476" y="4343400"/>
            <a:ext cx="1235075" cy="228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AutoShape 13">
            <a:extLst>
              <a:ext uri="{FF2B5EF4-FFF2-40B4-BE49-F238E27FC236}">
                <a16:creationId xmlns:a16="http://schemas.microsoft.com/office/drawing/2014/main" id="{86E437FF-1D55-50DF-EFA2-ED8A576F6A6C}"/>
              </a:ext>
            </a:extLst>
          </p:cNvPr>
          <p:cNvCxnSpPr>
            <a:cxnSpLocks noChangeShapeType="1"/>
            <a:stCxn id="21510" idx="0"/>
            <a:endCxn id="21507" idx="4"/>
          </p:cNvCxnSpPr>
          <p:nvPr/>
        </p:nvCxnSpPr>
        <p:spPr bwMode="auto">
          <a:xfrm flipV="1">
            <a:off x="6503989" y="4591051"/>
            <a:ext cx="288925" cy="1019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4">
            <a:extLst>
              <a:ext uri="{FF2B5EF4-FFF2-40B4-BE49-F238E27FC236}">
                <a16:creationId xmlns:a16="http://schemas.microsoft.com/office/drawing/2014/main" id="{2E24A2E2-7B2C-8C72-EF17-E9C3A10421BF}"/>
              </a:ext>
            </a:extLst>
          </p:cNvPr>
          <p:cNvCxnSpPr>
            <a:cxnSpLocks noChangeShapeType="1"/>
            <a:stCxn id="21510" idx="7"/>
            <a:endCxn id="21513" idx="3"/>
          </p:cNvCxnSpPr>
          <p:nvPr/>
        </p:nvCxnSpPr>
        <p:spPr bwMode="auto">
          <a:xfrm flipV="1">
            <a:off x="6835776" y="5133976"/>
            <a:ext cx="1203325" cy="54292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5">
            <a:extLst>
              <a:ext uri="{FF2B5EF4-FFF2-40B4-BE49-F238E27FC236}">
                <a16:creationId xmlns:a16="http://schemas.microsoft.com/office/drawing/2014/main" id="{DB74DBC7-9426-068A-CCFA-AD231EBB3F95}"/>
              </a:ext>
            </a:extLst>
          </p:cNvPr>
          <p:cNvCxnSpPr>
            <a:cxnSpLocks noChangeShapeType="1"/>
            <a:stCxn id="21513" idx="0"/>
            <a:endCxn id="21508" idx="3"/>
          </p:cNvCxnSpPr>
          <p:nvPr/>
        </p:nvCxnSpPr>
        <p:spPr bwMode="auto">
          <a:xfrm flipV="1">
            <a:off x="8370889" y="4368800"/>
            <a:ext cx="604837" cy="3365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6">
            <a:extLst>
              <a:ext uri="{FF2B5EF4-FFF2-40B4-BE49-F238E27FC236}">
                <a16:creationId xmlns:a16="http://schemas.microsoft.com/office/drawing/2014/main" id="{4236EFF1-774A-793C-3810-4695B45D819A}"/>
              </a:ext>
            </a:extLst>
          </p:cNvPr>
          <p:cNvCxnSpPr>
            <a:cxnSpLocks noChangeShapeType="1"/>
            <a:stCxn id="21507" idx="6"/>
            <a:endCxn id="21508" idx="2"/>
          </p:cNvCxnSpPr>
          <p:nvPr/>
        </p:nvCxnSpPr>
        <p:spPr bwMode="auto">
          <a:xfrm flipV="1">
            <a:off x="7280276" y="4187826"/>
            <a:ext cx="1539875" cy="1555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7">
            <a:extLst>
              <a:ext uri="{FF2B5EF4-FFF2-40B4-BE49-F238E27FC236}">
                <a16:creationId xmlns:a16="http://schemas.microsoft.com/office/drawing/2014/main" id="{58434DE9-99E4-D432-9D77-E51D00E0B737}"/>
              </a:ext>
            </a:extLst>
          </p:cNvPr>
          <p:cNvCxnSpPr>
            <a:cxnSpLocks noChangeShapeType="1"/>
            <a:stCxn id="21514" idx="6"/>
            <a:endCxn id="21512" idx="2"/>
          </p:cNvCxnSpPr>
          <p:nvPr/>
        </p:nvCxnSpPr>
        <p:spPr bwMode="auto">
          <a:xfrm>
            <a:off x="3241676" y="5486400"/>
            <a:ext cx="1006475" cy="228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1" name="AutoShape 18">
            <a:extLst>
              <a:ext uri="{FF2B5EF4-FFF2-40B4-BE49-F238E27FC236}">
                <a16:creationId xmlns:a16="http://schemas.microsoft.com/office/drawing/2014/main" id="{F18B4310-24AC-F189-B130-8B44C633A3C2}"/>
              </a:ext>
            </a:extLst>
          </p:cNvPr>
          <p:cNvCxnSpPr>
            <a:cxnSpLocks noChangeShapeType="1"/>
            <a:stCxn id="21511" idx="4"/>
            <a:endCxn id="21512" idx="0"/>
          </p:cNvCxnSpPr>
          <p:nvPr/>
        </p:nvCxnSpPr>
        <p:spPr bwMode="auto">
          <a:xfrm>
            <a:off x="4583113" y="4819650"/>
            <a:ext cx="152400" cy="647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2" name="AutoShape 19">
            <a:extLst>
              <a:ext uri="{FF2B5EF4-FFF2-40B4-BE49-F238E27FC236}">
                <a16:creationId xmlns:a16="http://schemas.microsoft.com/office/drawing/2014/main" id="{458C8504-AC2A-430A-1E27-427F00897C11}"/>
              </a:ext>
            </a:extLst>
          </p:cNvPr>
          <p:cNvCxnSpPr>
            <a:cxnSpLocks noChangeShapeType="1"/>
            <a:stCxn id="21513" idx="4"/>
            <a:endCxn id="21509" idx="0"/>
          </p:cNvCxnSpPr>
          <p:nvPr/>
        </p:nvCxnSpPr>
        <p:spPr bwMode="auto">
          <a:xfrm>
            <a:off x="8370888" y="5200650"/>
            <a:ext cx="685800" cy="647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3" name="AutoShape 20">
            <a:extLst>
              <a:ext uri="{FF2B5EF4-FFF2-40B4-BE49-F238E27FC236}">
                <a16:creationId xmlns:a16="http://schemas.microsoft.com/office/drawing/2014/main" id="{DF5E5B75-5021-4778-ABD7-FDB5FA61F1D1}"/>
              </a:ext>
            </a:extLst>
          </p:cNvPr>
          <p:cNvCxnSpPr>
            <a:cxnSpLocks noChangeShapeType="1"/>
            <a:endCxn id="21510" idx="6"/>
          </p:cNvCxnSpPr>
          <p:nvPr/>
        </p:nvCxnSpPr>
        <p:spPr bwMode="auto">
          <a:xfrm flipH="1" flipV="1">
            <a:off x="6991351" y="5857876"/>
            <a:ext cx="1597025" cy="2381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4" name="AutoShape 21">
            <a:extLst>
              <a:ext uri="{FF2B5EF4-FFF2-40B4-BE49-F238E27FC236}">
                <a16:creationId xmlns:a16="http://schemas.microsoft.com/office/drawing/2014/main" id="{42705AE8-7DA4-0751-243E-3B40FB5047D2}"/>
              </a:ext>
            </a:extLst>
          </p:cNvPr>
          <p:cNvCxnSpPr>
            <a:cxnSpLocks noChangeShapeType="1"/>
            <a:stCxn id="21512" idx="6"/>
            <a:endCxn id="21510" idx="2"/>
          </p:cNvCxnSpPr>
          <p:nvPr/>
        </p:nvCxnSpPr>
        <p:spPr bwMode="auto">
          <a:xfrm>
            <a:off x="5222875" y="5715001"/>
            <a:ext cx="793750" cy="1428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5" name="AutoShape 22">
            <a:extLst>
              <a:ext uri="{FF2B5EF4-FFF2-40B4-BE49-F238E27FC236}">
                <a16:creationId xmlns:a16="http://schemas.microsoft.com/office/drawing/2014/main" id="{9AEE37E6-CB40-C26A-7484-75753C654F52}"/>
              </a:ext>
            </a:extLst>
          </p:cNvPr>
          <p:cNvCxnSpPr>
            <a:cxnSpLocks noChangeShapeType="1"/>
            <a:stCxn id="21512" idx="7"/>
            <a:endCxn id="21507" idx="3"/>
          </p:cNvCxnSpPr>
          <p:nvPr/>
        </p:nvCxnSpPr>
        <p:spPr bwMode="auto">
          <a:xfrm flipV="1">
            <a:off x="5067301" y="4524375"/>
            <a:ext cx="1393825" cy="10096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6" name="Text Box 23">
            <a:extLst>
              <a:ext uri="{FF2B5EF4-FFF2-40B4-BE49-F238E27FC236}">
                <a16:creationId xmlns:a16="http://schemas.microsoft.com/office/drawing/2014/main" id="{C8B60FEA-5897-BC59-B404-60770BD2EA25}"/>
              </a:ext>
            </a:extLst>
          </p:cNvPr>
          <p:cNvSpPr txBox="1">
            <a:spLocks noChangeArrowheads="1"/>
          </p:cNvSpPr>
          <p:nvPr/>
        </p:nvSpPr>
        <p:spPr bwMode="auto">
          <a:xfrm rot="21252715">
            <a:off x="7598623" y="3938558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849</a:t>
            </a:r>
          </a:p>
        </p:txBody>
      </p:sp>
      <p:sp>
        <p:nvSpPr>
          <p:cNvPr id="21527" name="Text Box 24">
            <a:extLst>
              <a:ext uri="{FF2B5EF4-FFF2-40B4-BE49-F238E27FC236}">
                <a16:creationId xmlns:a16="http://schemas.microsoft.com/office/drawing/2014/main" id="{21322AFF-77C2-2A2F-DFD6-717AAFA73D75}"/>
              </a:ext>
            </a:extLst>
          </p:cNvPr>
          <p:cNvSpPr txBox="1">
            <a:spLocks noChangeArrowheads="1"/>
          </p:cNvSpPr>
          <p:nvPr/>
        </p:nvSpPr>
        <p:spPr bwMode="auto">
          <a:xfrm rot="16937753">
            <a:off x="6277029" y="4671189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802</a:t>
            </a:r>
          </a:p>
        </p:txBody>
      </p:sp>
      <p:sp>
        <p:nvSpPr>
          <p:cNvPr id="21528" name="Text Box 25">
            <a:extLst>
              <a:ext uri="{FF2B5EF4-FFF2-40B4-BE49-F238E27FC236}">
                <a16:creationId xmlns:a16="http://schemas.microsoft.com/office/drawing/2014/main" id="{D2AC0FBD-825C-E2C0-4801-6146DB45A12D}"/>
              </a:ext>
            </a:extLst>
          </p:cNvPr>
          <p:cNvSpPr txBox="1">
            <a:spLocks noChangeArrowheads="1"/>
          </p:cNvSpPr>
          <p:nvPr/>
        </p:nvSpPr>
        <p:spPr bwMode="auto">
          <a:xfrm rot="20055131">
            <a:off x="6950234" y="50879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1387</a:t>
            </a:r>
          </a:p>
        </p:txBody>
      </p:sp>
      <p:sp>
        <p:nvSpPr>
          <p:cNvPr id="21529" name="Text Box 26">
            <a:extLst>
              <a:ext uri="{FF2B5EF4-FFF2-40B4-BE49-F238E27FC236}">
                <a16:creationId xmlns:a16="http://schemas.microsoft.com/office/drawing/2014/main" id="{29CD74E9-BC6D-CC0A-C774-B1E0C4E63A7B}"/>
              </a:ext>
            </a:extLst>
          </p:cNvPr>
          <p:cNvSpPr txBox="1">
            <a:spLocks noChangeArrowheads="1"/>
          </p:cNvSpPr>
          <p:nvPr/>
        </p:nvSpPr>
        <p:spPr bwMode="auto">
          <a:xfrm rot="19463698">
            <a:off x="5137309" y="484978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1743</a:t>
            </a:r>
          </a:p>
        </p:txBody>
      </p:sp>
      <p:sp>
        <p:nvSpPr>
          <p:cNvPr id="21530" name="Text Box 27">
            <a:extLst>
              <a:ext uri="{FF2B5EF4-FFF2-40B4-BE49-F238E27FC236}">
                <a16:creationId xmlns:a16="http://schemas.microsoft.com/office/drawing/2014/main" id="{FC40B002-3ED1-51C9-DA43-40624A86DAF0}"/>
              </a:ext>
            </a:extLst>
          </p:cNvPr>
          <p:cNvSpPr txBox="1">
            <a:spLocks noChangeArrowheads="1"/>
          </p:cNvSpPr>
          <p:nvPr/>
        </p:nvSpPr>
        <p:spPr bwMode="auto">
          <a:xfrm rot="20910655">
            <a:off x="5248434" y="411318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1843</a:t>
            </a:r>
          </a:p>
        </p:txBody>
      </p:sp>
      <p:sp>
        <p:nvSpPr>
          <p:cNvPr id="21531" name="Text Box 28">
            <a:extLst>
              <a:ext uri="{FF2B5EF4-FFF2-40B4-BE49-F238E27FC236}">
                <a16:creationId xmlns:a16="http://schemas.microsoft.com/office/drawing/2014/main" id="{04618888-44AB-6D92-6AE9-444083D88F76}"/>
              </a:ext>
            </a:extLst>
          </p:cNvPr>
          <p:cNvSpPr txBox="1">
            <a:spLocks noChangeArrowheads="1"/>
          </p:cNvSpPr>
          <p:nvPr/>
        </p:nvSpPr>
        <p:spPr bwMode="auto">
          <a:xfrm rot="2626382">
            <a:off x="8545672" y="5316508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1099</a:t>
            </a:r>
          </a:p>
        </p:txBody>
      </p:sp>
      <p:sp>
        <p:nvSpPr>
          <p:cNvPr id="21532" name="Text Box 29">
            <a:extLst>
              <a:ext uri="{FF2B5EF4-FFF2-40B4-BE49-F238E27FC236}">
                <a16:creationId xmlns:a16="http://schemas.microsoft.com/office/drawing/2014/main" id="{F00E90C6-6AEA-3395-FDD9-D3EE09D47F3B}"/>
              </a:ext>
            </a:extLst>
          </p:cNvPr>
          <p:cNvSpPr txBox="1">
            <a:spLocks noChangeArrowheads="1"/>
          </p:cNvSpPr>
          <p:nvPr/>
        </p:nvSpPr>
        <p:spPr bwMode="auto">
          <a:xfrm rot="565849">
            <a:off x="7499350" y="5622926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1120</a:t>
            </a:r>
          </a:p>
        </p:txBody>
      </p:sp>
      <p:sp>
        <p:nvSpPr>
          <p:cNvPr id="21533" name="Text Box 30">
            <a:extLst>
              <a:ext uri="{FF2B5EF4-FFF2-40B4-BE49-F238E27FC236}">
                <a16:creationId xmlns:a16="http://schemas.microsoft.com/office/drawing/2014/main" id="{B5B4B061-CD7D-4204-5C17-9019B649E08E}"/>
              </a:ext>
            </a:extLst>
          </p:cNvPr>
          <p:cNvSpPr txBox="1">
            <a:spLocks noChangeArrowheads="1"/>
          </p:cNvSpPr>
          <p:nvPr/>
        </p:nvSpPr>
        <p:spPr bwMode="auto">
          <a:xfrm rot="695916">
            <a:off x="5289709" y="544033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1233</a:t>
            </a:r>
          </a:p>
        </p:txBody>
      </p:sp>
      <p:sp>
        <p:nvSpPr>
          <p:cNvPr id="21534" name="Text Box 31">
            <a:extLst>
              <a:ext uri="{FF2B5EF4-FFF2-40B4-BE49-F238E27FC236}">
                <a16:creationId xmlns:a16="http://schemas.microsoft.com/office/drawing/2014/main" id="{5E8E8AB7-BDCD-F95F-8575-FD632677C04C}"/>
              </a:ext>
            </a:extLst>
          </p:cNvPr>
          <p:cNvSpPr txBox="1">
            <a:spLocks noChangeArrowheads="1"/>
          </p:cNvSpPr>
          <p:nvPr/>
        </p:nvSpPr>
        <p:spPr bwMode="auto">
          <a:xfrm rot="4665015">
            <a:off x="4511729" y="4977577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337</a:t>
            </a:r>
          </a:p>
        </p:txBody>
      </p:sp>
      <p:sp>
        <p:nvSpPr>
          <p:cNvPr id="21535" name="Text Box 32">
            <a:extLst>
              <a:ext uri="{FF2B5EF4-FFF2-40B4-BE49-F238E27FC236}">
                <a16:creationId xmlns:a16="http://schemas.microsoft.com/office/drawing/2014/main" id="{5E3FC6F7-9513-4A01-DF4F-5A66DE4FC9D4}"/>
              </a:ext>
            </a:extLst>
          </p:cNvPr>
          <p:cNvSpPr txBox="1">
            <a:spLocks noChangeArrowheads="1"/>
          </p:cNvSpPr>
          <p:nvPr/>
        </p:nvSpPr>
        <p:spPr bwMode="auto">
          <a:xfrm rot="832501">
            <a:off x="3441859" y="5256183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2555</a:t>
            </a:r>
          </a:p>
        </p:txBody>
      </p:sp>
      <p:sp>
        <p:nvSpPr>
          <p:cNvPr id="21536" name="Text Box 33">
            <a:extLst>
              <a:ext uri="{FF2B5EF4-FFF2-40B4-BE49-F238E27FC236}">
                <a16:creationId xmlns:a16="http://schemas.microsoft.com/office/drawing/2014/main" id="{95FE4F95-9343-2391-01A0-96C6C0C5F3B5}"/>
              </a:ext>
            </a:extLst>
          </p:cNvPr>
          <p:cNvSpPr txBox="1">
            <a:spLocks noChangeArrowheads="1"/>
          </p:cNvSpPr>
          <p:nvPr/>
        </p:nvSpPr>
        <p:spPr bwMode="auto">
          <a:xfrm rot="19708333">
            <a:off x="8300298" y="4240183"/>
            <a:ext cx="6126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142</a:t>
            </a:r>
          </a:p>
        </p:txBody>
      </p:sp>
      <p:cxnSp>
        <p:nvCxnSpPr>
          <p:cNvPr id="21537" name="AutoShape 34">
            <a:extLst>
              <a:ext uri="{FF2B5EF4-FFF2-40B4-BE49-F238E27FC236}">
                <a16:creationId xmlns:a16="http://schemas.microsoft.com/office/drawing/2014/main" id="{5CE931F3-8D5C-4F49-F697-00B63485F410}"/>
              </a:ext>
            </a:extLst>
          </p:cNvPr>
          <p:cNvCxnSpPr>
            <a:cxnSpLocks noChangeShapeType="1"/>
            <a:stCxn id="21508" idx="4"/>
            <a:endCxn id="21509" idx="7"/>
          </p:cNvCxnSpPr>
          <p:nvPr/>
        </p:nvCxnSpPr>
        <p:spPr bwMode="auto">
          <a:xfrm>
            <a:off x="9307513" y="4435475"/>
            <a:ext cx="80962" cy="14795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8" name="Text Box 35">
            <a:extLst>
              <a:ext uri="{FF2B5EF4-FFF2-40B4-BE49-F238E27FC236}">
                <a16:creationId xmlns:a16="http://schemas.microsoft.com/office/drawing/2014/main" id="{85C9721B-DB02-8EA6-9B13-A7813F1C773E}"/>
              </a:ext>
            </a:extLst>
          </p:cNvPr>
          <p:cNvSpPr txBox="1">
            <a:spLocks noChangeArrowheads="1"/>
          </p:cNvSpPr>
          <p:nvPr/>
        </p:nvSpPr>
        <p:spPr bwMode="auto">
          <a:xfrm rot="5207815">
            <a:off x="9177497" y="4825970"/>
            <a:ext cx="7553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1205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5D7604D-17FB-6AD0-FB6C-CD0659841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Dijkstra’s Algorithm</a:t>
            </a:r>
          </a:p>
        </p:txBody>
      </p:sp>
      <p:sp>
        <p:nvSpPr>
          <p:cNvPr id="2253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2F3B6E4-8DF9-0781-653C-BB977E4E8BB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33600" y="1600200"/>
            <a:ext cx="3505200" cy="4495800"/>
          </a:xfrm>
        </p:spPr>
        <p:txBody>
          <a:bodyPr>
            <a:normAutofit lnSpcReduction="10000"/>
          </a:bodyPr>
          <a:lstStyle/>
          <a:p>
            <a:r>
              <a:rPr lang="en-US" altLang="en-US" sz="2000"/>
              <a:t>The distance of a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from a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is the length of a shortest path between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and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endParaRPr lang="en-US" altLang="en-US" sz="2000"/>
          </a:p>
          <a:p>
            <a:r>
              <a:rPr lang="en-US" altLang="en-US" sz="2000"/>
              <a:t>Dijkstra’s algorithm computes the distances of all the vertices from a given start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endParaRPr lang="en-US" altLang="en-US" sz="2000"/>
          </a:p>
          <a:p>
            <a:r>
              <a:rPr lang="en-US" altLang="en-US" sz="2000"/>
              <a:t>Assumptions:</a:t>
            </a:r>
          </a:p>
          <a:p>
            <a:pPr lvl="1"/>
            <a:r>
              <a:rPr lang="en-US" altLang="en-US" sz="1800"/>
              <a:t>the graph is connected</a:t>
            </a:r>
          </a:p>
          <a:p>
            <a:pPr lvl="1"/>
            <a:r>
              <a:rPr lang="en-US" altLang="en-US" sz="1800"/>
              <a:t>the edges are undirected</a:t>
            </a:r>
          </a:p>
          <a:p>
            <a:pPr lvl="1"/>
            <a:r>
              <a:rPr lang="en-US" altLang="en-US" sz="1800"/>
              <a:t>the edge weights are </a:t>
            </a:r>
            <a:r>
              <a:rPr lang="en-US" altLang="en-US" sz="1800">
                <a:solidFill>
                  <a:schemeClr val="tx2"/>
                </a:solidFill>
              </a:rPr>
              <a:t>nonnegative</a:t>
            </a:r>
            <a:endParaRPr lang="en-US" altLang="en-US" sz="2800">
              <a:solidFill>
                <a:schemeClr val="tx2"/>
              </a:solidFill>
            </a:endParaRPr>
          </a:p>
        </p:txBody>
      </p:sp>
      <p:sp>
        <p:nvSpPr>
          <p:cNvPr id="22531" name="Rectangle 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D124732-7DD7-6CBD-DECD-502EDF3AD8B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867400" y="1600200"/>
            <a:ext cx="4191000" cy="4724400"/>
          </a:xfrm>
        </p:spPr>
        <p:txBody>
          <a:bodyPr>
            <a:normAutofit lnSpcReduction="10000"/>
          </a:bodyPr>
          <a:lstStyle/>
          <a:p>
            <a:r>
              <a:rPr lang="en-US" altLang="en-US" sz="2000"/>
              <a:t>We grow a “</a:t>
            </a:r>
            <a:r>
              <a:rPr lang="en-US" altLang="en-US" sz="2000" b="1">
                <a:solidFill>
                  <a:schemeClr val="tx2"/>
                </a:solidFill>
              </a:rPr>
              <a:t>cloud</a:t>
            </a:r>
            <a:r>
              <a:rPr lang="en-US" altLang="en-US" sz="2000"/>
              <a:t>” of vertices, beginning with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and eventually covering all the vertices</a:t>
            </a:r>
          </a:p>
          <a:p>
            <a:r>
              <a:rPr lang="en-US" altLang="en-US" sz="2000"/>
              <a:t>We store with each vertex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a label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representing the distance of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from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in the subgraph consisting of the cloud and its adjacent vertices</a:t>
            </a:r>
          </a:p>
          <a:p>
            <a:r>
              <a:rPr lang="en-US" altLang="en-US" sz="2000"/>
              <a:t>At each step</a:t>
            </a:r>
          </a:p>
          <a:p>
            <a:pPr lvl="1"/>
            <a:r>
              <a:rPr lang="en-US" altLang="en-US" sz="1800"/>
              <a:t>We add to the cloud the vertex </a:t>
            </a:r>
            <a:r>
              <a:rPr lang="en-US" altLang="en-US" sz="1800" b="1" i="1">
                <a:latin typeface="Times New Roman" panose="02020603050405020304" pitchFamily="18" charset="0"/>
              </a:rPr>
              <a:t>u </a:t>
            </a:r>
            <a:r>
              <a:rPr lang="en-US" altLang="en-US" sz="1800"/>
              <a:t>outside the cloud with the </a:t>
            </a:r>
            <a:r>
              <a:rPr lang="en-US" altLang="en-US" sz="1800" b="1" i="1"/>
              <a:t>smallest</a:t>
            </a:r>
            <a:r>
              <a:rPr lang="en-US" altLang="en-US" sz="1800"/>
              <a:t> distance label,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en-US" sz="1800"/>
              <a:t>We update the labels of the vertices adjacent to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5E356C75-725D-AF0C-0519-97BBC67AE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Edge Relaxation</a:t>
            </a:r>
          </a:p>
        </p:txBody>
      </p:sp>
      <p:sp>
        <p:nvSpPr>
          <p:cNvPr id="2355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E141834-3D14-ECCC-177F-086419A514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752600"/>
            <a:ext cx="3810000" cy="4419600"/>
          </a:xfrm>
        </p:spPr>
        <p:txBody>
          <a:bodyPr/>
          <a:lstStyle/>
          <a:p>
            <a:r>
              <a:rPr lang="en-US" altLang="en-US" sz="2000"/>
              <a:t>Consider an edge </a:t>
            </a:r>
            <a:r>
              <a:rPr lang="en-US" altLang="en-US" sz="2000" b="1" i="1">
                <a:latin typeface="Times New Roman" panose="02020603050405020304" pitchFamily="18" charset="0"/>
              </a:rPr>
              <a:t>e </a:t>
            </a:r>
            <a:r>
              <a:rPr lang="en-US" altLang="en-US" sz="2000" b="1" i="1">
                <a:latin typeface="Symbol" panose="05050102010706020507" pitchFamily="18" charset="2"/>
              </a:rPr>
              <a:t>=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u,z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such that</a:t>
            </a:r>
          </a:p>
          <a:p>
            <a:pPr lvl="1"/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is the vertex most recently added to the cloud</a:t>
            </a:r>
          </a:p>
          <a:p>
            <a:pPr lvl="1"/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r>
              <a:rPr lang="en-US" altLang="en-US" sz="1800"/>
              <a:t> is not in the cloud</a:t>
            </a:r>
          </a:p>
          <a:p>
            <a:endParaRPr lang="en-US" altLang="en-US" sz="2000"/>
          </a:p>
          <a:p>
            <a:r>
              <a:rPr lang="en-US" altLang="en-US" sz="2000"/>
              <a:t>The relaxation of edge </a:t>
            </a:r>
            <a:r>
              <a:rPr lang="en-US" altLang="en-US" sz="2000" b="1" i="1">
                <a:latin typeface="Times New Roman" panose="02020603050405020304" pitchFamily="18" charset="0"/>
              </a:rPr>
              <a:t>e </a:t>
            </a:r>
            <a:r>
              <a:rPr lang="en-US" altLang="en-US" sz="2000"/>
              <a:t>updates distance </a:t>
            </a:r>
            <a:r>
              <a:rPr lang="en-US" altLang="en-US" sz="2000" b="1" i="1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z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as follows: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/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min{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,d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1800" b="1" i="1"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)}</a:t>
            </a:r>
          </a:p>
        </p:txBody>
      </p:sp>
      <p:sp>
        <p:nvSpPr>
          <p:cNvPr id="23555" name="AutoShape 20">
            <a:extLst>
              <a:ext uri="{FF2B5EF4-FFF2-40B4-BE49-F238E27FC236}">
                <a16:creationId xmlns:a16="http://schemas.microsoft.com/office/drawing/2014/main" id="{30479C73-369C-54CD-C384-90B24469A08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848601" y="3971926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6" name="Rectangle 17">
            <a:extLst>
              <a:ext uri="{FF2B5EF4-FFF2-40B4-BE49-F238E27FC236}">
                <a16:creationId xmlns:a16="http://schemas.microsoft.com/office/drawing/2014/main" id="{6A8254BB-9494-3AB2-74A3-6A56566C5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2900" y="2286001"/>
            <a:ext cx="1098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solidFill>
                  <a:schemeClr val="tx2"/>
                </a:solidFill>
                <a:latin typeface="Symbol" panose="05050102010706020507" pitchFamily="18" charset="2"/>
              </a:rPr>
              <a:t>=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75</a:t>
            </a:r>
          </a:p>
        </p:txBody>
      </p:sp>
      <p:sp>
        <p:nvSpPr>
          <p:cNvPr id="23557" name="Freeform 13">
            <a:extLst>
              <a:ext uri="{FF2B5EF4-FFF2-40B4-BE49-F238E27FC236}">
                <a16:creationId xmlns:a16="http://schemas.microsoft.com/office/drawing/2014/main" id="{4E8D6CF4-A836-430B-7F97-2C1A542202E0}"/>
              </a:ext>
            </a:extLst>
          </p:cNvPr>
          <p:cNvSpPr>
            <a:spLocks/>
          </p:cNvSpPr>
          <p:nvPr/>
        </p:nvSpPr>
        <p:spPr bwMode="auto">
          <a:xfrm>
            <a:off x="5824538" y="2065338"/>
            <a:ext cx="2844800" cy="1712912"/>
          </a:xfrm>
          <a:custGeom>
            <a:avLst/>
            <a:gdLst>
              <a:gd name="T0" fmla="*/ 2147483646 w 1792"/>
              <a:gd name="T1" fmla="*/ 2147483646 h 1079"/>
              <a:gd name="T2" fmla="*/ 2147483646 w 1792"/>
              <a:gd name="T3" fmla="*/ 2147483646 h 1079"/>
              <a:gd name="T4" fmla="*/ 2147483646 w 1792"/>
              <a:gd name="T5" fmla="*/ 2147483646 h 1079"/>
              <a:gd name="T6" fmla="*/ 2147483646 w 1792"/>
              <a:gd name="T7" fmla="*/ 2147483646 h 1079"/>
              <a:gd name="T8" fmla="*/ 2147483646 w 1792"/>
              <a:gd name="T9" fmla="*/ 2147483646 h 1079"/>
              <a:gd name="T10" fmla="*/ 2147483646 w 1792"/>
              <a:gd name="T11" fmla="*/ 2147483646 h 1079"/>
              <a:gd name="T12" fmla="*/ 2147483646 w 1792"/>
              <a:gd name="T13" fmla="*/ 2147483646 h 1079"/>
              <a:gd name="T14" fmla="*/ 2147483646 w 1792"/>
              <a:gd name="T15" fmla="*/ 2147483646 h 1079"/>
              <a:gd name="T16" fmla="*/ 2147483646 w 1792"/>
              <a:gd name="T17" fmla="*/ 2147483646 h 10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792"/>
              <a:gd name="T28" fmla="*/ 0 h 1079"/>
              <a:gd name="T29" fmla="*/ 1792 w 1792"/>
              <a:gd name="T30" fmla="*/ 1079 h 107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792" h="1079">
                <a:moveTo>
                  <a:pt x="1283" y="31"/>
                </a:moveTo>
                <a:cubicBezTo>
                  <a:pt x="1527" y="0"/>
                  <a:pt x="1686" y="67"/>
                  <a:pt x="1739" y="157"/>
                </a:cubicBezTo>
                <a:cubicBezTo>
                  <a:pt x="1792" y="247"/>
                  <a:pt x="1644" y="427"/>
                  <a:pt x="1601" y="571"/>
                </a:cubicBezTo>
                <a:cubicBezTo>
                  <a:pt x="1558" y="715"/>
                  <a:pt x="1621" y="963"/>
                  <a:pt x="1481" y="1021"/>
                </a:cubicBezTo>
                <a:cubicBezTo>
                  <a:pt x="1341" y="1079"/>
                  <a:pt x="979" y="937"/>
                  <a:pt x="761" y="919"/>
                </a:cubicBezTo>
                <a:cubicBezTo>
                  <a:pt x="543" y="901"/>
                  <a:pt x="297" y="965"/>
                  <a:pt x="173" y="916"/>
                </a:cubicBezTo>
                <a:cubicBezTo>
                  <a:pt x="49" y="867"/>
                  <a:pt x="0" y="720"/>
                  <a:pt x="17" y="625"/>
                </a:cubicBezTo>
                <a:cubicBezTo>
                  <a:pt x="34" y="530"/>
                  <a:pt x="64" y="442"/>
                  <a:pt x="275" y="343"/>
                </a:cubicBezTo>
                <a:cubicBezTo>
                  <a:pt x="486" y="244"/>
                  <a:pt x="1029" y="55"/>
                  <a:pt x="1283" y="31"/>
                </a:cubicBezTo>
                <a:close/>
              </a:path>
            </a:pathLst>
          </a:cu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Oval 8">
            <a:extLst>
              <a:ext uri="{FF2B5EF4-FFF2-40B4-BE49-F238E27FC236}">
                <a16:creationId xmlns:a16="http://schemas.microsoft.com/office/drawing/2014/main" id="{E064C3C9-3FCF-0CCD-D772-FDC0F8CB0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7701" y="2667001"/>
            <a:ext cx="277813" cy="2778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cxnSp>
        <p:nvCxnSpPr>
          <p:cNvPr id="23559" name="AutoShape 9">
            <a:extLst>
              <a:ext uri="{FF2B5EF4-FFF2-40B4-BE49-F238E27FC236}">
                <a16:creationId xmlns:a16="http://schemas.microsoft.com/office/drawing/2014/main" id="{840F1662-6220-565C-68D3-091B2E9ABB92}"/>
              </a:ext>
            </a:extLst>
          </p:cNvPr>
          <p:cNvCxnSpPr>
            <a:cxnSpLocks noChangeShapeType="1"/>
            <a:stCxn id="23562" idx="7"/>
            <a:endCxn id="23563" idx="2"/>
          </p:cNvCxnSpPr>
          <p:nvPr/>
        </p:nvCxnSpPr>
        <p:spPr bwMode="auto">
          <a:xfrm rot="16200000">
            <a:off x="6924676" y="1895476"/>
            <a:ext cx="500063" cy="1865313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0" name="AutoShape 10">
            <a:extLst>
              <a:ext uri="{FF2B5EF4-FFF2-40B4-BE49-F238E27FC236}">
                <a16:creationId xmlns:a16="http://schemas.microsoft.com/office/drawing/2014/main" id="{AAB0CAB1-6A82-DB75-4C3B-9536EFA48ABB}"/>
              </a:ext>
            </a:extLst>
          </p:cNvPr>
          <p:cNvCxnSpPr>
            <a:cxnSpLocks noChangeShapeType="1"/>
            <a:stCxn id="23562" idx="6"/>
            <a:endCxn id="23564" idx="2"/>
          </p:cNvCxnSpPr>
          <p:nvPr/>
        </p:nvCxnSpPr>
        <p:spPr bwMode="auto">
          <a:xfrm>
            <a:off x="6296025" y="3189289"/>
            <a:ext cx="1587500" cy="16827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1" name="AutoShape 11">
            <a:extLst>
              <a:ext uri="{FF2B5EF4-FFF2-40B4-BE49-F238E27FC236}">
                <a16:creationId xmlns:a16="http://schemas.microsoft.com/office/drawing/2014/main" id="{9EFD014B-50B0-5FF4-74B1-B5F79197B26F}"/>
              </a:ext>
            </a:extLst>
          </p:cNvPr>
          <p:cNvCxnSpPr>
            <a:cxnSpLocks noChangeShapeType="1"/>
            <a:stCxn id="23563" idx="6"/>
            <a:endCxn id="23558" idx="1"/>
          </p:cNvCxnSpPr>
          <p:nvPr/>
        </p:nvCxnSpPr>
        <p:spPr bwMode="auto">
          <a:xfrm>
            <a:off x="8418513" y="2578100"/>
            <a:ext cx="1160462" cy="120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2" name="Oval 5">
            <a:extLst>
              <a:ext uri="{FF2B5EF4-FFF2-40B4-BE49-F238E27FC236}">
                <a16:creationId xmlns:a16="http://schemas.microsoft.com/office/drawing/2014/main" id="{7CBAA808-243F-8215-DFE8-2E3954E79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3051176"/>
            <a:ext cx="279400" cy="2778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23563" name="Oval 7">
            <a:extLst>
              <a:ext uri="{FF2B5EF4-FFF2-40B4-BE49-F238E27FC236}">
                <a16:creationId xmlns:a16="http://schemas.microsoft.com/office/drawing/2014/main" id="{28E9726C-2866-27B8-5C08-BD942C494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0063" y="2438401"/>
            <a:ext cx="279400" cy="2778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23564" name="Oval 14">
            <a:extLst>
              <a:ext uri="{FF2B5EF4-FFF2-40B4-BE49-F238E27FC236}">
                <a16:creationId xmlns:a16="http://schemas.microsoft.com/office/drawing/2014/main" id="{29ADE620-043C-5BF8-D3CD-6C9D9B59C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813" y="3217863"/>
            <a:ext cx="277812" cy="2778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</a:p>
        </p:txBody>
      </p:sp>
      <p:cxnSp>
        <p:nvCxnSpPr>
          <p:cNvPr id="23565" name="AutoShape 15">
            <a:extLst>
              <a:ext uri="{FF2B5EF4-FFF2-40B4-BE49-F238E27FC236}">
                <a16:creationId xmlns:a16="http://schemas.microsoft.com/office/drawing/2014/main" id="{026AA5F1-D961-CC15-547D-C5C5A77143DE}"/>
              </a:ext>
            </a:extLst>
          </p:cNvPr>
          <p:cNvCxnSpPr>
            <a:cxnSpLocks noChangeShapeType="1"/>
            <a:stCxn id="23564" idx="6"/>
            <a:endCxn id="23558" idx="3"/>
          </p:cNvCxnSpPr>
          <p:nvPr/>
        </p:nvCxnSpPr>
        <p:spPr bwMode="auto">
          <a:xfrm flipV="1">
            <a:off x="8194675" y="2913063"/>
            <a:ext cx="1384300" cy="4445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6" name="Rectangle 16">
            <a:extLst>
              <a:ext uri="{FF2B5EF4-FFF2-40B4-BE49-F238E27FC236}">
                <a16:creationId xmlns:a16="http://schemas.microsoft.com/office/drawing/2014/main" id="{8BB3261C-4ABC-FB52-68F7-2CD97806B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8401" y="2128838"/>
            <a:ext cx="1046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50</a:t>
            </a:r>
            <a:endParaRPr lang="en-US" altLang="en-US" sz="18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7" name="Rectangle 18">
            <a:extLst>
              <a:ext uri="{FF2B5EF4-FFF2-40B4-BE49-F238E27FC236}">
                <a16:creationId xmlns:a16="http://schemas.microsoft.com/office/drawing/2014/main" id="{FD7DA7F9-2401-E7A8-0B33-51A8708A7FAE}"/>
              </a:ext>
            </a:extLst>
          </p:cNvPr>
          <p:cNvSpPr>
            <a:spLocks noChangeArrowheads="1"/>
          </p:cNvSpPr>
          <p:nvPr/>
        </p:nvSpPr>
        <p:spPr bwMode="auto">
          <a:xfrm rot="230089">
            <a:off x="8851900" y="2305051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10</a:t>
            </a:r>
            <a:endParaRPr lang="en-US" alt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23568" name="Rectangle 21">
            <a:extLst>
              <a:ext uri="{FF2B5EF4-FFF2-40B4-BE49-F238E27FC236}">
                <a16:creationId xmlns:a16="http://schemas.microsoft.com/office/drawing/2014/main" id="{5536B21E-AD09-3D3A-CD96-8B14045A7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5188" y="2743201"/>
            <a:ext cx="273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3569" name="Rectangle 22">
            <a:extLst>
              <a:ext uri="{FF2B5EF4-FFF2-40B4-BE49-F238E27FC236}">
                <a16:creationId xmlns:a16="http://schemas.microsoft.com/office/drawing/2014/main" id="{F85C32C6-4BED-F87E-59ED-BFD87F7E6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2757488"/>
            <a:ext cx="273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0" name="Rectangle 23">
            <a:extLst>
              <a:ext uri="{FF2B5EF4-FFF2-40B4-BE49-F238E27FC236}">
                <a16:creationId xmlns:a16="http://schemas.microsoft.com/office/drawing/2014/main" id="{1B1C8EDE-765F-859C-C257-806C2715C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0" y="25908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1" name="Rectangle 27">
            <a:extLst>
              <a:ext uri="{FF2B5EF4-FFF2-40B4-BE49-F238E27FC236}">
                <a16:creationId xmlns:a16="http://schemas.microsoft.com/office/drawing/2014/main" id="{9D071C23-15B7-75AC-7036-C13B8F8D1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1313" y="4756151"/>
            <a:ext cx="1098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solidFill>
                  <a:schemeClr val="tx2"/>
                </a:solidFill>
                <a:latin typeface="Symbol" panose="05050102010706020507" pitchFamily="18" charset="2"/>
              </a:rPr>
              <a:t>=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60</a:t>
            </a:r>
          </a:p>
        </p:txBody>
      </p:sp>
      <p:sp>
        <p:nvSpPr>
          <p:cNvPr id="23572" name="Freeform 28">
            <a:extLst>
              <a:ext uri="{FF2B5EF4-FFF2-40B4-BE49-F238E27FC236}">
                <a16:creationId xmlns:a16="http://schemas.microsoft.com/office/drawing/2014/main" id="{9483DBC9-1DAF-4A9F-1186-D53C71DDBC6E}"/>
              </a:ext>
            </a:extLst>
          </p:cNvPr>
          <p:cNvSpPr>
            <a:spLocks/>
          </p:cNvSpPr>
          <p:nvPr/>
        </p:nvSpPr>
        <p:spPr bwMode="auto">
          <a:xfrm>
            <a:off x="5822950" y="4535488"/>
            <a:ext cx="2844800" cy="1712912"/>
          </a:xfrm>
          <a:custGeom>
            <a:avLst/>
            <a:gdLst>
              <a:gd name="T0" fmla="*/ 2147483646 w 1792"/>
              <a:gd name="T1" fmla="*/ 2147483646 h 1079"/>
              <a:gd name="T2" fmla="*/ 2147483646 w 1792"/>
              <a:gd name="T3" fmla="*/ 2147483646 h 1079"/>
              <a:gd name="T4" fmla="*/ 2147483646 w 1792"/>
              <a:gd name="T5" fmla="*/ 2147483646 h 1079"/>
              <a:gd name="T6" fmla="*/ 2147483646 w 1792"/>
              <a:gd name="T7" fmla="*/ 2147483646 h 1079"/>
              <a:gd name="T8" fmla="*/ 2147483646 w 1792"/>
              <a:gd name="T9" fmla="*/ 2147483646 h 1079"/>
              <a:gd name="T10" fmla="*/ 2147483646 w 1792"/>
              <a:gd name="T11" fmla="*/ 2147483646 h 1079"/>
              <a:gd name="T12" fmla="*/ 2147483646 w 1792"/>
              <a:gd name="T13" fmla="*/ 2147483646 h 1079"/>
              <a:gd name="T14" fmla="*/ 2147483646 w 1792"/>
              <a:gd name="T15" fmla="*/ 2147483646 h 1079"/>
              <a:gd name="T16" fmla="*/ 2147483646 w 1792"/>
              <a:gd name="T17" fmla="*/ 2147483646 h 10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792"/>
              <a:gd name="T28" fmla="*/ 0 h 1079"/>
              <a:gd name="T29" fmla="*/ 1792 w 1792"/>
              <a:gd name="T30" fmla="*/ 1079 h 107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792" h="1079">
                <a:moveTo>
                  <a:pt x="1283" y="31"/>
                </a:moveTo>
                <a:cubicBezTo>
                  <a:pt x="1527" y="0"/>
                  <a:pt x="1686" y="67"/>
                  <a:pt x="1739" y="157"/>
                </a:cubicBezTo>
                <a:cubicBezTo>
                  <a:pt x="1792" y="247"/>
                  <a:pt x="1644" y="427"/>
                  <a:pt x="1601" y="571"/>
                </a:cubicBezTo>
                <a:cubicBezTo>
                  <a:pt x="1558" y="715"/>
                  <a:pt x="1621" y="963"/>
                  <a:pt x="1481" y="1021"/>
                </a:cubicBezTo>
                <a:cubicBezTo>
                  <a:pt x="1341" y="1079"/>
                  <a:pt x="979" y="937"/>
                  <a:pt x="761" y="919"/>
                </a:cubicBezTo>
                <a:cubicBezTo>
                  <a:pt x="543" y="901"/>
                  <a:pt x="297" y="965"/>
                  <a:pt x="173" y="916"/>
                </a:cubicBezTo>
                <a:cubicBezTo>
                  <a:pt x="49" y="867"/>
                  <a:pt x="0" y="720"/>
                  <a:pt x="17" y="625"/>
                </a:cubicBezTo>
                <a:cubicBezTo>
                  <a:pt x="34" y="530"/>
                  <a:pt x="64" y="442"/>
                  <a:pt x="275" y="343"/>
                </a:cubicBezTo>
                <a:cubicBezTo>
                  <a:pt x="486" y="244"/>
                  <a:pt x="1029" y="55"/>
                  <a:pt x="1283" y="31"/>
                </a:cubicBezTo>
                <a:close/>
              </a:path>
            </a:pathLst>
          </a:cu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Oval 29">
            <a:extLst>
              <a:ext uri="{FF2B5EF4-FFF2-40B4-BE49-F238E27FC236}">
                <a16:creationId xmlns:a16="http://schemas.microsoft.com/office/drawing/2014/main" id="{AEC5F26A-8CD5-A21B-161A-8124D5A29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6113" y="5137151"/>
            <a:ext cx="277812" cy="2778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cxnSp>
        <p:nvCxnSpPr>
          <p:cNvPr id="23574" name="AutoShape 30">
            <a:extLst>
              <a:ext uri="{FF2B5EF4-FFF2-40B4-BE49-F238E27FC236}">
                <a16:creationId xmlns:a16="http://schemas.microsoft.com/office/drawing/2014/main" id="{1C2D13C2-75E7-95BD-30E3-A52199B775F0}"/>
              </a:ext>
            </a:extLst>
          </p:cNvPr>
          <p:cNvCxnSpPr>
            <a:cxnSpLocks noChangeShapeType="1"/>
            <a:stCxn id="23577" idx="7"/>
            <a:endCxn id="23578" idx="2"/>
          </p:cNvCxnSpPr>
          <p:nvPr/>
        </p:nvCxnSpPr>
        <p:spPr bwMode="auto">
          <a:xfrm rot="16200000">
            <a:off x="6923088" y="4365626"/>
            <a:ext cx="500063" cy="18653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5" name="AutoShape 31">
            <a:extLst>
              <a:ext uri="{FF2B5EF4-FFF2-40B4-BE49-F238E27FC236}">
                <a16:creationId xmlns:a16="http://schemas.microsoft.com/office/drawing/2014/main" id="{66FADA88-15BA-0E32-73AC-C6A5C7B7CE5E}"/>
              </a:ext>
            </a:extLst>
          </p:cNvPr>
          <p:cNvCxnSpPr>
            <a:cxnSpLocks noChangeShapeType="1"/>
            <a:stCxn id="23577" idx="6"/>
            <a:endCxn id="23579" idx="2"/>
          </p:cNvCxnSpPr>
          <p:nvPr/>
        </p:nvCxnSpPr>
        <p:spPr bwMode="auto">
          <a:xfrm>
            <a:off x="6294438" y="5659439"/>
            <a:ext cx="1587500" cy="16827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6" name="AutoShape 32">
            <a:extLst>
              <a:ext uri="{FF2B5EF4-FFF2-40B4-BE49-F238E27FC236}">
                <a16:creationId xmlns:a16="http://schemas.microsoft.com/office/drawing/2014/main" id="{041DF275-2EE9-57CC-C0F2-8559CF06011C}"/>
              </a:ext>
            </a:extLst>
          </p:cNvPr>
          <p:cNvCxnSpPr>
            <a:cxnSpLocks noChangeShapeType="1"/>
            <a:stCxn id="23578" idx="6"/>
            <a:endCxn id="23573" idx="1"/>
          </p:cNvCxnSpPr>
          <p:nvPr/>
        </p:nvCxnSpPr>
        <p:spPr bwMode="auto">
          <a:xfrm>
            <a:off x="8416926" y="5048250"/>
            <a:ext cx="1160463" cy="12065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7" name="Oval 33">
            <a:extLst>
              <a:ext uri="{FF2B5EF4-FFF2-40B4-BE49-F238E27FC236}">
                <a16:creationId xmlns:a16="http://schemas.microsoft.com/office/drawing/2014/main" id="{A03493CC-29F4-9A50-BB8A-39F5D7A41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338" y="5521326"/>
            <a:ext cx="279400" cy="2778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23578" name="Oval 34">
            <a:extLst>
              <a:ext uri="{FF2B5EF4-FFF2-40B4-BE49-F238E27FC236}">
                <a16:creationId xmlns:a16="http://schemas.microsoft.com/office/drawing/2014/main" id="{C6459527-8709-07D1-C10E-2D6E1FE2B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475" y="4908551"/>
            <a:ext cx="279400" cy="277813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1" i="1">
              <a:latin typeface="Times New Roman" panose="02020603050405020304" pitchFamily="18" charset="0"/>
            </a:endParaRPr>
          </a:p>
        </p:txBody>
      </p:sp>
      <p:sp>
        <p:nvSpPr>
          <p:cNvPr id="23579" name="Oval 35">
            <a:extLst>
              <a:ext uri="{FF2B5EF4-FFF2-40B4-BE49-F238E27FC236}">
                <a16:creationId xmlns:a16="http://schemas.microsoft.com/office/drawing/2014/main" id="{7638F1D9-27AA-99BB-6269-2ED06F29D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226" y="5688013"/>
            <a:ext cx="277813" cy="277812"/>
          </a:xfrm>
          <a:prstGeom prst="ellipse">
            <a:avLst/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</a:p>
        </p:txBody>
      </p:sp>
      <p:cxnSp>
        <p:nvCxnSpPr>
          <p:cNvPr id="23580" name="AutoShape 36">
            <a:extLst>
              <a:ext uri="{FF2B5EF4-FFF2-40B4-BE49-F238E27FC236}">
                <a16:creationId xmlns:a16="http://schemas.microsoft.com/office/drawing/2014/main" id="{C40BF106-FB2A-5949-28E9-3BEF8D315F0C}"/>
              </a:ext>
            </a:extLst>
          </p:cNvPr>
          <p:cNvCxnSpPr>
            <a:cxnSpLocks noChangeShapeType="1"/>
            <a:stCxn id="23579" idx="6"/>
            <a:endCxn id="23573" idx="3"/>
          </p:cNvCxnSpPr>
          <p:nvPr/>
        </p:nvCxnSpPr>
        <p:spPr bwMode="auto">
          <a:xfrm flipV="1">
            <a:off x="8193088" y="5383213"/>
            <a:ext cx="1384300" cy="44450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1" name="Rectangle 37">
            <a:extLst>
              <a:ext uri="{FF2B5EF4-FFF2-40B4-BE49-F238E27FC236}">
                <a16:creationId xmlns:a16="http://schemas.microsoft.com/office/drawing/2014/main" id="{7B93CE4F-2604-F4FD-E281-6408D01AB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4598988"/>
            <a:ext cx="1046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=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50</a:t>
            </a:r>
            <a:endParaRPr lang="en-US" altLang="en-US" sz="18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2" name="Rectangle 38">
            <a:extLst>
              <a:ext uri="{FF2B5EF4-FFF2-40B4-BE49-F238E27FC236}">
                <a16:creationId xmlns:a16="http://schemas.microsoft.com/office/drawing/2014/main" id="{296765EE-4CBB-FAC3-F534-479A2EA09BFB}"/>
              </a:ext>
            </a:extLst>
          </p:cNvPr>
          <p:cNvSpPr>
            <a:spLocks noChangeArrowheads="1"/>
          </p:cNvSpPr>
          <p:nvPr/>
        </p:nvSpPr>
        <p:spPr bwMode="auto">
          <a:xfrm rot="230089">
            <a:off x="8850313" y="4775201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10</a:t>
            </a:r>
            <a:endParaRPr lang="en-US" altLang="en-US" sz="18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3" name="Rectangle 39">
            <a:extLst>
              <a:ext uri="{FF2B5EF4-FFF2-40B4-BE49-F238E27FC236}">
                <a16:creationId xmlns:a16="http://schemas.microsoft.com/office/drawing/2014/main" id="{396BC998-93B6-0E41-1458-DFF30DE46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5213351"/>
            <a:ext cx="273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3584" name="Rectangle 40">
            <a:extLst>
              <a:ext uri="{FF2B5EF4-FFF2-40B4-BE49-F238E27FC236}">
                <a16:creationId xmlns:a16="http://schemas.microsoft.com/office/drawing/2014/main" id="{9188C960-EB18-2155-D29D-84DB64BCB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5227638"/>
            <a:ext cx="273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5" name="Rectangle 41">
            <a:extLst>
              <a:ext uri="{FF2B5EF4-FFF2-40B4-BE49-F238E27FC236}">
                <a16:creationId xmlns:a16="http://schemas.microsoft.com/office/drawing/2014/main" id="{00AC8BB8-11D4-90D9-AB4B-72477A7C7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50609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6" name="Text Box 43">
            <a:extLst>
              <a:ext uri="{FF2B5EF4-FFF2-40B4-BE49-F238E27FC236}">
                <a16:creationId xmlns:a16="http://schemas.microsoft.com/office/drawing/2014/main" id="{19CC327D-7390-BE0D-B323-F95471F67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850" y="2514601"/>
            <a:ext cx="285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587" name="Text Box 44">
            <a:extLst>
              <a:ext uri="{FF2B5EF4-FFF2-40B4-BE49-F238E27FC236}">
                <a16:creationId xmlns:a16="http://schemas.microsoft.com/office/drawing/2014/main" id="{8A20515E-4003-9E77-9923-3BE36B644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850" y="5029201"/>
            <a:ext cx="285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</a:p>
        </p:txBody>
      </p:sp>
      <p:cxnSp>
        <p:nvCxnSpPr>
          <p:cNvPr id="23588" name="Straight Arrow Connector 37">
            <a:extLst>
              <a:ext uri="{FF2B5EF4-FFF2-40B4-BE49-F238E27FC236}">
                <a16:creationId xmlns:a16="http://schemas.microsoft.com/office/drawing/2014/main" id="{9FEEE7F8-6076-AFF7-2014-E0B5C486B72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8229600" y="3429000"/>
            <a:ext cx="762000" cy="228600"/>
          </a:xfrm>
          <a:prstGeom prst="straightConnector1">
            <a:avLst/>
          </a:prstGeom>
          <a:noFill/>
          <a:ln w="28575" algn="ctr">
            <a:solidFill>
              <a:srgbClr val="FF00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89" name="TextBox 38">
            <a:extLst>
              <a:ext uri="{FF2B5EF4-FFF2-40B4-BE49-F238E27FC236}">
                <a16:creationId xmlns:a16="http://schemas.microsoft.com/office/drawing/2014/main" id="{5E71FA69-2F29-6C86-7D6C-9AA025E0D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3352801"/>
            <a:ext cx="1600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Vertex added before u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8CCFC6-4686-159F-1C23-3D98F4992783}"/>
              </a:ext>
            </a:extLst>
          </p:cNvPr>
          <p:cNvSpPr/>
          <p:nvPr/>
        </p:nvSpPr>
        <p:spPr>
          <a:xfrm>
            <a:off x="7723243" y="2971800"/>
            <a:ext cx="284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latin typeface="+mj-lt"/>
                <a:cs typeface="Times New Roman" pitchFamily="18" charset="0"/>
              </a:rPr>
              <a:t>v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4DE269-71E0-CB5D-F2DD-75B4CD6B158D}"/>
              </a:ext>
            </a:extLst>
          </p:cNvPr>
          <p:cNvSpPr/>
          <p:nvPr/>
        </p:nvSpPr>
        <p:spPr>
          <a:xfrm>
            <a:off x="7704193" y="5486400"/>
            <a:ext cx="284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latin typeface="+mj-lt"/>
                <a:cs typeface="Times New Roman" pitchFamily="18" charset="0"/>
              </a:rPr>
              <a:t>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7A4492C5-9BB4-61E4-1AF4-B2278E4FA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Dijkstra’s Algorithm</a:t>
            </a:r>
          </a:p>
        </p:txBody>
      </p:sp>
      <p:sp>
        <p:nvSpPr>
          <p:cNvPr id="2457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3C5646A-FAE4-16E9-1362-F3D2B6F7F2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525588"/>
            <a:ext cx="3429000" cy="4648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A priority queue (e.g., heap) stores the vertices outside the cloud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Key: distance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Element: vertex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Locator-based methods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insert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k,e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returns a locator </a:t>
            </a:r>
          </a:p>
          <a:p>
            <a:pPr lvl="1">
              <a:lnSpc>
                <a:spcPct val="90000"/>
              </a:lnSpc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replaceKey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l,k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changes the key of an item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We store two labels with each vertex: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Distance (d(v) label)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locator in priority queue</a:t>
            </a:r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8FD94792-BE7A-2824-D0FB-31820EFD9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447800"/>
            <a:ext cx="4514850" cy="4787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DijkstraDistances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G, 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Q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new heap-based priority queue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l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Q.insert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setLocator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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Q.isEmpty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u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Q.removeMin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G.incidentEdges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>
                <a:latin typeface="Times New Roman" panose="02020603050405020304" pitchFamily="18" charset="0"/>
              </a:rPr>
              <a:t>{ relax edge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 }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G.opposite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u,e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r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z,r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b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	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Q.replaceKey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getLocator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reeform 71">
            <a:extLst>
              <a:ext uri="{FF2B5EF4-FFF2-40B4-BE49-F238E27FC236}">
                <a16:creationId xmlns:a16="http://schemas.microsoft.com/office/drawing/2014/main" id="{F0285535-071C-3028-70E4-9D2AE93E9D05}"/>
              </a:ext>
            </a:extLst>
          </p:cNvPr>
          <p:cNvSpPr>
            <a:spLocks/>
          </p:cNvSpPr>
          <p:nvPr/>
        </p:nvSpPr>
        <p:spPr bwMode="auto">
          <a:xfrm>
            <a:off x="3325814" y="1301750"/>
            <a:ext cx="1044575" cy="736600"/>
          </a:xfrm>
          <a:custGeom>
            <a:avLst/>
            <a:gdLst>
              <a:gd name="T0" fmla="*/ 2147483646 w 658"/>
              <a:gd name="T1" fmla="*/ 2147483646 h 464"/>
              <a:gd name="T2" fmla="*/ 2147483646 w 658"/>
              <a:gd name="T3" fmla="*/ 2147483646 h 464"/>
              <a:gd name="T4" fmla="*/ 2147483646 w 658"/>
              <a:gd name="T5" fmla="*/ 2147483646 h 464"/>
              <a:gd name="T6" fmla="*/ 2147483646 w 658"/>
              <a:gd name="T7" fmla="*/ 2147483646 h 464"/>
              <a:gd name="T8" fmla="*/ 2147483646 w 658"/>
              <a:gd name="T9" fmla="*/ 2147483646 h 4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8"/>
              <a:gd name="T16" fmla="*/ 0 h 464"/>
              <a:gd name="T17" fmla="*/ 658 w 658"/>
              <a:gd name="T18" fmla="*/ 464 h 4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8" h="464">
                <a:moveTo>
                  <a:pt x="329" y="13"/>
                </a:moveTo>
                <a:cubicBezTo>
                  <a:pt x="437" y="26"/>
                  <a:pt x="658" y="186"/>
                  <a:pt x="653" y="259"/>
                </a:cubicBezTo>
                <a:cubicBezTo>
                  <a:pt x="647" y="328"/>
                  <a:pt x="407" y="464"/>
                  <a:pt x="299" y="451"/>
                </a:cubicBezTo>
                <a:cubicBezTo>
                  <a:pt x="191" y="438"/>
                  <a:pt x="0" y="254"/>
                  <a:pt x="5" y="181"/>
                </a:cubicBezTo>
                <a:cubicBezTo>
                  <a:pt x="10" y="108"/>
                  <a:pt x="221" y="0"/>
                  <a:pt x="329" y="13"/>
                </a:cubicBezTo>
                <a:close/>
              </a:path>
            </a:pathLst>
          </a:cu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21BC2DCD-F327-A632-A516-702ABCA587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25603" name="Oval 3">
            <a:extLst>
              <a:ext uri="{FF2B5EF4-FFF2-40B4-BE49-F238E27FC236}">
                <a16:creationId xmlns:a16="http://schemas.microsoft.com/office/drawing/2014/main" id="{140C7983-0CA6-14D4-87F9-2D7DEA6B07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02038" y="2347913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5604" name="Oval 4">
            <a:extLst>
              <a:ext uri="{FF2B5EF4-FFF2-40B4-BE49-F238E27FC236}">
                <a16:creationId xmlns:a16="http://schemas.microsoft.com/office/drawing/2014/main" id="{E1C0C2D6-A923-885B-F4AC-1D4D6BC330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8851" y="234791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5605" name="Oval 5">
            <a:extLst>
              <a:ext uri="{FF2B5EF4-FFF2-40B4-BE49-F238E27FC236}">
                <a16:creationId xmlns:a16="http://schemas.microsoft.com/office/drawing/2014/main" id="{54E82A8A-6166-BD78-A2C7-8E6FED416B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00451" y="1541463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25606" name="Oval 6">
            <a:extLst>
              <a:ext uri="{FF2B5EF4-FFF2-40B4-BE49-F238E27FC236}">
                <a16:creationId xmlns:a16="http://schemas.microsoft.com/office/drawing/2014/main" id="{42B40BA9-53F5-0F0F-97DE-16AB100F5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8451" y="315595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25607" name="AutoShape 7">
            <a:extLst>
              <a:ext uri="{FF2B5EF4-FFF2-40B4-BE49-F238E27FC236}">
                <a16:creationId xmlns:a16="http://schemas.microsoft.com/office/drawing/2014/main" id="{364108C8-186D-9043-3620-049BE3B851F1}"/>
              </a:ext>
            </a:extLst>
          </p:cNvPr>
          <p:cNvCxnSpPr>
            <a:cxnSpLocks noChangeAspect="1" noChangeShapeType="1"/>
            <a:stCxn id="25605" idx="2"/>
            <a:endCxn id="25604" idx="0"/>
          </p:cNvCxnSpPr>
          <p:nvPr/>
        </p:nvCxnSpPr>
        <p:spPr bwMode="auto">
          <a:xfrm rot="10800000" flipV="1">
            <a:off x="2411413" y="1724026"/>
            <a:ext cx="1168400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8" name="AutoShape 8">
            <a:extLst>
              <a:ext uri="{FF2B5EF4-FFF2-40B4-BE49-F238E27FC236}">
                <a16:creationId xmlns:a16="http://schemas.microsoft.com/office/drawing/2014/main" id="{7FAB04F1-DB7C-F32E-E196-55D9F00E8AD1}"/>
              </a:ext>
            </a:extLst>
          </p:cNvPr>
          <p:cNvCxnSpPr>
            <a:cxnSpLocks noChangeAspect="1" noChangeShapeType="1"/>
            <a:stCxn id="25606" idx="2"/>
            <a:endCxn id="25604" idx="4"/>
          </p:cNvCxnSpPr>
          <p:nvPr/>
        </p:nvCxnSpPr>
        <p:spPr bwMode="auto">
          <a:xfrm rot="10800000">
            <a:off x="2411414" y="2722563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9" name="AutoShape 9">
            <a:extLst>
              <a:ext uri="{FF2B5EF4-FFF2-40B4-BE49-F238E27FC236}">
                <a16:creationId xmlns:a16="http://schemas.microsoft.com/office/drawing/2014/main" id="{58AEF803-3416-FB7E-6A5C-EE1BEB5AADD5}"/>
              </a:ext>
            </a:extLst>
          </p:cNvPr>
          <p:cNvCxnSpPr>
            <a:cxnSpLocks noChangeAspect="1" noChangeShapeType="1"/>
            <a:stCxn id="25606" idx="6"/>
            <a:endCxn id="25603" idx="3"/>
          </p:cNvCxnSpPr>
          <p:nvPr/>
        </p:nvCxnSpPr>
        <p:spPr bwMode="auto">
          <a:xfrm flipV="1">
            <a:off x="3213101" y="2670175"/>
            <a:ext cx="441325" cy="6683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0" name="AutoShape 10">
            <a:extLst>
              <a:ext uri="{FF2B5EF4-FFF2-40B4-BE49-F238E27FC236}">
                <a16:creationId xmlns:a16="http://schemas.microsoft.com/office/drawing/2014/main" id="{1804B340-E83D-2443-EAD4-F4BC51647BA8}"/>
              </a:ext>
            </a:extLst>
          </p:cNvPr>
          <p:cNvCxnSpPr>
            <a:cxnSpLocks noChangeAspect="1" noChangeShapeType="1"/>
            <a:stCxn id="25605" idx="4"/>
            <a:endCxn id="25603" idx="0"/>
          </p:cNvCxnSpPr>
          <p:nvPr/>
        </p:nvCxnSpPr>
        <p:spPr bwMode="auto">
          <a:xfrm>
            <a:off x="3783014" y="1925638"/>
            <a:ext cx="1587" cy="411162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1" name="AutoShape 11">
            <a:extLst>
              <a:ext uri="{FF2B5EF4-FFF2-40B4-BE49-F238E27FC236}">
                <a16:creationId xmlns:a16="http://schemas.microsoft.com/office/drawing/2014/main" id="{4D890862-E1B4-AA4E-9033-A61466177EF3}"/>
              </a:ext>
            </a:extLst>
          </p:cNvPr>
          <p:cNvCxnSpPr>
            <a:cxnSpLocks noChangeAspect="1" noChangeShapeType="1"/>
            <a:stCxn id="25604" idx="6"/>
            <a:endCxn id="25603" idx="2"/>
          </p:cNvCxnSpPr>
          <p:nvPr/>
        </p:nvCxnSpPr>
        <p:spPr bwMode="auto">
          <a:xfrm>
            <a:off x="2603501" y="2530475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2" name="Oval 12">
            <a:extLst>
              <a:ext uri="{FF2B5EF4-FFF2-40B4-BE49-F238E27FC236}">
                <a16:creationId xmlns:a16="http://schemas.microsoft.com/office/drawing/2014/main" id="{95451413-8CC5-8954-9DB3-8A8CAEBFCB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64113" y="2347913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25613" name="AutoShape 13">
            <a:extLst>
              <a:ext uri="{FF2B5EF4-FFF2-40B4-BE49-F238E27FC236}">
                <a16:creationId xmlns:a16="http://schemas.microsoft.com/office/drawing/2014/main" id="{928A6AE2-D34A-83AC-F1A6-3494BFBD54DF}"/>
              </a:ext>
            </a:extLst>
          </p:cNvPr>
          <p:cNvCxnSpPr>
            <a:cxnSpLocks noChangeAspect="1" noChangeShapeType="1"/>
            <a:stCxn id="25616" idx="6"/>
            <a:endCxn id="25612" idx="4"/>
          </p:cNvCxnSpPr>
          <p:nvPr/>
        </p:nvCxnSpPr>
        <p:spPr bwMode="auto">
          <a:xfrm flipV="1">
            <a:off x="4727575" y="2722563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4" name="AutoShape 14">
            <a:extLst>
              <a:ext uri="{FF2B5EF4-FFF2-40B4-BE49-F238E27FC236}">
                <a16:creationId xmlns:a16="http://schemas.microsoft.com/office/drawing/2014/main" id="{E6BB90A2-74E6-60BE-8304-792A7E4B60CE}"/>
              </a:ext>
            </a:extLst>
          </p:cNvPr>
          <p:cNvCxnSpPr>
            <a:cxnSpLocks noChangeAspect="1" noChangeShapeType="1"/>
            <a:stCxn id="25612" idx="0"/>
            <a:endCxn id="25605" idx="6"/>
          </p:cNvCxnSpPr>
          <p:nvPr/>
        </p:nvCxnSpPr>
        <p:spPr bwMode="auto">
          <a:xfrm rot="5400000" flipH="1">
            <a:off x="4259263" y="1449388"/>
            <a:ext cx="612775" cy="11620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5" name="AutoShape 15">
            <a:extLst>
              <a:ext uri="{FF2B5EF4-FFF2-40B4-BE49-F238E27FC236}">
                <a16:creationId xmlns:a16="http://schemas.microsoft.com/office/drawing/2014/main" id="{53DDAB6A-92D5-16A0-9914-EC3D6FBBDD5A}"/>
              </a:ext>
            </a:extLst>
          </p:cNvPr>
          <p:cNvCxnSpPr>
            <a:cxnSpLocks noChangeAspect="1" noChangeShapeType="1"/>
            <a:stCxn id="25603" idx="6"/>
            <a:endCxn id="25612" idx="2"/>
          </p:cNvCxnSpPr>
          <p:nvPr/>
        </p:nvCxnSpPr>
        <p:spPr bwMode="auto">
          <a:xfrm>
            <a:off x="3976688" y="2530475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6" name="Oval 16">
            <a:extLst>
              <a:ext uri="{FF2B5EF4-FFF2-40B4-BE49-F238E27FC236}">
                <a16:creationId xmlns:a16="http://schemas.microsoft.com/office/drawing/2014/main" id="{462E4795-65AC-B0AC-DB7E-95CEAAB671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52926" y="315595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5617" name="AutoShape 17">
            <a:extLst>
              <a:ext uri="{FF2B5EF4-FFF2-40B4-BE49-F238E27FC236}">
                <a16:creationId xmlns:a16="http://schemas.microsoft.com/office/drawing/2014/main" id="{1454DA21-6BDE-A9AE-9E43-E4C064727577}"/>
              </a:ext>
            </a:extLst>
          </p:cNvPr>
          <p:cNvCxnSpPr>
            <a:cxnSpLocks noChangeAspect="1" noChangeShapeType="1"/>
            <a:stCxn id="25603" idx="5"/>
            <a:endCxn id="25616" idx="2"/>
          </p:cNvCxnSpPr>
          <p:nvPr/>
        </p:nvCxnSpPr>
        <p:spPr bwMode="auto">
          <a:xfrm rot="16200000" flipH="1">
            <a:off x="3794125" y="2790825"/>
            <a:ext cx="668338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8" name="AutoShape 18">
            <a:extLst>
              <a:ext uri="{FF2B5EF4-FFF2-40B4-BE49-F238E27FC236}">
                <a16:creationId xmlns:a16="http://schemas.microsoft.com/office/drawing/2014/main" id="{1D347A16-F35A-D9E2-C31F-45141DD2212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24813" y="3508376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19" name="AutoShape 19">
            <a:extLst>
              <a:ext uri="{FF2B5EF4-FFF2-40B4-BE49-F238E27FC236}">
                <a16:creationId xmlns:a16="http://schemas.microsoft.com/office/drawing/2014/main" id="{FC9E37B5-1ACB-11FD-AECF-FC4C6C1CD05A}"/>
              </a:ext>
            </a:extLst>
          </p:cNvPr>
          <p:cNvSpPr>
            <a:spLocks noChangeArrowheads="1"/>
          </p:cNvSpPr>
          <p:nvPr/>
        </p:nvSpPr>
        <p:spPr bwMode="auto">
          <a:xfrm rot="8100000" flipH="1" flipV="1">
            <a:off x="5346701" y="3743326"/>
            <a:ext cx="1243013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20" name="AutoShape 20">
            <a:extLst>
              <a:ext uri="{FF2B5EF4-FFF2-40B4-BE49-F238E27FC236}">
                <a16:creationId xmlns:a16="http://schemas.microsoft.com/office/drawing/2014/main" id="{58BC4165-1B1B-2A5D-4952-C7388C14F2A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05213" y="3508376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21" name="Text Box 21">
            <a:extLst>
              <a:ext uri="{FF2B5EF4-FFF2-40B4-BE49-F238E27FC236}">
                <a16:creationId xmlns:a16="http://schemas.microsoft.com/office/drawing/2014/main" id="{9173B570-8CC3-CFEE-2E1D-8A2482758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13128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5622" name="Text Box 22">
            <a:extLst>
              <a:ext uri="{FF2B5EF4-FFF2-40B4-BE49-F238E27FC236}">
                <a16:creationId xmlns:a16="http://schemas.microsoft.com/office/drawing/2014/main" id="{886EA782-44BA-7BF9-6DA5-80AEA85CC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6050" y="21399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  <p:sp>
        <p:nvSpPr>
          <p:cNvPr id="25623" name="Text Box 23">
            <a:extLst>
              <a:ext uri="{FF2B5EF4-FFF2-40B4-BE49-F238E27FC236}">
                <a16:creationId xmlns:a16="http://schemas.microsoft.com/office/drawing/2014/main" id="{476B6290-67A3-F81D-D000-489F6BDB3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21399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5624" name="Text Box 24">
            <a:extLst>
              <a:ext uri="{FF2B5EF4-FFF2-40B4-BE49-F238E27FC236}">
                <a16:creationId xmlns:a16="http://schemas.microsoft.com/office/drawing/2014/main" id="{EAC40A27-4730-4CF3-4056-586E9FA44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21399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5625" name="Text Box 25">
            <a:extLst>
              <a:ext uri="{FF2B5EF4-FFF2-40B4-BE49-F238E27FC236}">
                <a16:creationId xmlns:a16="http://schemas.microsoft.com/office/drawing/2014/main" id="{2220E383-B7D3-4DF9-90F4-507D7E30E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051" y="2859088"/>
            <a:ext cx="347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5626" name="Text Box 26">
            <a:extLst>
              <a:ext uri="{FF2B5EF4-FFF2-40B4-BE49-F238E27FC236}">
                <a16:creationId xmlns:a16="http://schemas.microsoft.com/office/drawing/2014/main" id="{C4C0BE0D-BFCE-3090-ED3A-72FABEEC0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8188" y="2859088"/>
            <a:ext cx="3476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5627" name="Text Box 27">
            <a:extLst>
              <a:ext uri="{FF2B5EF4-FFF2-40B4-BE49-F238E27FC236}">
                <a16:creationId xmlns:a16="http://schemas.microsoft.com/office/drawing/2014/main" id="{119E36A2-10D2-36BE-6F5C-C6E378FCC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3600" y="15557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28" name="Text Box 28">
            <a:extLst>
              <a:ext uri="{FF2B5EF4-FFF2-40B4-BE49-F238E27FC236}">
                <a16:creationId xmlns:a16="http://schemas.microsoft.com/office/drawing/2014/main" id="{17E2AF9C-D352-0CD8-781A-E58650BD2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650" y="16176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5629" name="Text Box 33">
            <a:extLst>
              <a:ext uri="{FF2B5EF4-FFF2-40B4-BE49-F238E27FC236}">
                <a16:creationId xmlns:a16="http://schemas.microsoft.com/office/drawing/2014/main" id="{1111796D-6453-0588-92B7-61CEA00B6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2227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5630" name="Text Box 34">
            <a:extLst>
              <a:ext uri="{FF2B5EF4-FFF2-40B4-BE49-F238E27FC236}">
                <a16:creationId xmlns:a16="http://schemas.microsoft.com/office/drawing/2014/main" id="{35F0EF34-4980-B6C7-17A8-7875C2331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2450" y="2227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5631" name="Text Box 35">
            <a:extLst>
              <a:ext uri="{FF2B5EF4-FFF2-40B4-BE49-F238E27FC236}">
                <a16:creationId xmlns:a16="http://schemas.microsoft.com/office/drawing/2014/main" id="{44BFAA87-E380-E98B-BA17-4D093ED0F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50" y="30273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32" name="Text Box 37">
            <a:extLst>
              <a:ext uri="{FF2B5EF4-FFF2-40B4-BE49-F238E27FC236}">
                <a16:creationId xmlns:a16="http://schemas.microsoft.com/office/drawing/2014/main" id="{16616E12-D710-EADA-367C-18F01BC43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2050" y="30273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5633" name="Text Box 38">
            <a:extLst>
              <a:ext uri="{FF2B5EF4-FFF2-40B4-BE49-F238E27FC236}">
                <a16:creationId xmlns:a16="http://schemas.microsoft.com/office/drawing/2014/main" id="{B42F6640-0F35-25B2-D017-EB314730A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0" y="19224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34" name="Text Box 39">
            <a:extLst>
              <a:ext uri="{FF2B5EF4-FFF2-40B4-BE49-F238E27FC236}">
                <a16:creationId xmlns:a16="http://schemas.microsoft.com/office/drawing/2014/main" id="{17A5ED83-7866-2FB3-F3F8-86A1D44B5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27606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5635" name="Text Box 40">
            <a:extLst>
              <a:ext uri="{FF2B5EF4-FFF2-40B4-BE49-F238E27FC236}">
                <a16:creationId xmlns:a16="http://schemas.microsoft.com/office/drawing/2014/main" id="{0CF568D8-DBDB-3F0D-8CFD-27F130134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350" y="27606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5636" name="Freeform 72">
            <a:extLst>
              <a:ext uri="{FF2B5EF4-FFF2-40B4-BE49-F238E27FC236}">
                <a16:creationId xmlns:a16="http://schemas.microsoft.com/office/drawing/2014/main" id="{6AD6EF94-8AEE-6C09-6414-604601BDA059}"/>
              </a:ext>
            </a:extLst>
          </p:cNvPr>
          <p:cNvSpPr>
            <a:spLocks/>
          </p:cNvSpPr>
          <p:nvPr/>
        </p:nvSpPr>
        <p:spPr bwMode="auto">
          <a:xfrm>
            <a:off x="3270250" y="4016375"/>
            <a:ext cx="1073150" cy="1536700"/>
          </a:xfrm>
          <a:custGeom>
            <a:avLst/>
            <a:gdLst>
              <a:gd name="T0" fmla="*/ 2147483646 w 676"/>
              <a:gd name="T1" fmla="*/ 2147483646 h 968"/>
              <a:gd name="T2" fmla="*/ 2147483646 w 676"/>
              <a:gd name="T3" fmla="*/ 2147483646 h 968"/>
              <a:gd name="T4" fmla="*/ 2147483646 w 676"/>
              <a:gd name="T5" fmla="*/ 2147483646 h 968"/>
              <a:gd name="T6" fmla="*/ 2147483646 w 676"/>
              <a:gd name="T7" fmla="*/ 2147483646 h 968"/>
              <a:gd name="T8" fmla="*/ 2147483646 w 676"/>
              <a:gd name="T9" fmla="*/ 2147483646 h 968"/>
              <a:gd name="T10" fmla="*/ 2147483646 w 676"/>
              <a:gd name="T11" fmla="*/ 2147483646 h 968"/>
              <a:gd name="T12" fmla="*/ 2147483646 w 676"/>
              <a:gd name="T13" fmla="*/ 2147483646 h 9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76"/>
              <a:gd name="T22" fmla="*/ 0 h 968"/>
              <a:gd name="T23" fmla="*/ 676 w 676"/>
              <a:gd name="T24" fmla="*/ 968 h 9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76" h="968">
                <a:moveTo>
                  <a:pt x="370" y="7"/>
                </a:moveTo>
                <a:cubicBezTo>
                  <a:pt x="468" y="14"/>
                  <a:pt x="604" y="72"/>
                  <a:pt x="640" y="181"/>
                </a:cubicBezTo>
                <a:cubicBezTo>
                  <a:pt x="676" y="290"/>
                  <a:pt x="640" y="531"/>
                  <a:pt x="586" y="661"/>
                </a:cubicBezTo>
                <a:cubicBezTo>
                  <a:pt x="532" y="791"/>
                  <a:pt x="404" y="968"/>
                  <a:pt x="316" y="961"/>
                </a:cubicBezTo>
                <a:cubicBezTo>
                  <a:pt x="228" y="954"/>
                  <a:pt x="102" y="756"/>
                  <a:pt x="58" y="619"/>
                </a:cubicBezTo>
                <a:cubicBezTo>
                  <a:pt x="14" y="482"/>
                  <a:pt x="0" y="241"/>
                  <a:pt x="52" y="139"/>
                </a:cubicBezTo>
                <a:cubicBezTo>
                  <a:pt x="104" y="37"/>
                  <a:pt x="272" y="0"/>
                  <a:pt x="370" y="7"/>
                </a:cubicBezTo>
                <a:close/>
              </a:path>
            </a:pathLst>
          </a:cu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37" name="Oval 73">
            <a:extLst>
              <a:ext uri="{FF2B5EF4-FFF2-40B4-BE49-F238E27FC236}">
                <a16:creationId xmlns:a16="http://schemas.microsoft.com/office/drawing/2014/main" id="{ACA84C23-769F-8628-2385-114D448897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2988" y="5026026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5638" name="Oval 74">
            <a:extLst>
              <a:ext uri="{FF2B5EF4-FFF2-40B4-BE49-F238E27FC236}">
                <a16:creationId xmlns:a16="http://schemas.microsoft.com/office/drawing/2014/main" id="{1E69958B-8442-0103-073C-86F8A2130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09801" y="5026026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5639" name="Oval 75">
            <a:extLst>
              <a:ext uri="{FF2B5EF4-FFF2-40B4-BE49-F238E27FC236}">
                <a16:creationId xmlns:a16="http://schemas.microsoft.com/office/drawing/2014/main" id="{5277914C-A64D-F47F-3F0B-1A04411564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1" y="4219576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25640" name="Oval 76">
            <a:extLst>
              <a:ext uri="{FF2B5EF4-FFF2-40B4-BE49-F238E27FC236}">
                <a16:creationId xmlns:a16="http://schemas.microsoft.com/office/drawing/2014/main" id="{E3C9E0A2-3CE6-8D4E-0252-0C40D83853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19401" y="583406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</a:p>
        </p:txBody>
      </p:sp>
      <p:cxnSp>
        <p:nvCxnSpPr>
          <p:cNvPr id="25641" name="AutoShape 77">
            <a:extLst>
              <a:ext uri="{FF2B5EF4-FFF2-40B4-BE49-F238E27FC236}">
                <a16:creationId xmlns:a16="http://schemas.microsoft.com/office/drawing/2014/main" id="{0725BAB3-41EB-FB0B-6E3C-481392E86BB8}"/>
              </a:ext>
            </a:extLst>
          </p:cNvPr>
          <p:cNvCxnSpPr>
            <a:cxnSpLocks noChangeAspect="1" noChangeShapeType="1"/>
            <a:stCxn id="25639" idx="2"/>
            <a:endCxn id="25638" idx="0"/>
          </p:cNvCxnSpPr>
          <p:nvPr/>
        </p:nvCxnSpPr>
        <p:spPr bwMode="auto">
          <a:xfrm rot="10800000" flipV="1">
            <a:off x="2392363" y="4402139"/>
            <a:ext cx="1168400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2" name="AutoShape 78">
            <a:extLst>
              <a:ext uri="{FF2B5EF4-FFF2-40B4-BE49-F238E27FC236}">
                <a16:creationId xmlns:a16="http://schemas.microsoft.com/office/drawing/2014/main" id="{0A50281E-DA04-D1E8-CE65-ADD4DFD76901}"/>
              </a:ext>
            </a:extLst>
          </p:cNvPr>
          <p:cNvCxnSpPr>
            <a:cxnSpLocks noChangeAspect="1" noChangeShapeType="1"/>
            <a:stCxn id="25640" idx="2"/>
            <a:endCxn id="25638" idx="4"/>
          </p:cNvCxnSpPr>
          <p:nvPr/>
        </p:nvCxnSpPr>
        <p:spPr bwMode="auto">
          <a:xfrm rot="10800000">
            <a:off x="2392364" y="5400675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3" name="AutoShape 79">
            <a:extLst>
              <a:ext uri="{FF2B5EF4-FFF2-40B4-BE49-F238E27FC236}">
                <a16:creationId xmlns:a16="http://schemas.microsoft.com/office/drawing/2014/main" id="{5B4BB587-9B40-CED5-5A45-8F8A6425F453}"/>
              </a:ext>
            </a:extLst>
          </p:cNvPr>
          <p:cNvCxnSpPr>
            <a:cxnSpLocks noChangeAspect="1" noChangeShapeType="1"/>
            <a:stCxn id="25640" idx="6"/>
            <a:endCxn id="25637" idx="3"/>
          </p:cNvCxnSpPr>
          <p:nvPr/>
        </p:nvCxnSpPr>
        <p:spPr bwMode="auto">
          <a:xfrm flipV="1">
            <a:off x="3194051" y="5357813"/>
            <a:ext cx="441325" cy="6588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4" name="AutoShape 80">
            <a:extLst>
              <a:ext uri="{FF2B5EF4-FFF2-40B4-BE49-F238E27FC236}">
                <a16:creationId xmlns:a16="http://schemas.microsoft.com/office/drawing/2014/main" id="{B720F5A0-9949-8A1E-D871-B5D4A23B1145}"/>
              </a:ext>
            </a:extLst>
          </p:cNvPr>
          <p:cNvCxnSpPr>
            <a:cxnSpLocks noChangeAspect="1" noChangeShapeType="1"/>
            <a:stCxn id="25639" idx="4"/>
            <a:endCxn id="25637" idx="0"/>
          </p:cNvCxnSpPr>
          <p:nvPr/>
        </p:nvCxnSpPr>
        <p:spPr bwMode="auto">
          <a:xfrm>
            <a:off x="3763964" y="4603750"/>
            <a:ext cx="1587" cy="40163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5" name="AutoShape 81">
            <a:extLst>
              <a:ext uri="{FF2B5EF4-FFF2-40B4-BE49-F238E27FC236}">
                <a16:creationId xmlns:a16="http://schemas.microsoft.com/office/drawing/2014/main" id="{5DB3D33C-3519-2D19-21A2-40D8FC1860F3}"/>
              </a:ext>
            </a:extLst>
          </p:cNvPr>
          <p:cNvCxnSpPr>
            <a:cxnSpLocks noChangeAspect="1" noChangeShapeType="1"/>
            <a:stCxn id="25638" idx="6"/>
            <a:endCxn id="25637" idx="2"/>
          </p:cNvCxnSpPr>
          <p:nvPr/>
        </p:nvCxnSpPr>
        <p:spPr bwMode="auto">
          <a:xfrm>
            <a:off x="2584450" y="5208588"/>
            <a:ext cx="9779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46" name="Oval 82">
            <a:extLst>
              <a:ext uri="{FF2B5EF4-FFF2-40B4-BE49-F238E27FC236}">
                <a16:creationId xmlns:a16="http://schemas.microsoft.com/office/drawing/2014/main" id="{FE8A76E4-D98E-4143-2AF8-35A1C75E6E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45063" y="5026026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</a:t>
            </a:r>
          </a:p>
        </p:txBody>
      </p:sp>
      <p:cxnSp>
        <p:nvCxnSpPr>
          <p:cNvPr id="25647" name="AutoShape 83">
            <a:extLst>
              <a:ext uri="{FF2B5EF4-FFF2-40B4-BE49-F238E27FC236}">
                <a16:creationId xmlns:a16="http://schemas.microsoft.com/office/drawing/2014/main" id="{B165650C-38DB-4AD9-030A-BB331E4E5578}"/>
              </a:ext>
            </a:extLst>
          </p:cNvPr>
          <p:cNvCxnSpPr>
            <a:cxnSpLocks noChangeAspect="1" noChangeShapeType="1"/>
            <a:stCxn id="25650" idx="6"/>
            <a:endCxn id="25646" idx="4"/>
          </p:cNvCxnSpPr>
          <p:nvPr/>
        </p:nvCxnSpPr>
        <p:spPr bwMode="auto">
          <a:xfrm flipV="1">
            <a:off x="4708525" y="5400675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8" name="AutoShape 84">
            <a:extLst>
              <a:ext uri="{FF2B5EF4-FFF2-40B4-BE49-F238E27FC236}">
                <a16:creationId xmlns:a16="http://schemas.microsoft.com/office/drawing/2014/main" id="{B2629003-04FF-B969-4157-531CD8D91BC1}"/>
              </a:ext>
            </a:extLst>
          </p:cNvPr>
          <p:cNvCxnSpPr>
            <a:cxnSpLocks noChangeAspect="1" noChangeShapeType="1"/>
            <a:stCxn id="25646" idx="0"/>
            <a:endCxn id="25639" idx="6"/>
          </p:cNvCxnSpPr>
          <p:nvPr/>
        </p:nvCxnSpPr>
        <p:spPr bwMode="auto">
          <a:xfrm rot="5400000" flipH="1">
            <a:off x="4240213" y="4127501"/>
            <a:ext cx="612775" cy="11620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49" name="AutoShape 85">
            <a:extLst>
              <a:ext uri="{FF2B5EF4-FFF2-40B4-BE49-F238E27FC236}">
                <a16:creationId xmlns:a16="http://schemas.microsoft.com/office/drawing/2014/main" id="{BAB419A0-5E73-B189-2174-F6E16B424143}"/>
              </a:ext>
            </a:extLst>
          </p:cNvPr>
          <p:cNvCxnSpPr>
            <a:cxnSpLocks noChangeAspect="1" noChangeShapeType="1"/>
            <a:stCxn id="25637" idx="6"/>
            <a:endCxn id="25646" idx="2"/>
          </p:cNvCxnSpPr>
          <p:nvPr/>
        </p:nvCxnSpPr>
        <p:spPr bwMode="auto">
          <a:xfrm>
            <a:off x="3967164" y="5208588"/>
            <a:ext cx="966787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50" name="Oval 86">
            <a:extLst>
              <a:ext uri="{FF2B5EF4-FFF2-40B4-BE49-F238E27FC236}">
                <a16:creationId xmlns:a16="http://schemas.microsoft.com/office/drawing/2014/main" id="{0439CB20-71ED-8CED-CE3B-A7478224DE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3876" y="583406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5651" name="AutoShape 87">
            <a:extLst>
              <a:ext uri="{FF2B5EF4-FFF2-40B4-BE49-F238E27FC236}">
                <a16:creationId xmlns:a16="http://schemas.microsoft.com/office/drawing/2014/main" id="{0650ED7B-EC1B-33C5-0430-FA196D8BF0D5}"/>
              </a:ext>
            </a:extLst>
          </p:cNvPr>
          <p:cNvCxnSpPr>
            <a:cxnSpLocks noChangeAspect="1" noChangeShapeType="1"/>
            <a:stCxn id="25637" idx="5"/>
            <a:endCxn id="25650" idx="2"/>
          </p:cNvCxnSpPr>
          <p:nvPr/>
        </p:nvCxnSpPr>
        <p:spPr bwMode="auto">
          <a:xfrm rot="16200000" flipH="1">
            <a:off x="3779838" y="5473700"/>
            <a:ext cx="658812" cy="427038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52" name="Text Box 88">
            <a:extLst>
              <a:ext uri="{FF2B5EF4-FFF2-40B4-BE49-F238E27FC236}">
                <a16:creationId xmlns:a16="http://schemas.microsoft.com/office/drawing/2014/main" id="{D1DCA59C-A681-CA80-7D3E-FF4C19C6E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6350" y="39909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5653" name="Text Box 89">
            <a:extLst>
              <a:ext uri="{FF2B5EF4-FFF2-40B4-BE49-F238E27FC236}">
                <a16:creationId xmlns:a16="http://schemas.microsoft.com/office/drawing/2014/main" id="{77A4F6B2-E11E-F3B8-4B1C-08ABA216E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48180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5654" name="Text Box 90">
            <a:extLst>
              <a:ext uri="{FF2B5EF4-FFF2-40B4-BE49-F238E27FC236}">
                <a16:creationId xmlns:a16="http://schemas.microsoft.com/office/drawing/2014/main" id="{FF8E75BF-A1CF-BD8F-1FFF-6FF7075E2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100" y="48180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5655" name="Text Box 91">
            <a:extLst>
              <a:ext uri="{FF2B5EF4-FFF2-40B4-BE49-F238E27FC236}">
                <a16:creationId xmlns:a16="http://schemas.microsoft.com/office/drawing/2014/main" id="{AE70B94D-BA63-6110-4E43-40CA9D478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48180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5656" name="Text Box 92">
            <a:extLst>
              <a:ext uri="{FF2B5EF4-FFF2-40B4-BE49-F238E27FC236}">
                <a16:creationId xmlns:a16="http://schemas.microsoft.com/office/drawing/2014/main" id="{486EBDB7-A76E-924D-376C-1D4BA24D3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9550" y="55419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5657" name="Text Box 93">
            <a:extLst>
              <a:ext uri="{FF2B5EF4-FFF2-40B4-BE49-F238E27FC236}">
                <a16:creationId xmlns:a16="http://schemas.microsoft.com/office/drawing/2014/main" id="{B1BE3527-2353-D653-9EA2-EF1CC8459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5419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11</a:t>
            </a:r>
          </a:p>
        </p:txBody>
      </p:sp>
      <p:sp>
        <p:nvSpPr>
          <p:cNvPr id="25658" name="Text Box 94">
            <a:extLst>
              <a:ext uri="{FF2B5EF4-FFF2-40B4-BE49-F238E27FC236}">
                <a16:creationId xmlns:a16="http://schemas.microsoft.com/office/drawing/2014/main" id="{E0D3711C-BDD3-6E13-DA1F-6FB9E8DFF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550" y="42338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59" name="Text Box 95">
            <a:extLst>
              <a:ext uri="{FF2B5EF4-FFF2-40B4-BE49-F238E27FC236}">
                <a16:creationId xmlns:a16="http://schemas.microsoft.com/office/drawing/2014/main" id="{6CF20AEB-757B-C51A-C98D-52F73CBE4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2957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5660" name="Text Box 96">
            <a:extLst>
              <a:ext uri="{FF2B5EF4-FFF2-40B4-BE49-F238E27FC236}">
                <a16:creationId xmlns:a16="http://schemas.microsoft.com/office/drawing/2014/main" id="{54AFF320-8B78-4DF2-2CCE-BFD5A0039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9053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5661" name="Text Box 97">
            <a:extLst>
              <a:ext uri="{FF2B5EF4-FFF2-40B4-BE49-F238E27FC236}">
                <a16:creationId xmlns:a16="http://schemas.microsoft.com/office/drawing/2014/main" id="{02CA4C18-DE31-6ED8-B83E-B3C3BECBD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9053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5662" name="Text Box 98">
            <a:extLst>
              <a:ext uri="{FF2B5EF4-FFF2-40B4-BE49-F238E27FC236}">
                <a16:creationId xmlns:a16="http://schemas.microsoft.com/office/drawing/2014/main" id="{0E60A42F-F15F-2E15-F809-C0EE37A84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7054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63" name="Text Box 99">
            <a:extLst>
              <a:ext uri="{FF2B5EF4-FFF2-40B4-BE49-F238E27FC236}">
                <a16:creationId xmlns:a16="http://schemas.microsoft.com/office/drawing/2014/main" id="{861C52D0-478B-10A5-031D-1041E243C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7054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5664" name="Text Box 100">
            <a:extLst>
              <a:ext uri="{FF2B5EF4-FFF2-40B4-BE49-F238E27FC236}">
                <a16:creationId xmlns:a16="http://schemas.microsoft.com/office/drawing/2014/main" id="{3F705A0C-F64D-EB45-4494-E0D99C713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005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65" name="Text Box 101">
            <a:extLst>
              <a:ext uri="{FF2B5EF4-FFF2-40B4-BE49-F238E27FC236}">
                <a16:creationId xmlns:a16="http://schemas.microsoft.com/office/drawing/2014/main" id="{E2E1F37A-F6E2-6945-9D1B-F60D20636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4387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5666" name="Text Box 102">
            <a:extLst>
              <a:ext uri="{FF2B5EF4-FFF2-40B4-BE49-F238E27FC236}">
                <a16:creationId xmlns:a16="http://schemas.microsoft.com/office/drawing/2014/main" id="{5A7D38DB-21D9-5781-8B3D-0BDBC5848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43877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9</a:t>
            </a:r>
          </a:p>
        </p:txBody>
      </p:sp>
      <p:grpSp>
        <p:nvGrpSpPr>
          <p:cNvPr id="25667" name="Group 165">
            <a:extLst>
              <a:ext uri="{FF2B5EF4-FFF2-40B4-BE49-F238E27FC236}">
                <a16:creationId xmlns:a16="http://schemas.microsoft.com/office/drawing/2014/main" id="{480E5E00-9B65-EE8B-AD4E-9D32FEF771E6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1295401"/>
            <a:ext cx="3390900" cy="2227263"/>
            <a:chOff x="3396" y="901"/>
            <a:chExt cx="2136" cy="1403"/>
          </a:xfrm>
        </p:grpSpPr>
        <p:sp>
          <p:nvSpPr>
            <p:cNvPr id="25699" name="Freeform 103">
              <a:extLst>
                <a:ext uri="{FF2B5EF4-FFF2-40B4-BE49-F238E27FC236}">
                  <a16:creationId xmlns:a16="http://schemas.microsoft.com/office/drawing/2014/main" id="{75B72807-0183-A8C7-4586-93FA789FB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901"/>
              <a:ext cx="1479" cy="1042"/>
            </a:xfrm>
            <a:custGeom>
              <a:avLst/>
              <a:gdLst>
                <a:gd name="T0" fmla="*/ 447 w 1479"/>
                <a:gd name="T1" fmla="*/ 23 h 1042"/>
                <a:gd name="T2" fmla="*/ 1113 w 1479"/>
                <a:gd name="T3" fmla="*/ 149 h 1042"/>
                <a:gd name="T4" fmla="*/ 1413 w 1479"/>
                <a:gd name="T5" fmla="*/ 917 h 1042"/>
                <a:gd name="T6" fmla="*/ 717 w 1479"/>
                <a:gd name="T7" fmla="*/ 899 h 1042"/>
                <a:gd name="T8" fmla="*/ 249 w 1479"/>
                <a:gd name="T9" fmla="*/ 983 h 1042"/>
                <a:gd name="T10" fmla="*/ 69 w 1479"/>
                <a:gd name="T11" fmla="*/ 646 h 1042"/>
                <a:gd name="T12" fmla="*/ 63 w 1479"/>
                <a:gd name="T13" fmla="*/ 166 h 1042"/>
                <a:gd name="T14" fmla="*/ 447 w 1479"/>
                <a:gd name="T15" fmla="*/ 23 h 10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79"/>
                <a:gd name="T25" fmla="*/ 0 h 1042"/>
                <a:gd name="T26" fmla="*/ 1479 w 1479"/>
                <a:gd name="T27" fmla="*/ 1042 h 104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79" h="1042">
                  <a:moveTo>
                    <a:pt x="447" y="23"/>
                  </a:moveTo>
                  <a:cubicBezTo>
                    <a:pt x="622" y="20"/>
                    <a:pt x="952" y="0"/>
                    <a:pt x="1113" y="149"/>
                  </a:cubicBezTo>
                  <a:cubicBezTo>
                    <a:pt x="1274" y="298"/>
                    <a:pt x="1479" y="792"/>
                    <a:pt x="1413" y="917"/>
                  </a:cubicBezTo>
                  <a:cubicBezTo>
                    <a:pt x="1347" y="1042"/>
                    <a:pt x="911" y="888"/>
                    <a:pt x="717" y="899"/>
                  </a:cubicBezTo>
                  <a:cubicBezTo>
                    <a:pt x="523" y="910"/>
                    <a:pt x="357" y="1025"/>
                    <a:pt x="249" y="983"/>
                  </a:cubicBezTo>
                  <a:cubicBezTo>
                    <a:pt x="141" y="941"/>
                    <a:pt x="100" y="782"/>
                    <a:pt x="69" y="646"/>
                  </a:cubicBezTo>
                  <a:cubicBezTo>
                    <a:pt x="38" y="510"/>
                    <a:pt x="0" y="270"/>
                    <a:pt x="63" y="166"/>
                  </a:cubicBezTo>
                  <a:cubicBezTo>
                    <a:pt x="126" y="62"/>
                    <a:pt x="272" y="26"/>
                    <a:pt x="447" y="23"/>
                  </a:cubicBezTo>
                  <a:close/>
                </a:path>
              </a:pathLst>
            </a:custGeom>
            <a:solidFill>
              <a:srgbClr val="DDDDDD"/>
            </a:solidFill>
            <a:ln w="1270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00" name="Oval 104">
              <a:extLst>
                <a:ext uri="{FF2B5EF4-FFF2-40B4-BE49-F238E27FC236}">
                  <a16:creationId xmlns:a16="http://schemas.microsoft.com/office/drawing/2014/main" id="{F9B8C6EC-FD34-2639-9EFE-3F7890168D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61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25701" name="Oval 105">
              <a:extLst>
                <a:ext uri="{FF2B5EF4-FFF2-40B4-BE49-F238E27FC236}">
                  <a16:creationId xmlns:a16="http://schemas.microsoft.com/office/drawing/2014/main" id="{AF97121B-5B83-7717-4CBA-8AF451431D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6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25702" name="Oval 106">
              <a:extLst>
                <a:ext uri="{FF2B5EF4-FFF2-40B4-BE49-F238E27FC236}">
                  <a16:creationId xmlns:a16="http://schemas.microsoft.com/office/drawing/2014/main" id="{CFCCB351-52C4-BB08-6BD8-E986457839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60" y="1056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25703" name="Oval 107">
              <a:extLst>
                <a:ext uri="{FF2B5EF4-FFF2-40B4-BE49-F238E27FC236}">
                  <a16:creationId xmlns:a16="http://schemas.microsoft.com/office/drawing/2014/main" id="{DD26C321-767D-EE26-AA30-A30D56F5A0B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80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E</a:t>
              </a:r>
            </a:p>
          </p:txBody>
        </p:sp>
        <p:cxnSp>
          <p:nvCxnSpPr>
            <p:cNvPr id="25704" name="AutoShape 108">
              <a:extLst>
                <a:ext uri="{FF2B5EF4-FFF2-40B4-BE49-F238E27FC236}">
                  <a16:creationId xmlns:a16="http://schemas.microsoft.com/office/drawing/2014/main" id="{43DC0F93-63FE-9015-8072-A0F34CB19483}"/>
                </a:ext>
              </a:extLst>
            </p:cNvPr>
            <p:cNvCxnSpPr>
              <a:cxnSpLocks noChangeAspect="1" noChangeShapeType="1"/>
              <a:stCxn id="25702" idx="2"/>
              <a:endCxn id="25701" idx="0"/>
            </p:cNvCxnSpPr>
            <p:nvPr/>
          </p:nvCxnSpPr>
          <p:spPr bwMode="auto">
            <a:xfrm rot="10800000" flipV="1">
              <a:off x="3511" y="1171"/>
              <a:ext cx="736" cy="386"/>
            </a:xfrm>
            <a:prstGeom prst="curvedConnector2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05" name="AutoShape 109">
              <a:extLst>
                <a:ext uri="{FF2B5EF4-FFF2-40B4-BE49-F238E27FC236}">
                  <a16:creationId xmlns:a16="http://schemas.microsoft.com/office/drawing/2014/main" id="{6D8D982E-AF34-1AD0-B4A7-2C9FB22BA067}"/>
                </a:ext>
              </a:extLst>
            </p:cNvPr>
            <p:cNvCxnSpPr>
              <a:cxnSpLocks noChangeAspect="1" noChangeShapeType="1"/>
              <a:stCxn id="25703" idx="2"/>
              <a:endCxn id="25701" idx="4"/>
            </p:cNvCxnSpPr>
            <p:nvPr/>
          </p:nvCxnSpPr>
          <p:spPr bwMode="auto">
            <a:xfrm rot="10800000">
              <a:off x="3511" y="1800"/>
              <a:ext cx="262" cy="388"/>
            </a:xfrm>
            <a:prstGeom prst="curvedConnector2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06" name="AutoShape 110">
              <a:extLst>
                <a:ext uri="{FF2B5EF4-FFF2-40B4-BE49-F238E27FC236}">
                  <a16:creationId xmlns:a16="http://schemas.microsoft.com/office/drawing/2014/main" id="{5C9F6A20-85DB-5A1F-2EE9-29AA37775C99}"/>
                </a:ext>
              </a:extLst>
            </p:cNvPr>
            <p:cNvCxnSpPr>
              <a:cxnSpLocks noChangeAspect="1" noChangeShapeType="1"/>
              <a:stCxn id="25703" idx="6"/>
              <a:endCxn id="25700" idx="3"/>
            </p:cNvCxnSpPr>
            <p:nvPr/>
          </p:nvCxnSpPr>
          <p:spPr bwMode="auto">
            <a:xfrm flipV="1">
              <a:off x="4016" y="1773"/>
              <a:ext cx="278" cy="415"/>
            </a:xfrm>
            <a:prstGeom prst="curvedConnector2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07" name="AutoShape 111">
              <a:extLst>
                <a:ext uri="{FF2B5EF4-FFF2-40B4-BE49-F238E27FC236}">
                  <a16:creationId xmlns:a16="http://schemas.microsoft.com/office/drawing/2014/main" id="{C035DBE4-D434-693E-46A1-C407E81DBE2F}"/>
                </a:ext>
              </a:extLst>
            </p:cNvPr>
            <p:cNvCxnSpPr>
              <a:cxnSpLocks noChangeAspect="1" noChangeShapeType="1"/>
              <a:stCxn id="25702" idx="4"/>
              <a:endCxn id="25700" idx="0"/>
            </p:cNvCxnSpPr>
            <p:nvPr/>
          </p:nvCxnSpPr>
          <p:spPr bwMode="auto">
            <a:xfrm>
              <a:off x="4375" y="1298"/>
              <a:ext cx="1" cy="253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08" name="AutoShape 112">
              <a:extLst>
                <a:ext uri="{FF2B5EF4-FFF2-40B4-BE49-F238E27FC236}">
                  <a16:creationId xmlns:a16="http://schemas.microsoft.com/office/drawing/2014/main" id="{21E2F66B-4EC7-0E22-0B2A-832888F41AF6}"/>
                </a:ext>
              </a:extLst>
            </p:cNvPr>
            <p:cNvCxnSpPr>
              <a:cxnSpLocks noChangeAspect="1" noChangeShapeType="1"/>
              <a:stCxn id="25701" idx="6"/>
              <a:endCxn id="25700" idx="2"/>
            </p:cNvCxnSpPr>
            <p:nvPr/>
          </p:nvCxnSpPr>
          <p:spPr bwMode="auto">
            <a:xfrm>
              <a:off x="3632" y="1679"/>
              <a:ext cx="61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709" name="Oval 113">
              <a:extLst>
                <a:ext uri="{FF2B5EF4-FFF2-40B4-BE49-F238E27FC236}">
                  <a16:creationId xmlns:a16="http://schemas.microsoft.com/office/drawing/2014/main" id="{A6DD1A27-F164-1765-0228-C938C71D48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19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</a:rPr>
                <a:t>D</a:t>
              </a:r>
            </a:p>
          </p:txBody>
        </p:sp>
        <p:cxnSp>
          <p:nvCxnSpPr>
            <p:cNvPr id="25710" name="AutoShape 114">
              <a:extLst>
                <a:ext uri="{FF2B5EF4-FFF2-40B4-BE49-F238E27FC236}">
                  <a16:creationId xmlns:a16="http://schemas.microsoft.com/office/drawing/2014/main" id="{1A83DB3C-5814-720F-C527-D75FB8BCD188}"/>
                </a:ext>
              </a:extLst>
            </p:cNvPr>
            <p:cNvCxnSpPr>
              <a:cxnSpLocks noChangeAspect="1" noChangeShapeType="1"/>
              <a:stCxn id="25713" idx="6"/>
              <a:endCxn id="25709" idx="4"/>
            </p:cNvCxnSpPr>
            <p:nvPr/>
          </p:nvCxnSpPr>
          <p:spPr bwMode="auto">
            <a:xfrm flipV="1">
              <a:off x="4970" y="1806"/>
              <a:ext cx="264" cy="382"/>
            </a:xfrm>
            <a:prstGeom prst="curvedConnector2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11" name="AutoShape 115">
              <a:extLst>
                <a:ext uri="{FF2B5EF4-FFF2-40B4-BE49-F238E27FC236}">
                  <a16:creationId xmlns:a16="http://schemas.microsoft.com/office/drawing/2014/main" id="{380402AE-7600-BB8E-DA9E-C88109D3D690}"/>
                </a:ext>
              </a:extLst>
            </p:cNvPr>
            <p:cNvCxnSpPr>
              <a:cxnSpLocks noChangeAspect="1" noChangeShapeType="1"/>
              <a:stCxn id="25709" idx="0"/>
              <a:endCxn id="25702" idx="6"/>
            </p:cNvCxnSpPr>
            <p:nvPr/>
          </p:nvCxnSpPr>
          <p:spPr bwMode="auto">
            <a:xfrm rot="5400000" flipH="1">
              <a:off x="4678" y="995"/>
              <a:ext cx="380" cy="732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12" name="AutoShape 116">
              <a:extLst>
                <a:ext uri="{FF2B5EF4-FFF2-40B4-BE49-F238E27FC236}">
                  <a16:creationId xmlns:a16="http://schemas.microsoft.com/office/drawing/2014/main" id="{E7087080-AC7B-0012-2D29-39CB586752DA}"/>
                </a:ext>
              </a:extLst>
            </p:cNvPr>
            <p:cNvCxnSpPr>
              <a:cxnSpLocks noChangeAspect="1" noChangeShapeType="1"/>
              <a:stCxn id="25700" idx="6"/>
              <a:endCxn id="25709" idx="2"/>
            </p:cNvCxnSpPr>
            <p:nvPr/>
          </p:nvCxnSpPr>
          <p:spPr bwMode="auto">
            <a:xfrm>
              <a:off x="4503" y="1679"/>
              <a:ext cx="603" cy="0"/>
            </a:xfrm>
            <a:prstGeom prst="straightConnector1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713" name="Oval 117">
              <a:extLst>
                <a:ext uri="{FF2B5EF4-FFF2-40B4-BE49-F238E27FC236}">
                  <a16:creationId xmlns:a16="http://schemas.microsoft.com/office/drawing/2014/main" id="{F278A05E-20F3-4078-D297-E82EA312FC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34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F</a:t>
              </a:r>
            </a:p>
          </p:txBody>
        </p:sp>
        <p:cxnSp>
          <p:nvCxnSpPr>
            <p:cNvPr id="25714" name="AutoShape 118">
              <a:extLst>
                <a:ext uri="{FF2B5EF4-FFF2-40B4-BE49-F238E27FC236}">
                  <a16:creationId xmlns:a16="http://schemas.microsoft.com/office/drawing/2014/main" id="{13C85D43-DD65-F750-4E16-EBBC3A1B1700}"/>
                </a:ext>
              </a:extLst>
            </p:cNvPr>
            <p:cNvCxnSpPr>
              <a:cxnSpLocks noChangeAspect="1" noChangeShapeType="1"/>
              <a:stCxn id="25700" idx="5"/>
              <a:endCxn id="25713" idx="2"/>
            </p:cNvCxnSpPr>
            <p:nvPr/>
          </p:nvCxnSpPr>
          <p:spPr bwMode="auto">
            <a:xfrm rot="16200000" flipH="1">
              <a:off x="4385" y="1846"/>
              <a:ext cx="415" cy="269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715" name="Text Box 119">
              <a:extLst>
                <a:ext uri="{FF2B5EF4-FFF2-40B4-BE49-F238E27FC236}">
                  <a16:creationId xmlns:a16="http://schemas.microsoft.com/office/drawing/2014/main" id="{AC175A12-71A4-795A-FF0E-A7224717D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8" y="91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5716" name="Text Box 120">
              <a:extLst>
                <a:ext uri="{FF2B5EF4-FFF2-40B4-BE49-F238E27FC236}">
                  <a16:creationId xmlns:a16="http://schemas.microsoft.com/office/drawing/2014/main" id="{527148EB-9762-0522-6F9B-A3E463676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4" y="143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25717" name="Text Box 121">
              <a:extLst>
                <a:ext uri="{FF2B5EF4-FFF2-40B4-BE49-F238E27FC236}">
                  <a16:creationId xmlns:a16="http://schemas.microsoft.com/office/drawing/2014/main" id="{199ECDF2-3BFC-F1EE-9710-720472900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" y="143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5718" name="Text Box 122">
              <a:extLst>
                <a:ext uri="{FF2B5EF4-FFF2-40B4-BE49-F238E27FC236}">
                  <a16:creationId xmlns:a16="http://schemas.microsoft.com/office/drawing/2014/main" id="{D42FF895-E710-31B9-4B39-E34C38AAD2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4" y="143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8</a:t>
              </a:r>
            </a:p>
          </p:txBody>
        </p:sp>
        <p:sp>
          <p:nvSpPr>
            <p:cNvPr id="25719" name="Text Box 123">
              <a:extLst>
                <a:ext uri="{FF2B5EF4-FFF2-40B4-BE49-F238E27FC236}">
                  <a16:creationId xmlns:a16="http://schemas.microsoft.com/office/drawing/2014/main" id="{F2651040-5C73-32A0-F99E-367CCAE2F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6" y="188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25720" name="Text Box 124">
              <a:extLst>
                <a:ext uri="{FF2B5EF4-FFF2-40B4-BE49-F238E27FC236}">
                  <a16:creationId xmlns:a16="http://schemas.microsoft.com/office/drawing/2014/main" id="{513681DC-7288-3A77-5D12-7AC677FA5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88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8</a:t>
              </a:r>
            </a:p>
          </p:txBody>
        </p:sp>
        <p:sp>
          <p:nvSpPr>
            <p:cNvPr id="25721" name="Text Box 125">
              <a:extLst>
                <a:ext uri="{FF2B5EF4-FFF2-40B4-BE49-F238E27FC236}">
                  <a16:creationId xmlns:a16="http://schemas.microsoft.com/office/drawing/2014/main" id="{CED343F9-E033-2110-8045-D6CDE8FBF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6" y="106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5722" name="Text Box 126">
              <a:extLst>
                <a:ext uri="{FF2B5EF4-FFF2-40B4-BE49-F238E27FC236}">
                  <a16:creationId xmlns:a16="http://schemas.microsoft.com/office/drawing/2014/main" id="{0D4DADF8-8221-C22B-EA33-EBA2547C9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110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5723" name="Text Box 127">
              <a:extLst>
                <a:ext uri="{FF2B5EF4-FFF2-40B4-BE49-F238E27FC236}">
                  <a16:creationId xmlns:a16="http://schemas.microsoft.com/office/drawing/2014/main" id="{CBD8DF55-0F37-BFF6-C632-5FB5D24737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8" y="148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5724" name="Text Box 128">
              <a:extLst>
                <a:ext uri="{FF2B5EF4-FFF2-40B4-BE49-F238E27FC236}">
                  <a16:creationId xmlns:a16="http://schemas.microsoft.com/office/drawing/2014/main" id="{DCF476E0-EEA1-41F9-7850-F70055156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1488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725" name="Text Box 129">
              <a:extLst>
                <a:ext uri="{FF2B5EF4-FFF2-40B4-BE49-F238E27FC236}">
                  <a16:creationId xmlns:a16="http://schemas.microsoft.com/office/drawing/2014/main" id="{95EA2D72-F237-D9BE-6A9B-3097647B5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" y="199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726" name="Text Box 130">
              <a:extLst>
                <a:ext uri="{FF2B5EF4-FFF2-40B4-BE49-F238E27FC236}">
                  <a16:creationId xmlns:a16="http://schemas.microsoft.com/office/drawing/2014/main" id="{45DD2341-9FDE-9EA9-06DC-1AA2A5F5D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4" y="199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5727" name="Text Box 131">
              <a:extLst>
                <a:ext uri="{FF2B5EF4-FFF2-40B4-BE49-F238E27FC236}">
                  <a16:creationId xmlns:a16="http://schemas.microsoft.com/office/drawing/2014/main" id="{FB63DC32-D7FA-8648-2203-18AE7CFBA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1296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728" name="Text Box 132">
              <a:extLst>
                <a:ext uri="{FF2B5EF4-FFF2-40B4-BE49-F238E27FC236}">
                  <a16:creationId xmlns:a16="http://schemas.microsoft.com/office/drawing/2014/main" id="{5BB677D1-6A20-A3BC-3F9A-6873A488E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" y="182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5729" name="Text Box 133">
              <a:extLst>
                <a:ext uri="{FF2B5EF4-FFF2-40B4-BE49-F238E27FC236}">
                  <a16:creationId xmlns:a16="http://schemas.microsoft.com/office/drawing/2014/main" id="{96C760B5-37E4-6A02-E807-76E6F67F8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6" y="182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9</a:t>
              </a:r>
            </a:p>
          </p:txBody>
        </p:sp>
      </p:grpSp>
      <p:sp>
        <p:nvSpPr>
          <p:cNvPr id="25668" name="Freeform 134">
            <a:extLst>
              <a:ext uri="{FF2B5EF4-FFF2-40B4-BE49-F238E27FC236}">
                <a16:creationId xmlns:a16="http://schemas.microsoft.com/office/drawing/2014/main" id="{8253332C-8A54-2D70-F79E-A648AF70B80C}"/>
              </a:ext>
            </a:extLst>
          </p:cNvPr>
          <p:cNvSpPr>
            <a:spLocks/>
          </p:cNvSpPr>
          <p:nvPr/>
        </p:nvSpPr>
        <p:spPr bwMode="auto">
          <a:xfrm>
            <a:off x="7070725" y="3979864"/>
            <a:ext cx="3105150" cy="2390775"/>
          </a:xfrm>
          <a:custGeom>
            <a:avLst/>
            <a:gdLst>
              <a:gd name="T0" fmla="*/ 2147483646 w 1956"/>
              <a:gd name="T1" fmla="*/ 2147483646 h 1506"/>
              <a:gd name="T2" fmla="*/ 2147483646 w 1956"/>
              <a:gd name="T3" fmla="*/ 2147483646 h 1506"/>
              <a:gd name="T4" fmla="*/ 2147483646 w 1956"/>
              <a:gd name="T5" fmla="*/ 2147483646 h 1506"/>
              <a:gd name="T6" fmla="*/ 2147483646 w 1956"/>
              <a:gd name="T7" fmla="*/ 2147483646 h 1506"/>
              <a:gd name="T8" fmla="*/ 2147483646 w 1956"/>
              <a:gd name="T9" fmla="*/ 2147483646 h 1506"/>
              <a:gd name="T10" fmla="*/ 2147483646 w 1956"/>
              <a:gd name="T11" fmla="*/ 2147483646 h 1506"/>
              <a:gd name="T12" fmla="*/ 2147483646 w 1956"/>
              <a:gd name="T13" fmla="*/ 2147483646 h 1506"/>
              <a:gd name="T14" fmla="*/ 2147483646 w 1956"/>
              <a:gd name="T15" fmla="*/ 2147483646 h 1506"/>
              <a:gd name="T16" fmla="*/ 2147483646 w 1956"/>
              <a:gd name="T17" fmla="*/ 2147483646 h 1506"/>
              <a:gd name="T18" fmla="*/ 2147483646 w 1956"/>
              <a:gd name="T19" fmla="*/ 2147483646 h 1506"/>
              <a:gd name="T20" fmla="*/ 2147483646 w 1956"/>
              <a:gd name="T21" fmla="*/ 2147483646 h 150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956"/>
              <a:gd name="T34" fmla="*/ 0 h 1506"/>
              <a:gd name="T35" fmla="*/ 1956 w 1956"/>
              <a:gd name="T36" fmla="*/ 1506 h 150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956" h="1506">
                <a:moveTo>
                  <a:pt x="886" y="23"/>
                </a:moveTo>
                <a:cubicBezTo>
                  <a:pt x="1061" y="20"/>
                  <a:pt x="1391" y="0"/>
                  <a:pt x="1552" y="149"/>
                </a:cubicBezTo>
                <a:cubicBezTo>
                  <a:pt x="1713" y="298"/>
                  <a:pt x="1956" y="787"/>
                  <a:pt x="1852" y="917"/>
                </a:cubicBezTo>
                <a:cubicBezTo>
                  <a:pt x="1748" y="1047"/>
                  <a:pt x="1146" y="847"/>
                  <a:pt x="928" y="930"/>
                </a:cubicBezTo>
                <a:cubicBezTo>
                  <a:pt x="710" y="1013"/>
                  <a:pt x="680" y="1330"/>
                  <a:pt x="544" y="1416"/>
                </a:cubicBezTo>
                <a:cubicBezTo>
                  <a:pt x="408" y="1502"/>
                  <a:pt x="197" y="1506"/>
                  <a:pt x="112" y="1446"/>
                </a:cubicBezTo>
                <a:cubicBezTo>
                  <a:pt x="27" y="1386"/>
                  <a:pt x="0" y="1150"/>
                  <a:pt x="34" y="1056"/>
                </a:cubicBezTo>
                <a:cubicBezTo>
                  <a:pt x="68" y="962"/>
                  <a:pt x="237" y="950"/>
                  <a:pt x="316" y="882"/>
                </a:cubicBezTo>
                <a:cubicBezTo>
                  <a:pt x="395" y="814"/>
                  <a:pt x="477" y="765"/>
                  <a:pt x="508" y="646"/>
                </a:cubicBezTo>
                <a:cubicBezTo>
                  <a:pt x="539" y="527"/>
                  <a:pt x="439" y="270"/>
                  <a:pt x="502" y="166"/>
                </a:cubicBezTo>
                <a:cubicBezTo>
                  <a:pt x="565" y="62"/>
                  <a:pt x="711" y="26"/>
                  <a:pt x="886" y="23"/>
                </a:cubicBezTo>
                <a:close/>
              </a:path>
            </a:pathLst>
          </a:cu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69" name="Oval 135">
            <a:extLst>
              <a:ext uri="{FF2B5EF4-FFF2-40B4-BE49-F238E27FC236}">
                <a16:creationId xmlns:a16="http://schemas.microsoft.com/office/drawing/2014/main" id="{82AA760F-303F-2B5E-45E4-5744071980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97838" y="5032376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5670" name="Oval 136">
            <a:extLst>
              <a:ext uri="{FF2B5EF4-FFF2-40B4-BE49-F238E27FC236}">
                <a16:creationId xmlns:a16="http://schemas.microsoft.com/office/drawing/2014/main" id="{E65E7D1D-76A1-987C-1526-DD48A4B291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4651" y="5032376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</a:t>
            </a:r>
          </a:p>
        </p:txBody>
      </p:sp>
      <p:sp>
        <p:nvSpPr>
          <p:cNvPr id="25671" name="Oval 137">
            <a:extLst>
              <a:ext uri="{FF2B5EF4-FFF2-40B4-BE49-F238E27FC236}">
                <a16:creationId xmlns:a16="http://schemas.microsoft.com/office/drawing/2014/main" id="{1589D369-2DB6-D5BB-8291-7DF9108595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96251" y="4225926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25672" name="Oval 138">
            <a:extLst>
              <a:ext uri="{FF2B5EF4-FFF2-40B4-BE49-F238E27FC236}">
                <a16:creationId xmlns:a16="http://schemas.microsoft.com/office/drawing/2014/main" id="{F3815FCF-B4F9-6BD9-0E16-A6C33B7E48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34251" y="5840413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25673" name="AutoShape 139">
            <a:extLst>
              <a:ext uri="{FF2B5EF4-FFF2-40B4-BE49-F238E27FC236}">
                <a16:creationId xmlns:a16="http://schemas.microsoft.com/office/drawing/2014/main" id="{A8CB3CCB-2D75-8D34-47AD-B1099F7859B8}"/>
              </a:ext>
            </a:extLst>
          </p:cNvPr>
          <p:cNvCxnSpPr>
            <a:cxnSpLocks noChangeAspect="1" noChangeShapeType="1"/>
            <a:stCxn id="25671" idx="2"/>
            <a:endCxn id="25670" idx="0"/>
          </p:cNvCxnSpPr>
          <p:nvPr/>
        </p:nvCxnSpPr>
        <p:spPr bwMode="auto">
          <a:xfrm rot="10800000" flipV="1">
            <a:off x="6907213" y="4408489"/>
            <a:ext cx="1168400" cy="612775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4" name="AutoShape 140">
            <a:extLst>
              <a:ext uri="{FF2B5EF4-FFF2-40B4-BE49-F238E27FC236}">
                <a16:creationId xmlns:a16="http://schemas.microsoft.com/office/drawing/2014/main" id="{40E539D1-831E-85A9-5E0F-80ED71250F08}"/>
              </a:ext>
            </a:extLst>
          </p:cNvPr>
          <p:cNvCxnSpPr>
            <a:cxnSpLocks noChangeAspect="1" noChangeShapeType="1"/>
            <a:stCxn id="25672" idx="2"/>
            <a:endCxn id="25670" idx="4"/>
          </p:cNvCxnSpPr>
          <p:nvPr/>
        </p:nvCxnSpPr>
        <p:spPr bwMode="auto">
          <a:xfrm rot="10800000">
            <a:off x="6907213" y="5407025"/>
            <a:ext cx="406400" cy="6159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5" name="AutoShape 141">
            <a:extLst>
              <a:ext uri="{FF2B5EF4-FFF2-40B4-BE49-F238E27FC236}">
                <a16:creationId xmlns:a16="http://schemas.microsoft.com/office/drawing/2014/main" id="{54AD53F5-F241-6F3B-B5D4-D6423B0E1974}"/>
              </a:ext>
            </a:extLst>
          </p:cNvPr>
          <p:cNvCxnSpPr>
            <a:cxnSpLocks noChangeAspect="1" noChangeShapeType="1"/>
            <a:stCxn id="25672" idx="6"/>
            <a:endCxn id="25669" idx="3"/>
          </p:cNvCxnSpPr>
          <p:nvPr/>
        </p:nvCxnSpPr>
        <p:spPr bwMode="auto">
          <a:xfrm flipV="1">
            <a:off x="7718425" y="5364163"/>
            <a:ext cx="431800" cy="6588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6" name="AutoShape 142">
            <a:extLst>
              <a:ext uri="{FF2B5EF4-FFF2-40B4-BE49-F238E27FC236}">
                <a16:creationId xmlns:a16="http://schemas.microsoft.com/office/drawing/2014/main" id="{A892F108-5C9B-ED9D-9BA0-7DCD4AF78E56}"/>
              </a:ext>
            </a:extLst>
          </p:cNvPr>
          <p:cNvCxnSpPr>
            <a:cxnSpLocks noChangeAspect="1" noChangeShapeType="1"/>
            <a:stCxn id="25671" idx="4"/>
            <a:endCxn id="25669" idx="0"/>
          </p:cNvCxnSpPr>
          <p:nvPr/>
        </p:nvCxnSpPr>
        <p:spPr bwMode="auto">
          <a:xfrm>
            <a:off x="8278814" y="4610100"/>
            <a:ext cx="1587" cy="40163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77" name="AutoShape 143">
            <a:extLst>
              <a:ext uri="{FF2B5EF4-FFF2-40B4-BE49-F238E27FC236}">
                <a16:creationId xmlns:a16="http://schemas.microsoft.com/office/drawing/2014/main" id="{0FCFD83D-2903-2029-0AFD-18C4B10BB996}"/>
              </a:ext>
            </a:extLst>
          </p:cNvPr>
          <p:cNvCxnSpPr>
            <a:cxnSpLocks noChangeAspect="1" noChangeShapeType="1"/>
            <a:stCxn id="25670" idx="6"/>
            <a:endCxn id="25669" idx="2"/>
          </p:cNvCxnSpPr>
          <p:nvPr/>
        </p:nvCxnSpPr>
        <p:spPr bwMode="auto">
          <a:xfrm>
            <a:off x="7099300" y="5214938"/>
            <a:ext cx="9779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78" name="Oval 144">
            <a:extLst>
              <a:ext uri="{FF2B5EF4-FFF2-40B4-BE49-F238E27FC236}">
                <a16:creationId xmlns:a16="http://schemas.microsoft.com/office/drawing/2014/main" id="{F27D9AC8-75C3-329F-DC25-77C9E62C85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59913" y="5032376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25679" name="AutoShape 145">
            <a:extLst>
              <a:ext uri="{FF2B5EF4-FFF2-40B4-BE49-F238E27FC236}">
                <a16:creationId xmlns:a16="http://schemas.microsoft.com/office/drawing/2014/main" id="{794C6AE8-F547-DB6B-2492-1C13022E70CA}"/>
              </a:ext>
            </a:extLst>
          </p:cNvPr>
          <p:cNvCxnSpPr>
            <a:cxnSpLocks noChangeAspect="1" noChangeShapeType="1"/>
            <a:stCxn id="25682" idx="6"/>
            <a:endCxn id="25678" idx="4"/>
          </p:cNvCxnSpPr>
          <p:nvPr/>
        </p:nvCxnSpPr>
        <p:spPr bwMode="auto">
          <a:xfrm flipV="1">
            <a:off x="9223375" y="5416551"/>
            <a:ext cx="4191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80" name="AutoShape 146">
            <a:extLst>
              <a:ext uri="{FF2B5EF4-FFF2-40B4-BE49-F238E27FC236}">
                <a16:creationId xmlns:a16="http://schemas.microsoft.com/office/drawing/2014/main" id="{F9E3A9EC-D05B-724A-8171-13107235CC5C}"/>
              </a:ext>
            </a:extLst>
          </p:cNvPr>
          <p:cNvCxnSpPr>
            <a:cxnSpLocks noChangeAspect="1" noChangeShapeType="1"/>
            <a:stCxn id="25678" idx="0"/>
            <a:endCxn id="25671" idx="6"/>
          </p:cNvCxnSpPr>
          <p:nvPr/>
        </p:nvCxnSpPr>
        <p:spPr bwMode="auto">
          <a:xfrm rot="5400000" flipH="1">
            <a:off x="8759825" y="4129088"/>
            <a:ext cx="603250" cy="11620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81" name="AutoShape 147">
            <a:extLst>
              <a:ext uri="{FF2B5EF4-FFF2-40B4-BE49-F238E27FC236}">
                <a16:creationId xmlns:a16="http://schemas.microsoft.com/office/drawing/2014/main" id="{98999520-6DB8-48B8-03DD-4CFBDE67992E}"/>
              </a:ext>
            </a:extLst>
          </p:cNvPr>
          <p:cNvCxnSpPr>
            <a:cxnSpLocks noChangeAspect="1" noChangeShapeType="1"/>
            <a:stCxn id="25669" idx="6"/>
            <a:endCxn id="25678" idx="2"/>
          </p:cNvCxnSpPr>
          <p:nvPr/>
        </p:nvCxnSpPr>
        <p:spPr bwMode="auto">
          <a:xfrm>
            <a:off x="8482013" y="5214938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82" name="Oval 148">
            <a:extLst>
              <a:ext uri="{FF2B5EF4-FFF2-40B4-BE49-F238E27FC236}">
                <a16:creationId xmlns:a16="http://schemas.microsoft.com/office/drawing/2014/main" id="{61283A6F-9E6F-D218-B64C-8AECE1EBB0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48726" y="5840413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5683" name="AutoShape 149">
            <a:extLst>
              <a:ext uri="{FF2B5EF4-FFF2-40B4-BE49-F238E27FC236}">
                <a16:creationId xmlns:a16="http://schemas.microsoft.com/office/drawing/2014/main" id="{5FD9276A-A921-1E70-7E36-08C23283D3C8}"/>
              </a:ext>
            </a:extLst>
          </p:cNvPr>
          <p:cNvCxnSpPr>
            <a:cxnSpLocks noChangeAspect="1" noChangeShapeType="1"/>
            <a:stCxn id="25669" idx="5"/>
            <a:endCxn id="25682" idx="2"/>
          </p:cNvCxnSpPr>
          <p:nvPr/>
        </p:nvCxnSpPr>
        <p:spPr bwMode="auto">
          <a:xfrm rot="16200000" flipH="1">
            <a:off x="8294688" y="5480050"/>
            <a:ext cx="658812" cy="427038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84" name="Text Box 150">
            <a:extLst>
              <a:ext uri="{FF2B5EF4-FFF2-40B4-BE49-F238E27FC236}">
                <a16:creationId xmlns:a16="http://schemas.microsoft.com/office/drawing/2014/main" id="{A0F78C4D-ABB8-51AF-8604-1431C5E40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39973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5685" name="Text Box 151">
            <a:extLst>
              <a:ext uri="{FF2B5EF4-FFF2-40B4-BE49-F238E27FC236}">
                <a16:creationId xmlns:a16="http://schemas.microsoft.com/office/drawing/2014/main" id="{19241156-6E31-882E-90E4-743E5D808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1850" y="4824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5686" name="Text Box 152">
            <a:extLst>
              <a:ext uri="{FF2B5EF4-FFF2-40B4-BE49-F238E27FC236}">
                <a16:creationId xmlns:a16="http://schemas.microsoft.com/office/drawing/2014/main" id="{6541E865-2306-73E9-CD44-CF43A04CB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950" y="4824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5687" name="Text Box 153">
            <a:extLst>
              <a:ext uri="{FF2B5EF4-FFF2-40B4-BE49-F238E27FC236}">
                <a16:creationId xmlns:a16="http://schemas.microsoft.com/office/drawing/2014/main" id="{5B261E29-1B68-27F2-C136-CDDBC7095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350" y="4824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25688" name="Text Box 154">
            <a:extLst>
              <a:ext uri="{FF2B5EF4-FFF2-40B4-BE49-F238E27FC236}">
                <a16:creationId xmlns:a16="http://schemas.microsoft.com/office/drawing/2014/main" id="{3F965998-933E-1F65-6235-062EFA8E2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4400" y="5548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5689" name="Text Box 155">
            <a:extLst>
              <a:ext uri="{FF2B5EF4-FFF2-40B4-BE49-F238E27FC236}">
                <a16:creationId xmlns:a16="http://schemas.microsoft.com/office/drawing/2014/main" id="{B71A0243-75C4-11EB-EF82-62414E311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9700" y="5548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5690" name="Text Box 156">
            <a:extLst>
              <a:ext uri="{FF2B5EF4-FFF2-40B4-BE49-F238E27FC236}">
                <a16:creationId xmlns:a16="http://schemas.microsoft.com/office/drawing/2014/main" id="{3D140B58-A5C8-DA76-93BD-4CBA14C72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9400" y="42402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91" name="Text Box 157">
            <a:extLst>
              <a:ext uri="{FF2B5EF4-FFF2-40B4-BE49-F238E27FC236}">
                <a16:creationId xmlns:a16="http://schemas.microsoft.com/office/drawing/2014/main" id="{4983C891-2BA0-D0E0-7A4A-C036B9643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43021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5692" name="Text Box 158">
            <a:extLst>
              <a:ext uri="{FF2B5EF4-FFF2-40B4-BE49-F238E27FC236}">
                <a16:creationId xmlns:a16="http://schemas.microsoft.com/office/drawing/2014/main" id="{8560FA66-5083-2F9C-2DDD-148EE49F7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0450" y="49117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5693" name="Text Box 159">
            <a:extLst>
              <a:ext uri="{FF2B5EF4-FFF2-40B4-BE49-F238E27FC236}">
                <a16:creationId xmlns:a16="http://schemas.microsoft.com/office/drawing/2014/main" id="{99BAD524-7E51-51F7-2AD3-8EE2A5DDF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0" y="49117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5694" name="Text Box 160">
            <a:extLst>
              <a:ext uri="{FF2B5EF4-FFF2-40B4-BE49-F238E27FC236}">
                <a16:creationId xmlns:a16="http://schemas.microsoft.com/office/drawing/2014/main" id="{FDE724F3-8E4C-02A8-A51C-AC4186EA7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57118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95" name="Text Box 161">
            <a:extLst>
              <a:ext uri="{FF2B5EF4-FFF2-40B4-BE49-F238E27FC236}">
                <a16:creationId xmlns:a16="http://schemas.microsoft.com/office/drawing/2014/main" id="{1A704CF3-9452-21B8-8F80-6035889F2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850" y="57118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5696" name="Text Box 162">
            <a:extLst>
              <a:ext uri="{FF2B5EF4-FFF2-40B4-BE49-F238E27FC236}">
                <a16:creationId xmlns:a16="http://schemas.microsoft.com/office/drawing/2014/main" id="{C6D01630-36E6-BB8A-A457-6D8A3BBCD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850" y="46069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97" name="Text Box 163">
            <a:extLst>
              <a:ext uri="{FF2B5EF4-FFF2-40B4-BE49-F238E27FC236}">
                <a16:creationId xmlns:a16="http://schemas.microsoft.com/office/drawing/2014/main" id="{A71D89A1-B8E7-4FF8-24B6-A6867480E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450" y="54451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5698" name="Text Box 164">
            <a:extLst>
              <a:ext uri="{FF2B5EF4-FFF2-40B4-BE49-F238E27FC236}">
                <a16:creationId xmlns:a16="http://schemas.microsoft.com/office/drawing/2014/main" id="{1C876AE7-7EC3-81E8-EEF7-E08D18D08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9150" y="5445126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050">
            <a:extLst>
              <a:ext uri="{FF2B5EF4-FFF2-40B4-BE49-F238E27FC236}">
                <a16:creationId xmlns:a16="http://schemas.microsoft.com/office/drawing/2014/main" id="{FE8CD089-D27F-B299-32BC-34A27DA12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(cont.)</a:t>
            </a:r>
          </a:p>
        </p:txBody>
      </p:sp>
      <p:sp>
        <p:nvSpPr>
          <p:cNvPr id="26626" name="Freeform 2051">
            <a:extLst>
              <a:ext uri="{FF2B5EF4-FFF2-40B4-BE49-F238E27FC236}">
                <a16:creationId xmlns:a16="http://schemas.microsoft.com/office/drawing/2014/main" id="{47843E76-04A1-7AB8-14A9-78F2F211E1A2}"/>
              </a:ext>
            </a:extLst>
          </p:cNvPr>
          <p:cNvSpPr>
            <a:spLocks/>
          </p:cNvSpPr>
          <p:nvPr/>
        </p:nvSpPr>
        <p:spPr bwMode="auto">
          <a:xfrm>
            <a:off x="2192339" y="1695450"/>
            <a:ext cx="3711575" cy="2387600"/>
          </a:xfrm>
          <a:custGeom>
            <a:avLst/>
            <a:gdLst>
              <a:gd name="T0" fmla="*/ 2147483646 w 2338"/>
              <a:gd name="T1" fmla="*/ 0 h 1504"/>
              <a:gd name="T2" fmla="*/ 2147483646 w 2338"/>
              <a:gd name="T3" fmla="*/ 2147483646 h 1504"/>
              <a:gd name="T4" fmla="*/ 2147483646 w 2338"/>
              <a:gd name="T5" fmla="*/ 2147483646 h 1504"/>
              <a:gd name="T6" fmla="*/ 2147483646 w 2338"/>
              <a:gd name="T7" fmla="*/ 2147483646 h 1504"/>
              <a:gd name="T8" fmla="*/ 2147483646 w 2338"/>
              <a:gd name="T9" fmla="*/ 2147483646 h 1504"/>
              <a:gd name="T10" fmla="*/ 2147483646 w 2338"/>
              <a:gd name="T11" fmla="*/ 2147483646 h 1504"/>
              <a:gd name="T12" fmla="*/ 2147483646 w 2338"/>
              <a:gd name="T13" fmla="*/ 2147483646 h 1504"/>
              <a:gd name="T14" fmla="*/ 2147483646 w 2338"/>
              <a:gd name="T15" fmla="*/ 2147483646 h 1504"/>
              <a:gd name="T16" fmla="*/ 2147483646 w 2338"/>
              <a:gd name="T17" fmla="*/ 2147483646 h 1504"/>
              <a:gd name="T18" fmla="*/ 2147483646 w 2338"/>
              <a:gd name="T19" fmla="*/ 2147483646 h 1504"/>
              <a:gd name="T20" fmla="*/ 2147483646 w 2338"/>
              <a:gd name="T21" fmla="*/ 0 h 150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38"/>
              <a:gd name="T34" fmla="*/ 0 h 1504"/>
              <a:gd name="T35" fmla="*/ 2338 w 2338"/>
              <a:gd name="T36" fmla="*/ 1504 h 150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38" h="1504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7" name="Oval 2052">
            <a:extLst>
              <a:ext uri="{FF2B5EF4-FFF2-40B4-BE49-F238E27FC236}">
                <a16:creationId xmlns:a16="http://schemas.microsoft.com/office/drawing/2014/main" id="{C5AD091C-451C-7946-366C-F73980701B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6338" y="271145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6628" name="Oval 2053">
            <a:extLst>
              <a:ext uri="{FF2B5EF4-FFF2-40B4-BE49-F238E27FC236}">
                <a16:creationId xmlns:a16="http://schemas.microsoft.com/office/drawing/2014/main" id="{A2070244-5C09-1465-CE60-2B9EDAA4C6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43151" y="271145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26629" name="Oval 2054">
            <a:extLst>
              <a:ext uri="{FF2B5EF4-FFF2-40B4-BE49-F238E27FC236}">
                <a16:creationId xmlns:a16="http://schemas.microsoft.com/office/drawing/2014/main" id="{CBD45A09-B892-51A9-2AEE-BB2854C95A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4751" y="190500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26630" name="Oval 2055">
            <a:extLst>
              <a:ext uri="{FF2B5EF4-FFF2-40B4-BE49-F238E27FC236}">
                <a16:creationId xmlns:a16="http://schemas.microsoft.com/office/drawing/2014/main" id="{56E27EAE-32F2-4195-F893-AD831EBBDF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52751" y="3519488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26631" name="AutoShape 2056">
            <a:extLst>
              <a:ext uri="{FF2B5EF4-FFF2-40B4-BE49-F238E27FC236}">
                <a16:creationId xmlns:a16="http://schemas.microsoft.com/office/drawing/2014/main" id="{0F490A29-DEEA-C5CF-2520-C2F82EFE377C}"/>
              </a:ext>
            </a:extLst>
          </p:cNvPr>
          <p:cNvCxnSpPr>
            <a:cxnSpLocks noChangeAspect="1" noChangeShapeType="1"/>
            <a:stCxn id="26629" idx="2"/>
            <a:endCxn id="26628" idx="0"/>
          </p:cNvCxnSpPr>
          <p:nvPr/>
        </p:nvCxnSpPr>
        <p:spPr bwMode="auto">
          <a:xfrm rot="10800000" flipV="1">
            <a:off x="2525713" y="2087563"/>
            <a:ext cx="1168400" cy="6032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2" name="AutoShape 2057">
            <a:extLst>
              <a:ext uri="{FF2B5EF4-FFF2-40B4-BE49-F238E27FC236}">
                <a16:creationId xmlns:a16="http://schemas.microsoft.com/office/drawing/2014/main" id="{E7F7D72B-97C2-849A-984A-E97902E145C3}"/>
              </a:ext>
            </a:extLst>
          </p:cNvPr>
          <p:cNvCxnSpPr>
            <a:cxnSpLocks noChangeAspect="1" noChangeShapeType="1"/>
            <a:stCxn id="26630" idx="2"/>
            <a:endCxn id="26628" idx="4"/>
          </p:cNvCxnSpPr>
          <p:nvPr/>
        </p:nvCxnSpPr>
        <p:spPr bwMode="auto">
          <a:xfrm rot="10800000">
            <a:off x="2525713" y="3095626"/>
            <a:ext cx="4064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3" name="AutoShape 2058">
            <a:extLst>
              <a:ext uri="{FF2B5EF4-FFF2-40B4-BE49-F238E27FC236}">
                <a16:creationId xmlns:a16="http://schemas.microsoft.com/office/drawing/2014/main" id="{E714CC6B-389D-5D4B-8181-2DDCDEC2FD14}"/>
              </a:ext>
            </a:extLst>
          </p:cNvPr>
          <p:cNvCxnSpPr>
            <a:cxnSpLocks noChangeAspect="1" noChangeShapeType="1"/>
            <a:stCxn id="26630" idx="6"/>
            <a:endCxn id="26627" idx="3"/>
          </p:cNvCxnSpPr>
          <p:nvPr/>
        </p:nvCxnSpPr>
        <p:spPr bwMode="auto">
          <a:xfrm flipV="1">
            <a:off x="3336925" y="3043238"/>
            <a:ext cx="431800" cy="6588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4" name="AutoShape 2059">
            <a:extLst>
              <a:ext uri="{FF2B5EF4-FFF2-40B4-BE49-F238E27FC236}">
                <a16:creationId xmlns:a16="http://schemas.microsoft.com/office/drawing/2014/main" id="{07E7B2EB-308D-CAE7-BDD0-62E1E027A58A}"/>
              </a:ext>
            </a:extLst>
          </p:cNvPr>
          <p:cNvCxnSpPr>
            <a:cxnSpLocks noChangeAspect="1" noChangeShapeType="1"/>
            <a:stCxn id="26629" idx="4"/>
            <a:endCxn id="26627" idx="0"/>
          </p:cNvCxnSpPr>
          <p:nvPr/>
        </p:nvCxnSpPr>
        <p:spPr bwMode="auto">
          <a:xfrm>
            <a:off x="3897314" y="2289175"/>
            <a:ext cx="1587" cy="40163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5" name="AutoShape 2060">
            <a:extLst>
              <a:ext uri="{FF2B5EF4-FFF2-40B4-BE49-F238E27FC236}">
                <a16:creationId xmlns:a16="http://schemas.microsoft.com/office/drawing/2014/main" id="{B862EE23-A948-3CC6-CB27-5246F82974FE}"/>
              </a:ext>
            </a:extLst>
          </p:cNvPr>
          <p:cNvCxnSpPr>
            <a:cxnSpLocks noChangeAspect="1" noChangeShapeType="1"/>
            <a:stCxn id="26628" idx="6"/>
            <a:endCxn id="26627" idx="2"/>
          </p:cNvCxnSpPr>
          <p:nvPr/>
        </p:nvCxnSpPr>
        <p:spPr bwMode="auto">
          <a:xfrm>
            <a:off x="2727326" y="2894013"/>
            <a:ext cx="9683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6" name="Oval 2061">
            <a:extLst>
              <a:ext uri="{FF2B5EF4-FFF2-40B4-BE49-F238E27FC236}">
                <a16:creationId xmlns:a16="http://schemas.microsoft.com/office/drawing/2014/main" id="{86676B5A-E62B-4F39-147E-3DAAC1B8C6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78413" y="271145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26637" name="AutoShape 2062">
            <a:extLst>
              <a:ext uri="{FF2B5EF4-FFF2-40B4-BE49-F238E27FC236}">
                <a16:creationId xmlns:a16="http://schemas.microsoft.com/office/drawing/2014/main" id="{7C367852-33FB-E682-EB5F-EFC1087CDA91}"/>
              </a:ext>
            </a:extLst>
          </p:cNvPr>
          <p:cNvCxnSpPr>
            <a:cxnSpLocks noChangeAspect="1" noChangeShapeType="1"/>
            <a:stCxn id="26640" idx="6"/>
            <a:endCxn id="26636" idx="4"/>
          </p:cNvCxnSpPr>
          <p:nvPr/>
        </p:nvCxnSpPr>
        <p:spPr bwMode="auto">
          <a:xfrm flipV="1">
            <a:off x="4841875" y="3095626"/>
            <a:ext cx="4191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2063">
            <a:extLst>
              <a:ext uri="{FF2B5EF4-FFF2-40B4-BE49-F238E27FC236}">
                <a16:creationId xmlns:a16="http://schemas.microsoft.com/office/drawing/2014/main" id="{A84772A2-B6AD-D2E8-05EC-F395DA1C197A}"/>
              </a:ext>
            </a:extLst>
          </p:cNvPr>
          <p:cNvCxnSpPr>
            <a:cxnSpLocks noChangeAspect="1" noChangeShapeType="1"/>
            <a:stCxn id="26636" idx="0"/>
            <a:endCxn id="26629" idx="6"/>
          </p:cNvCxnSpPr>
          <p:nvPr/>
        </p:nvCxnSpPr>
        <p:spPr bwMode="auto">
          <a:xfrm rot="5400000" flipH="1">
            <a:off x="4378325" y="1808163"/>
            <a:ext cx="603250" cy="11620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2064">
            <a:extLst>
              <a:ext uri="{FF2B5EF4-FFF2-40B4-BE49-F238E27FC236}">
                <a16:creationId xmlns:a16="http://schemas.microsoft.com/office/drawing/2014/main" id="{FAAB16F1-5E3C-2BDA-7ED3-49B9D635E317}"/>
              </a:ext>
            </a:extLst>
          </p:cNvPr>
          <p:cNvCxnSpPr>
            <a:cxnSpLocks noChangeAspect="1" noChangeShapeType="1"/>
            <a:stCxn id="26627" idx="6"/>
            <a:endCxn id="26636" idx="2"/>
          </p:cNvCxnSpPr>
          <p:nvPr/>
        </p:nvCxnSpPr>
        <p:spPr bwMode="auto">
          <a:xfrm>
            <a:off x="4100513" y="2894013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0" name="Oval 2065">
            <a:extLst>
              <a:ext uri="{FF2B5EF4-FFF2-40B4-BE49-F238E27FC236}">
                <a16:creationId xmlns:a16="http://schemas.microsoft.com/office/drawing/2014/main" id="{0EF8F920-B098-4370-55C6-C63EB08B45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67226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26641" name="AutoShape 2066">
            <a:extLst>
              <a:ext uri="{FF2B5EF4-FFF2-40B4-BE49-F238E27FC236}">
                <a16:creationId xmlns:a16="http://schemas.microsoft.com/office/drawing/2014/main" id="{37D83E09-59CA-B1F0-B3ED-2756F58B6A89}"/>
              </a:ext>
            </a:extLst>
          </p:cNvPr>
          <p:cNvCxnSpPr>
            <a:cxnSpLocks noChangeAspect="1" noChangeShapeType="1"/>
            <a:stCxn id="26627" idx="5"/>
            <a:endCxn id="26640" idx="2"/>
          </p:cNvCxnSpPr>
          <p:nvPr/>
        </p:nvCxnSpPr>
        <p:spPr bwMode="auto">
          <a:xfrm rot="16200000" flipH="1">
            <a:off x="3913188" y="3159125"/>
            <a:ext cx="658812" cy="427038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2" name="Text Box 2067">
            <a:extLst>
              <a:ext uri="{FF2B5EF4-FFF2-40B4-BE49-F238E27FC236}">
                <a16:creationId xmlns:a16="http://schemas.microsoft.com/office/drawing/2014/main" id="{85FB78D2-156B-B4C9-6F4E-D605C3C85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700" y="16764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6643" name="Text Box 2068">
            <a:extLst>
              <a:ext uri="{FF2B5EF4-FFF2-40B4-BE49-F238E27FC236}">
                <a16:creationId xmlns:a16="http://schemas.microsoft.com/office/drawing/2014/main" id="{64BF5AF9-8EEB-12BE-A603-16C0FD021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350" y="25034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6644" name="Text Box 2069">
            <a:extLst>
              <a:ext uri="{FF2B5EF4-FFF2-40B4-BE49-F238E27FC236}">
                <a16:creationId xmlns:a16="http://schemas.microsoft.com/office/drawing/2014/main" id="{EC7B854A-2283-7E3E-3F1A-6E4EEAC9C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450" y="25034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6645" name="Text Box 2070">
            <a:extLst>
              <a:ext uri="{FF2B5EF4-FFF2-40B4-BE49-F238E27FC236}">
                <a16:creationId xmlns:a16="http://schemas.microsoft.com/office/drawing/2014/main" id="{B752174C-BC0F-2FB6-690D-7A4AD56B5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25034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26646" name="Text Box 2071">
            <a:extLst>
              <a:ext uri="{FF2B5EF4-FFF2-40B4-BE49-F238E27FC236}">
                <a16:creationId xmlns:a16="http://schemas.microsoft.com/office/drawing/2014/main" id="{FED8E4D4-4A2A-B82B-AA9C-B1242E53A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163" y="32273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6647" name="Text Box 2072">
            <a:extLst>
              <a:ext uri="{FF2B5EF4-FFF2-40B4-BE49-F238E27FC236}">
                <a16:creationId xmlns:a16="http://schemas.microsoft.com/office/drawing/2014/main" id="{3DF191A9-3B70-0A1E-31B0-804FE0616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2273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6648" name="Text Box 2073">
            <a:extLst>
              <a:ext uri="{FF2B5EF4-FFF2-40B4-BE49-F238E27FC236}">
                <a16:creationId xmlns:a16="http://schemas.microsoft.com/office/drawing/2014/main" id="{AB524702-FC51-2DF8-F164-2ED6C91BA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9192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49" name="Text Box 2074">
            <a:extLst>
              <a:ext uri="{FF2B5EF4-FFF2-40B4-BE49-F238E27FC236}">
                <a16:creationId xmlns:a16="http://schemas.microsoft.com/office/drawing/2014/main" id="{6566504E-F62E-F376-23DB-C73D85753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950" y="1981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6650" name="Text Box 2075">
            <a:extLst>
              <a:ext uri="{FF2B5EF4-FFF2-40B4-BE49-F238E27FC236}">
                <a16:creationId xmlns:a16="http://schemas.microsoft.com/office/drawing/2014/main" id="{4488AFF5-A6AC-162A-6DE4-221B75161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6651" name="Text Box 2076">
            <a:extLst>
              <a:ext uri="{FF2B5EF4-FFF2-40B4-BE49-F238E27FC236}">
                <a16:creationId xmlns:a16="http://schemas.microsoft.com/office/drawing/2014/main" id="{35D2F347-1D95-9FC5-D865-7D290249B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52" name="Text Box 2077">
            <a:extLst>
              <a:ext uri="{FF2B5EF4-FFF2-40B4-BE49-F238E27FC236}">
                <a16:creationId xmlns:a16="http://schemas.microsoft.com/office/drawing/2014/main" id="{16DBD64E-173C-01E2-59BD-5889E834C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33909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3" name="Text Box 2078">
            <a:extLst>
              <a:ext uri="{FF2B5EF4-FFF2-40B4-BE49-F238E27FC236}">
                <a16:creationId xmlns:a16="http://schemas.microsoft.com/office/drawing/2014/main" id="{6894B3F6-7D50-5490-A264-C7574C218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350" y="33909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6654" name="Text Box 2079">
            <a:extLst>
              <a:ext uri="{FF2B5EF4-FFF2-40B4-BE49-F238E27FC236}">
                <a16:creationId xmlns:a16="http://schemas.microsoft.com/office/drawing/2014/main" id="{A1A6F5AA-E9C1-F0DA-F408-FC6552A0F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22860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5" name="Text Box 2080">
            <a:extLst>
              <a:ext uri="{FF2B5EF4-FFF2-40B4-BE49-F238E27FC236}">
                <a16:creationId xmlns:a16="http://schemas.microsoft.com/office/drawing/2014/main" id="{4B91FA67-5597-32C5-DF90-470F27BB3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56" name="Text Box 2081">
            <a:extLst>
              <a:ext uri="{FF2B5EF4-FFF2-40B4-BE49-F238E27FC236}">
                <a16:creationId xmlns:a16="http://schemas.microsoft.com/office/drawing/2014/main" id="{21A2EA68-4680-74D3-89D9-819182029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765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6657" name="Freeform 2082">
            <a:extLst>
              <a:ext uri="{FF2B5EF4-FFF2-40B4-BE49-F238E27FC236}">
                <a16:creationId xmlns:a16="http://schemas.microsoft.com/office/drawing/2014/main" id="{173557E7-CB0C-F033-0CAD-71F0AB86E20C}"/>
              </a:ext>
            </a:extLst>
          </p:cNvPr>
          <p:cNvSpPr>
            <a:spLocks/>
          </p:cNvSpPr>
          <p:nvPr/>
        </p:nvSpPr>
        <p:spPr bwMode="auto">
          <a:xfrm>
            <a:off x="6454776" y="3810000"/>
            <a:ext cx="3567113" cy="2459038"/>
          </a:xfrm>
          <a:custGeom>
            <a:avLst/>
            <a:gdLst>
              <a:gd name="T0" fmla="*/ 2147483646 w 2247"/>
              <a:gd name="T1" fmla="*/ 2147483646 h 1549"/>
              <a:gd name="T2" fmla="*/ 2147483646 w 2247"/>
              <a:gd name="T3" fmla="*/ 2147483646 h 1549"/>
              <a:gd name="T4" fmla="*/ 2147483646 w 2247"/>
              <a:gd name="T5" fmla="*/ 2147483646 h 1549"/>
              <a:gd name="T6" fmla="*/ 2147483646 w 2247"/>
              <a:gd name="T7" fmla="*/ 2147483646 h 1549"/>
              <a:gd name="T8" fmla="*/ 2147483646 w 2247"/>
              <a:gd name="T9" fmla="*/ 2147483646 h 1549"/>
              <a:gd name="T10" fmla="*/ 2147483646 w 2247"/>
              <a:gd name="T11" fmla="*/ 2147483646 h 1549"/>
              <a:gd name="T12" fmla="*/ 2147483646 w 2247"/>
              <a:gd name="T13" fmla="*/ 2147483646 h 1549"/>
              <a:gd name="T14" fmla="*/ 2147483646 w 2247"/>
              <a:gd name="T15" fmla="*/ 2147483646 h 1549"/>
              <a:gd name="T16" fmla="*/ 2147483646 w 2247"/>
              <a:gd name="T17" fmla="*/ 2147483646 h 154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47"/>
              <a:gd name="T28" fmla="*/ 0 h 1549"/>
              <a:gd name="T29" fmla="*/ 2247 w 2247"/>
              <a:gd name="T30" fmla="*/ 1549 h 154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47" h="1549">
                <a:moveTo>
                  <a:pt x="1274" y="23"/>
                </a:moveTo>
                <a:cubicBezTo>
                  <a:pt x="1508" y="25"/>
                  <a:pt x="1779" y="0"/>
                  <a:pt x="1940" y="149"/>
                </a:cubicBezTo>
                <a:cubicBezTo>
                  <a:pt x="2101" y="298"/>
                  <a:pt x="2247" y="698"/>
                  <a:pt x="2240" y="917"/>
                </a:cubicBezTo>
                <a:cubicBezTo>
                  <a:pt x="2233" y="1136"/>
                  <a:pt x="2197" y="1373"/>
                  <a:pt x="1899" y="1461"/>
                </a:cubicBezTo>
                <a:cubicBezTo>
                  <a:pt x="1601" y="1549"/>
                  <a:pt x="760" y="1516"/>
                  <a:pt x="452" y="1446"/>
                </a:cubicBezTo>
                <a:cubicBezTo>
                  <a:pt x="144" y="1376"/>
                  <a:pt x="100" y="1203"/>
                  <a:pt x="50" y="1038"/>
                </a:cubicBezTo>
                <a:cubicBezTo>
                  <a:pt x="0" y="873"/>
                  <a:pt x="71" y="606"/>
                  <a:pt x="152" y="456"/>
                </a:cubicBezTo>
                <a:cubicBezTo>
                  <a:pt x="233" y="306"/>
                  <a:pt x="349" y="210"/>
                  <a:pt x="536" y="138"/>
                </a:cubicBezTo>
                <a:cubicBezTo>
                  <a:pt x="723" y="66"/>
                  <a:pt x="1040" y="21"/>
                  <a:pt x="1274" y="23"/>
                </a:cubicBezTo>
                <a:close/>
              </a:path>
            </a:pathLst>
          </a:cu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8" name="Oval 2083">
            <a:extLst>
              <a:ext uri="{FF2B5EF4-FFF2-40B4-BE49-F238E27FC236}">
                <a16:creationId xmlns:a16="http://schemas.microsoft.com/office/drawing/2014/main" id="{68F24670-1124-E678-5DE4-E449DB71B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97838" y="4862513"/>
            <a:ext cx="366712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26659" name="Oval 2084">
            <a:extLst>
              <a:ext uri="{FF2B5EF4-FFF2-40B4-BE49-F238E27FC236}">
                <a16:creationId xmlns:a16="http://schemas.microsoft.com/office/drawing/2014/main" id="{02495AB6-C24C-3C3B-BACB-3A3CCB8726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24651" y="4862513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26660" name="Oval 2085">
            <a:extLst>
              <a:ext uri="{FF2B5EF4-FFF2-40B4-BE49-F238E27FC236}">
                <a16:creationId xmlns:a16="http://schemas.microsoft.com/office/drawing/2014/main" id="{9BEBD75A-F62C-BCB5-33B9-0D54CB3EB9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96251" y="4056063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26661" name="Oval 2086">
            <a:extLst>
              <a:ext uri="{FF2B5EF4-FFF2-40B4-BE49-F238E27FC236}">
                <a16:creationId xmlns:a16="http://schemas.microsoft.com/office/drawing/2014/main" id="{960F5F0A-1712-D358-056E-B2447B8C3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34251" y="567055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26662" name="AutoShape 2087">
            <a:extLst>
              <a:ext uri="{FF2B5EF4-FFF2-40B4-BE49-F238E27FC236}">
                <a16:creationId xmlns:a16="http://schemas.microsoft.com/office/drawing/2014/main" id="{FB1F85DF-0661-2C5B-2E17-2C90FD8E0B18}"/>
              </a:ext>
            </a:extLst>
          </p:cNvPr>
          <p:cNvCxnSpPr>
            <a:cxnSpLocks noChangeAspect="1" noChangeShapeType="1"/>
            <a:stCxn id="26660" idx="2"/>
            <a:endCxn id="26659" idx="0"/>
          </p:cNvCxnSpPr>
          <p:nvPr/>
        </p:nvCxnSpPr>
        <p:spPr bwMode="auto">
          <a:xfrm rot="10800000" flipV="1">
            <a:off x="6907213" y="4238625"/>
            <a:ext cx="1168400" cy="6032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3" name="AutoShape 2088">
            <a:extLst>
              <a:ext uri="{FF2B5EF4-FFF2-40B4-BE49-F238E27FC236}">
                <a16:creationId xmlns:a16="http://schemas.microsoft.com/office/drawing/2014/main" id="{26245404-F110-11F1-5863-CA05F8AA2A89}"/>
              </a:ext>
            </a:extLst>
          </p:cNvPr>
          <p:cNvCxnSpPr>
            <a:cxnSpLocks noChangeAspect="1" noChangeShapeType="1"/>
            <a:stCxn id="26661" idx="2"/>
            <a:endCxn id="26659" idx="4"/>
          </p:cNvCxnSpPr>
          <p:nvPr/>
        </p:nvCxnSpPr>
        <p:spPr bwMode="auto">
          <a:xfrm rot="10800000">
            <a:off x="6907213" y="5246689"/>
            <a:ext cx="4064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4" name="AutoShape 2089">
            <a:extLst>
              <a:ext uri="{FF2B5EF4-FFF2-40B4-BE49-F238E27FC236}">
                <a16:creationId xmlns:a16="http://schemas.microsoft.com/office/drawing/2014/main" id="{A5ED2600-CD34-12CB-A993-57843CCBAE2D}"/>
              </a:ext>
            </a:extLst>
          </p:cNvPr>
          <p:cNvCxnSpPr>
            <a:cxnSpLocks noChangeAspect="1" noChangeShapeType="1"/>
            <a:stCxn id="26661" idx="6"/>
            <a:endCxn id="26658" idx="3"/>
          </p:cNvCxnSpPr>
          <p:nvPr/>
        </p:nvCxnSpPr>
        <p:spPr bwMode="auto">
          <a:xfrm flipV="1">
            <a:off x="7718425" y="5194301"/>
            <a:ext cx="431800" cy="658813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5" name="AutoShape 2090">
            <a:extLst>
              <a:ext uri="{FF2B5EF4-FFF2-40B4-BE49-F238E27FC236}">
                <a16:creationId xmlns:a16="http://schemas.microsoft.com/office/drawing/2014/main" id="{8763F8FA-AC7B-5D06-7041-0F2F1BECE9B0}"/>
              </a:ext>
            </a:extLst>
          </p:cNvPr>
          <p:cNvCxnSpPr>
            <a:cxnSpLocks noChangeAspect="1" noChangeShapeType="1"/>
            <a:stCxn id="26660" idx="4"/>
            <a:endCxn id="26658" idx="0"/>
          </p:cNvCxnSpPr>
          <p:nvPr/>
        </p:nvCxnSpPr>
        <p:spPr bwMode="auto">
          <a:xfrm>
            <a:off x="8278814" y="4440239"/>
            <a:ext cx="1587" cy="401637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6" name="AutoShape 2091">
            <a:extLst>
              <a:ext uri="{FF2B5EF4-FFF2-40B4-BE49-F238E27FC236}">
                <a16:creationId xmlns:a16="http://schemas.microsoft.com/office/drawing/2014/main" id="{124B0BC7-46D6-1E28-386C-367FC8D82BF8}"/>
              </a:ext>
            </a:extLst>
          </p:cNvPr>
          <p:cNvCxnSpPr>
            <a:cxnSpLocks noChangeAspect="1" noChangeShapeType="1"/>
            <a:stCxn id="26659" idx="6"/>
            <a:endCxn id="26658" idx="2"/>
          </p:cNvCxnSpPr>
          <p:nvPr/>
        </p:nvCxnSpPr>
        <p:spPr bwMode="auto">
          <a:xfrm>
            <a:off x="7108826" y="5045075"/>
            <a:ext cx="9683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67" name="Oval 2092">
            <a:extLst>
              <a:ext uri="{FF2B5EF4-FFF2-40B4-BE49-F238E27FC236}">
                <a16:creationId xmlns:a16="http://schemas.microsoft.com/office/drawing/2014/main" id="{767C1B4A-86CE-5BEF-D5B4-800AD36636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59913" y="4862513"/>
            <a:ext cx="366712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26668" name="AutoShape 2093">
            <a:extLst>
              <a:ext uri="{FF2B5EF4-FFF2-40B4-BE49-F238E27FC236}">
                <a16:creationId xmlns:a16="http://schemas.microsoft.com/office/drawing/2014/main" id="{04751739-25D1-F9AF-7D4E-C02610AF8B3D}"/>
              </a:ext>
            </a:extLst>
          </p:cNvPr>
          <p:cNvCxnSpPr>
            <a:cxnSpLocks noChangeAspect="1" noChangeShapeType="1"/>
            <a:stCxn id="26671" idx="6"/>
            <a:endCxn id="26667" idx="4"/>
          </p:cNvCxnSpPr>
          <p:nvPr/>
        </p:nvCxnSpPr>
        <p:spPr bwMode="auto">
          <a:xfrm flipV="1">
            <a:off x="9232901" y="5246689"/>
            <a:ext cx="409575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9" name="AutoShape 2094">
            <a:extLst>
              <a:ext uri="{FF2B5EF4-FFF2-40B4-BE49-F238E27FC236}">
                <a16:creationId xmlns:a16="http://schemas.microsoft.com/office/drawing/2014/main" id="{6F535B81-7F12-972A-703D-1495813CE31A}"/>
              </a:ext>
            </a:extLst>
          </p:cNvPr>
          <p:cNvCxnSpPr>
            <a:cxnSpLocks noChangeAspect="1" noChangeShapeType="1"/>
            <a:stCxn id="26667" idx="0"/>
            <a:endCxn id="26660" idx="6"/>
          </p:cNvCxnSpPr>
          <p:nvPr/>
        </p:nvCxnSpPr>
        <p:spPr bwMode="auto">
          <a:xfrm rot="5400000" flipH="1">
            <a:off x="8759825" y="3959225"/>
            <a:ext cx="603250" cy="11620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70" name="AutoShape 2095">
            <a:extLst>
              <a:ext uri="{FF2B5EF4-FFF2-40B4-BE49-F238E27FC236}">
                <a16:creationId xmlns:a16="http://schemas.microsoft.com/office/drawing/2014/main" id="{65284BB5-8A9D-2F35-978C-1BE2CC959E7E}"/>
              </a:ext>
            </a:extLst>
          </p:cNvPr>
          <p:cNvCxnSpPr>
            <a:cxnSpLocks noChangeAspect="1" noChangeShapeType="1"/>
            <a:stCxn id="26658" idx="6"/>
            <a:endCxn id="26667" idx="2"/>
          </p:cNvCxnSpPr>
          <p:nvPr/>
        </p:nvCxnSpPr>
        <p:spPr bwMode="auto">
          <a:xfrm>
            <a:off x="8482013" y="5045075"/>
            <a:ext cx="95726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71" name="Oval 2096">
            <a:extLst>
              <a:ext uri="{FF2B5EF4-FFF2-40B4-BE49-F238E27FC236}">
                <a16:creationId xmlns:a16="http://schemas.microsoft.com/office/drawing/2014/main" id="{EE252247-B565-A493-2A42-6BC042C289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48726" y="567055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F</a:t>
            </a:r>
          </a:p>
        </p:txBody>
      </p:sp>
      <p:cxnSp>
        <p:nvCxnSpPr>
          <p:cNvPr id="26672" name="AutoShape 2097">
            <a:extLst>
              <a:ext uri="{FF2B5EF4-FFF2-40B4-BE49-F238E27FC236}">
                <a16:creationId xmlns:a16="http://schemas.microsoft.com/office/drawing/2014/main" id="{05D3272F-1EC9-16AF-074E-3E77C847CA1D}"/>
              </a:ext>
            </a:extLst>
          </p:cNvPr>
          <p:cNvCxnSpPr>
            <a:cxnSpLocks noChangeAspect="1" noChangeShapeType="1"/>
            <a:stCxn id="26658" idx="5"/>
            <a:endCxn id="26671" idx="2"/>
          </p:cNvCxnSpPr>
          <p:nvPr/>
        </p:nvCxnSpPr>
        <p:spPr bwMode="auto">
          <a:xfrm rot="16200000" flipH="1">
            <a:off x="8289926" y="5314951"/>
            <a:ext cx="658813" cy="417513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73" name="Text Box 2098">
            <a:extLst>
              <a:ext uri="{FF2B5EF4-FFF2-40B4-BE49-F238E27FC236}">
                <a16:creationId xmlns:a16="http://schemas.microsoft.com/office/drawing/2014/main" id="{6AC6ED29-0E3C-9226-A7AA-420C768DE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38274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6674" name="Text Box 2099">
            <a:extLst>
              <a:ext uri="{FF2B5EF4-FFF2-40B4-BE49-F238E27FC236}">
                <a16:creationId xmlns:a16="http://schemas.microsoft.com/office/drawing/2014/main" id="{4BC390DD-7EE8-6795-FD24-EB0B219D5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1850" y="46545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6675" name="Text Box 2100">
            <a:extLst>
              <a:ext uri="{FF2B5EF4-FFF2-40B4-BE49-F238E27FC236}">
                <a16:creationId xmlns:a16="http://schemas.microsoft.com/office/drawing/2014/main" id="{AAF84D60-5783-F28A-C101-D55B60871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950" y="46545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6676" name="Text Box 2101">
            <a:extLst>
              <a:ext uri="{FF2B5EF4-FFF2-40B4-BE49-F238E27FC236}">
                <a16:creationId xmlns:a16="http://schemas.microsoft.com/office/drawing/2014/main" id="{3932122B-8A33-2B91-CADA-9279326B0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350" y="46545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26677" name="Text Box 2102">
            <a:extLst>
              <a:ext uri="{FF2B5EF4-FFF2-40B4-BE49-F238E27FC236}">
                <a16:creationId xmlns:a16="http://schemas.microsoft.com/office/drawing/2014/main" id="{E29A51C5-F96F-267D-E368-1AFB06A5E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5663" y="53784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6678" name="Text Box 2103">
            <a:extLst>
              <a:ext uri="{FF2B5EF4-FFF2-40B4-BE49-F238E27FC236}">
                <a16:creationId xmlns:a16="http://schemas.microsoft.com/office/drawing/2014/main" id="{5BA6041A-9D84-2A09-AD2F-900D988FD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9700" y="53784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6679" name="Text Box 2104">
            <a:extLst>
              <a:ext uri="{FF2B5EF4-FFF2-40B4-BE49-F238E27FC236}">
                <a16:creationId xmlns:a16="http://schemas.microsoft.com/office/drawing/2014/main" id="{32E1B89A-910D-DED9-1C0A-866390B6C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9400" y="40703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80" name="Text Box 2105">
            <a:extLst>
              <a:ext uri="{FF2B5EF4-FFF2-40B4-BE49-F238E27FC236}">
                <a16:creationId xmlns:a16="http://schemas.microsoft.com/office/drawing/2014/main" id="{B679D7F1-ED87-F853-7E89-E803698B1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4132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6681" name="Text Box 2106">
            <a:extLst>
              <a:ext uri="{FF2B5EF4-FFF2-40B4-BE49-F238E27FC236}">
                <a16:creationId xmlns:a16="http://schemas.microsoft.com/office/drawing/2014/main" id="{98F01BBB-9FDA-5566-9DA3-9CDEA8F80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0450" y="47418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26682" name="Text Box 2107">
            <a:extLst>
              <a:ext uri="{FF2B5EF4-FFF2-40B4-BE49-F238E27FC236}">
                <a16:creationId xmlns:a16="http://schemas.microsoft.com/office/drawing/2014/main" id="{EC57A91B-3827-E7F6-06A9-6EB51ED1B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0" y="47418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6683" name="Text Box 2108">
            <a:extLst>
              <a:ext uri="{FF2B5EF4-FFF2-40B4-BE49-F238E27FC236}">
                <a16:creationId xmlns:a16="http://schemas.microsoft.com/office/drawing/2014/main" id="{FA59A389-7935-C185-4A50-00F00722E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50" y="55419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84" name="Text Box 2109">
            <a:extLst>
              <a:ext uri="{FF2B5EF4-FFF2-40B4-BE49-F238E27FC236}">
                <a16:creationId xmlns:a16="http://schemas.microsoft.com/office/drawing/2014/main" id="{1634E8AF-A98B-4A46-A0B9-9743A6762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7850" y="55419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6685" name="Text Box 2110">
            <a:extLst>
              <a:ext uri="{FF2B5EF4-FFF2-40B4-BE49-F238E27FC236}">
                <a16:creationId xmlns:a16="http://schemas.microsoft.com/office/drawing/2014/main" id="{B6F91062-1477-98EE-4D6A-481392804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3850" y="44370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86" name="Text Box 2111">
            <a:extLst>
              <a:ext uri="{FF2B5EF4-FFF2-40B4-BE49-F238E27FC236}">
                <a16:creationId xmlns:a16="http://schemas.microsoft.com/office/drawing/2014/main" id="{1D1364CC-8590-45CF-0C34-B573DD07A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450" y="5275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87" name="Text Box 2112">
            <a:extLst>
              <a:ext uri="{FF2B5EF4-FFF2-40B4-BE49-F238E27FC236}">
                <a16:creationId xmlns:a16="http://schemas.microsoft.com/office/drawing/2014/main" id="{DA833B0E-F248-CE7C-DC9D-0497D1EEF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9150" y="52752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6688" name="AutoShape 2113">
            <a:extLst>
              <a:ext uri="{FF2B5EF4-FFF2-40B4-BE49-F238E27FC236}">
                <a16:creationId xmlns:a16="http://schemas.microsoft.com/office/drawing/2014/main" id="{F3CE48C5-E083-AFEE-87D7-66F7C7E85CDB}"/>
              </a:ext>
            </a:extLst>
          </p:cNvPr>
          <p:cNvSpPr>
            <a:spLocks noChangeArrowheads="1"/>
          </p:cNvSpPr>
          <p:nvPr/>
        </p:nvSpPr>
        <p:spPr bwMode="auto">
          <a:xfrm rot="13500000" flipH="1" flipV="1">
            <a:off x="6034088" y="3871913"/>
            <a:ext cx="609600" cy="333375"/>
          </a:xfrm>
          <a:prstGeom prst="rightArrow">
            <a:avLst>
              <a:gd name="adj1" fmla="val 50000"/>
              <a:gd name="adj2" fmla="val 45714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BF1D56DE-F552-88FF-7149-B892F1AA4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229600" cy="838200"/>
          </a:xfrm>
        </p:spPr>
        <p:txBody>
          <a:bodyPr/>
          <a:lstStyle/>
          <a:p>
            <a:r>
              <a:rPr lang="en-US" altLang="en-US"/>
              <a:t>Analysis</a:t>
            </a:r>
          </a:p>
        </p:txBody>
      </p:sp>
      <p:sp>
        <p:nvSpPr>
          <p:cNvPr id="2765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07C2271-169C-CD5E-E6D4-6EEA91FAF89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133600" y="1143000"/>
            <a:ext cx="7924800" cy="5257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Graph operations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Method incidentEdges is called once for each vertex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Label operations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We set/get the distance and locator labels of vertex </a:t>
            </a: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r>
              <a:rPr lang="en-US" altLang="en-US" sz="1800"/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(deg(</a:t>
            </a:r>
            <a:r>
              <a:rPr lang="en-US" altLang="en-US" sz="1800" b="1" i="1"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latin typeface="Times New Roman" panose="02020603050405020304" pitchFamily="18" charset="0"/>
              </a:rPr>
              <a:t>))</a:t>
            </a:r>
            <a:r>
              <a:rPr lang="en-US" altLang="en-US" sz="1800"/>
              <a:t> times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Setting/getting a label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Priority queue operations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Each vertex is inserted once into and removed once from the priority queue, where each insertion or removal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The key of a vertex in the priority queue is modified at most </a:t>
            </a:r>
            <a:r>
              <a:rPr lang="en-US" altLang="en-US" sz="1800">
                <a:latin typeface="Times New Roman" panose="02020603050405020304" pitchFamily="18" charset="0"/>
              </a:rPr>
              <a:t>deg(</a:t>
            </a:r>
            <a:r>
              <a:rPr lang="en-US" altLang="en-US" sz="1800" b="1" i="1">
                <a:latin typeface="Times New Roman" panose="02020603050405020304" pitchFamily="18" charset="0"/>
              </a:rPr>
              <a:t>w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times, where each key change takes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(log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 </a:t>
            </a:r>
            <a:r>
              <a:rPr lang="en-US" altLang="en-US" sz="1800"/>
              <a:t>time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Dijkstra’s algorithm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((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>
                <a:latin typeface="Times New Roman" panose="02020603050405020304" pitchFamily="18" charset="0"/>
              </a:rPr>
              <a:t> m</a:t>
            </a:r>
            <a:r>
              <a:rPr lang="en-US" altLang="en-US" sz="2000">
                <a:latin typeface="Times New Roman" panose="02020603050405020304" pitchFamily="18" charset="0"/>
              </a:rPr>
              <a:t>) 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 provided the graph is represented by the adjacency list structure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Each loop: (</a:t>
            </a:r>
            <a:r>
              <a:rPr lang="en-US" altLang="en-US" sz="1800">
                <a:latin typeface="Times New Roman" panose="02020603050405020304" pitchFamily="18" charset="0"/>
              </a:rPr>
              <a:t>1+deg(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))log n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</a:rPr>
              <a:t>Total: </a:t>
            </a:r>
            <a:r>
              <a:rPr lang="en-US" altLang="en-US" sz="1800" b="1">
                <a:latin typeface="Symbol" panose="05050102010706020507" pitchFamily="18" charset="2"/>
              </a:rPr>
              <a:t>S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1800"/>
              <a:t>(</a:t>
            </a:r>
            <a:r>
              <a:rPr lang="en-US" altLang="en-US" sz="1800">
                <a:latin typeface="Times New Roman" panose="02020603050405020304" pitchFamily="18" charset="0"/>
              </a:rPr>
              <a:t>1+deg(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))log n</a:t>
            </a:r>
            <a:endParaRPr lang="en-US" altLang="en-US" sz="1800"/>
          </a:p>
          <a:p>
            <a:pPr lvl="1">
              <a:lnSpc>
                <a:spcPct val="90000"/>
              </a:lnSpc>
            </a:pPr>
            <a:r>
              <a:rPr lang="en-US" altLang="en-US" sz="1800"/>
              <a:t>Recall that </a:t>
            </a:r>
            <a:r>
              <a:rPr lang="en-US" altLang="en-US" b="1">
                <a:latin typeface="Symbol" panose="05050102010706020507" pitchFamily="18" charset="2"/>
              </a:rPr>
              <a:t>S</a:t>
            </a:r>
            <a:r>
              <a:rPr lang="en-US" altLang="en-US" sz="1800" b="1" i="1" baseline="-25000"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latin typeface="Times New Roman" panose="02020603050405020304" pitchFamily="18" charset="0"/>
              </a:rPr>
              <a:t>deg(</a:t>
            </a:r>
            <a:r>
              <a:rPr lang="en-US" altLang="en-US" sz="1800" b="1" i="1"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Symbol" panose="05050102010706020507" pitchFamily="18" charset="2"/>
              </a:rPr>
              <a:t>= </a:t>
            </a:r>
            <a:r>
              <a:rPr lang="en-US" altLang="en-US" sz="1800">
                <a:latin typeface="Times New Roman" panose="02020603050405020304" pitchFamily="18" charset="0"/>
              </a:rPr>
              <a:t>2</a:t>
            </a:r>
            <a:r>
              <a:rPr lang="en-US" altLang="en-US" sz="1800" b="1" i="1">
                <a:latin typeface="Times New Roman" panose="02020603050405020304" pitchFamily="18" charset="0"/>
              </a:rPr>
              <a:t>m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The running time can also be expressed as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  <a:r>
              <a:rPr lang="en-US" altLang="en-US" sz="2000">
                <a:latin typeface="Times New Roman" panose="02020603050405020304" pitchFamily="18" charset="0"/>
              </a:rPr>
              <a:t> log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since the graph is connected  (m ≥ n-1).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AA08954-6E63-8B79-C670-3173A3FE2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Extension</a:t>
            </a:r>
          </a:p>
        </p:txBody>
      </p:sp>
      <p:sp>
        <p:nvSpPr>
          <p:cNvPr id="2867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6BDDB80-AB18-17ED-B9FE-B349CC384D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527175"/>
            <a:ext cx="3505200" cy="4343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Using the template method pattern, we can extend Dijkstra’s algorithm to return a tree of shortest paths from the start vertex to all other vertices</a:t>
            </a:r>
          </a:p>
          <a:p>
            <a:pPr>
              <a:lnSpc>
                <a:spcPct val="90000"/>
              </a:lnSpc>
            </a:pPr>
            <a:endParaRPr lang="en-US" altLang="en-US" sz="1000"/>
          </a:p>
          <a:p>
            <a:pPr>
              <a:lnSpc>
                <a:spcPct val="90000"/>
              </a:lnSpc>
            </a:pPr>
            <a:r>
              <a:rPr lang="en-US" altLang="en-US" sz="2000"/>
              <a:t>We store with each vertex a third label: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parent edge </a:t>
            </a:r>
            <a:r>
              <a:rPr lang="en-US" altLang="en-US" sz="1800"/>
              <a:t>in the shortest path tree</a:t>
            </a:r>
          </a:p>
          <a:p>
            <a:pPr lvl="1">
              <a:lnSpc>
                <a:spcPct val="90000"/>
              </a:lnSpc>
            </a:pPr>
            <a:endParaRPr lang="en-US" altLang="en-US" sz="1000"/>
          </a:p>
          <a:p>
            <a:pPr>
              <a:lnSpc>
                <a:spcPct val="90000"/>
              </a:lnSpc>
            </a:pPr>
            <a:r>
              <a:rPr lang="en-US" altLang="en-US" sz="2000"/>
              <a:t>In the edge relaxation step, we update the parent label</a:t>
            </a:r>
          </a:p>
        </p:txBody>
      </p:sp>
      <p:sp>
        <p:nvSpPr>
          <p:cNvPr id="28675" name="Text Box 4">
            <a:extLst>
              <a:ext uri="{FF2B5EF4-FFF2-40B4-BE49-F238E27FC236}">
                <a16:creationId xmlns:a16="http://schemas.microsoft.com/office/drawing/2014/main" id="{D5BB7835-64C0-724C-2B4D-A9E64999E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495426"/>
            <a:ext cx="4343400" cy="4829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DijkstraShortestPathsTree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G, 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…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…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setParent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v, 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…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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Q.isEmpty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…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G.incidentEdges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>
                <a:latin typeface="Times New Roman" panose="02020603050405020304" pitchFamily="18" charset="0"/>
              </a:rPr>
              <a:t>{ relax edge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 }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G.opposite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u,e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r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z,r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setParent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z, e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Q.replaceKey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getLocator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F83F74D1-ADCE-E11A-DC72-5A69BB570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Dijkstra’s Algorithm Works</a:t>
            </a:r>
          </a:p>
        </p:txBody>
      </p:sp>
      <p:sp>
        <p:nvSpPr>
          <p:cNvPr id="29698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619326B-731F-E069-E76B-CAB8B035BD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95400"/>
            <a:ext cx="7010400" cy="990600"/>
          </a:xfrm>
        </p:spPr>
        <p:txBody>
          <a:bodyPr>
            <a:normAutofit/>
          </a:bodyPr>
          <a:lstStyle/>
          <a:p>
            <a:r>
              <a:rPr lang="en-US" altLang="en-US"/>
              <a:t>Dijkstra’s algorithm is based on the greedy method. It adds vertices by increasing distance.</a:t>
            </a:r>
          </a:p>
        </p:txBody>
      </p:sp>
      <p:sp>
        <p:nvSpPr>
          <p:cNvPr id="29699" name="Freeform 70">
            <a:extLst>
              <a:ext uri="{FF2B5EF4-FFF2-40B4-BE49-F238E27FC236}">
                <a16:creationId xmlns:a16="http://schemas.microsoft.com/office/drawing/2014/main" id="{14F70624-3DF9-394D-DF23-83FA528F5886}"/>
              </a:ext>
            </a:extLst>
          </p:cNvPr>
          <p:cNvSpPr>
            <a:spLocks/>
          </p:cNvSpPr>
          <p:nvPr/>
        </p:nvSpPr>
        <p:spPr bwMode="auto">
          <a:xfrm>
            <a:off x="6727826" y="2717800"/>
            <a:ext cx="3711575" cy="2387600"/>
          </a:xfrm>
          <a:custGeom>
            <a:avLst/>
            <a:gdLst>
              <a:gd name="T0" fmla="*/ 2147483646 w 2338"/>
              <a:gd name="T1" fmla="*/ 0 h 1504"/>
              <a:gd name="T2" fmla="*/ 2147483646 w 2338"/>
              <a:gd name="T3" fmla="*/ 2147483646 h 1504"/>
              <a:gd name="T4" fmla="*/ 2147483646 w 2338"/>
              <a:gd name="T5" fmla="*/ 2147483646 h 1504"/>
              <a:gd name="T6" fmla="*/ 2147483646 w 2338"/>
              <a:gd name="T7" fmla="*/ 2147483646 h 1504"/>
              <a:gd name="T8" fmla="*/ 2147483646 w 2338"/>
              <a:gd name="T9" fmla="*/ 2147483646 h 1504"/>
              <a:gd name="T10" fmla="*/ 2147483646 w 2338"/>
              <a:gd name="T11" fmla="*/ 2147483646 h 1504"/>
              <a:gd name="T12" fmla="*/ 2147483646 w 2338"/>
              <a:gd name="T13" fmla="*/ 2147483646 h 1504"/>
              <a:gd name="T14" fmla="*/ 2147483646 w 2338"/>
              <a:gd name="T15" fmla="*/ 2147483646 h 1504"/>
              <a:gd name="T16" fmla="*/ 2147483646 w 2338"/>
              <a:gd name="T17" fmla="*/ 2147483646 h 1504"/>
              <a:gd name="T18" fmla="*/ 2147483646 w 2338"/>
              <a:gd name="T19" fmla="*/ 2147483646 h 1504"/>
              <a:gd name="T20" fmla="*/ 2147483646 w 2338"/>
              <a:gd name="T21" fmla="*/ 0 h 150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38"/>
              <a:gd name="T34" fmla="*/ 0 h 1504"/>
              <a:gd name="T35" fmla="*/ 2338 w 2338"/>
              <a:gd name="T36" fmla="*/ 1504 h 150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38" h="1504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0" name="Oval 73">
            <a:extLst>
              <a:ext uri="{FF2B5EF4-FFF2-40B4-BE49-F238E27FC236}">
                <a16:creationId xmlns:a16="http://schemas.microsoft.com/office/drawing/2014/main" id="{45413281-FDF3-B204-A363-3ED57CAC9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50238" y="292735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29701" name="Oval 80">
            <a:extLst>
              <a:ext uri="{FF2B5EF4-FFF2-40B4-BE49-F238E27FC236}">
                <a16:creationId xmlns:a16="http://schemas.microsoft.com/office/drawing/2014/main" id="{269FAE9C-ADF7-A315-78C0-800ED8B4ED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01201" y="373380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C</a:t>
            </a:r>
          </a:p>
        </p:txBody>
      </p:sp>
      <p:cxnSp>
        <p:nvCxnSpPr>
          <p:cNvPr id="29702" name="AutoShape 82">
            <a:extLst>
              <a:ext uri="{FF2B5EF4-FFF2-40B4-BE49-F238E27FC236}">
                <a16:creationId xmlns:a16="http://schemas.microsoft.com/office/drawing/2014/main" id="{3BCD297B-17C6-41D7-1400-9F05A756E3FF}"/>
              </a:ext>
            </a:extLst>
          </p:cNvPr>
          <p:cNvCxnSpPr>
            <a:cxnSpLocks noChangeAspect="1" noChangeShapeType="1"/>
            <a:stCxn id="29701" idx="0"/>
            <a:endCxn id="29700" idx="6"/>
          </p:cNvCxnSpPr>
          <p:nvPr/>
        </p:nvCxnSpPr>
        <p:spPr bwMode="auto">
          <a:xfrm rot="16200000" flipV="1">
            <a:off x="8890000" y="2838450"/>
            <a:ext cx="622300" cy="1168400"/>
          </a:xfrm>
          <a:prstGeom prst="curvedConnector2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3" name="Oval 84">
            <a:extLst>
              <a:ext uri="{FF2B5EF4-FFF2-40B4-BE49-F238E27FC236}">
                <a16:creationId xmlns:a16="http://schemas.microsoft.com/office/drawing/2014/main" id="{8B8E8EA7-A824-6B5B-7CA3-BD6A07A0F4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02713" y="4541838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sp>
        <p:nvSpPr>
          <p:cNvPr id="29704" name="Text Box 86">
            <a:extLst>
              <a:ext uri="{FF2B5EF4-FFF2-40B4-BE49-F238E27FC236}">
                <a16:creationId xmlns:a16="http://schemas.microsoft.com/office/drawing/2014/main" id="{CF25F5FB-09DF-F9E0-E930-9322292B7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5188" y="26987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9705" name="Rectangle 10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E4826CB-F497-A8A5-64B1-D5A353684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286000"/>
            <a:ext cx="4953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Suppose it didn’t find all shortest distances. Let F be the first wrong vertex the algorithm being processed.</a:t>
            </a:r>
          </a:p>
          <a:p>
            <a:pPr lvl="1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When the previous node, B, on the true shortest path was considered, its distance was correct.</a:t>
            </a:r>
          </a:p>
          <a:p>
            <a:pPr lvl="1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If there is another shorter path than A-B-F, we consider two cases: the path in blue (all nodes except F have been processed) and the path in red (There is another unprocessed node Z). </a:t>
            </a:r>
          </a:p>
        </p:txBody>
      </p:sp>
      <p:sp>
        <p:nvSpPr>
          <p:cNvPr id="29706" name="Freeform 41">
            <a:extLst>
              <a:ext uri="{FF2B5EF4-FFF2-40B4-BE49-F238E27FC236}">
                <a16:creationId xmlns:a16="http://schemas.microsoft.com/office/drawing/2014/main" id="{678F0C2E-C2BD-622C-EDDC-AEA669400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3326" y="3233739"/>
            <a:ext cx="1420813" cy="2389187"/>
          </a:xfrm>
          <a:custGeom>
            <a:avLst/>
            <a:gdLst>
              <a:gd name="T0" fmla="*/ 701729 w 1419367"/>
              <a:gd name="T1" fmla="*/ 0 h 2388359"/>
              <a:gd name="T2" fmla="*/ 619173 w 1419367"/>
              <a:gd name="T3" fmla="*/ 27368 h 2388359"/>
              <a:gd name="T4" fmla="*/ 536617 w 1419367"/>
              <a:gd name="T5" fmla="*/ 109486 h 2388359"/>
              <a:gd name="T6" fmla="*/ 509096 w 1419367"/>
              <a:gd name="T7" fmla="*/ 150542 h 2388359"/>
              <a:gd name="T8" fmla="*/ 426540 w 1419367"/>
              <a:gd name="T9" fmla="*/ 218973 h 2388359"/>
              <a:gd name="T10" fmla="*/ 399022 w 1419367"/>
              <a:gd name="T11" fmla="*/ 273716 h 2388359"/>
              <a:gd name="T12" fmla="*/ 357745 w 1419367"/>
              <a:gd name="T13" fmla="*/ 328459 h 2388359"/>
              <a:gd name="T14" fmla="*/ 330225 w 1419367"/>
              <a:gd name="T15" fmla="*/ 369514 h 2388359"/>
              <a:gd name="T16" fmla="*/ 288947 w 1419367"/>
              <a:gd name="T17" fmla="*/ 424257 h 2388359"/>
              <a:gd name="T18" fmla="*/ 261428 w 1419367"/>
              <a:gd name="T19" fmla="*/ 465312 h 2388359"/>
              <a:gd name="T20" fmla="*/ 220150 w 1419367"/>
              <a:gd name="T21" fmla="*/ 506368 h 2388359"/>
              <a:gd name="T22" fmla="*/ 165113 w 1419367"/>
              <a:gd name="T23" fmla="*/ 602173 h 2388359"/>
              <a:gd name="T24" fmla="*/ 137593 w 1419367"/>
              <a:gd name="T25" fmla="*/ 643229 h 2388359"/>
              <a:gd name="T26" fmla="*/ 110075 w 1419367"/>
              <a:gd name="T27" fmla="*/ 711656 h 2388359"/>
              <a:gd name="T28" fmla="*/ 68799 w 1419367"/>
              <a:gd name="T29" fmla="*/ 780083 h 2388359"/>
              <a:gd name="T30" fmla="*/ 13760 w 1419367"/>
              <a:gd name="T31" fmla="*/ 862199 h 2388359"/>
              <a:gd name="T32" fmla="*/ 0 w 1419367"/>
              <a:gd name="T33" fmla="*/ 903257 h 2388359"/>
              <a:gd name="T34" fmla="*/ 13760 w 1419367"/>
              <a:gd name="T35" fmla="*/ 1067487 h 2388359"/>
              <a:gd name="T36" fmla="*/ 27519 w 1419367"/>
              <a:gd name="T37" fmla="*/ 1122229 h 2388359"/>
              <a:gd name="T38" fmla="*/ 41279 w 1419367"/>
              <a:gd name="T39" fmla="*/ 1245399 h 2388359"/>
              <a:gd name="T40" fmla="*/ 96316 w 1419367"/>
              <a:gd name="T41" fmla="*/ 1436998 h 2388359"/>
              <a:gd name="T42" fmla="*/ 123835 w 1419367"/>
              <a:gd name="T43" fmla="*/ 1573854 h 2388359"/>
              <a:gd name="T44" fmla="*/ 151353 w 1419367"/>
              <a:gd name="T45" fmla="*/ 1669654 h 2388359"/>
              <a:gd name="T46" fmla="*/ 206391 w 1419367"/>
              <a:gd name="T47" fmla="*/ 1833882 h 2388359"/>
              <a:gd name="T48" fmla="*/ 261428 w 1419367"/>
              <a:gd name="T49" fmla="*/ 2039166 h 2388359"/>
              <a:gd name="T50" fmla="*/ 275187 w 1419367"/>
              <a:gd name="T51" fmla="*/ 2093909 h 2388359"/>
              <a:gd name="T52" fmla="*/ 330225 w 1419367"/>
              <a:gd name="T53" fmla="*/ 2176024 h 2388359"/>
              <a:gd name="T54" fmla="*/ 371503 w 1419367"/>
              <a:gd name="T55" fmla="*/ 2258138 h 2388359"/>
              <a:gd name="T56" fmla="*/ 495338 w 1419367"/>
              <a:gd name="T57" fmla="*/ 2326566 h 2388359"/>
              <a:gd name="T58" fmla="*/ 536617 w 1419367"/>
              <a:gd name="T59" fmla="*/ 2353935 h 2388359"/>
              <a:gd name="T60" fmla="*/ 619173 w 1419367"/>
              <a:gd name="T61" fmla="*/ 2381306 h 2388359"/>
              <a:gd name="T62" fmla="*/ 660449 w 1419367"/>
              <a:gd name="T63" fmla="*/ 2394993 h 2388359"/>
              <a:gd name="T64" fmla="*/ 715487 w 1419367"/>
              <a:gd name="T65" fmla="*/ 2381306 h 2388359"/>
              <a:gd name="T66" fmla="*/ 880601 w 1419367"/>
              <a:gd name="T67" fmla="*/ 2353935 h 2388359"/>
              <a:gd name="T68" fmla="*/ 963155 w 1419367"/>
              <a:gd name="T69" fmla="*/ 2326566 h 2388359"/>
              <a:gd name="T70" fmla="*/ 1004434 w 1419367"/>
              <a:gd name="T71" fmla="*/ 2299195 h 2388359"/>
              <a:gd name="T72" fmla="*/ 1100752 w 1419367"/>
              <a:gd name="T73" fmla="*/ 2244449 h 2388359"/>
              <a:gd name="T74" fmla="*/ 1128270 w 1419367"/>
              <a:gd name="T75" fmla="*/ 2189709 h 2388359"/>
              <a:gd name="T76" fmla="*/ 1155789 w 1419367"/>
              <a:gd name="T77" fmla="*/ 2148652 h 2388359"/>
              <a:gd name="T78" fmla="*/ 1183307 w 1419367"/>
              <a:gd name="T79" fmla="*/ 2011796 h 2388359"/>
              <a:gd name="T80" fmla="*/ 1238345 w 1419367"/>
              <a:gd name="T81" fmla="*/ 1902310 h 2388359"/>
              <a:gd name="T82" fmla="*/ 1265864 w 1419367"/>
              <a:gd name="T83" fmla="*/ 1847567 h 2388359"/>
              <a:gd name="T84" fmla="*/ 1334661 w 1419367"/>
              <a:gd name="T85" fmla="*/ 1669654 h 2388359"/>
              <a:gd name="T86" fmla="*/ 1362180 w 1419367"/>
              <a:gd name="T87" fmla="*/ 1628597 h 2388359"/>
              <a:gd name="T88" fmla="*/ 1417216 w 1419367"/>
              <a:gd name="T89" fmla="*/ 1546484 h 2388359"/>
              <a:gd name="T90" fmla="*/ 1430975 w 1419367"/>
              <a:gd name="T91" fmla="*/ 1546484 h 238835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1419367"/>
              <a:gd name="T139" fmla="*/ 0 h 2388359"/>
              <a:gd name="T140" fmla="*/ 1419367 w 1419367"/>
              <a:gd name="T141" fmla="*/ 2388359 h 2388359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1419367" h="2388359">
                <a:moveTo>
                  <a:pt x="696036" y="0"/>
                </a:moveTo>
                <a:cubicBezTo>
                  <a:pt x="668740" y="9099"/>
                  <a:pt x="634494" y="6951"/>
                  <a:pt x="614149" y="27296"/>
                </a:cubicBezTo>
                <a:cubicBezTo>
                  <a:pt x="586854" y="54591"/>
                  <a:pt x="553675" y="77064"/>
                  <a:pt x="532263" y="109182"/>
                </a:cubicBezTo>
                <a:cubicBezTo>
                  <a:pt x="523164" y="122830"/>
                  <a:pt x="515468" y="137525"/>
                  <a:pt x="504967" y="150126"/>
                </a:cubicBezTo>
                <a:cubicBezTo>
                  <a:pt x="472129" y="189532"/>
                  <a:pt x="463338" y="191526"/>
                  <a:pt x="423080" y="218365"/>
                </a:cubicBezTo>
                <a:cubicBezTo>
                  <a:pt x="413982" y="236562"/>
                  <a:pt x="406568" y="255704"/>
                  <a:pt x="395785" y="272956"/>
                </a:cubicBezTo>
                <a:cubicBezTo>
                  <a:pt x="383730" y="292245"/>
                  <a:pt x="368063" y="309038"/>
                  <a:pt x="354842" y="327547"/>
                </a:cubicBezTo>
                <a:cubicBezTo>
                  <a:pt x="345308" y="340894"/>
                  <a:pt x="337080" y="355143"/>
                  <a:pt x="327546" y="368490"/>
                </a:cubicBezTo>
                <a:cubicBezTo>
                  <a:pt x="314325" y="386999"/>
                  <a:pt x="299824" y="404572"/>
                  <a:pt x="286603" y="423081"/>
                </a:cubicBezTo>
                <a:cubicBezTo>
                  <a:pt x="277069" y="436428"/>
                  <a:pt x="269808" y="451423"/>
                  <a:pt x="259307" y="464024"/>
                </a:cubicBezTo>
                <a:cubicBezTo>
                  <a:pt x="246951" y="478851"/>
                  <a:pt x="230720" y="490141"/>
                  <a:pt x="218364" y="504968"/>
                </a:cubicBezTo>
                <a:cubicBezTo>
                  <a:pt x="188131" y="541247"/>
                  <a:pt x="188048" y="558021"/>
                  <a:pt x="163773" y="600502"/>
                </a:cubicBezTo>
                <a:cubicBezTo>
                  <a:pt x="155635" y="614743"/>
                  <a:pt x="143812" y="626774"/>
                  <a:pt x="136477" y="641445"/>
                </a:cubicBezTo>
                <a:cubicBezTo>
                  <a:pt x="125521" y="663357"/>
                  <a:pt x="120138" y="687772"/>
                  <a:pt x="109182" y="709684"/>
                </a:cubicBezTo>
                <a:cubicBezTo>
                  <a:pt x="97319" y="733410"/>
                  <a:pt x="82480" y="755544"/>
                  <a:pt x="68239" y="777923"/>
                </a:cubicBezTo>
                <a:cubicBezTo>
                  <a:pt x="50627" y="805599"/>
                  <a:pt x="24022" y="828687"/>
                  <a:pt x="13648" y="859809"/>
                </a:cubicBezTo>
                <a:lnTo>
                  <a:pt x="0" y="900753"/>
                </a:lnTo>
                <a:cubicBezTo>
                  <a:pt x="4549" y="955344"/>
                  <a:pt x="6853" y="1010169"/>
                  <a:pt x="13648" y="1064526"/>
                </a:cubicBezTo>
                <a:cubicBezTo>
                  <a:pt x="15974" y="1083138"/>
                  <a:pt x="24443" y="1100578"/>
                  <a:pt x="27295" y="1119117"/>
                </a:cubicBezTo>
                <a:cubicBezTo>
                  <a:pt x="33559" y="1159833"/>
                  <a:pt x="33784" y="1201379"/>
                  <a:pt x="40943" y="1241947"/>
                </a:cubicBezTo>
                <a:cubicBezTo>
                  <a:pt x="71576" y="1415530"/>
                  <a:pt x="59169" y="1287555"/>
                  <a:pt x="95534" y="1433015"/>
                </a:cubicBezTo>
                <a:cubicBezTo>
                  <a:pt x="106786" y="1478023"/>
                  <a:pt x="110085" y="1524884"/>
                  <a:pt x="122830" y="1569493"/>
                </a:cubicBezTo>
                <a:cubicBezTo>
                  <a:pt x="131928" y="1601338"/>
                  <a:pt x="141591" y="1633026"/>
                  <a:pt x="150125" y="1665027"/>
                </a:cubicBezTo>
                <a:cubicBezTo>
                  <a:pt x="186959" y="1803153"/>
                  <a:pt x="158148" y="1735662"/>
                  <a:pt x="204716" y="1828800"/>
                </a:cubicBezTo>
                <a:cubicBezTo>
                  <a:pt x="257896" y="2094696"/>
                  <a:pt x="203651" y="1866548"/>
                  <a:pt x="259307" y="2033517"/>
                </a:cubicBezTo>
                <a:cubicBezTo>
                  <a:pt x="265238" y="2051312"/>
                  <a:pt x="264567" y="2071331"/>
                  <a:pt x="272955" y="2088108"/>
                </a:cubicBezTo>
                <a:cubicBezTo>
                  <a:pt x="287626" y="2117450"/>
                  <a:pt x="317172" y="2138872"/>
                  <a:pt x="327546" y="2169994"/>
                </a:cubicBezTo>
                <a:cubicBezTo>
                  <a:pt x="337281" y="2199199"/>
                  <a:pt x="343589" y="2230094"/>
                  <a:pt x="368489" y="2251881"/>
                </a:cubicBezTo>
                <a:cubicBezTo>
                  <a:pt x="483234" y="2352282"/>
                  <a:pt x="410094" y="2279508"/>
                  <a:pt x="491319" y="2320120"/>
                </a:cubicBezTo>
                <a:cubicBezTo>
                  <a:pt x="505990" y="2327455"/>
                  <a:pt x="517274" y="2340753"/>
                  <a:pt x="532263" y="2347415"/>
                </a:cubicBezTo>
                <a:cubicBezTo>
                  <a:pt x="558555" y="2359100"/>
                  <a:pt x="586854" y="2365612"/>
                  <a:pt x="614149" y="2374711"/>
                </a:cubicBezTo>
                <a:lnTo>
                  <a:pt x="655092" y="2388359"/>
                </a:lnTo>
                <a:cubicBezTo>
                  <a:pt x="673289" y="2383810"/>
                  <a:pt x="691247" y="2378168"/>
                  <a:pt x="709683" y="2374711"/>
                </a:cubicBezTo>
                <a:cubicBezTo>
                  <a:pt x="764079" y="2364512"/>
                  <a:pt x="820953" y="2364916"/>
                  <a:pt x="873457" y="2347415"/>
                </a:cubicBezTo>
                <a:cubicBezTo>
                  <a:pt x="900752" y="2338317"/>
                  <a:pt x="931404" y="2336080"/>
                  <a:pt x="955343" y="2320120"/>
                </a:cubicBezTo>
                <a:cubicBezTo>
                  <a:pt x="968991" y="2311021"/>
                  <a:pt x="982045" y="2300962"/>
                  <a:pt x="996286" y="2292824"/>
                </a:cubicBezTo>
                <a:cubicBezTo>
                  <a:pt x="1117503" y="2223557"/>
                  <a:pt x="992061" y="2304740"/>
                  <a:pt x="1091821" y="2238233"/>
                </a:cubicBezTo>
                <a:cubicBezTo>
                  <a:pt x="1100919" y="2220036"/>
                  <a:pt x="1109022" y="2201306"/>
                  <a:pt x="1119116" y="2183642"/>
                </a:cubicBezTo>
                <a:cubicBezTo>
                  <a:pt x="1127254" y="2169401"/>
                  <a:pt x="1139951" y="2157775"/>
                  <a:pt x="1146412" y="2142699"/>
                </a:cubicBezTo>
                <a:cubicBezTo>
                  <a:pt x="1171830" y="2083392"/>
                  <a:pt x="1149514" y="2073962"/>
                  <a:pt x="1173707" y="2006221"/>
                </a:cubicBezTo>
                <a:cubicBezTo>
                  <a:pt x="1187392" y="1967902"/>
                  <a:pt x="1210101" y="1933433"/>
                  <a:pt x="1228298" y="1897039"/>
                </a:cubicBezTo>
                <a:cubicBezTo>
                  <a:pt x="1237397" y="1878842"/>
                  <a:pt x="1249160" y="1861749"/>
                  <a:pt x="1255594" y="1842448"/>
                </a:cubicBezTo>
                <a:cubicBezTo>
                  <a:pt x="1273005" y="1790217"/>
                  <a:pt x="1303857" y="1694991"/>
                  <a:pt x="1323833" y="1665027"/>
                </a:cubicBezTo>
                <a:cubicBezTo>
                  <a:pt x="1332931" y="1651379"/>
                  <a:pt x="1343793" y="1638755"/>
                  <a:pt x="1351128" y="1624084"/>
                </a:cubicBezTo>
                <a:cubicBezTo>
                  <a:pt x="1379060" y="1568220"/>
                  <a:pt x="1343629" y="1588766"/>
                  <a:pt x="1405719" y="1542197"/>
                </a:cubicBezTo>
                <a:cubicBezTo>
                  <a:pt x="1409358" y="1539467"/>
                  <a:pt x="1414818" y="1542197"/>
                  <a:pt x="1419367" y="1542197"/>
                </a:cubicBezTo>
              </a:path>
            </a:pathLst>
          </a:custGeom>
          <a:noFill/>
          <a:ln w="28575" algn="ctr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7" name="Oval 80">
            <a:extLst>
              <a:ext uri="{FF2B5EF4-FFF2-40B4-BE49-F238E27FC236}">
                <a16:creationId xmlns:a16="http://schemas.microsoft.com/office/drawing/2014/main" id="{EEE57D0F-9B31-F883-8A6A-02666CC596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35926" y="5392738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Z</a:t>
            </a:r>
          </a:p>
        </p:txBody>
      </p:sp>
      <p:sp>
        <p:nvSpPr>
          <p:cNvPr id="29708" name="Oval 80">
            <a:extLst>
              <a:ext uri="{FF2B5EF4-FFF2-40B4-BE49-F238E27FC236}">
                <a16:creationId xmlns:a16="http://schemas.microsoft.com/office/drawing/2014/main" id="{AFD27DCF-B9C2-B13B-42BB-380EB60030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77126" y="4491038"/>
            <a:ext cx="366713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Y</a:t>
            </a:r>
          </a:p>
        </p:txBody>
      </p:sp>
      <p:cxnSp>
        <p:nvCxnSpPr>
          <p:cNvPr id="29709" name="Straight Connector 46">
            <a:extLst>
              <a:ext uri="{FF2B5EF4-FFF2-40B4-BE49-F238E27FC236}">
                <a16:creationId xmlns:a16="http://schemas.microsoft.com/office/drawing/2014/main" id="{EDC8C6C5-6F79-3B90-68EF-C3913B1C0EFA}"/>
              </a:ext>
            </a:extLst>
          </p:cNvPr>
          <p:cNvCxnSpPr>
            <a:cxnSpLocks noChangeShapeType="1"/>
            <a:stCxn id="29703" idx="7"/>
            <a:endCxn id="29701" idx="4"/>
          </p:cNvCxnSpPr>
          <p:nvPr/>
        </p:nvCxnSpPr>
        <p:spPr bwMode="auto">
          <a:xfrm rot="5400000" flipH="1" flipV="1">
            <a:off x="9302750" y="4113213"/>
            <a:ext cx="495300" cy="469900"/>
          </a:xfrm>
          <a:prstGeom prst="line">
            <a:avLst/>
          </a:prstGeom>
          <a:noFill/>
          <a:ln w="476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0" name="Oval 80">
            <a:extLst>
              <a:ext uri="{FF2B5EF4-FFF2-40B4-BE49-F238E27FC236}">
                <a16:creationId xmlns:a16="http://schemas.microsoft.com/office/drawing/2014/main" id="{CCA820A9-06BA-5797-CF0C-AAC108E6CA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0601" y="373380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cxnSp>
        <p:nvCxnSpPr>
          <p:cNvPr id="29711" name="Straight Connector 52">
            <a:extLst>
              <a:ext uri="{FF2B5EF4-FFF2-40B4-BE49-F238E27FC236}">
                <a16:creationId xmlns:a16="http://schemas.microsoft.com/office/drawing/2014/main" id="{284FCCFE-CBD3-3613-F487-A4ED669992B6}"/>
              </a:ext>
            </a:extLst>
          </p:cNvPr>
          <p:cNvCxnSpPr>
            <a:cxnSpLocks noChangeShapeType="1"/>
            <a:endCxn id="29710" idx="4"/>
          </p:cNvCxnSpPr>
          <p:nvPr/>
        </p:nvCxnSpPr>
        <p:spPr bwMode="auto">
          <a:xfrm rot="16200000" flipV="1">
            <a:off x="8698707" y="4196557"/>
            <a:ext cx="488950" cy="296863"/>
          </a:xfrm>
          <a:prstGeom prst="line">
            <a:avLst/>
          </a:prstGeom>
          <a:noFill/>
          <a:ln w="476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2" name="Freeform 55">
            <a:extLst>
              <a:ext uri="{FF2B5EF4-FFF2-40B4-BE49-F238E27FC236}">
                <a16:creationId xmlns:a16="http://schemas.microsoft.com/office/drawing/2014/main" id="{F56CC63F-B3D3-049C-333B-78336968A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2651" y="3255963"/>
            <a:ext cx="225425" cy="538162"/>
          </a:xfrm>
          <a:custGeom>
            <a:avLst/>
            <a:gdLst>
              <a:gd name="T0" fmla="*/ 7274 w 225710"/>
              <a:gd name="T1" fmla="*/ 33125 h 538029"/>
              <a:gd name="T2" fmla="*/ 34293 w 225710"/>
              <a:gd name="T3" fmla="*/ 156203 h 538029"/>
              <a:gd name="T4" fmla="*/ 47802 w 225710"/>
              <a:gd name="T5" fmla="*/ 210898 h 538029"/>
              <a:gd name="T6" fmla="*/ 74825 w 225710"/>
              <a:gd name="T7" fmla="*/ 251922 h 538029"/>
              <a:gd name="T8" fmla="*/ 115356 w 225710"/>
              <a:gd name="T9" fmla="*/ 333970 h 538029"/>
              <a:gd name="T10" fmla="*/ 142378 w 225710"/>
              <a:gd name="T11" fmla="*/ 443369 h 538029"/>
              <a:gd name="T12" fmla="*/ 169398 w 225710"/>
              <a:gd name="T13" fmla="*/ 484394 h 538029"/>
              <a:gd name="T14" fmla="*/ 209931 w 225710"/>
              <a:gd name="T15" fmla="*/ 525421 h 538029"/>
              <a:gd name="T16" fmla="*/ 223440 w 225710"/>
              <a:gd name="T17" fmla="*/ 539093 h 53802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5710"/>
              <a:gd name="T28" fmla="*/ 0 h 538029"/>
              <a:gd name="T29" fmla="*/ 225710 w 225710"/>
              <a:gd name="T30" fmla="*/ 538029 h 53802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5710" h="538029">
                <a:moveTo>
                  <a:pt x="7346" y="33061"/>
                </a:moveTo>
                <a:cubicBezTo>
                  <a:pt x="40621" y="166160"/>
                  <a:pt x="0" y="0"/>
                  <a:pt x="34642" y="155891"/>
                </a:cubicBezTo>
                <a:cubicBezTo>
                  <a:pt x="38711" y="174201"/>
                  <a:pt x="40900" y="193242"/>
                  <a:pt x="48289" y="210482"/>
                </a:cubicBezTo>
                <a:cubicBezTo>
                  <a:pt x="54750" y="225559"/>
                  <a:pt x="68249" y="236755"/>
                  <a:pt x="75585" y="251426"/>
                </a:cubicBezTo>
                <a:cubicBezTo>
                  <a:pt x="132091" y="364437"/>
                  <a:pt x="38301" y="215971"/>
                  <a:pt x="116528" y="333312"/>
                </a:cubicBezTo>
                <a:cubicBezTo>
                  <a:pt x="121720" y="359270"/>
                  <a:pt x="129834" y="414515"/>
                  <a:pt x="143824" y="442494"/>
                </a:cubicBezTo>
                <a:cubicBezTo>
                  <a:pt x="151159" y="457165"/>
                  <a:pt x="160618" y="470837"/>
                  <a:pt x="171119" y="483438"/>
                </a:cubicBezTo>
                <a:cubicBezTo>
                  <a:pt x="183475" y="498265"/>
                  <a:pt x="198415" y="510733"/>
                  <a:pt x="212063" y="524381"/>
                </a:cubicBezTo>
                <a:lnTo>
                  <a:pt x="225710" y="538029"/>
                </a:lnTo>
              </a:path>
            </a:pathLst>
          </a:custGeom>
          <a:solidFill>
            <a:schemeClr val="accent1"/>
          </a:solidFill>
          <a:ln w="349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3A6FCF89-78A3-92EC-7C1B-B585A9EE4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Why It Doesn’t Work for Negative-Weight Edges</a:t>
            </a:r>
          </a:p>
        </p:txBody>
      </p:sp>
      <p:sp>
        <p:nvSpPr>
          <p:cNvPr id="3072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B7AD1DE-4E9B-7A13-2B3D-F5023A333C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2971800"/>
            <a:ext cx="4592638" cy="2470150"/>
          </a:xfrm>
        </p:spPr>
        <p:txBody>
          <a:bodyPr/>
          <a:lstStyle/>
          <a:p>
            <a:pPr lvl="1"/>
            <a:r>
              <a:rPr lang="en-US" altLang="en-US"/>
              <a:t>If a node with a negative incident edge were to be added late to the cloud, it could mess up distances for vertices already in the cloud. </a:t>
            </a:r>
          </a:p>
        </p:txBody>
      </p:sp>
      <p:sp>
        <p:nvSpPr>
          <p:cNvPr id="30723" name="Freeform 4">
            <a:extLst>
              <a:ext uri="{FF2B5EF4-FFF2-40B4-BE49-F238E27FC236}">
                <a16:creationId xmlns:a16="http://schemas.microsoft.com/office/drawing/2014/main" id="{9D9BF319-822C-F006-8396-5182FF585EBD}"/>
              </a:ext>
            </a:extLst>
          </p:cNvPr>
          <p:cNvSpPr>
            <a:spLocks/>
          </p:cNvSpPr>
          <p:nvPr/>
        </p:nvSpPr>
        <p:spPr bwMode="auto">
          <a:xfrm>
            <a:off x="6727826" y="2717800"/>
            <a:ext cx="3711575" cy="2387600"/>
          </a:xfrm>
          <a:custGeom>
            <a:avLst/>
            <a:gdLst>
              <a:gd name="T0" fmla="*/ 2147483646 w 2338"/>
              <a:gd name="T1" fmla="*/ 0 h 1504"/>
              <a:gd name="T2" fmla="*/ 2147483646 w 2338"/>
              <a:gd name="T3" fmla="*/ 2147483646 h 1504"/>
              <a:gd name="T4" fmla="*/ 2147483646 w 2338"/>
              <a:gd name="T5" fmla="*/ 2147483646 h 1504"/>
              <a:gd name="T6" fmla="*/ 2147483646 w 2338"/>
              <a:gd name="T7" fmla="*/ 2147483646 h 1504"/>
              <a:gd name="T8" fmla="*/ 2147483646 w 2338"/>
              <a:gd name="T9" fmla="*/ 2147483646 h 1504"/>
              <a:gd name="T10" fmla="*/ 2147483646 w 2338"/>
              <a:gd name="T11" fmla="*/ 2147483646 h 1504"/>
              <a:gd name="T12" fmla="*/ 2147483646 w 2338"/>
              <a:gd name="T13" fmla="*/ 2147483646 h 1504"/>
              <a:gd name="T14" fmla="*/ 2147483646 w 2338"/>
              <a:gd name="T15" fmla="*/ 2147483646 h 1504"/>
              <a:gd name="T16" fmla="*/ 2147483646 w 2338"/>
              <a:gd name="T17" fmla="*/ 2147483646 h 1504"/>
              <a:gd name="T18" fmla="*/ 2147483646 w 2338"/>
              <a:gd name="T19" fmla="*/ 2147483646 h 1504"/>
              <a:gd name="T20" fmla="*/ 2147483646 w 2338"/>
              <a:gd name="T21" fmla="*/ 0 h 150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38"/>
              <a:gd name="T34" fmla="*/ 0 h 1504"/>
              <a:gd name="T35" fmla="*/ 2338 w 2338"/>
              <a:gd name="T36" fmla="*/ 1504 h 150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38" h="1504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>
            <a:solidFill>
              <a:schemeClr val="tx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4" name="Oval 5">
            <a:extLst>
              <a:ext uri="{FF2B5EF4-FFF2-40B4-BE49-F238E27FC236}">
                <a16:creationId xmlns:a16="http://schemas.microsoft.com/office/drawing/2014/main" id="{F5536BF1-BD64-8538-5DD6-CE87388888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51826" y="373380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</a:t>
            </a:r>
          </a:p>
        </p:txBody>
      </p:sp>
      <p:sp>
        <p:nvSpPr>
          <p:cNvPr id="30725" name="Oval 6">
            <a:extLst>
              <a:ext uri="{FF2B5EF4-FFF2-40B4-BE49-F238E27FC236}">
                <a16:creationId xmlns:a16="http://schemas.microsoft.com/office/drawing/2014/main" id="{73133C29-792E-9A0A-054C-3C86E84E31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78638" y="373380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30726" name="Oval 7">
            <a:extLst>
              <a:ext uri="{FF2B5EF4-FFF2-40B4-BE49-F238E27FC236}">
                <a16:creationId xmlns:a16="http://schemas.microsoft.com/office/drawing/2014/main" id="{BFC25307-4500-29D5-5F74-697CB910D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50238" y="2927351"/>
            <a:ext cx="366712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0727" name="Oval 8">
            <a:extLst>
              <a:ext uri="{FF2B5EF4-FFF2-40B4-BE49-F238E27FC236}">
                <a16:creationId xmlns:a16="http://schemas.microsoft.com/office/drawing/2014/main" id="{04BE987D-228A-E9DB-1478-5B7DE4379E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88238" y="4541838"/>
            <a:ext cx="366712" cy="3667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E</a:t>
            </a:r>
          </a:p>
        </p:txBody>
      </p:sp>
      <p:cxnSp>
        <p:nvCxnSpPr>
          <p:cNvPr id="30728" name="AutoShape 9">
            <a:extLst>
              <a:ext uri="{FF2B5EF4-FFF2-40B4-BE49-F238E27FC236}">
                <a16:creationId xmlns:a16="http://schemas.microsoft.com/office/drawing/2014/main" id="{F6F21942-9C23-C6FF-E199-A2EF470615B8}"/>
              </a:ext>
            </a:extLst>
          </p:cNvPr>
          <p:cNvCxnSpPr>
            <a:cxnSpLocks noChangeAspect="1" noChangeShapeType="1"/>
            <a:stCxn id="30726" idx="2"/>
            <a:endCxn id="30725" idx="0"/>
          </p:cNvCxnSpPr>
          <p:nvPr/>
        </p:nvCxnSpPr>
        <p:spPr bwMode="auto">
          <a:xfrm rot="10800000" flipV="1">
            <a:off x="7061200" y="3109913"/>
            <a:ext cx="1168400" cy="603250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9" name="AutoShape 10">
            <a:extLst>
              <a:ext uri="{FF2B5EF4-FFF2-40B4-BE49-F238E27FC236}">
                <a16:creationId xmlns:a16="http://schemas.microsoft.com/office/drawing/2014/main" id="{D4CEA33E-30AD-5CB6-6576-195ED94E1101}"/>
              </a:ext>
            </a:extLst>
          </p:cNvPr>
          <p:cNvCxnSpPr>
            <a:cxnSpLocks noChangeAspect="1" noChangeShapeType="1"/>
            <a:stCxn id="30727" idx="2"/>
            <a:endCxn id="30725" idx="4"/>
          </p:cNvCxnSpPr>
          <p:nvPr/>
        </p:nvCxnSpPr>
        <p:spPr bwMode="auto">
          <a:xfrm rot="10800000">
            <a:off x="7061200" y="4117976"/>
            <a:ext cx="4064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0" name="AutoShape 11">
            <a:extLst>
              <a:ext uri="{FF2B5EF4-FFF2-40B4-BE49-F238E27FC236}">
                <a16:creationId xmlns:a16="http://schemas.microsoft.com/office/drawing/2014/main" id="{9E28F78B-0CB1-2CD0-F6A8-57919F4669C8}"/>
              </a:ext>
            </a:extLst>
          </p:cNvPr>
          <p:cNvCxnSpPr>
            <a:cxnSpLocks noChangeAspect="1" noChangeShapeType="1"/>
            <a:stCxn id="30727" idx="6"/>
            <a:endCxn id="30724" idx="3"/>
          </p:cNvCxnSpPr>
          <p:nvPr/>
        </p:nvCxnSpPr>
        <p:spPr bwMode="auto">
          <a:xfrm flipV="1">
            <a:off x="7872413" y="4065588"/>
            <a:ext cx="431800" cy="658812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1" name="AutoShape 12">
            <a:extLst>
              <a:ext uri="{FF2B5EF4-FFF2-40B4-BE49-F238E27FC236}">
                <a16:creationId xmlns:a16="http://schemas.microsoft.com/office/drawing/2014/main" id="{C5C89417-2762-DA57-0C78-946947DC15D6}"/>
              </a:ext>
            </a:extLst>
          </p:cNvPr>
          <p:cNvCxnSpPr>
            <a:cxnSpLocks noChangeAspect="1" noChangeShapeType="1"/>
            <a:stCxn id="30726" idx="4"/>
            <a:endCxn id="30724" idx="0"/>
          </p:cNvCxnSpPr>
          <p:nvPr/>
        </p:nvCxnSpPr>
        <p:spPr bwMode="auto">
          <a:xfrm>
            <a:off x="8432800" y="3311525"/>
            <a:ext cx="1588" cy="401638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2" name="AutoShape 13">
            <a:extLst>
              <a:ext uri="{FF2B5EF4-FFF2-40B4-BE49-F238E27FC236}">
                <a16:creationId xmlns:a16="http://schemas.microsoft.com/office/drawing/2014/main" id="{F8E6ACBA-0B44-BE92-E36C-C1803CEC938F}"/>
              </a:ext>
            </a:extLst>
          </p:cNvPr>
          <p:cNvCxnSpPr>
            <a:cxnSpLocks noChangeAspect="1" noChangeShapeType="1"/>
            <a:stCxn id="30725" idx="6"/>
            <a:endCxn id="30724" idx="2"/>
          </p:cNvCxnSpPr>
          <p:nvPr/>
        </p:nvCxnSpPr>
        <p:spPr bwMode="auto">
          <a:xfrm>
            <a:off x="7262814" y="3916363"/>
            <a:ext cx="968375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3" name="Oval 14">
            <a:extLst>
              <a:ext uri="{FF2B5EF4-FFF2-40B4-BE49-F238E27FC236}">
                <a16:creationId xmlns:a16="http://schemas.microsoft.com/office/drawing/2014/main" id="{35D9C9DB-F4FB-A1D1-70B1-CDB19737D4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13901" y="3733801"/>
            <a:ext cx="366713" cy="366713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D</a:t>
            </a:r>
          </a:p>
        </p:txBody>
      </p:sp>
      <p:cxnSp>
        <p:nvCxnSpPr>
          <p:cNvPr id="30734" name="AutoShape 15">
            <a:extLst>
              <a:ext uri="{FF2B5EF4-FFF2-40B4-BE49-F238E27FC236}">
                <a16:creationId xmlns:a16="http://schemas.microsoft.com/office/drawing/2014/main" id="{B0AEC16F-2450-855C-72B1-1AEA06D5674B}"/>
              </a:ext>
            </a:extLst>
          </p:cNvPr>
          <p:cNvCxnSpPr>
            <a:cxnSpLocks noChangeAspect="1" noChangeShapeType="1"/>
            <a:stCxn id="30737" idx="6"/>
            <a:endCxn id="30733" idx="4"/>
          </p:cNvCxnSpPr>
          <p:nvPr/>
        </p:nvCxnSpPr>
        <p:spPr bwMode="auto">
          <a:xfrm flipV="1">
            <a:off x="9377363" y="4117976"/>
            <a:ext cx="419100" cy="60642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5" name="AutoShape 16">
            <a:extLst>
              <a:ext uri="{FF2B5EF4-FFF2-40B4-BE49-F238E27FC236}">
                <a16:creationId xmlns:a16="http://schemas.microsoft.com/office/drawing/2014/main" id="{578DB5BF-2C58-0129-9B95-A275D3731096}"/>
              </a:ext>
            </a:extLst>
          </p:cNvPr>
          <p:cNvCxnSpPr>
            <a:cxnSpLocks noChangeAspect="1" noChangeShapeType="1"/>
            <a:stCxn id="30733" idx="0"/>
            <a:endCxn id="30726" idx="6"/>
          </p:cNvCxnSpPr>
          <p:nvPr/>
        </p:nvCxnSpPr>
        <p:spPr bwMode="auto">
          <a:xfrm rot="5400000" flipH="1">
            <a:off x="8913813" y="2830513"/>
            <a:ext cx="603250" cy="11620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6" name="AutoShape 17">
            <a:extLst>
              <a:ext uri="{FF2B5EF4-FFF2-40B4-BE49-F238E27FC236}">
                <a16:creationId xmlns:a16="http://schemas.microsoft.com/office/drawing/2014/main" id="{598BC706-8533-B6FD-15AF-0E60C12CF92B}"/>
              </a:ext>
            </a:extLst>
          </p:cNvPr>
          <p:cNvCxnSpPr>
            <a:cxnSpLocks noChangeAspect="1" noChangeShapeType="1"/>
            <a:stCxn id="30724" idx="6"/>
            <a:endCxn id="30733" idx="2"/>
          </p:cNvCxnSpPr>
          <p:nvPr/>
        </p:nvCxnSpPr>
        <p:spPr bwMode="auto">
          <a:xfrm>
            <a:off x="8636001" y="3916363"/>
            <a:ext cx="957263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7" name="Oval 18">
            <a:extLst>
              <a:ext uri="{FF2B5EF4-FFF2-40B4-BE49-F238E27FC236}">
                <a16:creationId xmlns:a16="http://schemas.microsoft.com/office/drawing/2014/main" id="{12A26589-A011-623F-E706-B1150D37E1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02713" y="4541838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</a:p>
        </p:txBody>
      </p:sp>
      <p:cxnSp>
        <p:nvCxnSpPr>
          <p:cNvPr id="30738" name="AutoShape 19">
            <a:extLst>
              <a:ext uri="{FF2B5EF4-FFF2-40B4-BE49-F238E27FC236}">
                <a16:creationId xmlns:a16="http://schemas.microsoft.com/office/drawing/2014/main" id="{745C6075-1CA7-7EC3-FBC5-F28DF6AC086B}"/>
              </a:ext>
            </a:extLst>
          </p:cNvPr>
          <p:cNvCxnSpPr>
            <a:cxnSpLocks noChangeAspect="1" noChangeShapeType="1"/>
            <a:stCxn id="30724" idx="5"/>
            <a:endCxn id="30737" idx="2"/>
          </p:cNvCxnSpPr>
          <p:nvPr/>
        </p:nvCxnSpPr>
        <p:spPr bwMode="auto">
          <a:xfrm rot="16200000" flipH="1">
            <a:off x="8448676" y="4181476"/>
            <a:ext cx="658812" cy="427037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9" name="Text Box 20">
            <a:extLst>
              <a:ext uri="{FF2B5EF4-FFF2-40B4-BE49-F238E27FC236}">
                <a16:creationId xmlns:a16="http://schemas.microsoft.com/office/drawing/2014/main" id="{C7734B41-4B62-ABFC-6A73-316ECD7B5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5188" y="26987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740" name="Text Box 21">
            <a:extLst>
              <a:ext uri="{FF2B5EF4-FFF2-40B4-BE49-F238E27FC236}">
                <a16:creationId xmlns:a16="http://schemas.microsoft.com/office/drawing/2014/main" id="{D3DF3740-A33E-E704-CE18-BE271B6A6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838" y="3525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  <p:sp>
        <p:nvSpPr>
          <p:cNvPr id="30741" name="Text Box 22">
            <a:extLst>
              <a:ext uri="{FF2B5EF4-FFF2-40B4-BE49-F238E27FC236}">
                <a16:creationId xmlns:a16="http://schemas.microsoft.com/office/drawing/2014/main" id="{E7F2BA3B-C4E3-E4CE-E989-A3F2E9655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6938" y="3525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0742" name="Text Box 23">
            <a:extLst>
              <a:ext uri="{FF2B5EF4-FFF2-40B4-BE49-F238E27FC236}">
                <a16:creationId xmlns:a16="http://schemas.microsoft.com/office/drawing/2014/main" id="{17D580DE-1E14-7C0B-8721-E586489EC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338" y="3525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30743" name="Text Box 24">
            <a:extLst>
              <a:ext uri="{FF2B5EF4-FFF2-40B4-BE49-F238E27FC236}">
                <a16:creationId xmlns:a16="http://schemas.microsoft.com/office/drawing/2014/main" id="{0D6405B1-FCE5-045D-853D-E76A6CE19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9650" y="42497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0744" name="Text Box 25">
            <a:extLst>
              <a:ext uri="{FF2B5EF4-FFF2-40B4-BE49-F238E27FC236}">
                <a16:creationId xmlns:a16="http://schemas.microsoft.com/office/drawing/2014/main" id="{BA755C50-17C1-014C-80EE-4B3FF4FC3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3688" y="42497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30745" name="Text Box 26">
            <a:extLst>
              <a:ext uri="{FF2B5EF4-FFF2-40B4-BE49-F238E27FC236}">
                <a16:creationId xmlns:a16="http://schemas.microsoft.com/office/drawing/2014/main" id="{5CB1B8F4-D722-4664-280D-5CCE6F541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3388" y="29416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746" name="Text Box 27">
            <a:extLst>
              <a:ext uri="{FF2B5EF4-FFF2-40B4-BE49-F238E27FC236}">
                <a16:creationId xmlns:a16="http://schemas.microsoft.com/office/drawing/2014/main" id="{D01DC80A-21A5-3440-EF59-DAB1373BA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3438" y="30035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0747" name="Text Box 28">
            <a:extLst>
              <a:ext uri="{FF2B5EF4-FFF2-40B4-BE49-F238E27FC236}">
                <a16:creationId xmlns:a16="http://schemas.microsoft.com/office/drawing/2014/main" id="{4B0ADBDA-605E-653B-22D2-3552E59E5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4438" y="36131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0748" name="Text Box 29">
            <a:extLst>
              <a:ext uri="{FF2B5EF4-FFF2-40B4-BE49-F238E27FC236}">
                <a16:creationId xmlns:a16="http://schemas.microsoft.com/office/drawing/2014/main" id="{F6C5D94C-585C-2EF3-2E8A-C0554DD20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238" y="36131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49" name="Text Box 30">
            <a:extLst>
              <a:ext uri="{FF2B5EF4-FFF2-40B4-BE49-F238E27FC236}">
                <a16:creationId xmlns:a16="http://schemas.microsoft.com/office/drawing/2014/main" id="{CF2326C2-C14A-60D7-6A84-E1E900400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638" y="44132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50" name="Text Box 31">
            <a:extLst>
              <a:ext uri="{FF2B5EF4-FFF2-40B4-BE49-F238E27FC236}">
                <a16:creationId xmlns:a16="http://schemas.microsoft.com/office/drawing/2014/main" id="{45D9F7AE-6AA0-8236-F6C5-418B769DC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1838" y="44132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0751" name="Text Box 32">
            <a:extLst>
              <a:ext uri="{FF2B5EF4-FFF2-40B4-BE49-F238E27FC236}">
                <a16:creationId xmlns:a16="http://schemas.microsoft.com/office/drawing/2014/main" id="{96CC33B4-9CAF-223D-F4C2-D25C727D6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7838" y="33083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0752" name="Text Box 33">
            <a:extLst>
              <a:ext uri="{FF2B5EF4-FFF2-40B4-BE49-F238E27FC236}">
                <a16:creationId xmlns:a16="http://schemas.microsoft.com/office/drawing/2014/main" id="{23DEAF66-51E4-4DE7-BF9A-2928CD586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438" y="414655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0753" name="Text Box 34">
            <a:extLst>
              <a:ext uri="{FF2B5EF4-FFF2-40B4-BE49-F238E27FC236}">
                <a16:creationId xmlns:a16="http://schemas.microsoft.com/office/drawing/2014/main" id="{F8BE2E3D-9BAE-94E0-E3A6-D452AC5D5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6950" y="414655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-8</a:t>
            </a:r>
          </a:p>
        </p:txBody>
      </p:sp>
      <p:sp>
        <p:nvSpPr>
          <p:cNvPr id="30754" name="Rectangle 3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0C2518A-9F57-D4AB-D728-597569E4C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524000"/>
            <a:ext cx="7050088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2000"/>
              <a:t>Dijkstra’s algorithm is based on the greedy method. It adds vertices by increasing distance.</a:t>
            </a:r>
          </a:p>
        </p:txBody>
      </p:sp>
      <p:sp>
        <p:nvSpPr>
          <p:cNvPr id="30755" name="Text Box 38">
            <a:extLst>
              <a:ext uri="{FF2B5EF4-FFF2-40B4-BE49-F238E27FC236}">
                <a16:creationId xmlns:a16="http://schemas.microsoft.com/office/drawing/2014/main" id="{37D9582D-F649-7D86-E25E-234C86F92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300" y="5257801"/>
            <a:ext cx="3721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C’s true distance now becomes 1. Then D’s distance is messed up!</a:t>
            </a:r>
          </a:p>
        </p:txBody>
      </p:sp>
      <p:sp>
        <p:nvSpPr>
          <p:cNvPr id="30756" name="Line 39">
            <a:extLst>
              <a:ext uri="{FF2B5EF4-FFF2-40B4-BE49-F238E27FC236}">
                <a16:creationId xmlns:a16="http://schemas.microsoft.com/office/drawing/2014/main" id="{8C51D5E3-337F-AB14-4354-745C9623E6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96288" y="4191001"/>
            <a:ext cx="38100" cy="11604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A6A61FE9-6FED-26D2-06FE-BEA45F1F0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Bellman-Ford Algorithm</a:t>
            </a:r>
          </a:p>
        </p:txBody>
      </p:sp>
      <p:sp>
        <p:nvSpPr>
          <p:cNvPr id="3174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FA2DC65-6EBD-BA4A-DBE3-56A7299DD8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676400"/>
            <a:ext cx="36576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Works with negative-weight edges</a:t>
            </a:r>
          </a:p>
          <a:p>
            <a:pPr>
              <a:lnSpc>
                <a:spcPct val="90000"/>
              </a:lnSpc>
            </a:pPr>
            <a:endParaRPr lang="en-US" altLang="en-US" sz="1000"/>
          </a:p>
          <a:p>
            <a:pPr>
              <a:lnSpc>
                <a:spcPct val="90000"/>
              </a:lnSpc>
            </a:pPr>
            <a:r>
              <a:rPr lang="en-US" altLang="en-US" sz="2000"/>
              <a:t>Must assume </a:t>
            </a:r>
            <a:r>
              <a:rPr lang="en-US" altLang="en-US" sz="2000">
                <a:solidFill>
                  <a:srgbClr val="FF0000"/>
                </a:solidFill>
              </a:rPr>
              <a:t>directed</a:t>
            </a:r>
            <a:r>
              <a:rPr lang="en-US" altLang="en-US" sz="2000"/>
              <a:t> edges (for otherwise we would have negative-weight cycles: a cycle between only two nodes)</a:t>
            </a:r>
          </a:p>
          <a:p>
            <a:pPr>
              <a:lnSpc>
                <a:spcPct val="90000"/>
              </a:lnSpc>
            </a:pPr>
            <a:endParaRPr lang="en-US" altLang="en-US" sz="1000"/>
          </a:p>
          <a:p>
            <a:pPr>
              <a:lnSpc>
                <a:spcPct val="90000"/>
              </a:lnSpc>
            </a:pPr>
            <a:r>
              <a:rPr lang="en-US" altLang="en-US" sz="2000"/>
              <a:t>Iteration i finds all shortest paths that use i edges.</a:t>
            </a:r>
          </a:p>
          <a:p>
            <a:pPr>
              <a:lnSpc>
                <a:spcPct val="90000"/>
              </a:lnSpc>
            </a:pPr>
            <a:endParaRPr lang="en-US" altLang="en-US" sz="1000"/>
          </a:p>
          <a:p>
            <a:pPr>
              <a:lnSpc>
                <a:spcPct val="90000"/>
              </a:lnSpc>
            </a:pPr>
            <a:r>
              <a:rPr lang="en-US" altLang="en-US" sz="2000"/>
              <a:t>Running time: O(nm).</a:t>
            </a:r>
          </a:p>
          <a:p>
            <a:pPr>
              <a:lnSpc>
                <a:spcPct val="90000"/>
              </a:lnSpc>
            </a:pPr>
            <a:endParaRPr lang="en-US" altLang="en-US" sz="1000"/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451306B8-FF9C-80D3-C7E4-3E962EC3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739900"/>
            <a:ext cx="4133850" cy="3746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BellmanFord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G, 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n-1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</a:t>
            </a: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each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G.edges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>
                <a:latin typeface="Times New Roman" panose="02020603050405020304" pitchFamily="18" charset="0"/>
              </a:rPr>
              <a:t>{ relax edge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 }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G.origin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z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G.opposite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u,e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r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z,r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Oval 133">
            <a:extLst>
              <a:ext uri="{FF2B5EF4-FFF2-40B4-BE49-F238E27FC236}">
                <a16:creationId xmlns:a16="http://schemas.microsoft.com/office/drawing/2014/main" id="{B0927E9B-1F81-9565-1578-7B178F060F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96088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0" name="Text Box 156">
            <a:extLst>
              <a:ext uri="{FF2B5EF4-FFF2-40B4-BE49-F238E27FC236}">
                <a16:creationId xmlns:a16="http://schemas.microsoft.com/office/drawing/2014/main" id="{28096045-0C88-FB3C-4CC6-A4ED2116D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2860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B3C61E3-09E3-DD63-E69B-D37FFE6DB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Bellman-Ford Example</a:t>
            </a:r>
          </a:p>
        </p:txBody>
      </p:sp>
      <p:sp>
        <p:nvSpPr>
          <p:cNvPr id="32772" name="Oval 5">
            <a:extLst>
              <a:ext uri="{FF2B5EF4-FFF2-40B4-BE49-F238E27FC236}">
                <a16:creationId xmlns:a16="http://schemas.microsoft.com/office/drawing/2014/main" id="{7C85E645-94C5-08FF-0CE8-5BB15E912F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1588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3" name="Oval 6">
            <a:extLst>
              <a:ext uri="{FF2B5EF4-FFF2-40B4-BE49-F238E27FC236}">
                <a16:creationId xmlns:a16="http://schemas.microsoft.com/office/drawing/2014/main" id="{6C655908-343E-B8E2-5F2A-C9C992F04C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1" y="271145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4" name="Oval 7">
            <a:extLst>
              <a:ext uri="{FF2B5EF4-FFF2-40B4-BE49-F238E27FC236}">
                <a16:creationId xmlns:a16="http://schemas.microsoft.com/office/drawing/2014/main" id="{AD72EB7E-9A66-2BF8-01AF-5B42D5CD0E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1" y="19050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32775" name="Oval 8">
            <a:extLst>
              <a:ext uri="{FF2B5EF4-FFF2-40B4-BE49-F238E27FC236}">
                <a16:creationId xmlns:a16="http://schemas.microsoft.com/office/drawing/2014/main" id="{6AEE33FB-5380-C840-A821-EEC2EEDB24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1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2776" name="AutoShape 9">
            <a:extLst>
              <a:ext uri="{FF2B5EF4-FFF2-40B4-BE49-F238E27FC236}">
                <a16:creationId xmlns:a16="http://schemas.microsoft.com/office/drawing/2014/main" id="{15279020-474D-C9BC-9F02-E4E45B2413D8}"/>
              </a:ext>
            </a:extLst>
          </p:cNvPr>
          <p:cNvCxnSpPr>
            <a:cxnSpLocks noChangeAspect="1" noChangeShapeType="1"/>
            <a:stCxn id="32774" idx="2"/>
            <a:endCxn id="32773" idx="0"/>
          </p:cNvCxnSpPr>
          <p:nvPr/>
        </p:nvCxnSpPr>
        <p:spPr bwMode="auto">
          <a:xfrm rot="10800000" flipV="1">
            <a:off x="2620964" y="2087564"/>
            <a:ext cx="1177925" cy="6127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7" name="AutoShape 10">
            <a:extLst>
              <a:ext uri="{FF2B5EF4-FFF2-40B4-BE49-F238E27FC236}">
                <a16:creationId xmlns:a16="http://schemas.microsoft.com/office/drawing/2014/main" id="{099FF2E5-AC4E-0A15-7739-2215CABEC0D0}"/>
              </a:ext>
            </a:extLst>
          </p:cNvPr>
          <p:cNvCxnSpPr>
            <a:cxnSpLocks noChangeAspect="1" noChangeShapeType="1"/>
            <a:stCxn id="32775" idx="2"/>
            <a:endCxn id="32773" idx="4"/>
          </p:cNvCxnSpPr>
          <p:nvPr/>
        </p:nvCxnSpPr>
        <p:spPr bwMode="auto">
          <a:xfrm rot="10800000">
            <a:off x="2620964" y="30861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8" name="AutoShape 11">
            <a:extLst>
              <a:ext uri="{FF2B5EF4-FFF2-40B4-BE49-F238E27FC236}">
                <a16:creationId xmlns:a16="http://schemas.microsoft.com/office/drawing/2014/main" id="{73C0A8E5-86E8-BE4E-44B6-1D98DDC8729D}"/>
              </a:ext>
            </a:extLst>
          </p:cNvPr>
          <p:cNvCxnSpPr>
            <a:cxnSpLocks noChangeAspect="1" noChangeShapeType="1"/>
            <a:stCxn id="32775" idx="6"/>
            <a:endCxn id="32772" idx="3"/>
          </p:cNvCxnSpPr>
          <p:nvPr/>
        </p:nvCxnSpPr>
        <p:spPr bwMode="auto">
          <a:xfrm flipV="1">
            <a:off x="3422651" y="3033714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9" name="AutoShape 12">
            <a:extLst>
              <a:ext uri="{FF2B5EF4-FFF2-40B4-BE49-F238E27FC236}">
                <a16:creationId xmlns:a16="http://schemas.microsoft.com/office/drawing/2014/main" id="{4D6896B2-D630-4AED-7C48-2019A9722D32}"/>
              </a:ext>
            </a:extLst>
          </p:cNvPr>
          <p:cNvCxnSpPr>
            <a:cxnSpLocks noChangeAspect="1" noChangeShapeType="1"/>
            <a:stCxn id="32774" idx="4"/>
            <a:endCxn id="32772" idx="0"/>
          </p:cNvCxnSpPr>
          <p:nvPr/>
        </p:nvCxnSpPr>
        <p:spPr bwMode="auto">
          <a:xfrm>
            <a:off x="3992564" y="2279650"/>
            <a:ext cx="1587" cy="4206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0" name="AutoShape 13">
            <a:extLst>
              <a:ext uri="{FF2B5EF4-FFF2-40B4-BE49-F238E27FC236}">
                <a16:creationId xmlns:a16="http://schemas.microsoft.com/office/drawing/2014/main" id="{3B116243-2B69-3898-8E0E-885F28EBF8C7}"/>
              </a:ext>
            </a:extLst>
          </p:cNvPr>
          <p:cNvCxnSpPr>
            <a:cxnSpLocks noChangeAspect="1" noChangeShapeType="1"/>
            <a:stCxn id="32773" idx="6"/>
            <a:endCxn id="32772" idx="2"/>
          </p:cNvCxnSpPr>
          <p:nvPr/>
        </p:nvCxnSpPr>
        <p:spPr bwMode="auto">
          <a:xfrm>
            <a:off x="2813051" y="2894013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1" name="Oval 14">
            <a:extLst>
              <a:ext uri="{FF2B5EF4-FFF2-40B4-BE49-F238E27FC236}">
                <a16:creationId xmlns:a16="http://schemas.microsoft.com/office/drawing/2014/main" id="{2E6CD706-1910-E109-DF29-437D79DED5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73663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2782" name="AutoShape 15">
            <a:extLst>
              <a:ext uri="{FF2B5EF4-FFF2-40B4-BE49-F238E27FC236}">
                <a16:creationId xmlns:a16="http://schemas.microsoft.com/office/drawing/2014/main" id="{486B22BE-3EF6-E2A9-E47D-DBEFDAF7F306}"/>
              </a:ext>
            </a:extLst>
          </p:cNvPr>
          <p:cNvCxnSpPr>
            <a:cxnSpLocks noChangeAspect="1" noChangeShapeType="1"/>
            <a:stCxn id="32785" idx="6"/>
            <a:endCxn id="32781" idx="4"/>
          </p:cNvCxnSpPr>
          <p:nvPr/>
        </p:nvCxnSpPr>
        <p:spPr bwMode="auto">
          <a:xfrm flipV="1">
            <a:off x="4937125" y="30861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3" name="AutoShape 16">
            <a:extLst>
              <a:ext uri="{FF2B5EF4-FFF2-40B4-BE49-F238E27FC236}">
                <a16:creationId xmlns:a16="http://schemas.microsoft.com/office/drawing/2014/main" id="{24388E57-B4C4-754A-11C0-6F72A8AB4495}"/>
              </a:ext>
            </a:extLst>
          </p:cNvPr>
          <p:cNvCxnSpPr>
            <a:cxnSpLocks noChangeAspect="1" noChangeShapeType="1"/>
            <a:stCxn id="32781" idx="0"/>
            <a:endCxn id="32774" idx="6"/>
          </p:cNvCxnSpPr>
          <p:nvPr/>
        </p:nvCxnSpPr>
        <p:spPr bwMode="auto">
          <a:xfrm rot="5400000" flipH="1">
            <a:off x="4464051" y="1808164"/>
            <a:ext cx="612775" cy="11715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4" name="AutoShape 17">
            <a:extLst>
              <a:ext uri="{FF2B5EF4-FFF2-40B4-BE49-F238E27FC236}">
                <a16:creationId xmlns:a16="http://schemas.microsoft.com/office/drawing/2014/main" id="{6A5303FC-FA48-E5DC-BB57-C91872C1AB08}"/>
              </a:ext>
            </a:extLst>
          </p:cNvPr>
          <p:cNvCxnSpPr>
            <a:cxnSpLocks noChangeAspect="1" noChangeShapeType="1"/>
            <a:stCxn id="32772" idx="6"/>
            <a:endCxn id="32781" idx="2"/>
          </p:cNvCxnSpPr>
          <p:nvPr/>
        </p:nvCxnSpPr>
        <p:spPr bwMode="auto">
          <a:xfrm>
            <a:off x="4186238" y="28940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5" name="Oval 18">
            <a:extLst>
              <a:ext uri="{FF2B5EF4-FFF2-40B4-BE49-F238E27FC236}">
                <a16:creationId xmlns:a16="http://schemas.microsoft.com/office/drawing/2014/main" id="{8D5FD915-E576-6436-CB7C-4CBF87AF16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62476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2786" name="AutoShape 19">
            <a:extLst>
              <a:ext uri="{FF2B5EF4-FFF2-40B4-BE49-F238E27FC236}">
                <a16:creationId xmlns:a16="http://schemas.microsoft.com/office/drawing/2014/main" id="{2594228A-7078-08F0-71C8-8C3D11E9BE35}"/>
              </a:ext>
            </a:extLst>
          </p:cNvPr>
          <p:cNvCxnSpPr>
            <a:cxnSpLocks noChangeAspect="1" noChangeShapeType="1"/>
            <a:stCxn id="32772" idx="5"/>
            <a:endCxn id="32785" idx="2"/>
          </p:cNvCxnSpPr>
          <p:nvPr/>
        </p:nvCxnSpPr>
        <p:spPr bwMode="auto">
          <a:xfrm rot="16200000" flipH="1">
            <a:off x="4003676" y="31543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7" name="Text Box 26">
            <a:extLst>
              <a:ext uri="{FF2B5EF4-FFF2-40B4-BE49-F238E27FC236}">
                <a16:creationId xmlns:a16="http://schemas.microsoft.com/office/drawing/2014/main" id="{01287455-D2BB-D224-B76D-3C30E2209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19192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88" name="Text Box 27">
            <a:extLst>
              <a:ext uri="{FF2B5EF4-FFF2-40B4-BE49-F238E27FC236}">
                <a16:creationId xmlns:a16="http://schemas.microsoft.com/office/drawing/2014/main" id="{C9FFCC76-0335-4747-DCE6-7E3D809A5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981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2789" name="Text Box 28">
            <a:extLst>
              <a:ext uri="{FF2B5EF4-FFF2-40B4-BE49-F238E27FC236}">
                <a16:creationId xmlns:a16="http://schemas.microsoft.com/office/drawing/2014/main" id="{12A8DDA1-A2DD-761C-6965-0A8C26EAA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790" name="Text Box 29">
            <a:extLst>
              <a:ext uri="{FF2B5EF4-FFF2-40B4-BE49-F238E27FC236}">
                <a16:creationId xmlns:a16="http://schemas.microsoft.com/office/drawing/2014/main" id="{BF047B4B-DF5F-4450-9068-CE7880D59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91" name="Text Box 30">
            <a:extLst>
              <a:ext uri="{FF2B5EF4-FFF2-40B4-BE49-F238E27FC236}">
                <a16:creationId xmlns:a16="http://schemas.microsoft.com/office/drawing/2014/main" id="{57AFD161-9317-0999-43C7-F5072E6D1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0" y="33909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792" name="Text Box 31">
            <a:extLst>
              <a:ext uri="{FF2B5EF4-FFF2-40B4-BE49-F238E27FC236}">
                <a16:creationId xmlns:a16="http://schemas.microsoft.com/office/drawing/2014/main" id="{1ECF9432-36A7-4603-8820-56ED0E416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3909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793" name="Text Box 32">
            <a:extLst>
              <a:ext uri="{FF2B5EF4-FFF2-40B4-BE49-F238E27FC236}">
                <a16:creationId xmlns:a16="http://schemas.microsoft.com/office/drawing/2014/main" id="{36238DA2-E176-45FD-ED64-5F113E2B4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22860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794" name="Text Box 33">
            <a:extLst>
              <a:ext uri="{FF2B5EF4-FFF2-40B4-BE49-F238E27FC236}">
                <a16:creationId xmlns:a16="http://schemas.microsoft.com/office/drawing/2014/main" id="{18DEC7A4-DF69-C5D6-83EC-88234ADE1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795" name="Text Box 34">
            <a:extLst>
              <a:ext uri="{FF2B5EF4-FFF2-40B4-BE49-F238E27FC236}">
                <a16:creationId xmlns:a16="http://schemas.microsoft.com/office/drawing/2014/main" id="{876843CF-4B6E-2570-A1FA-68A17F162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796" name="AutoShape 100">
            <a:extLst>
              <a:ext uri="{FF2B5EF4-FFF2-40B4-BE49-F238E27FC236}">
                <a16:creationId xmlns:a16="http://schemas.microsoft.com/office/drawing/2014/main" id="{DE3BFDEE-9536-E0BD-BB48-E7C0B171B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870200"/>
            <a:ext cx="609600" cy="520700"/>
          </a:xfrm>
          <a:prstGeom prst="rightArrow">
            <a:avLst>
              <a:gd name="adj1" fmla="val 50000"/>
              <a:gd name="adj2" fmla="val 29268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797" name="AutoShape 101">
            <a:extLst>
              <a:ext uri="{FF2B5EF4-FFF2-40B4-BE49-F238E27FC236}">
                <a16:creationId xmlns:a16="http://schemas.microsoft.com/office/drawing/2014/main" id="{2D997790-8D10-D82F-F4E9-9C65BE703104}"/>
              </a:ext>
            </a:extLst>
          </p:cNvPr>
          <p:cNvSpPr>
            <a:spLocks noChangeArrowheads="1"/>
          </p:cNvSpPr>
          <p:nvPr/>
        </p:nvSpPr>
        <p:spPr bwMode="auto">
          <a:xfrm rot="19375579">
            <a:off x="5486401" y="4038601"/>
            <a:ext cx="1108075" cy="442913"/>
          </a:xfrm>
          <a:prstGeom prst="leftArrow">
            <a:avLst>
              <a:gd name="adj1" fmla="val 50000"/>
              <a:gd name="adj2" fmla="val 62545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798" name="AutoShape 102">
            <a:extLst>
              <a:ext uri="{FF2B5EF4-FFF2-40B4-BE49-F238E27FC236}">
                <a16:creationId xmlns:a16="http://schemas.microsoft.com/office/drawing/2014/main" id="{ACD89410-54BD-F615-612C-683ED25E9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194300"/>
            <a:ext cx="609600" cy="520700"/>
          </a:xfrm>
          <a:prstGeom prst="rightArrow">
            <a:avLst>
              <a:gd name="adj1" fmla="val 50000"/>
              <a:gd name="adj2" fmla="val 29268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2799" name="Oval 132">
            <a:extLst>
              <a:ext uri="{FF2B5EF4-FFF2-40B4-BE49-F238E27FC236}">
                <a16:creationId xmlns:a16="http://schemas.microsoft.com/office/drawing/2014/main" id="{3A673DBF-6C19-37C4-C5AD-178FC9B3B4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54988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800" name="Oval 134">
            <a:extLst>
              <a:ext uri="{FF2B5EF4-FFF2-40B4-BE49-F238E27FC236}">
                <a16:creationId xmlns:a16="http://schemas.microsoft.com/office/drawing/2014/main" id="{EDDA0242-63E4-E31E-C3BB-02DB3B763D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53401" y="19050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32801" name="Oval 135">
            <a:extLst>
              <a:ext uri="{FF2B5EF4-FFF2-40B4-BE49-F238E27FC236}">
                <a16:creationId xmlns:a16="http://schemas.microsoft.com/office/drawing/2014/main" id="{7109213D-1E5D-E022-A3EC-B9466916A9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91401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2802" name="AutoShape 136">
            <a:extLst>
              <a:ext uri="{FF2B5EF4-FFF2-40B4-BE49-F238E27FC236}">
                <a16:creationId xmlns:a16="http://schemas.microsoft.com/office/drawing/2014/main" id="{CC051C5C-58F2-923A-951B-6965560A5991}"/>
              </a:ext>
            </a:extLst>
          </p:cNvPr>
          <p:cNvCxnSpPr>
            <a:cxnSpLocks noChangeAspect="1" noChangeShapeType="1"/>
            <a:stCxn id="32800" idx="2"/>
            <a:endCxn id="32769" idx="0"/>
          </p:cNvCxnSpPr>
          <p:nvPr/>
        </p:nvCxnSpPr>
        <p:spPr bwMode="auto">
          <a:xfrm rot="10800000" flipV="1">
            <a:off x="6978650" y="2087564"/>
            <a:ext cx="1163638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3" name="AutoShape 137">
            <a:extLst>
              <a:ext uri="{FF2B5EF4-FFF2-40B4-BE49-F238E27FC236}">
                <a16:creationId xmlns:a16="http://schemas.microsoft.com/office/drawing/2014/main" id="{E4228223-BF34-7019-314D-D4E3A8C983FB}"/>
              </a:ext>
            </a:extLst>
          </p:cNvPr>
          <p:cNvCxnSpPr>
            <a:cxnSpLocks noChangeAspect="1" noChangeShapeType="1"/>
            <a:stCxn id="32801" idx="2"/>
            <a:endCxn id="32769" idx="4"/>
          </p:cNvCxnSpPr>
          <p:nvPr/>
        </p:nvCxnSpPr>
        <p:spPr bwMode="auto">
          <a:xfrm rot="10800000">
            <a:off x="6978650" y="3086100"/>
            <a:ext cx="401638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4" name="AutoShape 138">
            <a:extLst>
              <a:ext uri="{FF2B5EF4-FFF2-40B4-BE49-F238E27FC236}">
                <a16:creationId xmlns:a16="http://schemas.microsoft.com/office/drawing/2014/main" id="{72D94DEA-3968-5E23-DF11-CE5539949DF9}"/>
              </a:ext>
            </a:extLst>
          </p:cNvPr>
          <p:cNvCxnSpPr>
            <a:cxnSpLocks noChangeAspect="1" noChangeShapeType="1"/>
            <a:stCxn id="32801" idx="6"/>
            <a:endCxn id="32799" idx="3"/>
          </p:cNvCxnSpPr>
          <p:nvPr/>
        </p:nvCxnSpPr>
        <p:spPr bwMode="auto">
          <a:xfrm flipV="1">
            <a:off x="7766051" y="3033714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5" name="AutoShape 139">
            <a:extLst>
              <a:ext uri="{FF2B5EF4-FFF2-40B4-BE49-F238E27FC236}">
                <a16:creationId xmlns:a16="http://schemas.microsoft.com/office/drawing/2014/main" id="{C883E6C1-A082-C475-2045-6B7101103A94}"/>
              </a:ext>
            </a:extLst>
          </p:cNvPr>
          <p:cNvCxnSpPr>
            <a:cxnSpLocks noChangeAspect="1" noChangeShapeType="1"/>
            <a:stCxn id="32800" idx="4"/>
            <a:endCxn id="32799" idx="0"/>
          </p:cNvCxnSpPr>
          <p:nvPr/>
        </p:nvCxnSpPr>
        <p:spPr bwMode="auto">
          <a:xfrm>
            <a:off x="8335964" y="2279650"/>
            <a:ext cx="1587" cy="4206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6" name="AutoShape 140">
            <a:extLst>
              <a:ext uri="{FF2B5EF4-FFF2-40B4-BE49-F238E27FC236}">
                <a16:creationId xmlns:a16="http://schemas.microsoft.com/office/drawing/2014/main" id="{010DEDD5-2D9A-250D-A9C0-06BA3C4A06BF}"/>
              </a:ext>
            </a:extLst>
          </p:cNvPr>
          <p:cNvCxnSpPr>
            <a:cxnSpLocks noChangeAspect="1" noChangeShapeType="1"/>
            <a:stCxn id="32769" idx="6"/>
            <a:endCxn id="32799" idx="2"/>
          </p:cNvCxnSpPr>
          <p:nvPr/>
        </p:nvCxnSpPr>
        <p:spPr bwMode="auto">
          <a:xfrm>
            <a:off x="7170739" y="2894013"/>
            <a:ext cx="9731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07" name="Oval 141">
            <a:extLst>
              <a:ext uri="{FF2B5EF4-FFF2-40B4-BE49-F238E27FC236}">
                <a16:creationId xmlns:a16="http://schemas.microsoft.com/office/drawing/2014/main" id="{EF088484-D249-B67E-FBE5-BD96475362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17063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2808" name="AutoShape 142">
            <a:extLst>
              <a:ext uri="{FF2B5EF4-FFF2-40B4-BE49-F238E27FC236}">
                <a16:creationId xmlns:a16="http://schemas.microsoft.com/office/drawing/2014/main" id="{3F102B51-153C-5FE1-8B5F-839985AB0156}"/>
              </a:ext>
            </a:extLst>
          </p:cNvPr>
          <p:cNvCxnSpPr>
            <a:cxnSpLocks noChangeAspect="1" noChangeShapeType="1"/>
            <a:stCxn id="32811" idx="6"/>
            <a:endCxn id="32807" idx="4"/>
          </p:cNvCxnSpPr>
          <p:nvPr/>
        </p:nvCxnSpPr>
        <p:spPr bwMode="auto">
          <a:xfrm flipV="1">
            <a:off x="9280525" y="30861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9" name="AutoShape 143">
            <a:extLst>
              <a:ext uri="{FF2B5EF4-FFF2-40B4-BE49-F238E27FC236}">
                <a16:creationId xmlns:a16="http://schemas.microsoft.com/office/drawing/2014/main" id="{AF11AEAB-368C-DE22-F2E5-72D8ADB89885}"/>
              </a:ext>
            </a:extLst>
          </p:cNvPr>
          <p:cNvCxnSpPr>
            <a:cxnSpLocks noChangeAspect="1" noChangeShapeType="1"/>
            <a:stCxn id="32807" idx="0"/>
            <a:endCxn id="32800" idx="6"/>
          </p:cNvCxnSpPr>
          <p:nvPr/>
        </p:nvCxnSpPr>
        <p:spPr bwMode="auto">
          <a:xfrm rot="5400000" flipH="1">
            <a:off x="8807451" y="1808164"/>
            <a:ext cx="612775" cy="11715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0" name="AutoShape 144">
            <a:extLst>
              <a:ext uri="{FF2B5EF4-FFF2-40B4-BE49-F238E27FC236}">
                <a16:creationId xmlns:a16="http://schemas.microsoft.com/office/drawing/2014/main" id="{6D44421C-6813-F7DB-7181-6D60F9A2A6B4}"/>
              </a:ext>
            </a:extLst>
          </p:cNvPr>
          <p:cNvCxnSpPr>
            <a:cxnSpLocks noChangeAspect="1" noChangeShapeType="1"/>
            <a:stCxn id="32799" idx="6"/>
            <a:endCxn id="32807" idx="2"/>
          </p:cNvCxnSpPr>
          <p:nvPr/>
        </p:nvCxnSpPr>
        <p:spPr bwMode="auto">
          <a:xfrm>
            <a:off x="8529638" y="28940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11" name="Oval 145">
            <a:extLst>
              <a:ext uri="{FF2B5EF4-FFF2-40B4-BE49-F238E27FC236}">
                <a16:creationId xmlns:a16="http://schemas.microsoft.com/office/drawing/2014/main" id="{3ED2C9AC-C439-0122-50B7-7CABE2C5D2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05876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2812" name="AutoShape 146">
            <a:extLst>
              <a:ext uri="{FF2B5EF4-FFF2-40B4-BE49-F238E27FC236}">
                <a16:creationId xmlns:a16="http://schemas.microsoft.com/office/drawing/2014/main" id="{91168B9E-3A8F-9A98-E28A-6C1EBA6F34B2}"/>
              </a:ext>
            </a:extLst>
          </p:cNvPr>
          <p:cNvCxnSpPr>
            <a:cxnSpLocks noChangeAspect="1" noChangeShapeType="1"/>
            <a:stCxn id="32799" idx="5"/>
            <a:endCxn id="32811" idx="2"/>
          </p:cNvCxnSpPr>
          <p:nvPr/>
        </p:nvCxnSpPr>
        <p:spPr bwMode="auto">
          <a:xfrm rot="16200000" flipH="1">
            <a:off x="8347076" y="31543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13" name="Text Box 150">
            <a:extLst>
              <a:ext uri="{FF2B5EF4-FFF2-40B4-BE49-F238E27FC236}">
                <a16:creationId xmlns:a16="http://schemas.microsoft.com/office/drawing/2014/main" id="{CE60558A-E545-B33E-C3F7-F28AFAB5C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6550" y="19192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814" name="Text Box 151">
            <a:extLst>
              <a:ext uri="{FF2B5EF4-FFF2-40B4-BE49-F238E27FC236}">
                <a16:creationId xmlns:a16="http://schemas.microsoft.com/office/drawing/2014/main" id="{A4337840-497E-0BDC-239D-41A37C812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981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2815" name="Text Box 152">
            <a:extLst>
              <a:ext uri="{FF2B5EF4-FFF2-40B4-BE49-F238E27FC236}">
                <a16:creationId xmlns:a16="http://schemas.microsoft.com/office/drawing/2014/main" id="{D767063B-E266-C5EB-C312-1308236D6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816" name="Text Box 153">
            <a:extLst>
              <a:ext uri="{FF2B5EF4-FFF2-40B4-BE49-F238E27FC236}">
                <a16:creationId xmlns:a16="http://schemas.microsoft.com/office/drawing/2014/main" id="{AAAB9CB0-EC0B-54F6-E2F8-36C607250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17" name="Text Box 154">
            <a:extLst>
              <a:ext uri="{FF2B5EF4-FFF2-40B4-BE49-F238E27FC236}">
                <a16:creationId xmlns:a16="http://schemas.microsoft.com/office/drawing/2014/main" id="{3171F52F-8DB0-7D6A-15BB-160D4688E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33909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818" name="Text Box 155">
            <a:extLst>
              <a:ext uri="{FF2B5EF4-FFF2-40B4-BE49-F238E27FC236}">
                <a16:creationId xmlns:a16="http://schemas.microsoft.com/office/drawing/2014/main" id="{AE952FDE-676A-8647-4151-EC6448341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33909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819" name="Text Box 157">
            <a:extLst>
              <a:ext uri="{FF2B5EF4-FFF2-40B4-BE49-F238E27FC236}">
                <a16:creationId xmlns:a16="http://schemas.microsoft.com/office/drawing/2014/main" id="{E25D3D77-0A4B-F96D-1D0B-F159E5F16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820" name="Text Box 158">
            <a:extLst>
              <a:ext uri="{FF2B5EF4-FFF2-40B4-BE49-F238E27FC236}">
                <a16:creationId xmlns:a16="http://schemas.microsoft.com/office/drawing/2014/main" id="{9461E726-C137-A415-C5B4-1A371AEFE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630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821" name="Text Box 203">
            <a:extLst>
              <a:ext uri="{FF2B5EF4-FFF2-40B4-BE49-F238E27FC236}">
                <a16:creationId xmlns:a16="http://schemas.microsoft.com/office/drawing/2014/main" id="{EDA7BE1E-F800-ADAC-4447-0370E89D3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179" y="1143000"/>
            <a:ext cx="42370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Nodes are labeled with their d(v) values</a:t>
            </a:r>
          </a:p>
        </p:txBody>
      </p:sp>
      <p:sp>
        <p:nvSpPr>
          <p:cNvPr id="32822" name="Text Box 210">
            <a:extLst>
              <a:ext uri="{FF2B5EF4-FFF2-40B4-BE49-F238E27FC236}">
                <a16:creationId xmlns:a16="http://schemas.microsoft.com/office/drawing/2014/main" id="{453F42CF-B2D3-7E63-150B-598D349B5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7244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823" name="Oval 211">
            <a:extLst>
              <a:ext uri="{FF2B5EF4-FFF2-40B4-BE49-F238E27FC236}">
                <a16:creationId xmlns:a16="http://schemas.microsoft.com/office/drawing/2014/main" id="{DC30466D-36BA-DDBC-BD67-4358A3CE6E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73488" y="51498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</a:p>
        </p:txBody>
      </p:sp>
      <p:sp>
        <p:nvSpPr>
          <p:cNvPr id="32824" name="Oval 212">
            <a:extLst>
              <a:ext uri="{FF2B5EF4-FFF2-40B4-BE49-F238E27FC236}">
                <a16:creationId xmlns:a16="http://schemas.microsoft.com/office/drawing/2014/main" id="{96068638-16C7-5E50-543A-F6FF0169B7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1" y="514985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32825" name="Oval 213">
            <a:extLst>
              <a:ext uri="{FF2B5EF4-FFF2-40B4-BE49-F238E27FC236}">
                <a16:creationId xmlns:a16="http://schemas.microsoft.com/office/drawing/2014/main" id="{D873C092-395B-377B-9398-6B21A21A04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71901" y="43434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0</a:t>
            </a:r>
          </a:p>
        </p:txBody>
      </p:sp>
      <p:cxnSp>
        <p:nvCxnSpPr>
          <p:cNvPr id="32826" name="AutoShape 215">
            <a:extLst>
              <a:ext uri="{FF2B5EF4-FFF2-40B4-BE49-F238E27FC236}">
                <a16:creationId xmlns:a16="http://schemas.microsoft.com/office/drawing/2014/main" id="{EDD78A89-5468-3110-81DB-233877D3DEE8}"/>
              </a:ext>
            </a:extLst>
          </p:cNvPr>
          <p:cNvCxnSpPr>
            <a:cxnSpLocks noChangeAspect="1" noChangeShapeType="1"/>
            <a:stCxn id="32825" idx="2"/>
            <a:endCxn id="32824" idx="0"/>
          </p:cNvCxnSpPr>
          <p:nvPr/>
        </p:nvCxnSpPr>
        <p:spPr bwMode="auto">
          <a:xfrm rot="10800000" flipV="1">
            <a:off x="2582864" y="4525964"/>
            <a:ext cx="1177925" cy="6127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7" name="AutoShape 216">
            <a:extLst>
              <a:ext uri="{FF2B5EF4-FFF2-40B4-BE49-F238E27FC236}">
                <a16:creationId xmlns:a16="http://schemas.microsoft.com/office/drawing/2014/main" id="{430FFCAC-D738-4496-C97B-9769DE5EC12D}"/>
              </a:ext>
            </a:extLst>
          </p:cNvPr>
          <p:cNvCxnSpPr>
            <a:cxnSpLocks noChangeAspect="1" noChangeShapeType="1"/>
            <a:stCxn id="32845" idx="2"/>
            <a:endCxn id="32824" idx="4"/>
          </p:cNvCxnSpPr>
          <p:nvPr/>
        </p:nvCxnSpPr>
        <p:spPr bwMode="auto">
          <a:xfrm rot="10800000">
            <a:off x="2582864" y="5524500"/>
            <a:ext cx="415925" cy="6159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8" name="AutoShape 217">
            <a:extLst>
              <a:ext uri="{FF2B5EF4-FFF2-40B4-BE49-F238E27FC236}">
                <a16:creationId xmlns:a16="http://schemas.microsoft.com/office/drawing/2014/main" id="{B62FC18F-2335-85B0-B983-2855F2F3B577}"/>
              </a:ext>
            </a:extLst>
          </p:cNvPr>
          <p:cNvCxnSpPr>
            <a:cxnSpLocks noChangeAspect="1" noChangeShapeType="1"/>
            <a:stCxn id="32845" idx="6"/>
            <a:endCxn id="32823" idx="3"/>
          </p:cNvCxnSpPr>
          <p:nvPr/>
        </p:nvCxnSpPr>
        <p:spPr bwMode="auto">
          <a:xfrm flipV="1">
            <a:off x="3384551" y="5472114"/>
            <a:ext cx="441325" cy="668337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9" name="AutoShape 218">
            <a:extLst>
              <a:ext uri="{FF2B5EF4-FFF2-40B4-BE49-F238E27FC236}">
                <a16:creationId xmlns:a16="http://schemas.microsoft.com/office/drawing/2014/main" id="{4D247F05-6716-DA5A-2070-DF393282DDBE}"/>
              </a:ext>
            </a:extLst>
          </p:cNvPr>
          <p:cNvCxnSpPr>
            <a:cxnSpLocks noChangeAspect="1" noChangeShapeType="1"/>
            <a:stCxn id="32825" idx="4"/>
            <a:endCxn id="32823" idx="0"/>
          </p:cNvCxnSpPr>
          <p:nvPr/>
        </p:nvCxnSpPr>
        <p:spPr bwMode="auto">
          <a:xfrm>
            <a:off x="3954464" y="4718050"/>
            <a:ext cx="1587" cy="4206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30" name="AutoShape 219">
            <a:extLst>
              <a:ext uri="{FF2B5EF4-FFF2-40B4-BE49-F238E27FC236}">
                <a16:creationId xmlns:a16="http://schemas.microsoft.com/office/drawing/2014/main" id="{44707FA6-1464-151C-FA59-E17CB46357AF}"/>
              </a:ext>
            </a:extLst>
          </p:cNvPr>
          <p:cNvCxnSpPr>
            <a:cxnSpLocks noChangeAspect="1" noChangeShapeType="1"/>
            <a:stCxn id="32824" idx="6"/>
            <a:endCxn id="32823" idx="2"/>
          </p:cNvCxnSpPr>
          <p:nvPr/>
        </p:nvCxnSpPr>
        <p:spPr bwMode="auto">
          <a:xfrm>
            <a:off x="2774951" y="5332413"/>
            <a:ext cx="9874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31" name="Oval 220">
            <a:extLst>
              <a:ext uri="{FF2B5EF4-FFF2-40B4-BE49-F238E27FC236}">
                <a16:creationId xmlns:a16="http://schemas.microsoft.com/office/drawing/2014/main" id="{A0AF55C6-CFA6-C6CE-84AB-81609E91E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35563" y="51498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32832" name="AutoShape 221">
            <a:extLst>
              <a:ext uri="{FF2B5EF4-FFF2-40B4-BE49-F238E27FC236}">
                <a16:creationId xmlns:a16="http://schemas.microsoft.com/office/drawing/2014/main" id="{0685B937-D76F-8B57-A6C4-5E68E7C40EDE}"/>
              </a:ext>
            </a:extLst>
          </p:cNvPr>
          <p:cNvCxnSpPr>
            <a:cxnSpLocks noChangeAspect="1" noChangeShapeType="1"/>
            <a:stCxn id="32835" idx="6"/>
            <a:endCxn id="32831" idx="4"/>
          </p:cNvCxnSpPr>
          <p:nvPr/>
        </p:nvCxnSpPr>
        <p:spPr bwMode="auto">
          <a:xfrm flipV="1">
            <a:off x="4899025" y="5524500"/>
            <a:ext cx="419100" cy="6159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33" name="AutoShape 222">
            <a:extLst>
              <a:ext uri="{FF2B5EF4-FFF2-40B4-BE49-F238E27FC236}">
                <a16:creationId xmlns:a16="http://schemas.microsoft.com/office/drawing/2014/main" id="{D91C206B-04E8-A528-28F1-535210CA0181}"/>
              </a:ext>
            </a:extLst>
          </p:cNvPr>
          <p:cNvCxnSpPr>
            <a:cxnSpLocks noChangeAspect="1" noChangeShapeType="1"/>
            <a:stCxn id="32831" idx="0"/>
            <a:endCxn id="32825" idx="6"/>
          </p:cNvCxnSpPr>
          <p:nvPr/>
        </p:nvCxnSpPr>
        <p:spPr bwMode="auto">
          <a:xfrm rot="5400000" flipH="1">
            <a:off x="4425951" y="4246564"/>
            <a:ext cx="612775" cy="11715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34" name="AutoShape 223">
            <a:extLst>
              <a:ext uri="{FF2B5EF4-FFF2-40B4-BE49-F238E27FC236}">
                <a16:creationId xmlns:a16="http://schemas.microsoft.com/office/drawing/2014/main" id="{663ABEC4-DF58-5D40-7923-4B87740BCB35}"/>
              </a:ext>
            </a:extLst>
          </p:cNvPr>
          <p:cNvCxnSpPr>
            <a:cxnSpLocks noChangeAspect="1" noChangeShapeType="1"/>
            <a:stCxn id="32823" idx="6"/>
            <a:endCxn id="32831" idx="2"/>
          </p:cNvCxnSpPr>
          <p:nvPr/>
        </p:nvCxnSpPr>
        <p:spPr bwMode="auto">
          <a:xfrm>
            <a:off x="4148138" y="5332413"/>
            <a:ext cx="97631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35" name="Oval 224">
            <a:extLst>
              <a:ext uri="{FF2B5EF4-FFF2-40B4-BE49-F238E27FC236}">
                <a16:creationId xmlns:a16="http://schemas.microsoft.com/office/drawing/2014/main" id="{D6AAAB4C-A47D-8018-6974-FFBA6DC781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24376" y="5957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2836" name="AutoShape 225">
            <a:extLst>
              <a:ext uri="{FF2B5EF4-FFF2-40B4-BE49-F238E27FC236}">
                <a16:creationId xmlns:a16="http://schemas.microsoft.com/office/drawing/2014/main" id="{8F0395FD-CDA1-C62A-0569-CC231AE08849}"/>
              </a:ext>
            </a:extLst>
          </p:cNvPr>
          <p:cNvCxnSpPr>
            <a:cxnSpLocks noChangeAspect="1" noChangeShapeType="1"/>
            <a:stCxn id="32823" idx="5"/>
            <a:endCxn id="32835" idx="2"/>
          </p:cNvCxnSpPr>
          <p:nvPr/>
        </p:nvCxnSpPr>
        <p:spPr bwMode="auto">
          <a:xfrm rot="16200000" flipH="1">
            <a:off x="3965576" y="55927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37" name="Text Box 226">
            <a:extLst>
              <a:ext uri="{FF2B5EF4-FFF2-40B4-BE49-F238E27FC236}">
                <a16:creationId xmlns:a16="http://schemas.microsoft.com/office/drawing/2014/main" id="{F739F486-32D0-7F10-24E9-A9653C83D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43576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838" name="Text Box 227">
            <a:extLst>
              <a:ext uri="{FF2B5EF4-FFF2-40B4-BE49-F238E27FC236}">
                <a16:creationId xmlns:a16="http://schemas.microsoft.com/office/drawing/2014/main" id="{DCFDE6B3-0B05-C934-54FE-31724332A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4419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2839" name="Text Box 228">
            <a:extLst>
              <a:ext uri="{FF2B5EF4-FFF2-40B4-BE49-F238E27FC236}">
                <a16:creationId xmlns:a16="http://schemas.microsoft.com/office/drawing/2014/main" id="{1CE6ED7A-D781-4C84-09C3-5F7A9E414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5029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840" name="Text Box 229">
            <a:extLst>
              <a:ext uri="{FF2B5EF4-FFF2-40B4-BE49-F238E27FC236}">
                <a16:creationId xmlns:a16="http://schemas.microsoft.com/office/drawing/2014/main" id="{84BDD8F6-037B-0024-4B42-0641ACD2D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5029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41" name="Text Box 230">
            <a:extLst>
              <a:ext uri="{FF2B5EF4-FFF2-40B4-BE49-F238E27FC236}">
                <a16:creationId xmlns:a16="http://schemas.microsoft.com/office/drawing/2014/main" id="{2D38837B-1049-3E87-95F0-D4305B59C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293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842" name="Text Box 231">
            <a:extLst>
              <a:ext uri="{FF2B5EF4-FFF2-40B4-BE49-F238E27FC236}">
                <a16:creationId xmlns:a16="http://schemas.microsoft.com/office/drawing/2014/main" id="{51A9A495-A938-3CDF-1CA2-DA6E9B31C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58293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843" name="Text Box 232">
            <a:extLst>
              <a:ext uri="{FF2B5EF4-FFF2-40B4-BE49-F238E27FC236}">
                <a16:creationId xmlns:a16="http://schemas.microsoft.com/office/drawing/2014/main" id="{B997D6D5-1ADB-D067-8563-E8ADF8043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0" y="5562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844" name="Text Box 233">
            <a:extLst>
              <a:ext uri="{FF2B5EF4-FFF2-40B4-BE49-F238E27FC236}">
                <a16:creationId xmlns:a16="http://schemas.microsoft.com/office/drawing/2014/main" id="{06A61343-7997-23EE-03EC-BAC0B9F99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562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845" name="Oval 214">
            <a:extLst>
              <a:ext uri="{FF2B5EF4-FFF2-40B4-BE49-F238E27FC236}">
                <a16:creationId xmlns:a16="http://schemas.microsoft.com/office/drawing/2014/main" id="{D1C715BB-48F1-42DB-BFAC-3F4DC228E6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09901" y="5957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846" name="Oval 204">
            <a:extLst>
              <a:ext uri="{FF2B5EF4-FFF2-40B4-BE49-F238E27FC236}">
                <a16:creationId xmlns:a16="http://schemas.microsoft.com/office/drawing/2014/main" id="{AFA3E11F-D6EA-B476-F2E1-3947AAD2A7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1" y="25273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32847" name="Oval 206">
            <a:extLst>
              <a:ext uri="{FF2B5EF4-FFF2-40B4-BE49-F238E27FC236}">
                <a16:creationId xmlns:a16="http://schemas.microsoft.com/office/drawing/2014/main" id="{BF935051-4C04-317D-9945-C72A7AA319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96288" y="25146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</a:p>
        </p:txBody>
      </p:sp>
      <p:sp>
        <p:nvSpPr>
          <p:cNvPr id="32848" name="Oval 205">
            <a:extLst>
              <a:ext uri="{FF2B5EF4-FFF2-40B4-BE49-F238E27FC236}">
                <a16:creationId xmlns:a16="http://schemas.microsoft.com/office/drawing/2014/main" id="{618F8CF5-037F-71CD-9AE3-6AB369D6DC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67888" y="25146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  <p:sp>
        <p:nvSpPr>
          <p:cNvPr id="32849" name="Oval 207">
            <a:extLst>
              <a:ext uri="{FF2B5EF4-FFF2-40B4-BE49-F238E27FC236}">
                <a16:creationId xmlns:a16="http://schemas.microsoft.com/office/drawing/2014/main" id="{6C378733-2BC0-5A00-A586-A65E6E3015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86388" y="50292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</a:p>
        </p:txBody>
      </p:sp>
      <p:sp>
        <p:nvSpPr>
          <p:cNvPr id="32850" name="Oval 209">
            <a:extLst>
              <a:ext uri="{FF2B5EF4-FFF2-40B4-BE49-F238E27FC236}">
                <a16:creationId xmlns:a16="http://schemas.microsoft.com/office/drawing/2014/main" id="{4F2153E8-301F-F47B-02B3-AE68696E0A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47888" y="5043488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2851" name="Oval 234">
            <a:extLst>
              <a:ext uri="{FF2B5EF4-FFF2-40B4-BE49-F238E27FC236}">
                <a16:creationId xmlns:a16="http://schemas.microsoft.com/office/drawing/2014/main" id="{5CEBCD35-0941-143D-54B2-BAADD329F4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1801" y="57292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</a:p>
        </p:txBody>
      </p:sp>
      <p:sp>
        <p:nvSpPr>
          <p:cNvPr id="32852" name="Oval 208">
            <a:extLst>
              <a:ext uri="{FF2B5EF4-FFF2-40B4-BE49-F238E27FC236}">
                <a16:creationId xmlns:a16="http://schemas.microsoft.com/office/drawing/2014/main" id="{D325583D-5586-DDB6-CFE5-6B87DCBB2F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3688" y="5500688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2853" name="Oval 235">
            <a:extLst>
              <a:ext uri="{FF2B5EF4-FFF2-40B4-BE49-F238E27FC236}">
                <a16:creationId xmlns:a16="http://schemas.microsoft.com/office/drawing/2014/main" id="{084D4D4A-1FBB-26D5-DC7B-8ABBAB3720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1" y="57292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32854" name="Oval 236">
            <a:extLst>
              <a:ext uri="{FF2B5EF4-FFF2-40B4-BE49-F238E27FC236}">
                <a16:creationId xmlns:a16="http://schemas.microsoft.com/office/drawing/2014/main" id="{4AFDEC31-AD12-65B7-F650-DD4C24C828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7213" y="51498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</a:p>
        </p:txBody>
      </p:sp>
      <p:sp>
        <p:nvSpPr>
          <p:cNvPr id="32855" name="Oval 237">
            <a:extLst>
              <a:ext uri="{FF2B5EF4-FFF2-40B4-BE49-F238E27FC236}">
                <a16:creationId xmlns:a16="http://schemas.microsoft.com/office/drawing/2014/main" id="{A0A6EC95-238E-FE29-4556-35AFE8E964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4026" y="514985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2856" name="Oval 238">
            <a:extLst>
              <a:ext uri="{FF2B5EF4-FFF2-40B4-BE49-F238E27FC236}">
                <a16:creationId xmlns:a16="http://schemas.microsoft.com/office/drawing/2014/main" id="{652D6687-0241-25D8-6AB6-BE87F523BF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5626" y="43434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32857" name="Oval 239">
            <a:extLst>
              <a:ext uri="{FF2B5EF4-FFF2-40B4-BE49-F238E27FC236}">
                <a16:creationId xmlns:a16="http://schemas.microsoft.com/office/drawing/2014/main" id="{8F3A671A-58EB-ABE3-7899-086EF6C7F8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13626" y="5957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cxnSp>
        <p:nvCxnSpPr>
          <p:cNvPr id="32858" name="AutoShape 240">
            <a:extLst>
              <a:ext uri="{FF2B5EF4-FFF2-40B4-BE49-F238E27FC236}">
                <a16:creationId xmlns:a16="http://schemas.microsoft.com/office/drawing/2014/main" id="{2F96D9F5-48E4-722F-45E2-3EBF52E3F7D2}"/>
              </a:ext>
            </a:extLst>
          </p:cNvPr>
          <p:cNvCxnSpPr>
            <a:cxnSpLocks noChangeAspect="1" noChangeShapeType="1"/>
            <a:stCxn id="32856" idx="2"/>
            <a:endCxn id="32855" idx="0"/>
          </p:cNvCxnSpPr>
          <p:nvPr/>
        </p:nvCxnSpPr>
        <p:spPr bwMode="auto">
          <a:xfrm rot="10800000" flipV="1">
            <a:off x="6986589" y="4525964"/>
            <a:ext cx="1177925" cy="6127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59" name="AutoShape 241">
            <a:extLst>
              <a:ext uri="{FF2B5EF4-FFF2-40B4-BE49-F238E27FC236}">
                <a16:creationId xmlns:a16="http://schemas.microsoft.com/office/drawing/2014/main" id="{FF9BB9AD-0257-EEB1-DF21-72B9C6B8E4FE}"/>
              </a:ext>
            </a:extLst>
          </p:cNvPr>
          <p:cNvCxnSpPr>
            <a:cxnSpLocks noChangeAspect="1" noChangeShapeType="1"/>
            <a:stCxn id="32857" idx="2"/>
            <a:endCxn id="32855" idx="4"/>
          </p:cNvCxnSpPr>
          <p:nvPr/>
        </p:nvCxnSpPr>
        <p:spPr bwMode="auto">
          <a:xfrm rot="10800000">
            <a:off x="6986589" y="55245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60" name="AutoShape 242">
            <a:extLst>
              <a:ext uri="{FF2B5EF4-FFF2-40B4-BE49-F238E27FC236}">
                <a16:creationId xmlns:a16="http://schemas.microsoft.com/office/drawing/2014/main" id="{0B01DC43-C097-FE0A-44E5-D88BD03F0383}"/>
              </a:ext>
            </a:extLst>
          </p:cNvPr>
          <p:cNvCxnSpPr>
            <a:cxnSpLocks noChangeAspect="1" noChangeShapeType="1"/>
            <a:stCxn id="32857" idx="6"/>
            <a:endCxn id="32854" idx="3"/>
          </p:cNvCxnSpPr>
          <p:nvPr/>
        </p:nvCxnSpPr>
        <p:spPr bwMode="auto">
          <a:xfrm flipV="1">
            <a:off x="7788276" y="5472114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61" name="AutoShape 243">
            <a:extLst>
              <a:ext uri="{FF2B5EF4-FFF2-40B4-BE49-F238E27FC236}">
                <a16:creationId xmlns:a16="http://schemas.microsoft.com/office/drawing/2014/main" id="{C9A4600B-0D1F-106C-5934-6C18D38D85A1}"/>
              </a:ext>
            </a:extLst>
          </p:cNvPr>
          <p:cNvCxnSpPr>
            <a:cxnSpLocks noChangeAspect="1" noChangeShapeType="1"/>
            <a:stCxn id="32856" idx="4"/>
            <a:endCxn id="32854" idx="0"/>
          </p:cNvCxnSpPr>
          <p:nvPr/>
        </p:nvCxnSpPr>
        <p:spPr bwMode="auto">
          <a:xfrm>
            <a:off x="8358189" y="4718050"/>
            <a:ext cx="1587" cy="4206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62" name="AutoShape 244">
            <a:extLst>
              <a:ext uri="{FF2B5EF4-FFF2-40B4-BE49-F238E27FC236}">
                <a16:creationId xmlns:a16="http://schemas.microsoft.com/office/drawing/2014/main" id="{12CC4F86-38B4-EB88-14AE-17BF7B9A1405}"/>
              </a:ext>
            </a:extLst>
          </p:cNvPr>
          <p:cNvCxnSpPr>
            <a:cxnSpLocks noChangeAspect="1" noChangeShapeType="1"/>
            <a:stCxn id="32855" idx="6"/>
            <a:endCxn id="32854" idx="2"/>
          </p:cNvCxnSpPr>
          <p:nvPr/>
        </p:nvCxnSpPr>
        <p:spPr bwMode="auto">
          <a:xfrm>
            <a:off x="7178676" y="5332413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63" name="Oval 245">
            <a:extLst>
              <a:ext uri="{FF2B5EF4-FFF2-40B4-BE49-F238E27FC236}">
                <a16:creationId xmlns:a16="http://schemas.microsoft.com/office/drawing/2014/main" id="{E7CBE8C8-0475-F2E8-C660-6603411AFC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9288" y="51498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</a:p>
        </p:txBody>
      </p:sp>
      <p:cxnSp>
        <p:nvCxnSpPr>
          <p:cNvPr id="32864" name="AutoShape 246">
            <a:extLst>
              <a:ext uri="{FF2B5EF4-FFF2-40B4-BE49-F238E27FC236}">
                <a16:creationId xmlns:a16="http://schemas.microsoft.com/office/drawing/2014/main" id="{A73A2F83-2314-D6A2-0B34-C2839D14F9F3}"/>
              </a:ext>
            </a:extLst>
          </p:cNvPr>
          <p:cNvCxnSpPr>
            <a:cxnSpLocks noChangeAspect="1" noChangeShapeType="1"/>
            <a:stCxn id="32867" idx="6"/>
            <a:endCxn id="32863" idx="4"/>
          </p:cNvCxnSpPr>
          <p:nvPr/>
        </p:nvCxnSpPr>
        <p:spPr bwMode="auto">
          <a:xfrm flipV="1">
            <a:off x="9302750" y="5524500"/>
            <a:ext cx="419100" cy="6159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65" name="AutoShape 247">
            <a:extLst>
              <a:ext uri="{FF2B5EF4-FFF2-40B4-BE49-F238E27FC236}">
                <a16:creationId xmlns:a16="http://schemas.microsoft.com/office/drawing/2014/main" id="{29FEE0A2-DCF4-A3B7-2273-A78A41F02DDB}"/>
              </a:ext>
            </a:extLst>
          </p:cNvPr>
          <p:cNvCxnSpPr>
            <a:cxnSpLocks noChangeAspect="1" noChangeShapeType="1"/>
            <a:stCxn id="32863" idx="0"/>
            <a:endCxn id="32856" idx="6"/>
          </p:cNvCxnSpPr>
          <p:nvPr/>
        </p:nvCxnSpPr>
        <p:spPr bwMode="auto">
          <a:xfrm rot="5400000" flipH="1">
            <a:off x="8829676" y="4246564"/>
            <a:ext cx="612775" cy="11715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66" name="AutoShape 248">
            <a:extLst>
              <a:ext uri="{FF2B5EF4-FFF2-40B4-BE49-F238E27FC236}">
                <a16:creationId xmlns:a16="http://schemas.microsoft.com/office/drawing/2014/main" id="{D7D71D4C-62BE-8A6B-43AF-E2173928539C}"/>
              </a:ext>
            </a:extLst>
          </p:cNvPr>
          <p:cNvCxnSpPr>
            <a:cxnSpLocks noChangeAspect="1" noChangeShapeType="1"/>
            <a:stCxn id="32854" idx="6"/>
            <a:endCxn id="32863" idx="2"/>
          </p:cNvCxnSpPr>
          <p:nvPr/>
        </p:nvCxnSpPr>
        <p:spPr bwMode="auto">
          <a:xfrm>
            <a:off x="8551863" y="53324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67" name="Oval 249">
            <a:extLst>
              <a:ext uri="{FF2B5EF4-FFF2-40B4-BE49-F238E27FC236}">
                <a16:creationId xmlns:a16="http://schemas.microsoft.com/office/drawing/2014/main" id="{156B26A4-9F34-FBFC-D5D6-0AD1F1A612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28101" y="5957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9</a:t>
            </a:r>
          </a:p>
        </p:txBody>
      </p:sp>
      <p:cxnSp>
        <p:nvCxnSpPr>
          <p:cNvPr id="32868" name="AutoShape 250">
            <a:extLst>
              <a:ext uri="{FF2B5EF4-FFF2-40B4-BE49-F238E27FC236}">
                <a16:creationId xmlns:a16="http://schemas.microsoft.com/office/drawing/2014/main" id="{8C210EC5-5695-F600-A0A1-B9E0B96289E5}"/>
              </a:ext>
            </a:extLst>
          </p:cNvPr>
          <p:cNvCxnSpPr>
            <a:cxnSpLocks noChangeAspect="1" noChangeShapeType="1"/>
            <a:stCxn id="32854" idx="5"/>
            <a:endCxn id="32867" idx="2"/>
          </p:cNvCxnSpPr>
          <p:nvPr/>
        </p:nvCxnSpPr>
        <p:spPr bwMode="auto">
          <a:xfrm rot="16200000" flipH="1">
            <a:off x="8369301" y="55927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69" name="Text Box 251">
            <a:extLst>
              <a:ext uri="{FF2B5EF4-FFF2-40B4-BE49-F238E27FC236}">
                <a16:creationId xmlns:a16="http://schemas.microsoft.com/office/drawing/2014/main" id="{F82E619D-9102-D395-51AD-A33FADC89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8775" y="43576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870" name="Text Box 252">
            <a:extLst>
              <a:ext uri="{FF2B5EF4-FFF2-40B4-BE49-F238E27FC236}">
                <a16:creationId xmlns:a16="http://schemas.microsoft.com/office/drawing/2014/main" id="{A6346E5E-D25B-ED5B-CE18-5D5206720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25" y="4419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2871" name="Text Box 253">
            <a:extLst>
              <a:ext uri="{FF2B5EF4-FFF2-40B4-BE49-F238E27FC236}">
                <a16:creationId xmlns:a16="http://schemas.microsoft.com/office/drawing/2014/main" id="{F0610395-CF5D-B065-58FB-A7F6DDA13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825" y="5029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2872" name="Text Box 254">
            <a:extLst>
              <a:ext uri="{FF2B5EF4-FFF2-40B4-BE49-F238E27FC236}">
                <a16:creationId xmlns:a16="http://schemas.microsoft.com/office/drawing/2014/main" id="{9D3E4463-FBB3-CE4A-8017-752E03393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7625" y="5029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873" name="Text Box 255">
            <a:extLst>
              <a:ext uri="{FF2B5EF4-FFF2-40B4-BE49-F238E27FC236}">
                <a16:creationId xmlns:a16="http://schemas.microsoft.com/office/drawing/2014/main" id="{C8075F55-DD58-A9C5-BFFD-022356228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5" y="58293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874" name="Text Box 256">
            <a:extLst>
              <a:ext uri="{FF2B5EF4-FFF2-40B4-BE49-F238E27FC236}">
                <a16:creationId xmlns:a16="http://schemas.microsoft.com/office/drawing/2014/main" id="{4CA7F3AF-CF82-07C0-B40C-A88AFD68E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7225" y="58293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875" name="Text Box 257">
            <a:extLst>
              <a:ext uri="{FF2B5EF4-FFF2-40B4-BE49-F238E27FC236}">
                <a16:creationId xmlns:a16="http://schemas.microsoft.com/office/drawing/2014/main" id="{A9377BA6-8F29-E935-8FA2-736078FEB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25" y="47244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2876" name="Text Box 258">
            <a:extLst>
              <a:ext uri="{FF2B5EF4-FFF2-40B4-BE49-F238E27FC236}">
                <a16:creationId xmlns:a16="http://schemas.microsoft.com/office/drawing/2014/main" id="{C7A41B76-EEA3-1AEF-0A29-F316CACE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0825" y="5562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877" name="Text Box 259">
            <a:extLst>
              <a:ext uri="{FF2B5EF4-FFF2-40B4-BE49-F238E27FC236}">
                <a16:creationId xmlns:a16="http://schemas.microsoft.com/office/drawing/2014/main" id="{7891DE0A-B113-9BE7-5ED2-6640ED2D5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525" y="5562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878" name="Oval 260">
            <a:extLst>
              <a:ext uri="{FF2B5EF4-FFF2-40B4-BE49-F238E27FC236}">
                <a16:creationId xmlns:a16="http://schemas.microsoft.com/office/drawing/2014/main" id="{9A5D30C1-59F1-0ED2-BF9B-0CB08256ED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05888" y="5729288"/>
            <a:ext cx="366712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EC8D7C8-C7DF-815D-5E06-73A4DBD1E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DAG-based Algorithm</a:t>
            </a:r>
          </a:p>
        </p:txBody>
      </p:sp>
      <p:sp>
        <p:nvSpPr>
          <p:cNvPr id="3379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F2AAAEF-EBD4-EDCE-9F3A-5D19665F6A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3600" y="1676400"/>
            <a:ext cx="3276600" cy="3962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000"/>
              <a:t>Works with negative-weight edges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Uses topological order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Doesn’t use any fancy data structures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Is much faster than the other two algorithms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Running time: O(n+m).</a:t>
            </a:r>
          </a:p>
        </p:txBody>
      </p:sp>
      <p:sp>
        <p:nvSpPr>
          <p:cNvPr id="33795" name="Text Box 4">
            <a:extLst>
              <a:ext uri="{FF2B5EF4-FFF2-40B4-BE49-F238E27FC236}">
                <a16:creationId xmlns:a16="http://schemas.microsoft.com/office/drawing/2014/main" id="{166C3BD2-A264-425C-13AF-D536B0A86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739900"/>
            <a:ext cx="4514850" cy="3746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DagDistances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G, 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G.vertices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	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v,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Perform a topological sort of the vertices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    </a:t>
            </a:r>
            <a:r>
              <a:rPr lang="en-US" altLang="en-US" sz="1800">
                <a:latin typeface="Times New Roman" panose="02020603050405020304" pitchFamily="18" charset="0"/>
              </a:rPr>
              <a:t>{in topological order}</a:t>
            </a: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each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G.outEdges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>
                <a:latin typeface="Times New Roman" panose="02020603050405020304" pitchFamily="18" charset="0"/>
              </a:rPr>
              <a:t>{ relax edge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latin typeface="Times New Roman" panose="02020603050405020304" pitchFamily="18" charset="0"/>
              </a:rPr>
              <a:t> }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z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G.opposite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u,e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r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weight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getDistance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setDistance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z,r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Oval 2">
            <a:extLst>
              <a:ext uri="{FF2B5EF4-FFF2-40B4-BE49-F238E27FC236}">
                <a16:creationId xmlns:a16="http://schemas.microsoft.com/office/drawing/2014/main" id="{764CDA4C-6982-71E8-F60D-330936483A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96088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18" name="Text Box 3">
            <a:extLst>
              <a:ext uri="{FF2B5EF4-FFF2-40B4-BE49-F238E27FC236}">
                <a16:creationId xmlns:a16="http://schemas.microsoft.com/office/drawing/2014/main" id="{36A85014-C195-D62F-7FDA-CA39C963E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2860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1B43FCD4-CFF7-722D-C93F-4CDA7F14C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DAG Example</a:t>
            </a:r>
          </a:p>
        </p:txBody>
      </p:sp>
      <p:sp>
        <p:nvSpPr>
          <p:cNvPr id="34820" name="Oval 5">
            <a:extLst>
              <a:ext uri="{FF2B5EF4-FFF2-40B4-BE49-F238E27FC236}">
                <a16:creationId xmlns:a16="http://schemas.microsoft.com/office/drawing/2014/main" id="{8CA7C3DE-DF1B-E19E-1E14-4D88C3913C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1588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21" name="Oval 6">
            <a:extLst>
              <a:ext uri="{FF2B5EF4-FFF2-40B4-BE49-F238E27FC236}">
                <a16:creationId xmlns:a16="http://schemas.microsoft.com/office/drawing/2014/main" id="{3C16965B-78E8-B5A6-B6B6-04ADD79500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38401" y="271145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22" name="Oval 7">
            <a:extLst>
              <a:ext uri="{FF2B5EF4-FFF2-40B4-BE49-F238E27FC236}">
                <a16:creationId xmlns:a16="http://schemas.microsoft.com/office/drawing/2014/main" id="{CACEA187-D36B-56C1-B8A1-AF51EABAD9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1" y="19050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34823" name="Oval 8">
            <a:extLst>
              <a:ext uri="{FF2B5EF4-FFF2-40B4-BE49-F238E27FC236}">
                <a16:creationId xmlns:a16="http://schemas.microsoft.com/office/drawing/2014/main" id="{40E1A416-98F5-0891-12F5-CAF6719FA0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1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4824" name="AutoShape 9">
            <a:extLst>
              <a:ext uri="{FF2B5EF4-FFF2-40B4-BE49-F238E27FC236}">
                <a16:creationId xmlns:a16="http://schemas.microsoft.com/office/drawing/2014/main" id="{46AA8E76-BA67-FFE3-3CCB-2DB3BA3135E7}"/>
              </a:ext>
            </a:extLst>
          </p:cNvPr>
          <p:cNvCxnSpPr>
            <a:cxnSpLocks noChangeAspect="1" noChangeShapeType="1"/>
            <a:stCxn id="34822" idx="2"/>
            <a:endCxn id="34821" idx="0"/>
          </p:cNvCxnSpPr>
          <p:nvPr/>
        </p:nvCxnSpPr>
        <p:spPr bwMode="auto">
          <a:xfrm rot="10800000" flipV="1">
            <a:off x="2620964" y="2087564"/>
            <a:ext cx="1177925" cy="6127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5" name="AutoShape 10">
            <a:extLst>
              <a:ext uri="{FF2B5EF4-FFF2-40B4-BE49-F238E27FC236}">
                <a16:creationId xmlns:a16="http://schemas.microsoft.com/office/drawing/2014/main" id="{8B33CE5E-163C-3970-884E-F8092F30E209}"/>
              </a:ext>
            </a:extLst>
          </p:cNvPr>
          <p:cNvCxnSpPr>
            <a:cxnSpLocks noChangeAspect="1" noChangeShapeType="1"/>
            <a:stCxn id="34823" idx="2"/>
            <a:endCxn id="34821" idx="4"/>
          </p:cNvCxnSpPr>
          <p:nvPr/>
        </p:nvCxnSpPr>
        <p:spPr bwMode="auto">
          <a:xfrm rot="10800000">
            <a:off x="2620964" y="30861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6" name="AutoShape 11">
            <a:extLst>
              <a:ext uri="{FF2B5EF4-FFF2-40B4-BE49-F238E27FC236}">
                <a16:creationId xmlns:a16="http://schemas.microsoft.com/office/drawing/2014/main" id="{2D4144E6-AC24-6B0B-4247-E02E9587DFA4}"/>
              </a:ext>
            </a:extLst>
          </p:cNvPr>
          <p:cNvCxnSpPr>
            <a:cxnSpLocks noChangeAspect="1" noChangeShapeType="1"/>
            <a:stCxn id="34823" idx="6"/>
            <a:endCxn id="34820" idx="3"/>
          </p:cNvCxnSpPr>
          <p:nvPr/>
        </p:nvCxnSpPr>
        <p:spPr bwMode="auto">
          <a:xfrm flipV="1">
            <a:off x="3422651" y="3033714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7" name="AutoShape 12">
            <a:extLst>
              <a:ext uri="{FF2B5EF4-FFF2-40B4-BE49-F238E27FC236}">
                <a16:creationId xmlns:a16="http://schemas.microsoft.com/office/drawing/2014/main" id="{454410B4-2087-9F4D-D815-A52D21F666F1}"/>
              </a:ext>
            </a:extLst>
          </p:cNvPr>
          <p:cNvCxnSpPr>
            <a:cxnSpLocks noChangeAspect="1" noChangeShapeType="1"/>
            <a:stCxn id="34822" idx="4"/>
            <a:endCxn id="34820" idx="0"/>
          </p:cNvCxnSpPr>
          <p:nvPr/>
        </p:nvCxnSpPr>
        <p:spPr bwMode="auto">
          <a:xfrm>
            <a:off x="3992564" y="2279650"/>
            <a:ext cx="1587" cy="4206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8" name="AutoShape 13">
            <a:extLst>
              <a:ext uri="{FF2B5EF4-FFF2-40B4-BE49-F238E27FC236}">
                <a16:creationId xmlns:a16="http://schemas.microsoft.com/office/drawing/2014/main" id="{A352A4F7-E909-2DA7-37DC-012E607320E6}"/>
              </a:ext>
            </a:extLst>
          </p:cNvPr>
          <p:cNvCxnSpPr>
            <a:cxnSpLocks noChangeAspect="1" noChangeShapeType="1"/>
            <a:stCxn id="34821" idx="6"/>
            <a:endCxn id="34820" idx="2"/>
          </p:cNvCxnSpPr>
          <p:nvPr/>
        </p:nvCxnSpPr>
        <p:spPr bwMode="auto">
          <a:xfrm>
            <a:off x="2813051" y="2894013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9" name="Oval 14">
            <a:extLst>
              <a:ext uri="{FF2B5EF4-FFF2-40B4-BE49-F238E27FC236}">
                <a16:creationId xmlns:a16="http://schemas.microsoft.com/office/drawing/2014/main" id="{9CEC4E68-8753-7C1E-1DA6-7FE2BE4156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73663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4830" name="AutoShape 15">
            <a:extLst>
              <a:ext uri="{FF2B5EF4-FFF2-40B4-BE49-F238E27FC236}">
                <a16:creationId xmlns:a16="http://schemas.microsoft.com/office/drawing/2014/main" id="{FEA3D099-3017-3805-DBC5-E0ED2E80F88F}"/>
              </a:ext>
            </a:extLst>
          </p:cNvPr>
          <p:cNvCxnSpPr>
            <a:cxnSpLocks noChangeAspect="1" noChangeShapeType="1"/>
            <a:stCxn id="34833" idx="6"/>
            <a:endCxn id="34829" idx="4"/>
          </p:cNvCxnSpPr>
          <p:nvPr/>
        </p:nvCxnSpPr>
        <p:spPr bwMode="auto">
          <a:xfrm flipV="1">
            <a:off x="4937125" y="30861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1" name="AutoShape 16">
            <a:extLst>
              <a:ext uri="{FF2B5EF4-FFF2-40B4-BE49-F238E27FC236}">
                <a16:creationId xmlns:a16="http://schemas.microsoft.com/office/drawing/2014/main" id="{C796B4D1-127A-EC9E-280D-D62F93618007}"/>
              </a:ext>
            </a:extLst>
          </p:cNvPr>
          <p:cNvCxnSpPr>
            <a:cxnSpLocks noChangeAspect="1" noChangeShapeType="1"/>
            <a:stCxn id="34829" idx="0"/>
            <a:endCxn id="34822" idx="6"/>
          </p:cNvCxnSpPr>
          <p:nvPr/>
        </p:nvCxnSpPr>
        <p:spPr bwMode="auto">
          <a:xfrm rot="5400000" flipH="1">
            <a:off x="4464051" y="1808164"/>
            <a:ext cx="612775" cy="11715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2" name="AutoShape 17">
            <a:extLst>
              <a:ext uri="{FF2B5EF4-FFF2-40B4-BE49-F238E27FC236}">
                <a16:creationId xmlns:a16="http://schemas.microsoft.com/office/drawing/2014/main" id="{52B12D67-9827-547D-AA34-268DE0A5B051}"/>
              </a:ext>
            </a:extLst>
          </p:cNvPr>
          <p:cNvCxnSpPr>
            <a:cxnSpLocks noChangeAspect="1" noChangeShapeType="1"/>
            <a:stCxn id="34820" idx="6"/>
            <a:endCxn id="34829" idx="2"/>
          </p:cNvCxnSpPr>
          <p:nvPr/>
        </p:nvCxnSpPr>
        <p:spPr bwMode="auto">
          <a:xfrm>
            <a:off x="4186238" y="28940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3" name="Oval 18">
            <a:extLst>
              <a:ext uri="{FF2B5EF4-FFF2-40B4-BE49-F238E27FC236}">
                <a16:creationId xmlns:a16="http://schemas.microsoft.com/office/drawing/2014/main" id="{EF770B29-AE27-CA8B-7693-729A44ED1B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62476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4834" name="AutoShape 19">
            <a:extLst>
              <a:ext uri="{FF2B5EF4-FFF2-40B4-BE49-F238E27FC236}">
                <a16:creationId xmlns:a16="http://schemas.microsoft.com/office/drawing/2014/main" id="{02742FCD-C1A8-B407-200C-0B208A69F59C}"/>
              </a:ext>
            </a:extLst>
          </p:cNvPr>
          <p:cNvCxnSpPr>
            <a:cxnSpLocks noChangeAspect="1" noChangeShapeType="1"/>
            <a:stCxn id="34820" idx="5"/>
            <a:endCxn id="34833" idx="2"/>
          </p:cNvCxnSpPr>
          <p:nvPr/>
        </p:nvCxnSpPr>
        <p:spPr bwMode="auto">
          <a:xfrm rot="16200000" flipH="1">
            <a:off x="4003676" y="31543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5" name="Text Box 20">
            <a:extLst>
              <a:ext uri="{FF2B5EF4-FFF2-40B4-BE49-F238E27FC236}">
                <a16:creationId xmlns:a16="http://schemas.microsoft.com/office/drawing/2014/main" id="{D0DE69CA-E214-082A-9CEC-06C20C739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19192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36" name="Text Box 21">
            <a:extLst>
              <a:ext uri="{FF2B5EF4-FFF2-40B4-BE49-F238E27FC236}">
                <a16:creationId xmlns:a16="http://schemas.microsoft.com/office/drawing/2014/main" id="{A2753B59-5B65-12AE-8FDE-20B921E00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981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4837" name="Text Box 22">
            <a:extLst>
              <a:ext uri="{FF2B5EF4-FFF2-40B4-BE49-F238E27FC236}">
                <a16:creationId xmlns:a16="http://schemas.microsoft.com/office/drawing/2014/main" id="{6F98335A-87A6-C1E6-604A-E3B36DF14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4838" name="Text Box 23">
            <a:extLst>
              <a:ext uri="{FF2B5EF4-FFF2-40B4-BE49-F238E27FC236}">
                <a16:creationId xmlns:a16="http://schemas.microsoft.com/office/drawing/2014/main" id="{9FD5CA13-CBDB-66DB-84E2-6CBE35F79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39" name="Text Box 24">
            <a:extLst>
              <a:ext uri="{FF2B5EF4-FFF2-40B4-BE49-F238E27FC236}">
                <a16:creationId xmlns:a16="http://schemas.microsoft.com/office/drawing/2014/main" id="{52F9C9D3-4F3D-0A57-9F19-407B317C0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0" y="33909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-5</a:t>
            </a:r>
          </a:p>
        </p:txBody>
      </p:sp>
      <p:sp>
        <p:nvSpPr>
          <p:cNvPr id="34840" name="Text Box 25">
            <a:extLst>
              <a:ext uri="{FF2B5EF4-FFF2-40B4-BE49-F238E27FC236}">
                <a16:creationId xmlns:a16="http://schemas.microsoft.com/office/drawing/2014/main" id="{5E60BD83-F054-5567-C331-8A4A9764D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3909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841" name="Text Box 26">
            <a:extLst>
              <a:ext uri="{FF2B5EF4-FFF2-40B4-BE49-F238E27FC236}">
                <a16:creationId xmlns:a16="http://schemas.microsoft.com/office/drawing/2014/main" id="{E86314F8-F352-E183-8680-48C3D23B6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22860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4842" name="Text Box 27">
            <a:extLst>
              <a:ext uri="{FF2B5EF4-FFF2-40B4-BE49-F238E27FC236}">
                <a16:creationId xmlns:a16="http://schemas.microsoft.com/office/drawing/2014/main" id="{EA8506E1-7BB8-C419-0276-937192826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843" name="Text Box 28">
            <a:extLst>
              <a:ext uri="{FF2B5EF4-FFF2-40B4-BE49-F238E27FC236}">
                <a16:creationId xmlns:a16="http://schemas.microsoft.com/office/drawing/2014/main" id="{1083B7D6-4FC4-85F4-35D1-F1C73B39D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844" name="AutoShape 29">
            <a:extLst>
              <a:ext uri="{FF2B5EF4-FFF2-40B4-BE49-F238E27FC236}">
                <a16:creationId xmlns:a16="http://schemas.microsoft.com/office/drawing/2014/main" id="{93372840-B2BC-919F-DD9E-3D535D308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870200"/>
            <a:ext cx="609600" cy="520700"/>
          </a:xfrm>
          <a:prstGeom prst="rightArrow">
            <a:avLst>
              <a:gd name="adj1" fmla="val 50000"/>
              <a:gd name="adj2" fmla="val 29268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45" name="AutoShape 30">
            <a:extLst>
              <a:ext uri="{FF2B5EF4-FFF2-40B4-BE49-F238E27FC236}">
                <a16:creationId xmlns:a16="http://schemas.microsoft.com/office/drawing/2014/main" id="{2ABDD464-C954-21DD-AF35-F13ED0916809}"/>
              </a:ext>
            </a:extLst>
          </p:cNvPr>
          <p:cNvSpPr>
            <a:spLocks noChangeArrowheads="1"/>
          </p:cNvSpPr>
          <p:nvPr/>
        </p:nvSpPr>
        <p:spPr bwMode="auto">
          <a:xfrm rot="19375579">
            <a:off x="5486401" y="4038601"/>
            <a:ext cx="1108075" cy="442913"/>
          </a:xfrm>
          <a:prstGeom prst="leftArrow">
            <a:avLst>
              <a:gd name="adj1" fmla="val 50000"/>
              <a:gd name="adj2" fmla="val 62545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46" name="AutoShape 31">
            <a:extLst>
              <a:ext uri="{FF2B5EF4-FFF2-40B4-BE49-F238E27FC236}">
                <a16:creationId xmlns:a16="http://schemas.microsoft.com/office/drawing/2014/main" id="{20EEAD89-1A39-039D-AF02-D705C670A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194300"/>
            <a:ext cx="609600" cy="520700"/>
          </a:xfrm>
          <a:prstGeom prst="rightArrow">
            <a:avLst>
              <a:gd name="adj1" fmla="val 50000"/>
              <a:gd name="adj2" fmla="val 29268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47" name="Oval 32">
            <a:extLst>
              <a:ext uri="{FF2B5EF4-FFF2-40B4-BE49-F238E27FC236}">
                <a16:creationId xmlns:a16="http://schemas.microsoft.com/office/drawing/2014/main" id="{92E94B7B-6188-7128-5560-7D70E15C1D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54988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48" name="Oval 33">
            <a:extLst>
              <a:ext uri="{FF2B5EF4-FFF2-40B4-BE49-F238E27FC236}">
                <a16:creationId xmlns:a16="http://schemas.microsoft.com/office/drawing/2014/main" id="{3B456110-A47F-A7F1-5BE6-DC32646BCC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53401" y="19050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34849" name="Oval 34">
            <a:extLst>
              <a:ext uri="{FF2B5EF4-FFF2-40B4-BE49-F238E27FC236}">
                <a16:creationId xmlns:a16="http://schemas.microsoft.com/office/drawing/2014/main" id="{44BA342B-A2D9-3CF5-8F77-765FC563A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91401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4850" name="AutoShape 35">
            <a:extLst>
              <a:ext uri="{FF2B5EF4-FFF2-40B4-BE49-F238E27FC236}">
                <a16:creationId xmlns:a16="http://schemas.microsoft.com/office/drawing/2014/main" id="{92160F60-5288-32A9-505B-D0DB52ADA3B8}"/>
              </a:ext>
            </a:extLst>
          </p:cNvPr>
          <p:cNvCxnSpPr>
            <a:cxnSpLocks noChangeAspect="1" noChangeShapeType="1"/>
            <a:stCxn id="34848" idx="2"/>
            <a:endCxn id="34817" idx="0"/>
          </p:cNvCxnSpPr>
          <p:nvPr/>
        </p:nvCxnSpPr>
        <p:spPr bwMode="auto">
          <a:xfrm rot="10800000" flipV="1">
            <a:off x="6978650" y="2087564"/>
            <a:ext cx="1163638" cy="6127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51" name="AutoShape 36">
            <a:extLst>
              <a:ext uri="{FF2B5EF4-FFF2-40B4-BE49-F238E27FC236}">
                <a16:creationId xmlns:a16="http://schemas.microsoft.com/office/drawing/2014/main" id="{2BB56602-13F5-CECD-C0B6-F5ECF69C2E3D}"/>
              </a:ext>
            </a:extLst>
          </p:cNvPr>
          <p:cNvCxnSpPr>
            <a:cxnSpLocks noChangeAspect="1" noChangeShapeType="1"/>
            <a:stCxn id="34849" idx="2"/>
            <a:endCxn id="34817" idx="4"/>
          </p:cNvCxnSpPr>
          <p:nvPr/>
        </p:nvCxnSpPr>
        <p:spPr bwMode="auto">
          <a:xfrm rot="10800000">
            <a:off x="6978650" y="3086100"/>
            <a:ext cx="401638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52" name="AutoShape 37">
            <a:extLst>
              <a:ext uri="{FF2B5EF4-FFF2-40B4-BE49-F238E27FC236}">
                <a16:creationId xmlns:a16="http://schemas.microsoft.com/office/drawing/2014/main" id="{D301540A-8BEF-8829-E178-9596F491F679}"/>
              </a:ext>
            </a:extLst>
          </p:cNvPr>
          <p:cNvCxnSpPr>
            <a:cxnSpLocks noChangeAspect="1" noChangeShapeType="1"/>
            <a:stCxn id="34849" idx="6"/>
            <a:endCxn id="34847" idx="3"/>
          </p:cNvCxnSpPr>
          <p:nvPr/>
        </p:nvCxnSpPr>
        <p:spPr bwMode="auto">
          <a:xfrm flipV="1">
            <a:off x="7766051" y="3033714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53" name="AutoShape 38">
            <a:extLst>
              <a:ext uri="{FF2B5EF4-FFF2-40B4-BE49-F238E27FC236}">
                <a16:creationId xmlns:a16="http://schemas.microsoft.com/office/drawing/2014/main" id="{66CC4D3F-ED39-2EBF-95E1-AF31A68F8A8F}"/>
              </a:ext>
            </a:extLst>
          </p:cNvPr>
          <p:cNvCxnSpPr>
            <a:cxnSpLocks noChangeAspect="1" noChangeShapeType="1"/>
            <a:stCxn id="34848" idx="4"/>
            <a:endCxn id="34847" idx="0"/>
          </p:cNvCxnSpPr>
          <p:nvPr/>
        </p:nvCxnSpPr>
        <p:spPr bwMode="auto">
          <a:xfrm>
            <a:off x="8335964" y="2279650"/>
            <a:ext cx="1587" cy="420688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54" name="AutoShape 39">
            <a:extLst>
              <a:ext uri="{FF2B5EF4-FFF2-40B4-BE49-F238E27FC236}">
                <a16:creationId xmlns:a16="http://schemas.microsoft.com/office/drawing/2014/main" id="{908F5370-E631-0FA4-23FE-34010CFF9693}"/>
              </a:ext>
            </a:extLst>
          </p:cNvPr>
          <p:cNvCxnSpPr>
            <a:cxnSpLocks noChangeAspect="1" noChangeShapeType="1"/>
            <a:stCxn id="34817" idx="6"/>
            <a:endCxn id="34847" idx="2"/>
          </p:cNvCxnSpPr>
          <p:nvPr/>
        </p:nvCxnSpPr>
        <p:spPr bwMode="auto">
          <a:xfrm>
            <a:off x="7170739" y="2894013"/>
            <a:ext cx="97313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55" name="Oval 40">
            <a:extLst>
              <a:ext uri="{FF2B5EF4-FFF2-40B4-BE49-F238E27FC236}">
                <a16:creationId xmlns:a16="http://schemas.microsoft.com/office/drawing/2014/main" id="{77BFD831-392B-197C-3D25-BB6AEBC245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17063" y="27114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4856" name="AutoShape 41">
            <a:extLst>
              <a:ext uri="{FF2B5EF4-FFF2-40B4-BE49-F238E27FC236}">
                <a16:creationId xmlns:a16="http://schemas.microsoft.com/office/drawing/2014/main" id="{0B5BFE3A-6FA5-285F-BC81-606B643ACEB1}"/>
              </a:ext>
            </a:extLst>
          </p:cNvPr>
          <p:cNvCxnSpPr>
            <a:cxnSpLocks noChangeAspect="1" noChangeShapeType="1"/>
            <a:stCxn id="34859" idx="6"/>
            <a:endCxn id="34855" idx="4"/>
          </p:cNvCxnSpPr>
          <p:nvPr/>
        </p:nvCxnSpPr>
        <p:spPr bwMode="auto">
          <a:xfrm flipV="1">
            <a:off x="9280525" y="30861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57" name="AutoShape 42">
            <a:extLst>
              <a:ext uri="{FF2B5EF4-FFF2-40B4-BE49-F238E27FC236}">
                <a16:creationId xmlns:a16="http://schemas.microsoft.com/office/drawing/2014/main" id="{79C76D5A-1AE3-62CB-6E82-149600E2D504}"/>
              </a:ext>
            </a:extLst>
          </p:cNvPr>
          <p:cNvCxnSpPr>
            <a:cxnSpLocks noChangeAspect="1" noChangeShapeType="1"/>
            <a:stCxn id="34855" idx="0"/>
            <a:endCxn id="34848" idx="6"/>
          </p:cNvCxnSpPr>
          <p:nvPr/>
        </p:nvCxnSpPr>
        <p:spPr bwMode="auto">
          <a:xfrm rot="5400000" flipH="1">
            <a:off x="8807451" y="1808164"/>
            <a:ext cx="612775" cy="11715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58" name="AutoShape 43">
            <a:extLst>
              <a:ext uri="{FF2B5EF4-FFF2-40B4-BE49-F238E27FC236}">
                <a16:creationId xmlns:a16="http://schemas.microsoft.com/office/drawing/2014/main" id="{8447A450-070D-9FE3-731C-F8CCDF32F614}"/>
              </a:ext>
            </a:extLst>
          </p:cNvPr>
          <p:cNvCxnSpPr>
            <a:cxnSpLocks noChangeAspect="1" noChangeShapeType="1"/>
            <a:stCxn id="34847" idx="6"/>
            <a:endCxn id="34855" idx="2"/>
          </p:cNvCxnSpPr>
          <p:nvPr/>
        </p:nvCxnSpPr>
        <p:spPr bwMode="auto">
          <a:xfrm>
            <a:off x="8529638" y="2894013"/>
            <a:ext cx="9763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59" name="Oval 44">
            <a:extLst>
              <a:ext uri="{FF2B5EF4-FFF2-40B4-BE49-F238E27FC236}">
                <a16:creationId xmlns:a16="http://schemas.microsoft.com/office/drawing/2014/main" id="{53DD3C68-A431-4FFF-AC6C-D29EF737EB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05876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4860" name="AutoShape 45">
            <a:extLst>
              <a:ext uri="{FF2B5EF4-FFF2-40B4-BE49-F238E27FC236}">
                <a16:creationId xmlns:a16="http://schemas.microsoft.com/office/drawing/2014/main" id="{22E86F31-74E9-23C1-A0A5-4AB7DAFE44AA}"/>
              </a:ext>
            </a:extLst>
          </p:cNvPr>
          <p:cNvCxnSpPr>
            <a:cxnSpLocks noChangeAspect="1" noChangeShapeType="1"/>
            <a:stCxn id="34847" idx="5"/>
            <a:endCxn id="34859" idx="2"/>
          </p:cNvCxnSpPr>
          <p:nvPr/>
        </p:nvCxnSpPr>
        <p:spPr bwMode="auto">
          <a:xfrm rot="16200000" flipH="1">
            <a:off x="8347076" y="31543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61" name="Text Box 46">
            <a:extLst>
              <a:ext uri="{FF2B5EF4-FFF2-40B4-BE49-F238E27FC236}">
                <a16:creationId xmlns:a16="http://schemas.microsoft.com/office/drawing/2014/main" id="{D18C60AE-18D5-7598-FB4C-27E1164D0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6550" y="19192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62" name="Text Box 47">
            <a:extLst>
              <a:ext uri="{FF2B5EF4-FFF2-40B4-BE49-F238E27FC236}">
                <a16:creationId xmlns:a16="http://schemas.microsoft.com/office/drawing/2014/main" id="{E94B0C7A-0FE1-67EF-AC03-D0A2B3C54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981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4863" name="Text Box 48">
            <a:extLst>
              <a:ext uri="{FF2B5EF4-FFF2-40B4-BE49-F238E27FC236}">
                <a16:creationId xmlns:a16="http://schemas.microsoft.com/office/drawing/2014/main" id="{105603D9-5312-C6C9-6CE7-71306C7B2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4864" name="Text Box 49">
            <a:extLst>
              <a:ext uri="{FF2B5EF4-FFF2-40B4-BE49-F238E27FC236}">
                <a16:creationId xmlns:a16="http://schemas.microsoft.com/office/drawing/2014/main" id="{47986756-4107-5F40-0251-70BE50063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25908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65" name="Text Box 50">
            <a:extLst>
              <a:ext uri="{FF2B5EF4-FFF2-40B4-BE49-F238E27FC236}">
                <a16:creationId xmlns:a16="http://schemas.microsoft.com/office/drawing/2014/main" id="{5C5AA51F-B5C1-614C-7A5E-22DFC004A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33909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-5</a:t>
            </a:r>
          </a:p>
        </p:txBody>
      </p:sp>
      <p:sp>
        <p:nvSpPr>
          <p:cNvPr id="34866" name="Text Box 51">
            <a:extLst>
              <a:ext uri="{FF2B5EF4-FFF2-40B4-BE49-F238E27FC236}">
                <a16:creationId xmlns:a16="http://schemas.microsoft.com/office/drawing/2014/main" id="{29029F59-E8F7-FAFB-5989-6FD9F7400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0" y="33909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867" name="Text Box 52">
            <a:extLst>
              <a:ext uri="{FF2B5EF4-FFF2-40B4-BE49-F238E27FC236}">
                <a16:creationId xmlns:a16="http://schemas.microsoft.com/office/drawing/2014/main" id="{13DDDF87-2150-6D7A-3F87-A06A26D48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868" name="Text Box 53">
            <a:extLst>
              <a:ext uri="{FF2B5EF4-FFF2-40B4-BE49-F238E27FC236}">
                <a16:creationId xmlns:a16="http://schemas.microsoft.com/office/drawing/2014/main" id="{2B635BB6-0D9B-654B-C42B-D4EB79081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6300" y="3124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869" name="Text Box 54">
            <a:extLst>
              <a:ext uri="{FF2B5EF4-FFF2-40B4-BE49-F238E27FC236}">
                <a16:creationId xmlns:a16="http://schemas.microsoft.com/office/drawing/2014/main" id="{5E3648EC-E749-8FB7-CB48-33F863F6D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0301" y="990601"/>
            <a:ext cx="4468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Nodes are labeled with their d(v) values.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FF"/>
                </a:solidFill>
              </a:rPr>
              <a:t>Blue numbers are the topological ordering</a:t>
            </a:r>
          </a:p>
        </p:txBody>
      </p:sp>
      <p:sp>
        <p:nvSpPr>
          <p:cNvPr id="34870" name="Text Box 55">
            <a:extLst>
              <a:ext uri="{FF2B5EF4-FFF2-40B4-BE49-F238E27FC236}">
                <a16:creationId xmlns:a16="http://schemas.microsoft.com/office/drawing/2014/main" id="{8BBB1B18-5F8A-BE69-A603-98CA407D5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7244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4871" name="Oval 56">
            <a:extLst>
              <a:ext uri="{FF2B5EF4-FFF2-40B4-BE49-F238E27FC236}">
                <a16:creationId xmlns:a16="http://schemas.microsoft.com/office/drawing/2014/main" id="{739AD767-C522-AD65-5FD2-EB93985C36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73488" y="51498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</a:p>
        </p:txBody>
      </p:sp>
      <p:sp>
        <p:nvSpPr>
          <p:cNvPr id="34872" name="Oval 57">
            <a:extLst>
              <a:ext uri="{FF2B5EF4-FFF2-40B4-BE49-F238E27FC236}">
                <a16:creationId xmlns:a16="http://schemas.microsoft.com/office/drawing/2014/main" id="{9DC7A6C6-36C1-45BB-03AD-5B74B47F46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00301" y="514985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34873" name="Oval 58">
            <a:extLst>
              <a:ext uri="{FF2B5EF4-FFF2-40B4-BE49-F238E27FC236}">
                <a16:creationId xmlns:a16="http://schemas.microsoft.com/office/drawing/2014/main" id="{EA1D3F48-FB3B-243F-6849-FF6F5ECADF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71901" y="43434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0</a:t>
            </a:r>
          </a:p>
        </p:txBody>
      </p:sp>
      <p:cxnSp>
        <p:nvCxnSpPr>
          <p:cNvPr id="34874" name="AutoShape 59">
            <a:extLst>
              <a:ext uri="{FF2B5EF4-FFF2-40B4-BE49-F238E27FC236}">
                <a16:creationId xmlns:a16="http://schemas.microsoft.com/office/drawing/2014/main" id="{DEB8DA43-AB96-4A65-BD0A-B020B32F84EF}"/>
              </a:ext>
            </a:extLst>
          </p:cNvPr>
          <p:cNvCxnSpPr>
            <a:cxnSpLocks noChangeAspect="1" noChangeShapeType="1"/>
            <a:stCxn id="34873" idx="2"/>
            <a:endCxn id="34872" idx="0"/>
          </p:cNvCxnSpPr>
          <p:nvPr/>
        </p:nvCxnSpPr>
        <p:spPr bwMode="auto">
          <a:xfrm rot="10800000" flipV="1">
            <a:off x="2582864" y="4525964"/>
            <a:ext cx="1177925" cy="6127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75" name="AutoShape 60">
            <a:extLst>
              <a:ext uri="{FF2B5EF4-FFF2-40B4-BE49-F238E27FC236}">
                <a16:creationId xmlns:a16="http://schemas.microsoft.com/office/drawing/2014/main" id="{CD3953EF-5E91-077A-C355-5664A3080FC9}"/>
              </a:ext>
            </a:extLst>
          </p:cNvPr>
          <p:cNvCxnSpPr>
            <a:cxnSpLocks noChangeAspect="1" noChangeShapeType="1"/>
            <a:stCxn id="34893" idx="2"/>
            <a:endCxn id="34872" idx="4"/>
          </p:cNvCxnSpPr>
          <p:nvPr/>
        </p:nvCxnSpPr>
        <p:spPr bwMode="auto">
          <a:xfrm rot="10800000">
            <a:off x="2582864" y="5524500"/>
            <a:ext cx="415925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76" name="AutoShape 61">
            <a:extLst>
              <a:ext uri="{FF2B5EF4-FFF2-40B4-BE49-F238E27FC236}">
                <a16:creationId xmlns:a16="http://schemas.microsoft.com/office/drawing/2014/main" id="{1C739458-1F4B-EDB0-DCD1-9DC22F805E94}"/>
              </a:ext>
            </a:extLst>
          </p:cNvPr>
          <p:cNvCxnSpPr>
            <a:cxnSpLocks noChangeAspect="1" noChangeShapeType="1"/>
            <a:stCxn id="34893" idx="6"/>
            <a:endCxn id="34871" idx="3"/>
          </p:cNvCxnSpPr>
          <p:nvPr/>
        </p:nvCxnSpPr>
        <p:spPr bwMode="auto">
          <a:xfrm flipV="1">
            <a:off x="3384551" y="5472114"/>
            <a:ext cx="441325" cy="668337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77" name="AutoShape 62">
            <a:extLst>
              <a:ext uri="{FF2B5EF4-FFF2-40B4-BE49-F238E27FC236}">
                <a16:creationId xmlns:a16="http://schemas.microsoft.com/office/drawing/2014/main" id="{7D5D5A46-B245-5BAD-5D61-57B686EECA8C}"/>
              </a:ext>
            </a:extLst>
          </p:cNvPr>
          <p:cNvCxnSpPr>
            <a:cxnSpLocks noChangeAspect="1" noChangeShapeType="1"/>
            <a:stCxn id="34873" idx="4"/>
            <a:endCxn id="34871" idx="0"/>
          </p:cNvCxnSpPr>
          <p:nvPr/>
        </p:nvCxnSpPr>
        <p:spPr bwMode="auto">
          <a:xfrm>
            <a:off x="3954464" y="4718050"/>
            <a:ext cx="1587" cy="4206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78" name="AutoShape 63">
            <a:extLst>
              <a:ext uri="{FF2B5EF4-FFF2-40B4-BE49-F238E27FC236}">
                <a16:creationId xmlns:a16="http://schemas.microsoft.com/office/drawing/2014/main" id="{969D6B09-350C-BE7E-A513-88A5B947516B}"/>
              </a:ext>
            </a:extLst>
          </p:cNvPr>
          <p:cNvCxnSpPr>
            <a:cxnSpLocks noChangeAspect="1" noChangeShapeType="1"/>
            <a:stCxn id="34872" idx="6"/>
            <a:endCxn id="34871" idx="2"/>
          </p:cNvCxnSpPr>
          <p:nvPr/>
        </p:nvCxnSpPr>
        <p:spPr bwMode="auto">
          <a:xfrm>
            <a:off x="2774951" y="5332413"/>
            <a:ext cx="9874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79" name="Oval 64">
            <a:extLst>
              <a:ext uri="{FF2B5EF4-FFF2-40B4-BE49-F238E27FC236}">
                <a16:creationId xmlns:a16="http://schemas.microsoft.com/office/drawing/2014/main" id="{8FB962D7-9374-1238-09A0-FAAE274809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35563" y="51498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34880" name="AutoShape 65">
            <a:extLst>
              <a:ext uri="{FF2B5EF4-FFF2-40B4-BE49-F238E27FC236}">
                <a16:creationId xmlns:a16="http://schemas.microsoft.com/office/drawing/2014/main" id="{3A9767E3-F5CB-A44D-3203-838AD7C919C1}"/>
              </a:ext>
            </a:extLst>
          </p:cNvPr>
          <p:cNvCxnSpPr>
            <a:cxnSpLocks noChangeAspect="1" noChangeShapeType="1"/>
            <a:stCxn id="34883" idx="6"/>
            <a:endCxn id="34879" idx="4"/>
          </p:cNvCxnSpPr>
          <p:nvPr/>
        </p:nvCxnSpPr>
        <p:spPr bwMode="auto">
          <a:xfrm flipV="1">
            <a:off x="4899025" y="5524500"/>
            <a:ext cx="419100" cy="6159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81" name="AutoShape 66">
            <a:extLst>
              <a:ext uri="{FF2B5EF4-FFF2-40B4-BE49-F238E27FC236}">
                <a16:creationId xmlns:a16="http://schemas.microsoft.com/office/drawing/2014/main" id="{741F5A92-A2B8-EF0C-B5C4-492655C2C656}"/>
              </a:ext>
            </a:extLst>
          </p:cNvPr>
          <p:cNvCxnSpPr>
            <a:cxnSpLocks noChangeAspect="1" noChangeShapeType="1"/>
            <a:stCxn id="34879" idx="0"/>
            <a:endCxn id="34873" idx="6"/>
          </p:cNvCxnSpPr>
          <p:nvPr/>
        </p:nvCxnSpPr>
        <p:spPr bwMode="auto">
          <a:xfrm rot="5400000" flipH="1">
            <a:off x="4425951" y="4246564"/>
            <a:ext cx="612775" cy="11715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82" name="AutoShape 67">
            <a:extLst>
              <a:ext uri="{FF2B5EF4-FFF2-40B4-BE49-F238E27FC236}">
                <a16:creationId xmlns:a16="http://schemas.microsoft.com/office/drawing/2014/main" id="{96230711-5271-FB36-A653-0BEDF3FD123E}"/>
              </a:ext>
            </a:extLst>
          </p:cNvPr>
          <p:cNvCxnSpPr>
            <a:cxnSpLocks noChangeAspect="1" noChangeShapeType="1"/>
            <a:stCxn id="34871" idx="6"/>
            <a:endCxn id="34879" idx="2"/>
          </p:cNvCxnSpPr>
          <p:nvPr/>
        </p:nvCxnSpPr>
        <p:spPr bwMode="auto">
          <a:xfrm>
            <a:off x="4148138" y="5332413"/>
            <a:ext cx="976312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83" name="Oval 68">
            <a:extLst>
              <a:ext uri="{FF2B5EF4-FFF2-40B4-BE49-F238E27FC236}">
                <a16:creationId xmlns:a16="http://schemas.microsoft.com/office/drawing/2014/main" id="{2071DA5F-7B48-EEF4-5EBD-E6A4E2ADBF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24376" y="5957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4884" name="AutoShape 69">
            <a:extLst>
              <a:ext uri="{FF2B5EF4-FFF2-40B4-BE49-F238E27FC236}">
                <a16:creationId xmlns:a16="http://schemas.microsoft.com/office/drawing/2014/main" id="{77A09F2B-4A4B-11EE-A4D7-149EED37DC57}"/>
              </a:ext>
            </a:extLst>
          </p:cNvPr>
          <p:cNvCxnSpPr>
            <a:cxnSpLocks noChangeAspect="1" noChangeShapeType="1"/>
            <a:stCxn id="34871" idx="5"/>
            <a:endCxn id="34883" idx="2"/>
          </p:cNvCxnSpPr>
          <p:nvPr/>
        </p:nvCxnSpPr>
        <p:spPr bwMode="auto">
          <a:xfrm rot="16200000" flipH="1">
            <a:off x="3965576" y="5592763"/>
            <a:ext cx="668337" cy="427038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85" name="Text Box 70">
            <a:extLst>
              <a:ext uri="{FF2B5EF4-FFF2-40B4-BE49-F238E27FC236}">
                <a16:creationId xmlns:a16="http://schemas.microsoft.com/office/drawing/2014/main" id="{117D6C03-F0E2-8B39-18CA-44F0EF1B9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43576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86" name="Text Box 71">
            <a:extLst>
              <a:ext uri="{FF2B5EF4-FFF2-40B4-BE49-F238E27FC236}">
                <a16:creationId xmlns:a16="http://schemas.microsoft.com/office/drawing/2014/main" id="{6C5D931E-D894-D013-612B-91C172B07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4419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4887" name="Text Box 72">
            <a:extLst>
              <a:ext uri="{FF2B5EF4-FFF2-40B4-BE49-F238E27FC236}">
                <a16:creationId xmlns:a16="http://schemas.microsoft.com/office/drawing/2014/main" id="{AB3766B2-C3C8-0AEA-55F2-380D23429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5029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4888" name="Text Box 73">
            <a:extLst>
              <a:ext uri="{FF2B5EF4-FFF2-40B4-BE49-F238E27FC236}">
                <a16:creationId xmlns:a16="http://schemas.microsoft.com/office/drawing/2014/main" id="{3284E8E2-F65A-B7CF-D887-55C5CA2DC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5029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889" name="Text Box 74">
            <a:extLst>
              <a:ext uri="{FF2B5EF4-FFF2-40B4-BE49-F238E27FC236}">
                <a16:creationId xmlns:a16="http://schemas.microsoft.com/office/drawing/2014/main" id="{8A6E3744-9001-E707-53B4-8C5134595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293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-5</a:t>
            </a:r>
          </a:p>
        </p:txBody>
      </p:sp>
      <p:sp>
        <p:nvSpPr>
          <p:cNvPr id="34890" name="Text Box 75">
            <a:extLst>
              <a:ext uri="{FF2B5EF4-FFF2-40B4-BE49-F238E27FC236}">
                <a16:creationId xmlns:a16="http://schemas.microsoft.com/office/drawing/2014/main" id="{2E6A50EC-60B3-AAEA-FAEF-40B2F1E34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58293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891" name="Text Box 76">
            <a:extLst>
              <a:ext uri="{FF2B5EF4-FFF2-40B4-BE49-F238E27FC236}">
                <a16:creationId xmlns:a16="http://schemas.microsoft.com/office/drawing/2014/main" id="{B215B047-A6E4-AC62-746C-106849AC3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0" y="5562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892" name="Text Box 77">
            <a:extLst>
              <a:ext uri="{FF2B5EF4-FFF2-40B4-BE49-F238E27FC236}">
                <a16:creationId xmlns:a16="http://schemas.microsoft.com/office/drawing/2014/main" id="{D901C7AA-32FC-DD6E-6966-3EFBCECA4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4864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893" name="Oval 78">
            <a:extLst>
              <a:ext uri="{FF2B5EF4-FFF2-40B4-BE49-F238E27FC236}">
                <a16:creationId xmlns:a16="http://schemas.microsoft.com/office/drawing/2014/main" id="{A0975E69-DAF5-6233-70A9-F16EE7400F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09901" y="5957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94" name="Oval 80">
            <a:extLst>
              <a:ext uri="{FF2B5EF4-FFF2-40B4-BE49-F238E27FC236}">
                <a16:creationId xmlns:a16="http://schemas.microsoft.com/office/drawing/2014/main" id="{81B86C5B-14D8-83A6-6158-126B638CF4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96288" y="25146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</a:p>
        </p:txBody>
      </p:sp>
      <p:sp>
        <p:nvSpPr>
          <p:cNvPr id="34895" name="Oval 81">
            <a:extLst>
              <a:ext uri="{FF2B5EF4-FFF2-40B4-BE49-F238E27FC236}">
                <a16:creationId xmlns:a16="http://schemas.microsoft.com/office/drawing/2014/main" id="{AD25F06E-8FF9-98A3-4A5F-2B5BFEFB8C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67888" y="25146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  <p:sp>
        <p:nvSpPr>
          <p:cNvPr id="34896" name="Oval 82">
            <a:extLst>
              <a:ext uri="{FF2B5EF4-FFF2-40B4-BE49-F238E27FC236}">
                <a16:creationId xmlns:a16="http://schemas.microsoft.com/office/drawing/2014/main" id="{2C04E392-9F8E-5F8F-16AD-0B9455E0C1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86388" y="50292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</a:p>
        </p:txBody>
      </p:sp>
      <p:sp>
        <p:nvSpPr>
          <p:cNvPr id="34897" name="Oval 84">
            <a:extLst>
              <a:ext uri="{FF2B5EF4-FFF2-40B4-BE49-F238E27FC236}">
                <a16:creationId xmlns:a16="http://schemas.microsoft.com/office/drawing/2014/main" id="{B385FF99-EBF8-FDB1-8AFC-CC4F4B6285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1801" y="57292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4898" name="Oval 86">
            <a:extLst>
              <a:ext uri="{FF2B5EF4-FFF2-40B4-BE49-F238E27FC236}">
                <a16:creationId xmlns:a16="http://schemas.microsoft.com/office/drawing/2014/main" id="{C369D84F-3017-C732-CB7A-45AF7855C6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1" y="57292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sp>
        <p:nvSpPr>
          <p:cNvPr id="34899" name="Oval 87">
            <a:extLst>
              <a:ext uri="{FF2B5EF4-FFF2-40B4-BE49-F238E27FC236}">
                <a16:creationId xmlns:a16="http://schemas.microsoft.com/office/drawing/2014/main" id="{8D1A0541-9208-EB92-A243-FEEEA3EA3B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7213" y="51498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</a:p>
        </p:txBody>
      </p:sp>
      <p:sp>
        <p:nvSpPr>
          <p:cNvPr id="34900" name="Oval 88">
            <a:extLst>
              <a:ext uri="{FF2B5EF4-FFF2-40B4-BE49-F238E27FC236}">
                <a16:creationId xmlns:a16="http://schemas.microsoft.com/office/drawing/2014/main" id="{921F39A4-373C-1D4E-053E-1B3FEC4519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4026" y="514985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4901" name="Oval 89">
            <a:extLst>
              <a:ext uri="{FF2B5EF4-FFF2-40B4-BE49-F238E27FC236}">
                <a16:creationId xmlns:a16="http://schemas.microsoft.com/office/drawing/2014/main" id="{F9ED1C64-DA4C-D2D4-9980-86C7D39818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75626" y="43434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34902" name="Oval 90">
            <a:extLst>
              <a:ext uri="{FF2B5EF4-FFF2-40B4-BE49-F238E27FC236}">
                <a16:creationId xmlns:a16="http://schemas.microsoft.com/office/drawing/2014/main" id="{27D9800A-3C12-EC74-A672-4882E93965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13626" y="5957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cxnSp>
        <p:nvCxnSpPr>
          <p:cNvPr id="34903" name="AutoShape 91">
            <a:extLst>
              <a:ext uri="{FF2B5EF4-FFF2-40B4-BE49-F238E27FC236}">
                <a16:creationId xmlns:a16="http://schemas.microsoft.com/office/drawing/2014/main" id="{C4B9B0BC-8867-4532-8FFF-209CEF7A2C4F}"/>
              </a:ext>
            </a:extLst>
          </p:cNvPr>
          <p:cNvCxnSpPr>
            <a:cxnSpLocks noChangeAspect="1" noChangeShapeType="1"/>
            <a:stCxn id="34901" idx="2"/>
            <a:endCxn id="34900" idx="0"/>
          </p:cNvCxnSpPr>
          <p:nvPr/>
        </p:nvCxnSpPr>
        <p:spPr bwMode="auto">
          <a:xfrm rot="10800000" flipV="1">
            <a:off x="6986589" y="4525964"/>
            <a:ext cx="1177925" cy="612775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904" name="AutoShape 92">
            <a:extLst>
              <a:ext uri="{FF2B5EF4-FFF2-40B4-BE49-F238E27FC236}">
                <a16:creationId xmlns:a16="http://schemas.microsoft.com/office/drawing/2014/main" id="{548A7B3A-9169-D422-4988-E2A5ADC6A3F8}"/>
              </a:ext>
            </a:extLst>
          </p:cNvPr>
          <p:cNvCxnSpPr>
            <a:cxnSpLocks noChangeAspect="1" noChangeShapeType="1"/>
            <a:stCxn id="34902" idx="2"/>
            <a:endCxn id="34900" idx="4"/>
          </p:cNvCxnSpPr>
          <p:nvPr/>
        </p:nvCxnSpPr>
        <p:spPr bwMode="auto">
          <a:xfrm rot="10800000">
            <a:off x="6986589" y="5524500"/>
            <a:ext cx="415925" cy="615950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905" name="AutoShape 93">
            <a:extLst>
              <a:ext uri="{FF2B5EF4-FFF2-40B4-BE49-F238E27FC236}">
                <a16:creationId xmlns:a16="http://schemas.microsoft.com/office/drawing/2014/main" id="{106B91D7-3E46-79CF-B932-D9D0E6DC93A2}"/>
              </a:ext>
            </a:extLst>
          </p:cNvPr>
          <p:cNvCxnSpPr>
            <a:cxnSpLocks noChangeAspect="1" noChangeShapeType="1"/>
            <a:stCxn id="34902" idx="6"/>
            <a:endCxn id="34899" idx="3"/>
          </p:cNvCxnSpPr>
          <p:nvPr/>
        </p:nvCxnSpPr>
        <p:spPr bwMode="auto">
          <a:xfrm flipV="1">
            <a:off x="7788276" y="5472114"/>
            <a:ext cx="441325" cy="668337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906" name="AutoShape 94">
            <a:extLst>
              <a:ext uri="{FF2B5EF4-FFF2-40B4-BE49-F238E27FC236}">
                <a16:creationId xmlns:a16="http://schemas.microsoft.com/office/drawing/2014/main" id="{7EF59152-C1F5-45ED-6411-01B746C8D944}"/>
              </a:ext>
            </a:extLst>
          </p:cNvPr>
          <p:cNvCxnSpPr>
            <a:cxnSpLocks noChangeAspect="1" noChangeShapeType="1"/>
            <a:stCxn id="34901" idx="4"/>
            <a:endCxn id="34899" idx="0"/>
          </p:cNvCxnSpPr>
          <p:nvPr/>
        </p:nvCxnSpPr>
        <p:spPr bwMode="auto">
          <a:xfrm>
            <a:off x="8358189" y="4718050"/>
            <a:ext cx="1587" cy="4206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907" name="AutoShape 95">
            <a:extLst>
              <a:ext uri="{FF2B5EF4-FFF2-40B4-BE49-F238E27FC236}">
                <a16:creationId xmlns:a16="http://schemas.microsoft.com/office/drawing/2014/main" id="{5917FE88-2D31-98E5-BAC5-AAF8AFA83494}"/>
              </a:ext>
            </a:extLst>
          </p:cNvPr>
          <p:cNvCxnSpPr>
            <a:cxnSpLocks noChangeAspect="1" noChangeShapeType="1"/>
            <a:stCxn id="34900" idx="6"/>
            <a:endCxn id="34899" idx="2"/>
          </p:cNvCxnSpPr>
          <p:nvPr/>
        </p:nvCxnSpPr>
        <p:spPr bwMode="auto">
          <a:xfrm>
            <a:off x="7178676" y="5332413"/>
            <a:ext cx="987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908" name="Oval 96">
            <a:extLst>
              <a:ext uri="{FF2B5EF4-FFF2-40B4-BE49-F238E27FC236}">
                <a16:creationId xmlns:a16="http://schemas.microsoft.com/office/drawing/2014/main" id="{1C8D2A16-71DF-F49E-B82B-574BCC38F1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9288" y="514985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</a:p>
        </p:txBody>
      </p:sp>
      <p:cxnSp>
        <p:nvCxnSpPr>
          <p:cNvPr id="34909" name="AutoShape 97">
            <a:extLst>
              <a:ext uri="{FF2B5EF4-FFF2-40B4-BE49-F238E27FC236}">
                <a16:creationId xmlns:a16="http://schemas.microsoft.com/office/drawing/2014/main" id="{7D4E0069-B236-5D41-B45C-C9668D6BCA5A}"/>
              </a:ext>
            </a:extLst>
          </p:cNvPr>
          <p:cNvCxnSpPr>
            <a:cxnSpLocks noChangeAspect="1" noChangeShapeType="1"/>
            <a:stCxn id="34912" idx="6"/>
            <a:endCxn id="34908" idx="4"/>
          </p:cNvCxnSpPr>
          <p:nvPr/>
        </p:nvCxnSpPr>
        <p:spPr bwMode="auto">
          <a:xfrm flipV="1">
            <a:off x="9294814" y="5516564"/>
            <a:ext cx="428625" cy="625475"/>
          </a:xfrm>
          <a:prstGeom prst="curvedConnector2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910" name="AutoShape 98">
            <a:extLst>
              <a:ext uri="{FF2B5EF4-FFF2-40B4-BE49-F238E27FC236}">
                <a16:creationId xmlns:a16="http://schemas.microsoft.com/office/drawing/2014/main" id="{6CB1D5C4-E269-1EB2-5371-92630822B651}"/>
              </a:ext>
            </a:extLst>
          </p:cNvPr>
          <p:cNvCxnSpPr>
            <a:cxnSpLocks noChangeAspect="1" noChangeShapeType="1"/>
            <a:stCxn id="34908" idx="0"/>
            <a:endCxn id="34901" idx="6"/>
          </p:cNvCxnSpPr>
          <p:nvPr/>
        </p:nvCxnSpPr>
        <p:spPr bwMode="auto">
          <a:xfrm rot="16200000" flipV="1">
            <a:off x="8821738" y="4248150"/>
            <a:ext cx="622300" cy="118110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911" name="AutoShape 99">
            <a:extLst>
              <a:ext uri="{FF2B5EF4-FFF2-40B4-BE49-F238E27FC236}">
                <a16:creationId xmlns:a16="http://schemas.microsoft.com/office/drawing/2014/main" id="{96FF049B-E204-FC41-C170-6B0A08A74D54}"/>
              </a:ext>
            </a:extLst>
          </p:cNvPr>
          <p:cNvCxnSpPr>
            <a:cxnSpLocks noChangeAspect="1" noChangeShapeType="1"/>
            <a:stCxn id="34899" idx="6"/>
            <a:endCxn id="34908" idx="2"/>
          </p:cNvCxnSpPr>
          <p:nvPr/>
        </p:nvCxnSpPr>
        <p:spPr bwMode="auto">
          <a:xfrm>
            <a:off x="8543926" y="5334000"/>
            <a:ext cx="995363" cy="1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912" name="Oval 100">
            <a:extLst>
              <a:ext uri="{FF2B5EF4-FFF2-40B4-BE49-F238E27FC236}">
                <a16:creationId xmlns:a16="http://schemas.microsoft.com/office/drawing/2014/main" id="{49C4EA08-8504-CD55-6391-84CBC74E45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28101" y="5957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</a:p>
        </p:txBody>
      </p:sp>
      <p:cxnSp>
        <p:nvCxnSpPr>
          <p:cNvPr id="34913" name="AutoShape 101">
            <a:extLst>
              <a:ext uri="{FF2B5EF4-FFF2-40B4-BE49-F238E27FC236}">
                <a16:creationId xmlns:a16="http://schemas.microsoft.com/office/drawing/2014/main" id="{41F3EC00-CD61-E344-AFF6-5478C80B2245}"/>
              </a:ext>
            </a:extLst>
          </p:cNvPr>
          <p:cNvCxnSpPr>
            <a:cxnSpLocks noChangeAspect="1" noChangeShapeType="1"/>
            <a:stCxn id="34899" idx="5"/>
            <a:endCxn id="34912" idx="2"/>
          </p:cNvCxnSpPr>
          <p:nvPr/>
        </p:nvCxnSpPr>
        <p:spPr bwMode="auto">
          <a:xfrm rot="16200000" flipH="1">
            <a:off x="8369301" y="5592763"/>
            <a:ext cx="668337" cy="4270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914" name="Text Box 102">
            <a:extLst>
              <a:ext uri="{FF2B5EF4-FFF2-40B4-BE49-F238E27FC236}">
                <a16:creationId xmlns:a16="http://schemas.microsoft.com/office/drawing/2014/main" id="{3A0FC954-0ADA-9B6F-DD94-EC0BA1CC4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8775" y="43576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915" name="Text Box 103">
            <a:extLst>
              <a:ext uri="{FF2B5EF4-FFF2-40B4-BE49-F238E27FC236}">
                <a16:creationId xmlns:a16="http://schemas.microsoft.com/office/drawing/2014/main" id="{CB96096C-0BA0-F0BE-FA87-2B0931244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825" y="4419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4916" name="Text Box 104">
            <a:extLst>
              <a:ext uri="{FF2B5EF4-FFF2-40B4-BE49-F238E27FC236}">
                <a16:creationId xmlns:a16="http://schemas.microsoft.com/office/drawing/2014/main" id="{28AC3053-214E-055D-CBF9-593D61799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825" y="5029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4917" name="Text Box 105">
            <a:extLst>
              <a:ext uri="{FF2B5EF4-FFF2-40B4-BE49-F238E27FC236}">
                <a16:creationId xmlns:a16="http://schemas.microsoft.com/office/drawing/2014/main" id="{F51C44BD-E171-9242-85FD-59632A171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7625" y="50292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918" name="Text Box 106">
            <a:extLst>
              <a:ext uri="{FF2B5EF4-FFF2-40B4-BE49-F238E27FC236}">
                <a16:creationId xmlns:a16="http://schemas.microsoft.com/office/drawing/2014/main" id="{E12E9041-6276-820B-F35F-FF34E029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5" y="58293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-5</a:t>
            </a:r>
          </a:p>
        </p:txBody>
      </p:sp>
      <p:sp>
        <p:nvSpPr>
          <p:cNvPr id="34919" name="Text Box 107">
            <a:extLst>
              <a:ext uri="{FF2B5EF4-FFF2-40B4-BE49-F238E27FC236}">
                <a16:creationId xmlns:a16="http://schemas.microsoft.com/office/drawing/2014/main" id="{84E4B427-AAD7-7F07-BDFE-04461DD2C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7225" y="58293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920" name="Text Box 108">
            <a:extLst>
              <a:ext uri="{FF2B5EF4-FFF2-40B4-BE49-F238E27FC236}">
                <a16:creationId xmlns:a16="http://schemas.microsoft.com/office/drawing/2014/main" id="{85127B3F-8F2F-3852-7EC5-92A9FC485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25" y="4724401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-2</a:t>
            </a:r>
          </a:p>
        </p:txBody>
      </p:sp>
      <p:sp>
        <p:nvSpPr>
          <p:cNvPr id="34921" name="Text Box 109">
            <a:extLst>
              <a:ext uri="{FF2B5EF4-FFF2-40B4-BE49-F238E27FC236}">
                <a16:creationId xmlns:a16="http://schemas.microsoft.com/office/drawing/2014/main" id="{FB7961A3-B2B4-30EB-EBEB-985CCBCC4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0825" y="5562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922" name="Text Box 110">
            <a:extLst>
              <a:ext uri="{FF2B5EF4-FFF2-40B4-BE49-F238E27FC236}">
                <a16:creationId xmlns:a16="http://schemas.microsoft.com/office/drawing/2014/main" id="{D4AD0192-91D2-77DE-76B9-3A3A9025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525" y="556260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923" name="Oval 111">
            <a:extLst>
              <a:ext uri="{FF2B5EF4-FFF2-40B4-BE49-F238E27FC236}">
                <a16:creationId xmlns:a16="http://schemas.microsoft.com/office/drawing/2014/main" id="{5A3954A1-2484-F02D-AC8B-0B4925DB25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82088" y="5715001"/>
            <a:ext cx="366712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</a:p>
        </p:txBody>
      </p:sp>
      <p:sp>
        <p:nvSpPr>
          <p:cNvPr id="34924" name="Text Box 112">
            <a:extLst>
              <a:ext uri="{FF2B5EF4-FFF2-40B4-BE49-F238E27FC236}">
                <a16:creationId xmlns:a16="http://schemas.microsoft.com/office/drawing/2014/main" id="{3858D539-957B-3B36-F84C-1B44B3806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475" y="16764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925" name="Text Box 114">
            <a:extLst>
              <a:ext uri="{FF2B5EF4-FFF2-40B4-BE49-F238E27FC236}">
                <a16:creationId xmlns:a16="http://schemas.microsoft.com/office/drawing/2014/main" id="{4BC5C870-CB9B-852C-64BC-B848F6C09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2590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926" name="Text Box 115">
            <a:extLst>
              <a:ext uri="{FF2B5EF4-FFF2-40B4-BE49-F238E27FC236}">
                <a16:creationId xmlns:a16="http://schemas.microsoft.com/office/drawing/2014/main" id="{07D4A565-0D69-AE0C-ADC3-CFB191822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2547938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927" name="Text Box 116">
            <a:extLst>
              <a:ext uri="{FF2B5EF4-FFF2-40B4-BE49-F238E27FC236}">
                <a16:creationId xmlns:a16="http://schemas.microsoft.com/office/drawing/2014/main" id="{1ACC62B4-FD8C-1078-1AFF-E6CDC1B4E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590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928" name="Text Box 117">
            <a:extLst>
              <a:ext uri="{FF2B5EF4-FFF2-40B4-BE49-F238E27FC236}">
                <a16:creationId xmlns:a16="http://schemas.microsoft.com/office/drawing/2014/main" id="{77FA5AE1-FED6-9260-7E7B-7861FA820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8350" y="3733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4929" name="Text Box 118">
            <a:extLst>
              <a:ext uri="{FF2B5EF4-FFF2-40B4-BE49-F238E27FC236}">
                <a16:creationId xmlns:a16="http://schemas.microsoft.com/office/drawing/2014/main" id="{4397E2C3-4762-AE52-3792-B01D0EA5D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0" y="3733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930" name="Text Box 119">
            <a:extLst>
              <a:ext uri="{FF2B5EF4-FFF2-40B4-BE49-F238E27FC236}">
                <a16:creationId xmlns:a16="http://schemas.microsoft.com/office/drawing/2014/main" id="{A396D75D-A275-2EC7-E8E5-4648B8858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16764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931" name="Text Box 120">
            <a:extLst>
              <a:ext uri="{FF2B5EF4-FFF2-40B4-BE49-F238E27FC236}">
                <a16:creationId xmlns:a16="http://schemas.microsoft.com/office/drawing/2014/main" id="{23BE6EA9-7860-DB17-E848-7B30847B5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590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932" name="Text Box 121">
            <a:extLst>
              <a:ext uri="{FF2B5EF4-FFF2-40B4-BE49-F238E27FC236}">
                <a16:creationId xmlns:a16="http://schemas.microsoft.com/office/drawing/2014/main" id="{EC28E1B1-596F-010E-0F45-37623469A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775" y="2547938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933" name="Text Box 122">
            <a:extLst>
              <a:ext uri="{FF2B5EF4-FFF2-40B4-BE49-F238E27FC236}">
                <a16:creationId xmlns:a16="http://schemas.microsoft.com/office/drawing/2014/main" id="{6398E549-032D-FAED-2ACD-4D2E20974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590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934" name="Text Box 123">
            <a:extLst>
              <a:ext uri="{FF2B5EF4-FFF2-40B4-BE49-F238E27FC236}">
                <a16:creationId xmlns:a16="http://schemas.microsoft.com/office/drawing/2014/main" id="{446467F8-37B6-D6D5-B9AD-86F76B5FD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733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4935" name="Text Box 124">
            <a:extLst>
              <a:ext uri="{FF2B5EF4-FFF2-40B4-BE49-F238E27FC236}">
                <a16:creationId xmlns:a16="http://schemas.microsoft.com/office/drawing/2014/main" id="{3413B445-BF66-684A-D5BC-CB286707E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3733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936" name="Oval 79">
            <a:extLst>
              <a:ext uri="{FF2B5EF4-FFF2-40B4-BE49-F238E27FC236}">
                <a16:creationId xmlns:a16="http://schemas.microsoft.com/office/drawing/2014/main" id="{6A2B7B1E-EEF9-67E1-944B-312F11F1ED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10401" y="25288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34937" name="Text Box 125">
            <a:extLst>
              <a:ext uri="{FF2B5EF4-FFF2-40B4-BE49-F238E27FC236}">
                <a16:creationId xmlns:a16="http://schemas.microsoft.com/office/drawing/2014/main" id="{D04983F7-722B-35D4-D989-5B2CB11F2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4114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938" name="Text Box 126">
            <a:extLst>
              <a:ext uri="{FF2B5EF4-FFF2-40B4-BE49-F238E27FC236}">
                <a16:creationId xmlns:a16="http://schemas.microsoft.com/office/drawing/2014/main" id="{CAB2731C-F5D2-0D78-BDEF-98470A58A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0292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939" name="Text Box 127">
            <a:extLst>
              <a:ext uri="{FF2B5EF4-FFF2-40B4-BE49-F238E27FC236}">
                <a16:creationId xmlns:a16="http://schemas.microsoft.com/office/drawing/2014/main" id="{792554C3-4F19-47BB-AD06-878056192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175" y="4986338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940" name="Text Box 128">
            <a:extLst>
              <a:ext uri="{FF2B5EF4-FFF2-40B4-BE49-F238E27FC236}">
                <a16:creationId xmlns:a16="http://schemas.microsoft.com/office/drawing/2014/main" id="{E3072DCF-EA24-C1BE-6242-1B953CB81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0292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941" name="Text Box 129">
            <a:extLst>
              <a:ext uri="{FF2B5EF4-FFF2-40B4-BE49-F238E27FC236}">
                <a16:creationId xmlns:a16="http://schemas.microsoft.com/office/drawing/2014/main" id="{FD85427D-5053-F958-F08E-9A1750B5D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1722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4942" name="Text Box 130">
            <a:extLst>
              <a:ext uri="{FF2B5EF4-FFF2-40B4-BE49-F238E27FC236}">
                <a16:creationId xmlns:a16="http://schemas.microsoft.com/office/drawing/2014/main" id="{637431A5-0E16-1FD0-C30E-693C1A045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61722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943" name="Text Box 131">
            <a:extLst>
              <a:ext uri="{FF2B5EF4-FFF2-40B4-BE49-F238E27FC236}">
                <a16:creationId xmlns:a16="http://schemas.microsoft.com/office/drawing/2014/main" id="{A1470479-557E-965B-EB47-26F0D4AA5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41148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4944" name="Text Box 132">
            <a:extLst>
              <a:ext uri="{FF2B5EF4-FFF2-40B4-BE49-F238E27FC236}">
                <a16:creationId xmlns:a16="http://schemas.microsoft.com/office/drawing/2014/main" id="{26F6C1C8-3417-6EAE-BD34-1FD552780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50292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945" name="Text Box 133">
            <a:extLst>
              <a:ext uri="{FF2B5EF4-FFF2-40B4-BE49-F238E27FC236}">
                <a16:creationId xmlns:a16="http://schemas.microsoft.com/office/drawing/2014/main" id="{89BCC48F-12F9-72FA-F0A5-8DCFF5A72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5775" y="4986338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946" name="Text Box 134">
            <a:extLst>
              <a:ext uri="{FF2B5EF4-FFF2-40B4-BE49-F238E27FC236}">
                <a16:creationId xmlns:a16="http://schemas.microsoft.com/office/drawing/2014/main" id="{B80A44FB-B37E-8E4D-5516-94890F6CD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0292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947" name="Text Box 135">
            <a:extLst>
              <a:ext uri="{FF2B5EF4-FFF2-40B4-BE49-F238E27FC236}">
                <a16:creationId xmlns:a16="http://schemas.microsoft.com/office/drawing/2014/main" id="{B406F1EE-430D-4386-915E-7EFAA8FD2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61722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4948" name="Text Box 136">
            <a:extLst>
              <a:ext uri="{FF2B5EF4-FFF2-40B4-BE49-F238E27FC236}">
                <a16:creationId xmlns:a16="http://schemas.microsoft.com/office/drawing/2014/main" id="{01274A39-7F48-ED53-ADFD-D102F47D3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6172200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949" name="Oval 83">
            <a:extLst>
              <a:ext uri="{FF2B5EF4-FFF2-40B4-BE49-F238E27FC236}">
                <a16:creationId xmlns:a16="http://schemas.microsoft.com/office/drawing/2014/main" id="{8D2C6F80-7BCD-3518-85E9-7EAB8560B2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67001" y="4967288"/>
            <a:ext cx="366713" cy="36671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34950" name="Oval 137">
            <a:extLst>
              <a:ext uri="{FF2B5EF4-FFF2-40B4-BE49-F238E27FC236}">
                <a16:creationId xmlns:a16="http://schemas.microsoft.com/office/drawing/2014/main" id="{CE4951E3-D799-BFAB-5E07-FA7EA679F3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1" y="5715001"/>
            <a:ext cx="366713" cy="36671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4951" name="Text Box 138">
            <a:extLst>
              <a:ext uri="{FF2B5EF4-FFF2-40B4-BE49-F238E27FC236}">
                <a16:creationId xmlns:a16="http://schemas.microsoft.com/office/drawing/2014/main" id="{5587D52A-DC42-F25B-C3D2-5168A40B5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450" y="6324600"/>
            <a:ext cx="1073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/>
              <a:t>(two steps)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E46F2C44-F61E-6950-586B-D109928DC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001000" cy="838200"/>
          </a:xfrm>
        </p:spPr>
        <p:txBody>
          <a:bodyPr/>
          <a:lstStyle/>
          <a:p>
            <a:pPr eaLnBrk="1" hangingPunct="1"/>
            <a:r>
              <a:rPr lang="en-US" altLang="en-US"/>
              <a:t>Comparison</a:t>
            </a:r>
          </a:p>
        </p:txBody>
      </p:sp>
      <p:graphicFrame>
        <p:nvGraphicFramePr>
          <p:cNvPr id="216215" name="Group 151">
            <a:extLst>
              <a:ext uri="{FF2B5EF4-FFF2-40B4-BE49-F238E27FC236}">
                <a16:creationId xmlns:a16="http://schemas.microsoft.com/office/drawing/2014/main" id="{685F18E2-F2AD-C487-D6E0-9A1EDF51C50E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2133600" y="1508126"/>
          <a:ext cx="7924800" cy="3216275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vertices, 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edges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Blip>
                          <a:blip r:embed="rId2"/>
                        </a:buBlip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Bounds are “big-Oh”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Dijkstra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Bellman-Ford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Graphs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Undirected*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Directed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Directed</a:t>
                      </a:r>
                      <a:endParaRPr kumimoji="0" lang="en-US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Time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log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n+m</a:t>
                      </a:r>
                      <a:endParaRPr kumimoji="0" 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No directed cycle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N/A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N/A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No negative cycle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  <a:endParaRPr kumimoji="0" lang="en-US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negative weight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N/A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N/A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879" name="TextBox 4">
            <a:extLst>
              <a:ext uri="{FF2B5EF4-FFF2-40B4-BE49-F238E27FC236}">
                <a16:creationId xmlns:a16="http://schemas.microsoft.com/office/drawing/2014/main" id="{8F6D2C64-8302-86ED-4C96-5CACFA441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649914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* Can be extended to directed graphs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9948062D-33D4-27EE-8E79-86E48EAEE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All-Pairs Shortest Paths</a:t>
            </a:r>
          </a:p>
        </p:txBody>
      </p:sp>
      <p:sp>
        <p:nvSpPr>
          <p:cNvPr id="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335BAB8-A150-261A-1839-F68042EC1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00200"/>
            <a:ext cx="8001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kern="0" dirty="0"/>
              <a:t>Find the distance between every pair of vertices in a weighted directed graph G.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400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kern="0" dirty="0"/>
              <a:t>We can make n calls to </a:t>
            </a:r>
            <a:r>
              <a:rPr lang="en-US" sz="2400" kern="0" dirty="0" err="1"/>
              <a:t>Dijkstra’s</a:t>
            </a:r>
            <a:r>
              <a:rPr lang="en-US" sz="2400" kern="0" dirty="0"/>
              <a:t> algorithm (if no negative edges), which takes O(</a:t>
            </a:r>
            <a:r>
              <a:rPr lang="en-US" sz="2400" kern="0" dirty="0" err="1"/>
              <a:t>nmlog</a:t>
            </a:r>
            <a:r>
              <a:rPr lang="en-US" sz="2400" kern="0" dirty="0"/>
              <a:t> n) time.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400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400" kern="0" dirty="0"/>
              <a:t>Likewise, n calls to Bellman-Ford would take O(n</a:t>
            </a:r>
            <a:r>
              <a:rPr lang="en-US" sz="2400" kern="0" baseline="30000" dirty="0"/>
              <a:t>2</a:t>
            </a:r>
            <a:r>
              <a:rPr lang="en-US" sz="2400" kern="0" dirty="0"/>
              <a:t>m) 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535EAF5F-D2AC-4DEB-ED5C-B812917DE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All-Pairs Shortest Paths</a:t>
            </a:r>
          </a:p>
        </p:txBody>
      </p:sp>
      <p:sp>
        <p:nvSpPr>
          <p:cNvPr id="37890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6C40413-5286-817B-5305-33CD1FC3CC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371600"/>
            <a:ext cx="3429000" cy="190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We can achieve O(n</a:t>
            </a:r>
            <a:r>
              <a:rPr lang="en-US" altLang="en-US" sz="2000" baseline="30000"/>
              <a:t>3</a:t>
            </a:r>
            <a:r>
              <a:rPr lang="en-US" altLang="en-US" sz="2000"/>
              <a:t>) time using </a:t>
            </a:r>
            <a:r>
              <a:rPr lang="en-US" altLang="en-US" sz="2000">
                <a:solidFill>
                  <a:srgbClr val="FF0000"/>
                </a:solidFill>
              </a:rPr>
              <a:t>dynamic programming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(similar to the Floyd-Warshall algorithm for transitive closure).</a:t>
            </a:r>
          </a:p>
        </p:txBody>
      </p:sp>
      <p:sp>
        <p:nvSpPr>
          <p:cNvPr id="37891" name="Text Box 4">
            <a:extLst>
              <a:ext uri="{FF2B5EF4-FFF2-40B4-BE49-F238E27FC236}">
                <a16:creationId xmlns:a16="http://schemas.microsoft.com/office/drawing/2014/main" id="{61873C71-6EDE-CCE0-D4E1-1D76D5783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447800"/>
            <a:ext cx="47244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AllPair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G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 sz="1800">
                <a:latin typeface="Times New Roman" panose="02020603050405020304" pitchFamily="18" charset="0"/>
              </a:rPr>
              <a:t>{assumes vertices 1,…,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}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all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vertex pairs (i,j) 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endParaRPr lang="en-US" altLang="en-US" sz="18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i,i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 if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is an edge in G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	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weight of edge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+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1800" b="1" i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   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   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  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1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n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do   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min{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],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i,k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k-1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k,j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]}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18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Rectangle 6">
            <a:extLst>
              <a:ext uri="{FF2B5EF4-FFF2-40B4-BE49-F238E27FC236}">
                <a16:creationId xmlns:a16="http://schemas.microsoft.com/office/drawing/2014/main" id="{691EC9E6-5686-8DFF-1B6A-11CC3410E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6" y="5021263"/>
            <a:ext cx="11113" cy="4762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893" name="Oval 7">
            <a:extLst>
              <a:ext uri="{FF2B5EF4-FFF2-40B4-BE49-F238E27FC236}">
                <a16:creationId xmlns:a16="http://schemas.microsoft.com/office/drawing/2014/main" id="{3A237D45-A149-9B56-280C-8AAE95B34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1" y="5781675"/>
            <a:ext cx="271463" cy="2413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37894" name="Oval 8">
            <a:extLst>
              <a:ext uri="{FF2B5EF4-FFF2-40B4-BE49-F238E27FC236}">
                <a16:creationId xmlns:a16="http://schemas.microsoft.com/office/drawing/2014/main" id="{C69FE34C-A52D-06E4-03A3-EBC85668E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4" y="5408613"/>
            <a:ext cx="269875" cy="2413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i="1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37895" name="Oval 9">
            <a:extLst>
              <a:ext uri="{FF2B5EF4-FFF2-40B4-BE49-F238E27FC236}">
                <a16:creationId xmlns:a16="http://schemas.microsoft.com/office/drawing/2014/main" id="{7F047AD3-E0E0-4BB0-9CF4-CEF62CB37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3" y="4999039"/>
            <a:ext cx="271462" cy="24288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 b="1" i="1">
                <a:latin typeface="Times New Roman" panose="02020603050405020304" pitchFamily="18" charset="0"/>
              </a:rPr>
              <a:t>i</a:t>
            </a:r>
          </a:p>
        </p:txBody>
      </p:sp>
      <p:cxnSp>
        <p:nvCxnSpPr>
          <p:cNvPr id="37896" name="AutoShape 10">
            <a:extLst>
              <a:ext uri="{FF2B5EF4-FFF2-40B4-BE49-F238E27FC236}">
                <a16:creationId xmlns:a16="http://schemas.microsoft.com/office/drawing/2014/main" id="{EAD13C74-42C6-227B-2492-37F31240E3F6}"/>
              </a:ext>
            </a:extLst>
          </p:cNvPr>
          <p:cNvCxnSpPr>
            <a:cxnSpLocks noChangeShapeType="1"/>
            <a:stCxn id="37895" idx="4"/>
            <a:endCxn id="37893" idx="1"/>
          </p:cNvCxnSpPr>
          <p:nvPr/>
        </p:nvCxnSpPr>
        <p:spPr bwMode="auto">
          <a:xfrm rot="16200000" flipH="1">
            <a:off x="3263901" y="5084763"/>
            <a:ext cx="536575" cy="889000"/>
          </a:xfrm>
          <a:prstGeom prst="curvedConnector3">
            <a:avLst>
              <a:gd name="adj1" fmla="val 46745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7" name="AutoShape 11">
            <a:extLst>
              <a:ext uri="{FF2B5EF4-FFF2-40B4-BE49-F238E27FC236}">
                <a16:creationId xmlns:a16="http://schemas.microsoft.com/office/drawing/2014/main" id="{27F5CD62-E8D5-C4FD-A522-E02F492D9FB6}"/>
              </a:ext>
            </a:extLst>
          </p:cNvPr>
          <p:cNvCxnSpPr>
            <a:cxnSpLocks noChangeShapeType="1"/>
            <a:stCxn id="37893" idx="7"/>
            <a:endCxn id="37894" idx="3"/>
          </p:cNvCxnSpPr>
          <p:nvPr/>
        </p:nvCxnSpPr>
        <p:spPr bwMode="auto">
          <a:xfrm rot="16200000">
            <a:off x="4426744" y="5364957"/>
            <a:ext cx="185738" cy="701675"/>
          </a:xfrm>
          <a:prstGeom prst="curvedConnector3">
            <a:avLst>
              <a:gd name="adj1" fmla="val 49815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898" name="Text Box 12">
            <a:extLst>
              <a:ext uri="{FF2B5EF4-FFF2-40B4-BE49-F238E27FC236}">
                <a16:creationId xmlns:a16="http://schemas.microsoft.com/office/drawing/2014/main" id="{32A13D06-7FC3-D7FE-1BFA-E32C7B364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6037" y="5591176"/>
            <a:ext cx="18854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Uses only vertices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numbered 1,…,k-1</a:t>
            </a:r>
          </a:p>
        </p:txBody>
      </p:sp>
      <p:sp>
        <p:nvSpPr>
          <p:cNvPr id="37899" name="Text Box 13">
            <a:extLst>
              <a:ext uri="{FF2B5EF4-FFF2-40B4-BE49-F238E27FC236}">
                <a16:creationId xmlns:a16="http://schemas.microsoft.com/office/drawing/2014/main" id="{139BC78D-3AD7-0FE7-6B11-51C9A5C39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412" y="5819776"/>
            <a:ext cx="18854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Uses only vertices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numbered 1,…,k-1</a:t>
            </a:r>
          </a:p>
        </p:txBody>
      </p:sp>
      <p:cxnSp>
        <p:nvCxnSpPr>
          <p:cNvPr id="37900" name="AutoShape 14">
            <a:extLst>
              <a:ext uri="{FF2B5EF4-FFF2-40B4-BE49-F238E27FC236}">
                <a16:creationId xmlns:a16="http://schemas.microsoft.com/office/drawing/2014/main" id="{2E7F9848-ECFD-DEA6-2F23-AED4969DBD02}"/>
              </a:ext>
            </a:extLst>
          </p:cNvPr>
          <p:cNvCxnSpPr>
            <a:cxnSpLocks noChangeShapeType="1"/>
            <a:stCxn id="37895" idx="5"/>
            <a:endCxn id="37894" idx="2"/>
          </p:cNvCxnSpPr>
          <p:nvPr/>
        </p:nvCxnSpPr>
        <p:spPr bwMode="auto">
          <a:xfrm rot="16200000" flipH="1">
            <a:off x="3845720" y="4563270"/>
            <a:ext cx="303213" cy="1628775"/>
          </a:xfrm>
          <a:prstGeom prst="curvedConnector2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1" name="Text Box 15">
            <a:extLst>
              <a:ext uri="{FF2B5EF4-FFF2-40B4-BE49-F238E27FC236}">
                <a16:creationId xmlns:a16="http://schemas.microsoft.com/office/drawing/2014/main" id="{82B9F75C-120C-580D-130B-99C17D2C1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886201"/>
            <a:ext cx="2971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</a:rPr>
              <a:t>Uses only vertices numbered 1,…,k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2"/>
                </a:solidFill>
              </a:rPr>
              <a:t>(compute weight of this edge)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</TotalTime>
  <Words>2275</Words>
  <Application>Microsoft Office PowerPoint</Application>
  <PresentationFormat>Widescreen</PresentationFormat>
  <Paragraphs>631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宋体</vt:lpstr>
      <vt:lpstr>Aptos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Facet</vt:lpstr>
      <vt:lpstr>CS535: Algorithm Design and Analysis   Shortest Paths</vt:lpstr>
      <vt:lpstr>Weighted Graphs</vt:lpstr>
      <vt:lpstr>Shortest Path Problem</vt:lpstr>
      <vt:lpstr>Shortest Path Properties</vt:lpstr>
      <vt:lpstr>Dijkstra’s Algorithm</vt:lpstr>
      <vt:lpstr>Edge Relaxation</vt:lpstr>
      <vt:lpstr>Dijkstra’s Algorithm</vt:lpstr>
      <vt:lpstr>Example</vt:lpstr>
      <vt:lpstr>Example (cont.)</vt:lpstr>
      <vt:lpstr>Analysis</vt:lpstr>
      <vt:lpstr>Extension</vt:lpstr>
      <vt:lpstr>Why Dijkstra’s Algorithm Works</vt:lpstr>
      <vt:lpstr>Why It Doesn’t Work for Negative-Weight Edges</vt:lpstr>
      <vt:lpstr>Bellman-Ford Algorithm</vt:lpstr>
      <vt:lpstr>Bellman-Ford Example</vt:lpstr>
      <vt:lpstr>DAG-based Algorithm</vt:lpstr>
      <vt:lpstr>DAG Example</vt:lpstr>
      <vt:lpstr>Comparison</vt:lpstr>
      <vt:lpstr>All-Pairs Shortest Paths</vt:lpstr>
      <vt:lpstr>All-Pairs Shortest Paths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1</cp:revision>
  <dcterms:created xsi:type="dcterms:W3CDTF">2024-11-25T04:43:22Z</dcterms:created>
  <dcterms:modified xsi:type="dcterms:W3CDTF">2024-11-25T05:56:50Z</dcterms:modified>
</cp:coreProperties>
</file>