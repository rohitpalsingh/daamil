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70" r:id="rId10"/>
    <p:sldId id="271" r:id="rId11"/>
    <p:sldId id="272" r:id="rId12"/>
    <p:sldId id="273" r:id="rId13"/>
    <p:sldId id="269" r:id="rId14"/>
    <p:sldId id="274" r:id="rId15"/>
    <p:sldId id="27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7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9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2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4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4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2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8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2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5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9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899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11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4370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42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16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44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17600" y="19050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A4671-C518-8F66-155D-657512DA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FBB1F-2187-B0BF-9C8F-51058192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53B5-7803-B44F-AE93-2D0780D6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pPr>
              <a:defRPr/>
            </a:pPr>
            <a:fld id="{0A02ACE3-7237-4821-9F6C-5F94A4F09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634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7388D-7B23-4D48-BD05-EFFFCBC9C558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96DAC6E-B5F5-41F9-BF3D-60C50F49C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1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E38E05D5-D01F-1F51-D1F1-E7B2D69E16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Introduction to Graphs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8BDBC63-689B-3FA5-D83E-83B48B1510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13, 2024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916193DF-4EAB-3AB4-558C-C2703C8A6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6.1, 6.2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DD27F0D-05D7-89DC-4259-116B600AD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</a:t>
            </a:r>
          </a:p>
        </p:txBody>
      </p:sp>
      <p:sp>
        <p:nvSpPr>
          <p:cNvPr id="1638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5BB0347-78B7-FAA4-1640-1BF618209E5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28851" y="1143000"/>
            <a:ext cx="8145463" cy="2514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graph is a pair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V, E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is a set of nodes, called </a:t>
            </a:r>
            <a:r>
              <a:rPr lang="en-US" altLang="en-US" sz="1800">
                <a:solidFill>
                  <a:schemeClr val="tx2"/>
                </a:solidFill>
              </a:rPr>
              <a:t>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is a collection of pairs of vertices, called </a:t>
            </a:r>
            <a:r>
              <a:rPr lang="en-US" altLang="en-US" sz="1800">
                <a:solidFill>
                  <a:schemeClr val="tx2"/>
                </a:solidFill>
              </a:rPr>
              <a:t>edges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chemeClr val="bg1"/>
                </a:solidFill>
              </a:rPr>
              <a:t>Vertices and edges are positions and store elements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vertex represents an airport and stores the three-letter airport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An edge represents a flight route between two airports and stores the mileage of the route</a:t>
            </a:r>
          </a:p>
        </p:txBody>
      </p:sp>
      <p:sp>
        <p:nvSpPr>
          <p:cNvPr id="16387" name="Oval 12">
            <a:extLst>
              <a:ext uri="{FF2B5EF4-FFF2-40B4-BE49-F238E27FC236}">
                <a16:creationId xmlns:a16="http://schemas.microsoft.com/office/drawing/2014/main" id="{B77E8DF9-6F3F-52C8-7A17-A11505110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41148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16388" name="Oval 99">
            <a:extLst>
              <a:ext uri="{FF2B5EF4-FFF2-40B4-BE49-F238E27FC236}">
                <a16:creationId xmlns:a16="http://schemas.microsoft.com/office/drawing/2014/main" id="{D4DF3FC7-A194-A663-09E1-6526F4A9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1" y="39592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16389" name="Oval 100">
            <a:extLst>
              <a:ext uri="{FF2B5EF4-FFF2-40B4-BE49-F238E27FC236}">
                <a16:creationId xmlns:a16="http://schemas.microsoft.com/office/drawing/2014/main" id="{A8183E1F-B8D9-C710-DDEF-7B2279264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76" y="58674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16390" name="Oval 101">
            <a:extLst>
              <a:ext uri="{FF2B5EF4-FFF2-40B4-BE49-F238E27FC236}">
                <a16:creationId xmlns:a16="http://schemas.microsoft.com/office/drawing/2014/main" id="{58931160-4899-D6BA-2A8C-516443CB5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562927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DFW</a:t>
            </a:r>
          </a:p>
        </p:txBody>
      </p:sp>
      <p:sp>
        <p:nvSpPr>
          <p:cNvPr id="16391" name="Oval 102">
            <a:extLst>
              <a:ext uri="{FF2B5EF4-FFF2-40B4-BE49-F238E27FC236}">
                <a16:creationId xmlns:a16="http://schemas.microsoft.com/office/drawing/2014/main" id="{3C01B243-F1DD-E8D9-BB27-C23B215EF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43434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sp>
        <p:nvSpPr>
          <p:cNvPr id="16392" name="Oval 103">
            <a:extLst>
              <a:ext uri="{FF2B5EF4-FFF2-40B4-BE49-F238E27FC236}">
                <a16:creationId xmlns:a16="http://schemas.microsoft.com/office/drawing/2014/main" id="{0F92A280-9860-F77E-A7D7-A4922DE72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54864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LAX</a:t>
            </a:r>
          </a:p>
        </p:txBody>
      </p:sp>
      <p:sp>
        <p:nvSpPr>
          <p:cNvPr id="16393" name="Oval 104">
            <a:extLst>
              <a:ext uri="{FF2B5EF4-FFF2-40B4-BE49-F238E27FC236}">
                <a16:creationId xmlns:a16="http://schemas.microsoft.com/office/drawing/2014/main" id="{02CB7772-EFDD-94F1-214E-6DAFBD0F9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47244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LGA</a:t>
            </a:r>
          </a:p>
        </p:txBody>
      </p:sp>
      <p:sp>
        <p:nvSpPr>
          <p:cNvPr id="16394" name="Oval 105">
            <a:extLst>
              <a:ext uri="{FF2B5EF4-FFF2-40B4-BE49-F238E27FC236}">
                <a16:creationId xmlns:a16="http://schemas.microsoft.com/office/drawing/2014/main" id="{81F5D548-0A33-94A9-C778-279C5D8B8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52578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cxnSp>
        <p:nvCxnSpPr>
          <p:cNvPr id="16395" name="AutoShape 106">
            <a:extLst>
              <a:ext uri="{FF2B5EF4-FFF2-40B4-BE49-F238E27FC236}">
                <a16:creationId xmlns:a16="http://schemas.microsoft.com/office/drawing/2014/main" id="{A1314FF5-A2E6-7925-F17B-547B9387106D}"/>
              </a:ext>
            </a:extLst>
          </p:cNvPr>
          <p:cNvCxnSpPr>
            <a:cxnSpLocks noChangeShapeType="1"/>
            <a:stCxn id="16391" idx="6"/>
            <a:endCxn id="16387" idx="2"/>
          </p:cNvCxnSpPr>
          <p:nvPr/>
        </p:nvCxnSpPr>
        <p:spPr bwMode="auto">
          <a:xfrm flipV="1">
            <a:off x="5060951" y="4343400"/>
            <a:ext cx="12541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6" name="AutoShape 107">
            <a:extLst>
              <a:ext uri="{FF2B5EF4-FFF2-40B4-BE49-F238E27FC236}">
                <a16:creationId xmlns:a16="http://schemas.microsoft.com/office/drawing/2014/main" id="{ED950C3F-DC1D-CE42-6842-93598BFE917A}"/>
              </a:ext>
            </a:extLst>
          </p:cNvPr>
          <p:cNvCxnSpPr>
            <a:cxnSpLocks noChangeShapeType="1"/>
            <a:stCxn id="16390" idx="0"/>
            <a:endCxn id="16387" idx="4"/>
          </p:cNvCxnSpPr>
          <p:nvPr/>
        </p:nvCxnSpPr>
        <p:spPr bwMode="auto">
          <a:xfrm flipV="1">
            <a:off x="6503989" y="4581526"/>
            <a:ext cx="288925" cy="1038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AutoShape 108">
            <a:extLst>
              <a:ext uri="{FF2B5EF4-FFF2-40B4-BE49-F238E27FC236}">
                <a16:creationId xmlns:a16="http://schemas.microsoft.com/office/drawing/2014/main" id="{58A2311A-EB6C-A59D-7BCC-C40E8599E157}"/>
              </a:ext>
            </a:extLst>
          </p:cNvPr>
          <p:cNvCxnSpPr>
            <a:cxnSpLocks noChangeShapeType="1"/>
            <a:stCxn id="16390" idx="7"/>
            <a:endCxn id="16393" idx="3"/>
          </p:cNvCxnSpPr>
          <p:nvPr/>
        </p:nvCxnSpPr>
        <p:spPr bwMode="auto">
          <a:xfrm flipV="1">
            <a:off x="6835776" y="5124451"/>
            <a:ext cx="1203325" cy="561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09">
            <a:extLst>
              <a:ext uri="{FF2B5EF4-FFF2-40B4-BE49-F238E27FC236}">
                <a16:creationId xmlns:a16="http://schemas.microsoft.com/office/drawing/2014/main" id="{903E7C28-15FD-1C33-6D05-709AD1F9E813}"/>
              </a:ext>
            </a:extLst>
          </p:cNvPr>
          <p:cNvCxnSpPr>
            <a:cxnSpLocks noChangeShapeType="1"/>
            <a:stCxn id="16393" idx="0"/>
            <a:endCxn id="16388" idx="3"/>
          </p:cNvCxnSpPr>
          <p:nvPr/>
        </p:nvCxnSpPr>
        <p:spPr bwMode="auto">
          <a:xfrm flipV="1">
            <a:off x="8370889" y="4359275"/>
            <a:ext cx="604837" cy="355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10">
            <a:extLst>
              <a:ext uri="{FF2B5EF4-FFF2-40B4-BE49-F238E27FC236}">
                <a16:creationId xmlns:a16="http://schemas.microsoft.com/office/drawing/2014/main" id="{F0FC9FE8-E84A-3E34-811C-5EE0A2DB380C}"/>
              </a:ext>
            </a:extLst>
          </p:cNvPr>
          <p:cNvCxnSpPr>
            <a:cxnSpLocks noChangeShapeType="1"/>
            <a:stCxn id="16387" idx="6"/>
            <a:endCxn id="16388" idx="2"/>
          </p:cNvCxnSpPr>
          <p:nvPr/>
        </p:nvCxnSpPr>
        <p:spPr bwMode="auto">
          <a:xfrm flipV="1">
            <a:off x="7270751" y="4187826"/>
            <a:ext cx="1558925" cy="155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111">
            <a:extLst>
              <a:ext uri="{FF2B5EF4-FFF2-40B4-BE49-F238E27FC236}">
                <a16:creationId xmlns:a16="http://schemas.microsoft.com/office/drawing/2014/main" id="{56FCAE78-449A-1C68-B784-5106608589CE}"/>
              </a:ext>
            </a:extLst>
          </p:cNvPr>
          <p:cNvCxnSpPr>
            <a:cxnSpLocks noChangeShapeType="1"/>
            <a:stCxn id="16394" idx="6"/>
            <a:endCxn id="16392" idx="2"/>
          </p:cNvCxnSpPr>
          <p:nvPr/>
        </p:nvCxnSpPr>
        <p:spPr bwMode="auto">
          <a:xfrm>
            <a:off x="3232151" y="5486400"/>
            <a:ext cx="10255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112">
            <a:extLst>
              <a:ext uri="{FF2B5EF4-FFF2-40B4-BE49-F238E27FC236}">
                <a16:creationId xmlns:a16="http://schemas.microsoft.com/office/drawing/2014/main" id="{351C8C50-B568-CDBF-2A0C-E20A5C658AA4}"/>
              </a:ext>
            </a:extLst>
          </p:cNvPr>
          <p:cNvCxnSpPr>
            <a:cxnSpLocks noChangeShapeType="1"/>
            <a:stCxn id="16391" idx="4"/>
            <a:endCxn id="16392" idx="0"/>
          </p:cNvCxnSpPr>
          <p:nvPr/>
        </p:nvCxnSpPr>
        <p:spPr bwMode="auto">
          <a:xfrm>
            <a:off x="4583113" y="4810125"/>
            <a:ext cx="1524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2" name="AutoShape 113">
            <a:extLst>
              <a:ext uri="{FF2B5EF4-FFF2-40B4-BE49-F238E27FC236}">
                <a16:creationId xmlns:a16="http://schemas.microsoft.com/office/drawing/2014/main" id="{254A3013-DF66-57C2-76C0-65659FE712AB}"/>
              </a:ext>
            </a:extLst>
          </p:cNvPr>
          <p:cNvCxnSpPr>
            <a:cxnSpLocks noChangeShapeType="1"/>
            <a:stCxn id="16393" idx="4"/>
            <a:endCxn id="16389" idx="0"/>
          </p:cNvCxnSpPr>
          <p:nvPr/>
        </p:nvCxnSpPr>
        <p:spPr bwMode="auto">
          <a:xfrm>
            <a:off x="8370888" y="5191125"/>
            <a:ext cx="6858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114">
            <a:extLst>
              <a:ext uri="{FF2B5EF4-FFF2-40B4-BE49-F238E27FC236}">
                <a16:creationId xmlns:a16="http://schemas.microsoft.com/office/drawing/2014/main" id="{C0092F70-011E-4182-AFE7-67A6E3D4596D}"/>
              </a:ext>
            </a:extLst>
          </p:cNvPr>
          <p:cNvCxnSpPr>
            <a:cxnSpLocks noChangeShapeType="1"/>
            <a:endCxn id="16390" idx="6"/>
          </p:cNvCxnSpPr>
          <p:nvPr/>
        </p:nvCxnSpPr>
        <p:spPr bwMode="auto">
          <a:xfrm flipH="1" flipV="1">
            <a:off x="6981826" y="5857876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4" name="AutoShape 115">
            <a:extLst>
              <a:ext uri="{FF2B5EF4-FFF2-40B4-BE49-F238E27FC236}">
                <a16:creationId xmlns:a16="http://schemas.microsoft.com/office/drawing/2014/main" id="{DF47961F-6059-6C83-7B12-2113AF7DB8BF}"/>
              </a:ext>
            </a:extLst>
          </p:cNvPr>
          <p:cNvCxnSpPr>
            <a:cxnSpLocks noChangeShapeType="1"/>
            <a:stCxn id="16392" idx="6"/>
            <a:endCxn id="16390" idx="2"/>
          </p:cNvCxnSpPr>
          <p:nvPr/>
        </p:nvCxnSpPr>
        <p:spPr bwMode="auto">
          <a:xfrm>
            <a:off x="5213350" y="5715001"/>
            <a:ext cx="812800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5" name="AutoShape 116">
            <a:extLst>
              <a:ext uri="{FF2B5EF4-FFF2-40B4-BE49-F238E27FC236}">
                <a16:creationId xmlns:a16="http://schemas.microsoft.com/office/drawing/2014/main" id="{7685592F-86EF-FD22-6193-A0B847465045}"/>
              </a:ext>
            </a:extLst>
          </p:cNvPr>
          <p:cNvCxnSpPr>
            <a:cxnSpLocks noChangeShapeType="1"/>
            <a:stCxn id="16392" idx="7"/>
            <a:endCxn id="16387" idx="3"/>
          </p:cNvCxnSpPr>
          <p:nvPr/>
        </p:nvCxnSpPr>
        <p:spPr bwMode="auto">
          <a:xfrm flipV="1">
            <a:off x="5067301" y="4514850"/>
            <a:ext cx="1393825" cy="1028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6" name="Text Box 118">
            <a:extLst>
              <a:ext uri="{FF2B5EF4-FFF2-40B4-BE49-F238E27FC236}">
                <a16:creationId xmlns:a16="http://schemas.microsoft.com/office/drawing/2014/main" id="{0330EA05-699E-8ED3-FFDF-EF6CA038E8D0}"/>
              </a:ext>
            </a:extLst>
          </p:cNvPr>
          <p:cNvSpPr txBox="1">
            <a:spLocks noChangeArrowheads="1"/>
          </p:cNvSpPr>
          <p:nvPr/>
        </p:nvSpPr>
        <p:spPr bwMode="auto">
          <a:xfrm rot="21252715">
            <a:off x="7598623" y="3938558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849</a:t>
            </a:r>
          </a:p>
        </p:txBody>
      </p:sp>
      <p:sp>
        <p:nvSpPr>
          <p:cNvPr id="16407" name="Text Box 119">
            <a:extLst>
              <a:ext uri="{FF2B5EF4-FFF2-40B4-BE49-F238E27FC236}">
                <a16:creationId xmlns:a16="http://schemas.microsoft.com/office/drawing/2014/main" id="{52B53417-2842-BD18-8626-74493CCBE8F6}"/>
              </a:ext>
            </a:extLst>
          </p:cNvPr>
          <p:cNvSpPr txBox="1">
            <a:spLocks noChangeArrowheads="1"/>
          </p:cNvSpPr>
          <p:nvPr/>
        </p:nvSpPr>
        <p:spPr bwMode="auto">
          <a:xfrm rot="16937753">
            <a:off x="6277029" y="4671189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16408" name="Text Box 120">
            <a:extLst>
              <a:ext uri="{FF2B5EF4-FFF2-40B4-BE49-F238E27FC236}">
                <a16:creationId xmlns:a16="http://schemas.microsoft.com/office/drawing/2014/main" id="{B4418798-6DB5-802D-A7D6-5C38BF490964}"/>
              </a:ext>
            </a:extLst>
          </p:cNvPr>
          <p:cNvSpPr txBox="1">
            <a:spLocks noChangeArrowheads="1"/>
          </p:cNvSpPr>
          <p:nvPr/>
        </p:nvSpPr>
        <p:spPr bwMode="auto">
          <a:xfrm rot="20055131">
            <a:off x="6950234" y="50879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1387</a:t>
            </a:r>
          </a:p>
        </p:txBody>
      </p:sp>
      <p:sp>
        <p:nvSpPr>
          <p:cNvPr id="16409" name="Text Box 121">
            <a:extLst>
              <a:ext uri="{FF2B5EF4-FFF2-40B4-BE49-F238E27FC236}">
                <a16:creationId xmlns:a16="http://schemas.microsoft.com/office/drawing/2014/main" id="{95638572-3CBD-11EF-A9A6-65944F135659}"/>
              </a:ext>
            </a:extLst>
          </p:cNvPr>
          <p:cNvSpPr txBox="1">
            <a:spLocks noChangeArrowheads="1"/>
          </p:cNvSpPr>
          <p:nvPr/>
        </p:nvSpPr>
        <p:spPr bwMode="auto">
          <a:xfrm rot="19463698">
            <a:off x="5137309" y="484978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1743</a:t>
            </a:r>
          </a:p>
        </p:txBody>
      </p:sp>
      <p:sp>
        <p:nvSpPr>
          <p:cNvPr id="16410" name="Text Box 122">
            <a:extLst>
              <a:ext uri="{FF2B5EF4-FFF2-40B4-BE49-F238E27FC236}">
                <a16:creationId xmlns:a16="http://schemas.microsoft.com/office/drawing/2014/main" id="{D6F5D1AD-1AA1-8232-F706-8F48A68AF9A8}"/>
              </a:ext>
            </a:extLst>
          </p:cNvPr>
          <p:cNvSpPr txBox="1">
            <a:spLocks noChangeArrowheads="1"/>
          </p:cNvSpPr>
          <p:nvPr/>
        </p:nvSpPr>
        <p:spPr bwMode="auto">
          <a:xfrm rot="20910655">
            <a:off x="5248434" y="411318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1843</a:t>
            </a:r>
          </a:p>
        </p:txBody>
      </p:sp>
      <p:sp>
        <p:nvSpPr>
          <p:cNvPr id="16411" name="Text Box 123">
            <a:extLst>
              <a:ext uri="{FF2B5EF4-FFF2-40B4-BE49-F238E27FC236}">
                <a16:creationId xmlns:a16="http://schemas.microsoft.com/office/drawing/2014/main" id="{9E1781A0-E5E0-3940-4995-5691B0C8A42B}"/>
              </a:ext>
            </a:extLst>
          </p:cNvPr>
          <p:cNvSpPr txBox="1">
            <a:spLocks noChangeArrowheads="1"/>
          </p:cNvSpPr>
          <p:nvPr/>
        </p:nvSpPr>
        <p:spPr bwMode="auto">
          <a:xfrm rot="2626382">
            <a:off x="8545672" y="53165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16412" name="Text Box 124">
            <a:extLst>
              <a:ext uri="{FF2B5EF4-FFF2-40B4-BE49-F238E27FC236}">
                <a16:creationId xmlns:a16="http://schemas.microsoft.com/office/drawing/2014/main" id="{05C00B6B-3CCE-E933-E288-21E079182F31}"/>
              </a:ext>
            </a:extLst>
          </p:cNvPr>
          <p:cNvSpPr txBox="1">
            <a:spLocks noChangeArrowheads="1"/>
          </p:cNvSpPr>
          <p:nvPr/>
        </p:nvSpPr>
        <p:spPr bwMode="auto">
          <a:xfrm rot="565849">
            <a:off x="7499350" y="5622926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16413" name="Text Box 125">
            <a:extLst>
              <a:ext uri="{FF2B5EF4-FFF2-40B4-BE49-F238E27FC236}">
                <a16:creationId xmlns:a16="http://schemas.microsoft.com/office/drawing/2014/main" id="{4F34B6A4-0264-64D4-F44D-697F165B8C92}"/>
              </a:ext>
            </a:extLst>
          </p:cNvPr>
          <p:cNvSpPr txBox="1">
            <a:spLocks noChangeArrowheads="1"/>
          </p:cNvSpPr>
          <p:nvPr/>
        </p:nvSpPr>
        <p:spPr bwMode="auto">
          <a:xfrm rot="695916">
            <a:off x="5289709" y="544033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16414" name="Text Box 126">
            <a:extLst>
              <a:ext uri="{FF2B5EF4-FFF2-40B4-BE49-F238E27FC236}">
                <a16:creationId xmlns:a16="http://schemas.microsoft.com/office/drawing/2014/main" id="{703078F5-7732-6F94-43A4-8B8F87C2F8DB}"/>
              </a:ext>
            </a:extLst>
          </p:cNvPr>
          <p:cNvSpPr txBox="1">
            <a:spLocks noChangeArrowheads="1"/>
          </p:cNvSpPr>
          <p:nvPr/>
        </p:nvSpPr>
        <p:spPr bwMode="auto">
          <a:xfrm rot="4665015">
            <a:off x="4511729" y="4977577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16415" name="Text Box 127">
            <a:extLst>
              <a:ext uri="{FF2B5EF4-FFF2-40B4-BE49-F238E27FC236}">
                <a16:creationId xmlns:a16="http://schemas.microsoft.com/office/drawing/2014/main" id="{CC87649D-77BC-241A-DB54-AB8C8E23389D}"/>
              </a:ext>
            </a:extLst>
          </p:cNvPr>
          <p:cNvSpPr txBox="1">
            <a:spLocks noChangeArrowheads="1"/>
          </p:cNvSpPr>
          <p:nvPr/>
        </p:nvSpPr>
        <p:spPr bwMode="auto">
          <a:xfrm rot="832501">
            <a:off x="3441859" y="525618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2555</a:t>
            </a:r>
          </a:p>
        </p:txBody>
      </p:sp>
      <p:sp>
        <p:nvSpPr>
          <p:cNvPr id="16416" name="Text Box 128">
            <a:extLst>
              <a:ext uri="{FF2B5EF4-FFF2-40B4-BE49-F238E27FC236}">
                <a16:creationId xmlns:a16="http://schemas.microsoft.com/office/drawing/2014/main" id="{B5FEEEBF-8170-73DB-3A26-B3CB9F2682BD}"/>
              </a:ext>
            </a:extLst>
          </p:cNvPr>
          <p:cNvSpPr txBox="1">
            <a:spLocks noChangeArrowheads="1"/>
          </p:cNvSpPr>
          <p:nvPr/>
        </p:nvSpPr>
        <p:spPr bwMode="auto">
          <a:xfrm rot="19708333">
            <a:off x="8300298" y="4249708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CB125C02-7AAE-9416-CF28-06700A47B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/>
              <a:t>Edge Types</a:t>
            </a:r>
          </a:p>
        </p:txBody>
      </p:sp>
      <p:sp>
        <p:nvSpPr>
          <p:cNvPr id="174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EA164A8-EA71-B55D-FD33-09DD929106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95400"/>
            <a:ext cx="4419600" cy="5029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Directed edge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ordered pair of vertices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first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is the origin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second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is the destination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e.g., a flight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Undirected edge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unordered pair of vertices</a:t>
            </a:r>
            <a:r>
              <a:rPr lang="en-US" altLang="en-US" sz="1800">
                <a:latin typeface="Times New Roman" panose="02020603050405020304" pitchFamily="18" charset="0"/>
              </a:rPr>
              <a:t> 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e.g., a flight route</a:t>
            </a:r>
            <a:endParaRPr lang="en-US" altLang="en-US" sz="1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Directed graph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all the edges are directed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e.g., flight network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Undirected graph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all the edges are undirected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e.g., route network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Mixed graph</a:t>
            </a:r>
          </a:p>
        </p:txBody>
      </p:sp>
      <p:sp>
        <p:nvSpPr>
          <p:cNvPr id="17411" name="Oval 4">
            <a:extLst>
              <a:ext uri="{FF2B5EF4-FFF2-40B4-BE49-F238E27FC236}">
                <a16:creationId xmlns:a16="http://schemas.microsoft.com/office/drawing/2014/main" id="{61D6A757-DE6B-9877-901B-26E46F2FC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1" y="220027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17412" name="Oval 5">
            <a:extLst>
              <a:ext uri="{FF2B5EF4-FFF2-40B4-BE49-F238E27FC236}">
                <a16:creationId xmlns:a16="http://schemas.microsoft.com/office/drawing/2014/main" id="{D1CBA940-CFE1-0936-A162-97B025A0C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4176" y="220027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cxnSp>
        <p:nvCxnSpPr>
          <p:cNvPr id="17413" name="AutoShape 7">
            <a:extLst>
              <a:ext uri="{FF2B5EF4-FFF2-40B4-BE49-F238E27FC236}">
                <a16:creationId xmlns:a16="http://schemas.microsoft.com/office/drawing/2014/main" id="{EFDDE79B-98CB-C93E-2064-341906CBCB2E}"/>
              </a:ext>
            </a:extLst>
          </p:cNvPr>
          <p:cNvCxnSpPr>
            <a:cxnSpLocks noChangeShapeType="1"/>
            <a:stCxn id="17411" idx="6"/>
            <a:endCxn id="17412" idx="2"/>
          </p:cNvCxnSpPr>
          <p:nvPr/>
        </p:nvCxnSpPr>
        <p:spPr bwMode="auto">
          <a:xfrm>
            <a:off x="7727950" y="2428875"/>
            <a:ext cx="15367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4" name="Text Box 8">
            <a:extLst>
              <a:ext uri="{FF2B5EF4-FFF2-40B4-BE49-F238E27FC236}">
                <a16:creationId xmlns:a16="http://schemas.microsoft.com/office/drawing/2014/main" id="{3B72AB80-5960-8893-8269-603CD7C3E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1828801"/>
            <a:ext cx="1987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flight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AA 1206</a:t>
            </a:r>
          </a:p>
        </p:txBody>
      </p:sp>
      <p:sp>
        <p:nvSpPr>
          <p:cNvPr id="17415" name="Oval 9">
            <a:extLst>
              <a:ext uri="{FF2B5EF4-FFF2-40B4-BE49-F238E27FC236}">
                <a16:creationId xmlns:a16="http://schemas.microsoft.com/office/drawing/2014/main" id="{827C24DF-16D5-1D9E-69E3-8DD5A15F2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26" y="353695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17416" name="Oval 10">
            <a:extLst>
              <a:ext uri="{FF2B5EF4-FFF2-40B4-BE49-F238E27FC236}">
                <a16:creationId xmlns:a16="http://schemas.microsoft.com/office/drawing/2014/main" id="{B0B25F02-EE13-2E15-D657-BD005FEDA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3701" y="353695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cxnSp>
        <p:nvCxnSpPr>
          <p:cNvPr id="17417" name="AutoShape 11">
            <a:extLst>
              <a:ext uri="{FF2B5EF4-FFF2-40B4-BE49-F238E27FC236}">
                <a16:creationId xmlns:a16="http://schemas.microsoft.com/office/drawing/2014/main" id="{A3653A8B-3788-B400-6071-763EDFAD7133}"/>
              </a:ext>
            </a:extLst>
          </p:cNvPr>
          <p:cNvCxnSpPr>
            <a:cxnSpLocks noChangeShapeType="1"/>
            <a:stCxn id="17415" idx="6"/>
            <a:endCxn id="17416" idx="2"/>
          </p:cNvCxnSpPr>
          <p:nvPr/>
        </p:nvCxnSpPr>
        <p:spPr bwMode="auto">
          <a:xfrm>
            <a:off x="7737475" y="3765550"/>
            <a:ext cx="15367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8" name="Text Box 12">
            <a:extLst>
              <a:ext uri="{FF2B5EF4-FFF2-40B4-BE49-F238E27FC236}">
                <a16:creationId xmlns:a16="http://schemas.microsoft.com/office/drawing/2014/main" id="{DEB2F20A-97EF-6C99-8471-99ABD0E80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313" y="3200401"/>
            <a:ext cx="7232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849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3" name="Object 2">
            <a:extLst>
              <a:ext uri="{FF2B5EF4-FFF2-40B4-BE49-F238E27FC236}">
                <a16:creationId xmlns:a16="http://schemas.microsoft.com/office/drawing/2014/main" id="{A8D1F40D-55A0-2E96-6329-B99440B929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2300" y="1066800"/>
          <a:ext cx="87122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18433" name="Object 2">
                        <a:extLst>
                          <a:ext uri="{FF2B5EF4-FFF2-40B4-BE49-F238E27FC236}">
                            <a16:creationId xmlns:a16="http://schemas.microsoft.com/office/drawing/2014/main" id="{A8D1F40D-55A0-2E96-6329-B99440B92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1066800"/>
                        <a:ext cx="87122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4" name="Rectangle 2050">
            <a:extLst>
              <a:ext uri="{FF2B5EF4-FFF2-40B4-BE49-F238E27FC236}">
                <a16:creationId xmlns:a16="http://schemas.microsoft.com/office/drawing/2014/main" id="{53CA4407-673F-CA8F-10F4-299B46895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Applications</a:t>
            </a:r>
          </a:p>
        </p:txBody>
      </p:sp>
      <p:sp>
        <p:nvSpPr>
          <p:cNvPr id="18435" name="Rectangle 205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585A261-FBCC-883F-B274-06F88901A0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524000"/>
            <a:ext cx="4114800" cy="457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Electronic circuits</a:t>
            </a:r>
          </a:p>
          <a:p>
            <a:pPr lvl="1" eaLnBrk="1" hangingPunct="1"/>
            <a:r>
              <a:rPr lang="en-US" altLang="en-US" sz="1800"/>
              <a:t>Printed circuit board</a:t>
            </a:r>
          </a:p>
          <a:p>
            <a:pPr lvl="1" eaLnBrk="1" hangingPunct="1"/>
            <a:r>
              <a:rPr lang="en-US" altLang="en-US" sz="1800"/>
              <a:t>Integrated circuit</a:t>
            </a:r>
          </a:p>
          <a:p>
            <a:pPr eaLnBrk="1" hangingPunct="1"/>
            <a:r>
              <a:rPr lang="en-US" altLang="en-US" sz="2000"/>
              <a:t>Transportation networks</a:t>
            </a:r>
          </a:p>
          <a:p>
            <a:pPr lvl="1" eaLnBrk="1" hangingPunct="1"/>
            <a:r>
              <a:rPr lang="en-US" altLang="en-US" sz="1800"/>
              <a:t>Highway network</a:t>
            </a:r>
          </a:p>
          <a:p>
            <a:pPr lvl="1" eaLnBrk="1" hangingPunct="1"/>
            <a:r>
              <a:rPr lang="en-US" altLang="en-US" sz="1800"/>
              <a:t>Flight network</a:t>
            </a:r>
          </a:p>
          <a:p>
            <a:pPr eaLnBrk="1" hangingPunct="1"/>
            <a:r>
              <a:rPr lang="en-US" altLang="en-US" sz="2000"/>
              <a:t>Computer networks</a:t>
            </a:r>
          </a:p>
          <a:p>
            <a:pPr lvl="1" eaLnBrk="1" hangingPunct="1"/>
            <a:r>
              <a:rPr lang="en-US" altLang="en-US" sz="1800"/>
              <a:t>Local area network</a:t>
            </a:r>
          </a:p>
          <a:p>
            <a:pPr lvl="1" eaLnBrk="1" hangingPunct="1"/>
            <a:r>
              <a:rPr lang="en-US" altLang="en-US" sz="1800"/>
              <a:t>Internet</a:t>
            </a:r>
          </a:p>
          <a:p>
            <a:pPr lvl="1" eaLnBrk="1" hangingPunct="1"/>
            <a:r>
              <a:rPr lang="en-US" altLang="en-US" sz="1800"/>
              <a:t>Web</a:t>
            </a:r>
          </a:p>
          <a:p>
            <a:pPr eaLnBrk="1" hangingPunct="1"/>
            <a:r>
              <a:rPr lang="en-US" altLang="en-US" sz="2000"/>
              <a:t>Databases</a:t>
            </a:r>
          </a:p>
          <a:p>
            <a:pPr lvl="1" eaLnBrk="1" hangingPunct="1"/>
            <a:r>
              <a:rPr lang="en-US" altLang="en-US" sz="1800"/>
              <a:t>Entity-relationship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FC83F1F9-2A12-221A-25D3-F91948779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7E2EB40-0DDE-C1A8-8492-0FD8B3BA2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47876" y="1447800"/>
            <a:ext cx="4048125" cy="4876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End vertices (or end points) of an edge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 and V are the endpoints of 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Edges incident on a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a, d, and b are incident on V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Adjacent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 and V are adjacent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Degree of a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X has degree 5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Parallel edges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 and i are parallel edges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Self-loop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j is a self-loop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Simple graph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No parallel edges or self-loops</a:t>
            </a:r>
          </a:p>
        </p:txBody>
      </p:sp>
      <p:grpSp>
        <p:nvGrpSpPr>
          <p:cNvPr id="19459" name="Group 32">
            <a:extLst>
              <a:ext uri="{FF2B5EF4-FFF2-40B4-BE49-F238E27FC236}">
                <a16:creationId xmlns:a16="http://schemas.microsoft.com/office/drawing/2014/main" id="{C90EC36E-F690-08AA-36DA-8457A9B65262}"/>
              </a:ext>
            </a:extLst>
          </p:cNvPr>
          <p:cNvGrpSpPr>
            <a:grpSpLocks/>
          </p:cNvGrpSpPr>
          <p:nvPr/>
        </p:nvGrpSpPr>
        <p:grpSpPr bwMode="auto">
          <a:xfrm>
            <a:off x="6100764" y="2208213"/>
            <a:ext cx="4181475" cy="3200400"/>
            <a:chOff x="2808" y="1104"/>
            <a:chExt cx="2634" cy="2016"/>
          </a:xfrm>
        </p:grpSpPr>
        <p:sp>
          <p:nvSpPr>
            <p:cNvPr id="19460" name="Oval 4">
              <a:extLst>
                <a:ext uri="{FF2B5EF4-FFF2-40B4-BE49-F238E27FC236}">
                  <a16:creationId xmlns:a16="http://schemas.microsoft.com/office/drawing/2014/main" id="{8B4FA450-D672-414B-D540-76DEC3A1A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19461" name="Oval 5">
              <a:extLst>
                <a:ext uri="{FF2B5EF4-FFF2-40B4-BE49-F238E27FC236}">
                  <a16:creationId xmlns:a16="http://schemas.microsoft.com/office/drawing/2014/main" id="{119F2FE9-4054-0CE1-8AD6-7B139D4D1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U</a:t>
              </a:r>
            </a:p>
          </p:txBody>
        </p:sp>
        <p:sp>
          <p:nvSpPr>
            <p:cNvPr id="19462" name="Oval 6">
              <a:extLst>
                <a:ext uri="{FF2B5EF4-FFF2-40B4-BE49-F238E27FC236}">
                  <a16:creationId xmlns:a16="http://schemas.microsoft.com/office/drawing/2014/main" id="{DB47830F-EF1C-DB1E-EB26-5BC1FB86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110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V</a:t>
              </a:r>
            </a:p>
          </p:txBody>
        </p:sp>
        <p:sp>
          <p:nvSpPr>
            <p:cNvPr id="19463" name="Oval 7">
              <a:extLst>
                <a:ext uri="{FF2B5EF4-FFF2-40B4-BE49-F238E27FC236}">
                  <a16:creationId xmlns:a16="http://schemas.microsoft.com/office/drawing/2014/main" id="{DDC13C1B-4339-5B42-CF5D-C5D9B3C95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</a:t>
              </a:r>
            </a:p>
          </p:txBody>
        </p:sp>
        <p:sp>
          <p:nvSpPr>
            <p:cNvPr id="19464" name="Oval 8">
              <a:extLst>
                <a:ext uri="{FF2B5EF4-FFF2-40B4-BE49-F238E27FC236}">
                  <a16:creationId xmlns:a16="http://schemas.microsoft.com/office/drawing/2014/main" id="{C56660A5-BABC-E3D7-BD19-F90B98942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Z</a:t>
              </a:r>
            </a:p>
          </p:txBody>
        </p:sp>
        <p:cxnSp>
          <p:nvCxnSpPr>
            <p:cNvPr id="19465" name="AutoShape 9">
              <a:extLst>
                <a:ext uri="{FF2B5EF4-FFF2-40B4-BE49-F238E27FC236}">
                  <a16:creationId xmlns:a16="http://schemas.microsoft.com/office/drawing/2014/main" id="{686D7AF2-95D1-86B8-8FAA-F9BEEEB478BF}"/>
                </a:ext>
              </a:extLst>
            </p:cNvPr>
            <p:cNvCxnSpPr>
              <a:cxnSpLocks noChangeShapeType="1"/>
              <a:stCxn id="19462" idx="3"/>
              <a:endCxn id="19461" idx="7"/>
            </p:cNvCxnSpPr>
            <p:nvPr/>
          </p:nvCxnSpPr>
          <p:spPr bwMode="auto">
            <a:xfrm flipH="1">
              <a:off x="3054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66" name="AutoShape 10">
              <a:extLst>
                <a:ext uri="{FF2B5EF4-FFF2-40B4-BE49-F238E27FC236}">
                  <a16:creationId xmlns:a16="http://schemas.microsoft.com/office/drawing/2014/main" id="{DD08203F-BB83-8F76-968F-0CB775A7D2BB}"/>
                </a:ext>
              </a:extLst>
            </p:cNvPr>
            <p:cNvCxnSpPr>
              <a:cxnSpLocks noChangeShapeType="1"/>
              <a:stCxn id="19463" idx="1"/>
              <a:endCxn id="19461" idx="5"/>
            </p:cNvCxnSpPr>
            <p:nvPr/>
          </p:nvCxnSpPr>
          <p:spPr bwMode="auto">
            <a:xfrm flipH="1" flipV="1">
              <a:off x="3054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67" name="AutoShape 11">
              <a:extLst>
                <a:ext uri="{FF2B5EF4-FFF2-40B4-BE49-F238E27FC236}">
                  <a16:creationId xmlns:a16="http://schemas.microsoft.com/office/drawing/2014/main" id="{A01906B9-D1DA-EB34-61D1-0EDA9154EB08}"/>
                </a:ext>
              </a:extLst>
            </p:cNvPr>
            <p:cNvCxnSpPr>
              <a:cxnSpLocks noChangeShapeType="1"/>
              <a:stCxn id="19463" idx="7"/>
              <a:endCxn id="19460" idx="3"/>
            </p:cNvCxnSpPr>
            <p:nvPr/>
          </p:nvCxnSpPr>
          <p:spPr bwMode="auto">
            <a:xfrm flipV="1">
              <a:off x="3630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68" name="AutoShape 13">
              <a:extLst>
                <a:ext uri="{FF2B5EF4-FFF2-40B4-BE49-F238E27FC236}">
                  <a16:creationId xmlns:a16="http://schemas.microsoft.com/office/drawing/2014/main" id="{75AB05E7-254C-D0EC-331F-A025C57A1D9D}"/>
                </a:ext>
              </a:extLst>
            </p:cNvPr>
            <p:cNvCxnSpPr>
              <a:cxnSpLocks noChangeShapeType="1"/>
              <a:stCxn id="19462" idx="5"/>
              <a:endCxn id="19460" idx="1"/>
            </p:cNvCxnSpPr>
            <p:nvPr/>
          </p:nvCxnSpPr>
          <p:spPr bwMode="auto">
            <a:xfrm>
              <a:off x="3630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69" name="AutoShape 14">
              <a:extLst>
                <a:ext uri="{FF2B5EF4-FFF2-40B4-BE49-F238E27FC236}">
                  <a16:creationId xmlns:a16="http://schemas.microsoft.com/office/drawing/2014/main" id="{1FF86CF6-DA8C-11CA-1010-8579724AD808}"/>
                </a:ext>
              </a:extLst>
            </p:cNvPr>
            <p:cNvCxnSpPr>
              <a:cxnSpLocks noChangeShapeType="1"/>
              <a:stCxn id="19462" idx="4"/>
              <a:endCxn id="19463" idx="0"/>
            </p:cNvCxnSpPr>
            <p:nvPr/>
          </p:nvCxnSpPr>
          <p:spPr bwMode="auto">
            <a:xfrm>
              <a:off x="3528" y="1398"/>
              <a:ext cx="0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70" name="Oval 15">
              <a:extLst>
                <a:ext uri="{FF2B5EF4-FFF2-40B4-BE49-F238E27FC236}">
                  <a16:creationId xmlns:a16="http://schemas.microsoft.com/office/drawing/2014/main" id="{47352153-EC84-1419-7D5D-02008CE28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6" y="2832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Y</a:t>
              </a:r>
            </a:p>
          </p:txBody>
        </p:sp>
        <p:cxnSp>
          <p:nvCxnSpPr>
            <p:cNvPr id="19471" name="AutoShape 16">
              <a:extLst>
                <a:ext uri="{FF2B5EF4-FFF2-40B4-BE49-F238E27FC236}">
                  <a16:creationId xmlns:a16="http://schemas.microsoft.com/office/drawing/2014/main" id="{A0121757-AFCA-C5F9-8E7C-1A7697F2BB64}"/>
                </a:ext>
              </a:extLst>
            </p:cNvPr>
            <p:cNvCxnSpPr>
              <a:cxnSpLocks noChangeShapeType="1"/>
              <a:stCxn id="19463" idx="5"/>
              <a:endCxn id="19470" idx="1"/>
            </p:cNvCxnSpPr>
            <p:nvPr/>
          </p:nvCxnSpPr>
          <p:spPr bwMode="auto">
            <a:xfrm>
              <a:off x="3630" y="2508"/>
              <a:ext cx="378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2" name="AutoShape 17">
              <a:extLst>
                <a:ext uri="{FF2B5EF4-FFF2-40B4-BE49-F238E27FC236}">
                  <a16:creationId xmlns:a16="http://schemas.microsoft.com/office/drawing/2014/main" id="{AABD8FA9-EAE2-DC19-ECF1-019C53C281FE}"/>
                </a:ext>
              </a:extLst>
            </p:cNvPr>
            <p:cNvCxnSpPr>
              <a:cxnSpLocks noChangeShapeType="1"/>
              <a:stCxn id="19460" idx="4"/>
              <a:endCxn id="19470" idx="0"/>
            </p:cNvCxnSpPr>
            <p:nvPr/>
          </p:nvCxnSpPr>
          <p:spPr bwMode="auto">
            <a:xfrm>
              <a:off x="4104" y="1974"/>
              <a:ext cx="6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73" name="Text Box 18">
              <a:extLst>
                <a:ext uri="{FF2B5EF4-FFF2-40B4-BE49-F238E27FC236}">
                  <a16:creationId xmlns:a16="http://schemas.microsoft.com/office/drawing/2014/main" id="{779C7CF8-3C13-4008-B5EA-E81254AFB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4" y="125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19474" name="Text Box 19">
              <a:extLst>
                <a:ext uri="{FF2B5EF4-FFF2-40B4-BE49-F238E27FC236}">
                  <a16:creationId xmlns:a16="http://schemas.microsoft.com/office/drawing/2014/main" id="{A035FDE5-DC4A-4D69-FD45-BE8E3F419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4" y="1974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19475" name="Text Box 20">
              <a:extLst>
                <a:ext uri="{FF2B5EF4-FFF2-40B4-BE49-F238E27FC236}">
                  <a16:creationId xmlns:a16="http://schemas.microsoft.com/office/drawing/2014/main" id="{73407C93-CEE0-B830-B375-E7829DDEA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" y="125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19476" name="Text Box 21">
              <a:extLst>
                <a:ext uri="{FF2B5EF4-FFF2-40B4-BE49-F238E27FC236}">
                  <a16:creationId xmlns:a16="http://schemas.microsoft.com/office/drawing/2014/main" id="{BC497938-4F93-651F-2F62-E84E0FB68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" y="200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19477" name="Text Box 22">
              <a:extLst>
                <a:ext uri="{FF2B5EF4-FFF2-40B4-BE49-F238E27FC236}">
                  <a16:creationId xmlns:a16="http://schemas.microsoft.com/office/drawing/2014/main" id="{800C9A3A-00D8-0969-31CF-85DFF2042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" y="168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19478" name="Text Box 23">
              <a:extLst>
                <a:ext uri="{FF2B5EF4-FFF2-40B4-BE49-F238E27FC236}">
                  <a16:creationId xmlns:a16="http://schemas.microsoft.com/office/drawing/2014/main" id="{6C099A29-BBD9-DF1D-87EF-8588D9319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646"/>
              <a:ext cx="1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19479" name="Text Box 24">
              <a:extLst>
                <a:ext uri="{FF2B5EF4-FFF2-40B4-BE49-F238E27FC236}">
                  <a16:creationId xmlns:a16="http://schemas.microsoft.com/office/drawing/2014/main" id="{ED82A59C-DE27-FA16-4D89-0DCE6F846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229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sp>
          <p:nvSpPr>
            <p:cNvPr id="19480" name="Text Box 25">
              <a:extLst>
                <a:ext uri="{FF2B5EF4-FFF2-40B4-BE49-F238E27FC236}">
                  <a16:creationId xmlns:a16="http://schemas.microsoft.com/office/drawing/2014/main" id="{5CB73FCD-5256-55FC-075D-B90CB55C0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139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</a:t>
              </a:r>
            </a:p>
          </p:txBody>
        </p:sp>
        <p:sp>
          <p:nvSpPr>
            <p:cNvPr id="19481" name="Text Box 26">
              <a:extLst>
                <a:ext uri="{FF2B5EF4-FFF2-40B4-BE49-F238E27FC236}">
                  <a16:creationId xmlns:a16="http://schemas.microsoft.com/office/drawing/2014/main" id="{8CD667A1-F7FF-4DB4-3DF2-603246C48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5" y="2016"/>
              <a:ext cx="1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</a:t>
              </a:r>
            </a:p>
          </p:txBody>
        </p:sp>
        <p:sp>
          <p:nvSpPr>
            <p:cNvPr id="19482" name="Text Box 27">
              <a:extLst>
                <a:ext uri="{FF2B5EF4-FFF2-40B4-BE49-F238E27FC236}">
                  <a16:creationId xmlns:a16="http://schemas.microsoft.com/office/drawing/2014/main" id="{1827A67A-3DC0-4C39-019F-785FABEE5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3" y="1392"/>
              <a:ext cx="1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j</a:t>
              </a:r>
            </a:p>
          </p:txBody>
        </p:sp>
        <p:cxnSp>
          <p:nvCxnSpPr>
            <p:cNvPr id="19483" name="AutoShape 29">
              <a:extLst>
                <a:ext uri="{FF2B5EF4-FFF2-40B4-BE49-F238E27FC236}">
                  <a16:creationId xmlns:a16="http://schemas.microsoft.com/office/drawing/2014/main" id="{08BED540-C089-9F8D-2F61-61225C8C16A1}"/>
                </a:ext>
              </a:extLst>
            </p:cNvPr>
            <p:cNvCxnSpPr>
              <a:cxnSpLocks noChangeShapeType="1"/>
              <a:stCxn id="19460" idx="5"/>
              <a:endCxn id="19464" idx="3"/>
            </p:cNvCxnSpPr>
            <p:nvPr/>
          </p:nvCxnSpPr>
          <p:spPr bwMode="auto">
            <a:xfrm rot="16200000" flipH="1">
              <a:off x="4487" y="1651"/>
              <a:ext cx="1" cy="564"/>
            </a:xfrm>
            <a:prstGeom prst="curvedConnector3">
              <a:avLst>
                <a:gd name="adj1" fmla="val 769999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4" name="AutoShape 30">
              <a:extLst>
                <a:ext uri="{FF2B5EF4-FFF2-40B4-BE49-F238E27FC236}">
                  <a16:creationId xmlns:a16="http://schemas.microsoft.com/office/drawing/2014/main" id="{A4AC57CD-95E0-0318-1257-831CE5AE87AB}"/>
                </a:ext>
              </a:extLst>
            </p:cNvPr>
            <p:cNvCxnSpPr>
              <a:cxnSpLocks noChangeShapeType="1"/>
              <a:stCxn id="19460" idx="7"/>
              <a:endCxn id="19464" idx="1"/>
            </p:cNvCxnSpPr>
            <p:nvPr/>
          </p:nvCxnSpPr>
          <p:spPr bwMode="auto">
            <a:xfrm rot="5400000" flipV="1">
              <a:off x="4487" y="1435"/>
              <a:ext cx="1" cy="564"/>
            </a:xfrm>
            <a:prstGeom prst="curvedConnector3">
              <a:avLst>
                <a:gd name="adj1" fmla="val -610000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5" name="AutoShape 31">
              <a:extLst>
                <a:ext uri="{FF2B5EF4-FFF2-40B4-BE49-F238E27FC236}">
                  <a16:creationId xmlns:a16="http://schemas.microsoft.com/office/drawing/2014/main" id="{F93E770E-5ADA-0F40-13BE-1D6D15BB4FFC}"/>
                </a:ext>
              </a:extLst>
            </p:cNvPr>
            <p:cNvCxnSpPr>
              <a:cxnSpLocks noChangeShapeType="1"/>
              <a:stCxn id="19464" idx="5"/>
              <a:endCxn id="19464" idx="7"/>
            </p:cNvCxnSpPr>
            <p:nvPr/>
          </p:nvCxnSpPr>
          <p:spPr bwMode="auto">
            <a:xfrm rot="5400000" flipH="1" flipV="1">
              <a:off x="4867" y="1823"/>
              <a:ext cx="216" cy="1"/>
            </a:xfrm>
            <a:prstGeom prst="curvedConnector5">
              <a:avLst>
                <a:gd name="adj1" fmla="val -44444"/>
                <a:gd name="adj2" fmla="val 40099986"/>
                <a:gd name="adj3" fmla="val 146759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8F4A1BD-B177-9DD6-D434-0D9F1F37E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 (cont’d)</a:t>
            </a:r>
          </a:p>
        </p:txBody>
      </p:sp>
      <p:sp>
        <p:nvSpPr>
          <p:cNvPr id="204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8984661-8BAC-E989-9659-A7D9D3C8A8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4114800" cy="4267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Path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sequence of alternating vertices and edges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begins with a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ends with a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each edge is preceded and followed by its endpoints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Simple path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path such that all its vertices and edges are distinct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chemeClr val="tx2"/>
                </a:solidFill>
              </a:rPr>
              <a:t>P</a:t>
            </a:r>
            <a:r>
              <a:rPr lang="en-US" altLang="en-US" sz="1800" baseline="-25000">
                <a:solidFill>
                  <a:schemeClr val="tx2"/>
                </a:solidFill>
              </a:rPr>
              <a:t>1</a:t>
            </a:r>
            <a:r>
              <a:rPr lang="en-US" altLang="en-US" sz="1800">
                <a:solidFill>
                  <a:schemeClr val="tx2"/>
                </a:solidFill>
              </a:rPr>
              <a:t>=(V,b,X,h,Z)</a:t>
            </a:r>
            <a:r>
              <a:rPr lang="en-US" altLang="en-US" sz="1800"/>
              <a:t> is a simple path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chemeClr val="accent2"/>
                </a:solidFill>
              </a:rPr>
              <a:t>P</a:t>
            </a:r>
            <a:r>
              <a:rPr lang="en-US" altLang="en-US" sz="1800" baseline="-25000">
                <a:solidFill>
                  <a:schemeClr val="accent2"/>
                </a:solidFill>
              </a:rPr>
              <a:t>2</a:t>
            </a:r>
            <a:r>
              <a:rPr lang="en-US" altLang="en-US" sz="1800">
                <a:solidFill>
                  <a:schemeClr val="accent2"/>
                </a:solidFill>
              </a:rPr>
              <a:t>=(U,c,W,e,X,g,Y,f,W,d,V)</a:t>
            </a:r>
            <a:r>
              <a:rPr lang="en-US" altLang="en-US" sz="1800"/>
              <a:t> is a path that is not simple</a:t>
            </a:r>
          </a:p>
        </p:txBody>
      </p:sp>
      <p:grpSp>
        <p:nvGrpSpPr>
          <p:cNvPr id="20483" name="Group 29">
            <a:extLst>
              <a:ext uri="{FF2B5EF4-FFF2-40B4-BE49-F238E27FC236}">
                <a16:creationId xmlns:a16="http://schemas.microsoft.com/office/drawing/2014/main" id="{77352283-50FE-6312-21DC-FF25B7CA2CB3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362200"/>
            <a:ext cx="3505200" cy="3200400"/>
            <a:chOff x="5105400" y="2362200"/>
            <a:chExt cx="3505200" cy="3200400"/>
          </a:xfrm>
        </p:grpSpPr>
        <p:sp>
          <p:nvSpPr>
            <p:cNvPr id="20484" name="Freeform 30">
              <a:extLst>
                <a:ext uri="{FF2B5EF4-FFF2-40B4-BE49-F238E27FC236}">
                  <a16:creationId xmlns:a16="http://schemas.microsoft.com/office/drawing/2014/main" id="{7C507AB8-2E06-5451-E9AC-E0767A485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125" y="2905125"/>
              <a:ext cx="1570038" cy="2149475"/>
            </a:xfrm>
            <a:custGeom>
              <a:avLst/>
              <a:gdLst>
                <a:gd name="T0" fmla="*/ 2147483646 w 989"/>
                <a:gd name="T1" fmla="*/ 0 h 1354"/>
                <a:gd name="T2" fmla="*/ 2147483646 w 989"/>
                <a:gd name="T3" fmla="*/ 2147483646 h 1354"/>
                <a:gd name="T4" fmla="*/ 2147483646 w 989"/>
                <a:gd name="T5" fmla="*/ 2147483646 h 1354"/>
                <a:gd name="T6" fmla="*/ 2147483646 w 989"/>
                <a:gd name="T7" fmla="*/ 2147483646 h 1354"/>
                <a:gd name="T8" fmla="*/ 2147483646 w 989"/>
                <a:gd name="T9" fmla="*/ 2147483646 h 1354"/>
                <a:gd name="T10" fmla="*/ 0 w 989"/>
                <a:gd name="T11" fmla="*/ 2147483646 h 13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9"/>
                <a:gd name="T19" fmla="*/ 0 h 1354"/>
                <a:gd name="T20" fmla="*/ 989 w 989"/>
                <a:gd name="T21" fmla="*/ 1354 h 13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9" h="1354">
                  <a:moveTo>
                    <a:pt x="468" y="0"/>
                  </a:moveTo>
                  <a:cubicBezTo>
                    <a:pt x="475" y="142"/>
                    <a:pt x="439" y="636"/>
                    <a:pt x="516" y="852"/>
                  </a:cubicBezTo>
                  <a:cubicBezTo>
                    <a:pt x="593" y="1068"/>
                    <a:pt x="871" y="1354"/>
                    <a:pt x="930" y="1296"/>
                  </a:cubicBezTo>
                  <a:cubicBezTo>
                    <a:pt x="989" y="1238"/>
                    <a:pt x="952" y="586"/>
                    <a:pt x="870" y="504"/>
                  </a:cubicBezTo>
                  <a:cubicBezTo>
                    <a:pt x="788" y="422"/>
                    <a:pt x="583" y="808"/>
                    <a:pt x="438" y="804"/>
                  </a:cubicBezTo>
                  <a:cubicBezTo>
                    <a:pt x="293" y="800"/>
                    <a:pt x="91" y="547"/>
                    <a:pt x="0" y="48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5" name="Text Box 29">
              <a:extLst>
                <a:ext uri="{FF2B5EF4-FFF2-40B4-BE49-F238E27FC236}">
                  <a16:creationId xmlns:a16="http://schemas.microsoft.com/office/drawing/2014/main" id="{E71B8452-FF52-A07B-879C-A51ABF294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0418" y="2819400"/>
              <a:ext cx="4235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P</a:t>
              </a:r>
              <a:r>
                <a:rPr lang="en-US" altLang="en-US" sz="1800" baseline="-250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20486" name="Freeform 28">
              <a:extLst>
                <a:ext uri="{FF2B5EF4-FFF2-40B4-BE49-F238E27FC236}">
                  <a16:creationId xmlns:a16="http://schemas.microsoft.com/office/drawing/2014/main" id="{0318A07E-F7A0-EEF5-D01F-835F07058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575" y="2724150"/>
              <a:ext cx="1638300" cy="736600"/>
            </a:xfrm>
            <a:custGeom>
              <a:avLst/>
              <a:gdLst>
                <a:gd name="T0" fmla="*/ 0 w 1032"/>
                <a:gd name="T1" fmla="*/ 0 h 464"/>
                <a:gd name="T2" fmla="*/ 2147483646 w 1032"/>
                <a:gd name="T3" fmla="*/ 2147483646 h 464"/>
                <a:gd name="T4" fmla="*/ 2147483646 w 1032"/>
                <a:gd name="T5" fmla="*/ 2147483646 h 464"/>
                <a:gd name="T6" fmla="*/ 0 60000 65536"/>
                <a:gd name="T7" fmla="*/ 0 60000 65536"/>
                <a:gd name="T8" fmla="*/ 0 60000 65536"/>
                <a:gd name="T9" fmla="*/ 0 w 1032"/>
                <a:gd name="T10" fmla="*/ 0 h 464"/>
                <a:gd name="T11" fmla="*/ 1032 w 1032"/>
                <a:gd name="T12" fmla="*/ 464 h 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2" h="464">
                  <a:moveTo>
                    <a:pt x="0" y="0"/>
                  </a:moveTo>
                  <a:cubicBezTo>
                    <a:pt x="77" y="66"/>
                    <a:pt x="290" y="328"/>
                    <a:pt x="462" y="396"/>
                  </a:cubicBezTo>
                  <a:cubicBezTo>
                    <a:pt x="634" y="464"/>
                    <a:pt x="913" y="406"/>
                    <a:pt x="1032" y="408"/>
                  </a:cubicBezTo>
                </a:path>
              </a:pathLst>
            </a:cu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Oval 4">
              <a:extLst>
                <a:ext uri="{FF2B5EF4-FFF2-40B4-BE49-F238E27FC236}">
                  <a16:creationId xmlns:a16="http://schemas.microsoft.com/office/drawing/2014/main" id="{2B91A779-E687-1814-B65D-CA78ABC2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20488" name="Oval 5">
              <a:extLst>
                <a:ext uri="{FF2B5EF4-FFF2-40B4-BE49-F238E27FC236}">
                  <a16:creationId xmlns:a16="http://schemas.microsoft.com/office/drawing/2014/main" id="{928C1E35-13F1-5630-94E9-0047C6EC6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U</a:t>
              </a:r>
            </a:p>
          </p:txBody>
        </p:sp>
        <p:sp>
          <p:nvSpPr>
            <p:cNvPr id="20489" name="Oval 6">
              <a:extLst>
                <a:ext uri="{FF2B5EF4-FFF2-40B4-BE49-F238E27FC236}">
                  <a16:creationId xmlns:a16="http://schemas.microsoft.com/office/drawing/2014/main" id="{2D92B2C4-E3A1-EAFE-50FE-5B755988D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3622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V</a:t>
              </a:r>
            </a:p>
          </p:txBody>
        </p:sp>
        <p:sp>
          <p:nvSpPr>
            <p:cNvPr id="20490" name="Oval 7">
              <a:extLst>
                <a:ext uri="{FF2B5EF4-FFF2-40B4-BE49-F238E27FC236}">
                  <a16:creationId xmlns:a16="http://schemas.microsoft.com/office/drawing/2014/main" id="{22D55ADF-E4DA-3548-FC32-C8A215DBE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191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</a:t>
              </a:r>
            </a:p>
          </p:txBody>
        </p:sp>
        <p:sp>
          <p:nvSpPr>
            <p:cNvPr id="20491" name="Oval 8">
              <a:extLst>
                <a:ext uri="{FF2B5EF4-FFF2-40B4-BE49-F238E27FC236}">
                  <a16:creationId xmlns:a16="http://schemas.microsoft.com/office/drawing/2014/main" id="{0BF2079A-DD97-1A6B-66D3-9D25B6FCF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4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Z</a:t>
              </a:r>
            </a:p>
          </p:txBody>
        </p:sp>
        <p:cxnSp>
          <p:nvCxnSpPr>
            <p:cNvPr id="20492" name="AutoShape 9">
              <a:extLst>
                <a:ext uri="{FF2B5EF4-FFF2-40B4-BE49-F238E27FC236}">
                  <a16:creationId xmlns:a16="http://schemas.microsoft.com/office/drawing/2014/main" id="{25A4B51F-6566-ADFC-4DE2-878CF39D233D}"/>
                </a:ext>
              </a:extLst>
            </p:cNvPr>
            <p:cNvCxnSpPr>
              <a:cxnSpLocks noChangeShapeType="1"/>
              <a:stCxn id="20489" idx="3"/>
              <a:endCxn id="20488" idx="7"/>
            </p:cNvCxnSpPr>
            <p:nvPr/>
          </p:nvCxnSpPr>
          <p:spPr bwMode="auto">
            <a:xfrm flipH="1">
              <a:off x="5495925" y="27622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3" name="AutoShape 10">
              <a:extLst>
                <a:ext uri="{FF2B5EF4-FFF2-40B4-BE49-F238E27FC236}">
                  <a16:creationId xmlns:a16="http://schemas.microsoft.com/office/drawing/2014/main" id="{E30957EF-F533-E317-8510-4A585383D4F9}"/>
                </a:ext>
              </a:extLst>
            </p:cNvPr>
            <p:cNvCxnSpPr>
              <a:cxnSpLocks noChangeShapeType="1"/>
              <a:stCxn id="20490" idx="1"/>
              <a:endCxn id="20488" idx="5"/>
            </p:cNvCxnSpPr>
            <p:nvPr/>
          </p:nvCxnSpPr>
          <p:spPr bwMode="auto">
            <a:xfrm flipH="1" flipV="1">
              <a:off x="5495925" y="36766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4" name="AutoShape 11">
              <a:extLst>
                <a:ext uri="{FF2B5EF4-FFF2-40B4-BE49-F238E27FC236}">
                  <a16:creationId xmlns:a16="http://schemas.microsoft.com/office/drawing/2014/main" id="{07D97904-A4A7-4308-BC34-FE30850D2CA8}"/>
                </a:ext>
              </a:extLst>
            </p:cNvPr>
            <p:cNvCxnSpPr>
              <a:cxnSpLocks noChangeShapeType="1"/>
              <a:stCxn id="20490" idx="7"/>
              <a:endCxn id="20487" idx="3"/>
            </p:cNvCxnSpPr>
            <p:nvPr/>
          </p:nvCxnSpPr>
          <p:spPr bwMode="auto">
            <a:xfrm flipV="1">
              <a:off x="6410325" y="36766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5" name="AutoShape 12">
              <a:extLst>
                <a:ext uri="{FF2B5EF4-FFF2-40B4-BE49-F238E27FC236}">
                  <a16:creationId xmlns:a16="http://schemas.microsoft.com/office/drawing/2014/main" id="{48A6C657-2B5A-9A3E-9698-2C796A97119C}"/>
                </a:ext>
              </a:extLst>
            </p:cNvPr>
            <p:cNvCxnSpPr>
              <a:cxnSpLocks noChangeShapeType="1"/>
              <a:stCxn id="20487" idx="6"/>
              <a:endCxn id="20491" idx="2"/>
            </p:cNvCxnSpPr>
            <p:nvPr/>
          </p:nvCxnSpPr>
          <p:spPr bwMode="auto">
            <a:xfrm>
              <a:off x="7400925" y="3505200"/>
              <a:ext cx="74295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6" name="AutoShape 13">
              <a:extLst>
                <a:ext uri="{FF2B5EF4-FFF2-40B4-BE49-F238E27FC236}">
                  <a16:creationId xmlns:a16="http://schemas.microsoft.com/office/drawing/2014/main" id="{339A99EA-3D33-CACC-43E1-7336BEFB94B7}"/>
                </a:ext>
              </a:extLst>
            </p:cNvPr>
            <p:cNvCxnSpPr>
              <a:cxnSpLocks noChangeShapeType="1"/>
              <a:stCxn id="20489" idx="5"/>
              <a:endCxn id="20487" idx="1"/>
            </p:cNvCxnSpPr>
            <p:nvPr/>
          </p:nvCxnSpPr>
          <p:spPr bwMode="auto">
            <a:xfrm>
              <a:off x="6410325" y="27622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7" name="AutoShape 14">
              <a:extLst>
                <a:ext uri="{FF2B5EF4-FFF2-40B4-BE49-F238E27FC236}">
                  <a16:creationId xmlns:a16="http://schemas.microsoft.com/office/drawing/2014/main" id="{A21B52C2-DA96-B03A-4701-EB3925DE0147}"/>
                </a:ext>
              </a:extLst>
            </p:cNvPr>
            <p:cNvCxnSpPr>
              <a:cxnSpLocks noChangeShapeType="1"/>
              <a:stCxn id="20489" idx="4"/>
              <a:endCxn id="20490" idx="0"/>
            </p:cNvCxnSpPr>
            <p:nvPr/>
          </p:nvCxnSpPr>
          <p:spPr bwMode="auto">
            <a:xfrm>
              <a:off x="6248400" y="2828925"/>
              <a:ext cx="0" cy="13525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498" name="Oval 15">
              <a:extLst>
                <a:ext uri="{FF2B5EF4-FFF2-40B4-BE49-F238E27FC236}">
                  <a16:creationId xmlns:a16="http://schemas.microsoft.com/office/drawing/2014/main" id="{683E989F-B507-2CFA-B5A2-FFEB817F1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3725" y="5105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Y</a:t>
              </a:r>
            </a:p>
          </p:txBody>
        </p:sp>
        <p:cxnSp>
          <p:nvCxnSpPr>
            <p:cNvPr id="20499" name="AutoShape 16">
              <a:extLst>
                <a:ext uri="{FF2B5EF4-FFF2-40B4-BE49-F238E27FC236}">
                  <a16:creationId xmlns:a16="http://schemas.microsoft.com/office/drawing/2014/main" id="{542E6657-7381-4952-F02A-FB23B45FB5E4}"/>
                </a:ext>
              </a:extLst>
            </p:cNvPr>
            <p:cNvCxnSpPr>
              <a:cxnSpLocks noChangeShapeType="1"/>
              <a:stCxn id="20490" idx="5"/>
              <a:endCxn id="20498" idx="1"/>
            </p:cNvCxnSpPr>
            <p:nvPr/>
          </p:nvCxnSpPr>
          <p:spPr bwMode="auto">
            <a:xfrm>
              <a:off x="6410325" y="4591050"/>
              <a:ext cx="600075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0" name="AutoShape 17">
              <a:extLst>
                <a:ext uri="{FF2B5EF4-FFF2-40B4-BE49-F238E27FC236}">
                  <a16:creationId xmlns:a16="http://schemas.microsoft.com/office/drawing/2014/main" id="{90116481-8558-3685-54D4-EF25A77C920A}"/>
                </a:ext>
              </a:extLst>
            </p:cNvPr>
            <p:cNvCxnSpPr>
              <a:cxnSpLocks noChangeShapeType="1"/>
              <a:stCxn id="20487" idx="4"/>
              <a:endCxn id="20498" idx="0"/>
            </p:cNvCxnSpPr>
            <p:nvPr/>
          </p:nvCxnSpPr>
          <p:spPr bwMode="auto">
            <a:xfrm>
              <a:off x="7162800" y="3743325"/>
              <a:ext cx="9525" cy="13525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01" name="Text Box 18">
              <a:extLst>
                <a:ext uri="{FF2B5EF4-FFF2-40B4-BE49-F238E27FC236}">
                  <a16:creationId xmlns:a16="http://schemas.microsoft.com/office/drawing/2014/main" id="{05FFF8AB-F177-3F42-572F-F40D10F3E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1716" y="2600325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0502" name="Text Box 19">
              <a:extLst>
                <a:ext uri="{FF2B5EF4-FFF2-40B4-BE49-F238E27FC236}">
                  <a16:creationId xmlns:a16="http://schemas.microsoft.com/office/drawing/2014/main" id="{EB752CFD-9D79-C13B-FF8D-4B2091862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903" y="3743325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0503" name="Text Box 20">
              <a:extLst>
                <a:ext uri="{FF2B5EF4-FFF2-40B4-BE49-F238E27FC236}">
                  <a16:creationId xmlns:a16="http://schemas.microsoft.com/office/drawing/2014/main" id="{37E3714D-9A2F-4C60-1577-362A47640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5359" y="25908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0504" name="Text Box 21">
              <a:extLst>
                <a:ext uri="{FF2B5EF4-FFF2-40B4-BE49-F238E27FC236}">
                  <a16:creationId xmlns:a16="http://schemas.microsoft.com/office/drawing/2014/main" id="{FE1EE229-7545-49EC-69C0-ACCA7ADCE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5191" y="3810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20505" name="Text Box 22">
              <a:extLst>
                <a:ext uri="{FF2B5EF4-FFF2-40B4-BE49-F238E27FC236}">
                  <a16:creationId xmlns:a16="http://schemas.microsoft.com/office/drawing/2014/main" id="{C7709C2F-67C7-4BE0-0454-19FCE6E8E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3359" y="3124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0506" name="Text Box 23">
              <a:extLst>
                <a:ext uri="{FF2B5EF4-FFF2-40B4-BE49-F238E27FC236}">
                  <a16:creationId xmlns:a16="http://schemas.microsoft.com/office/drawing/2014/main" id="{04259473-6C0B-142F-D523-642CDA6B9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9451" y="48101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20507" name="Text Box 24">
              <a:extLst>
                <a:ext uri="{FF2B5EF4-FFF2-40B4-BE49-F238E27FC236}">
                  <a16:creationId xmlns:a16="http://schemas.microsoft.com/office/drawing/2014/main" id="{6F5B68DA-0D96-36F4-1D82-24DFCED4A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4459" y="424815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sp>
          <p:nvSpPr>
            <p:cNvPr id="20508" name="Text Box 25">
              <a:extLst>
                <a:ext uri="{FF2B5EF4-FFF2-40B4-BE49-F238E27FC236}">
                  <a16:creationId xmlns:a16="http://schemas.microsoft.com/office/drawing/2014/main" id="{C42A3DEF-3156-4E3D-6FCB-EC7F7A464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284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</a:t>
              </a:r>
            </a:p>
          </p:txBody>
        </p:sp>
        <p:sp>
          <p:nvSpPr>
            <p:cNvPr id="20509" name="Text Box 31">
              <a:extLst>
                <a:ext uri="{FF2B5EF4-FFF2-40B4-BE49-F238E27FC236}">
                  <a16:creationId xmlns:a16="http://schemas.microsoft.com/office/drawing/2014/main" id="{0A618011-D22F-D5A4-B94B-ABC4DC034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218" y="3505200"/>
              <a:ext cx="4235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accent2"/>
                  </a:solidFill>
                </a:rPr>
                <a:t>P</a:t>
              </a:r>
              <a:r>
                <a:rPr lang="en-US" altLang="en-US" sz="1800" baseline="-25000">
                  <a:solidFill>
                    <a:schemeClr val="accent2"/>
                  </a:solidFill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5F0370E-824C-6C14-B9C3-6C69A76B7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 (cont’d)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82A58ED-D203-977D-2BD3-C78D110074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00200"/>
            <a:ext cx="4191000" cy="4419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/>
              <a:t>Cycle</a:t>
            </a:r>
          </a:p>
          <a:p>
            <a:pPr lvl="1" eaLnBrk="1" hangingPunct="1"/>
            <a:r>
              <a:rPr lang="en-US" altLang="en-US" sz="1800"/>
              <a:t>circular sequence of alternating vertices and edges </a:t>
            </a:r>
          </a:p>
          <a:p>
            <a:pPr lvl="1" eaLnBrk="1" hangingPunct="1"/>
            <a:r>
              <a:rPr lang="en-US" altLang="en-US" sz="1800"/>
              <a:t>each edge is preceded and followed by its endpoints</a:t>
            </a:r>
          </a:p>
          <a:p>
            <a:pPr eaLnBrk="1" hangingPunct="1"/>
            <a:r>
              <a:rPr lang="en-US" altLang="en-US" sz="2000"/>
              <a:t>Simple cycle</a:t>
            </a:r>
          </a:p>
          <a:p>
            <a:pPr lvl="1" eaLnBrk="1" hangingPunct="1"/>
            <a:r>
              <a:rPr lang="en-US" altLang="en-US" sz="1800"/>
              <a:t>cycle such that all its vertices and edges are distinct (except the first and last vertex)</a:t>
            </a:r>
          </a:p>
          <a:p>
            <a:pPr eaLnBrk="1" hangingPunct="1"/>
            <a:r>
              <a:rPr lang="en-US" altLang="en-US" sz="2000"/>
              <a:t>Examples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C</a:t>
            </a:r>
            <a:r>
              <a:rPr lang="en-US" altLang="en-US" sz="1800" baseline="-25000">
                <a:solidFill>
                  <a:schemeClr val="tx2"/>
                </a:solidFill>
              </a:rPr>
              <a:t>1</a:t>
            </a:r>
            <a:r>
              <a:rPr lang="en-US" altLang="en-US" sz="1800">
                <a:solidFill>
                  <a:schemeClr val="tx2"/>
                </a:solidFill>
              </a:rPr>
              <a:t>=(V,b,X,g,Y,f,W,c,U,a,</a:t>
            </a:r>
            <a:r>
              <a:rPr lang="en-US" altLang="en-US" sz="1800">
                <a:solidFill>
                  <a:schemeClr val="tx2"/>
                </a:solidFill>
                <a:sym typeface="Symbol" panose="05050102010706020507" pitchFamily="18" charset="2"/>
              </a:rPr>
              <a:t></a:t>
            </a:r>
            <a:r>
              <a:rPr lang="en-US" altLang="en-US" sz="1800">
                <a:solidFill>
                  <a:schemeClr val="tx2"/>
                </a:solidFill>
              </a:rPr>
              <a:t>)</a:t>
            </a:r>
            <a:r>
              <a:rPr lang="en-US" altLang="en-US" sz="1800"/>
              <a:t> is a simple cycle</a:t>
            </a:r>
          </a:p>
          <a:p>
            <a:pPr lvl="1" eaLnBrk="1" hangingPunct="1"/>
            <a:r>
              <a:rPr lang="en-US" altLang="en-US" sz="1800">
                <a:solidFill>
                  <a:schemeClr val="accent2"/>
                </a:solidFill>
              </a:rPr>
              <a:t>C</a:t>
            </a:r>
            <a:r>
              <a:rPr lang="en-US" altLang="en-US" sz="1800" baseline="-25000">
                <a:solidFill>
                  <a:schemeClr val="accent2"/>
                </a:solidFill>
              </a:rPr>
              <a:t>2</a:t>
            </a:r>
            <a:r>
              <a:rPr lang="en-US" altLang="en-US" sz="1800">
                <a:solidFill>
                  <a:schemeClr val="accent2"/>
                </a:solidFill>
              </a:rPr>
              <a:t>=(U,c,W,e,X,g,Y,f,W,d,V,a,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</a:t>
            </a:r>
            <a:r>
              <a:rPr lang="en-US" altLang="en-US" sz="1800">
                <a:solidFill>
                  <a:schemeClr val="accent2"/>
                </a:solidFill>
              </a:rPr>
              <a:t>)</a:t>
            </a:r>
            <a:r>
              <a:rPr lang="en-US" altLang="en-US" sz="1800"/>
              <a:t> is a cycle that is not simple</a:t>
            </a:r>
          </a:p>
        </p:txBody>
      </p:sp>
      <p:grpSp>
        <p:nvGrpSpPr>
          <p:cNvPr id="21507" name="Group 29">
            <a:extLst>
              <a:ext uri="{FF2B5EF4-FFF2-40B4-BE49-F238E27FC236}">
                <a16:creationId xmlns:a16="http://schemas.microsoft.com/office/drawing/2014/main" id="{D8C4D45A-4EC6-0055-421F-C3AD12E0CEE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362200"/>
            <a:ext cx="3505200" cy="3200400"/>
            <a:chOff x="5029200" y="2362200"/>
            <a:chExt cx="3505200" cy="3200400"/>
          </a:xfrm>
        </p:grpSpPr>
        <p:sp>
          <p:nvSpPr>
            <p:cNvPr id="21508" name="Freeform 6">
              <a:extLst>
                <a:ext uri="{FF2B5EF4-FFF2-40B4-BE49-F238E27FC236}">
                  <a16:creationId xmlns:a16="http://schemas.microsoft.com/office/drawing/2014/main" id="{10044811-6B88-C634-5289-8763AF674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9700" y="2667000"/>
              <a:ext cx="2182813" cy="2652713"/>
            </a:xfrm>
            <a:custGeom>
              <a:avLst/>
              <a:gdLst>
                <a:gd name="T0" fmla="*/ 2147483646 w 1375"/>
                <a:gd name="T1" fmla="*/ 2147483646 h 1671"/>
                <a:gd name="T2" fmla="*/ 2147483646 w 1375"/>
                <a:gd name="T3" fmla="*/ 2147483646 h 1671"/>
                <a:gd name="T4" fmla="*/ 2147483646 w 1375"/>
                <a:gd name="T5" fmla="*/ 2147483646 h 1671"/>
                <a:gd name="T6" fmla="*/ 2147483646 w 1375"/>
                <a:gd name="T7" fmla="*/ 2147483646 h 1671"/>
                <a:gd name="T8" fmla="*/ 2147483646 w 1375"/>
                <a:gd name="T9" fmla="*/ 0 h 16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5"/>
                <a:gd name="T16" fmla="*/ 0 h 1671"/>
                <a:gd name="T17" fmla="*/ 1375 w 1375"/>
                <a:gd name="T18" fmla="*/ 1671 h 16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5" h="1671">
                  <a:moveTo>
                    <a:pt x="762" y="36"/>
                  </a:moveTo>
                  <a:cubicBezTo>
                    <a:pt x="838" y="117"/>
                    <a:pt x="1149" y="250"/>
                    <a:pt x="1218" y="522"/>
                  </a:cubicBezTo>
                  <a:cubicBezTo>
                    <a:pt x="1287" y="794"/>
                    <a:pt x="1375" y="1671"/>
                    <a:pt x="1176" y="1668"/>
                  </a:cubicBezTo>
                  <a:cubicBezTo>
                    <a:pt x="977" y="1665"/>
                    <a:pt x="0" y="798"/>
                    <a:pt x="24" y="504"/>
                  </a:cubicBezTo>
                  <a:cubicBezTo>
                    <a:pt x="48" y="210"/>
                    <a:pt x="366" y="105"/>
                    <a:pt x="456" y="0"/>
                  </a:cubicBezTo>
                </a:path>
              </a:pathLst>
            </a:cu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" name="Freeform 4">
              <a:extLst>
                <a:ext uri="{FF2B5EF4-FFF2-40B4-BE49-F238E27FC236}">
                  <a16:creationId xmlns:a16="http://schemas.microsoft.com/office/drawing/2014/main" id="{754141BF-E73A-D4B8-15B6-E5DD626F5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5925" y="2735263"/>
              <a:ext cx="1570038" cy="2319337"/>
            </a:xfrm>
            <a:custGeom>
              <a:avLst/>
              <a:gdLst>
                <a:gd name="T0" fmla="*/ 2147483646 w 989"/>
                <a:gd name="T1" fmla="*/ 2147483646 h 1461"/>
                <a:gd name="T2" fmla="*/ 2147483646 w 989"/>
                <a:gd name="T3" fmla="*/ 2147483646 h 1461"/>
                <a:gd name="T4" fmla="*/ 2147483646 w 989"/>
                <a:gd name="T5" fmla="*/ 2147483646 h 1461"/>
                <a:gd name="T6" fmla="*/ 2147483646 w 989"/>
                <a:gd name="T7" fmla="*/ 2147483646 h 1461"/>
                <a:gd name="T8" fmla="*/ 2147483646 w 989"/>
                <a:gd name="T9" fmla="*/ 2147483646 h 1461"/>
                <a:gd name="T10" fmla="*/ 2147483646 w 989"/>
                <a:gd name="T11" fmla="*/ 2147483646 h 1461"/>
                <a:gd name="T12" fmla="*/ 0 w 989"/>
                <a:gd name="T13" fmla="*/ 2147483646 h 14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89"/>
                <a:gd name="T22" fmla="*/ 0 h 1461"/>
                <a:gd name="T23" fmla="*/ 989 w 989"/>
                <a:gd name="T24" fmla="*/ 1461 h 146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89" h="1461">
                  <a:moveTo>
                    <a:pt x="6" y="389"/>
                  </a:moveTo>
                  <a:cubicBezTo>
                    <a:pt x="79" y="341"/>
                    <a:pt x="359" y="0"/>
                    <a:pt x="444" y="95"/>
                  </a:cubicBezTo>
                  <a:cubicBezTo>
                    <a:pt x="529" y="190"/>
                    <a:pt x="435" y="741"/>
                    <a:pt x="516" y="959"/>
                  </a:cubicBezTo>
                  <a:cubicBezTo>
                    <a:pt x="597" y="1177"/>
                    <a:pt x="871" y="1461"/>
                    <a:pt x="930" y="1403"/>
                  </a:cubicBezTo>
                  <a:cubicBezTo>
                    <a:pt x="989" y="1345"/>
                    <a:pt x="952" y="693"/>
                    <a:pt x="870" y="611"/>
                  </a:cubicBezTo>
                  <a:cubicBezTo>
                    <a:pt x="788" y="529"/>
                    <a:pt x="583" y="915"/>
                    <a:pt x="438" y="911"/>
                  </a:cubicBezTo>
                  <a:cubicBezTo>
                    <a:pt x="293" y="907"/>
                    <a:pt x="91" y="654"/>
                    <a:pt x="0" y="587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" name="Text Box 5">
              <a:extLst>
                <a:ext uri="{FF2B5EF4-FFF2-40B4-BE49-F238E27FC236}">
                  <a16:creationId xmlns:a16="http://schemas.microsoft.com/office/drawing/2014/main" id="{1E57BF15-D492-94F4-4DD0-1E59C8CC8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312" y="3886200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C</a:t>
              </a:r>
              <a:r>
                <a:rPr lang="en-US" altLang="en-US" sz="1800" baseline="-250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21511" name="Oval 7">
              <a:extLst>
                <a:ext uri="{FF2B5EF4-FFF2-40B4-BE49-F238E27FC236}">
                  <a16:creationId xmlns:a16="http://schemas.microsoft.com/office/drawing/2014/main" id="{815381D1-ED21-26EF-0FDC-5FD6FE7FE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21512" name="Oval 8">
              <a:extLst>
                <a:ext uri="{FF2B5EF4-FFF2-40B4-BE49-F238E27FC236}">
                  <a16:creationId xmlns:a16="http://schemas.microsoft.com/office/drawing/2014/main" id="{C53594B8-7B54-DCD1-6B2D-4CA060E7D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U</a:t>
              </a:r>
            </a:p>
          </p:txBody>
        </p:sp>
        <p:sp>
          <p:nvSpPr>
            <p:cNvPr id="21513" name="Oval 9">
              <a:extLst>
                <a:ext uri="{FF2B5EF4-FFF2-40B4-BE49-F238E27FC236}">
                  <a16:creationId xmlns:a16="http://schemas.microsoft.com/office/drawing/2014/main" id="{0BD531D2-2421-DDD3-649C-CA67CACB5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3622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V</a:t>
              </a:r>
            </a:p>
          </p:txBody>
        </p:sp>
        <p:sp>
          <p:nvSpPr>
            <p:cNvPr id="21514" name="Oval 10">
              <a:extLst>
                <a:ext uri="{FF2B5EF4-FFF2-40B4-BE49-F238E27FC236}">
                  <a16:creationId xmlns:a16="http://schemas.microsoft.com/office/drawing/2014/main" id="{20DD1006-04E1-4E14-DE73-4DE68C154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191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</a:t>
              </a:r>
            </a:p>
          </p:txBody>
        </p:sp>
        <p:sp>
          <p:nvSpPr>
            <p:cNvPr id="21515" name="Oval 11">
              <a:extLst>
                <a:ext uri="{FF2B5EF4-FFF2-40B4-BE49-F238E27FC236}">
                  <a16:creationId xmlns:a16="http://schemas.microsoft.com/office/drawing/2014/main" id="{63E0AA1A-67D4-FA5C-0319-53FEED766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2766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Z</a:t>
              </a:r>
            </a:p>
          </p:txBody>
        </p:sp>
        <p:cxnSp>
          <p:nvCxnSpPr>
            <p:cNvPr id="21516" name="AutoShape 12">
              <a:extLst>
                <a:ext uri="{FF2B5EF4-FFF2-40B4-BE49-F238E27FC236}">
                  <a16:creationId xmlns:a16="http://schemas.microsoft.com/office/drawing/2014/main" id="{C692BB4F-061E-79B2-17D3-0BB41A4B5B72}"/>
                </a:ext>
              </a:extLst>
            </p:cNvPr>
            <p:cNvCxnSpPr>
              <a:cxnSpLocks noChangeShapeType="1"/>
              <a:stCxn id="21513" idx="3"/>
              <a:endCxn id="21512" idx="7"/>
            </p:cNvCxnSpPr>
            <p:nvPr/>
          </p:nvCxnSpPr>
          <p:spPr bwMode="auto">
            <a:xfrm flipH="1">
              <a:off x="5419725" y="27622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7" name="AutoShape 13">
              <a:extLst>
                <a:ext uri="{FF2B5EF4-FFF2-40B4-BE49-F238E27FC236}">
                  <a16:creationId xmlns:a16="http://schemas.microsoft.com/office/drawing/2014/main" id="{725727E1-14FD-8514-5944-960E3EFDC8BD}"/>
                </a:ext>
              </a:extLst>
            </p:cNvPr>
            <p:cNvCxnSpPr>
              <a:cxnSpLocks noChangeShapeType="1"/>
              <a:stCxn id="21514" idx="1"/>
              <a:endCxn id="21512" idx="5"/>
            </p:cNvCxnSpPr>
            <p:nvPr/>
          </p:nvCxnSpPr>
          <p:spPr bwMode="auto">
            <a:xfrm flipH="1" flipV="1">
              <a:off x="5419725" y="36766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8" name="AutoShape 14">
              <a:extLst>
                <a:ext uri="{FF2B5EF4-FFF2-40B4-BE49-F238E27FC236}">
                  <a16:creationId xmlns:a16="http://schemas.microsoft.com/office/drawing/2014/main" id="{538105D1-DCEB-1213-0EF6-AFB1C01092A4}"/>
                </a:ext>
              </a:extLst>
            </p:cNvPr>
            <p:cNvCxnSpPr>
              <a:cxnSpLocks noChangeShapeType="1"/>
              <a:stCxn id="21514" idx="7"/>
              <a:endCxn id="21511" idx="3"/>
            </p:cNvCxnSpPr>
            <p:nvPr/>
          </p:nvCxnSpPr>
          <p:spPr bwMode="auto">
            <a:xfrm flipV="1">
              <a:off x="6334125" y="36766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9" name="AutoShape 15">
              <a:extLst>
                <a:ext uri="{FF2B5EF4-FFF2-40B4-BE49-F238E27FC236}">
                  <a16:creationId xmlns:a16="http://schemas.microsoft.com/office/drawing/2014/main" id="{356DA312-102E-AFD1-F214-163A1DC871FE}"/>
                </a:ext>
              </a:extLst>
            </p:cNvPr>
            <p:cNvCxnSpPr>
              <a:cxnSpLocks noChangeShapeType="1"/>
              <a:stCxn id="21511" idx="6"/>
              <a:endCxn id="21515" idx="2"/>
            </p:cNvCxnSpPr>
            <p:nvPr/>
          </p:nvCxnSpPr>
          <p:spPr bwMode="auto">
            <a:xfrm>
              <a:off x="7324725" y="3505200"/>
              <a:ext cx="74295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AutoShape 16">
              <a:extLst>
                <a:ext uri="{FF2B5EF4-FFF2-40B4-BE49-F238E27FC236}">
                  <a16:creationId xmlns:a16="http://schemas.microsoft.com/office/drawing/2014/main" id="{EC6F0991-09E8-F464-70DA-0A5638E7CD59}"/>
                </a:ext>
              </a:extLst>
            </p:cNvPr>
            <p:cNvCxnSpPr>
              <a:cxnSpLocks noChangeShapeType="1"/>
              <a:stCxn id="21513" idx="5"/>
              <a:endCxn id="21511" idx="1"/>
            </p:cNvCxnSpPr>
            <p:nvPr/>
          </p:nvCxnSpPr>
          <p:spPr bwMode="auto">
            <a:xfrm>
              <a:off x="6334125" y="2762250"/>
              <a:ext cx="590550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1" name="AutoShape 17">
              <a:extLst>
                <a:ext uri="{FF2B5EF4-FFF2-40B4-BE49-F238E27FC236}">
                  <a16:creationId xmlns:a16="http://schemas.microsoft.com/office/drawing/2014/main" id="{B8272B76-26C5-40B6-1758-A85F13D93905}"/>
                </a:ext>
              </a:extLst>
            </p:cNvPr>
            <p:cNvCxnSpPr>
              <a:cxnSpLocks noChangeShapeType="1"/>
              <a:stCxn id="21513" idx="4"/>
              <a:endCxn id="21514" idx="0"/>
            </p:cNvCxnSpPr>
            <p:nvPr/>
          </p:nvCxnSpPr>
          <p:spPr bwMode="auto">
            <a:xfrm>
              <a:off x="6172200" y="2828925"/>
              <a:ext cx="0" cy="13525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2" name="Oval 18">
              <a:extLst>
                <a:ext uri="{FF2B5EF4-FFF2-40B4-BE49-F238E27FC236}">
                  <a16:creationId xmlns:a16="http://schemas.microsoft.com/office/drawing/2014/main" id="{24742AF1-F23E-93D3-2AE8-A99D18A13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7525" y="5105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Y</a:t>
              </a:r>
            </a:p>
          </p:txBody>
        </p:sp>
        <p:cxnSp>
          <p:nvCxnSpPr>
            <p:cNvPr id="21523" name="AutoShape 19">
              <a:extLst>
                <a:ext uri="{FF2B5EF4-FFF2-40B4-BE49-F238E27FC236}">
                  <a16:creationId xmlns:a16="http://schemas.microsoft.com/office/drawing/2014/main" id="{AF2BBCED-95F3-2CBC-DA6C-669E7AD417D5}"/>
                </a:ext>
              </a:extLst>
            </p:cNvPr>
            <p:cNvCxnSpPr>
              <a:cxnSpLocks noChangeShapeType="1"/>
              <a:stCxn id="21514" idx="5"/>
              <a:endCxn id="21522" idx="1"/>
            </p:cNvCxnSpPr>
            <p:nvPr/>
          </p:nvCxnSpPr>
          <p:spPr bwMode="auto">
            <a:xfrm>
              <a:off x="6334125" y="4591050"/>
              <a:ext cx="600075" cy="5715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4" name="AutoShape 20">
              <a:extLst>
                <a:ext uri="{FF2B5EF4-FFF2-40B4-BE49-F238E27FC236}">
                  <a16:creationId xmlns:a16="http://schemas.microsoft.com/office/drawing/2014/main" id="{84EB2E61-ACAC-7B33-6A41-45FE029AB9AE}"/>
                </a:ext>
              </a:extLst>
            </p:cNvPr>
            <p:cNvCxnSpPr>
              <a:cxnSpLocks noChangeShapeType="1"/>
              <a:stCxn id="21511" idx="4"/>
              <a:endCxn id="21522" idx="0"/>
            </p:cNvCxnSpPr>
            <p:nvPr/>
          </p:nvCxnSpPr>
          <p:spPr bwMode="auto">
            <a:xfrm>
              <a:off x="7086600" y="3743325"/>
              <a:ext cx="9525" cy="13525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5" name="Text Box 21">
              <a:extLst>
                <a:ext uri="{FF2B5EF4-FFF2-40B4-BE49-F238E27FC236}">
                  <a16:creationId xmlns:a16="http://schemas.microsoft.com/office/drawing/2014/main" id="{3DF6E909-457A-801E-1D8F-90C3D4DEF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3591" y="25908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1526" name="Text Box 22">
              <a:extLst>
                <a:ext uri="{FF2B5EF4-FFF2-40B4-BE49-F238E27FC236}">
                  <a16:creationId xmlns:a16="http://schemas.microsoft.com/office/drawing/2014/main" id="{CE47379F-890C-1A85-9A39-D7AC3260A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478" y="3962400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1527" name="Text Box 23">
              <a:extLst>
                <a:ext uri="{FF2B5EF4-FFF2-40B4-BE49-F238E27FC236}">
                  <a16:creationId xmlns:a16="http://schemas.microsoft.com/office/drawing/2014/main" id="{B102CB86-CA26-B13E-D40F-EB7B1CAA2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5359" y="25908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1528" name="Text Box 24">
              <a:extLst>
                <a:ext uri="{FF2B5EF4-FFF2-40B4-BE49-F238E27FC236}">
                  <a16:creationId xmlns:a16="http://schemas.microsoft.com/office/drawing/2014/main" id="{2B8631F5-5113-D1B1-D799-71A49D48D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8991" y="3810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21529" name="Text Box 25">
              <a:extLst>
                <a:ext uri="{FF2B5EF4-FFF2-40B4-BE49-F238E27FC236}">
                  <a16:creationId xmlns:a16="http://schemas.microsoft.com/office/drawing/2014/main" id="{9B444F5F-36B3-3042-3F31-D40395449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7159" y="3124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1530" name="Text Box 26">
              <a:extLst>
                <a:ext uri="{FF2B5EF4-FFF2-40B4-BE49-F238E27FC236}">
                  <a16:creationId xmlns:a16="http://schemas.microsoft.com/office/drawing/2014/main" id="{7BBBA106-3E17-03AE-E77B-8CC02D325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4976" y="4895850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21531" name="Text Box 27">
              <a:extLst>
                <a:ext uri="{FF2B5EF4-FFF2-40B4-BE49-F238E27FC236}">
                  <a16:creationId xmlns:a16="http://schemas.microsoft.com/office/drawing/2014/main" id="{D35355E5-1674-FA94-D3D0-06004363D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8759" y="4267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sp>
          <p:nvSpPr>
            <p:cNvPr id="21532" name="Text Box 28">
              <a:extLst>
                <a:ext uri="{FF2B5EF4-FFF2-40B4-BE49-F238E27FC236}">
                  <a16:creationId xmlns:a16="http://schemas.microsoft.com/office/drawing/2014/main" id="{64D483FD-95BE-7A26-DC93-F93AF6877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3084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</a:t>
              </a:r>
            </a:p>
          </p:txBody>
        </p:sp>
        <p:sp>
          <p:nvSpPr>
            <p:cNvPr id="21533" name="Text Box 29">
              <a:extLst>
                <a:ext uri="{FF2B5EF4-FFF2-40B4-BE49-F238E27FC236}">
                  <a16:creationId xmlns:a16="http://schemas.microsoft.com/office/drawing/2014/main" id="{11C59A85-3291-2666-8DEC-4A2D2BFC0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9400" y="3505200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accent2"/>
                  </a:solidFill>
                </a:rPr>
                <a:t>C</a:t>
              </a:r>
              <a:r>
                <a:rPr lang="en-US" altLang="en-US" sz="1800" baseline="-25000">
                  <a:solidFill>
                    <a:schemeClr val="accent2"/>
                  </a:solidFill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FA00AEB5-C054-577F-54BF-E9738BB55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D47C62-ED60-7F5D-E5A9-D38D75949CE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524000"/>
            <a:ext cx="3733800" cy="1600200"/>
          </a:xfrm>
        </p:spPr>
        <p:txBody>
          <a:bodyPr>
            <a:normAutofit fontScale="92500" lnSpcReduction="10000"/>
          </a:bodyPr>
          <a:lstStyle/>
          <a:p>
            <a:pPr marL="114300" indent="-114300">
              <a:buNone/>
            </a:pPr>
            <a:r>
              <a:rPr lang="en-US" altLang="en-US" sz="2000"/>
              <a:t>Notation</a:t>
            </a:r>
          </a:p>
          <a:p>
            <a:pPr marL="1371600" lvl="1" indent="-914400"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   n	</a:t>
            </a:r>
            <a:r>
              <a:rPr lang="en-US" altLang="en-US" sz="1800"/>
              <a:t>number of vertices</a:t>
            </a:r>
          </a:p>
          <a:p>
            <a:pPr marL="1371600" lvl="1" indent="-914400"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   m	</a:t>
            </a:r>
            <a:r>
              <a:rPr lang="en-US" altLang="en-US" sz="1800"/>
              <a:t>number of edges</a:t>
            </a:r>
          </a:p>
          <a:p>
            <a:pPr marL="1371600" lvl="1" indent="-914400"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deg(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	</a:t>
            </a:r>
            <a:r>
              <a:rPr lang="en-US" altLang="en-US" sz="1800"/>
              <a:t>degree of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</p:txBody>
      </p:sp>
      <p:sp>
        <p:nvSpPr>
          <p:cNvPr id="22531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FA22A78-731C-F2F4-EE2C-91E782FADCB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019800" y="1524000"/>
            <a:ext cx="4419600" cy="4953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Property 1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/>
              <a:t>Undirected graph</a:t>
            </a:r>
            <a:r>
              <a:rPr lang="en-US" altLang="en-US" sz="1800"/>
              <a:t>: </a:t>
            </a:r>
            <a:r>
              <a:rPr lang="en-US" altLang="en-US" sz="28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</a:rPr>
              <a:t>Proof:</a:t>
            </a:r>
            <a:r>
              <a:rPr lang="en-US" altLang="en-US" sz="1800"/>
              <a:t> each edge is counted twice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0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i="1"/>
              <a:t>Directed graph</a:t>
            </a:r>
            <a:r>
              <a:rPr lang="en-US" altLang="en-US" sz="1800"/>
              <a:t>: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8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indeg(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8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outdeg(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Property 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In a simple undirected graph,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 	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m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  <a:r>
              <a:rPr lang="en-US" altLang="en-US" sz="1800" b="1">
                <a:latin typeface="Symbol" panose="05050102010706020507" pitchFamily="18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endParaRPr lang="en-US" altLang="en-US" sz="1800" baseline="300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000000"/>
                </a:solidFill>
              </a:rPr>
              <a:t>Proof:</a:t>
            </a:r>
            <a:r>
              <a:rPr lang="en-US" altLang="en-US" sz="1800"/>
              <a:t> each vertex has degree at most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What is the bound for a directed graph?</a:t>
            </a:r>
          </a:p>
        </p:txBody>
      </p:sp>
      <p:grpSp>
        <p:nvGrpSpPr>
          <p:cNvPr id="22532" name="Group 17">
            <a:extLst>
              <a:ext uri="{FF2B5EF4-FFF2-40B4-BE49-F238E27FC236}">
                <a16:creationId xmlns:a16="http://schemas.microsoft.com/office/drawing/2014/main" id="{D3DB77A4-6417-4AF2-98C3-B6CB7E7B7BF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886200"/>
            <a:ext cx="2133600" cy="2209800"/>
            <a:chOff x="4267200" y="3540125"/>
            <a:chExt cx="2133600" cy="2209800"/>
          </a:xfrm>
        </p:grpSpPr>
        <p:sp>
          <p:nvSpPr>
            <p:cNvPr id="22534" name="Oval 5">
              <a:extLst>
                <a:ext uri="{FF2B5EF4-FFF2-40B4-BE49-F238E27FC236}">
                  <a16:creationId xmlns:a16="http://schemas.microsoft.com/office/drawing/2014/main" id="{05FEF116-4434-8CF7-F092-E13FCA04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4454525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5" name="Oval 6">
              <a:extLst>
                <a:ext uri="{FF2B5EF4-FFF2-40B4-BE49-F238E27FC236}">
                  <a16:creationId xmlns:a16="http://schemas.microsoft.com/office/drawing/2014/main" id="{AD389DCB-0B94-329E-8D62-3A24429E3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540125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6" name="Oval 7">
              <a:extLst>
                <a:ext uri="{FF2B5EF4-FFF2-40B4-BE49-F238E27FC236}">
                  <a16:creationId xmlns:a16="http://schemas.microsoft.com/office/drawing/2014/main" id="{D2FC8289-4AFB-40E9-3C22-2C4224EFF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5445125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7" name="Oval 8">
              <a:extLst>
                <a:ext uri="{FF2B5EF4-FFF2-40B4-BE49-F238E27FC236}">
                  <a16:creationId xmlns:a16="http://schemas.microsoft.com/office/drawing/2014/main" id="{4851BFBB-1FD6-8981-CA93-DD8A178C1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454525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2538" name="AutoShape 9">
              <a:extLst>
                <a:ext uri="{FF2B5EF4-FFF2-40B4-BE49-F238E27FC236}">
                  <a16:creationId xmlns:a16="http://schemas.microsoft.com/office/drawing/2014/main" id="{F2F75E34-6234-5ADE-5763-26F4FB44AD58}"/>
                </a:ext>
              </a:extLst>
            </p:cNvPr>
            <p:cNvCxnSpPr>
              <a:cxnSpLocks noChangeShapeType="1"/>
              <a:stCxn id="22535" idx="5"/>
              <a:endCxn id="22537" idx="1"/>
            </p:cNvCxnSpPr>
            <p:nvPr/>
          </p:nvCxnSpPr>
          <p:spPr bwMode="auto">
            <a:xfrm>
              <a:off x="5441950" y="3810000"/>
              <a:ext cx="698500" cy="67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9" name="AutoShape 10">
              <a:extLst>
                <a:ext uri="{FF2B5EF4-FFF2-40B4-BE49-F238E27FC236}">
                  <a16:creationId xmlns:a16="http://schemas.microsoft.com/office/drawing/2014/main" id="{14FD7218-C9A2-6B74-2D8A-8440CD74BE53}"/>
                </a:ext>
              </a:extLst>
            </p:cNvPr>
            <p:cNvCxnSpPr>
              <a:cxnSpLocks noChangeShapeType="1"/>
              <a:stCxn id="22535" idx="3"/>
              <a:endCxn id="22534" idx="7"/>
            </p:cNvCxnSpPr>
            <p:nvPr/>
          </p:nvCxnSpPr>
          <p:spPr bwMode="auto">
            <a:xfrm flipH="1">
              <a:off x="4527550" y="3810000"/>
              <a:ext cx="698500" cy="6794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0" name="AutoShape 11">
              <a:extLst>
                <a:ext uri="{FF2B5EF4-FFF2-40B4-BE49-F238E27FC236}">
                  <a16:creationId xmlns:a16="http://schemas.microsoft.com/office/drawing/2014/main" id="{2BC44FC2-7837-4302-F59F-FA53AA516497}"/>
                </a:ext>
              </a:extLst>
            </p:cNvPr>
            <p:cNvCxnSpPr>
              <a:cxnSpLocks noChangeShapeType="1"/>
              <a:stCxn id="22536" idx="1"/>
              <a:endCxn id="22534" idx="5"/>
            </p:cNvCxnSpPr>
            <p:nvPr/>
          </p:nvCxnSpPr>
          <p:spPr bwMode="auto">
            <a:xfrm flipH="1" flipV="1">
              <a:off x="4527550" y="4724400"/>
              <a:ext cx="698500" cy="7556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1" name="AutoShape 12">
              <a:extLst>
                <a:ext uri="{FF2B5EF4-FFF2-40B4-BE49-F238E27FC236}">
                  <a16:creationId xmlns:a16="http://schemas.microsoft.com/office/drawing/2014/main" id="{7D3C87C4-FD10-3388-FB02-7020D48736F1}"/>
                </a:ext>
              </a:extLst>
            </p:cNvPr>
            <p:cNvCxnSpPr>
              <a:cxnSpLocks noChangeShapeType="1"/>
              <a:stCxn id="22537" idx="3"/>
              <a:endCxn id="22536" idx="7"/>
            </p:cNvCxnSpPr>
            <p:nvPr/>
          </p:nvCxnSpPr>
          <p:spPr bwMode="auto">
            <a:xfrm flipH="1">
              <a:off x="5441950" y="4724400"/>
              <a:ext cx="698500" cy="7556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2" name="AutoShape 13">
              <a:extLst>
                <a:ext uri="{FF2B5EF4-FFF2-40B4-BE49-F238E27FC236}">
                  <a16:creationId xmlns:a16="http://schemas.microsoft.com/office/drawing/2014/main" id="{FBEB3DED-E8C3-D19F-5EBF-5C603A23B8B9}"/>
                </a:ext>
              </a:extLst>
            </p:cNvPr>
            <p:cNvCxnSpPr>
              <a:cxnSpLocks noChangeShapeType="1"/>
              <a:stCxn id="22537" idx="2"/>
              <a:endCxn id="22534" idx="6"/>
            </p:cNvCxnSpPr>
            <p:nvPr/>
          </p:nvCxnSpPr>
          <p:spPr bwMode="auto">
            <a:xfrm flipH="1">
              <a:off x="4581525" y="4606925"/>
              <a:ext cx="150495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3" name="AutoShape 14">
              <a:extLst>
                <a:ext uri="{FF2B5EF4-FFF2-40B4-BE49-F238E27FC236}">
                  <a16:creationId xmlns:a16="http://schemas.microsoft.com/office/drawing/2014/main" id="{A1E97164-F582-5304-33A7-7882D532C0C8}"/>
                </a:ext>
              </a:extLst>
            </p:cNvPr>
            <p:cNvCxnSpPr>
              <a:cxnSpLocks noChangeShapeType="1"/>
              <a:stCxn id="22536" idx="0"/>
              <a:endCxn id="22535" idx="4"/>
            </p:cNvCxnSpPr>
            <p:nvPr/>
          </p:nvCxnSpPr>
          <p:spPr bwMode="auto">
            <a:xfrm flipV="1">
              <a:off x="5334000" y="3854450"/>
              <a:ext cx="0" cy="15811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3" name="Rectangle 1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3E53DF7-A028-E1EE-C753-3586A968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352800"/>
            <a:ext cx="2286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/>
              <a:t>Example</a:t>
            </a:r>
          </a:p>
          <a:p>
            <a:pPr lvl="1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lvl="1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 b="1" i="1">
                <a:latin typeface="Times New Roman" panose="02020603050405020304" pitchFamily="18" charset="0"/>
              </a:rPr>
              <a:t>m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>
                <a:latin typeface="Times New Roman" panose="02020603050405020304" pitchFamily="18" charset="0"/>
              </a:rPr>
              <a:t>6</a:t>
            </a:r>
          </a:p>
          <a:p>
            <a:pPr lvl="1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deg(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Symbol" panose="05050102010706020507" pitchFamily="18" charset="2"/>
              </a:rPr>
              <a:t>=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6A8889B-253E-1A85-EB7A-5714FEF44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Subgraphs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F6C5463-D04F-BC51-76D7-21877CE230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828800"/>
            <a:ext cx="4038600" cy="4191000"/>
          </a:xfrm>
        </p:spPr>
        <p:txBody>
          <a:bodyPr/>
          <a:lstStyle/>
          <a:p>
            <a:r>
              <a:rPr lang="en-US" altLang="en-US" sz="2000"/>
              <a:t>A subgraph S of a graph G is a graph such that </a:t>
            </a:r>
          </a:p>
          <a:p>
            <a:pPr lvl="1"/>
            <a:r>
              <a:rPr lang="en-US" altLang="en-US" sz="1800"/>
              <a:t>The vertices of S are a subset of the vertices of G</a:t>
            </a:r>
          </a:p>
          <a:p>
            <a:pPr lvl="1"/>
            <a:r>
              <a:rPr lang="en-US" altLang="en-US" sz="1800"/>
              <a:t>The edges of S are a subset of the edges of G</a:t>
            </a:r>
          </a:p>
          <a:p>
            <a:r>
              <a:rPr lang="en-US" altLang="en-US" sz="2000"/>
              <a:t>A spanning subgraph of G is a subgraph that contains all the vertices of G</a:t>
            </a:r>
          </a:p>
        </p:txBody>
      </p:sp>
      <p:sp>
        <p:nvSpPr>
          <p:cNvPr id="23555" name="Text Box 16">
            <a:extLst>
              <a:ext uri="{FF2B5EF4-FFF2-40B4-BE49-F238E27FC236}">
                <a16:creationId xmlns:a16="http://schemas.microsoft.com/office/drawing/2014/main" id="{E422F50D-1680-7553-B186-725CE797F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00" y="3117851"/>
            <a:ext cx="285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Subgraph</a:t>
            </a:r>
          </a:p>
        </p:txBody>
      </p:sp>
      <p:sp>
        <p:nvSpPr>
          <p:cNvPr id="23556" name="Text Box 27">
            <a:extLst>
              <a:ext uri="{FF2B5EF4-FFF2-40B4-BE49-F238E27FC236}">
                <a16:creationId xmlns:a16="http://schemas.microsoft.com/office/drawing/2014/main" id="{9780B476-4AD9-421D-394C-FE631FF8B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5699126"/>
            <a:ext cx="3644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Spanning subgraph</a:t>
            </a: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DE6EDABA-4393-D9C1-F9A2-9D0170EC53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12151" y="1951038"/>
            <a:ext cx="366713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A70BC197-2536-A094-AC31-18FE4AC12F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48476" y="195103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4CE30F5A-CCAA-42E4-6B1D-9239B80789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0313" y="1219201"/>
            <a:ext cx="366712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60" name="Oval 8">
            <a:extLst>
              <a:ext uri="{FF2B5EF4-FFF2-40B4-BE49-F238E27FC236}">
                <a16:creationId xmlns:a16="http://schemas.microsoft.com/office/drawing/2014/main" id="{85A0545A-70AB-E2EB-83B6-23233BA6A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0313" y="2682876"/>
            <a:ext cx="366712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561" name="AutoShape 9">
            <a:extLst>
              <a:ext uri="{FF2B5EF4-FFF2-40B4-BE49-F238E27FC236}">
                <a16:creationId xmlns:a16="http://schemas.microsoft.com/office/drawing/2014/main" id="{18A8A876-0076-94A4-8A9D-32CB595D6671}"/>
              </a:ext>
            </a:extLst>
          </p:cNvPr>
          <p:cNvCxnSpPr>
            <a:cxnSpLocks noChangeAspect="1" noChangeShapeType="1"/>
            <a:stCxn id="23559" idx="3"/>
            <a:endCxn id="23558" idx="7"/>
          </p:cNvCxnSpPr>
          <p:nvPr/>
        </p:nvCxnSpPr>
        <p:spPr bwMode="auto">
          <a:xfrm flipH="1">
            <a:off x="7159626" y="1538289"/>
            <a:ext cx="474663" cy="458787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AutoShape 10">
            <a:extLst>
              <a:ext uri="{FF2B5EF4-FFF2-40B4-BE49-F238E27FC236}">
                <a16:creationId xmlns:a16="http://schemas.microsoft.com/office/drawing/2014/main" id="{0DB9A08D-33E4-26FD-7015-B444090DFE95}"/>
              </a:ext>
            </a:extLst>
          </p:cNvPr>
          <p:cNvCxnSpPr>
            <a:cxnSpLocks noChangeAspect="1" noChangeShapeType="1"/>
            <a:stCxn id="23560" idx="1"/>
            <a:endCxn id="23558" idx="5"/>
          </p:cNvCxnSpPr>
          <p:nvPr/>
        </p:nvCxnSpPr>
        <p:spPr bwMode="auto">
          <a:xfrm flipH="1" flipV="1">
            <a:off x="7159626" y="2270125"/>
            <a:ext cx="474663" cy="45878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AutoShape 11">
            <a:extLst>
              <a:ext uri="{FF2B5EF4-FFF2-40B4-BE49-F238E27FC236}">
                <a16:creationId xmlns:a16="http://schemas.microsoft.com/office/drawing/2014/main" id="{78516AF0-8893-2CD9-5ED7-B6B752F2EFCA}"/>
              </a:ext>
            </a:extLst>
          </p:cNvPr>
          <p:cNvCxnSpPr>
            <a:cxnSpLocks noChangeAspect="1" noChangeShapeType="1"/>
            <a:stCxn id="23560" idx="7"/>
            <a:endCxn id="23557" idx="3"/>
          </p:cNvCxnSpPr>
          <p:nvPr/>
        </p:nvCxnSpPr>
        <p:spPr bwMode="auto">
          <a:xfrm flipV="1">
            <a:off x="7891463" y="2270125"/>
            <a:ext cx="474662" cy="458788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12">
            <a:extLst>
              <a:ext uri="{FF2B5EF4-FFF2-40B4-BE49-F238E27FC236}">
                <a16:creationId xmlns:a16="http://schemas.microsoft.com/office/drawing/2014/main" id="{CAACCE15-DD71-D0CC-00B6-B8E5862E413F}"/>
              </a:ext>
            </a:extLst>
          </p:cNvPr>
          <p:cNvCxnSpPr>
            <a:cxnSpLocks noChangeAspect="1" noChangeShapeType="1"/>
            <a:stCxn id="23559" idx="5"/>
            <a:endCxn id="23557" idx="1"/>
          </p:cNvCxnSpPr>
          <p:nvPr/>
        </p:nvCxnSpPr>
        <p:spPr bwMode="auto">
          <a:xfrm>
            <a:off x="7891463" y="1538289"/>
            <a:ext cx="474662" cy="45878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13">
            <a:extLst>
              <a:ext uri="{FF2B5EF4-FFF2-40B4-BE49-F238E27FC236}">
                <a16:creationId xmlns:a16="http://schemas.microsoft.com/office/drawing/2014/main" id="{3B4E7E3B-0E38-A617-BEA9-AC4EDD2DE75A}"/>
              </a:ext>
            </a:extLst>
          </p:cNvPr>
          <p:cNvCxnSpPr>
            <a:cxnSpLocks noChangeAspect="1" noChangeShapeType="1"/>
            <a:stCxn id="23559" idx="4"/>
            <a:endCxn id="23560" idx="0"/>
          </p:cNvCxnSpPr>
          <p:nvPr/>
        </p:nvCxnSpPr>
        <p:spPr bwMode="auto">
          <a:xfrm>
            <a:off x="7761288" y="1592264"/>
            <a:ext cx="0" cy="10826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6" name="Oval 14">
            <a:extLst>
              <a:ext uri="{FF2B5EF4-FFF2-40B4-BE49-F238E27FC236}">
                <a16:creationId xmlns:a16="http://schemas.microsoft.com/office/drawing/2014/main" id="{79E26D8D-DE29-5CC8-CB36-5D365D2CAE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63101" y="195103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567" name="AutoShape 15">
            <a:extLst>
              <a:ext uri="{FF2B5EF4-FFF2-40B4-BE49-F238E27FC236}">
                <a16:creationId xmlns:a16="http://schemas.microsoft.com/office/drawing/2014/main" id="{09377D37-F684-8807-BC53-2DFF0F09096E}"/>
              </a:ext>
            </a:extLst>
          </p:cNvPr>
          <p:cNvCxnSpPr>
            <a:cxnSpLocks noChangeAspect="1" noChangeShapeType="1"/>
            <a:stCxn id="23557" idx="6"/>
            <a:endCxn id="23566" idx="2"/>
          </p:cNvCxnSpPr>
          <p:nvPr/>
        </p:nvCxnSpPr>
        <p:spPr bwMode="auto">
          <a:xfrm>
            <a:off x="8685213" y="2133600"/>
            <a:ext cx="869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8" name="AutoShape 28">
            <a:extLst>
              <a:ext uri="{FF2B5EF4-FFF2-40B4-BE49-F238E27FC236}">
                <a16:creationId xmlns:a16="http://schemas.microsoft.com/office/drawing/2014/main" id="{94F35000-9D30-91D2-87E4-257D9417CD0D}"/>
              </a:ext>
            </a:extLst>
          </p:cNvPr>
          <p:cNvCxnSpPr>
            <a:cxnSpLocks noChangeAspect="1" noChangeShapeType="1"/>
            <a:stCxn id="23560" idx="6"/>
            <a:endCxn id="23566" idx="3"/>
          </p:cNvCxnSpPr>
          <p:nvPr/>
        </p:nvCxnSpPr>
        <p:spPr bwMode="auto">
          <a:xfrm flipV="1">
            <a:off x="7954964" y="2273300"/>
            <a:ext cx="16605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9" name="AutoShape 29">
            <a:extLst>
              <a:ext uri="{FF2B5EF4-FFF2-40B4-BE49-F238E27FC236}">
                <a16:creationId xmlns:a16="http://schemas.microsoft.com/office/drawing/2014/main" id="{90C8BDA5-7865-E269-2AD3-130F67A2F42B}"/>
              </a:ext>
            </a:extLst>
          </p:cNvPr>
          <p:cNvCxnSpPr>
            <a:cxnSpLocks noChangeAspect="1" noChangeShapeType="1"/>
            <a:stCxn id="23566" idx="1"/>
            <a:endCxn id="23559" idx="6"/>
          </p:cNvCxnSpPr>
          <p:nvPr/>
        </p:nvCxnSpPr>
        <p:spPr bwMode="auto">
          <a:xfrm flipH="1" flipV="1">
            <a:off x="7954964" y="1401764"/>
            <a:ext cx="1660525" cy="592137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0" name="Oval 32">
            <a:extLst>
              <a:ext uri="{FF2B5EF4-FFF2-40B4-BE49-F238E27FC236}">
                <a16:creationId xmlns:a16="http://schemas.microsoft.com/office/drawing/2014/main" id="{3C7415A7-DDF7-EA94-E51B-0B5851E96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10563" y="4532313"/>
            <a:ext cx="366712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1" name="Oval 33">
            <a:extLst>
              <a:ext uri="{FF2B5EF4-FFF2-40B4-BE49-F238E27FC236}">
                <a16:creationId xmlns:a16="http://schemas.microsoft.com/office/drawing/2014/main" id="{66AD304F-A694-E4E3-178E-98DEA0E17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46888" y="4532313"/>
            <a:ext cx="366712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2" name="Oval 34">
            <a:extLst>
              <a:ext uri="{FF2B5EF4-FFF2-40B4-BE49-F238E27FC236}">
                <a16:creationId xmlns:a16="http://schemas.microsoft.com/office/drawing/2014/main" id="{7BBAFE33-B192-2BB6-CF18-4A467636E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8726" y="3800476"/>
            <a:ext cx="366713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3" name="Oval 35">
            <a:extLst>
              <a:ext uri="{FF2B5EF4-FFF2-40B4-BE49-F238E27FC236}">
                <a16:creationId xmlns:a16="http://schemas.microsoft.com/office/drawing/2014/main" id="{551D4275-330E-017E-079D-8B0F66460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8726" y="5264151"/>
            <a:ext cx="366713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574" name="AutoShape 36">
            <a:extLst>
              <a:ext uri="{FF2B5EF4-FFF2-40B4-BE49-F238E27FC236}">
                <a16:creationId xmlns:a16="http://schemas.microsoft.com/office/drawing/2014/main" id="{08B60741-8881-1194-CD88-CD3F3DE307A5}"/>
              </a:ext>
            </a:extLst>
          </p:cNvPr>
          <p:cNvCxnSpPr>
            <a:cxnSpLocks noChangeAspect="1" noChangeShapeType="1"/>
            <a:stCxn id="23572" idx="3"/>
            <a:endCxn id="23571" idx="7"/>
          </p:cNvCxnSpPr>
          <p:nvPr/>
        </p:nvCxnSpPr>
        <p:spPr bwMode="auto">
          <a:xfrm flipH="1">
            <a:off x="7158038" y="4119564"/>
            <a:ext cx="474662" cy="45878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5" name="AutoShape 37">
            <a:extLst>
              <a:ext uri="{FF2B5EF4-FFF2-40B4-BE49-F238E27FC236}">
                <a16:creationId xmlns:a16="http://schemas.microsoft.com/office/drawing/2014/main" id="{4D84D291-FBEF-4604-2826-D1BE3838C231}"/>
              </a:ext>
            </a:extLst>
          </p:cNvPr>
          <p:cNvCxnSpPr>
            <a:cxnSpLocks noChangeAspect="1" noChangeShapeType="1"/>
            <a:stCxn id="23573" idx="1"/>
            <a:endCxn id="23571" idx="5"/>
          </p:cNvCxnSpPr>
          <p:nvPr/>
        </p:nvCxnSpPr>
        <p:spPr bwMode="auto">
          <a:xfrm flipH="1" flipV="1">
            <a:off x="7158038" y="4851400"/>
            <a:ext cx="474662" cy="45878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6" name="AutoShape 38">
            <a:extLst>
              <a:ext uri="{FF2B5EF4-FFF2-40B4-BE49-F238E27FC236}">
                <a16:creationId xmlns:a16="http://schemas.microsoft.com/office/drawing/2014/main" id="{F23EAF40-C994-BDF4-8071-28EC6AFF117C}"/>
              </a:ext>
            </a:extLst>
          </p:cNvPr>
          <p:cNvCxnSpPr>
            <a:cxnSpLocks noChangeAspect="1" noChangeShapeType="1"/>
            <a:stCxn id="23573" idx="7"/>
            <a:endCxn id="23570" idx="3"/>
          </p:cNvCxnSpPr>
          <p:nvPr/>
        </p:nvCxnSpPr>
        <p:spPr bwMode="auto">
          <a:xfrm flipV="1">
            <a:off x="7889876" y="4851400"/>
            <a:ext cx="474663" cy="458788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7" name="AutoShape 39">
            <a:extLst>
              <a:ext uri="{FF2B5EF4-FFF2-40B4-BE49-F238E27FC236}">
                <a16:creationId xmlns:a16="http://schemas.microsoft.com/office/drawing/2014/main" id="{7BB2AFA4-27D7-2B96-3EDE-70A89E4C8F88}"/>
              </a:ext>
            </a:extLst>
          </p:cNvPr>
          <p:cNvCxnSpPr>
            <a:cxnSpLocks noChangeAspect="1" noChangeShapeType="1"/>
            <a:stCxn id="23572" idx="5"/>
            <a:endCxn id="23570" idx="1"/>
          </p:cNvCxnSpPr>
          <p:nvPr/>
        </p:nvCxnSpPr>
        <p:spPr bwMode="auto">
          <a:xfrm>
            <a:off x="7889876" y="4119564"/>
            <a:ext cx="474663" cy="45878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8" name="AutoShape 40">
            <a:extLst>
              <a:ext uri="{FF2B5EF4-FFF2-40B4-BE49-F238E27FC236}">
                <a16:creationId xmlns:a16="http://schemas.microsoft.com/office/drawing/2014/main" id="{7E16AAAE-E057-4C90-25CF-66D34FF9664B}"/>
              </a:ext>
            </a:extLst>
          </p:cNvPr>
          <p:cNvCxnSpPr>
            <a:cxnSpLocks noChangeAspect="1" noChangeShapeType="1"/>
            <a:stCxn id="23572" idx="4"/>
            <a:endCxn id="23573" idx="0"/>
          </p:cNvCxnSpPr>
          <p:nvPr/>
        </p:nvCxnSpPr>
        <p:spPr bwMode="auto">
          <a:xfrm>
            <a:off x="7759700" y="4173539"/>
            <a:ext cx="0" cy="10826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9" name="Oval 41">
            <a:extLst>
              <a:ext uri="{FF2B5EF4-FFF2-40B4-BE49-F238E27FC236}">
                <a16:creationId xmlns:a16="http://schemas.microsoft.com/office/drawing/2014/main" id="{63CEF465-61F7-6416-6A2C-5C89A108D3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61513" y="4532313"/>
            <a:ext cx="366712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3580" name="AutoShape 42">
            <a:extLst>
              <a:ext uri="{FF2B5EF4-FFF2-40B4-BE49-F238E27FC236}">
                <a16:creationId xmlns:a16="http://schemas.microsoft.com/office/drawing/2014/main" id="{3227732E-6885-93A4-283D-28830387C258}"/>
              </a:ext>
            </a:extLst>
          </p:cNvPr>
          <p:cNvCxnSpPr>
            <a:cxnSpLocks noChangeAspect="1" noChangeShapeType="1"/>
            <a:stCxn id="23570" idx="6"/>
            <a:endCxn id="23579" idx="2"/>
          </p:cNvCxnSpPr>
          <p:nvPr/>
        </p:nvCxnSpPr>
        <p:spPr bwMode="auto">
          <a:xfrm>
            <a:off x="8683625" y="4714875"/>
            <a:ext cx="869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81" name="AutoShape 43">
            <a:extLst>
              <a:ext uri="{FF2B5EF4-FFF2-40B4-BE49-F238E27FC236}">
                <a16:creationId xmlns:a16="http://schemas.microsoft.com/office/drawing/2014/main" id="{DB173EF4-3AD3-7139-AF85-627B3D380056}"/>
              </a:ext>
            </a:extLst>
          </p:cNvPr>
          <p:cNvCxnSpPr>
            <a:cxnSpLocks noChangeAspect="1" noChangeShapeType="1"/>
            <a:stCxn id="23573" idx="6"/>
            <a:endCxn id="23579" idx="3"/>
          </p:cNvCxnSpPr>
          <p:nvPr/>
        </p:nvCxnSpPr>
        <p:spPr bwMode="auto">
          <a:xfrm flipV="1">
            <a:off x="7953376" y="4854575"/>
            <a:ext cx="16605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82" name="AutoShape 44">
            <a:extLst>
              <a:ext uri="{FF2B5EF4-FFF2-40B4-BE49-F238E27FC236}">
                <a16:creationId xmlns:a16="http://schemas.microsoft.com/office/drawing/2014/main" id="{A164D4F1-734E-3E50-C3C8-0F31B092E40F}"/>
              </a:ext>
            </a:extLst>
          </p:cNvPr>
          <p:cNvCxnSpPr>
            <a:cxnSpLocks noChangeAspect="1" noChangeShapeType="1"/>
            <a:stCxn id="23579" idx="1"/>
            <a:endCxn id="23572" idx="6"/>
          </p:cNvCxnSpPr>
          <p:nvPr/>
        </p:nvCxnSpPr>
        <p:spPr bwMode="auto">
          <a:xfrm flipH="1" flipV="1">
            <a:off x="7953376" y="3983039"/>
            <a:ext cx="1660525" cy="59213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4A312E85-6128-BB2A-8C4D-4567F5BD8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Connectivity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38E8B88-5971-AD53-0161-4485A035E1E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graph is connected if there is a path between any two vertices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 connected component of a graph G is a maximal connected subgraph of G.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Thus, a connected component cannot be a subgraph of another bigger connected subgraph of G</a:t>
            </a:r>
          </a:p>
        </p:txBody>
      </p:sp>
      <p:grpSp>
        <p:nvGrpSpPr>
          <p:cNvPr id="24579" name="Group 34">
            <a:extLst>
              <a:ext uri="{FF2B5EF4-FFF2-40B4-BE49-F238E27FC236}">
                <a16:creationId xmlns:a16="http://schemas.microsoft.com/office/drawing/2014/main" id="{328EEAFE-C062-54F6-17DE-60CB938A1E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8475" y="1219200"/>
            <a:ext cx="3081338" cy="1830388"/>
            <a:chOff x="2855" y="994"/>
            <a:chExt cx="2425" cy="1440"/>
          </a:xfrm>
        </p:grpSpPr>
        <p:sp>
          <p:nvSpPr>
            <p:cNvPr id="24592" name="Oval 6">
              <a:extLst>
                <a:ext uri="{FF2B5EF4-FFF2-40B4-BE49-F238E27FC236}">
                  <a16:creationId xmlns:a16="http://schemas.microsoft.com/office/drawing/2014/main" id="{66E529E9-58FC-386A-862C-F51C80A3BF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07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593" name="Oval 7">
              <a:extLst>
                <a:ext uri="{FF2B5EF4-FFF2-40B4-BE49-F238E27FC236}">
                  <a16:creationId xmlns:a16="http://schemas.microsoft.com/office/drawing/2014/main" id="{D745EF04-2727-F3EE-70B8-A703DD7492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594" name="Oval 8">
              <a:extLst>
                <a:ext uri="{FF2B5EF4-FFF2-40B4-BE49-F238E27FC236}">
                  <a16:creationId xmlns:a16="http://schemas.microsoft.com/office/drawing/2014/main" id="{358C5734-AED0-D6ED-7C7A-09FB6D88DA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1" y="99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595" name="Oval 9">
              <a:extLst>
                <a:ext uri="{FF2B5EF4-FFF2-40B4-BE49-F238E27FC236}">
                  <a16:creationId xmlns:a16="http://schemas.microsoft.com/office/drawing/2014/main" id="{60B0E826-EC61-F35A-B131-FCEC3B1CEE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1" y="214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596" name="AutoShape 11">
              <a:extLst>
                <a:ext uri="{FF2B5EF4-FFF2-40B4-BE49-F238E27FC236}">
                  <a16:creationId xmlns:a16="http://schemas.microsoft.com/office/drawing/2014/main" id="{6101D5FB-0D7B-C691-C278-B73ACDFBFD28}"/>
                </a:ext>
              </a:extLst>
            </p:cNvPr>
            <p:cNvCxnSpPr>
              <a:cxnSpLocks noChangeAspect="1" noChangeShapeType="1"/>
              <a:stCxn id="24594" idx="3"/>
              <a:endCxn id="24593" idx="7"/>
            </p:cNvCxnSpPr>
            <p:nvPr/>
          </p:nvCxnSpPr>
          <p:spPr bwMode="auto">
            <a:xfrm flipH="1">
              <a:off x="3100" y="1245"/>
              <a:ext cx="373" cy="3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7" name="AutoShape 12">
              <a:extLst>
                <a:ext uri="{FF2B5EF4-FFF2-40B4-BE49-F238E27FC236}">
                  <a16:creationId xmlns:a16="http://schemas.microsoft.com/office/drawing/2014/main" id="{49A919E0-9DF0-2D21-F4F6-8BF3C11EBC93}"/>
                </a:ext>
              </a:extLst>
            </p:cNvPr>
            <p:cNvCxnSpPr>
              <a:cxnSpLocks noChangeAspect="1" noChangeShapeType="1"/>
              <a:stCxn id="24595" idx="1"/>
              <a:endCxn id="24593" idx="5"/>
            </p:cNvCxnSpPr>
            <p:nvPr/>
          </p:nvCxnSpPr>
          <p:spPr bwMode="auto">
            <a:xfrm flipH="1" flipV="1">
              <a:off x="3100" y="1821"/>
              <a:ext cx="373" cy="3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8" name="AutoShape 13">
              <a:extLst>
                <a:ext uri="{FF2B5EF4-FFF2-40B4-BE49-F238E27FC236}">
                  <a16:creationId xmlns:a16="http://schemas.microsoft.com/office/drawing/2014/main" id="{9CE7D16C-A2F9-2EB9-2ECD-B7052D652FF7}"/>
                </a:ext>
              </a:extLst>
            </p:cNvPr>
            <p:cNvCxnSpPr>
              <a:cxnSpLocks noChangeAspect="1" noChangeShapeType="1"/>
              <a:stCxn id="24595" idx="7"/>
              <a:endCxn id="24592" idx="3"/>
            </p:cNvCxnSpPr>
            <p:nvPr/>
          </p:nvCxnSpPr>
          <p:spPr bwMode="auto">
            <a:xfrm flipV="1">
              <a:off x="3676" y="1821"/>
              <a:ext cx="373" cy="3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9" name="AutoShape 14">
              <a:extLst>
                <a:ext uri="{FF2B5EF4-FFF2-40B4-BE49-F238E27FC236}">
                  <a16:creationId xmlns:a16="http://schemas.microsoft.com/office/drawing/2014/main" id="{6B5265B1-7963-AD11-C663-3DBB1720245F}"/>
                </a:ext>
              </a:extLst>
            </p:cNvPr>
            <p:cNvCxnSpPr>
              <a:cxnSpLocks noChangeAspect="1" noChangeShapeType="1"/>
              <a:stCxn id="24594" idx="5"/>
              <a:endCxn id="24592" idx="1"/>
            </p:cNvCxnSpPr>
            <p:nvPr/>
          </p:nvCxnSpPr>
          <p:spPr bwMode="auto">
            <a:xfrm>
              <a:off x="3676" y="1245"/>
              <a:ext cx="373" cy="3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00" name="AutoShape 15">
              <a:extLst>
                <a:ext uri="{FF2B5EF4-FFF2-40B4-BE49-F238E27FC236}">
                  <a16:creationId xmlns:a16="http://schemas.microsoft.com/office/drawing/2014/main" id="{252D68D2-123E-F6D2-BAC4-8BA01E01860E}"/>
                </a:ext>
              </a:extLst>
            </p:cNvPr>
            <p:cNvCxnSpPr>
              <a:cxnSpLocks noChangeAspect="1" noChangeShapeType="1"/>
              <a:stCxn id="24594" idx="4"/>
              <a:endCxn id="24595" idx="0"/>
            </p:cNvCxnSpPr>
            <p:nvPr/>
          </p:nvCxnSpPr>
          <p:spPr bwMode="auto">
            <a:xfrm>
              <a:off x="3574" y="1287"/>
              <a:ext cx="0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01" name="Oval 32">
              <a:extLst>
                <a:ext uri="{FF2B5EF4-FFF2-40B4-BE49-F238E27FC236}">
                  <a16:creationId xmlns:a16="http://schemas.microsoft.com/office/drawing/2014/main" id="{6A263D52-4FE3-E93B-7120-2EA4E97332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92" y="157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602" name="AutoShape 33">
              <a:extLst>
                <a:ext uri="{FF2B5EF4-FFF2-40B4-BE49-F238E27FC236}">
                  <a16:creationId xmlns:a16="http://schemas.microsoft.com/office/drawing/2014/main" id="{71FF2E15-359A-9008-D9BF-464F633569D2}"/>
                </a:ext>
              </a:extLst>
            </p:cNvPr>
            <p:cNvCxnSpPr>
              <a:cxnSpLocks noChangeAspect="1" noChangeShapeType="1"/>
              <a:stCxn id="24592" idx="6"/>
              <a:endCxn id="24601" idx="2"/>
            </p:cNvCxnSpPr>
            <p:nvPr/>
          </p:nvCxnSpPr>
          <p:spPr bwMode="auto">
            <a:xfrm>
              <a:off x="4300" y="1713"/>
              <a:ext cx="68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80" name="Text Box 35">
            <a:extLst>
              <a:ext uri="{FF2B5EF4-FFF2-40B4-BE49-F238E27FC236}">
                <a16:creationId xmlns:a16="http://schemas.microsoft.com/office/drawing/2014/main" id="{A773584B-025F-E0EB-8F9A-AAB2B2E26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00" y="3048001"/>
            <a:ext cx="285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Connected graph</a:t>
            </a:r>
          </a:p>
        </p:txBody>
      </p:sp>
      <p:grpSp>
        <p:nvGrpSpPr>
          <p:cNvPr id="24581" name="Group 49">
            <a:extLst>
              <a:ext uri="{FF2B5EF4-FFF2-40B4-BE49-F238E27FC236}">
                <a16:creationId xmlns:a16="http://schemas.microsoft.com/office/drawing/2014/main" id="{EACD36FA-D1E8-9A02-FF43-9A8E3DE5139A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3651250"/>
            <a:ext cx="3081338" cy="1830388"/>
            <a:chOff x="3353" y="2543"/>
            <a:chExt cx="1941" cy="1153"/>
          </a:xfrm>
        </p:grpSpPr>
        <p:sp>
          <p:nvSpPr>
            <p:cNvPr id="24583" name="Oval 37">
              <a:extLst>
                <a:ext uri="{FF2B5EF4-FFF2-40B4-BE49-F238E27FC236}">
                  <a16:creationId xmlns:a16="http://schemas.microsoft.com/office/drawing/2014/main" id="{F15889F1-4B33-39AF-EC25-9393F6EBBF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75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584" name="Oval 38">
              <a:extLst>
                <a:ext uri="{FF2B5EF4-FFF2-40B4-BE49-F238E27FC236}">
                  <a16:creationId xmlns:a16="http://schemas.microsoft.com/office/drawing/2014/main" id="{9836E4FB-E375-1D8E-2703-823D2C75C2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3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585" name="Oval 39">
              <a:extLst>
                <a:ext uri="{FF2B5EF4-FFF2-40B4-BE49-F238E27FC236}">
                  <a16:creationId xmlns:a16="http://schemas.microsoft.com/office/drawing/2014/main" id="{33A0B368-911E-D1B9-C7FC-33133B45AF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4" y="254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586" name="Oval 40">
              <a:extLst>
                <a:ext uri="{FF2B5EF4-FFF2-40B4-BE49-F238E27FC236}">
                  <a16:creationId xmlns:a16="http://schemas.microsoft.com/office/drawing/2014/main" id="{D8E49A36-943E-4BC3-7B33-33FB715344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4" y="3465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587" name="AutoShape 41">
              <a:extLst>
                <a:ext uri="{FF2B5EF4-FFF2-40B4-BE49-F238E27FC236}">
                  <a16:creationId xmlns:a16="http://schemas.microsoft.com/office/drawing/2014/main" id="{BF35974E-6291-C422-35EC-BA9E549EB7EC}"/>
                </a:ext>
              </a:extLst>
            </p:cNvPr>
            <p:cNvCxnSpPr>
              <a:cxnSpLocks noChangeAspect="1" noChangeShapeType="1"/>
              <a:stCxn id="24585" idx="3"/>
              <a:endCxn id="24584" idx="7"/>
            </p:cNvCxnSpPr>
            <p:nvPr/>
          </p:nvCxnSpPr>
          <p:spPr bwMode="auto">
            <a:xfrm flipH="1">
              <a:off x="3549" y="274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8" name="AutoShape 42">
              <a:extLst>
                <a:ext uri="{FF2B5EF4-FFF2-40B4-BE49-F238E27FC236}">
                  <a16:creationId xmlns:a16="http://schemas.microsoft.com/office/drawing/2014/main" id="{FBB1C65C-BCBC-BF97-3CC4-D6D08C066CB4}"/>
                </a:ext>
              </a:extLst>
            </p:cNvPr>
            <p:cNvCxnSpPr>
              <a:cxnSpLocks noChangeAspect="1" noChangeShapeType="1"/>
              <a:stCxn id="24586" idx="1"/>
              <a:endCxn id="24584" idx="5"/>
            </p:cNvCxnSpPr>
            <p:nvPr/>
          </p:nvCxnSpPr>
          <p:spPr bwMode="auto">
            <a:xfrm flipH="1" flipV="1">
              <a:off x="3549" y="3205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9" name="AutoShape 45">
              <a:extLst>
                <a:ext uri="{FF2B5EF4-FFF2-40B4-BE49-F238E27FC236}">
                  <a16:creationId xmlns:a16="http://schemas.microsoft.com/office/drawing/2014/main" id="{C6CB80BB-6BCB-E196-2C48-A33CD909E1F8}"/>
                </a:ext>
              </a:extLst>
            </p:cNvPr>
            <p:cNvCxnSpPr>
              <a:cxnSpLocks noChangeAspect="1" noChangeShapeType="1"/>
              <a:stCxn id="24585" idx="4"/>
              <a:endCxn id="24586" idx="0"/>
            </p:cNvCxnSpPr>
            <p:nvPr/>
          </p:nvCxnSpPr>
          <p:spPr bwMode="auto">
            <a:xfrm>
              <a:off x="3928" y="2778"/>
              <a:ext cx="0" cy="68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0" name="Oval 46">
              <a:extLst>
                <a:ext uri="{FF2B5EF4-FFF2-40B4-BE49-F238E27FC236}">
                  <a16:creationId xmlns:a16="http://schemas.microsoft.com/office/drawing/2014/main" id="{A6EC7CD4-F252-95BE-3611-0BD5947721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63" y="300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4591" name="AutoShape 47">
              <a:extLst>
                <a:ext uri="{FF2B5EF4-FFF2-40B4-BE49-F238E27FC236}">
                  <a16:creationId xmlns:a16="http://schemas.microsoft.com/office/drawing/2014/main" id="{DD993F45-0B4D-F9AB-E55E-A598720FDB15}"/>
                </a:ext>
              </a:extLst>
            </p:cNvPr>
            <p:cNvCxnSpPr>
              <a:cxnSpLocks noChangeAspect="1" noChangeShapeType="1"/>
              <a:stCxn id="24583" idx="6"/>
              <a:endCxn id="24590" idx="2"/>
            </p:cNvCxnSpPr>
            <p:nvPr/>
          </p:nvCxnSpPr>
          <p:spPr bwMode="auto">
            <a:xfrm>
              <a:off x="4510" y="3119"/>
              <a:ext cx="54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82" name="Text Box 48">
            <a:extLst>
              <a:ext uri="{FF2B5EF4-FFF2-40B4-BE49-F238E27FC236}">
                <a16:creationId xmlns:a16="http://schemas.microsoft.com/office/drawing/2014/main" id="{BD07FCB8-854B-DE96-CBAF-18F2E32FF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5481639"/>
            <a:ext cx="36449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Non connected graph with two connected 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7BAE1B3C-4BD3-5265-3A26-E4869DFFB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Trees and Forests</a:t>
            </a:r>
          </a:p>
        </p:txBody>
      </p:sp>
      <p:sp>
        <p:nvSpPr>
          <p:cNvPr id="2560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BE66951-C5D9-2356-D239-E4BE963E31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676400"/>
            <a:ext cx="3886200" cy="4495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(free) tree is an undirected graph T such that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 is connected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 has no cycles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	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This definition of tree is different from the one of a rooted tree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US" altLang="en-US" sz="2000"/>
              <a:t>A forest is an undirected graph without cycles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Each connected components of a forest is a tree</a:t>
            </a:r>
          </a:p>
        </p:txBody>
      </p:sp>
      <p:sp>
        <p:nvSpPr>
          <p:cNvPr id="25603" name="Text Box 4">
            <a:extLst>
              <a:ext uri="{FF2B5EF4-FFF2-40B4-BE49-F238E27FC236}">
                <a16:creationId xmlns:a16="http://schemas.microsoft.com/office/drawing/2014/main" id="{A9E10DA6-C29F-AC3E-F474-6AD9538B5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0" y="3117851"/>
            <a:ext cx="285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Tree</a:t>
            </a:r>
          </a:p>
        </p:txBody>
      </p:sp>
      <p:sp>
        <p:nvSpPr>
          <p:cNvPr id="25604" name="Text Box 5">
            <a:extLst>
              <a:ext uri="{FF2B5EF4-FFF2-40B4-BE49-F238E27FC236}">
                <a16:creationId xmlns:a16="http://schemas.microsoft.com/office/drawing/2014/main" id="{430D8EB5-EA5D-3BEF-CF33-6CFC630D0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5699126"/>
            <a:ext cx="3644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Forest</a:t>
            </a:r>
          </a:p>
        </p:txBody>
      </p:sp>
      <p:sp>
        <p:nvSpPr>
          <p:cNvPr id="25605" name="Oval 6">
            <a:extLst>
              <a:ext uri="{FF2B5EF4-FFF2-40B4-BE49-F238E27FC236}">
                <a16:creationId xmlns:a16="http://schemas.microsoft.com/office/drawing/2014/main" id="{D9F72D59-69E0-4807-CF8B-4AF2281588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93201" y="195103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6" name="Oval 7">
            <a:extLst>
              <a:ext uri="{FF2B5EF4-FFF2-40B4-BE49-F238E27FC236}">
                <a16:creationId xmlns:a16="http://schemas.microsoft.com/office/drawing/2014/main" id="{C447F397-DFA1-C805-3988-CBF327DA7C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83563" y="19526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7" name="Oval 8">
            <a:extLst>
              <a:ext uri="{FF2B5EF4-FFF2-40B4-BE49-F238E27FC236}">
                <a16:creationId xmlns:a16="http://schemas.microsoft.com/office/drawing/2014/main" id="{98E16D7E-E552-82CA-F99A-6DC4C68B99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04088" y="194627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8" name="Oval 9">
            <a:extLst>
              <a:ext uri="{FF2B5EF4-FFF2-40B4-BE49-F238E27FC236}">
                <a16:creationId xmlns:a16="http://schemas.microsoft.com/office/drawing/2014/main" id="{55569351-7F61-8BB9-BE3D-30CB2D0831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88326" y="2682876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09" name="AutoShape 10">
            <a:extLst>
              <a:ext uri="{FF2B5EF4-FFF2-40B4-BE49-F238E27FC236}">
                <a16:creationId xmlns:a16="http://schemas.microsoft.com/office/drawing/2014/main" id="{E9A5F153-A4FD-628D-F06C-1348A2890ACB}"/>
              </a:ext>
            </a:extLst>
          </p:cNvPr>
          <p:cNvCxnSpPr>
            <a:cxnSpLocks noChangeAspect="1" noChangeShapeType="1"/>
            <a:stCxn id="25607" idx="6"/>
            <a:endCxn id="25606" idx="2"/>
          </p:cNvCxnSpPr>
          <p:nvPr/>
        </p:nvCxnSpPr>
        <p:spPr bwMode="auto">
          <a:xfrm>
            <a:off x="7678738" y="2128838"/>
            <a:ext cx="493712" cy="6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AutoShape 11">
            <a:extLst>
              <a:ext uri="{FF2B5EF4-FFF2-40B4-BE49-F238E27FC236}">
                <a16:creationId xmlns:a16="http://schemas.microsoft.com/office/drawing/2014/main" id="{D6505249-8BA3-E0A0-CF58-26F6BF707F2E}"/>
              </a:ext>
            </a:extLst>
          </p:cNvPr>
          <p:cNvCxnSpPr>
            <a:cxnSpLocks noChangeAspect="1" noChangeShapeType="1"/>
            <a:stCxn id="25608" idx="0"/>
            <a:endCxn id="25606" idx="4"/>
          </p:cNvCxnSpPr>
          <p:nvPr/>
        </p:nvCxnSpPr>
        <p:spPr bwMode="auto">
          <a:xfrm flipH="1" flipV="1">
            <a:off x="8366126" y="2327275"/>
            <a:ext cx="4763" cy="3444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1" name="Oval 15">
            <a:extLst>
              <a:ext uri="{FF2B5EF4-FFF2-40B4-BE49-F238E27FC236}">
                <a16:creationId xmlns:a16="http://schemas.microsoft.com/office/drawing/2014/main" id="{A65D6C7D-1827-23BB-D98B-7F4BCDF213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93201" y="2681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12" name="AutoShape 16">
            <a:extLst>
              <a:ext uri="{FF2B5EF4-FFF2-40B4-BE49-F238E27FC236}">
                <a16:creationId xmlns:a16="http://schemas.microsoft.com/office/drawing/2014/main" id="{EB9CCF6A-0513-9B3E-DD46-5D1A94FB8174}"/>
              </a:ext>
            </a:extLst>
          </p:cNvPr>
          <p:cNvCxnSpPr>
            <a:cxnSpLocks noChangeAspect="1" noChangeShapeType="1"/>
            <a:stCxn id="25605" idx="2"/>
            <a:endCxn id="25606" idx="6"/>
          </p:cNvCxnSpPr>
          <p:nvPr/>
        </p:nvCxnSpPr>
        <p:spPr bwMode="auto">
          <a:xfrm flipH="1">
            <a:off x="8558214" y="2133600"/>
            <a:ext cx="523875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3" name="AutoShape 17">
            <a:extLst>
              <a:ext uri="{FF2B5EF4-FFF2-40B4-BE49-F238E27FC236}">
                <a16:creationId xmlns:a16="http://schemas.microsoft.com/office/drawing/2014/main" id="{465054AE-AFEE-A1CA-12E8-B93F703A247D}"/>
              </a:ext>
            </a:extLst>
          </p:cNvPr>
          <p:cNvCxnSpPr>
            <a:cxnSpLocks noChangeAspect="1" noChangeShapeType="1"/>
            <a:stCxn id="25608" idx="6"/>
            <a:endCxn id="25611" idx="2"/>
          </p:cNvCxnSpPr>
          <p:nvPr/>
        </p:nvCxnSpPr>
        <p:spPr bwMode="auto">
          <a:xfrm flipV="1">
            <a:off x="8562976" y="2863850"/>
            <a:ext cx="519113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614" name="Group 51">
            <a:extLst>
              <a:ext uri="{FF2B5EF4-FFF2-40B4-BE49-F238E27FC236}">
                <a16:creationId xmlns:a16="http://schemas.microsoft.com/office/drawing/2014/main" id="{974D38BF-B5F2-6F67-E211-441E952B9B7E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368800"/>
            <a:ext cx="3657600" cy="1098550"/>
            <a:chOff x="3168" y="2752"/>
            <a:chExt cx="2304" cy="692"/>
          </a:xfrm>
        </p:grpSpPr>
        <p:sp>
          <p:nvSpPr>
            <p:cNvPr id="25615" name="Oval 34">
              <a:extLst>
                <a:ext uri="{FF2B5EF4-FFF2-40B4-BE49-F238E27FC236}">
                  <a16:creationId xmlns:a16="http://schemas.microsoft.com/office/drawing/2014/main" id="{032775DA-E5A7-D534-08B3-7E00A433D3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68" y="2982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25616" name="Group 50">
              <a:extLst>
                <a:ext uri="{FF2B5EF4-FFF2-40B4-BE49-F238E27FC236}">
                  <a16:creationId xmlns:a16="http://schemas.microsoft.com/office/drawing/2014/main" id="{C84233D0-0BB7-2D0D-C590-9BB7717500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1" y="2752"/>
              <a:ext cx="685" cy="692"/>
              <a:chOff x="3722" y="2755"/>
              <a:chExt cx="685" cy="692"/>
            </a:xfrm>
          </p:grpSpPr>
          <p:sp>
            <p:nvSpPr>
              <p:cNvPr id="25625" name="Oval 32">
                <a:extLst>
                  <a:ext uri="{FF2B5EF4-FFF2-40B4-BE49-F238E27FC236}">
                    <a16:creationId xmlns:a16="http://schemas.microsoft.com/office/drawing/2014/main" id="{49EBB181-5B93-0D41-694D-08237F0CA9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76" y="275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626" name="Oval 33">
                <a:extLst>
                  <a:ext uri="{FF2B5EF4-FFF2-40B4-BE49-F238E27FC236}">
                    <a16:creationId xmlns:a16="http://schemas.microsoft.com/office/drawing/2014/main" id="{6298367E-D08F-D383-1892-5F3F54ECD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22" y="275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627" name="Oval 35">
                <a:extLst>
                  <a:ext uri="{FF2B5EF4-FFF2-40B4-BE49-F238E27FC236}">
                    <a16:creationId xmlns:a16="http://schemas.microsoft.com/office/drawing/2014/main" id="{57CFB141-349B-7590-03AB-7160F38405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25" y="321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5628" name="AutoShape 37">
                <a:extLst>
                  <a:ext uri="{FF2B5EF4-FFF2-40B4-BE49-F238E27FC236}">
                    <a16:creationId xmlns:a16="http://schemas.microsoft.com/office/drawing/2014/main" id="{994FF00F-B59E-E1DD-4297-EB7EE1F4EB1A}"/>
                  </a:ext>
                </a:extLst>
              </p:cNvPr>
              <p:cNvCxnSpPr>
                <a:cxnSpLocks noChangeAspect="1" noChangeShapeType="1"/>
                <a:stCxn id="25627" idx="0"/>
                <a:endCxn id="25626" idx="4"/>
              </p:cNvCxnSpPr>
              <p:nvPr/>
            </p:nvCxnSpPr>
            <p:spPr bwMode="auto">
              <a:xfrm flipH="1" flipV="1">
                <a:off x="3837" y="2992"/>
                <a:ext cx="3" cy="2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5629" name="Oval 38">
                <a:extLst>
                  <a:ext uri="{FF2B5EF4-FFF2-40B4-BE49-F238E27FC236}">
                    <a16:creationId xmlns:a16="http://schemas.microsoft.com/office/drawing/2014/main" id="{0E1D7FA9-49DB-243E-B10D-C2EBC3EF87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76" y="321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5630" name="AutoShape 39">
                <a:extLst>
                  <a:ext uri="{FF2B5EF4-FFF2-40B4-BE49-F238E27FC236}">
                    <a16:creationId xmlns:a16="http://schemas.microsoft.com/office/drawing/2014/main" id="{39CB29AF-A8ED-262E-2292-4C11ADF970AA}"/>
                  </a:ext>
                </a:extLst>
              </p:cNvPr>
              <p:cNvCxnSpPr>
                <a:cxnSpLocks noChangeAspect="1" noChangeShapeType="1"/>
                <a:stCxn id="25625" idx="2"/>
                <a:endCxn id="25626" idx="6"/>
              </p:cNvCxnSpPr>
              <p:nvPr/>
            </p:nvCxnSpPr>
            <p:spPr bwMode="auto">
              <a:xfrm flipH="1">
                <a:off x="3958" y="2870"/>
                <a:ext cx="211" cy="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31" name="AutoShape 40">
                <a:extLst>
                  <a:ext uri="{FF2B5EF4-FFF2-40B4-BE49-F238E27FC236}">
                    <a16:creationId xmlns:a16="http://schemas.microsoft.com/office/drawing/2014/main" id="{48FF5256-2D04-8DB9-B127-DF6CAB747A48}"/>
                  </a:ext>
                </a:extLst>
              </p:cNvPr>
              <p:cNvCxnSpPr>
                <a:cxnSpLocks noChangeAspect="1" noChangeShapeType="1"/>
                <a:stCxn id="25627" idx="6"/>
                <a:endCxn id="25629" idx="2"/>
              </p:cNvCxnSpPr>
              <p:nvPr/>
            </p:nvCxnSpPr>
            <p:spPr bwMode="auto">
              <a:xfrm flipV="1">
                <a:off x="3961" y="3330"/>
                <a:ext cx="208" cy="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5617" name="Group 49">
              <a:extLst>
                <a:ext uri="{FF2B5EF4-FFF2-40B4-BE49-F238E27FC236}">
                  <a16:creationId xmlns:a16="http://schemas.microsoft.com/office/drawing/2014/main" id="{E3728860-B694-0196-5BD8-10DAD7AACE4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68" y="2752"/>
              <a:ext cx="804" cy="692"/>
              <a:chOff x="4668" y="2755"/>
              <a:chExt cx="804" cy="692"/>
            </a:xfrm>
          </p:grpSpPr>
          <p:sp>
            <p:nvSpPr>
              <p:cNvPr id="25618" name="Oval 41">
                <a:extLst>
                  <a:ext uri="{FF2B5EF4-FFF2-40B4-BE49-F238E27FC236}">
                    <a16:creationId xmlns:a16="http://schemas.microsoft.com/office/drawing/2014/main" id="{82CECC75-71D1-6832-BBD1-DBED29E618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41" y="2755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619" name="Oval 42">
                <a:extLst>
                  <a:ext uri="{FF2B5EF4-FFF2-40B4-BE49-F238E27FC236}">
                    <a16:creationId xmlns:a16="http://schemas.microsoft.com/office/drawing/2014/main" id="{62E0465F-8A09-7B28-3E36-CB90FB4F3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68" y="275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620" name="Oval 43">
                <a:extLst>
                  <a:ext uri="{FF2B5EF4-FFF2-40B4-BE49-F238E27FC236}">
                    <a16:creationId xmlns:a16="http://schemas.microsoft.com/office/drawing/2014/main" id="{52A74E59-0D9D-ECAC-7775-90CCACC06E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1" y="3216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621" name="Oval 44">
                <a:extLst>
                  <a:ext uri="{FF2B5EF4-FFF2-40B4-BE49-F238E27FC236}">
                    <a16:creationId xmlns:a16="http://schemas.microsoft.com/office/drawing/2014/main" id="{DDCE65AE-C632-0B3D-4CC2-89FCCE80CD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56" y="3024"/>
                <a:ext cx="231" cy="23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5622" name="AutoShape 46">
                <a:extLst>
                  <a:ext uri="{FF2B5EF4-FFF2-40B4-BE49-F238E27FC236}">
                    <a16:creationId xmlns:a16="http://schemas.microsoft.com/office/drawing/2014/main" id="{9AB74E57-F499-979F-97CC-C7915ED89B0B}"/>
                  </a:ext>
                </a:extLst>
              </p:cNvPr>
              <p:cNvCxnSpPr>
                <a:cxnSpLocks noChangeAspect="1" noChangeShapeType="1"/>
                <a:stCxn id="25621" idx="1"/>
                <a:endCxn id="25619" idx="5"/>
              </p:cNvCxnSpPr>
              <p:nvPr/>
            </p:nvCxnSpPr>
            <p:spPr bwMode="auto">
              <a:xfrm flipH="1" flipV="1">
                <a:off x="4865" y="2959"/>
                <a:ext cx="124" cy="9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23" name="AutoShape 47">
                <a:extLst>
                  <a:ext uri="{FF2B5EF4-FFF2-40B4-BE49-F238E27FC236}">
                    <a16:creationId xmlns:a16="http://schemas.microsoft.com/office/drawing/2014/main" id="{5619389B-58BE-275C-F757-9CD621F28500}"/>
                  </a:ext>
                </a:extLst>
              </p:cNvPr>
              <p:cNvCxnSpPr>
                <a:cxnSpLocks noChangeAspect="1" noChangeShapeType="1"/>
                <a:stCxn id="25620" idx="0"/>
                <a:endCxn id="25619" idx="4"/>
              </p:cNvCxnSpPr>
              <p:nvPr/>
            </p:nvCxnSpPr>
            <p:spPr bwMode="auto">
              <a:xfrm flipH="1" flipV="1">
                <a:off x="4783" y="2992"/>
                <a:ext cx="3" cy="217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624" name="AutoShape 48">
                <a:extLst>
                  <a:ext uri="{FF2B5EF4-FFF2-40B4-BE49-F238E27FC236}">
                    <a16:creationId xmlns:a16="http://schemas.microsoft.com/office/drawing/2014/main" id="{679D5EB6-E2E4-E6E8-13E0-15F278FB4F59}"/>
                  </a:ext>
                </a:extLst>
              </p:cNvPr>
              <p:cNvCxnSpPr>
                <a:cxnSpLocks noChangeAspect="1" noChangeShapeType="1"/>
                <a:stCxn id="25618" idx="2"/>
                <a:endCxn id="25619" idx="6"/>
              </p:cNvCxnSpPr>
              <p:nvPr/>
            </p:nvCxnSpPr>
            <p:spPr bwMode="auto">
              <a:xfrm flipH="1">
                <a:off x="4904" y="2870"/>
                <a:ext cx="330" cy="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099E78E-A60F-36CD-E0BC-F7425700A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Spanning Trees and Forests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23A792E-DA9B-350F-ED1F-F04CF9F39F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4038600" cy="42433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spanning tree of a connected graph is a spanning subgraph that is a tree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 spanning tree is not unique unless the graph is a tree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Spanning trees have applications to the design of communication networks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 spanning forest of a graph is a spanning subgraph that is a forest</a:t>
            </a:r>
          </a:p>
        </p:txBody>
      </p:sp>
      <p:sp>
        <p:nvSpPr>
          <p:cNvPr id="26627" name="Text Box 4">
            <a:extLst>
              <a:ext uri="{FF2B5EF4-FFF2-40B4-BE49-F238E27FC236}">
                <a16:creationId xmlns:a16="http://schemas.microsoft.com/office/drawing/2014/main" id="{E957FD6A-3E19-C58F-6221-0898C2D20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00" y="3355976"/>
            <a:ext cx="2857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Graph</a:t>
            </a:r>
          </a:p>
        </p:txBody>
      </p:sp>
      <p:sp>
        <p:nvSpPr>
          <p:cNvPr id="26628" name="Text Box 5">
            <a:extLst>
              <a:ext uri="{FF2B5EF4-FFF2-40B4-BE49-F238E27FC236}">
                <a16:creationId xmlns:a16="http://schemas.microsoft.com/office/drawing/2014/main" id="{D6C4B8AE-FE25-83A4-9ED8-41E92041F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5937251"/>
            <a:ext cx="3644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Spanning tree</a:t>
            </a:r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56AD78C7-CDD1-3610-6B5F-3FE81B0E27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12151" y="218916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C3894CF9-BD89-D657-0744-3E0FEDD195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48476" y="218916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1" name="Oval 8">
            <a:extLst>
              <a:ext uri="{FF2B5EF4-FFF2-40B4-BE49-F238E27FC236}">
                <a16:creationId xmlns:a16="http://schemas.microsoft.com/office/drawing/2014/main" id="{B6825711-6288-DB50-CF62-D0EBCC99EB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0313" y="14573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2" name="Oval 9">
            <a:extLst>
              <a:ext uri="{FF2B5EF4-FFF2-40B4-BE49-F238E27FC236}">
                <a16:creationId xmlns:a16="http://schemas.microsoft.com/office/drawing/2014/main" id="{E8258ACE-08E3-8FEF-81B8-35E515CB44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80313" y="29210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33" name="AutoShape 10">
            <a:extLst>
              <a:ext uri="{FF2B5EF4-FFF2-40B4-BE49-F238E27FC236}">
                <a16:creationId xmlns:a16="http://schemas.microsoft.com/office/drawing/2014/main" id="{E3308352-01C3-589C-CC9F-F88DF906372E}"/>
              </a:ext>
            </a:extLst>
          </p:cNvPr>
          <p:cNvCxnSpPr>
            <a:cxnSpLocks noChangeAspect="1" noChangeShapeType="1"/>
            <a:stCxn id="26631" idx="3"/>
            <a:endCxn id="26630" idx="7"/>
          </p:cNvCxnSpPr>
          <p:nvPr/>
        </p:nvCxnSpPr>
        <p:spPr bwMode="auto">
          <a:xfrm flipH="1">
            <a:off x="7159626" y="1776414"/>
            <a:ext cx="474663" cy="4587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4" name="AutoShape 11">
            <a:extLst>
              <a:ext uri="{FF2B5EF4-FFF2-40B4-BE49-F238E27FC236}">
                <a16:creationId xmlns:a16="http://schemas.microsoft.com/office/drawing/2014/main" id="{D6F9F6F1-857B-38E7-1567-8889D3CE05DF}"/>
              </a:ext>
            </a:extLst>
          </p:cNvPr>
          <p:cNvCxnSpPr>
            <a:cxnSpLocks noChangeAspect="1" noChangeShapeType="1"/>
            <a:stCxn id="26632" idx="1"/>
            <a:endCxn id="26630" idx="5"/>
          </p:cNvCxnSpPr>
          <p:nvPr/>
        </p:nvCxnSpPr>
        <p:spPr bwMode="auto">
          <a:xfrm flipH="1" flipV="1">
            <a:off x="7159626" y="2508250"/>
            <a:ext cx="474663" cy="4587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5" name="AutoShape 12">
            <a:extLst>
              <a:ext uri="{FF2B5EF4-FFF2-40B4-BE49-F238E27FC236}">
                <a16:creationId xmlns:a16="http://schemas.microsoft.com/office/drawing/2014/main" id="{F087B081-3D44-3E85-05B0-3AAE66D5398A}"/>
              </a:ext>
            </a:extLst>
          </p:cNvPr>
          <p:cNvCxnSpPr>
            <a:cxnSpLocks noChangeAspect="1" noChangeShapeType="1"/>
            <a:stCxn id="26632" idx="7"/>
            <a:endCxn id="26629" idx="3"/>
          </p:cNvCxnSpPr>
          <p:nvPr/>
        </p:nvCxnSpPr>
        <p:spPr bwMode="auto">
          <a:xfrm flipV="1">
            <a:off x="7891463" y="2508250"/>
            <a:ext cx="474662" cy="4587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AutoShape 13">
            <a:extLst>
              <a:ext uri="{FF2B5EF4-FFF2-40B4-BE49-F238E27FC236}">
                <a16:creationId xmlns:a16="http://schemas.microsoft.com/office/drawing/2014/main" id="{9C020B40-BE7B-1061-C2CD-C27340CCFAA1}"/>
              </a:ext>
            </a:extLst>
          </p:cNvPr>
          <p:cNvCxnSpPr>
            <a:cxnSpLocks noChangeAspect="1" noChangeShapeType="1"/>
            <a:stCxn id="26631" idx="5"/>
            <a:endCxn id="26629" idx="1"/>
          </p:cNvCxnSpPr>
          <p:nvPr/>
        </p:nvCxnSpPr>
        <p:spPr bwMode="auto">
          <a:xfrm>
            <a:off x="7891463" y="1776414"/>
            <a:ext cx="474662" cy="4587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4">
            <a:extLst>
              <a:ext uri="{FF2B5EF4-FFF2-40B4-BE49-F238E27FC236}">
                <a16:creationId xmlns:a16="http://schemas.microsoft.com/office/drawing/2014/main" id="{E02BA74B-2DB5-DC61-551A-191A00E7048B}"/>
              </a:ext>
            </a:extLst>
          </p:cNvPr>
          <p:cNvCxnSpPr>
            <a:cxnSpLocks noChangeAspect="1" noChangeShapeType="1"/>
            <a:stCxn id="26631" idx="4"/>
            <a:endCxn id="26632" idx="0"/>
          </p:cNvCxnSpPr>
          <p:nvPr/>
        </p:nvCxnSpPr>
        <p:spPr bwMode="auto">
          <a:xfrm>
            <a:off x="7761288" y="1830389"/>
            <a:ext cx="0" cy="1082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8" name="Oval 15">
            <a:extLst>
              <a:ext uri="{FF2B5EF4-FFF2-40B4-BE49-F238E27FC236}">
                <a16:creationId xmlns:a16="http://schemas.microsoft.com/office/drawing/2014/main" id="{BCC3B358-51FC-8727-239E-09F0BAC1B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63101" y="218916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39" name="AutoShape 16">
            <a:extLst>
              <a:ext uri="{FF2B5EF4-FFF2-40B4-BE49-F238E27FC236}">
                <a16:creationId xmlns:a16="http://schemas.microsoft.com/office/drawing/2014/main" id="{BB751DD7-AFC7-E9DE-CF08-73BDACF97BCF}"/>
              </a:ext>
            </a:extLst>
          </p:cNvPr>
          <p:cNvCxnSpPr>
            <a:cxnSpLocks noChangeAspect="1" noChangeShapeType="1"/>
            <a:stCxn id="26629" idx="6"/>
            <a:endCxn id="26638" idx="2"/>
          </p:cNvCxnSpPr>
          <p:nvPr/>
        </p:nvCxnSpPr>
        <p:spPr bwMode="auto">
          <a:xfrm>
            <a:off x="8685213" y="2371725"/>
            <a:ext cx="869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7">
            <a:extLst>
              <a:ext uri="{FF2B5EF4-FFF2-40B4-BE49-F238E27FC236}">
                <a16:creationId xmlns:a16="http://schemas.microsoft.com/office/drawing/2014/main" id="{C2EAF97B-7897-C7F2-9DA6-E3478A44494D}"/>
              </a:ext>
            </a:extLst>
          </p:cNvPr>
          <p:cNvCxnSpPr>
            <a:cxnSpLocks noChangeAspect="1" noChangeShapeType="1"/>
            <a:stCxn id="26632" idx="6"/>
            <a:endCxn id="26638" idx="3"/>
          </p:cNvCxnSpPr>
          <p:nvPr/>
        </p:nvCxnSpPr>
        <p:spPr bwMode="auto">
          <a:xfrm flipV="1">
            <a:off x="7954964" y="2511425"/>
            <a:ext cx="16605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8">
            <a:extLst>
              <a:ext uri="{FF2B5EF4-FFF2-40B4-BE49-F238E27FC236}">
                <a16:creationId xmlns:a16="http://schemas.microsoft.com/office/drawing/2014/main" id="{C092EB21-7D6B-73D3-7D45-50C885058F42}"/>
              </a:ext>
            </a:extLst>
          </p:cNvPr>
          <p:cNvCxnSpPr>
            <a:cxnSpLocks noChangeAspect="1" noChangeShapeType="1"/>
            <a:stCxn id="26638" idx="1"/>
            <a:endCxn id="26631" idx="6"/>
          </p:cNvCxnSpPr>
          <p:nvPr/>
        </p:nvCxnSpPr>
        <p:spPr bwMode="auto">
          <a:xfrm flipH="1" flipV="1">
            <a:off x="7954964" y="1639889"/>
            <a:ext cx="1660525" cy="5921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2" name="Oval 19">
            <a:extLst>
              <a:ext uri="{FF2B5EF4-FFF2-40B4-BE49-F238E27FC236}">
                <a16:creationId xmlns:a16="http://schemas.microsoft.com/office/drawing/2014/main" id="{CF3EA8BE-1B14-85E2-7509-8AD17200D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10563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3" name="Oval 20">
            <a:extLst>
              <a:ext uri="{FF2B5EF4-FFF2-40B4-BE49-F238E27FC236}">
                <a16:creationId xmlns:a16="http://schemas.microsoft.com/office/drawing/2014/main" id="{82E392A8-325E-50CC-1929-E0860BECD1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46888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4" name="Oval 21">
            <a:extLst>
              <a:ext uri="{FF2B5EF4-FFF2-40B4-BE49-F238E27FC236}">
                <a16:creationId xmlns:a16="http://schemas.microsoft.com/office/drawing/2014/main" id="{D43D29D5-3207-0665-FF60-73EF3B084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8726" y="4038601"/>
            <a:ext cx="366713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5" name="Oval 22">
            <a:extLst>
              <a:ext uri="{FF2B5EF4-FFF2-40B4-BE49-F238E27FC236}">
                <a16:creationId xmlns:a16="http://schemas.microsoft.com/office/drawing/2014/main" id="{3D61408D-A7F9-576A-B65B-A71EF4243B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8726" y="5502276"/>
            <a:ext cx="366713" cy="366713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46" name="AutoShape 23">
            <a:extLst>
              <a:ext uri="{FF2B5EF4-FFF2-40B4-BE49-F238E27FC236}">
                <a16:creationId xmlns:a16="http://schemas.microsoft.com/office/drawing/2014/main" id="{3D6E9130-34BA-35AE-2F99-004C023204BA}"/>
              </a:ext>
            </a:extLst>
          </p:cNvPr>
          <p:cNvCxnSpPr>
            <a:cxnSpLocks noChangeAspect="1" noChangeShapeType="1"/>
            <a:stCxn id="26644" idx="3"/>
            <a:endCxn id="26643" idx="7"/>
          </p:cNvCxnSpPr>
          <p:nvPr/>
        </p:nvCxnSpPr>
        <p:spPr bwMode="auto">
          <a:xfrm flipH="1">
            <a:off x="7158038" y="4357689"/>
            <a:ext cx="474662" cy="45878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7" name="AutoShape 24">
            <a:extLst>
              <a:ext uri="{FF2B5EF4-FFF2-40B4-BE49-F238E27FC236}">
                <a16:creationId xmlns:a16="http://schemas.microsoft.com/office/drawing/2014/main" id="{DEEFB54A-D823-DE74-82C3-CE78C34F1C36}"/>
              </a:ext>
            </a:extLst>
          </p:cNvPr>
          <p:cNvCxnSpPr>
            <a:cxnSpLocks noChangeAspect="1" noChangeShapeType="1"/>
            <a:stCxn id="26645" idx="1"/>
            <a:endCxn id="26643" idx="5"/>
          </p:cNvCxnSpPr>
          <p:nvPr/>
        </p:nvCxnSpPr>
        <p:spPr bwMode="auto">
          <a:xfrm flipH="1" flipV="1">
            <a:off x="7158038" y="5089525"/>
            <a:ext cx="474662" cy="45878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8" name="AutoShape 25">
            <a:extLst>
              <a:ext uri="{FF2B5EF4-FFF2-40B4-BE49-F238E27FC236}">
                <a16:creationId xmlns:a16="http://schemas.microsoft.com/office/drawing/2014/main" id="{B6EC2BB4-AF7C-91C9-3EEE-0E6B4CBDCC7B}"/>
              </a:ext>
            </a:extLst>
          </p:cNvPr>
          <p:cNvCxnSpPr>
            <a:cxnSpLocks noChangeAspect="1" noChangeShapeType="1"/>
            <a:stCxn id="26645" idx="7"/>
            <a:endCxn id="26642" idx="3"/>
          </p:cNvCxnSpPr>
          <p:nvPr/>
        </p:nvCxnSpPr>
        <p:spPr bwMode="auto">
          <a:xfrm flipV="1">
            <a:off x="7889876" y="5089525"/>
            <a:ext cx="474663" cy="458788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9" name="AutoShape 26">
            <a:extLst>
              <a:ext uri="{FF2B5EF4-FFF2-40B4-BE49-F238E27FC236}">
                <a16:creationId xmlns:a16="http://schemas.microsoft.com/office/drawing/2014/main" id="{DDCA41BC-F04E-C710-C5F8-F64A3C1F7FE8}"/>
              </a:ext>
            </a:extLst>
          </p:cNvPr>
          <p:cNvCxnSpPr>
            <a:cxnSpLocks noChangeAspect="1" noChangeShapeType="1"/>
            <a:stCxn id="26644" idx="5"/>
            <a:endCxn id="26642" idx="1"/>
          </p:cNvCxnSpPr>
          <p:nvPr/>
        </p:nvCxnSpPr>
        <p:spPr bwMode="auto">
          <a:xfrm>
            <a:off x="7889876" y="4357689"/>
            <a:ext cx="474663" cy="458787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7">
            <a:extLst>
              <a:ext uri="{FF2B5EF4-FFF2-40B4-BE49-F238E27FC236}">
                <a16:creationId xmlns:a16="http://schemas.microsoft.com/office/drawing/2014/main" id="{B3655219-8C11-6B35-A007-981C985BFE94}"/>
              </a:ext>
            </a:extLst>
          </p:cNvPr>
          <p:cNvCxnSpPr>
            <a:cxnSpLocks noChangeAspect="1" noChangeShapeType="1"/>
            <a:stCxn id="26644" idx="4"/>
            <a:endCxn id="26645" idx="0"/>
          </p:cNvCxnSpPr>
          <p:nvPr/>
        </p:nvCxnSpPr>
        <p:spPr bwMode="auto">
          <a:xfrm>
            <a:off x="7759700" y="4411664"/>
            <a:ext cx="0" cy="108267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51" name="Oval 28">
            <a:extLst>
              <a:ext uri="{FF2B5EF4-FFF2-40B4-BE49-F238E27FC236}">
                <a16:creationId xmlns:a16="http://schemas.microsoft.com/office/drawing/2014/main" id="{9D380892-01A0-FDDB-F442-0B0918B7FE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61513" y="4770438"/>
            <a:ext cx="366712" cy="366712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52" name="AutoShape 29">
            <a:extLst>
              <a:ext uri="{FF2B5EF4-FFF2-40B4-BE49-F238E27FC236}">
                <a16:creationId xmlns:a16="http://schemas.microsoft.com/office/drawing/2014/main" id="{A95FDAB1-A686-3973-3FB3-105BDB66B645}"/>
              </a:ext>
            </a:extLst>
          </p:cNvPr>
          <p:cNvCxnSpPr>
            <a:cxnSpLocks noChangeAspect="1" noChangeShapeType="1"/>
            <a:stCxn id="26642" idx="6"/>
            <a:endCxn id="26651" idx="2"/>
          </p:cNvCxnSpPr>
          <p:nvPr/>
        </p:nvCxnSpPr>
        <p:spPr bwMode="auto">
          <a:xfrm>
            <a:off x="8683625" y="4953000"/>
            <a:ext cx="869950" cy="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3" name="AutoShape 30">
            <a:extLst>
              <a:ext uri="{FF2B5EF4-FFF2-40B4-BE49-F238E27FC236}">
                <a16:creationId xmlns:a16="http://schemas.microsoft.com/office/drawing/2014/main" id="{4023CCFD-9F2E-E3EB-791F-395FA970EDE6}"/>
              </a:ext>
            </a:extLst>
          </p:cNvPr>
          <p:cNvCxnSpPr>
            <a:cxnSpLocks noChangeAspect="1" noChangeShapeType="1"/>
            <a:stCxn id="26645" idx="6"/>
            <a:endCxn id="26651" idx="3"/>
          </p:cNvCxnSpPr>
          <p:nvPr/>
        </p:nvCxnSpPr>
        <p:spPr bwMode="auto">
          <a:xfrm flipV="1">
            <a:off x="7953376" y="5092700"/>
            <a:ext cx="16605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4" name="AutoShape 31">
            <a:extLst>
              <a:ext uri="{FF2B5EF4-FFF2-40B4-BE49-F238E27FC236}">
                <a16:creationId xmlns:a16="http://schemas.microsoft.com/office/drawing/2014/main" id="{CFF79A6B-3A05-17BB-0712-15D7EF924E9F}"/>
              </a:ext>
            </a:extLst>
          </p:cNvPr>
          <p:cNvCxnSpPr>
            <a:cxnSpLocks noChangeAspect="1" noChangeShapeType="1"/>
            <a:stCxn id="26651" idx="1"/>
            <a:endCxn id="26644" idx="6"/>
          </p:cNvCxnSpPr>
          <p:nvPr/>
        </p:nvCxnSpPr>
        <p:spPr bwMode="auto">
          <a:xfrm flipH="1" flipV="1">
            <a:off x="7953376" y="4221164"/>
            <a:ext cx="1660525" cy="592137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15D978A-896A-53FF-7ABF-C8348E4E8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Summary: Subgraphs and Trees</a:t>
            </a:r>
          </a:p>
        </p:txBody>
      </p:sp>
      <p:sp>
        <p:nvSpPr>
          <p:cNvPr id="2765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8D9EF6E-EF11-0750-D413-A82324E1F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143000"/>
            <a:ext cx="4191000" cy="5257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/>
              <a:t>Subgraph</a:t>
            </a:r>
          </a:p>
          <a:p>
            <a:pPr lvl="1" eaLnBrk="1" hangingPunct="1"/>
            <a:r>
              <a:rPr lang="en-US" altLang="en-US" sz="1800"/>
              <a:t>Subsets of vertices and edges</a:t>
            </a:r>
          </a:p>
          <a:p>
            <a:pPr lvl="1" eaLnBrk="1" hangingPunct="1"/>
            <a:r>
              <a:rPr lang="en-US" altLang="en-US" sz="1800" i="1"/>
              <a:t>Spanning subgraph (</a:t>
            </a:r>
            <a:r>
              <a:rPr lang="en-US" altLang="en-US" sz="1800"/>
              <a:t>a subgraph that contains all the vertices of the original graph)</a:t>
            </a:r>
            <a:endParaRPr lang="en-US" altLang="en-US" sz="1800" i="1"/>
          </a:p>
          <a:p>
            <a:pPr eaLnBrk="1" hangingPunct="1"/>
            <a:r>
              <a:rPr lang="en-US" altLang="en-US" sz="2000"/>
              <a:t>Connected Graph </a:t>
            </a:r>
          </a:p>
          <a:p>
            <a:pPr lvl="1" eaLnBrk="1" hangingPunct="1"/>
            <a:r>
              <a:rPr lang="en-US" altLang="en-US" sz="1800"/>
              <a:t>There is a path between any two vertices</a:t>
            </a:r>
          </a:p>
          <a:p>
            <a:pPr lvl="1" eaLnBrk="1" hangingPunct="1"/>
            <a:r>
              <a:rPr lang="en-US" altLang="en-US" sz="1800" i="1"/>
              <a:t>Connected components</a:t>
            </a:r>
          </a:p>
          <a:p>
            <a:pPr eaLnBrk="1" hangingPunct="1"/>
            <a:r>
              <a:rPr lang="en-US" altLang="en-US" sz="2000"/>
              <a:t>Tree (free tree, no root)</a:t>
            </a:r>
          </a:p>
          <a:p>
            <a:pPr lvl="1" eaLnBrk="1" hangingPunct="1"/>
            <a:r>
              <a:rPr lang="en-US" altLang="en-US" sz="1800"/>
              <a:t>Connected graph without circles</a:t>
            </a:r>
          </a:p>
          <a:p>
            <a:pPr eaLnBrk="1" hangingPunct="1"/>
            <a:r>
              <a:rPr lang="en-US" altLang="en-US" sz="2000"/>
              <a:t>Forest</a:t>
            </a:r>
          </a:p>
          <a:p>
            <a:pPr lvl="1" eaLnBrk="1" hangingPunct="1"/>
            <a:r>
              <a:rPr lang="en-US" altLang="en-US" sz="1800"/>
              <a:t>Graph without circles</a:t>
            </a:r>
          </a:p>
          <a:p>
            <a:pPr eaLnBrk="1" hangingPunct="1"/>
            <a:r>
              <a:rPr lang="en-US" altLang="en-US" sz="2000"/>
              <a:t>Spanning Tree of a Graph</a:t>
            </a:r>
          </a:p>
          <a:p>
            <a:pPr lvl="1" eaLnBrk="1" hangingPunct="1"/>
            <a:r>
              <a:rPr lang="en-US" altLang="en-US" sz="1800"/>
              <a:t>Spanning subgraph that is a (free) tree</a:t>
            </a:r>
          </a:p>
          <a:p>
            <a:pPr lvl="1" eaLnBrk="1" hangingPunct="1">
              <a:buFontTx/>
              <a:buNone/>
            </a:pPr>
            <a:endParaRPr lang="en-US" altLang="en-US" sz="1800"/>
          </a:p>
        </p:txBody>
      </p:sp>
      <p:grpSp>
        <p:nvGrpSpPr>
          <p:cNvPr id="27651" name="Group 32">
            <a:extLst>
              <a:ext uri="{FF2B5EF4-FFF2-40B4-BE49-F238E27FC236}">
                <a16:creationId xmlns:a16="http://schemas.microsoft.com/office/drawing/2014/main" id="{FBDDE587-886C-7AA2-74A5-9C532ADC10CC}"/>
              </a:ext>
            </a:extLst>
          </p:cNvPr>
          <p:cNvGrpSpPr>
            <a:grpSpLocks/>
          </p:cNvGrpSpPr>
          <p:nvPr/>
        </p:nvGrpSpPr>
        <p:grpSpPr bwMode="auto">
          <a:xfrm>
            <a:off x="6172201" y="1371600"/>
            <a:ext cx="4181475" cy="3200400"/>
            <a:chOff x="2808" y="1104"/>
            <a:chExt cx="2634" cy="2016"/>
          </a:xfrm>
        </p:grpSpPr>
        <p:sp>
          <p:nvSpPr>
            <p:cNvPr id="27653" name="Oval 4">
              <a:extLst>
                <a:ext uri="{FF2B5EF4-FFF2-40B4-BE49-F238E27FC236}">
                  <a16:creationId xmlns:a16="http://schemas.microsoft.com/office/drawing/2014/main" id="{D2B45D68-B327-4DAD-08A4-DE70B8307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27654" name="Oval 5">
              <a:extLst>
                <a:ext uri="{FF2B5EF4-FFF2-40B4-BE49-F238E27FC236}">
                  <a16:creationId xmlns:a16="http://schemas.microsoft.com/office/drawing/2014/main" id="{C5E21E3E-DF50-9C60-41A9-29C8ECF50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U</a:t>
              </a:r>
            </a:p>
          </p:txBody>
        </p:sp>
        <p:sp>
          <p:nvSpPr>
            <p:cNvPr id="27655" name="Oval 6">
              <a:extLst>
                <a:ext uri="{FF2B5EF4-FFF2-40B4-BE49-F238E27FC236}">
                  <a16:creationId xmlns:a16="http://schemas.microsoft.com/office/drawing/2014/main" id="{5320A893-3899-1662-7BD1-92408FB8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110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V</a:t>
              </a:r>
            </a:p>
          </p:txBody>
        </p:sp>
        <p:sp>
          <p:nvSpPr>
            <p:cNvPr id="27656" name="Oval 7">
              <a:extLst>
                <a:ext uri="{FF2B5EF4-FFF2-40B4-BE49-F238E27FC236}">
                  <a16:creationId xmlns:a16="http://schemas.microsoft.com/office/drawing/2014/main" id="{49546BE5-CA69-D004-E735-5EF17DFA2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W</a:t>
              </a:r>
            </a:p>
          </p:txBody>
        </p:sp>
        <p:sp>
          <p:nvSpPr>
            <p:cNvPr id="27657" name="Oval 8">
              <a:extLst>
                <a:ext uri="{FF2B5EF4-FFF2-40B4-BE49-F238E27FC236}">
                  <a16:creationId xmlns:a16="http://schemas.microsoft.com/office/drawing/2014/main" id="{587AFB6C-063B-5520-44BB-8AD2837E3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Z</a:t>
              </a:r>
            </a:p>
          </p:txBody>
        </p:sp>
        <p:cxnSp>
          <p:nvCxnSpPr>
            <p:cNvPr id="27658" name="AutoShape 9">
              <a:extLst>
                <a:ext uri="{FF2B5EF4-FFF2-40B4-BE49-F238E27FC236}">
                  <a16:creationId xmlns:a16="http://schemas.microsoft.com/office/drawing/2014/main" id="{17D7C76C-1E7E-F613-51C3-BEB7754B183A}"/>
                </a:ext>
              </a:extLst>
            </p:cNvPr>
            <p:cNvCxnSpPr>
              <a:cxnSpLocks noChangeShapeType="1"/>
              <a:stCxn id="27655" idx="3"/>
              <a:endCxn id="27654" idx="7"/>
            </p:cNvCxnSpPr>
            <p:nvPr/>
          </p:nvCxnSpPr>
          <p:spPr bwMode="auto">
            <a:xfrm flipH="1">
              <a:off x="3054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9" name="AutoShape 10">
              <a:extLst>
                <a:ext uri="{FF2B5EF4-FFF2-40B4-BE49-F238E27FC236}">
                  <a16:creationId xmlns:a16="http://schemas.microsoft.com/office/drawing/2014/main" id="{24018E7A-47F3-910C-DE58-77E72CC1F4FC}"/>
                </a:ext>
              </a:extLst>
            </p:cNvPr>
            <p:cNvCxnSpPr>
              <a:cxnSpLocks noChangeShapeType="1"/>
              <a:stCxn id="27656" idx="1"/>
              <a:endCxn id="27654" idx="5"/>
            </p:cNvCxnSpPr>
            <p:nvPr/>
          </p:nvCxnSpPr>
          <p:spPr bwMode="auto">
            <a:xfrm flipH="1" flipV="1">
              <a:off x="3054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0" name="AutoShape 11">
              <a:extLst>
                <a:ext uri="{FF2B5EF4-FFF2-40B4-BE49-F238E27FC236}">
                  <a16:creationId xmlns:a16="http://schemas.microsoft.com/office/drawing/2014/main" id="{AECB98E9-3598-0443-D021-B563FE2FB3A7}"/>
                </a:ext>
              </a:extLst>
            </p:cNvPr>
            <p:cNvCxnSpPr>
              <a:cxnSpLocks noChangeShapeType="1"/>
              <a:stCxn id="27656" idx="7"/>
              <a:endCxn id="27653" idx="3"/>
            </p:cNvCxnSpPr>
            <p:nvPr/>
          </p:nvCxnSpPr>
          <p:spPr bwMode="auto">
            <a:xfrm flipV="1">
              <a:off x="3630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1" name="AutoShape 13">
              <a:extLst>
                <a:ext uri="{FF2B5EF4-FFF2-40B4-BE49-F238E27FC236}">
                  <a16:creationId xmlns:a16="http://schemas.microsoft.com/office/drawing/2014/main" id="{DFE66107-48DF-7E3B-C953-1BB401C0228C}"/>
                </a:ext>
              </a:extLst>
            </p:cNvPr>
            <p:cNvCxnSpPr>
              <a:cxnSpLocks noChangeShapeType="1"/>
              <a:stCxn id="27655" idx="5"/>
              <a:endCxn id="27653" idx="1"/>
            </p:cNvCxnSpPr>
            <p:nvPr/>
          </p:nvCxnSpPr>
          <p:spPr bwMode="auto">
            <a:xfrm>
              <a:off x="3630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2" name="AutoShape 14">
              <a:extLst>
                <a:ext uri="{FF2B5EF4-FFF2-40B4-BE49-F238E27FC236}">
                  <a16:creationId xmlns:a16="http://schemas.microsoft.com/office/drawing/2014/main" id="{FF5F6FAB-047A-0558-E9BE-9B8AA8D08A47}"/>
                </a:ext>
              </a:extLst>
            </p:cNvPr>
            <p:cNvCxnSpPr>
              <a:cxnSpLocks noChangeShapeType="1"/>
              <a:stCxn id="27655" idx="4"/>
              <a:endCxn id="27656" idx="0"/>
            </p:cNvCxnSpPr>
            <p:nvPr/>
          </p:nvCxnSpPr>
          <p:spPr bwMode="auto">
            <a:xfrm>
              <a:off x="3528" y="1398"/>
              <a:ext cx="0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3" name="Oval 15">
              <a:extLst>
                <a:ext uri="{FF2B5EF4-FFF2-40B4-BE49-F238E27FC236}">
                  <a16:creationId xmlns:a16="http://schemas.microsoft.com/office/drawing/2014/main" id="{F6D4510A-ED05-9115-CAB0-C39132FAF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6" y="2832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Y</a:t>
              </a:r>
            </a:p>
          </p:txBody>
        </p:sp>
        <p:cxnSp>
          <p:nvCxnSpPr>
            <p:cNvPr id="27664" name="AutoShape 16">
              <a:extLst>
                <a:ext uri="{FF2B5EF4-FFF2-40B4-BE49-F238E27FC236}">
                  <a16:creationId xmlns:a16="http://schemas.microsoft.com/office/drawing/2014/main" id="{C31FA6FD-FEDE-D913-D6F2-61F5CD0D0DC4}"/>
                </a:ext>
              </a:extLst>
            </p:cNvPr>
            <p:cNvCxnSpPr>
              <a:cxnSpLocks noChangeShapeType="1"/>
              <a:stCxn id="27656" idx="5"/>
              <a:endCxn id="27663" idx="1"/>
            </p:cNvCxnSpPr>
            <p:nvPr/>
          </p:nvCxnSpPr>
          <p:spPr bwMode="auto">
            <a:xfrm>
              <a:off x="3630" y="2508"/>
              <a:ext cx="378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5" name="AutoShape 17">
              <a:extLst>
                <a:ext uri="{FF2B5EF4-FFF2-40B4-BE49-F238E27FC236}">
                  <a16:creationId xmlns:a16="http://schemas.microsoft.com/office/drawing/2014/main" id="{3325064A-DFAE-CA37-BCA8-31825CF3FC8A}"/>
                </a:ext>
              </a:extLst>
            </p:cNvPr>
            <p:cNvCxnSpPr>
              <a:cxnSpLocks noChangeShapeType="1"/>
              <a:stCxn id="27653" idx="4"/>
              <a:endCxn id="27663" idx="0"/>
            </p:cNvCxnSpPr>
            <p:nvPr/>
          </p:nvCxnSpPr>
          <p:spPr bwMode="auto">
            <a:xfrm>
              <a:off x="4104" y="1974"/>
              <a:ext cx="6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6" name="Text Box 18">
              <a:extLst>
                <a:ext uri="{FF2B5EF4-FFF2-40B4-BE49-F238E27FC236}">
                  <a16:creationId xmlns:a16="http://schemas.microsoft.com/office/drawing/2014/main" id="{CFD7A506-04DC-5D7E-1FBF-634A10F8D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4" y="125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7667" name="Text Box 19">
              <a:extLst>
                <a:ext uri="{FF2B5EF4-FFF2-40B4-BE49-F238E27FC236}">
                  <a16:creationId xmlns:a16="http://schemas.microsoft.com/office/drawing/2014/main" id="{B1EA72D0-D97A-5431-0BD5-277857450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4" y="1974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7668" name="Text Box 20">
              <a:extLst>
                <a:ext uri="{FF2B5EF4-FFF2-40B4-BE49-F238E27FC236}">
                  <a16:creationId xmlns:a16="http://schemas.microsoft.com/office/drawing/2014/main" id="{3B45A079-9771-70DE-754B-6E28DBE7E9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8" y="125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7669" name="Text Box 21">
              <a:extLst>
                <a:ext uri="{FF2B5EF4-FFF2-40B4-BE49-F238E27FC236}">
                  <a16:creationId xmlns:a16="http://schemas.microsoft.com/office/drawing/2014/main" id="{5C336C3D-4AF8-C85D-72F6-3371B4224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" y="2004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27670" name="Text Box 22">
              <a:extLst>
                <a:ext uri="{FF2B5EF4-FFF2-40B4-BE49-F238E27FC236}">
                  <a16:creationId xmlns:a16="http://schemas.microsoft.com/office/drawing/2014/main" id="{ACD4C066-0632-1840-3C08-A4C7D6A3A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" y="168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7671" name="Text Box 23">
              <a:extLst>
                <a:ext uri="{FF2B5EF4-FFF2-40B4-BE49-F238E27FC236}">
                  <a16:creationId xmlns:a16="http://schemas.microsoft.com/office/drawing/2014/main" id="{450F908B-313C-EFA2-E52F-081571648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646"/>
              <a:ext cx="15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27672" name="Text Box 24">
              <a:extLst>
                <a:ext uri="{FF2B5EF4-FFF2-40B4-BE49-F238E27FC236}">
                  <a16:creationId xmlns:a16="http://schemas.microsoft.com/office/drawing/2014/main" id="{E577E908-2652-6412-F41F-44084EC38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229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sp>
          <p:nvSpPr>
            <p:cNvPr id="27673" name="Text Box 25">
              <a:extLst>
                <a:ext uri="{FF2B5EF4-FFF2-40B4-BE49-F238E27FC236}">
                  <a16:creationId xmlns:a16="http://schemas.microsoft.com/office/drawing/2014/main" id="{F5F64506-BACD-59A2-0F7D-58FFF439F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139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</a:t>
              </a:r>
            </a:p>
          </p:txBody>
        </p:sp>
        <p:sp>
          <p:nvSpPr>
            <p:cNvPr id="27674" name="Text Box 26">
              <a:extLst>
                <a:ext uri="{FF2B5EF4-FFF2-40B4-BE49-F238E27FC236}">
                  <a16:creationId xmlns:a16="http://schemas.microsoft.com/office/drawing/2014/main" id="{E8765F4F-5761-32BE-BE73-EF147D2FB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5" y="2016"/>
              <a:ext cx="1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i</a:t>
              </a:r>
            </a:p>
          </p:txBody>
        </p:sp>
        <p:sp>
          <p:nvSpPr>
            <p:cNvPr id="27675" name="Text Box 27">
              <a:extLst>
                <a:ext uri="{FF2B5EF4-FFF2-40B4-BE49-F238E27FC236}">
                  <a16:creationId xmlns:a16="http://schemas.microsoft.com/office/drawing/2014/main" id="{61D845E7-FB37-A75C-5E7B-6306AC2A4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3" y="1392"/>
              <a:ext cx="1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j</a:t>
              </a:r>
            </a:p>
          </p:txBody>
        </p:sp>
        <p:cxnSp>
          <p:nvCxnSpPr>
            <p:cNvPr id="27676" name="AutoShape 29">
              <a:extLst>
                <a:ext uri="{FF2B5EF4-FFF2-40B4-BE49-F238E27FC236}">
                  <a16:creationId xmlns:a16="http://schemas.microsoft.com/office/drawing/2014/main" id="{2DFA3057-9086-4023-C2FB-6026A440D346}"/>
                </a:ext>
              </a:extLst>
            </p:cNvPr>
            <p:cNvCxnSpPr>
              <a:cxnSpLocks noChangeShapeType="1"/>
              <a:stCxn id="27653" idx="5"/>
              <a:endCxn id="27657" idx="3"/>
            </p:cNvCxnSpPr>
            <p:nvPr/>
          </p:nvCxnSpPr>
          <p:spPr bwMode="auto">
            <a:xfrm rot="16200000" flipH="1">
              <a:off x="4487" y="1651"/>
              <a:ext cx="1" cy="564"/>
            </a:xfrm>
            <a:prstGeom prst="curvedConnector3">
              <a:avLst>
                <a:gd name="adj1" fmla="val 769999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7" name="AutoShape 30">
              <a:extLst>
                <a:ext uri="{FF2B5EF4-FFF2-40B4-BE49-F238E27FC236}">
                  <a16:creationId xmlns:a16="http://schemas.microsoft.com/office/drawing/2014/main" id="{1ACBFC10-6A35-BC9B-6C35-B1B00933B154}"/>
                </a:ext>
              </a:extLst>
            </p:cNvPr>
            <p:cNvCxnSpPr>
              <a:cxnSpLocks noChangeShapeType="1"/>
              <a:stCxn id="27653" idx="7"/>
              <a:endCxn id="27657" idx="1"/>
            </p:cNvCxnSpPr>
            <p:nvPr/>
          </p:nvCxnSpPr>
          <p:spPr bwMode="auto">
            <a:xfrm rot="5400000" flipV="1">
              <a:off x="4487" y="1435"/>
              <a:ext cx="1" cy="564"/>
            </a:xfrm>
            <a:prstGeom prst="curvedConnector3">
              <a:avLst>
                <a:gd name="adj1" fmla="val -610000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8" name="AutoShape 31">
              <a:extLst>
                <a:ext uri="{FF2B5EF4-FFF2-40B4-BE49-F238E27FC236}">
                  <a16:creationId xmlns:a16="http://schemas.microsoft.com/office/drawing/2014/main" id="{EAD9534A-218B-4A0B-5996-A08217968FB1}"/>
                </a:ext>
              </a:extLst>
            </p:cNvPr>
            <p:cNvCxnSpPr>
              <a:cxnSpLocks noChangeShapeType="1"/>
              <a:stCxn id="27657" idx="5"/>
              <a:endCxn id="27657" idx="7"/>
            </p:cNvCxnSpPr>
            <p:nvPr/>
          </p:nvCxnSpPr>
          <p:spPr bwMode="auto">
            <a:xfrm rot="5400000" flipH="1" flipV="1">
              <a:off x="4867" y="1823"/>
              <a:ext cx="216" cy="1"/>
            </a:xfrm>
            <a:prstGeom prst="curvedConnector5">
              <a:avLst>
                <a:gd name="adj1" fmla="val -44444"/>
                <a:gd name="adj2" fmla="val 40099986"/>
                <a:gd name="adj3" fmla="val 146759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652" name="TextBox 56">
            <a:extLst>
              <a:ext uri="{FF2B5EF4-FFF2-40B4-BE49-F238E27FC236}">
                <a16:creationId xmlns:a16="http://schemas.microsoft.com/office/drawing/2014/main" id="{02949104-08E5-9095-4736-D471E31B8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953001"/>
            <a:ext cx="43434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Property</a:t>
            </a:r>
            <a:r>
              <a:rPr lang="en-US" altLang="en-US" sz="1800"/>
              <a:t>: Let G be an undirected graph with n vertices and m edges, then: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If G is connected, then m ≥ n-1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If G is a tree, then m = n-1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 If G is a forest, then m ≤ n-1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6E37AA0D-623F-F575-C223-7C56E60ED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Main Methods of the Graph ADT</a:t>
            </a:r>
          </a:p>
        </p:txBody>
      </p:sp>
      <p:sp>
        <p:nvSpPr>
          <p:cNvPr id="2867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D26D54F-605A-912A-AADE-16FDFA36BB6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1524000"/>
            <a:ext cx="3810000" cy="4495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/>
              <a:t>Vertices and edges</a:t>
            </a:r>
          </a:p>
          <a:p>
            <a:pPr lvl="1" eaLnBrk="1" hangingPunct="1"/>
            <a:r>
              <a:rPr lang="en-US" altLang="en-US" sz="1800"/>
              <a:t>are positions</a:t>
            </a:r>
          </a:p>
          <a:p>
            <a:pPr lvl="1" eaLnBrk="1" hangingPunct="1"/>
            <a:r>
              <a:rPr lang="en-US" altLang="en-US" sz="1800"/>
              <a:t>store elements</a:t>
            </a:r>
          </a:p>
          <a:p>
            <a:pPr eaLnBrk="1" hangingPunct="1"/>
            <a:r>
              <a:rPr lang="en-US" altLang="en-US" sz="2000"/>
              <a:t>Accessor methods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aVertex</a:t>
            </a:r>
            <a:r>
              <a:rPr lang="en-US" altLang="en-US" sz="1800"/>
              <a:t>(): return an arbitrary vertex of G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incidentEdges</a:t>
            </a:r>
            <a:r>
              <a:rPr lang="en-US" altLang="en-US" sz="1800"/>
              <a:t>(v)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endVertices</a:t>
            </a:r>
            <a:r>
              <a:rPr lang="en-US" altLang="en-US" sz="1800"/>
              <a:t>(e)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isDirected</a:t>
            </a:r>
            <a:r>
              <a:rPr lang="en-US" altLang="en-US" sz="1800"/>
              <a:t>(e)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origin</a:t>
            </a:r>
            <a:r>
              <a:rPr lang="en-US" altLang="en-US" sz="1800"/>
              <a:t>(e)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destination</a:t>
            </a:r>
            <a:r>
              <a:rPr lang="en-US" altLang="en-US" sz="1800"/>
              <a:t>(e)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opposite</a:t>
            </a:r>
            <a:r>
              <a:rPr lang="en-US" altLang="en-US" sz="1800"/>
              <a:t>(v, e)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areAdjacent</a:t>
            </a:r>
            <a:r>
              <a:rPr lang="en-US" altLang="en-US" sz="1800"/>
              <a:t>(v, w)</a:t>
            </a:r>
          </a:p>
        </p:txBody>
      </p:sp>
      <p:sp>
        <p:nvSpPr>
          <p:cNvPr id="2867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405917-5AD0-138A-FEFA-E290F4C29C0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400800" y="1524000"/>
            <a:ext cx="3810000" cy="4114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/>
              <a:t>Update methods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insertVertex</a:t>
            </a:r>
            <a:r>
              <a:rPr lang="en-US" altLang="en-US" sz="1800"/>
              <a:t>(o)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insertEdge</a:t>
            </a:r>
            <a:r>
              <a:rPr lang="en-US" altLang="en-US" sz="1800"/>
              <a:t>(v, w, o)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insertDirectedEdge</a:t>
            </a:r>
            <a:r>
              <a:rPr lang="en-US" altLang="en-US" sz="1800"/>
              <a:t>(v, w, o)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removeVertex</a:t>
            </a:r>
            <a:r>
              <a:rPr lang="en-US" altLang="en-US" sz="1800"/>
              <a:t>(v)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removeEdge</a:t>
            </a:r>
            <a:r>
              <a:rPr lang="en-US" altLang="en-US" sz="1800"/>
              <a:t>(e)</a:t>
            </a:r>
          </a:p>
          <a:p>
            <a:pPr eaLnBrk="1" hangingPunct="1"/>
            <a:r>
              <a:rPr lang="en-US" altLang="en-US" sz="2000"/>
              <a:t>Generic methods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numVertices</a:t>
            </a:r>
            <a:r>
              <a:rPr lang="en-US" altLang="en-US" sz="1800"/>
              <a:t>(): # of vertices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numEdges</a:t>
            </a:r>
            <a:r>
              <a:rPr lang="en-US" altLang="en-US" sz="1800"/>
              <a:t>(): # of edges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vertices</a:t>
            </a:r>
            <a:r>
              <a:rPr lang="en-US" altLang="en-US" sz="1800"/>
              <a:t>(): iterator of vertices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edges</a:t>
            </a:r>
            <a:r>
              <a:rPr lang="en-US" altLang="en-US" sz="1800"/>
              <a:t>(): iterator of edges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97" name="AutoShape 46">
            <a:extLst>
              <a:ext uri="{FF2B5EF4-FFF2-40B4-BE49-F238E27FC236}">
                <a16:creationId xmlns:a16="http://schemas.microsoft.com/office/drawing/2014/main" id="{A2C917A2-9B11-770C-E4BE-780AA65CB470}"/>
              </a:ext>
            </a:extLst>
          </p:cNvPr>
          <p:cNvCxnSpPr>
            <a:cxnSpLocks noChangeShapeType="1"/>
            <a:stCxn id="29722" idx="2"/>
            <a:endCxn id="29719" idx="6"/>
          </p:cNvCxnSpPr>
          <p:nvPr/>
        </p:nvCxnSpPr>
        <p:spPr bwMode="auto">
          <a:xfrm flipH="1">
            <a:off x="6489701" y="5403850"/>
            <a:ext cx="32543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698" name="AutoShape 23">
            <a:extLst>
              <a:ext uri="{FF2B5EF4-FFF2-40B4-BE49-F238E27FC236}">
                <a16:creationId xmlns:a16="http://schemas.microsoft.com/office/drawing/2014/main" id="{F8DB47EE-0739-6383-EBD7-B1C15DAB5E61}"/>
              </a:ext>
            </a:extLst>
          </p:cNvPr>
          <p:cNvCxnSpPr>
            <a:cxnSpLocks noChangeShapeType="1"/>
            <a:stCxn id="29718" idx="2"/>
            <a:endCxn id="29710" idx="6"/>
          </p:cNvCxnSpPr>
          <p:nvPr/>
        </p:nvCxnSpPr>
        <p:spPr bwMode="auto">
          <a:xfrm flipH="1">
            <a:off x="6486526" y="2965450"/>
            <a:ext cx="32543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BD8EB24-1100-7009-6A70-EFBDCBF56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153400" cy="838200"/>
          </a:xfrm>
        </p:spPr>
        <p:txBody>
          <a:bodyPr/>
          <a:lstStyle/>
          <a:p>
            <a:pPr eaLnBrk="1" hangingPunct="1"/>
            <a:r>
              <a:rPr lang="en-US" altLang="en-US"/>
              <a:t>Edge List Structure</a:t>
            </a:r>
          </a:p>
        </p:txBody>
      </p:sp>
      <p:sp>
        <p:nvSpPr>
          <p:cNvPr id="2970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80AA705-C400-3984-43B6-E77AD9F0E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143000"/>
            <a:ext cx="4343400" cy="5105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Vertex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reference to position in vertex sequence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Edge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origin vertex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destination vertex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reference to position in edge sequence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Vertex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sequence of vertex objects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Edge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sequence of edge objects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Not efficient for some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e.g., IncidentEdges(v)</a:t>
            </a:r>
          </a:p>
        </p:txBody>
      </p:sp>
      <p:sp>
        <p:nvSpPr>
          <p:cNvPr id="29701" name="Oval 4">
            <a:extLst>
              <a:ext uri="{FF2B5EF4-FFF2-40B4-BE49-F238E27FC236}">
                <a16:creationId xmlns:a16="http://schemas.microsoft.com/office/drawing/2014/main" id="{98F6EFAE-74AB-E91F-8DA1-70AC95AE8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200818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</a:p>
        </p:txBody>
      </p:sp>
      <p:sp>
        <p:nvSpPr>
          <p:cNvPr id="29702" name="Oval 5">
            <a:extLst>
              <a:ext uri="{FF2B5EF4-FFF2-40B4-BE49-F238E27FC236}">
                <a16:creationId xmlns:a16="http://schemas.microsoft.com/office/drawing/2014/main" id="{38A27D86-A08E-7D0A-3672-106247A51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050" y="10668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</a:t>
            </a:r>
          </a:p>
        </p:txBody>
      </p:sp>
      <p:sp>
        <p:nvSpPr>
          <p:cNvPr id="29703" name="Oval 7">
            <a:extLst>
              <a:ext uri="{FF2B5EF4-FFF2-40B4-BE49-F238E27FC236}">
                <a16:creationId xmlns:a16="http://schemas.microsoft.com/office/drawing/2014/main" id="{84ABA180-2DA9-3D55-439F-9B464E8DD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450" y="200818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</a:p>
        </p:txBody>
      </p:sp>
      <p:cxnSp>
        <p:nvCxnSpPr>
          <p:cNvPr id="29704" name="AutoShape 8">
            <a:extLst>
              <a:ext uri="{FF2B5EF4-FFF2-40B4-BE49-F238E27FC236}">
                <a16:creationId xmlns:a16="http://schemas.microsoft.com/office/drawing/2014/main" id="{FF3094E9-AAF0-4BF1-0EE8-E23CCFFF26BB}"/>
              </a:ext>
            </a:extLst>
          </p:cNvPr>
          <p:cNvCxnSpPr>
            <a:cxnSpLocks noChangeShapeType="1"/>
            <a:stCxn id="29702" idx="5"/>
            <a:endCxn id="29703" idx="1"/>
          </p:cNvCxnSpPr>
          <p:nvPr/>
        </p:nvCxnSpPr>
        <p:spPr bwMode="auto">
          <a:xfrm>
            <a:off x="7772400" y="1336675"/>
            <a:ext cx="698500" cy="706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5" name="AutoShape 9">
            <a:extLst>
              <a:ext uri="{FF2B5EF4-FFF2-40B4-BE49-F238E27FC236}">
                <a16:creationId xmlns:a16="http://schemas.microsoft.com/office/drawing/2014/main" id="{34CBB4D2-9EC6-D130-EF85-BDE5A0AC6394}"/>
              </a:ext>
            </a:extLst>
          </p:cNvPr>
          <p:cNvCxnSpPr>
            <a:cxnSpLocks noChangeShapeType="1"/>
            <a:stCxn id="29702" idx="3"/>
            <a:endCxn id="29701" idx="7"/>
          </p:cNvCxnSpPr>
          <p:nvPr/>
        </p:nvCxnSpPr>
        <p:spPr bwMode="auto">
          <a:xfrm flipH="1">
            <a:off x="6858000" y="1336675"/>
            <a:ext cx="698500" cy="706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6" name="AutoShape 12">
            <a:extLst>
              <a:ext uri="{FF2B5EF4-FFF2-40B4-BE49-F238E27FC236}">
                <a16:creationId xmlns:a16="http://schemas.microsoft.com/office/drawing/2014/main" id="{33004BF0-0E41-8B5F-A488-3CB23451AEB8}"/>
              </a:ext>
            </a:extLst>
          </p:cNvPr>
          <p:cNvCxnSpPr>
            <a:cxnSpLocks noChangeShapeType="1"/>
            <a:stCxn id="29703" idx="2"/>
            <a:endCxn id="29701" idx="6"/>
          </p:cNvCxnSpPr>
          <p:nvPr/>
        </p:nvCxnSpPr>
        <p:spPr bwMode="auto">
          <a:xfrm flipH="1">
            <a:off x="6911975" y="2160588"/>
            <a:ext cx="1504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7" name="Text Box 14">
            <a:extLst>
              <a:ext uri="{FF2B5EF4-FFF2-40B4-BE49-F238E27FC236}">
                <a16:creationId xmlns:a16="http://schemas.microsoft.com/office/drawing/2014/main" id="{C8DFEE61-5DF4-75C8-74BF-B6661FBEF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922" y="138112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9708" name="Text Box 16">
            <a:extLst>
              <a:ext uri="{FF2B5EF4-FFF2-40B4-BE49-F238E27FC236}">
                <a16:creationId xmlns:a16="http://schemas.microsoft.com/office/drawing/2014/main" id="{FF5DF37C-F6AB-476E-D887-8066224C3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4485" y="1381125"/>
            <a:ext cx="300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9709" name="Text Box 18">
            <a:extLst>
              <a:ext uri="{FF2B5EF4-FFF2-40B4-BE49-F238E27FC236}">
                <a16:creationId xmlns:a16="http://schemas.microsoft.com/office/drawing/2014/main" id="{8DD87AEB-EBA9-C953-8551-77FA768A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75" y="1747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9710" name="Oval 19">
            <a:extLst>
              <a:ext uri="{FF2B5EF4-FFF2-40B4-BE49-F238E27FC236}">
                <a16:creationId xmlns:a16="http://schemas.microsoft.com/office/drawing/2014/main" id="{5C86E74A-0C49-997A-3A22-6511DDA48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8130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11" name="Oval 20">
            <a:extLst>
              <a:ext uri="{FF2B5EF4-FFF2-40B4-BE49-F238E27FC236}">
                <a16:creationId xmlns:a16="http://schemas.microsoft.com/office/drawing/2014/main" id="{1C1130D3-AE2F-768A-B770-701B7D77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413" y="28130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12" name="Oval 21">
            <a:extLst>
              <a:ext uri="{FF2B5EF4-FFF2-40B4-BE49-F238E27FC236}">
                <a16:creationId xmlns:a16="http://schemas.microsoft.com/office/drawing/2014/main" id="{A696975A-4F38-DBBC-FBAD-4AE7C4604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25" y="28130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13" name="Rectangle 35">
            <a:extLst>
              <a:ext uri="{FF2B5EF4-FFF2-40B4-BE49-F238E27FC236}">
                <a16:creationId xmlns:a16="http://schemas.microsoft.com/office/drawing/2014/main" id="{511A2E31-E4F2-4C71-8F10-451E406E6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14" name="Rectangle 37">
            <a:extLst>
              <a:ext uri="{FF2B5EF4-FFF2-40B4-BE49-F238E27FC236}">
                <a16:creationId xmlns:a16="http://schemas.microsoft.com/office/drawing/2014/main" id="{2EC552B7-6D8A-282E-4552-B339DDE0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6" y="4500564"/>
            <a:ext cx="31432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9715" name="Oval 38">
            <a:extLst>
              <a:ext uri="{FF2B5EF4-FFF2-40B4-BE49-F238E27FC236}">
                <a16:creationId xmlns:a16="http://schemas.microsoft.com/office/drawing/2014/main" id="{F8FE38B5-9B22-3B7E-989A-E09FBD2B3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400" y="200818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z</a:t>
            </a:r>
          </a:p>
        </p:txBody>
      </p:sp>
      <p:cxnSp>
        <p:nvCxnSpPr>
          <p:cNvPr id="29716" name="AutoShape 39">
            <a:extLst>
              <a:ext uri="{FF2B5EF4-FFF2-40B4-BE49-F238E27FC236}">
                <a16:creationId xmlns:a16="http://schemas.microsoft.com/office/drawing/2014/main" id="{2CE4E04F-2050-7EB8-300F-1D21D9A523A2}"/>
              </a:ext>
            </a:extLst>
          </p:cNvPr>
          <p:cNvCxnSpPr>
            <a:cxnSpLocks noChangeShapeType="1"/>
            <a:stCxn id="29715" idx="2"/>
            <a:endCxn id="29703" idx="6"/>
          </p:cNvCxnSpPr>
          <p:nvPr/>
        </p:nvCxnSpPr>
        <p:spPr bwMode="auto">
          <a:xfrm flipH="1">
            <a:off x="8740775" y="2160588"/>
            <a:ext cx="9271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7" name="Text Box 40">
            <a:extLst>
              <a:ext uri="{FF2B5EF4-FFF2-40B4-BE49-F238E27FC236}">
                <a16:creationId xmlns:a16="http://schemas.microsoft.com/office/drawing/2014/main" id="{EDCA78EB-8CDC-ADF1-49B0-DD97894CA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1913" y="1747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29718" name="Oval 41">
            <a:extLst>
              <a:ext uri="{FF2B5EF4-FFF2-40B4-BE49-F238E27FC236}">
                <a16:creationId xmlns:a16="http://schemas.microsoft.com/office/drawing/2014/main" id="{206D15C3-10EA-DEE4-FCB9-F0391401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425" y="281305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19" name="Oval 42">
            <a:extLst>
              <a:ext uri="{FF2B5EF4-FFF2-40B4-BE49-F238E27FC236}">
                <a16:creationId xmlns:a16="http://schemas.microsoft.com/office/drawing/2014/main" id="{A47DE543-C634-D890-6816-D48470970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525145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0" name="Oval 43">
            <a:extLst>
              <a:ext uri="{FF2B5EF4-FFF2-40B4-BE49-F238E27FC236}">
                <a16:creationId xmlns:a16="http://schemas.microsoft.com/office/drawing/2014/main" id="{B98D8BDB-050C-13BB-B903-48D5DF486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588" y="525145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1" name="Oval 44">
            <a:extLst>
              <a:ext uri="{FF2B5EF4-FFF2-40B4-BE49-F238E27FC236}">
                <a16:creationId xmlns:a16="http://schemas.microsoft.com/office/drawing/2014/main" id="{1D513DE5-A81F-D88C-5212-9D7247C4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9800" y="525145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2" name="Oval 45">
            <a:extLst>
              <a:ext uri="{FF2B5EF4-FFF2-40B4-BE49-F238E27FC236}">
                <a16:creationId xmlns:a16="http://schemas.microsoft.com/office/drawing/2014/main" id="{01E4D778-7F26-426F-75CE-602D12820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525145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9723" name="AutoShape 63">
            <a:extLst>
              <a:ext uri="{FF2B5EF4-FFF2-40B4-BE49-F238E27FC236}">
                <a16:creationId xmlns:a16="http://schemas.microsoft.com/office/drawing/2014/main" id="{56B3953E-3291-153C-D69C-B74237967A4B}"/>
              </a:ext>
            </a:extLst>
          </p:cNvPr>
          <p:cNvCxnSpPr>
            <a:cxnSpLocks noChangeShapeType="1"/>
            <a:endCxn id="29713" idx="2"/>
          </p:cNvCxnSpPr>
          <p:nvPr/>
        </p:nvCxnSpPr>
        <p:spPr bwMode="auto">
          <a:xfrm flipV="1">
            <a:off x="6323014" y="4824414"/>
            <a:ext cx="187325" cy="574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64">
            <a:extLst>
              <a:ext uri="{FF2B5EF4-FFF2-40B4-BE49-F238E27FC236}">
                <a16:creationId xmlns:a16="http://schemas.microsoft.com/office/drawing/2014/main" id="{6E562A9B-36B9-AC8D-07C3-B1114F63D92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19989" y="4824414"/>
            <a:ext cx="136525" cy="574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65">
            <a:extLst>
              <a:ext uri="{FF2B5EF4-FFF2-40B4-BE49-F238E27FC236}">
                <a16:creationId xmlns:a16="http://schemas.microsoft.com/office/drawing/2014/main" id="{6E17092A-10ED-1E54-3DE4-9C9A693037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707439" y="4824414"/>
            <a:ext cx="142875" cy="574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66">
            <a:extLst>
              <a:ext uri="{FF2B5EF4-FFF2-40B4-BE49-F238E27FC236}">
                <a16:creationId xmlns:a16="http://schemas.microsoft.com/office/drawing/2014/main" id="{3EBA62DC-93F6-EA71-CB04-2E5B987B4B9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1239" y="4824414"/>
            <a:ext cx="142875" cy="574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7" name="Rectangle 74">
            <a:extLst>
              <a:ext uri="{FF2B5EF4-FFF2-40B4-BE49-F238E27FC236}">
                <a16:creationId xmlns:a16="http://schemas.microsoft.com/office/drawing/2014/main" id="{D8634669-FE38-2C3C-B3AB-5703975B6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3651" y="348456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</a:t>
            </a:r>
          </a:p>
        </p:txBody>
      </p:sp>
      <p:sp>
        <p:nvSpPr>
          <p:cNvPr id="29728" name="Rectangle 78">
            <a:extLst>
              <a:ext uri="{FF2B5EF4-FFF2-40B4-BE49-F238E27FC236}">
                <a16:creationId xmlns:a16="http://schemas.microsoft.com/office/drawing/2014/main" id="{3EA8441A-D209-CF5A-CB15-1EEC2F9CE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926" y="348456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</a:p>
        </p:txBody>
      </p:sp>
      <p:sp>
        <p:nvSpPr>
          <p:cNvPr id="29729" name="Rectangle 81">
            <a:extLst>
              <a:ext uri="{FF2B5EF4-FFF2-40B4-BE49-F238E27FC236}">
                <a16:creationId xmlns:a16="http://schemas.microsoft.com/office/drawing/2014/main" id="{1E1E7275-0079-EF1A-1425-269341C1C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2201" y="347980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</a:p>
        </p:txBody>
      </p:sp>
      <p:sp>
        <p:nvSpPr>
          <p:cNvPr id="29730" name="Rectangle 84">
            <a:extLst>
              <a:ext uri="{FF2B5EF4-FFF2-40B4-BE49-F238E27FC236}">
                <a16:creationId xmlns:a16="http://schemas.microsoft.com/office/drawing/2014/main" id="{6A8DB9F1-488A-2193-AFBA-4BC52098C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6476" y="3475039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z</a:t>
            </a:r>
          </a:p>
        </p:txBody>
      </p:sp>
      <p:cxnSp>
        <p:nvCxnSpPr>
          <p:cNvPr id="29731" name="AutoShape 85">
            <a:extLst>
              <a:ext uri="{FF2B5EF4-FFF2-40B4-BE49-F238E27FC236}">
                <a16:creationId xmlns:a16="http://schemas.microsoft.com/office/drawing/2014/main" id="{4925F41E-BBC5-F90C-BC8A-F99ADE55FE86}"/>
              </a:ext>
            </a:extLst>
          </p:cNvPr>
          <p:cNvCxnSpPr>
            <a:cxnSpLocks noChangeShapeType="1"/>
            <a:endCxn id="29727" idx="0"/>
          </p:cNvCxnSpPr>
          <p:nvPr/>
        </p:nvCxnSpPr>
        <p:spPr bwMode="auto">
          <a:xfrm>
            <a:off x="6319839" y="2960688"/>
            <a:ext cx="180975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2" name="AutoShape 87">
            <a:extLst>
              <a:ext uri="{FF2B5EF4-FFF2-40B4-BE49-F238E27FC236}">
                <a16:creationId xmlns:a16="http://schemas.microsoft.com/office/drawing/2014/main" id="{A50748B5-A3B9-F4EF-AE3C-9D4CEEF69926}"/>
              </a:ext>
            </a:extLst>
          </p:cNvPr>
          <p:cNvCxnSpPr>
            <a:cxnSpLocks noChangeShapeType="1"/>
            <a:endCxn id="29728" idx="0"/>
          </p:cNvCxnSpPr>
          <p:nvPr/>
        </p:nvCxnSpPr>
        <p:spPr bwMode="auto">
          <a:xfrm>
            <a:off x="7512050" y="2960688"/>
            <a:ext cx="173038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3" name="AutoShape 88">
            <a:extLst>
              <a:ext uri="{FF2B5EF4-FFF2-40B4-BE49-F238E27FC236}">
                <a16:creationId xmlns:a16="http://schemas.microsoft.com/office/drawing/2014/main" id="{8209D567-D932-FABB-9A86-848F1C670542}"/>
              </a:ext>
            </a:extLst>
          </p:cNvPr>
          <p:cNvCxnSpPr>
            <a:cxnSpLocks noChangeShapeType="1"/>
            <a:endCxn id="29729" idx="0"/>
          </p:cNvCxnSpPr>
          <p:nvPr/>
        </p:nvCxnSpPr>
        <p:spPr bwMode="auto">
          <a:xfrm>
            <a:off x="8709025" y="2965451"/>
            <a:ext cx="160338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4" name="AutoShape 89">
            <a:extLst>
              <a:ext uri="{FF2B5EF4-FFF2-40B4-BE49-F238E27FC236}">
                <a16:creationId xmlns:a16="http://schemas.microsoft.com/office/drawing/2014/main" id="{BEF14CE4-F6FA-4575-A55B-7956D43B6D29}"/>
              </a:ext>
            </a:extLst>
          </p:cNvPr>
          <p:cNvCxnSpPr>
            <a:cxnSpLocks noChangeShapeType="1"/>
            <a:endCxn id="29730" idx="0"/>
          </p:cNvCxnSpPr>
          <p:nvPr/>
        </p:nvCxnSpPr>
        <p:spPr bwMode="auto">
          <a:xfrm>
            <a:off x="9896476" y="2960689"/>
            <a:ext cx="157163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35" name="Freeform 92">
            <a:extLst>
              <a:ext uri="{FF2B5EF4-FFF2-40B4-BE49-F238E27FC236}">
                <a16:creationId xmlns:a16="http://schemas.microsoft.com/office/drawing/2014/main" id="{C9E0E75D-9B96-4C96-0286-0531596C4E87}"/>
              </a:ext>
            </a:extLst>
          </p:cNvPr>
          <p:cNvSpPr>
            <a:spLocks/>
          </p:cNvSpPr>
          <p:nvPr/>
        </p:nvSpPr>
        <p:spPr bwMode="auto">
          <a:xfrm>
            <a:off x="6510338" y="3813175"/>
            <a:ext cx="1090612" cy="838200"/>
          </a:xfrm>
          <a:custGeom>
            <a:avLst/>
            <a:gdLst>
              <a:gd name="T0" fmla="*/ 0 w 720"/>
              <a:gd name="T1" fmla="*/ 2147483646 h 504"/>
              <a:gd name="T2" fmla="*/ 2147483646 w 720"/>
              <a:gd name="T3" fmla="*/ 2147483646 h 504"/>
              <a:gd name="T4" fmla="*/ 2147483646 w 720"/>
              <a:gd name="T5" fmla="*/ 0 h 504"/>
              <a:gd name="T6" fmla="*/ 0 60000 65536"/>
              <a:gd name="T7" fmla="*/ 0 60000 65536"/>
              <a:gd name="T8" fmla="*/ 0 60000 65536"/>
              <a:gd name="T9" fmla="*/ 0 w 720"/>
              <a:gd name="T10" fmla="*/ 0 h 504"/>
              <a:gd name="T11" fmla="*/ 720 w 720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504">
                <a:moveTo>
                  <a:pt x="0" y="504"/>
                </a:moveTo>
                <a:cubicBezTo>
                  <a:pt x="61" y="459"/>
                  <a:pt x="198" y="204"/>
                  <a:pt x="366" y="234"/>
                </a:cubicBezTo>
                <a:cubicBezTo>
                  <a:pt x="534" y="264"/>
                  <a:pt x="646" y="49"/>
                  <a:pt x="72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6" name="Rectangle 100">
            <a:extLst>
              <a:ext uri="{FF2B5EF4-FFF2-40B4-BE49-F238E27FC236}">
                <a16:creationId xmlns:a16="http://schemas.microsoft.com/office/drawing/2014/main" id="{62FE6273-C844-7C2B-D1FA-9B08716C9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6" y="348456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37" name="Line 101">
            <a:extLst>
              <a:ext uri="{FF2B5EF4-FFF2-40B4-BE49-F238E27FC236}">
                <a16:creationId xmlns:a16="http://schemas.microsoft.com/office/drawing/2014/main" id="{F173699D-0FAD-0D28-DFC2-F17AA207F7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5376" y="3117850"/>
            <a:ext cx="104775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8" name="Rectangle 102">
            <a:extLst>
              <a:ext uri="{FF2B5EF4-FFF2-40B4-BE49-F238E27FC236}">
                <a16:creationId xmlns:a16="http://schemas.microsoft.com/office/drawing/2014/main" id="{9CD3F81C-1F3A-2575-DF56-0115AB3CC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6" y="348456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39" name="Line 103">
            <a:extLst>
              <a:ext uri="{FF2B5EF4-FFF2-40B4-BE49-F238E27FC236}">
                <a16:creationId xmlns:a16="http://schemas.microsoft.com/office/drawing/2014/main" id="{877465E8-F8CE-DB58-E4F6-E5ABD59427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7588" y="3108325"/>
            <a:ext cx="93662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0" name="Rectangle 104">
            <a:extLst>
              <a:ext uri="{FF2B5EF4-FFF2-40B4-BE49-F238E27FC236}">
                <a16:creationId xmlns:a16="http://schemas.microsoft.com/office/drawing/2014/main" id="{3C283089-621B-F031-2CBA-028A88D89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2639" y="347980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41" name="Line 105">
            <a:extLst>
              <a:ext uri="{FF2B5EF4-FFF2-40B4-BE49-F238E27FC236}">
                <a16:creationId xmlns:a16="http://schemas.microsoft.com/office/drawing/2014/main" id="{89895290-97CA-CA95-10C9-BCE3D5EFB8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9800" y="3103563"/>
            <a:ext cx="4445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2" name="Rectangle 106">
            <a:extLst>
              <a:ext uri="{FF2B5EF4-FFF2-40B4-BE49-F238E27FC236}">
                <a16:creationId xmlns:a16="http://schemas.microsoft.com/office/drawing/2014/main" id="{67343D58-5AC7-7A48-A0C3-E29D3D247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2151" y="3475039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43" name="Line 107">
            <a:extLst>
              <a:ext uri="{FF2B5EF4-FFF2-40B4-BE49-F238E27FC236}">
                <a16:creationId xmlns:a16="http://schemas.microsoft.com/office/drawing/2014/main" id="{F7C4C6EC-764E-832A-C769-1CBE313C2C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53600" y="3103563"/>
            <a:ext cx="4445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4" name="Rectangle 108">
            <a:extLst>
              <a:ext uri="{FF2B5EF4-FFF2-40B4-BE49-F238E27FC236}">
                <a16:creationId xmlns:a16="http://schemas.microsoft.com/office/drawing/2014/main" id="{3A52EF0C-6AEC-4767-2B73-7ADD878B9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6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45" name="Line 91">
            <a:extLst>
              <a:ext uri="{FF2B5EF4-FFF2-40B4-BE49-F238E27FC236}">
                <a16:creationId xmlns:a16="http://schemas.microsoft.com/office/drawing/2014/main" id="{A4D23BA6-BEB4-97B6-F5B1-D51CCD7FD0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0151" y="3803651"/>
            <a:ext cx="220663" cy="847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6" name="Rectangle 109">
            <a:extLst>
              <a:ext uri="{FF2B5EF4-FFF2-40B4-BE49-F238E27FC236}">
                <a16:creationId xmlns:a16="http://schemas.microsoft.com/office/drawing/2014/main" id="{3FCDC91C-B2F5-0720-AE46-E92132550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1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9747" name="AutoShape 110">
            <a:extLst>
              <a:ext uri="{FF2B5EF4-FFF2-40B4-BE49-F238E27FC236}">
                <a16:creationId xmlns:a16="http://schemas.microsoft.com/office/drawing/2014/main" id="{0D4E7431-536B-8AAD-3425-9AD3913A60BA}"/>
              </a:ext>
            </a:extLst>
          </p:cNvPr>
          <p:cNvCxnSpPr>
            <a:cxnSpLocks noChangeShapeType="1"/>
            <a:endCxn id="29719" idx="1"/>
          </p:cNvCxnSpPr>
          <p:nvPr/>
        </p:nvCxnSpPr>
        <p:spPr bwMode="auto">
          <a:xfrm>
            <a:off x="6057901" y="4641851"/>
            <a:ext cx="161925" cy="644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8" name="Rectangle 111">
            <a:extLst>
              <a:ext uri="{FF2B5EF4-FFF2-40B4-BE49-F238E27FC236}">
                <a16:creationId xmlns:a16="http://schemas.microsoft.com/office/drawing/2014/main" id="{9189C07C-CE56-36E6-9935-9DC9DC5AF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6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49" name="Rectangle 112">
            <a:extLst>
              <a:ext uri="{FF2B5EF4-FFF2-40B4-BE49-F238E27FC236}">
                <a16:creationId xmlns:a16="http://schemas.microsoft.com/office/drawing/2014/main" id="{F3999200-E62C-8248-BC11-5F4A6370A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1" y="4500564"/>
            <a:ext cx="31432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9750" name="Rectangle 113">
            <a:extLst>
              <a:ext uri="{FF2B5EF4-FFF2-40B4-BE49-F238E27FC236}">
                <a16:creationId xmlns:a16="http://schemas.microsoft.com/office/drawing/2014/main" id="{EB2CFBF0-6173-C0C4-D8DB-62B9C8E7A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351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51" name="Rectangle 114">
            <a:extLst>
              <a:ext uri="{FF2B5EF4-FFF2-40B4-BE49-F238E27FC236}">
                <a16:creationId xmlns:a16="http://schemas.microsoft.com/office/drawing/2014/main" id="{A1984CD5-8A39-FA7F-2A9A-3F9F279B4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276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9752" name="AutoShape 115">
            <a:extLst>
              <a:ext uri="{FF2B5EF4-FFF2-40B4-BE49-F238E27FC236}">
                <a16:creationId xmlns:a16="http://schemas.microsoft.com/office/drawing/2014/main" id="{111F17C5-5311-6320-FEB7-9D4535E304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48526" y="4641851"/>
            <a:ext cx="161925" cy="644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53" name="Freeform 93">
            <a:extLst>
              <a:ext uri="{FF2B5EF4-FFF2-40B4-BE49-F238E27FC236}">
                <a16:creationId xmlns:a16="http://schemas.microsoft.com/office/drawing/2014/main" id="{71B92A26-E5C5-DBC8-5449-C0DC6A5CF699}"/>
              </a:ext>
            </a:extLst>
          </p:cNvPr>
          <p:cNvSpPr>
            <a:spLocks/>
          </p:cNvSpPr>
          <p:nvPr/>
        </p:nvSpPr>
        <p:spPr bwMode="auto">
          <a:xfrm>
            <a:off x="7685089" y="3822701"/>
            <a:ext cx="1106487" cy="828675"/>
          </a:xfrm>
          <a:custGeom>
            <a:avLst/>
            <a:gdLst>
              <a:gd name="T0" fmla="*/ 0 w 720"/>
              <a:gd name="T1" fmla="*/ 2147483646 h 522"/>
              <a:gd name="T2" fmla="*/ 2147483646 w 720"/>
              <a:gd name="T3" fmla="*/ 2147483646 h 522"/>
              <a:gd name="T4" fmla="*/ 2147483646 w 720"/>
              <a:gd name="T5" fmla="*/ 2147483646 h 522"/>
              <a:gd name="T6" fmla="*/ 2147483646 w 720"/>
              <a:gd name="T7" fmla="*/ 0 h 52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522"/>
              <a:gd name="T14" fmla="*/ 720 w 720"/>
              <a:gd name="T15" fmla="*/ 522 h 5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522">
                <a:moveTo>
                  <a:pt x="0" y="522"/>
                </a:moveTo>
                <a:cubicBezTo>
                  <a:pt x="42" y="477"/>
                  <a:pt x="66" y="324"/>
                  <a:pt x="252" y="252"/>
                </a:cubicBezTo>
                <a:cubicBezTo>
                  <a:pt x="438" y="180"/>
                  <a:pt x="468" y="240"/>
                  <a:pt x="594" y="156"/>
                </a:cubicBezTo>
                <a:cubicBezTo>
                  <a:pt x="720" y="72"/>
                  <a:pt x="679" y="33"/>
                  <a:pt x="702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4" name="Line 94">
            <a:extLst>
              <a:ext uri="{FF2B5EF4-FFF2-40B4-BE49-F238E27FC236}">
                <a16:creationId xmlns:a16="http://schemas.microsoft.com/office/drawing/2014/main" id="{3561123D-BDB2-3EDF-D80B-0BD25C786C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1250" y="3813175"/>
            <a:ext cx="230188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5" name="Rectangle 120">
            <a:extLst>
              <a:ext uri="{FF2B5EF4-FFF2-40B4-BE49-F238E27FC236}">
                <a16:creationId xmlns:a16="http://schemas.microsoft.com/office/drawing/2014/main" id="{34552B11-E502-15C0-6C9B-907602D55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289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56" name="Rectangle 121">
            <a:extLst>
              <a:ext uri="{FF2B5EF4-FFF2-40B4-BE49-F238E27FC236}">
                <a16:creationId xmlns:a16="http://schemas.microsoft.com/office/drawing/2014/main" id="{01D9498A-DB6D-F3B6-8022-CA62DD5BA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364" y="4500564"/>
            <a:ext cx="31432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9757" name="Rectangle 122">
            <a:extLst>
              <a:ext uri="{FF2B5EF4-FFF2-40B4-BE49-F238E27FC236}">
                <a16:creationId xmlns:a16="http://schemas.microsoft.com/office/drawing/2014/main" id="{1EF7797E-D0EF-9B7C-3B25-B916ED20D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8214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58" name="Rectangle 123">
            <a:extLst>
              <a:ext uri="{FF2B5EF4-FFF2-40B4-BE49-F238E27FC236}">
                <a16:creationId xmlns:a16="http://schemas.microsoft.com/office/drawing/2014/main" id="{F8391F85-5C37-6BC6-175B-08CD7350A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9139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9759" name="AutoShape 124">
            <a:extLst>
              <a:ext uri="{FF2B5EF4-FFF2-40B4-BE49-F238E27FC236}">
                <a16:creationId xmlns:a16="http://schemas.microsoft.com/office/drawing/2014/main" id="{7CFED793-A2BA-CDFD-F5B6-786FAA0107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34389" y="4641851"/>
            <a:ext cx="161925" cy="644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60" name="Line 97">
            <a:extLst>
              <a:ext uri="{FF2B5EF4-FFF2-40B4-BE49-F238E27FC236}">
                <a16:creationId xmlns:a16="http://schemas.microsoft.com/office/drawing/2014/main" id="{3E7D89EC-760B-3D89-86B1-620814222A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50313" y="3813176"/>
            <a:ext cx="19050" cy="828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1" name="Freeform 98">
            <a:extLst>
              <a:ext uri="{FF2B5EF4-FFF2-40B4-BE49-F238E27FC236}">
                <a16:creationId xmlns:a16="http://schemas.microsoft.com/office/drawing/2014/main" id="{88529990-E184-C4AD-0E89-9BD4E6D363B3}"/>
              </a:ext>
            </a:extLst>
          </p:cNvPr>
          <p:cNvSpPr>
            <a:spLocks/>
          </p:cNvSpPr>
          <p:nvPr/>
        </p:nvSpPr>
        <p:spPr bwMode="auto">
          <a:xfrm>
            <a:off x="6591300" y="3822701"/>
            <a:ext cx="2076450" cy="828675"/>
          </a:xfrm>
          <a:custGeom>
            <a:avLst/>
            <a:gdLst>
              <a:gd name="T0" fmla="*/ 2147483646 w 1308"/>
              <a:gd name="T1" fmla="*/ 2147483646 h 522"/>
              <a:gd name="T2" fmla="*/ 2147483646 w 1308"/>
              <a:gd name="T3" fmla="*/ 2147483646 h 522"/>
              <a:gd name="T4" fmla="*/ 2147483646 w 1308"/>
              <a:gd name="T5" fmla="*/ 2147483646 h 522"/>
              <a:gd name="T6" fmla="*/ 0 w 1308"/>
              <a:gd name="T7" fmla="*/ 0 h 522"/>
              <a:gd name="T8" fmla="*/ 0 60000 65536"/>
              <a:gd name="T9" fmla="*/ 0 60000 65536"/>
              <a:gd name="T10" fmla="*/ 0 60000 65536"/>
              <a:gd name="T11" fmla="*/ 0 60000 65536"/>
              <a:gd name="T12" fmla="*/ 0 w 1308"/>
              <a:gd name="T13" fmla="*/ 0 h 522"/>
              <a:gd name="T14" fmla="*/ 1308 w 1308"/>
              <a:gd name="T15" fmla="*/ 522 h 5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08" h="522">
                <a:moveTo>
                  <a:pt x="1308" y="522"/>
                </a:moveTo>
                <a:cubicBezTo>
                  <a:pt x="1272" y="469"/>
                  <a:pt x="1239" y="238"/>
                  <a:pt x="1080" y="204"/>
                </a:cubicBezTo>
                <a:cubicBezTo>
                  <a:pt x="936" y="114"/>
                  <a:pt x="531" y="353"/>
                  <a:pt x="354" y="318"/>
                </a:cubicBezTo>
                <a:cubicBezTo>
                  <a:pt x="177" y="283"/>
                  <a:pt x="74" y="66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2" name="Rectangle 125">
            <a:extLst>
              <a:ext uri="{FF2B5EF4-FFF2-40B4-BE49-F238E27FC236}">
                <a16:creationId xmlns:a16="http://schemas.microsoft.com/office/drawing/2014/main" id="{82F2C1BA-8EEE-C5AC-3A80-27003CBBB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1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63" name="Rectangle 126">
            <a:extLst>
              <a:ext uri="{FF2B5EF4-FFF2-40B4-BE49-F238E27FC236}">
                <a16:creationId xmlns:a16="http://schemas.microsoft.com/office/drawing/2014/main" id="{98C4673D-102E-AA64-A407-BAE464009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1276" y="4500564"/>
            <a:ext cx="31432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29764" name="Rectangle 127">
            <a:extLst>
              <a:ext uri="{FF2B5EF4-FFF2-40B4-BE49-F238E27FC236}">
                <a16:creationId xmlns:a16="http://schemas.microsoft.com/office/drawing/2014/main" id="{FC577978-7131-9EE0-A785-79D0124BF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26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65" name="Rectangle 128">
            <a:extLst>
              <a:ext uri="{FF2B5EF4-FFF2-40B4-BE49-F238E27FC236}">
                <a16:creationId xmlns:a16="http://schemas.microsoft.com/office/drawing/2014/main" id="{57C90DA5-C0D6-B710-A7E6-0BE005CEC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051" y="4500564"/>
            <a:ext cx="219075" cy="3143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9766" name="AutoShape 129">
            <a:extLst>
              <a:ext uri="{FF2B5EF4-FFF2-40B4-BE49-F238E27FC236}">
                <a16:creationId xmlns:a16="http://schemas.microsoft.com/office/drawing/2014/main" id="{23B876DB-7649-9EA3-F745-B9B25DEF26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639301" y="4641851"/>
            <a:ext cx="161925" cy="644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67" name="Freeform 95">
            <a:extLst>
              <a:ext uri="{FF2B5EF4-FFF2-40B4-BE49-F238E27FC236}">
                <a16:creationId xmlns:a16="http://schemas.microsoft.com/office/drawing/2014/main" id="{4A2FBCB7-9124-5398-44C6-32F2377BA4DC}"/>
              </a:ext>
            </a:extLst>
          </p:cNvPr>
          <p:cNvSpPr>
            <a:spLocks/>
          </p:cNvSpPr>
          <p:nvPr/>
        </p:nvSpPr>
        <p:spPr bwMode="auto">
          <a:xfrm>
            <a:off x="8934451" y="3803651"/>
            <a:ext cx="962025" cy="847725"/>
          </a:xfrm>
          <a:custGeom>
            <a:avLst/>
            <a:gdLst>
              <a:gd name="T0" fmla="*/ 2147483646 w 606"/>
              <a:gd name="T1" fmla="*/ 2147483646 h 534"/>
              <a:gd name="T2" fmla="*/ 2147483646 w 606"/>
              <a:gd name="T3" fmla="*/ 2147483646 h 534"/>
              <a:gd name="T4" fmla="*/ 2147483646 w 606"/>
              <a:gd name="T5" fmla="*/ 2147483646 h 534"/>
              <a:gd name="T6" fmla="*/ 0 w 606"/>
              <a:gd name="T7" fmla="*/ 0 h 534"/>
              <a:gd name="T8" fmla="*/ 0 60000 65536"/>
              <a:gd name="T9" fmla="*/ 0 60000 65536"/>
              <a:gd name="T10" fmla="*/ 0 60000 65536"/>
              <a:gd name="T11" fmla="*/ 0 60000 65536"/>
              <a:gd name="T12" fmla="*/ 0 w 606"/>
              <a:gd name="T13" fmla="*/ 0 h 534"/>
              <a:gd name="T14" fmla="*/ 606 w 606"/>
              <a:gd name="T15" fmla="*/ 534 h 5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6" h="534">
                <a:moveTo>
                  <a:pt x="606" y="534"/>
                </a:moveTo>
                <a:cubicBezTo>
                  <a:pt x="606" y="534"/>
                  <a:pt x="606" y="330"/>
                  <a:pt x="531" y="282"/>
                </a:cubicBezTo>
                <a:cubicBezTo>
                  <a:pt x="456" y="234"/>
                  <a:pt x="279" y="294"/>
                  <a:pt x="207" y="237"/>
                </a:cubicBezTo>
                <a:cubicBezTo>
                  <a:pt x="135" y="180"/>
                  <a:pt x="43" y="50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8" name="Line 96">
            <a:extLst>
              <a:ext uri="{FF2B5EF4-FFF2-40B4-BE49-F238E27FC236}">
                <a16:creationId xmlns:a16="http://schemas.microsoft.com/office/drawing/2014/main" id="{E31D1CBE-34BD-D74F-EA02-6AC59788CA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44114" y="3813176"/>
            <a:ext cx="14287" cy="828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69" name="Line 131">
            <a:extLst>
              <a:ext uri="{FF2B5EF4-FFF2-40B4-BE49-F238E27FC236}">
                <a16:creationId xmlns:a16="http://schemas.microsoft.com/office/drawing/2014/main" id="{F2686FA4-7E84-445E-4DC9-D63C2759F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2650" y="2508250"/>
            <a:ext cx="455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7C685D78-87A6-9CEB-8296-565521D28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8153400" cy="838200"/>
          </a:xfrm>
        </p:spPr>
        <p:txBody>
          <a:bodyPr/>
          <a:lstStyle/>
          <a:p>
            <a:pPr eaLnBrk="1" hangingPunct="1"/>
            <a:r>
              <a:rPr lang="en-US" altLang="en-US"/>
              <a:t>Adjacency List Structure</a:t>
            </a:r>
          </a:p>
        </p:txBody>
      </p:sp>
      <p:sp>
        <p:nvSpPr>
          <p:cNvPr id="3072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A1F602-C7EA-38A9-2A3C-BCE713633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671638"/>
            <a:ext cx="3657600" cy="465296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Edge list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Incidence sequence for each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sequence of references to edge objects of incident edges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Augmented edge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references to associated positions in incidence sequences of end vertices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Good for some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IncidentEdges(v)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areAdjacent(u, v)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removeVertex(v)</a:t>
            </a:r>
          </a:p>
        </p:txBody>
      </p:sp>
      <p:cxnSp>
        <p:nvCxnSpPr>
          <p:cNvPr id="30723" name="AutoShape 4">
            <a:extLst>
              <a:ext uri="{FF2B5EF4-FFF2-40B4-BE49-F238E27FC236}">
                <a16:creationId xmlns:a16="http://schemas.microsoft.com/office/drawing/2014/main" id="{1B316C79-E985-B573-9543-DA82519AAADF}"/>
              </a:ext>
            </a:extLst>
          </p:cNvPr>
          <p:cNvCxnSpPr>
            <a:cxnSpLocks noChangeShapeType="1"/>
            <a:stCxn id="30738" idx="2"/>
            <a:endCxn id="30737" idx="6"/>
          </p:cNvCxnSpPr>
          <p:nvPr/>
        </p:nvCxnSpPr>
        <p:spPr bwMode="auto">
          <a:xfrm flipH="1">
            <a:off x="6337301" y="6096000"/>
            <a:ext cx="27336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4" name="AutoShape 5">
            <a:extLst>
              <a:ext uri="{FF2B5EF4-FFF2-40B4-BE49-F238E27FC236}">
                <a16:creationId xmlns:a16="http://schemas.microsoft.com/office/drawing/2014/main" id="{9B8020BD-41CB-12E6-9957-DE4BA05E9F23}"/>
              </a:ext>
            </a:extLst>
          </p:cNvPr>
          <p:cNvCxnSpPr>
            <a:cxnSpLocks noChangeShapeType="1"/>
            <a:stCxn id="30734" idx="2"/>
            <a:endCxn id="30732" idx="6"/>
          </p:cNvCxnSpPr>
          <p:nvPr/>
        </p:nvCxnSpPr>
        <p:spPr bwMode="auto">
          <a:xfrm flipH="1">
            <a:off x="6334125" y="2895600"/>
            <a:ext cx="29400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25" name="Oval 6">
            <a:extLst>
              <a:ext uri="{FF2B5EF4-FFF2-40B4-BE49-F238E27FC236}">
                <a16:creationId xmlns:a16="http://schemas.microsoft.com/office/drawing/2014/main" id="{D4CA4B9F-E4E5-61E9-F2D9-105A8E474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050" y="197643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</a:t>
            </a:r>
          </a:p>
        </p:txBody>
      </p:sp>
      <p:sp>
        <p:nvSpPr>
          <p:cNvPr id="30726" name="Oval 7">
            <a:extLst>
              <a:ext uri="{FF2B5EF4-FFF2-40B4-BE49-F238E27FC236}">
                <a16:creationId xmlns:a16="http://schemas.microsoft.com/office/drawing/2014/main" id="{159C36E6-EB07-6240-345F-92DF68BB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1600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</a:p>
        </p:txBody>
      </p:sp>
      <p:sp>
        <p:nvSpPr>
          <p:cNvPr id="30727" name="Oval 8">
            <a:extLst>
              <a:ext uri="{FF2B5EF4-FFF2-40B4-BE49-F238E27FC236}">
                <a16:creationId xmlns:a16="http://schemas.microsoft.com/office/drawing/2014/main" id="{2E03B2E3-57E0-F991-AB80-BC39B7CC0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197643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</a:p>
        </p:txBody>
      </p:sp>
      <p:cxnSp>
        <p:nvCxnSpPr>
          <p:cNvPr id="30728" name="AutoShape 9">
            <a:extLst>
              <a:ext uri="{FF2B5EF4-FFF2-40B4-BE49-F238E27FC236}">
                <a16:creationId xmlns:a16="http://schemas.microsoft.com/office/drawing/2014/main" id="{2865DCC7-C83A-7B1A-23CD-7ACBD8A7BFE1}"/>
              </a:ext>
            </a:extLst>
          </p:cNvPr>
          <p:cNvCxnSpPr>
            <a:cxnSpLocks noChangeShapeType="1"/>
            <a:stCxn id="30726" idx="5"/>
            <a:endCxn id="30727" idx="1"/>
          </p:cNvCxnSpPr>
          <p:nvPr/>
        </p:nvCxnSpPr>
        <p:spPr bwMode="auto">
          <a:xfrm>
            <a:off x="7921626" y="1870075"/>
            <a:ext cx="701675" cy="1412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9" name="AutoShape 10">
            <a:extLst>
              <a:ext uri="{FF2B5EF4-FFF2-40B4-BE49-F238E27FC236}">
                <a16:creationId xmlns:a16="http://schemas.microsoft.com/office/drawing/2014/main" id="{2371AEDD-87A0-4D21-93AC-068AF53EFD6D}"/>
              </a:ext>
            </a:extLst>
          </p:cNvPr>
          <p:cNvCxnSpPr>
            <a:cxnSpLocks noChangeShapeType="1"/>
            <a:stCxn id="30726" idx="3"/>
            <a:endCxn id="30725" idx="7"/>
          </p:cNvCxnSpPr>
          <p:nvPr/>
        </p:nvCxnSpPr>
        <p:spPr bwMode="auto">
          <a:xfrm flipH="1">
            <a:off x="7010401" y="1870075"/>
            <a:ext cx="695325" cy="1412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0" name="Text Box 12">
            <a:extLst>
              <a:ext uri="{FF2B5EF4-FFF2-40B4-BE49-F238E27FC236}">
                <a16:creationId xmlns:a16="http://schemas.microsoft.com/office/drawing/2014/main" id="{6DE7203B-6069-6B2E-2E15-23DF5F10F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1610" y="16002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0731" name="Text Box 13">
            <a:extLst>
              <a:ext uri="{FF2B5EF4-FFF2-40B4-BE49-F238E27FC236}">
                <a16:creationId xmlns:a16="http://schemas.microsoft.com/office/drawing/2014/main" id="{DB467311-2720-8E71-25ED-6BA7731A0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888" y="16002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0732" name="Oval 15">
            <a:extLst>
              <a:ext uri="{FF2B5EF4-FFF2-40B4-BE49-F238E27FC236}">
                <a16:creationId xmlns:a16="http://schemas.microsoft.com/office/drawing/2014/main" id="{4D63F7F2-E0FB-A93B-EE33-A65B21357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743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33" name="Oval 16">
            <a:extLst>
              <a:ext uri="{FF2B5EF4-FFF2-40B4-BE49-F238E27FC236}">
                <a16:creationId xmlns:a16="http://schemas.microsoft.com/office/drawing/2014/main" id="{6BB3BA5B-E1C2-736C-0543-9C2B1DDA3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288" y="2743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34" name="Oval 17">
            <a:extLst>
              <a:ext uri="{FF2B5EF4-FFF2-40B4-BE49-F238E27FC236}">
                <a16:creationId xmlns:a16="http://schemas.microsoft.com/office/drawing/2014/main" id="{431728C0-C86E-2EB2-6FF0-CBE18CA8C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3700" y="2743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35" name="Rectangle 18">
            <a:extLst>
              <a:ext uri="{FF2B5EF4-FFF2-40B4-BE49-F238E27FC236}">
                <a16:creationId xmlns:a16="http://schemas.microsoft.com/office/drawing/2014/main" id="{A9F23BBD-C671-C005-888F-B9F486794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1" y="5192714"/>
            <a:ext cx="21907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36" name="Rectangle 19">
            <a:extLst>
              <a:ext uri="{FF2B5EF4-FFF2-40B4-BE49-F238E27FC236}">
                <a16:creationId xmlns:a16="http://schemas.microsoft.com/office/drawing/2014/main" id="{32E2D1EC-FBF5-78FD-2A13-9FB82BF5B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6" y="5192714"/>
            <a:ext cx="31432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0737" name="Oval 24">
            <a:extLst>
              <a:ext uri="{FF2B5EF4-FFF2-40B4-BE49-F238E27FC236}">
                <a16:creationId xmlns:a16="http://schemas.microsoft.com/office/drawing/2014/main" id="{033A2824-7695-1809-3EC0-0D0CCE5A3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94360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38" name="Oval 27">
            <a:extLst>
              <a:ext uri="{FF2B5EF4-FFF2-40B4-BE49-F238E27FC236}">
                <a16:creationId xmlns:a16="http://schemas.microsoft.com/office/drawing/2014/main" id="{91FB5D1A-6347-A5BE-DCAC-85279C503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00" y="594360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0739" name="AutoShape 28">
            <a:extLst>
              <a:ext uri="{FF2B5EF4-FFF2-40B4-BE49-F238E27FC236}">
                <a16:creationId xmlns:a16="http://schemas.microsoft.com/office/drawing/2014/main" id="{DE7DB329-98A6-0D18-4406-9B13287FB63D}"/>
              </a:ext>
            </a:extLst>
          </p:cNvPr>
          <p:cNvCxnSpPr>
            <a:cxnSpLocks noChangeShapeType="1"/>
            <a:endCxn id="30735" idx="2"/>
          </p:cNvCxnSpPr>
          <p:nvPr/>
        </p:nvCxnSpPr>
        <p:spPr bwMode="auto">
          <a:xfrm flipV="1">
            <a:off x="6175376" y="5648326"/>
            <a:ext cx="182563" cy="4556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0" name="AutoShape 31">
            <a:extLst>
              <a:ext uri="{FF2B5EF4-FFF2-40B4-BE49-F238E27FC236}">
                <a16:creationId xmlns:a16="http://schemas.microsoft.com/office/drawing/2014/main" id="{D27BF286-9904-8345-1EAB-911A08DA1D3A}"/>
              </a:ext>
            </a:extLst>
          </p:cNvPr>
          <p:cNvCxnSpPr>
            <a:cxnSpLocks noChangeShapeType="1"/>
            <a:endCxn id="30773" idx="2"/>
          </p:cNvCxnSpPr>
          <p:nvPr/>
        </p:nvCxnSpPr>
        <p:spPr bwMode="auto">
          <a:xfrm flipV="1">
            <a:off x="9228138" y="5637214"/>
            <a:ext cx="234950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1" name="Rectangle 32">
            <a:extLst>
              <a:ext uri="{FF2B5EF4-FFF2-40B4-BE49-F238E27FC236}">
                <a16:creationId xmlns:a16="http://schemas.microsoft.com/office/drawing/2014/main" id="{2A0AE18F-1D67-45AB-565C-6FBC66456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</a:t>
            </a:r>
          </a:p>
        </p:txBody>
      </p:sp>
      <p:sp>
        <p:nvSpPr>
          <p:cNvPr id="30742" name="Rectangle 33">
            <a:extLst>
              <a:ext uri="{FF2B5EF4-FFF2-40B4-BE49-F238E27FC236}">
                <a16:creationId xmlns:a16="http://schemas.microsoft.com/office/drawing/2014/main" id="{7955D894-AFD7-06CE-1C4D-B81BF2625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</a:p>
        </p:txBody>
      </p:sp>
      <p:sp>
        <p:nvSpPr>
          <p:cNvPr id="30743" name="Rectangle 34">
            <a:extLst>
              <a:ext uri="{FF2B5EF4-FFF2-40B4-BE49-F238E27FC236}">
                <a16:creationId xmlns:a16="http://schemas.microsoft.com/office/drawing/2014/main" id="{29FC1337-5A2E-D8E1-0953-0EBFE791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9276" y="340995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</a:p>
        </p:txBody>
      </p:sp>
      <p:cxnSp>
        <p:nvCxnSpPr>
          <p:cNvPr id="30744" name="AutoShape 36">
            <a:extLst>
              <a:ext uri="{FF2B5EF4-FFF2-40B4-BE49-F238E27FC236}">
                <a16:creationId xmlns:a16="http://schemas.microsoft.com/office/drawing/2014/main" id="{E9D7D2EC-FCCE-A4F9-1DD4-90C72E7B0A99}"/>
              </a:ext>
            </a:extLst>
          </p:cNvPr>
          <p:cNvCxnSpPr>
            <a:cxnSpLocks noChangeShapeType="1"/>
            <a:endCxn id="30741" idx="0"/>
          </p:cNvCxnSpPr>
          <p:nvPr/>
        </p:nvCxnSpPr>
        <p:spPr bwMode="auto">
          <a:xfrm>
            <a:off x="6167439" y="2890838"/>
            <a:ext cx="180975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5" name="AutoShape 37">
            <a:extLst>
              <a:ext uri="{FF2B5EF4-FFF2-40B4-BE49-F238E27FC236}">
                <a16:creationId xmlns:a16="http://schemas.microsoft.com/office/drawing/2014/main" id="{93EF9830-E627-CDEB-B084-409A5444D7DB}"/>
              </a:ext>
            </a:extLst>
          </p:cNvPr>
          <p:cNvCxnSpPr>
            <a:cxnSpLocks noChangeShapeType="1"/>
            <a:endCxn id="30742" idx="0"/>
          </p:cNvCxnSpPr>
          <p:nvPr/>
        </p:nvCxnSpPr>
        <p:spPr bwMode="auto">
          <a:xfrm>
            <a:off x="7781925" y="2890838"/>
            <a:ext cx="173038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6" name="AutoShape 38">
            <a:extLst>
              <a:ext uri="{FF2B5EF4-FFF2-40B4-BE49-F238E27FC236}">
                <a16:creationId xmlns:a16="http://schemas.microsoft.com/office/drawing/2014/main" id="{5C0CD1C4-093A-B3FB-C4BD-14CD8B9AE169}"/>
              </a:ext>
            </a:extLst>
          </p:cNvPr>
          <p:cNvCxnSpPr>
            <a:cxnSpLocks noChangeShapeType="1"/>
            <a:endCxn id="30743" idx="0"/>
          </p:cNvCxnSpPr>
          <p:nvPr/>
        </p:nvCxnSpPr>
        <p:spPr bwMode="auto">
          <a:xfrm>
            <a:off x="9436100" y="2895601"/>
            <a:ext cx="160338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7" name="Freeform 40">
            <a:extLst>
              <a:ext uri="{FF2B5EF4-FFF2-40B4-BE49-F238E27FC236}">
                <a16:creationId xmlns:a16="http://schemas.microsoft.com/office/drawing/2014/main" id="{177E7EF0-5836-09D8-7930-330CC624E493}"/>
              </a:ext>
            </a:extLst>
          </p:cNvPr>
          <p:cNvSpPr>
            <a:spLocks/>
          </p:cNvSpPr>
          <p:nvPr/>
        </p:nvSpPr>
        <p:spPr bwMode="auto">
          <a:xfrm>
            <a:off x="6338888" y="3567114"/>
            <a:ext cx="823912" cy="1747837"/>
          </a:xfrm>
          <a:custGeom>
            <a:avLst/>
            <a:gdLst>
              <a:gd name="T0" fmla="*/ 2147483646 w 519"/>
              <a:gd name="T1" fmla="*/ 2147483646 h 1101"/>
              <a:gd name="T2" fmla="*/ 2147483646 w 519"/>
              <a:gd name="T3" fmla="*/ 2147483646 h 1101"/>
              <a:gd name="T4" fmla="*/ 2147483646 w 519"/>
              <a:gd name="T5" fmla="*/ 2147483646 h 1101"/>
              <a:gd name="T6" fmla="*/ 2147483646 w 519"/>
              <a:gd name="T7" fmla="*/ 0 h 1101"/>
              <a:gd name="T8" fmla="*/ 0 60000 65536"/>
              <a:gd name="T9" fmla="*/ 0 60000 65536"/>
              <a:gd name="T10" fmla="*/ 0 60000 65536"/>
              <a:gd name="T11" fmla="*/ 0 60000 65536"/>
              <a:gd name="T12" fmla="*/ 0 w 519"/>
              <a:gd name="T13" fmla="*/ 0 h 1101"/>
              <a:gd name="T14" fmla="*/ 519 w 519"/>
              <a:gd name="T15" fmla="*/ 1101 h 11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9" h="1101">
                <a:moveTo>
                  <a:pt x="3" y="1101"/>
                </a:moveTo>
                <a:cubicBezTo>
                  <a:pt x="20" y="1032"/>
                  <a:pt x="0" y="798"/>
                  <a:pt x="108" y="687"/>
                </a:cubicBezTo>
                <a:cubicBezTo>
                  <a:pt x="216" y="576"/>
                  <a:pt x="115" y="341"/>
                  <a:pt x="183" y="227"/>
                </a:cubicBezTo>
                <a:cubicBezTo>
                  <a:pt x="251" y="113"/>
                  <a:pt x="449" y="47"/>
                  <a:pt x="519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Rectangle 41">
            <a:extLst>
              <a:ext uri="{FF2B5EF4-FFF2-40B4-BE49-F238E27FC236}">
                <a16:creationId xmlns:a16="http://schemas.microsoft.com/office/drawing/2014/main" id="{ECC2C846-C097-5C6B-DDF1-F59D7E218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6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49" name="Line 42">
            <a:extLst>
              <a:ext uri="{FF2B5EF4-FFF2-40B4-BE49-F238E27FC236}">
                <a16:creationId xmlns:a16="http://schemas.microsoft.com/office/drawing/2014/main" id="{C84239FD-5005-D61C-F12F-A856B5458E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2976" y="3048000"/>
            <a:ext cx="104775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0" name="Rectangle 43">
            <a:extLst>
              <a:ext uri="{FF2B5EF4-FFF2-40B4-BE49-F238E27FC236}">
                <a16:creationId xmlns:a16="http://schemas.microsoft.com/office/drawing/2014/main" id="{48097865-A85A-CFC6-9E9D-009407E86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51" name="Line 44">
            <a:extLst>
              <a:ext uri="{FF2B5EF4-FFF2-40B4-BE49-F238E27FC236}">
                <a16:creationId xmlns:a16="http://schemas.microsoft.com/office/drawing/2014/main" id="{D7CC8657-60D2-E19D-B07B-468887C283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7463" y="3038475"/>
            <a:ext cx="93662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2" name="Rectangle 45">
            <a:extLst>
              <a:ext uri="{FF2B5EF4-FFF2-40B4-BE49-F238E27FC236}">
                <a16:creationId xmlns:a16="http://schemas.microsoft.com/office/drawing/2014/main" id="{B4E6EAE1-77D2-E85B-E6E7-3924C7F4D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714" y="340995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53" name="Line 46">
            <a:extLst>
              <a:ext uri="{FF2B5EF4-FFF2-40B4-BE49-F238E27FC236}">
                <a16:creationId xmlns:a16="http://schemas.microsoft.com/office/drawing/2014/main" id="{EDEA2A61-CE15-052E-4AE0-3FFBA84861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86875" y="3033713"/>
            <a:ext cx="4445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4" name="Rectangle 49">
            <a:extLst>
              <a:ext uri="{FF2B5EF4-FFF2-40B4-BE49-F238E27FC236}">
                <a16:creationId xmlns:a16="http://schemas.microsoft.com/office/drawing/2014/main" id="{BC3E9B4D-186B-C538-7169-1A586052E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6" y="5192714"/>
            <a:ext cx="21907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55" name="Freeform 50">
            <a:extLst>
              <a:ext uri="{FF2B5EF4-FFF2-40B4-BE49-F238E27FC236}">
                <a16:creationId xmlns:a16="http://schemas.microsoft.com/office/drawing/2014/main" id="{9BB88CC0-A05C-D014-BB71-9358FCE7A551}"/>
              </a:ext>
            </a:extLst>
          </p:cNvPr>
          <p:cNvSpPr>
            <a:spLocks/>
          </p:cNvSpPr>
          <p:nvPr/>
        </p:nvSpPr>
        <p:spPr bwMode="auto">
          <a:xfrm>
            <a:off x="5853114" y="3729038"/>
            <a:ext cx="485775" cy="1581150"/>
          </a:xfrm>
          <a:custGeom>
            <a:avLst/>
            <a:gdLst>
              <a:gd name="T0" fmla="*/ 2147483646 w 306"/>
              <a:gd name="T1" fmla="*/ 2147483646 h 996"/>
              <a:gd name="T2" fmla="*/ 2147483646 w 306"/>
              <a:gd name="T3" fmla="*/ 2147483646 h 996"/>
              <a:gd name="T4" fmla="*/ 2147483646 w 306"/>
              <a:gd name="T5" fmla="*/ 0 h 996"/>
              <a:gd name="T6" fmla="*/ 0 60000 65536"/>
              <a:gd name="T7" fmla="*/ 0 60000 65536"/>
              <a:gd name="T8" fmla="*/ 0 60000 65536"/>
              <a:gd name="T9" fmla="*/ 0 w 306"/>
              <a:gd name="T10" fmla="*/ 0 h 996"/>
              <a:gd name="T11" fmla="*/ 306 w 306"/>
              <a:gd name="T12" fmla="*/ 996 h 9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6" h="996">
                <a:moveTo>
                  <a:pt x="177" y="996"/>
                </a:moveTo>
                <a:cubicBezTo>
                  <a:pt x="173" y="908"/>
                  <a:pt x="306" y="606"/>
                  <a:pt x="153" y="465"/>
                </a:cubicBezTo>
                <a:cubicBezTo>
                  <a:pt x="0" y="324"/>
                  <a:pt x="137" y="97"/>
                  <a:pt x="132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6" name="Rectangle 51">
            <a:extLst>
              <a:ext uri="{FF2B5EF4-FFF2-40B4-BE49-F238E27FC236}">
                <a16:creationId xmlns:a16="http://schemas.microsoft.com/office/drawing/2014/main" id="{8A349092-6CEE-75BE-2E77-37C9209AA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1" y="5192714"/>
            <a:ext cx="21907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0757" name="AutoShape 52">
            <a:extLst>
              <a:ext uri="{FF2B5EF4-FFF2-40B4-BE49-F238E27FC236}">
                <a16:creationId xmlns:a16="http://schemas.microsoft.com/office/drawing/2014/main" id="{3564DF0A-A095-BDC4-81C3-A8A0F087EC62}"/>
              </a:ext>
            </a:extLst>
          </p:cNvPr>
          <p:cNvCxnSpPr>
            <a:cxnSpLocks noChangeShapeType="1"/>
            <a:endCxn id="30737" idx="1"/>
          </p:cNvCxnSpPr>
          <p:nvPr/>
        </p:nvCxnSpPr>
        <p:spPr bwMode="auto">
          <a:xfrm>
            <a:off x="5910263" y="5405439"/>
            <a:ext cx="157162" cy="5730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58" name="Rectangle 74">
            <a:extLst>
              <a:ext uri="{FF2B5EF4-FFF2-40B4-BE49-F238E27FC236}">
                <a16:creationId xmlns:a16="http://schemas.microsoft.com/office/drawing/2014/main" id="{5FE03DD8-8130-E542-1059-19145ADB7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59" name="Rectangle 75">
            <a:extLst>
              <a:ext uri="{FF2B5EF4-FFF2-40B4-BE49-F238E27FC236}">
                <a16:creationId xmlns:a16="http://schemas.microsoft.com/office/drawing/2014/main" id="{AB527159-56AC-614C-522A-5AC84AC5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6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60" name="Rectangle 76">
            <a:extLst>
              <a:ext uri="{FF2B5EF4-FFF2-40B4-BE49-F238E27FC236}">
                <a16:creationId xmlns:a16="http://schemas.microsoft.com/office/drawing/2014/main" id="{AE23305A-9F37-383E-EE47-B63411EF2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389" y="340995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61" name="Oval 77">
            <a:extLst>
              <a:ext uri="{FF2B5EF4-FFF2-40B4-BE49-F238E27FC236}">
                <a16:creationId xmlns:a16="http://schemas.microsoft.com/office/drawing/2014/main" id="{64A184AF-2041-935C-A319-25EFFD540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4114800"/>
            <a:ext cx="304800" cy="304800"/>
          </a:xfrm>
          <a:prstGeom prst="ellipse">
            <a:avLst/>
          </a:prstGeom>
          <a:solidFill>
            <a:srgbClr val="C0C0C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2"/>
              </a:solidFill>
            </a:endParaRPr>
          </a:p>
        </p:txBody>
      </p:sp>
      <p:sp>
        <p:nvSpPr>
          <p:cNvPr id="30762" name="Oval 78">
            <a:extLst>
              <a:ext uri="{FF2B5EF4-FFF2-40B4-BE49-F238E27FC236}">
                <a16:creationId xmlns:a16="http://schemas.microsoft.com/office/drawing/2014/main" id="{25B2CF09-EEE4-3F0D-4416-751FD99E4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4050" y="4114800"/>
            <a:ext cx="304800" cy="304800"/>
          </a:xfrm>
          <a:prstGeom prst="ellipse">
            <a:avLst/>
          </a:prstGeom>
          <a:solidFill>
            <a:srgbClr val="C0C0C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2"/>
              </a:solidFill>
            </a:endParaRPr>
          </a:p>
        </p:txBody>
      </p:sp>
      <p:sp>
        <p:nvSpPr>
          <p:cNvPr id="30763" name="Oval 79">
            <a:extLst>
              <a:ext uri="{FF2B5EF4-FFF2-40B4-BE49-F238E27FC236}">
                <a16:creationId xmlns:a16="http://schemas.microsoft.com/office/drawing/2014/main" id="{26DED264-A163-35C1-DAD9-47902DF55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114800"/>
            <a:ext cx="304800" cy="304800"/>
          </a:xfrm>
          <a:prstGeom prst="ellipse">
            <a:avLst/>
          </a:prstGeom>
          <a:solidFill>
            <a:srgbClr val="C0C0C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2"/>
              </a:solidFill>
            </a:endParaRPr>
          </a:p>
        </p:txBody>
      </p:sp>
      <p:sp>
        <p:nvSpPr>
          <p:cNvPr id="30764" name="Oval 80">
            <a:extLst>
              <a:ext uri="{FF2B5EF4-FFF2-40B4-BE49-F238E27FC236}">
                <a16:creationId xmlns:a16="http://schemas.microsoft.com/office/drawing/2014/main" id="{EA4B4576-86BC-C482-0D04-CA6EBB78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114800"/>
            <a:ext cx="304800" cy="304800"/>
          </a:xfrm>
          <a:prstGeom prst="ellipse">
            <a:avLst/>
          </a:prstGeom>
          <a:solidFill>
            <a:srgbClr val="C0C0C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2"/>
              </a:solidFill>
            </a:endParaRPr>
          </a:p>
        </p:txBody>
      </p:sp>
      <p:cxnSp>
        <p:nvCxnSpPr>
          <p:cNvPr id="30765" name="AutoShape 81">
            <a:extLst>
              <a:ext uri="{FF2B5EF4-FFF2-40B4-BE49-F238E27FC236}">
                <a16:creationId xmlns:a16="http://schemas.microsoft.com/office/drawing/2014/main" id="{FFA1B148-AEC6-BBA7-E024-90238CC6DD61}"/>
              </a:ext>
            </a:extLst>
          </p:cNvPr>
          <p:cNvCxnSpPr>
            <a:cxnSpLocks noChangeShapeType="1"/>
            <a:endCxn id="30761" idx="0"/>
          </p:cNvCxnSpPr>
          <p:nvPr/>
        </p:nvCxnSpPr>
        <p:spPr bwMode="auto">
          <a:xfrm flipH="1">
            <a:off x="5657851" y="3562351"/>
            <a:ext cx="47625" cy="5429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6" name="AutoShape 82">
            <a:extLst>
              <a:ext uri="{FF2B5EF4-FFF2-40B4-BE49-F238E27FC236}">
                <a16:creationId xmlns:a16="http://schemas.microsoft.com/office/drawing/2014/main" id="{1BDAB5BE-4C7B-9DC7-EDD7-85D14B5B2A9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161213" y="3576639"/>
            <a:ext cx="177800" cy="547687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7" name="AutoShape 83">
            <a:extLst>
              <a:ext uri="{FF2B5EF4-FFF2-40B4-BE49-F238E27FC236}">
                <a16:creationId xmlns:a16="http://schemas.microsoft.com/office/drawing/2014/main" id="{D864164E-D133-F95E-81BF-5660E558D8C6}"/>
              </a:ext>
            </a:extLst>
          </p:cNvPr>
          <p:cNvCxnSpPr>
            <a:cxnSpLocks noChangeShapeType="1"/>
            <a:endCxn id="30764" idx="0"/>
          </p:cNvCxnSpPr>
          <p:nvPr/>
        </p:nvCxnSpPr>
        <p:spPr bwMode="auto">
          <a:xfrm>
            <a:off x="8959850" y="3581401"/>
            <a:ext cx="107950" cy="52387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8" name="AutoShape 84">
            <a:extLst>
              <a:ext uri="{FF2B5EF4-FFF2-40B4-BE49-F238E27FC236}">
                <a16:creationId xmlns:a16="http://schemas.microsoft.com/office/drawing/2014/main" id="{9C6B00FE-418B-FC35-7DE0-F74F9B6B0FCE}"/>
              </a:ext>
            </a:extLst>
          </p:cNvPr>
          <p:cNvCxnSpPr>
            <a:cxnSpLocks noChangeShapeType="1"/>
            <a:stCxn id="30763" idx="2"/>
            <a:endCxn id="30762" idx="6"/>
          </p:cNvCxnSpPr>
          <p:nvPr/>
        </p:nvCxnSpPr>
        <p:spPr bwMode="auto">
          <a:xfrm flipH="1">
            <a:off x="7318375" y="4267200"/>
            <a:ext cx="596900" cy="0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9" name="AutoShape 85">
            <a:extLst>
              <a:ext uri="{FF2B5EF4-FFF2-40B4-BE49-F238E27FC236}">
                <a16:creationId xmlns:a16="http://schemas.microsoft.com/office/drawing/2014/main" id="{83933CCD-DED4-2A4B-675A-88CE9F43FB06}"/>
              </a:ext>
            </a:extLst>
          </p:cNvPr>
          <p:cNvCxnSpPr>
            <a:cxnSpLocks noChangeShapeType="1"/>
            <a:endCxn id="30756" idx="0"/>
          </p:cNvCxnSpPr>
          <p:nvPr/>
        </p:nvCxnSpPr>
        <p:spPr bwMode="auto">
          <a:xfrm>
            <a:off x="5653088" y="4271964"/>
            <a:ext cx="266700" cy="9112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0" name="AutoShape 86">
            <a:extLst>
              <a:ext uri="{FF2B5EF4-FFF2-40B4-BE49-F238E27FC236}">
                <a16:creationId xmlns:a16="http://schemas.microsoft.com/office/drawing/2014/main" id="{3EABE2D1-5A24-D09C-2C53-72A3BEEF7A7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438107" y="4463257"/>
            <a:ext cx="919163" cy="527050"/>
          </a:xfrm>
          <a:prstGeom prst="curvedConnector3">
            <a:avLst>
              <a:gd name="adj1" fmla="val 49912"/>
            </a:avLst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1" name="AutoShape 87">
            <a:extLst>
              <a:ext uri="{FF2B5EF4-FFF2-40B4-BE49-F238E27FC236}">
                <a16:creationId xmlns:a16="http://schemas.microsoft.com/office/drawing/2014/main" id="{FA87D920-A0F4-03A3-4940-2FF4E8E83C4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8056563" y="4283075"/>
            <a:ext cx="919162" cy="877888"/>
          </a:xfrm>
          <a:prstGeom prst="curvedConnector3">
            <a:avLst>
              <a:gd name="adj1" fmla="val 49912"/>
            </a:avLst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2" name="AutoShape 88">
            <a:extLst>
              <a:ext uri="{FF2B5EF4-FFF2-40B4-BE49-F238E27FC236}">
                <a16:creationId xmlns:a16="http://schemas.microsoft.com/office/drawing/2014/main" id="{ED4F631D-3A1F-216D-8F5F-1E38F9D4E20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8812213" y="4522788"/>
            <a:ext cx="901700" cy="3905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73" name="Rectangle 93">
            <a:extLst>
              <a:ext uri="{FF2B5EF4-FFF2-40B4-BE49-F238E27FC236}">
                <a16:creationId xmlns:a16="http://schemas.microsoft.com/office/drawing/2014/main" id="{CAD49740-9459-D869-43E6-CD6713DC1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1" y="5181600"/>
            <a:ext cx="21907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74" name="Rectangle 94">
            <a:extLst>
              <a:ext uri="{FF2B5EF4-FFF2-40B4-BE49-F238E27FC236}">
                <a16:creationId xmlns:a16="http://schemas.microsoft.com/office/drawing/2014/main" id="{B1DA5ADB-CD2C-90F3-A574-D3CE154F0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26" y="5181600"/>
            <a:ext cx="31432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0775" name="Rectangle 95">
            <a:extLst>
              <a:ext uri="{FF2B5EF4-FFF2-40B4-BE49-F238E27FC236}">
                <a16:creationId xmlns:a16="http://schemas.microsoft.com/office/drawing/2014/main" id="{0C0BDA35-E2A4-E546-2F71-B41CBB05D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5181600"/>
            <a:ext cx="21907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76" name="Rectangle 96">
            <a:extLst>
              <a:ext uri="{FF2B5EF4-FFF2-40B4-BE49-F238E27FC236}">
                <a16:creationId xmlns:a16="http://schemas.microsoft.com/office/drawing/2014/main" id="{3F51DB36-0094-E87E-481E-B542B420D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1" y="5181600"/>
            <a:ext cx="21907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777" name="Freeform 72">
            <a:extLst>
              <a:ext uri="{FF2B5EF4-FFF2-40B4-BE49-F238E27FC236}">
                <a16:creationId xmlns:a16="http://schemas.microsoft.com/office/drawing/2014/main" id="{7FA69926-6E99-C66F-0461-9E6F24FA7BA6}"/>
              </a:ext>
            </a:extLst>
          </p:cNvPr>
          <p:cNvSpPr>
            <a:spLocks/>
          </p:cNvSpPr>
          <p:nvPr/>
        </p:nvSpPr>
        <p:spPr bwMode="auto">
          <a:xfrm>
            <a:off x="8115300" y="3562351"/>
            <a:ext cx="1181100" cy="1724025"/>
          </a:xfrm>
          <a:custGeom>
            <a:avLst/>
            <a:gdLst>
              <a:gd name="T0" fmla="*/ 2147483646 w 744"/>
              <a:gd name="T1" fmla="*/ 2147483646 h 1086"/>
              <a:gd name="T2" fmla="*/ 2147483646 w 744"/>
              <a:gd name="T3" fmla="*/ 2147483646 h 1086"/>
              <a:gd name="T4" fmla="*/ 2147483646 w 744"/>
              <a:gd name="T5" fmla="*/ 2147483646 h 1086"/>
              <a:gd name="T6" fmla="*/ 0 w 744"/>
              <a:gd name="T7" fmla="*/ 0 h 1086"/>
              <a:gd name="T8" fmla="*/ 0 60000 65536"/>
              <a:gd name="T9" fmla="*/ 0 60000 65536"/>
              <a:gd name="T10" fmla="*/ 0 60000 65536"/>
              <a:gd name="T11" fmla="*/ 0 60000 65536"/>
              <a:gd name="T12" fmla="*/ 0 w 744"/>
              <a:gd name="T13" fmla="*/ 0 h 1086"/>
              <a:gd name="T14" fmla="*/ 744 w 744"/>
              <a:gd name="T15" fmla="*/ 1086 h 10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44" h="1086">
                <a:moveTo>
                  <a:pt x="714" y="1086"/>
                </a:moveTo>
                <a:cubicBezTo>
                  <a:pt x="693" y="1033"/>
                  <a:pt x="744" y="870"/>
                  <a:pt x="588" y="765"/>
                </a:cubicBezTo>
                <a:cubicBezTo>
                  <a:pt x="432" y="660"/>
                  <a:pt x="366" y="192"/>
                  <a:pt x="270" y="108"/>
                </a:cubicBezTo>
                <a:cubicBezTo>
                  <a:pt x="174" y="24"/>
                  <a:pt x="56" y="22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8" name="Freeform 73">
            <a:extLst>
              <a:ext uri="{FF2B5EF4-FFF2-40B4-BE49-F238E27FC236}">
                <a16:creationId xmlns:a16="http://schemas.microsoft.com/office/drawing/2014/main" id="{FFE72BE7-FD7A-8059-C016-35F9A0E34238}"/>
              </a:ext>
            </a:extLst>
          </p:cNvPr>
          <p:cNvSpPr>
            <a:spLocks/>
          </p:cNvSpPr>
          <p:nvPr/>
        </p:nvSpPr>
        <p:spPr bwMode="auto">
          <a:xfrm>
            <a:off x="9472614" y="3729039"/>
            <a:ext cx="566737" cy="1557337"/>
          </a:xfrm>
          <a:custGeom>
            <a:avLst/>
            <a:gdLst>
              <a:gd name="T0" fmla="*/ 0 w 357"/>
              <a:gd name="T1" fmla="*/ 2147483646 h 981"/>
              <a:gd name="T2" fmla="*/ 2147483646 w 357"/>
              <a:gd name="T3" fmla="*/ 2147483646 h 981"/>
              <a:gd name="T4" fmla="*/ 2147483646 w 357"/>
              <a:gd name="T5" fmla="*/ 0 h 981"/>
              <a:gd name="T6" fmla="*/ 0 60000 65536"/>
              <a:gd name="T7" fmla="*/ 0 60000 65536"/>
              <a:gd name="T8" fmla="*/ 0 60000 65536"/>
              <a:gd name="T9" fmla="*/ 0 w 357"/>
              <a:gd name="T10" fmla="*/ 0 h 981"/>
              <a:gd name="T11" fmla="*/ 357 w 357"/>
              <a:gd name="T12" fmla="*/ 981 h 9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7" h="981">
                <a:moveTo>
                  <a:pt x="0" y="981"/>
                </a:moveTo>
                <a:cubicBezTo>
                  <a:pt x="59" y="894"/>
                  <a:pt x="343" y="623"/>
                  <a:pt x="357" y="459"/>
                </a:cubicBezTo>
                <a:cubicBezTo>
                  <a:pt x="319" y="294"/>
                  <a:pt x="143" y="96"/>
                  <a:pt x="87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0779" name="AutoShape 71">
            <a:extLst>
              <a:ext uri="{FF2B5EF4-FFF2-40B4-BE49-F238E27FC236}">
                <a16:creationId xmlns:a16="http://schemas.microsoft.com/office/drawing/2014/main" id="{519DC02A-4A1C-3966-F1BB-CA28F02781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13825" y="5405439"/>
            <a:ext cx="114300" cy="5730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80" name="Line 100">
            <a:extLst>
              <a:ext uri="{FF2B5EF4-FFF2-40B4-BE49-F238E27FC236}">
                <a16:creationId xmlns:a16="http://schemas.microsoft.com/office/drawing/2014/main" id="{6334497F-0331-51AE-42D5-1CDA7812F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0" y="2514600"/>
            <a:ext cx="455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92848216-198D-9C3E-558F-A40E211DD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Adjacency Matrix Structure</a:t>
            </a:r>
          </a:p>
        </p:txBody>
      </p:sp>
      <p:sp>
        <p:nvSpPr>
          <p:cNvPr id="317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5D9BD0F-5A9B-3DC1-0778-B5C278D93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524000"/>
            <a:ext cx="37338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Edge list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Augmented vertex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Integer key (index) associated with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2D adjacency array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Reference to edge object for adjacent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Null for non nonadjacent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May be simplified (store edge info in the matix)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Symmetric (undirected) or non-symmetric (directed)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“old fashioned” version just has 0 for no edge and 1 for edge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31747" name="Oval 5">
            <a:extLst>
              <a:ext uri="{FF2B5EF4-FFF2-40B4-BE49-F238E27FC236}">
                <a16:creationId xmlns:a16="http://schemas.microsoft.com/office/drawing/2014/main" id="{12A07C7A-5102-0471-E346-57AC3A5F9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050" y="197643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</a:t>
            </a:r>
          </a:p>
        </p:txBody>
      </p:sp>
      <p:sp>
        <p:nvSpPr>
          <p:cNvPr id="31748" name="Oval 6">
            <a:extLst>
              <a:ext uri="{FF2B5EF4-FFF2-40B4-BE49-F238E27FC236}">
                <a16:creationId xmlns:a16="http://schemas.microsoft.com/office/drawing/2014/main" id="{E5AFB5B2-78D6-B4E6-B0D2-BFC3F13F8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75" y="1600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</a:p>
        </p:txBody>
      </p:sp>
      <p:sp>
        <p:nvSpPr>
          <p:cNvPr id="31749" name="Oval 7">
            <a:extLst>
              <a:ext uri="{FF2B5EF4-FFF2-40B4-BE49-F238E27FC236}">
                <a16:creationId xmlns:a16="http://schemas.microsoft.com/office/drawing/2014/main" id="{20207A89-8A27-C7CA-D082-32B38A0DC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1976438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</a:p>
        </p:txBody>
      </p:sp>
      <p:cxnSp>
        <p:nvCxnSpPr>
          <p:cNvPr id="31750" name="AutoShape 8">
            <a:extLst>
              <a:ext uri="{FF2B5EF4-FFF2-40B4-BE49-F238E27FC236}">
                <a16:creationId xmlns:a16="http://schemas.microsoft.com/office/drawing/2014/main" id="{828092DB-098D-336D-80E4-8F24B637DD50}"/>
              </a:ext>
            </a:extLst>
          </p:cNvPr>
          <p:cNvCxnSpPr>
            <a:cxnSpLocks noChangeShapeType="1"/>
            <a:stCxn id="31748" idx="5"/>
            <a:endCxn id="31749" idx="1"/>
          </p:cNvCxnSpPr>
          <p:nvPr/>
        </p:nvCxnSpPr>
        <p:spPr bwMode="auto">
          <a:xfrm>
            <a:off x="7921626" y="1870075"/>
            <a:ext cx="701675" cy="1412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1" name="AutoShape 9">
            <a:extLst>
              <a:ext uri="{FF2B5EF4-FFF2-40B4-BE49-F238E27FC236}">
                <a16:creationId xmlns:a16="http://schemas.microsoft.com/office/drawing/2014/main" id="{2C18F080-E379-D020-68AD-51EA5922787B}"/>
              </a:ext>
            </a:extLst>
          </p:cNvPr>
          <p:cNvCxnSpPr>
            <a:cxnSpLocks noChangeShapeType="1"/>
            <a:stCxn id="31748" idx="3"/>
            <a:endCxn id="31747" idx="7"/>
          </p:cNvCxnSpPr>
          <p:nvPr/>
        </p:nvCxnSpPr>
        <p:spPr bwMode="auto">
          <a:xfrm flipH="1">
            <a:off x="7010401" y="1870075"/>
            <a:ext cx="695325" cy="1412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2" name="Text Box 10">
            <a:extLst>
              <a:ext uri="{FF2B5EF4-FFF2-40B4-BE49-F238E27FC236}">
                <a16:creationId xmlns:a16="http://schemas.microsoft.com/office/drawing/2014/main" id="{C51D4F2E-2AB6-A61B-75B6-BFAD8D052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1610" y="16002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1753" name="Text Box 11">
            <a:extLst>
              <a:ext uri="{FF2B5EF4-FFF2-40B4-BE49-F238E27FC236}">
                <a16:creationId xmlns:a16="http://schemas.microsoft.com/office/drawing/2014/main" id="{02FA9CEC-3A90-7F66-056F-81C8BC7ED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888" y="16002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1754" name="Line 68">
            <a:extLst>
              <a:ext uri="{FF2B5EF4-FFF2-40B4-BE49-F238E27FC236}">
                <a16:creationId xmlns:a16="http://schemas.microsoft.com/office/drawing/2014/main" id="{5351C2CD-6DD3-9051-5D6C-194CB995A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0" y="2514600"/>
            <a:ext cx="455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721" name="Group 681">
            <a:extLst>
              <a:ext uri="{FF2B5EF4-FFF2-40B4-BE49-F238E27FC236}">
                <a16:creationId xmlns:a16="http://schemas.microsoft.com/office/drawing/2014/main" id="{1A90A98C-9317-EBEB-FF62-4454C219449F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4116389"/>
          <a:ext cx="1676400" cy="1522413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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1780" name="AutoShape 481">
            <a:extLst>
              <a:ext uri="{FF2B5EF4-FFF2-40B4-BE49-F238E27FC236}">
                <a16:creationId xmlns:a16="http://schemas.microsoft.com/office/drawing/2014/main" id="{93D76A60-EB75-98E4-AA3F-BF07FF6CD005}"/>
              </a:ext>
            </a:extLst>
          </p:cNvPr>
          <p:cNvCxnSpPr>
            <a:cxnSpLocks noChangeShapeType="1"/>
            <a:stCxn id="31788" idx="2"/>
            <a:endCxn id="31787" idx="6"/>
          </p:cNvCxnSpPr>
          <p:nvPr/>
        </p:nvCxnSpPr>
        <p:spPr bwMode="auto">
          <a:xfrm flipH="1">
            <a:off x="6337301" y="6096000"/>
            <a:ext cx="27336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1" name="AutoShape 482">
            <a:extLst>
              <a:ext uri="{FF2B5EF4-FFF2-40B4-BE49-F238E27FC236}">
                <a16:creationId xmlns:a16="http://schemas.microsoft.com/office/drawing/2014/main" id="{D9319381-D4E2-F5BC-830D-553D9D80A8DB}"/>
              </a:ext>
            </a:extLst>
          </p:cNvPr>
          <p:cNvCxnSpPr>
            <a:cxnSpLocks noChangeShapeType="1"/>
            <a:stCxn id="31784" idx="2"/>
            <a:endCxn id="31782" idx="6"/>
          </p:cNvCxnSpPr>
          <p:nvPr/>
        </p:nvCxnSpPr>
        <p:spPr bwMode="auto">
          <a:xfrm flipH="1">
            <a:off x="6334125" y="2895600"/>
            <a:ext cx="29400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82" name="Oval 483">
            <a:extLst>
              <a:ext uri="{FF2B5EF4-FFF2-40B4-BE49-F238E27FC236}">
                <a16:creationId xmlns:a16="http://schemas.microsoft.com/office/drawing/2014/main" id="{B367772E-BEE9-1C47-2E29-825ABDA7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743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83" name="Oval 484">
            <a:extLst>
              <a:ext uri="{FF2B5EF4-FFF2-40B4-BE49-F238E27FC236}">
                <a16:creationId xmlns:a16="http://schemas.microsoft.com/office/drawing/2014/main" id="{29826C22-7877-A024-7064-7BF114FEC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288" y="2743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84" name="Oval 485">
            <a:extLst>
              <a:ext uri="{FF2B5EF4-FFF2-40B4-BE49-F238E27FC236}">
                <a16:creationId xmlns:a16="http://schemas.microsoft.com/office/drawing/2014/main" id="{A7527A14-3B24-D5A4-0A43-E856CEE50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3700" y="2743200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85" name="Rectangle 486">
            <a:extLst>
              <a:ext uri="{FF2B5EF4-FFF2-40B4-BE49-F238E27FC236}">
                <a16:creationId xmlns:a16="http://schemas.microsoft.com/office/drawing/2014/main" id="{009FE8F7-8C5B-2E34-501A-DC1EC2C72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1" y="5192714"/>
            <a:ext cx="21907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86" name="Rectangle 487">
            <a:extLst>
              <a:ext uri="{FF2B5EF4-FFF2-40B4-BE49-F238E27FC236}">
                <a16:creationId xmlns:a16="http://schemas.microsoft.com/office/drawing/2014/main" id="{2EF9AD3C-C881-FD6D-E88F-B56F0EF4F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6" y="5192714"/>
            <a:ext cx="31432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1787" name="Oval 488">
            <a:extLst>
              <a:ext uri="{FF2B5EF4-FFF2-40B4-BE49-F238E27FC236}">
                <a16:creationId xmlns:a16="http://schemas.microsoft.com/office/drawing/2014/main" id="{F5C9BFF4-D328-0D34-2602-F82B3816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94360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88" name="Oval 489">
            <a:extLst>
              <a:ext uri="{FF2B5EF4-FFF2-40B4-BE49-F238E27FC236}">
                <a16:creationId xmlns:a16="http://schemas.microsoft.com/office/drawing/2014/main" id="{243827ED-186E-3F6E-A183-947D7F1B5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00" y="5943600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1789" name="AutoShape 490">
            <a:extLst>
              <a:ext uri="{FF2B5EF4-FFF2-40B4-BE49-F238E27FC236}">
                <a16:creationId xmlns:a16="http://schemas.microsoft.com/office/drawing/2014/main" id="{44E8164A-0511-74E6-233C-89420CE8AED6}"/>
              </a:ext>
            </a:extLst>
          </p:cNvPr>
          <p:cNvCxnSpPr>
            <a:cxnSpLocks noChangeShapeType="1"/>
            <a:endCxn id="31785" idx="2"/>
          </p:cNvCxnSpPr>
          <p:nvPr/>
        </p:nvCxnSpPr>
        <p:spPr bwMode="auto">
          <a:xfrm flipV="1">
            <a:off x="6175376" y="5648326"/>
            <a:ext cx="182563" cy="4556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0" name="AutoShape 491">
            <a:extLst>
              <a:ext uri="{FF2B5EF4-FFF2-40B4-BE49-F238E27FC236}">
                <a16:creationId xmlns:a16="http://schemas.microsoft.com/office/drawing/2014/main" id="{8393C8BA-2704-084B-4976-17F428C9D100}"/>
              </a:ext>
            </a:extLst>
          </p:cNvPr>
          <p:cNvCxnSpPr>
            <a:cxnSpLocks noChangeShapeType="1"/>
            <a:endCxn id="31811" idx="2"/>
          </p:cNvCxnSpPr>
          <p:nvPr/>
        </p:nvCxnSpPr>
        <p:spPr bwMode="auto">
          <a:xfrm flipV="1">
            <a:off x="9228138" y="5637214"/>
            <a:ext cx="234950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91" name="Rectangle 492">
            <a:extLst>
              <a:ext uri="{FF2B5EF4-FFF2-40B4-BE49-F238E27FC236}">
                <a16:creationId xmlns:a16="http://schemas.microsoft.com/office/drawing/2014/main" id="{74CC0A6E-9A06-1104-E98D-B2A815AD6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</a:t>
            </a:r>
          </a:p>
        </p:txBody>
      </p:sp>
      <p:sp>
        <p:nvSpPr>
          <p:cNvPr id="31792" name="Rectangle 493">
            <a:extLst>
              <a:ext uri="{FF2B5EF4-FFF2-40B4-BE49-F238E27FC236}">
                <a16:creationId xmlns:a16="http://schemas.microsoft.com/office/drawing/2014/main" id="{8DED5B29-129F-5009-4472-8031DEDE4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</a:t>
            </a:r>
          </a:p>
        </p:txBody>
      </p:sp>
      <p:sp>
        <p:nvSpPr>
          <p:cNvPr id="31793" name="Rectangle 494">
            <a:extLst>
              <a:ext uri="{FF2B5EF4-FFF2-40B4-BE49-F238E27FC236}">
                <a16:creationId xmlns:a16="http://schemas.microsoft.com/office/drawing/2014/main" id="{2455C0E2-AC04-007C-D16F-9311BED8F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9276" y="340995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</a:t>
            </a:r>
          </a:p>
        </p:txBody>
      </p:sp>
      <p:cxnSp>
        <p:nvCxnSpPr>
          <p:cNvPr id="31794" name="AutoShape 495">
            <a:extLst>
              <a:ext uri="{FF2B5EF4-FFF2-40B4-BE49-F238E27FC236}">
                <a16:creationId xmlns:a16="http://schemas.microsoft.com/office/drawing/2014/main" id="{7F30ADC2-8727-E51F-6AF1-79478BF431A8}"/>
              </a:ext>
            </a:extLst>
          </p:cNvPr>
          <p:cNvCxnSpPr>
            <a:cxnSpLocks noChangeShapeType="1"/>
            <a:endCxn id="31791" idx="0"/>
          </p:cNvCxnSpPr>
          <p:nvPr/>
        </p:nvCxnSpPr>
        <p:spPr bwMode="auto">
          <a:xfrm>
            <a:off x="6167439" y="2890838"/>
            <a:ext cx="180975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5" name="AutoShape 496">
            <a:extLst>
              <a:ext uri="{FF2B5EF4-FFF2-40B4-BE49-F238E27FC236}">
                <a16:creationId xmlns:a16="http://schemas.microsoft.com/office/drawing/2014/main" id="{9F847F8A-D226-EC65-A7C7-173F34B1DE8F}"/>
              </a:ext>
            </a:extLst>
          </p:cNvPr>
          <p:cNvCxnSpPr>
            <a:cxnSpLocks noChangeShapeType="1"/>
            <a:endCxn id="31792" idx="0"/>
          </p:cNvCxnSpPr>
          <p:nvPr/>
        </p:nvCxnSpPr>
        <p:spPr bwMode="auto">
          <a:xfrm>
            <a:off x="7781925" y="2890838"/>
            <a:ext cx="173038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6" name="AutoShape 497">
            <a:extLst>
              <a:ext uri="{FF2B5EF4-FFF2-40B4-BE49-F238E27FC236}">
                <a16:creationId xmlns:a16="http://schemas.microsoft.com/office/drawing/2014/main" id="{8A66BAB0-9C2B-490F-891C-9D2BABBE16A6}"/>
              </a:ext>
            </a:extLst>
          </p:cNvPr>
          <p:cNvCxnSpPr>
            <a:cxnSpLocks noChangeShapeType="1"/>
            <a:endCxn id="31793" idx="0"/>
          </p:cNvCxnSpPr>
          <p:nvPr/>
        </p:nvCxnSpPr>
        <p:spPr bwMode="auto">
          <a:xfrm>
            <a:off x="9436100" y="2895601"/>
            <a:ext cx="160338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97" name="Freeform 498">
            <a:extLst>
              <a:ext uri="{FF2B5EF4-FFF2-40B4-BE49-F238E27FC236}">
                <a16:creationId xmlns:a16="http://schemas.microsoft.com/office/drawing/2014/main" id="{B6E683E4-1374-9527-00B9-BE8D963D1442}"/>
              </a:ext>
            </a:extLst>
          </p:cNvPr>
          <p:cNvSpPr>
            <a:spLocks/>
          </p:cNvSpPr>
          <p:nvPr/>
        </p:nvSpPr>
        <p:spPr bwMode="auto">
          <a:xfrm>
            <a:off x="6343650" y="3567113"/>
            <a:ext cx="819150" cy="1814512"/>
          </a:xfrm>
          <a:custGeom>
            <a:avLst/>
            <a:gdLst>
              <a:gd name="T0" fmla="*/ 0 w 516"/>
              <a:gd name="T1" fmla="*/ 2147483646 h 1143"/>
              <a:gd name="T2" fmla="*/ 2147483646 w 516"/>
              <a:gd name="T3" fmla="*/ 2147483646 h 1143"/>
              <a:gd name="T4" fmla="*/ 2147483646 w 516"/>
              <a:gd name="T5" fmla="*/ 0 h 1143"/>
              <a:gd name="T6" fmla="*/ 0 60000 65536"/>
              <a:gd name="T7" fmla="*/ 0 60000 65536"/>
              <a:gd name="T8" fmla="*/ 0 60000 65536"/>
              <a:gd name="T9" fmla="*/ 0 w 516"/>
              <a:gd name="T10" fmla="*/ 0 h 1143"/>
              <a:gd name="T11" fmla="*/ 516 w 516"/>
              <a:gd name="T12" fmla="*/ 1143 h 11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6" h="1143">
                <a:moveTo>
                  <a:pt x="0" y="1143"/>
                </a:moveTo>
                <a:cubicBezTo>
                  <a:pt x="30" y="991"/>
                  <a:pt x="94" y="418"/>
                  <a:pt x="180" y="227"/>
                </a:cubicBezTo>
                <a:cubicBezTo>
                  <a:pt x="266" y="36"/>
                  <a:pt x="446" y="47"/>
                  <a:pt x="516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8" name="Rectangle 499">
            <a:extLst>
              <a:ext uri="{FF2B5EF4-FFF2-40B4-BE49-F238E27FC236}">
                <a16:creationId xmlns:a16="http://schemas.microsoft.com/office/drawing/2014/main" id="{C87EB4AF-8EEF-19DB-9B68-F47B4E259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6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99" name="Line 500">
            <a:extLst>
              <a:ext uri="{FF2B5EF4-FFF2-40B4-BE49-F238E27FC236}">
                <a16:creationId xmlns:a16="http://schemas.microsoft.com/office/drawing/2014/main" id="{480D4986-E0C8-2383-60E6-2AC2E0A36B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2976" y="3048000"/>
            <a:ext cx="104775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00" name="Rectangle 501">
            <a:extLst>
              <a:ext uri="{FF2B5EF4-FFF2-40B4-BE49-F238E27FC236}">
                <a16:creationId xmlns:a16="http://schemas.microsoft.com/office/drawing/2014/main" id="{03891BDC-D889-8E99-3DF8-5C8DFE0E0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01" name="Line 502">
            <a:extLst>
              <a:ext uri="{FF2B5EF4-FFF2-40B4-BE49-F238E27FC236}">
                <a16:creationId xmlns:a16="http://schemas.microsoft.com/office/drawing/2014/main" id="{39CBA18A-10F7-B23F-CE0C-CCD9EC340E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7463" y="3038475"/>
            <a:ext cx="93662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02" name="Rectangle 503">
            <a:extLst>
              <a:ext uri="{FF2B5EF4-FFF2-40B4-BE49-F238E27FC236}">
                <a16:creationId xmlns:a16="http://schemas.microsoft.com/office/drawing/2014/main" id="{241E466E-AF8B-4004-0E7D-E5FABD703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714" y="340995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03" name="Line 504">
            <a:extLst>
              <a:ext uri="{FF2B5EF4-FFF2-40B4-BE49-F238E27FC236}">
                <a16:creationId xmlns:a16="http://schemas.microsoft.com/office/drawing/2014/main" id="{A2BF4BD3-A2A4-A178-E8A1-9AD0416588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86875" y="3033713"/>
            <a:ext cx="4445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04" name="Rectangle 505">
            <a:extLst>
              <a:ext uri="{FF2B5EF4-FFF2-40B4-BE49-F238E27FC236}">
                <a16:creationId xmlns:a16="http://schemas.microsoft.com/office/drawing/2014/main" id="{82273463-C2CD-369E-B001-F7AFC3E97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6" y="5192714"/>
            <a:ext cx="21907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05" name="Freeform 506">
            <a:extLst>
              <a:ext uri="{FF2B5EF4-FFF2-40B4-BE49-F238E27FC236}">
                <a16:creationId xmlns:a16="http://schemas.microsoft.com/office/drawing/2014/main" id="{C1E712E0-7102-0270-F6C2-F8B0751892DC}"/>
              </a:ext>
            </a:extLst>
          </p:cNvPr>
          <p:cNvSpPr>
            <a:spLocks/>
          </p:cNvSpPr>
          <p:nvPr/>
        </p:nvSpPr>
        <p:spPr bwMode="auto">
          <a:xfrm>
            <a:off x="5781675" y="3762376"/>
            <a:ext cx="342900" cy="1628775"/>
          </a:xfrm>
          <a:custGeom>
            <a:avLst/>
            <a:gdLst>
              <a:gd name="T0" fmla="*/ 2147483646 w 216"/>
              <a:gd name="T1" fmla="*/ 2147483646 h 1026"/>
              <a:gd name="T2" fmla="*/ 2147483646 w 216"/>
              <a:gd name="T3" fmla="*/ 2147483646 h 1026"/>
              <a:gd name="T4" fmla="*/ 2147483646 w 216"/>
              <a:gd name="T5" fmla="*/ 0 h 1026"/>
              <a:gd name="T6" fmla="*/ 0 60000 65536"/>
              <a:gd name="T7" fmla="*/ 0 60000 65536"/>
              <a:gd name="T8" fmla="*/ 0 60000 65536"/>
              <a:gd name="T9" fmla="*/ 0 w 216"/>
              <a:gd name="T10" fmla="*/ 0 h 1026"/>
              <a:gd name="T11" fmla="*/ 216 w 216"/>
              <a:gd name="T12" fmla="*/ 1026 h 10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" h="1026">
                <a:moveTo>
                  <a:pt x="216" y="1026"/>
                </a:moveTo>
                <a:cubicBezTo>
                  <a:pt x="190" y="941"/>
                  <a:pt x="120" y="744"/>
                  <a:pt x="60" y="516"/>
                </a:cubicBezTo>
                <a:cubicBezTo>
                  <a:pt x="0" y="288"/>
                  <a:pt x="46" y="107"/>
                  <a:pt x="42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06" name="Rectangle 507">
            <a:extLst>
              <a:ext uri="{FF2B5EF4-FFF2-40B4-BE49-F238E27FC236}">
                <a16:creationId xmlns:a16="http://schemas.microsoft.com/office/drawing/2014/main" id="{9496F161-F055-7730-3DE5-7A361267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1" y="5192714"/>
            <a:ext cx="219075" cy="4460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1807" name="AutoShape 508">
            <a:extLst>
              <a:ext uri="{FF2B5EF4-FFF2-40B4-BE49-F238E27FC236}">
                <a16:creationId xmlns:a16="http://schemas.microsoft.com/office/drawing/2014/main" id="{43BB22DA-BE0E-BBE3-3754-2421C859D522}"/>
              </a:ext>
            </a:extLst>
          </p:cNvPr>
          <p:cNvCxnSpPr>
            <a:cxnSpLocks noChangeShapeType="1"/>
            <a:endCxn id="31787" idx="1"/>
          </p:cNvCxnSpPr>
          <p:nvPr/>
        </p:nvCxnSpPr>
        <p:spPr bwMode="auto">
          <a:xfrm>
            <a:off x="5910263" y="5405439"/>
            <a:ext cx="157162" cy="5730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8" name="Rectangle 509">
            <a:extLst>
              <a:ext uri="{FF2B5EF4-FFF2-40B4-BE49-F238E27FC236}">
                <a16:creationId xmlns:a16="http://schemas.microsoft.com/office/drawing/2014/main" id="{A64C6050-E154-06F5-1F79-30D7CE50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1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0</a:t>
            </a:r>
          </a:p>
        </p:txBody>
      </p:sp>
      <p:sp>
        <p:nvSpPr>
          <p:cNvPr id="31809" name="Rectangle 510">
            <a:extLst>
              <a:ext uri="{FF2B5EF4-FFF2-40B4-BE49-F238E27FC236}">
                <a16:creationId xmlns:a16="http://schemas.microsoft.com/office/drawing/2014/main" id="{0670EC8E-466E-3A0D-E236-2098B0621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6" y="3414714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31810" name="Rectangle 511">
            <a:extLst>
              <a:ext uri="{FF2B5EF4-FFF2-40B4-BE49-F238E27FC236}">
                <a16:creationId xmlns:a16="http://schemas.microsoft.com/office/drawing/2014/main" id="{D3F195FD-EDCF-DA87-67B7-25B52A6F2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389" y="3409951"/>
            <a:ext cx="314325" cy="3143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31811" name="Rectangle 527">
            <a:extLst>
              <a:ext uri="{FF2B5EF4-FFF2-40B4-BE49-F238E27FC236}">
                <a16:creationId xmlns:a16="http://schemas.microsoft.com/office/drawing/2014/main" id="{93325167-7E0E-5903-865E-3167CAFE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1" y="5181600"/>
            <a:ext cx="21907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12" name="Rectangle 528">
            <a:extLst>
              <a:ext uri="{FF2B5EF4-FFF2-40B4-BE49-F238E27FC236}">
                <a16:creationId xmlns:a16="http://schemas.microsoft.com/office/drawing/2014/main" id="{D25A8258-D5D6-8CC0-5698-5A0885B62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26" y="5181600"/>
            <a:ext cx="31432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1813" name="Rectangle 529">
            <a:extLst>
              <a:ext uri="{FF2B5EF4-FFF2-40B4-BE49-F238E27FC236}">
                <a16:creationId xmlns:a16="http://schemas.microsoft.com/office/drawing/2014/main" id="{3BA679BF-0325-2770-42C2-E45947006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5181600"/>
            <a:ext cx="21907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14" name="Rectangle 530">
            <a:extLst>
              <a:ext uri="{FF2B5EF4-FFF2-40B4-BE49-F238E27FC236}">
                <a16:creationId xmlns:a16="http://schemas.microsoft.com/office/drawing/2014/main" id="{7273BE89-81F6-16B9-20D5-6E2B415E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1" y="5181600"/>
            <a:ext cx="219075" cy="4460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15" name="Freeform 532">
            <a:extLst>
              <a:ext uri="{FF2B5EF4-FFF2-40B4-BE49-F238E27FC236}">
                <a16:creationId xmlns:a16="http://schemas.microsoft.com/office/drawing/2014/main" id="{036E8D39-6028-F93A-A050-6577D4337D74}"/>
              </a:ext>
            </a:extLst>
          </p:cNvPr>
          <p:cNvSpPr>
            <a:spLocks/>
          </p:cNvSpPr>
          <p:nvPr/>
        </p:nvSpPr>
        <p:spPr bwMode="auto">
          <a:xfrm>
            <a:off x="8153400" y="3581400"/>
            <a:ext cx="1104900" cy="1809750"/>
          </a:xfrm>
          <a:custGeom>
            <a:avLst/>
            <a:gdLst>
              <a:gd name="T0" fmla="*/ 2147483646 w 696"/>
              <a:gd name="T1" fmla="*/ 2147483646 h 1140"/>
              <a:gd name="T2" fmla="*/ 2147483646 w 696"/>
              <a:gd name="T3" fmla="*/ 2147483646 h 1140"/>
              <a:gd name="T4" fmla="*/ 0 w 696"/>
              <a:gd name="T5" fmla="*/ 0 h 1140"/>
              <a:gd name="T6" fmla="*/ 0 60000 65536"/>
              <a:gd name="T7" fmla="*/ 0 60000 65536"/>
              <a:gd name="T8" fmla="*/ 0 60000 65536"/>
              <a:gd name="T9" fmla="*/ 0 w 696"/>
              <a:gd name="T10" fmla="*/ 0 h 1140"/>
              <a:gd name="T11" fmla="*/ 696 w 696"/>
              <a:gd name="T12" fmla="*/ 1140 h 11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6" h="1140">
                <a:moveTo>
                  <a:pt x="696" y="1140"/>
                </a:moveTo>
                <a:cubicBezTo>
                  <a:pt x="645" y="1002"/>
                  <a:pt x="516" y="516"/>
                  <a:pt x="390" y="312"/>
                </a:cubicBezTo>
                <a:cubicBezTo>
                  <a:pt x="264" y="108"/>
                  <a:pt x="81" y="65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16" name="Freeform 533">
            <a:extLst>
              <a:ext uri="{FF2B5EF4-FFF2-40B4-BE49-F238E27FC236}">
                <a16:creationId xmlns:a16="http://schemas.microsoft.com/office/drawing/2014/main" id="{E98BF323-D84A-20DB-AE85-C99DBFAF3ABE}"/>
              </a:ext>
            </a:extLst>
          </p:cNvPr>
          <p:cNvSpPr>
            <a:spLocks/>
          </p:cNvSpPr>
          <p:nvPr/>
        </p:nvSpPr>
        <p:spPr bwMode="auto">
          <a:xfrm>
            <a:off x="9458325" y="3729039"/>
            <a:ext cx="311150" cy="1652587"/>
          </a:xfrm>
          <a:custGeom>
            <a:avLst/>
            <a:gdLst>
              <a:gd name="T0" fmla="*/ 0 w 196"/>
              <a:gd name="T1" fmla="*/ 2147483646 h 1041"/>
              <a:gd name="T2" fmla="*/ 2147483646 w 196"/>
              <a:gd name="T3" fmla="*/ 2147483646 h 1041"/>
              <a:gd name="T4" fmla="*/ 2147483646 w 196"/>
              <a:gd name="T5" fmla="*/ 0 h 1041"/>
              <a:gd name="T6" fmla="*/ 0 60000 65536"/>
              <a:gd name="T7" fmla="*/ 0 60000 65536"/>
              <a:gd name="T8" fmla="*/ 0 60000 65536"/>
              <a:gd name="T9" fmla="*/ 0 w 196"/>
              <a:gd name="T10" fmla="*/ 0 h 1041"/>
              <a:gd name="T11" fmla="*/ 196 w 196"/>
              <a:gd name="T12" fmla="*/ 1041 h 10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6" h="1041">
                <a:moveTo>
                  <a:pt x="0" y="1041"/>
                </a:moveTo>
                <a:cubicBezTo>
                  <a:pt x="30" y="939"/>
                  <a:pt x="164" y="602"/>
                  <a:pt x="180" y="429"/>
                </a:cubicBezTo>
                <a:cubicBezTo>
                  <a:pt x="196" y="256"/>
                  <a:pt x="113" y="89"/>
                  <a:pt x="96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1817" name="AutoShape 534">
            <a:extLst>
              <a:ext uri="{FF2B5EF4-FFF2-40B4-BE49-F238E27FC236}">
                <a16:creationId xmlns:a16="http://schemas.microsoft.com/office/drawing/2014/main" id="{62272B1E-1D06-A982-757B-7D173EAC19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13825" y="5405439"/>
            <a:ext cx="114300" cy="5730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8" name="Freeform 683">
            <a:extLst>
              <a:ext uri="{FF2B5EF4-FFF2-40B4-BE49-F238E27FC236}">
                <a16:creationId xmlns:a16="http://schemas.microsoft.com/office/drawing/2014/main" id="{D99DE387-00EE-7404-B49D-F876F45F6CFD}"/>
              </a:ext>
            </a:extLst>
          </p:cNvPr>
          <p:cNvSpPr>
            <a:spLocks/>
          </p:cNvSpPr>
          <p:nvPr/>
        </p:nvSpPr>
        <p:spPr bwMode="auto">
          <a:xfrm>
            <a:off x="6629400" y="4832350"/>
            <a:ext cx="838200" cy="349250"/>
          </a:xfrm>
          <a:custGeom>
            <a:avLst/>
            <a:gdLst>
              <a:gd name="T0" fmla="*/ 2147483646 w 528"/>
              <a:gd name="T1" fmla="*/ 2147483646 h 220"/>
              <a:gd name="T2" fmla="*/ 2147483646 w 528"/>
              <a:gd name="T3" fmla="*/ 2147483646 h 220"/>
              <a:gd name="T4" fmla="*/ 0 w 528"/>
              <a:gd name="T5" fmla="*/ 2147483646 h 220"/>
              <a:gd name="T6" fmla="*/ 0 60000 65536"/>
              <a:gd name="T7" fmla="*/ 0 60000 65536"/>
              <a:gd name="T8" fmla="*/ 0 60000 65536"/>
              <a:gd name="T9" fmla="*/ 0 w 528"/>
              <a:gd name="T10" fmla="*/ 0 h 220"/>
              <a:gd name="T11" fmla="*/ 528 w 528"/>
              <a:gd name="T12" fmla="*/ 220 h 2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220">
                <a:moveTo>
                  <a:pt x="528" y="124"/>
                </a:moveTo>
                <a:cubicBezTo>
                  <a:pt x="471" y="106"/>
                  <a:pt x="274" y="0"/>
                  <a:pt x="186" y="16"/>
                </a:cubicBezTo>
                <a:cubicBezTo>
                  <a:pt x="98" y="32"/>
                  <a:pt x="39" y="178"/>
                  <a:pt x="0" y="220"/>
                </a:cubicBezTo>
              </a:path>
            </a:pathLst>
          </a:cu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19" name="Freeform 684">
            <a:extLst>
              <a:ext uri="{FF2B5EF4-FFF2-40B4-BE49-F238E27FC236}">
                <a16:creationId xmlns:a16="http://schemas.microsoft.com/office/drawing/2014/main" id="{5EB132EB-F687-4A1D-EDB8-742D143DAD8E}"/>
              </a:ext>
            </a:extLst>
          </p:cNvPr>
          <p:cNvSpPr>
            <a:spLocks/>
          </p:cNvSpPr>
          <p:nvPr/>
        </p:nvSpPr>
        <p:spPr bwMode="auto">
          <a:xfrm>
            <a:off x="6477000" y="3956051"/>
            <a:ext cx="1371600" cy="1216025"/>
          </a:xfrm>
          <a:custGeom>
            <a:avLst/>
            <a:gdLst>
              <a:gd name="T0" fmla="*/ 2147483646 w 864"/>
              <a:gd name="T1" fmla="*/ 2147483646 h 766"/>
              <a:gd name="T2" fmla="*/ 2147483646 w 864"/>
              <a:gd name="T3" fmla="*/ 2147483646 h 766"/>
              <a:gd name="T4" fmla="*/ 2147483646 w 864"/>
              <a:gd name="T5" fmla="*/ 2147483646 h 766"/>
              <a:gd name="T6" fmla="*/ 0 w 864"/>
              <a:gd name="T7" fmla="*/ 2147483646 h 766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766"/>
              <a:gd name="T14" fmla="*/ 864 w 864"/>
              <a:gd name="T15" fmla="*/ 766 h 7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766">
                <a:moveTo>
                  <a:pt x="864" y="452"/>
                </a:moveTo>
                <a:cubicBezTo>
                  <a:pt x="815" y="380"/>
                  <a:pt x="686" y="44"/>
                  <a:pt x="570" y="22"/>
                </a:cubicBezTo>
                <a:cubicBezTo>
                  <a:pt x="454" y="0"/>
                  <a:pt x="263" y="198"/>
                  <a:pt x="168" y="322"/>
                </a:cubicBezTo>
                <a:cubicBezTo>
                  <a:pt x="73" y="446"/>
                  <a:pt x="35" y="674"/>
                  <a:pt x="0" y="766"/>
                </a:cubicBezTo>
              </a:path>
            </a:pathLst>
          </a:cu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20" name="Freeform 685">
            <a:extLst>
              <a:ext uri="{FF2B5EF4-FFF2-40B4-BE49-F238E27FC236}">
                <a16:creationId xmlns:a16="http://schemas.microsoft.com/office/drawing/2014/main" id="{569DE483-FF46-5A12-CD97-2D86182D427C}"/>
              </a:ext>
            </a:extLst>
          </p:cNvPr>
          <p:cNvSpPr>
            <a:spLocks/>
          </p:cNvSpPr>
          <p:nvPr/>
        </p:nvSpPr>
        <p:spPr bwMode="auto">
          <a:xfrm>
            <a:off x="8334375" y="4884738"/>
            <a:ext cx="647700" cy="296862"/>
          </a:xfrm>
          <a:custGeom>
            <a:avLst/>
            <a:gdLst>
              <a:gd name="T0" fmla="*/ 0 w 408"/>
              <a:gd name="T1" fmla="*/ 2147483646 h 187"/>
              <a:gd name="T2" fmla="*/ 2147483646 w 408"/>
              <a:gd name="T3" fmla="*/ 2147483646 h 187"/>
              <a:gd name="T4" fmla="*/ 2147483646 w 408"/>
              <a:gd name="T5" fmla="*/ 2147483646 h 187"/>
              <a:gd name="T6" fmla="*/ 0 60000 65536"/>
              <a:gd name="T7" fmla="*/ 0 60000 65536"/>
              <a:gd name="T8" fmla="*/ 0 60000 65536"/>
              <a:gd name="T9" fmla="*/ 0 w 408"/>
              <a:gd name="T10" fmla="*/ 0 h 187"/>
              <a:gd name="T11" fmla="*/ 408 w 408"/>
              <a:gd name="T12" fmla="*/ 187 h 1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8" h="187">
                <a:moveTo>
                  <a:pt x="0" y="143"/>
                </a:moveTo>
                <a:cubicBezTo>
                  <a:pt x="45" y="120"/>
                  <a:pt x="202" y="0"/>
                  <a:pt x="270" y="7"/>
                </a:cubicBezTo>
                <a:cubicBezTo>
                  <a:pt x="338" y="14"/>
                  <a:pt x="379" y="150"/>
                  <a:pt x="408" y="187"/>
                </a:cubicBezTo>
              </a:path>
            </a:pathLst>
          </a:cu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21" name="Freeform 686">
            <a:extLst>
              <a:ext uri="{FF2B5EF4-FFF2-40B4-BE49-F238E27FC236}">
                <a16:creationId xmlns:a16="http://schemas.microsoft.com/office/drawing/2014/main" id="{618544D8-553D-AA6B-8A70-2BCBF9AE3279}"/>
              </a:ext>
            </a:extLst>
          </p:cNvPr>
          <p:cNvSpPr>
            <a:spLocks/>
          </p:cNvSpPr>
          <p:nvPr/>
        </p:nvSpPr>
        <p:spPr bwMode="auto">
          <a:xfrm>
            <a:off x="7915276" y="5448300"/>
            <a:ext cx="981075" cy="482600"/>
          </a:xfrm>
          <a:custGeom>
            <a:avLst/>
            <a:gdLst>
              <a:gd name="T0" fmla="*/ 0 w 618"/>
              <a:gd name="T1" fmla="*/ 0 h 304"/>
              <a:gd name="T2" fmla="*/ 2147483646 w 618"/>
              <a:gd name="T3" fmla="*/ 2147483646 h 304"/>
              <a:gd name="T4" fmla="*/ 2147483646 w 618"/>
              <a:gd name="T5" fmla="*/ 2147483646 h 304"/>
              <a:gd name="T6" fmla="*/ 0 60000 65536"/>
              <a:gd name="T7" fmla="*/ 0 60000 65536"/>
              <a:gd name="T8" fmla="*/ 0 60000 65536"/>
              <a:gd name="T9" fmla="*/ 0 w 618"/>
              <a:gd name="T10" fmla="*/ 0 h 304"/>
              <a:gd name="T11" fmla="*/ 618 w 618"/>
              <a:gd name="T12" fmla="*/ 304 h 3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18" h="304">
                <a:moveTo>
                  <a:pt x="0" y="0"/>
                </a:moveTo>
                <a:cubicBezTo>
                  <a:pt x="33" y="49"/>
                  <a:pt x="95" y="296"/>
                  <a:pt x="198" y="300"/>
                </a:cubicBezTo>
                <a:cubicBezTo>
                  <a:pt x="301" y="304"/>
                  <a:pt x="531" y="81"/>
                  <a:pt x="618" y="24"/>
                </a:cubicBezTo>
              </a:path>
            </a:pathLst>
          </a:custGeom>
          <a:noFill/>
          <a:ln w="19050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B54DE83-3C32-D935-7E9F-22E949E70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/>
              <a:t>Asymptotic Performance</a:t>
            </a:r>
          </a:p>
        </p:txBody>
      </p:sp>
      <p:graphicFrame>
        <p:nvGraphicFramePr>
          <p:cNvPr id="216215" name="Group 151">
            <a:extLst>
              <a:ext uri="{FF2B5EF4-FFF2-40B4-BE49-F238E27FC236}">
                <a16:creationId xmlns:a16="http://schemas.microsoft.com/office/drawing/2014/main" id="{EB7667AD-4A26-6DF1-DC8C-43F4F2FD1615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2133600" y="1600201"/>
          <a:ext cx="7924800" cy="4572239"/>
        </p:xfrm>
        <a:graphic>
          <a:graphicData uri="http://schemas.openxmlformats.org/drawingml/2006/table">
            <a:tbl>
              <a:tblPr/>
              <a:tblGrid>
                <a:gridCol w="2719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53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vertices, 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edges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no parallel edges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no self-loops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Bounds are “big-Oh”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Edge</a:t>
                      </a: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List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Adjacency</a:t>
                      </a: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List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Adjacency Matrix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9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Space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+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m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+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m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incidentEdges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deg(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areAdjacent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v, w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min(deg(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), deg(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))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insertVertex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endParaRPr kumimoji="0" lang="en-US" sz="24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insertEdge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v, w, 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removeVertex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deg(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removeEdge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4" marB="457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1441</Words>
  <Application>Microsoft Office PowerPoint</Application>
  <PresentationFormat>Widescreen</PresentationFormat>
  <Paragraphs>392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VISIO</vt:lpstr>
      <vt:lpstr>CS535: Algorithm Design and Analysis   Introduction to Graphs</vt:lpstr>
      <vt:lpstr>Graph</vt:lpstr>
      <vt:lpstr>Edge Types</vt:lpstr>
      <vt:lpstr>Applications</vt:lpstr>
      <vt:lpstr>Terminology</vt:lpstr>
      <vt:lpstr>Terminology (cont’d)</vt:lpstr>
      <vt:lpstr>Terminology (cont’d)</vt:lpstr>
      <vt:lpstr>Properties</vt:lpstr>
      <vt:lpstr>Subgraphs</vt:lpstr>
      <vt:lpstr>Connectivity</vt:lpstr>
      <vt:lpstr>Trees and Forests</vt:lpstr>
      <vt:lpstr>Spanning Trees and Forests</vt:lpstr>
      <vt:lpstr>Summary: Subgraphs and Trees</vt:lpstr>
      <vt:lpstr>Main Methods of the Graph ADT</vt:lpstr>
      <vt:lpstr>Edge List Structure</vt:lpstr>
      <vt:lpstr>Adjacency List Structure</vt:lpstr>
      <vt:lpstr>Adjacency Matrix Structure</vt:lpstr>
      <vt:lpstr>Asymptotic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2024-11-12T20:22:10Z</dcterms:created>
  <dcterms:modified xsi:type="dcterms:W3CDTF">2024-11-13T18:14:51Z</dcterms:modified>
</cp:coreProperties>
</file>